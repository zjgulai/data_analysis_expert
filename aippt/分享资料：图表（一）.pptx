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5.xml" ContentType="application/vnd.openxmlformats-officedocument.presentationml.tags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tags/tag70.xml" ContentType="application/vnd.openxmlformats-officedocument.presentationml.tags+xml"/>
  <Override PartName="/ppt/charts/chart1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charts/chart19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charts/chart20.xml" ContentType="application/vnd.openxmlformats-officedocument.drawingml.chart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charts/chart21.xml" ContentType="application/vnd.openxmlformats-officedocument.drawingml.chart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5.xml" ContentType="application/vnd.openxmlformats-officedocument.themeOverr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6.xml" ContentType="application/vnd.openxmlformats-officedocument.themeOverride+xml"/>
  <Override PartName="/ppt/charts/chart32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7.xml" ContentType="application/vnd.openxmlformats-officedocument.themeOverride+xml"/>
  <Override PartName="/ppt/charts/chart33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8.xml" ContentType="application/vnd.openxmlformats-officedocument.themeOverride+xml"/>
  <Override PartName="/ppt/charts/chart3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9.xml" ContentType="application/vnd.openxmlformats-officedocument.themeOverride+xml"/>
  <Override PartName="/ppt/charts/chart35.xml" ContentType="application/vnd.openxmlformats-officedocument.drawingml.chart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charts/chart3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FB"/>
    <a:srgbClr val="43CEFC"/>
    <a:srgbClr val="7FEAFF"/>
    <a:srgbClr val="E6E6E6"/>
    <a:srgbClr val="4481B0"/>
    <a:srgbClr val="78A7CD"/>
    <a:srgbClr val="00B7FB"/>
    <a:srgbClr val="DFDFDF"/>
    <a:srgbClr val="0043F6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85"/>
    <p:restoredTop sz="97831"/>
  </p:normalViewPr>
  <p:slideViewPr>
    <p:cSldViewPr snapToGrid="0" showGuides="1">
      <p:cViewPr varScale="1">
        <p:scale>
          <a:sx n="224" d="100"/>
          <a:sy n="224" d="100"/>
        </p:scale>
        <p:origin x="12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15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___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0.xlsb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___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2.xlsb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___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4.xlsb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___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6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7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8.xlsb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___29.xlsx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___30.xlsx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___31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___32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3.xlsb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173051519154558E-2"/>
          <c:y val="4.8643592142188961E-2"/>
          <c:w val="0.96565389696169091"/>
          <c:h val="0.90271281571562212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rgbClr val="00207E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00207E"/>
                </a:solidFill>
                <a:ln w="9525" cmpd="sng" algn="ctr">
                  <a:solidFill>
                    <a:srgbClr val="00207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8-E344-9C27-AC6C9A3ACC24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207E"/>
                </a:solidFill>
                <a:ln w="9525" cmpd="sng" algn="ctr">
                  <a:solidFill>
                    <a:srgbClr val="00207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8-E344-9C27-AC6C9A3ACC24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207E"/>
                </a:solidFill>
                <a:ln w="9525" cmpd="sng" algn="ctr">
                  <a:solidFill>
                    <a:srgbClr val="00207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8-E344-9C27-AC6C9A3ACC24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207E"/>
                </a:solidFill>
                <a:ln w="9525" cmpd="sng" algn="ctr">
                  <a:solidFill>
                    <a:srgbClr val="00207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8-E344-9C27-AC6C9A3ACC24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207E"/>
                </a:solidFill>
                <a:ln w="9525" cmpd="sng" algn="ctr">
                  <a:solidFill>
                    <a:srgbClr val="00207E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8-E344-9C27-AC6C9A3ACC24}"/>
              </c:ext>
            </c:extLst>
          </c:dPt>
          <c:xVal>
            <c:numRef>
              <c:f>Sheet1!$A$1:$E$1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1.9</c:v>
                </c:pt>
                <c:pt idx="1">
                  <c:v>2.2999999999999998</c:v>
                </c:pt>
                <c:pt idx="2">
                  <c:v>3.1</c:v>
                </c:pt>
                <c:pt idx="3">
                  <c:v>3.9</c:v>
                </c:pt>
                <c:pt idx="4">
                  <c:v>3.8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BC8-E344-9C27-AC6C9A3ACC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2"/>
          <c:min val="2018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4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rgbClr val="F2EEEA"/>
            </a:solidFill>
            <a:prstDash val="solid"/>
          </a:ln>
        </c:spPr>
        <c:txPr>
          <a:bodyPr wrap="none"/>
          <a:lstStyle/>
          <a:p>
            <a:pPr>
              <a:defRPr kumimoji="1" sz="1000" kern="1200">
                <a:latin typeface="HarmonyOS Sans SC"/>
                <a:ea typeface="HarmonyOS Sans SC"/>
                <a:cs typeface="HarmonyOS Sans SC"/>
                <a:sym typeface="HarmonyOS Sans SC"/>
              </a:defRPr>
            </a:pPr>
            <a:endParaRPr lang="zh-CN"/>
          </a:p>
        </c:txPr>
        <c:crossAx val="4"/>
        <c:crosses val="min"/>
        <c:crossBetween val="midCat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043592264831202E-2"/>
          <c:y val="0.11369095276220977"/>
          <c:w val="0.95837430350704689"/>
          <c:h val="0.7726180944755805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rgbClr val="00ACFB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6F1-8D43-A581-8AD68BD269A6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6F1-8D43-A581-8AD68BD269A6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6F1-8D43-A581-8AD68BD269A6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D6F1-8D43-A581-8AD68BD269A6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6F1-8D43-A581-8AD68BD269A6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00ACFB"/>
                </a:solidFill>
                <a:ln w="9525" cmpd="sng" algn="ctr">
                  <a:solidFill>
                    <a:srgbClr val="00ACFB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6F1-8D43-A581-8AD68BD269A6}"/>
              </c:ext>
            </c:extLst>
          </c:dPt>
          <c:dLbls>
            <c:dLbl>
              <c:idx val="0"/>
              <c:layout>
                <c:manualLayout>
                  <c:x val="1.7699115044247787E-2"/>
                  <c:y val="7.686148919135307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6F1-8D43-A581-8AD68BD269A6}"/>
                </c:ext>
              </c:extLst>
            </c:dLbl>
            <c:dLbl>
              <c:idx val="1"/>
              <c:layout>
                <c:manualLayout>
                  <c:x val="0"/>
                  <c:y val="-8.166533226581265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6F1-8D43-A581-8AD68BD269A6}"/>
                </c:ext>
              </c:extLst>
            </c:dLbl>
            <c:dLbl>
              <c:idx val="2"/>
              <c:layout>
                <c:manualLayout>
                  <c:x val="0"/>
                  <c:y val="7.686148919135307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6F1-8D43-A581-8AD68BD269A6}"/>
                </c:ext>
              </c:extLst>
            </c:dLbl>
            <c:dLbl>
              <c:idx val="3"/>
              <c:layout>
                <c:manualLayout>
                  <c:x val="0"/>
                  <c:y val="-8.166533226581265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6F1-8D43-A581-8AD68BD269A6}"/>
                </c:ext>
              </c:extLst>
            </c:dLbl>
            <c:dLbl>
              <c:idx val="4"/>
              <c:layout>
                <c:manualLayout>
                  <c:x val="0"/>
                  <c:y val="7.686148919135307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6F1-8D43-A581-8AD68BD269A6}"/>
                </c:ext>
              </c:extLst>
            </c:dLbl>
            <c:dLbl>
              <c:idx val="5"/>
              <c:layout>
                <c:manualLayout>
                  <c:x val="0"/>
                  <c:y val="-8.166533226581265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6F1-8D43-A581-8AD68BD269A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Sheet1!$A$1:$F$1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xVal>
          <c:yVal>
            <c:numRef>
              <c:f>Sheet1!$A$2:$F$2</c:f>
              <c:numCache>
                <c:formatCode>General</c:formatCode>
                <c:ptCount val="6"/>
                <c:pt idx="0">
                  <c:v>20</c:v>
                </c:pt>
                <c:pt idx="1">
                  <c:v>47</c:v>
                </c:pt>
                <c:pt idx="2">
                  <c:v>58</c:v>
                </c:pt>
                <c:pt idx="3">
                  <c:v>50</c:v>
                </c:pt>
                <c:pt idx="4">
                  <c:v>56</c:v>
                </c:pt>
                <c:pt idx="5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6F1-8D43-A581-8AD68BD26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2"/>
          <c:min val="2017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 w="3175" cmpd="sng" algn="ctr">
              <a:solidFill>
                <a:srgbClr val="C0C0C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rgbClr val="F0F0F0"/>
            </a:solidFill>
            <a:prstDash val="solid"/>
          </a:ln>
        </c:spPr>
        <c:txPr>
          <a:bodyPr wrap="none"/>
          <a:lstStyle/>
          <a:p>
            <a:pPr>
              <a:defRPr kumimoji="1" sz="1000" kern="1200">
                <a:latin typeface="HarmonyOS Sans SC"/>
                <a:ea typeface="HarmonyOS Sans SC"/>
                <a:cs typeface="HarmonyOS Sans SC"/>
                <a:sym typeface="HarmonyOS Sans SC"/>
              </a:defRPr>
            </a:pPr>
            <a:endParaRPr lang="zh-CN"/>
          </a:p>
        </c:txPr>
        <c:crossAx val="4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1F7E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C7-324C-AED3-405C8E2D64DE}"/>
              </c:ext>
            </c:extLst>
          </c:dPt>
          <c:dPt>
            <c:idx val="1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6C7-324C-AED3-405C8E2D64DE}"/>
              </c:ext>
            </c:extLst>
          </c:dPt>
          <c:dPt>
            <c:idx val="2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6C7-324C-AED3-405C8E2D64DE}"/>
              </c:ext>
            </c:extLst>
          </c:dPt>
          <c:dPt>
            <c:idx val="3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6C7-324C-AED3-405C8E2D64DE}"/>
              </c:ext>
            </c:extLst>
          </c:dPt>
          <c:dPt>
            <c:idx val="4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6C7-324C-AED3-405C8E2D64DE}"/>
              </c:ext>
            </c:extLst>
          </c:dPt>
          <c:dPt>
            <c:idx val="5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6C7-324C-AED3-405C8E2D64DE}"/>
              </c:ext>
            </c:extLst>
          </c:dPt>
          <c:dPt>
            <c:idx val="6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6C7-324C-AED3-405C8E2D64DE}"/>
              </c:ext>
            </c:extLst>
          </c:dPt>
          <c:dPt>
            <c:idx val="7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6C7-324C-AED3-405C8E2D64DE}"/>
              </c:ext>
            </c:extLst>
          </c:dPt>
          <c:dPt>
            <c:idx val="8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6C7-324C-AED3-405C8E2D64DE}"/>
              </c:ext>
            </c:extLst>
          </c:dPt>
          <c:dPt>
            <c:idx val="9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6C7-324C-AED3-405C8E2D64D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Sheet1!$A$2:$A$17</c:f>
              <c:strCache>
                <c:ptCount val="16"/>
                <c:pt idx="0">
                  <c:v>Robotic process automation</c:v>
                </c:pt>
                <c:pt idx="1">
                  <c:v>Computer vision</c:v>
                </c:pt>
                <c:pt idx="2">
                  <c:v>Natural-language text understanding</c:v>
                </c:pt>
                <c:pt idx="3">
                  <c:v>Virtua agents or conversationa interfaces</c:v>
                </c:pt>
                <c:pt idx="4">
                  <c:v>Deep learning</c:v>
                </c:pt>
                <c:pt idx="5">
                  <c:v>Knowledge graphs</c:v>
                </c:pt>
                <c:pt idx="6">
                  <c:v>Recommender systems</c:v>
                </c:pt>
                <c:pt idx="7">
                  <c:v>Digital twins</c:v>
                </c:pt>
                <c:pt idx="8">
                  <c:v>Natural-language speech understanding</c:v>
                </c:pt>
                <c:pt idx="9">
                  <c:v>Physica robotics</c:v>
                </c:pt>
                <c:pt idx="10">
                  <c:v>Reinforcement learning</c:v>
                </c:pt>
                <c:pt idx="11">
                  <c:v>Facial recognition</c:v>
                </c:pt>
                <c:pt idx="12">
                  <c:v>Natural-language generation</c:v>
                </c:pt>
                <c:pt idx="13">
                  <c:v>Transfer learning</c:v>
                </c:pt>
                <c:pt idx="14">
                  <c:v>Generative adversarial networks （GAN）</c:v>
                </c:pt>
                <c:pt idx="15">
                  <c:v>Transformers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39</c:v>
                </c:pt>
                <c:pt idx="1">
                  <c:v>34</c:v>
                </c:pt>
                <c:pt idx="2">
                  <c:v>33</c:v>
                </c:pt>
                <c:pt idx="3">
                  <c:v>33</c:v>
                </c:pt>
                <c:pt idx="4">
                  <c:v>30</c:v>
                </c:pt>
                <c:pt idx="5">
                  <c:v>25</c:v>
                </c:pt>
                <c:pt idx="6">
                  <c:v>25</c:v>
                </c:pt>
                <c:pt idx="7">
                  <c:v>24</c:v>
                </c:pt>
                <c:pt idx="8">
                  <c:v>23</c:v>
                </c:pt>
                <c:pt idx="9">
                  <c:v>20</c:v>
                </c:pt>
                <c:pt idx="10">
                  <c:v>20</c:v>
                </c:pt>
                <c:pt idx="11">
                  <c:v>18</c:v>
                </c:pt>
                <c:pt idx="12">
                  <c:v>18</c:v>
                </c:pt>
                <c:pt idx="13">
                  <c:v>16</c:v>
                </c:pt>
                <c:pt idx="14">
                  <c:v>11</c:v>
                </c:pt>
                <c:pt idx="1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6C7-324C-AED3-405C8E2D6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559003728"/>
        <c:axId val="559724032"/>
      </c:barChart>
      <c:catAx>
        <c:axId val="5590037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559724032"/>
        <c:crosses val="autoZero"/>
        <c:auto val="1"/>
        <c:lblAlgn val="ctr"/>
        <c:lblOffset val="100"/>
        <c:noMultiLvlLbl val="0"/>
      </c:catAx>
      <c:valAx>
        <c:axId val="55972403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5900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1B-F341-9808-3BA5541E39B9}"/>
              </c:ext>
            </c:extLst>
          </c:dPt>
          <c:dPt>
            <c:idx val="1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A1B-F341-9808-3BA5541E39B9}"/>
              </c:ext>
            </c:extLst>
          </c:dPt>
          <c:dPt>
            <c:idx val="2"/>
            <c:invertIfNegative val="0"/>
            <c:bubble3D val="0"/>
            <c:spPr>
              <a:solidFill>
                <a:srgbClr val="28F4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A1B-F341-9808-3BA5541E39B9}"/>
              </c:ext>
            </c:extLst>
          </c:dPt>
          <c:dPt>
            <c:idx val="3"/>
            <c:invertIfNegative val="0"/>
            <c:bubble3D val="0"/>
            <c:spPr>
              <a:solidFill>
                <a:srgbClr val="28F4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A1B-F341-9808-3BA5541E39B9}"/>
              </c:ext>
            </c:extLst>
          </c:dPt>
          <c:dPt>
            <c:idx val="4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A1B-F341-9808-3BA5541E39B9}"/>
              </c:ext>
            </c:extLst>
          </c:dPt>
          <c:dPt>
            <c:idx val="5"/>
            <c:invertIfNegative val="0"/>
            <c:bubble3D val="0"/>
            <c:spPr>
              <a:solidFill>
                <a:srgbClr val="28F4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A1B-F341-9808-3BA5541E39B9}"/>
              </c:ext>
            </c:extLst>
          </c:dPt>
          <c:dPt>
            <c:idx val="6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A1B-F341-9808-3BA5541E39B9}"/>
              </c:ext>
            </c:extLst>
          </c:dPt>
          <c:dPt>
            <c:idx val="7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A1B-F341-9808-3BA5541E39B9}"/>
              </c:ext>
            </c:extLst>
          </c:dPt>
          <c:dPt>
            <c:idx val="8"/>
            <c:invertIfNegative val="0"/>
            <c:bubble3D val="0"/>
            <c:spPr>
              <a:solidFill>
                <a:srgbClr val="0043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A1B-F341-9808-3BA5541E39B9}"/>
              </c:ext>
            </c:extLst>
          </c:dPt>
          <c:dPt>
            <c:idx val="9"/>
            <c:invertIfNegative val="0"/>
            <c:bubble3D val="0"/>
            <c:spPr>
              <a:solidFill>
                <a:srgbClr val="001F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A1B-F341-9808-3BA5541E39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Service operations optimization</c:v>
                </c:pt>
                <c:pt idx="1">
                  <c:v>Creation of new Al-based products</c:v>
                </c:pt>
                <c:pt idx="2">
                  <c:v>Customer service analytics</c:v>
                </c:pt>
                <c:pt idx="3">
                  <c:v>Customer segmentation</c:v>
                </c:pt>
                <c:pt idx="4">
                  <c:v>New Al-based enhancements of products</c:v>
                </c:pt>
                <c:pt idx="5">
                  <c:v>Customer acguisition and lead generation</c:v>
                </c:pt>
                <c:pt idx="6">
                  <c:v>Contact-center automation</c:v>
                </c:pt>
                <c:pt idx="7">
                  <c:v>Product feature optimization</c:v>
                </c:pt>
                <c:pt idx="8">
                  <c:v>Risk modeling and analytics</c:v>
                </c:pt>
                <c:pt idx="9">
                  <c:v>Predictive service and intervention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</c:v>
                </c:pt>
                <c:pt idx="1">
                  <c:v>20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  <c:pt idx="5">
                  <c:v>17</c:v>
                </c:pt>
                <c:pt idx="6">
                  <c:v>16</c:v>
                </c:pt>
                <c:pt idx="7">
                  <c:v>16</c:v>
                </c:pt>
                <c:pt idx="8">
                  <c:v>15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A1B-F341-9808-3BA5541E3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8"/>
        <c:axId val="559003728"/>
        <c:axId val="559724032"/>
      </c:barChart>
      <c:catAx>
        <c:axId val="5590037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559724032"/>
        <c:crosses val="autoZero"/>
        <c:auto val="1"/>
        <c:lblAlgn val="ctr"/>
        <c:lblOffset val="100"/>
        <c:noMultiLvlLbl val="0"/>
      </c:catAx>
      <c:valAx>
        <c:axId val="55972403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5900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052104208416832E-2"/>
          <c:y val="0.19860139860139861"/>
          <c:w val="0.90180360721442887"/>
          <c:h val="0.6027972027972028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647294589178358"/>
                  <c:y val="4.195804195804195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667-9348-ABDC-8F2BC78BFF21}"/>
                </c:ext>
              </c:extLst>
            </c:dLbl>
            <c:dLbl>
              <c:idx val="1"/>
              <c:layout>
                <c:manualLayout>
                  <c:x val="0.33617234468937873"/>
                  <c:y val="4.195804195804195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667-9348-ABDC-8F2BC78BFF2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24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67-9348-ABDC-8F2BC78BF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89121151"/>
        <c:axId val="1"/>
      </c:barChart>
      <c:catAx>
        <c:axId val="138912115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3891211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4120734908136482E-2"/>
          <c:y val="0.19372442019099589"/>
          <c:w val="0.87139107611548561"/>
          <c:h val="0.612551159618008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228346456692911"/>
                  <c:y val="4.092769440654842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B0C-F642-AE76-0F9F736E4096}"/>
                </c:ext>
              </c:extLst>
            </c:dLbl>
            <c:dLbl>
              <c:idx val="1"/>
              <c:layout>
                <c:manualLayout>
                  <c:x val="0.48228346456692911"/>
                  <c:y val="4.092769440654842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B0C-F642-AE76-0F9F736E409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0C-F642-AE76-0F9F736E4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3408431"/>
        <c:axId val="1"/>
      </c:barChart>
      <c:catAx>
        <c:axId val="96340843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9634084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216550657385927E-2"/>
          <c:y val="0.19971870604781997"/>
          <c:w val="0.84841453982985304"/>
          <c:h val="0.6005625879043600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7873163186388246"/>
                  <c:y val="4.219409282700421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051-DC4D-B1E7-C152DEEF9464}"/>
                </c:ext>
              </c:extLst>
            </c:dLbl>
            <c:dLbl>
              <c:idx val="1"/>
              <c:layout>
                <c:manualLayout>
                  <c:x val="0.36581593194122197"/>
                  <c:y val="4.219409282700421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051-DC4D-B1E7-C152DEEF94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51-DC4D-B1E7-C152DEEF9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73261168"/>
        <c:axId val="1"/>
      </c:barChart>
      <c:catAx>
        <c:axId val="167326116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732611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313868613138687"/>
          <c:y val="0.14963119072708114"/>
          <c:w val="0.50218978102189782"/>
          <c:h val="0.700737618545837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2262773722627736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469-204E-8B5E-884CA1A64EC3}"/>
                </c:ext>
              </c:extLst>
            </c:dLbl>
            <c:dLbl>
              <c:idx val="1"/>
              <c:layout>
                <c:manualLayout>
                  <c:x val="0.21605839416058395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469-204E-8B5E-884CA1A64EC3}"/>
                </c:ext>
              </c:extLst>
            </c:dLbl>
            <c:dLbl>
              <c:idx val="2"/>
              <c:layout>
                <c:manualLayout>
                  <c:x val="0.21605839416058395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469-204E-8B5E-884CA1A64EC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69-204E-8B5E-884CA1A64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72758624"/>
        <c:axId val="1"/>
      </c:barChart>
      <c:catAx>
        <c:axId val="167275862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727586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052104208416832E-2"/>
          <c:y val="0.19860139860139861"/>
          <c:w val="0.90180360721442887"/>
          <c:h val="0.6027972027972028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8647294589178358"/>
                  <c:y val="4.195804195804195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0C8-944A-A85C-3EBBE93D42DF}"/>
                </c:ext>
              </c:extLst>
            </c:dLbl>
            <c:dLbl>
              <c:idx val="1"/>
              <c:layout>
                <c:manualLayout>
                  <c:x val="0.46392785571142287"/>
                  <c:y val="4.195804195804195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0C8-944A-A85C-3EBBE93D42D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20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C8-944A-A85C-3EBBE93D42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44477663"/>
        <c:axId val="1"/>
      </c:barChart>
      <c:catAx>
        <c:axId val="84447766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8444776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2208835341365459E-2"/>
          <c:y val="0.19372442019099589"/>
          <c:w val="0.80321285140562249"/>
          <c:h val="0.6125511596180082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7289156626506024"/>
                  <c:y val="4.092769440654842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1D6-EB4A-B0E5-78AE0BA3170E}"/>
                </c:ext>
              </c:extLst>
            </c:dLbl>
            <c:dLbl>
              <c:idx val="1"/>
              <c:layout>
                <c:manualLayout>
                  <c:x val="0.4106425702811245"/>
                  <c:y val="4.092769440654842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1D6-EB4A-B0E5-78AE0BA317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10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6-EB4A-B0E5-78AE0BA317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46761679"/>
        <c:axId val="1"/>
      </c:barChart>
      <c:catAx>
        <c:axId val="94676167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946761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2208835341365459E-2"/>
          <c:y val="0.19971870604781997"/>
          <c:w val="0.80321285140562249"/>
          <c:h val="0.6005625879043600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7289156626506024"/>
                  <c:y val="4.219409282700421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C7E-EF45-98E6-C6AC5E627A80}"/>
                </c:ext>
              </c:extLst>
            </c:dLbl>
            <c:dLbl>
              <c:idx val="1"/>
              <c:layout>
                <c:manualLayout>
                  <c:x val="0.25"/>
                  <c:y val="4.219409282700421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C7E-EF45-98E6-C6AC5E627A8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7E-EF45-98E6-C6AC5E627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46165983"/>
        <c:axId val="1"/>
      </c:barChart>
      <c:catAx>
        <c:axId val="94616598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9461659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816326530612242E-2"/>
          <c:y val="0.14963119072708114"/>
          <c:w val="0.84615384615384615"/>
          <c:h val="0.700737618545837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7880690737833598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A5B-E34C-B68A-6954770A61A0}"/>
                </c:ext>
              </c:extLst>
            </c:dLbl>
            <c:dLbl>
              <c:idx val="1"/>
              <c:layout>
                <c:manualLayout>
                  <c:x val="0.41365777080062793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A5B-E34C-B68A-6954770A61A0}"/>
                </c:ext>
              </c:extLst>
            </c:dLbl>
            <c:dLbl>
              <c:idx val="2"/>
              <c:layout>
                <c:manualLayout>
                  <c:x val="0.41365777080062793"/>
                  <c:y val="3.1612223393045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A5B-E34C-B68A-6954770A61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13</c:v>
                </c:pt>
                <c:pt idx="1">
                  <c:v>11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5B-E34C-B68A-6954770A6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46211919"/>
        <c:axId val="1"/>
      </c:barChart>
      <c:catAx>
        <c:axId val="9462119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9462119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797018851380975E-2"/>
          <c:y val="4.5659163987138263E-2"/>
          <c:w val="0.95440596229723806"/>
          <c:h val="0.908681672025723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78A7C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1FE-6E47-B060-381A4152004F}"/>
                </c:ext>
              </c:extLst>
            </c:dLbl>
            <c:dLbl>
              <c:idx val="1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1FE-6E47-B060-381A4152004F}"/>
                </c:ext>
              </c:extLst>
            </c:dLbl>
            <c:dLbl>
              <c:idx val="3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1FE-6E47-B060-381A4152004F}"/>
                </c:ext>
              </c:extLst>
            </c:dLbl>
            <c:dLbl>
              <c:idx val="4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1FE-6E47-B060-381A4152004F}"/>
                </c:ext>
              </c:extLst>
            </c:dLbl>
            <c:dLbl>
              <c:idx val="5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1FE-6E47-B060-381A4152004F}"/>
                </c:ext>
              </c:extLst>
            </c:dLbl>
            <c:dLbl>
              <c:idx val="6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1FE-6E47-B060-381A4152004F}"/>
                </c:ext>
              </c:extLst>
            </c:dLbl>
            <c:dLbl>
              <c:idx val="7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1FE-6E47-B060-381A4152004F}"/>
                </c:ext>
              </c:extLst>
            </c:dLbl>
            <c:dLbl>
              <c:idx val="8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F1FE-6E47-B060-381A415200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6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6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FE-6E47-B060-381A4152004F}"/>
            </c:ext>
          </c:extLst>
        </c:ser>
        <c:ser>
          <c:idx val="1"/>
          <c:order val="1"/>
          <c:spPr>
            <a:solidFill>
              <a:srgbClr val="4481B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FE-6E47-B060-381A4152004F}"/>
                </c:ext>
              </c:extLst>
            </c:dLbl>
            <c:dLbl>
              <c:idx val="1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FE-6E47-B060-381A4152004F}"/>
                </c:ext>
              </c:extLst>
            </c:dLbl>
            <c:dLbl>
              <c:idx val="2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FE-6E47-B060-381A4152004F}"/>
                </c:ext>
              </c:extLst>
            </c:dLbl>
            <c:dLbl>
              <c:idx val="3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FE-6E47-B060-381A4152004F}"/>
                </c:ext>
              </c:extLst>
            </c:dLbl>
            <c:dLbl>
              <c:idx val="4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F1FE-6E47-B060-381A4152004F}"/>
                </c:ext>
              </c:extLst>
            </c:dLbl>
            <c:dLbl>
              <c:idx val="5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FE-6E47-B060-381A4152004F}"/>
                </c:ext>
              </c:extLst>
            </c:dLbl>
            <c:dLbl>
              <c:idx val="6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F1FE-6E47-B060-381A4152004F}"/>
                </c:ext>
              </c:extLst>
            </c:dLbl>
            <c:dLbl>
              <c:idx val="7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F1FE-6E47-B060-381A4152004F}"/>
                </c:ext>
              </c:extLst>
            </c:dLbl>
            <c:dLbl>
              <c:idx val="8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F1FE-6E47-B060-381A415200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10</c:v>
                </c:pt>
                <c:pt idx="1">
                  <c:v>7</c:v>
                </c:pt>
                <c:pt idx="2">
                  <c:v>3</c:v>
                </c:pt>
                <c:pt idx="3">
                  <c:v>4</c:v>
                </c:pt>
                <c:pt idx="4">
                  <c:v>8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1FE-6E47-B060-381A4152004F}"/>
            </c:ext>
          </c:extLst>
        </c:ser>
        <c:ser>
          <c:idx val="2"/>
          <c:order val="2"/>
          <c:spPr>
            <a:solidFill>
              <a:srgbClr val="256798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F1FE-6E47-B060-381A4152004F}"/>
                </c:ext>
              </c:extLst>
            </c:dLbl>
            <c:dLbl>
              <c:idx val="1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F1FE-6E47-B060-381A4152004F}"/>
                </c:ext>
              </c:extLst>
            </c:dLbl>
            <c:dLbl>
              <c:idx val="2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F1FE-6E47-B060-381A4152004F}"/>
                </c:ext>
              </c:extLst>
            </c:dLbl>
            <c:dLbl>
              <c:idx val="3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F1FE-6E47-B060-381A4152004F}"/>
                </c:ext>
              </c:extLst>
            </c:dLbl>
            <c:dLbl>
              <c:idx val="4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F1FE-6E47-B060-381A4152004F}"/>
                </c:ext>
              </c:extLst>
            </c:dLbl>
            <c:dLbl>
              <c:idx val="5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F1FE-6E47-B060-381A4152004F}"/>
                </c:ext>
              </c:extLst>
            </c:dLbl>
            <c:dLbl>
              <c:idx val="6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F1FE-6E47-B060-381A4152004F}"/>
                </c:ext>
              </c:extLst>
            </c:dLbl>
            <c:dLbl>
              <c:idx val="7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F1FE-6E47-B060-381A4152004F}"/>
                </c:ext>
              </c:extLst>
            </c:dLbl>
            <c:dLbl>
              <c:idx val="8"/>
              <c:layout>
                <c:manualLayout>
                  <c:x val="4.3840420868040335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F1FE-6E47-B060-381A415200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29</c:v>
                </c:pt>
                <c:pt idx="1">
                  <c:v>32</c:v>
                </c:pt>
                <c:pt idx="2">
                  <c:v>25</c:v>
                </c:pt>
                <c:pt idx="3">
                  <c:v>21</c:v>
                </c:pt>
                <c:pt idx="4">
                  <c:v>30</c:v>
                </c:pt>
                <c:pt idx="5">
                  <c:v>41</c:v>
                </c:pt>
                <c:pt idx="6">
                  <c:v>20</c:v>
                </c:pt>
                <c:pt idx="7">
                  <c:v>31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F1FE-6E47-B060-381A41520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75795456"/>
        <c:axId val="1"/>
      </c:barChart>
      <c:catAx>
        <c:axId val="875795456"/>
        <c:scaling>
          <c:orientation val="maxMin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3175" cmpd="sng" algn="ctr">
            <a:solidFill>
              <a:srgbClr val="78A7CC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axMin"/>
          <c:max val="5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875795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558872305140961E-2"/>
          <c:y val="4.5659163987138263E-2"/>
          <c:w val="0.95688225538971805"/>
          <c:h val="0.908681672025723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7FE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6A0-7D43-9A2B-841EE42F4C5F}"/>
                </c:ext>
              </c:extLst>
            </c:dLbl>
            <c:dLbl>
              <c:idx val="1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6A0-7D43-9A2B-841EE42F4C5F}"/>
                </c:ext>
              </c:extLst>
            </c:dLbl>
            <c:dLbl>
              <c:idx val="2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6A0-7D43-9A2B-841EE42F4C5F}"/>
                </c:ext>
              </c:extLst>
            </c:dLbl>
            <c:dLbl>
              <c:idx val="3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6A0-7D43-9A2B-841EE42F4C5F}"/>
                </c:ext>
              </c:extLst>
            </c:dLbl>
            <c:dLbl>
              <c:idx val="4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6A0-7D43-9A2B-841EE42F4C5F}"/>
                </c:ext>
              </c:extLst>
            </c:dLbl>
            <c:dLbl>
              <c:idx val="5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6A0-7D43-9A2B-841EE42F4C5F}"/>
                </c:ext>
              </c:extLst>
            </c:dLbl>
            <c:dLbl>
              <c:idx val="6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6A0-7D43-9A2B-841EE42F4C5F}"/>
                </c:ext>
              </c:extLst>
            </c:dLbl>
            <c:dLbl>
              <c:idx val="7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6A0-7D43-9A2B-841EE42F4C5F}"/>
                </c:ext>
              </c:extLst>
            </c:dLbl>
            <c:dLbl>
              <c:idx val="8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6A0-7D43-9A2B-841EE42F4C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10</c:v>
                </c:pt>
                <c:pt idx="1">
                  <c:v>10</c:v>
                </c:pt>
                <c:pt idx="2">
                  <c:v>14</c:v>
                </c:pt>
                <c:pt idx="3">
                  <c:v>9</c:v>
                </c:pt>
                <c:pt idx="4">
                  <c:v>10</c:v>
                </c:pt>
                <c:pt idx="5">
                  <c:v>14</c:v>
                </c:pt>
                <c:pt idx="6">
                  <c:v>13</c:v>
                </c:pt>
                <c:pt idx="7">
                  <c:v>8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6A0-7D43-9A2B-841EE42F4C5F}"/>
            </c:ext>
          </c:extLst>
        </c:ser>
        <c:ser>
          <c:idx val="1"/>
          <c:order val="1"/>
          <c:spPr>
            <a:solidFill>
              <a:srgbClr val="43CEF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4.1459369817578774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6A0-7D43-9A2B-841EE42F4C5F}"/>
                </c:ext>
              </c:extLst>
            </c:dLbl>
            <c:dLbl>
              <c:idx val="1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6A0-7D43-9A2B-841EE42F4C5F}"/>
                </c:ext>
              </c:extLst>
            </c:dLbl>
            <c:dLbl>
              <c:idx val="2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6A0-7D43-9A2B-841EE42F4C5F}"/>
                </c:ext>
              </c:extLst>
            </c:dLbl>
            <c:dLbl>
              <c:idx val="3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6A0-7D43-9A2B-841EE42F4C5F}"/>
                </c:ext>
              </c:extLst>
            </c:dLbl>
            <c:dLbl>
              <c:idx val="4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6A0-7D43-9A2B-841EE42F4C5F}"/>
                </c:ext>
              </c:extLst>
            </c:dLbl>
            <c:dLbl>
              <c:idx val="5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56A0-7D43-9A2B-841EE42F4C5F}"/>
                </c:ext>
              </c:extLst>
            </c:dLbl>
            <c:dLbl>
              <c:idx val="6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6A0-7D43-9A2B-841EE42F4C5F}"/>
                </c:ext>
              </c:extLst>
            </c:dLbl>
            <c:dLbl>
              <c:idx val="7"/>
              <c:layout>
                <c:manualLayout>
                  <c:x val="-4.1459369817578774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6A0-7D43-9A2B-841EE42F4C5F}"/>
                </c:ext>
              </c:extLst>
            </c:dLbl>
            <c:dLbl>
              <c:idx val="8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6A0-7D43-9A2B-841EE42F4C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10</c:v>
                </c:pt>
                <c:pt idx="1">
                  <c:v>18</c:v>
                </c:pt>
                <c:pt idx="2">
                  <c:v>13</c:v>
                </c:pt>
                <c:pt idx="3">
                  <c:v>20</c:v>
                </c:pt>
                <c:pt idx="4">
                  <c:v>11</c:v>
                </c:pt>
                <c:pt idx="5">
                  <c:v>17</c:v>
                </c:pt>
                <c:pt idx="6">
                  <c:v>24</c:v>
                </c:pt>
                <c:pt idx="7">
                  <c:v>16</c:v>
                </c:pt>
                <c:pt idx="8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56A0-7D43-9A2B-841EE42F4C5F}"/>
            </c:ext>
          </c:extLst>
        </c:ser>
        <c:ser>
          <c:idx val="2"/>
          <c:order val="2"/>
          <c:spPr>
            <a:solidFill>
              <a:srgbClr val="00B7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6A0-7D43-9A2B-841EE42F4C5F}"/>
                </c:ext>
              </c:extLst>
            </c:dLbl>
            <c:dLbl>
              <c:idx val="1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6A0-7D43-9A2B-841EE42F4C5F}"/>
                </c:ext>
              </c:extLst>
            </c:dLbl>
            <c:dLbl>
              <c:idx val="2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6A0-7D43-9A2B-841EE42F4C5F}"/>
                </c:ext>
              </c:extLst>
            </c:dLbl>
            <c:dLbl>
              <c:idx val="3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6A0-7D43-9A2B-841EE42F4C5F}"/>
                </c:ext>
              </c:extLst>
            </c:dLbl>
            <c:dLbl>
              <c:idx val="4"/>
              <c:layout>
                <c:manualLayout>
                  <c:x val="-4.1459369817578774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6A0-7D43-9A2B-841EE42F4C5F}"/>
                </c:ext>
              </c:extLst>
            </c:dLbl>
            <c:dLbl>
              <c:idx val="5"/>
              <c:layout>
                <c:manualLayout>
                  <c:x val="-4.1459369817578774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56A0-7D43-9A2B-841EE42F4C5F}"/>
                </c:ext>
              </c:extLst>
            </c:dLbl>
            <c:dLbl>
              <c:idx val="6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6A0-7D43-9A2B-841EE42F4C5F}"/>
                </c:ext>
              </c:extLst>
            </c:dLbl>
            <c:dLbl>
              <c:idx val="7"/>
              <c:layout>
                <c:manualLayout>
                  <c:x val="0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6A0-7D43-9A2B-841EE42F4C5F}"/>
                </c:ext>
              </c:extLst>
            </c:dLbl>
            <c:dLbl>
              <c:idx val="8"/>
              <c:layout>
                <c:manualLayout>
                  <c:x val="-4.1459369817578774E-4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6A0-7D43-9A2B-841EE42F4C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37</c:v>
                </c:pt>
                <c:pt idx="1">
                  <c:v>33</c:v>
                </c:pt>
                <c:pt idx="2">
                  <c:v>31</c:v>
                </c:pt>
                <c:pt idx="3">
                  <c:v>41</c:v>
                </c:pt>
                <c:pt idx="4">
                  <c:v>27</c:v>
                </c:pt>
                <c:pt idx="5">
                  <c:v>28</c:v>
                </c:pt>
                <c:pt idx="6">
                  <c:v>33</c:v>
                </c:pt>
                <c:pt idx="7">
                  <c:v>41</c:v>
                </c:pt>
                <c:pt idx="8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56A0-7D43-9A2B-841EE42F4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75924944"/>
        <c:axId val="1"/>
      </c:barChart>
      <c:catAx>
        <c:axId val="87592494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78A7CC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875924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848739495798318E-2"/>
          <c:y val="0.10425844346549193"/>
          <c:w val="0.91596638655462181"/>
          <c:h val="0.791483113069016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5F1-4448-A5F8-76DD41371A85}"/>
              </c:ext>
            </c:extLst>
          </c:dPt>
          <c:dLbls>
            <c:dLbl>
              <c:idx val="0"/>
              <c:layout>
                <c:manualLayout>
                  <c:x val="0.48865546218487393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5F1-4448-A5F8-76DD41371A85}"/>
                </c:ext>
              </c:extLst>
            </c:dLbl>
            <c:dLbl>
              <c:idx val="1"/>
              <c:layout>
                <c:manualLayout>
                  <c:x val="0.43613445378151261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5F1-4448-A5F8-76DD41371A85}"/>
                </c:ext>
              </c:extLst>
            </c:dLbl>
            <c:dLbl>
              <c:idx val="2"/>
              <c:layout>
                <c:manualLayout>
                  <c:x val="0.36092436974789915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5F1-4448-A5F8-76DD41371A85}"/>
                </c:ext>
              </c:extLst>
            </c:dLbl>
            <c:dLbl>
              <c:idx val="3"/>
              <c:layout>
                <c:manualLayout>
                  <c:x val="0.3235294117647059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5F1-4448-A5F8-76DD41371A85}"/>
                </c:ext>
              </c:extLst>
            </c:dLbl>
            <c:dLbl>
              <c:idx val="4"/>
              <c:layout>
                <c:manualLayout>
                  <c:x val="0.25588235294117645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5F1-4448-A5F8-76DD41371A8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61</c:v>
                </c:pt>
                <c:pt idx="1">
                  <c:v>54</c:v>
                </c:pt>
                <c:pt idx="2">
                  <c:v>44</c:v>
                </c:pt>
                <c:pt idx="3">
                  <c:v>39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F1-4448-A5F8-76DD41371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73260608"/>
        <c:axId val="1"/>
      </c:barChart>
      <c:catAx>
        <c:axId val="12732606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2EEEA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2732606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224653863331845E-2"/>
          <c:y val="0.10425844346549193"/>
          <c:w val="0.91067440821795442"/>
          <c:h val="0.791483113069016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D44-5C4E-9979-80B216BC675F}"/>
              </c:ext>
            </c:extLst>
          </c:dPt>
          <c:dLbls>
            <c:dLbl>
              <c:idx val="0"/>
              <c:layout>
                <c:manualLayout>
                  <c:x val="0.48771773112996875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D44-5C4E-9979-80B216BC675F}"/>
                </c:ext>
              </c:extLst>
            </c:dLbl>
            <c:dLbl>
              <c:idx val="1"/>
              <c:layout>
                <c:manualLayout>
                  <c:x val="0.43546225993747206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D44-5C4E-9979-80B216BC675F}"/>
                </c:ext>
              </c:extLst>
            </c:dLbl>
            <c:dLbl>
              <c:idx val="2"/>
              <c:layout>
                <c:manualLayout>
                  <c:x val="0.36132201875837427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D44-5C4E-9979-80B216BC675F}"/>
                </c:ext>
              </c:extLst>
            </c:dLbl>
            <c:dLbl>
              <c:idx val="3"/>
              <c:layout>
                <c:manualLayout>
                  <c:x val="0.32380527020991512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D44-5C4E-9979-80B216BC675F}"/>
                </c:ext>
              </c:extLst>
            </c:dLbl>
            <c:dLbl>
              <c:idx val="4"/>
              <c:layout>
                <c:manualLayout>
                  <c:x val="0.25681107637338096"/>
                  <c:y val="2.202643171806167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0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D44-5C4E-9979-80B216BC67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61</c:v>
                </c:pt>
                <c:pt idx="1">
                  <c:v>54</c:v>
                </c:pt>
                <c:pt idx="2">
                  <c:v>44</c:v>
                </c:pt>
                <c:pt idx="3">
                  <c:v>39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D44-5C4E-9979-80B216BC67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24486448"/>
        <c:axId val="1"/>
      </c:barChart>
      <c:catAx>
        <c:axId val="32448644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2EEEA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3244864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BarType val="minus"/>
            <c:errValType val="percentage"/>
            <c:noEndCap val="1"/>
            <c:val val="100"/>
            <c:spPr>
              <a:noFill/>
              <a:ln w="25400" cap="flat" cmpd="sng" algn="ctr">
                <a:solidFill>
                  <a:srgbClr val="0043F6"/>
                </a:solidFill>
                <a:round/>
                <a:headEnd type="none"/>
                <a:tailEnd type="none"/>
              </a:ln>
              <a:effectLst/>
            </c:spPr>
          </c:errBars>
          <c:val>
            <c:numRef>
              <c:f>Sheet1!$I$5:$I$8</c:f>
              <c:numCache>
                <c:formatCode>General</c:formatCode>
                <c:ptCount val="4"/>
                <c:pt idx="0">
                  <c:v>62</c:v>
                </c:pt>
                <c:pt idx="1">
                  <c:v>51</c:v>
                </c:pt>
                <c:pt idx="2">
                  <c:v>45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F-4932-800B-55322251A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4714767"/>
        <c:axId val="1658180159"/>
      </c:barChart>
      <c:scatterChart>
        <c:scatterStyle val="lineMarker"/>
        <c:varyColors val="0"/>
        <c:ser>
          <c:idx val="1"/>
          <c:order val="1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043F6"/>
              </a:solidFill>
              <a:ln w="25400">
                <a:noFill/>
              </a:ln>
              <a:effectLst/>
            </c:spPr>
          </c:marker>
          <c:xVal>
            <c:numRef>
              <c:f>Sheet1!$I$5:$I$8</c:f>
              <c:numCache>
                <c:formatCode>General</c:formatCode>
                <c:ptCount val="4"/>
                <c:pt idx="0">
                  <c:v>62</c:v>
                </c:pt>
                <c:pt idx="1">
                  <c:v>51</c:v>
                </c:pt>
                <c:pt idx="2">
                  <c:v>45</c:v>
                </c:pt>
                <c:pt idx="3">
                  <c:v>34</c:v>
                </c:pt>
              </c:numCache>
            </c:numRef>
          </c:xVal>
          <c:y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6CBF-4932-800B-55322251A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0457743"/>
        <c:axId val="1460458703"/>
      </c:scatterChart>
      <c:catAx>
        <c:axId val="1284714767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658180159"/>
        <c:crosses val="autoZero"/>
        <c:auto val="1"/>
        <c:lblAlgn val="ctr"/>
        <c:lblOffset val="100"/>
        <c:noMultiLvlLbl val="0"/>
      </c:catAx>
      <c:valAx>
        <c:axId val="16581801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84714767"/>
        <c:crosses val="max"/>
        <c:crossBetween val="between"/>
      </c:valAx>
      <c:valAx>
        <c:axId val="1460458703"/>
        <c:scaling>
          <c:orientation val="maxMin"/>
          <c:max val="4.5"/>
          <c:min val="0.5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460457743"/>
        <c:crosses val="max"/>
        <c:crossBetween val="midCat"/>
      </c:valAx>
      <c:valAx>
        <c:axId val="146045774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604587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tusimpleBI</c:v>
          </c:tx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c:spPr>
          <c:invertIfNegative val="0"/>
          <c:cat>
            <c:strRef>
              <c:f>Sheet1!$G$5:$G$11</c:f>
              <c:strCache>
                <c:ptCount val="7"/>
                <c:pt idx="0">
                  <c:v>队1</c:v>
                </c:pt>
                <c:pt idx="1">
                  <c:v>队2</c:v>
                </c:pt>
                <c:pt idx="2">
                  <c:v>队3</c:v>
                </c:pt>
                <c:pt idx="3">
                  <c:v>队4</c:v>
                </c:pt>
                <c:pt idx="4">
                  <c:v>队5</c:v>
                </c:pt>
                <c:pt idx="5">
                  <c:v>队6</c:v>
                </c:pt>
                <c:pt idx="6">
                  <c:v>队7</c:v>
                </c:pt>
              </c:strCache>
            </c:strRef>
          </c:cat>
          <c:val>
            <c:numLit>
              <c:formatCode>General</c:formatCode>
              <c:ptCount val="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0-AB51-44B4-BDD9-A95C81318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1120875344"/>
        <c:axId val="1120871984"/>
      </c:barChart>
      <c:scatterChart>
        <c:scatterStyle val="lineMarker"/>
        <c:varyColors val="0"/>
        <c:ser>
          <c:idx val="1"/>
          <c:order val="1"/>
          <c:tx>
            <c:v>tusimpleBI</c:v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strRef>
                  <c:f>Sheet1!$H$4</c:f>
                  <c:strCache>
                    <c:ptCount val="1"/>
                    <c:pt idx="0">
                      <c:v>数据1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{38CC90E9-F47D-1E4A-BD1E-FED0C6C0A4BB}</c15:txfldGUID>
                      <c15:f>Sheet1!$H$4</c15:f>
                      <c15:dlblFieldTableCache>
                        <c:ptCount val="1"/>
                        <c:pt idx="0">
                          <c:v>数据1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AB51-44B4-BDD9-A95C81318429}"/>
                </c:ext>
              </c:extLst>
            </c:dLbl>
            <c:dLbl>
              <c:idx val="1"/>
              <c:tx>
                <c:strRef>
                  <c:f>Sheet1!$I$4</c:f>
                  <c:strCache>
                    <c:ptCount val="1"/>
                    <c:pt idx="0">
                      <c:v>数据2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{6F2C0B81-DFF8-404D-B869-03EB83341C59}</c15:txfldGUID>
                      <c15:f>Sheet1!$I$4</c15:f>
                      <c15:dlblFieldTableCache>
                        <c:ptCount val="1"/>
                        <c:pt idx="0">
                          <c:v>数据2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AB51-44B4-BDD9-A95C813184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noFill/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Sheet1!$H$5:$I$5</c:f>
              <c:numCache>
                <c:formatCode>General</c:formatCode>
                <c:ptCount val="2"/>
                <c:pt idx="0">
                  <c:v>32</c:v>
                </c:pt>
                <c:pt idx="1">
                  <c:v>60</c:v>
                </c:pt>
              </c:numCache>
            </c:numRef>
          </c:xVal>
          <c:yVal>
            <c:numLit>
              <c:formatCode>General</c:formatCode>
              <c:ptCount val="2"/>
              <c:pt idx="0">
                <c:v>1</c:v>
              </c:pt>
              <c:pt idx="1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AB51-44B4-BDD9-A95C81318429}"/>
            </c:ext>
          </c:extLst>
        </c:ser>
        <c:ser>
          <c:idx val="2"/>
          <c:order val="2"/>
          <c:tx>
            <c:strRef>
              <c:f>Sheet1!$H$4</c:f>
              <c:strCache>
                <c:ptCount val="1"/>
                <c:pt idx="0">
                  <c:v>数据1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ysClr val="windowText" lastClr="000000"/>
              </a:solidFill>
              <a:ln w="25400">
                <a:noFill/>
              </a:ln>
              <a:effectLst/>
            </c:spPr>
          </c:marker>
          <c:errBars>
            <c:errDir val="x"/>
            <c:errBarType val="plus"/>
            <c:errValType val="cust"/>
            <c:noEndCap val="1"/>
            <c:plus>
              <c:numRef>
                <c:f>Sheet1!ts73B_FA325</c:f>
                <c:numCache>
                  <c:formatCode>General</c:formatCode>
                  <c:ptCount val="7"/>
                  <c:pt idx="0">
                    <c:v>28</c:v>
                  </c:pt>
                  <c:pt idx="1">
                    <c:v>19</c:v>
                  </c:pt>
                  <c:pt idx="2">
                    <c:v>26</c:v>
                  </c:pt>
                  <c:pt idx="3">
                    <c:v>31</c:v>
                  </c:pt>
                  <c:pt idx="4">
                    <c:v>27</c:v>
                  </c:pt>
                  <c:pt idx="5">
                    <c:v>18</c:v>
                  </c:pt>
                  <c:pt idx="6">
                    <c:v>26</c:v>
                  </c:pt>
                </c:numCache>
              </c:numRef>
            </c:plus>
            <c:spPr>
              <a:noFill/>
              <a:ln w="38100" cap="flat" cmpd="sng" algn="ctr">
                <a:solidFill>
                  <a:srgbClr val="E8E8E8">
                    <a:lumMod val="90000"/>
                  </a:srgbClr>
                </a:solidFill>
                <a:round/>
              </a:ln>
              <a:effectLst/>
            </c:spPr>
          </c:errBars>
          <c:xVal>
            <c:numRef>
              <c:f>Sheet1!$H$5:$H$11</c:f>
              <c:numCache>
                <c:formatCode>General</c:formatCode>
                <c:ptCount val="7"/>
                <c:pt idx="0">
                  <c:v>32</c:v>
                </c:pt>
                <c:pt idx="1">
                  <c:v>39</c:v>
                </c:pt>
                <c:pt idx="2">
                  <c:v>31</c:v>
                </c:pt>
                <c:pt idx="3">
                  <c:v>21</c:v>
                </c:pt>
                <c:pt idx="4">
                  <c:v>22</c:v>
                </c:pt>
                <c:pt idx="5">
                  <c:v>21</c:v>
                </c:pt>
                <c:pt idx="6">
                  <c:v>12</c:v>
                </c:pt>
              </c:numCache>
            </c:numRef>
          </c:xVal>
          <c:yVal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4-AB51-44B4-BDD9-A95C81318429}"/>
            </c:ext>
          </c:extLst>
        </c:ser>
        <c:ser>
          <c:idx val="3"/>
          <c:order val="3"/>
          <c:tx>
            <c:strRef>
              <c:f>Sheet1!$I$4</c:f>
              <c:strCache>
                <c:ptCount val="1"/>
                <c:pt idx="0">
                  <c:v>数据2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0B7FB"/>
              </a:solidFill>
              <a:ln w="25400">
                <a:noFill/>
              </a:ln>
              <a:effectLst/>
            </c:spPr>
          </c:marker>
          <c:xVal>
            <c:numRef>
              <c:f>Sheet1!$I$5:$I$11</c:f>
              <c:numCache>
                <c:formatCode>General</c:formatCode>
                <c:ptCount val="7"/>
                <c:pt idx="0">
                  <c:v>60</c:v>
                </c:pt>
                <c:pt idx="1">
                  <c:v>58</c:v>
                </c:pt>
                <c:pt idx="2">
                  <c:v>57</c:v>
                </c:pt>
                <c:pt idx="3">
                  <c:v>52</c:v>
                </c:pt>
                <c:pt idx="4">
                  <c:v>49</c:v>
                </c:pt>
                <c:pt idx="5">
                  <c:v>39</c:v>
                </c:pt>
                <c:pt idx="6">
                  <c:v>38</c:v>
                </c:pt>
              </c:numCache>
            </c:numRef>
          </c:xVal>
          <c:yVal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5-AB51-44B4-BDD9-A95C81318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67500863"/>
        <c:axId val="462530623"/>
      </c:scatterChart>
      <c:catAx>
        <c:axId val="112087534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120871984"/>
        <c:crosses val="autoZero"/>
        <c:auto val="1"/>
        <c:lblAlgn val="ctr"/>
        <c:lblOffset val="100"/>
        <c:tickLblSkip val="1"/>
        <c:noMultiLvlLbl val="0"/>
      </c:catAx>
      <c:valAx>
        <c:axId val="1120871984"/>
        <c:scaling>
          <c:orientation val="minMax"/>
          <c:max val="1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0875344"/>
        <c:crosses val="autoZero"/>
        <c:crossBetween val="between"/>
      </c:valAx>
      <c:valAx>
        <c:axId val="462530623"/>
        <c:scaling>
          <c:orientation val="maxMin"/>
          <c:max val="7.5"/>
          <c:min val="0.5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7500863"/>
        <c:crosses val="max"/>
        <c:crossBetween val="midCat"/>
      </c:valAx>
      <c:valAx>
        <c:axId val="467500863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rgbClr val="FEFEFE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ysClr val="window" lastClr="FFFFF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62530623"/>
        <c:crosses val="max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492855817405833E-3"/>
          <c:y val="6.2057877813504823E-2"/>
          <c:w val="0.95527927259231771"/>
          <c:h val="0.8758842443729903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9545370198552607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1FA-D647-A83D-D5EB6BE6A802}"/>
                </c:ext>
              </c:extLst>
            </c:dLbl>
            <c:dLbl>
              <c:idx val="1"/>
              <c:layout>
                <c:manualLayout>
                  <c:x val="0.44646502133976618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1FA-D647-A83D-D5EB6BE6A802}"/>
                </c:ext>
              </c:extLst>
            </c:dLbl>
            <c:dLbl>
              <c:idx val="2"/>
              <c:layout>
                <c:manualLayout>
                  <c:x val="0.42197068101688623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1FA-D647-A83D-D5EB6BE6A802}"/>
                </c:ext>
              </c:extLst>
            </c:dLbl>
            <c:dLbl>
              <c:idx val="3"/>
              <c:layout>
                <c:manualLayout>
                  <c:x val="0.38522917053256633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1FA-D647-A83D-D5EB6BE6A802}"/>
                </c:ext>
              </c:extLst>
            </c:dLbl>
            <c:dLbl>
              <c:idx val="4"/>
              <c:layout>
                <c:manualLayout>
                  <c:x val="0.36073483020968639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1FA-D647-A83D-D5EB6BE6A802}"/>
                </c:ext>
              </c:extLst>
            </c:dLbl>
            <c:dLbl>
              <c:idx val="5"/>
              <c:layout>
                <c:manualLayout>
                  <c:x val="0.2872518092410466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B1FA-D647-A83D-D5EB6BE6A802}"/>
                </c:ext>
              </c:extLst>
            </c:dLbl>
            <c:dLbl>
              <c:idx val="6"/>
              <c:layout>
                <c:manualLayout>
                  <c:x val="0.2872518092410466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B1FA-D647-A83D-D5EB6BE6A802}"/>
                </c:ext>
              </c:extLst>
            </c:dLbl>
            <c:dLbl>
              <c:idx val="7"/>
              <c:layout>
                <c:manualLayout>
                  <c:x val="0.27500463907960659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1FA-D647-A83D-D5EB6BE6A802}"/>
                </c:ext>
              </c:extLst>
            </c:dLbl>
            <c:dLbl>
              <c:idx val="8"/>
              <c:layout>
                <c:manualLayout>
                  <c:x val="0.10985340508443125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1FA-D647-A83D-D5EB6BE6A802}"/>
                </c:ext>
              </c:extLst>
            </c:dLbl>
            <c:dLbl>
              <c:idx val="9"/>
              <c:layout>
                <c:manualLayout>
                  <c:x val="0.1892744479495268"/>
                  <c:y val="9.64630225080385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B1FA-D647-A83D-D5EB6BE6A80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39</c:v>
                </c:pt>
                <c:pt idx="1">
                  <c:v>35</c:v>
                </c:pt>
                <c:pt idx="2">
                  <c:v>33</c:v>
                </c:pt>
                <c:pt idx="3">
                  <c:v>30</c:v>
                </c:pt>
                <c:pt idx="4">
                  <c:v>28</c:v>
                </c:pt>
                <c:pt idx="5">
                  <c:v>22</c:v>
                </c:pt>
                <c:pt idx="6">
                  <c:v>22</c:v>
                </c:pt>
                <c:pt idx="7">
                  <c:v>21</c:v>
                </c:pt>
                <c:pt idx="8">
                  <c:v>8</c:v>
                </c:pt>
                <c:pt idx="9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FA-D647-A83D-D5EB6BE6A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321373008"/>
        <c:axId val="1"/>
      </c:barChart>
      <c:catAx>
        <c:axId val="3213730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3213730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009900990099011E-3"/>
          <c:y val="6.3970831952270463E-2"/>
          <c:w val="0.98019801980198018"/>
          <c:h val="0.8720583360954590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4481B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255-3B4F-8D14-298FD7693FBD}"/>
                </c:ext>
              </c:extLst>
            </c:dLbl>
            <c:dLbl>
              <c:idx val="1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255-3B4F-8D14-298FD7693FBD}"/>
                </c:ext>
              </c:extLst>
            </c:dLbl>
            <c:dLbl>
              <c:idx val="2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255-3B4F-8D14-298FD7693FBD}"/>
                </c:ext>
              </c:extLst>
            </c:dLbl>
            <c:dLbl>
              <c:idx val="3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255-3B4F-8D14-298FD7693FBD}"/>
                </c:ext>
              </c:extLst>
            </c:dLbl>
            <c:dLbl>
              <c:idx val="4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255-3B4F-8D14-298FD7693FBD}"/>
                </c:ext>
              </c:extLst>
            </c:dLbl>
            <c:dLbl>
              <c:idx val="5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255-3B4F-8D14-298FD7693FBD}"/>
                </c:ext>
              </c:extLst>
            </c:dLbl>
            <c:dLbl>
              <c:idx val="6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255-3B4F-8D14-298FD7693FBD}"/>
                </c:ext>
              </c:extLst>
            </c:dLbl>
            <c:dLbl>
              <c:idx val="7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255-3B4F-8D14-298FD7693FBD}"/>
                </c:ext>
              </c:extLst>
            </c:dLbl>
            <c:dLbl>
              <c:idx val="8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255-3B4F-8D14-298FD7693F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20</c:v>
                </c:pt>
                <c:pt idx="1">
                  <c:v>20</c:v>
                </c:pt>
                <c:pt idx="2">
                  <c:v>32</c:v>
                </c:pt>
                <c:pt idx="3">
                  <c:v>28</c:v>
                </c:pt>
                <c:pt idx="4">
                  <c:v>25</c:v>
                </c:pt>
                <c:pt idx="5">
                  <c:v>20</c:v>
                </c:pt>
                <c:pt idx="6">
                  <c:v>15</c:v>
                </c:pt>
                <c:pt idx="7">
                  <c:v>15</c:v>
                </c:pt>
                <c:pt idx="8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255-3B4F-8D14-298FD7693FBD}"/>
            </c:ext>
          </c:extLst>
        </c:ser>
        <c:ser>
          <c:idx val="1"/>
          <c:order val="1"/>
          <c:spPr>
            <a:solidFill>
              <a:srgbClr val="78A7C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255-3B4F-8D14-298FD7693FBD}"/>
                </c:ext>
              </c:extLst>
            </c:dLbl>
            <c:dLbl>
              <c:idx val="1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1255-3B4F-8D14-298FD7693FBD}"/>
                </c:ext>
              </c:extLst>
            </c:dLbl>
            <c:dLbl>
              <c:idx val="2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1255-3B4F-8D14-298FD7693FBD}"/>
                </c:ext>
              </c:extLst>
            </c:dLbl>
            <c:dLbl>
              <c:idx val="3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1255-3B4F-8D14-298FD7693FBD}"/>
                </c:ext>
              </c:extLst>
            </c:dLbl>
            <c:dLbl>
              <c:idx val="4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1255-3B4F-8D14-298FD7693FBD}"/>
                </c:ext>
              </c:extLst>
            </c:dLbl>
            <c:dLbl>
              <c:idx val="5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1255-3B4F-8D14-298FD7693FBD}"/>
                </c:ext>
              </c:extLst>
            </c:dLbl>
            <c:dLbl>
              <c:idx val="6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1255-3B4F-8D14-298FD7693FBD}"/>
                </c:ext>
              </c:extLst>
            </c:dLbl>
            <c:dLbl>
              <c:idx val="7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1255-3B4F-8D14-298FD7693FBD}"/>
                </c:ext>
              </c:extLst>
            </c:dLbl>
            <c:dLbl>
              <c:idx val="8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1255-3B4F-8D14-298FD7693F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45</c:v>
                </c:pt>
                <c:pt idx="1">
                  <c:v>49</c:v>
                </c:pt>
                <c:pt idx="2">
                  <c:v>46</c:v>
                </c:pt>
                <c:pt idx="3">
                  <c:v>42</c:v>
                </c:pt>
                <c:pt idx="4">
                  <c:v>47</c:v>
                </c:pt>
                <c:pt idx="5">
                  <c:v>42</c:v>
                </c:pt>
                <c:pt idx="6">
                  <c:v>44</c:v>
                </c:pt>
                <c:pt idx="7">
                  <c:v>46</c:v>
                </c:pt>
                <c:pt idx="8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1255-3B4F-8D14-298FD7693FBD}"/>
            </c:ext>
          </c:extLst>
        </c:ser>
        <c:ser>
          <c:idx val="2"/>
          <c:order val="2"/>
          <c:spPr>
            <a:solidFill>
              <a:srgbClr val="E6E6E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1255-3B4F-8D14-298FD7693FBD}"/>
                </c:ext>
              </c:extLst>
            </c:dLbl>
            <c:dLbl>
              <c:idx val="1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255-3B4F-8D14-298FD7693FBD}"/>
                </c:ext>
              </c:extLst>
            </c:dLbl>
            <c:dLbl>
              <c:idx val="2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1255-3B4F-8D14-298FD7693FBD}"/>
                </c:ext>
              </c:extLst>
            </c:dLbl>
            <c:dLbl>
              <c:idx val="3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1255-3B4F-8D14-298FD7693FBD}"/>
                </c:ext>
              </c:extLst>
            </c:dLbl>
            <c:dLbl>
              <c:idx val="4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1255-3B4F-8D14-298FD7693FBD}"/>
                </c:ext>
              </c:extLst>
            </c:dLbl>
            <c:dLbl>
              <c:idx val="5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1255-3B4F-8D14-298FD7693FBD}"/>
                </c:ext>
              </c:extLst>
            </c:dLbl>
            <c:dLbl>
              <c:idx val="6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1255-3B4F-8D14-298FD7693FBD}"/>
                </c:ext>
              </c:extLst>
            </c:dLbl>
            <c:dLbl>
              <c:idx val="7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1255-3B4F-8D14-298FD7693FBD}"/>
                </c:ext>
              </c:extLst>
            </c:dLbl>
            <c:dLbl>
              <c:idx val="8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1255-3B4F-8D14-298FD7693F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17</c:v>
                </c:pt>
                <c:pt idx="1">
                  <c:v>20</c:v>
                </c:pt>
                <c:pt idx="2">
                  <c:v>9</c:v>
                </c:pt>
                <c:pt idx="3">
                  <c:v>18</c:v>
                </c:pt>
                <c:pt idx="4">
                  <c:v>18</c:v>
                </c:pt>
                <c:pt idx="5">
                  <c:v>27</c:v>
                </c:pt>
                <c:pt idx="6">
                  <c:v>24</c:v>
                </c:pt>
                <c:pt idx="7">
                  <c:v>21</c:v>
                </c:pt>
                <c:pt idx="8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1255-3B4F-8D14-298FD7693FBD}"/>
            </c:ext>
          </c:extLst>
        </c:ser>
        <c:ser>
          <c:idx val="3"/>
          <c:order val="3"/>
          <c:spPr>
            <a:solidFill>
              <a:srgbClr val="7FE9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1255-3B4F-8D14-298FD7693FBD}"/>
                </c:ext>
              </c:extLst>
            </c:dLbl>
            <c:dLbl>
              <c:idx val="1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1255-3B4F-8D14-298FD7693FBD}"/>
                </c:ext>
              </c:extLst>
            </c:dLbl>
            <c:dLbl>
              <c:idx val="2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1255-3B4F-8D14-298FD7693FBD}"/>
                </c:ext>
              </c:extLst>
            </c:dLbl>
            <c:dLbl>
              <c:idx val="3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1255-3B4F-8D14-298FD7693FBD}"/>
                </c:ext>
              </c:extLst>
            </c:dLbl>
            <c:dLbl>
              <c:idx val="4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1255-3B4F-8D14-298FD7693FBD}"/>
                </c:ext>
              </c:extLst>
            </c:dLbl>
            <c:dLbl>
              <c:idx val="5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1255-3B4F-8D14-298FD7693FBD}"/>
                </c:ext>
              </c:extLst>
            </c:dLbl>
            <c:dLbl>
              <c:idx val="6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1255-3B4F-8D14-298FD7693FBD}"/>
                </c:ext>
              </c:extLst>
            </c:dLbl>
            <c:dLbl>
              <c:idx val="7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1255-3B4F-8D14-298FD7693FBD}"/>
                </c:ext>
              </c:extLst>
            </c:dLbl>
            <c:dLbl>
              <c:idx val="8"/>
              <c:layout>
                <c:manualLayout>
                  <c:x val="0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1255-3B4F-8D14-298FD7693F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13</c:v>
                </c:pt>
                <c:pt idx="1">
                  <c:v>6</c:v>
                </c:pt>
                <c:pt idx="2">
                  <c:v>6</c:v>
                </c:pt>
                <c:pt idx="3">
                  <c:v>9</c:v>
                </c:pt>
                <c:pt idx="4">
                  <c:v>5</c:v>
                </c:pt>
                <c:pt idx="5">
                  <c:v>5</c:v>
                </c:pt>
                <c:pt idx="6">
                  <c:v>10</c:v>
                </c:pt>
                <c:pt idx="7">
                  <c:v>12</c:v>
                </c:pt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7-1255-3B4F-8D14-298FD7693FBD}"/>
            </c:ext>
          </c:extLst>
        </c:ser>
        <c:ser>
          <c:idx val="4"/>
          <c:order val="4"/>
          <c:spPr>
            <a:solidFill>
              <a:srgbClr val="43CEFC"/>
            </a:solidFill>
            <a:ln>
              <a:noFill/>
            </a:ln>
          </c:spPr>
          <c:invertIfNegative val="0"/>
          <c:dLbls>
            <c:dLbl>
              <c:idx val="8"/>
              <c:layout>
                <c:manualLayout>
                  <c:x val="-1.9040365575019041E-4"/>
                  <c:y val="9.943652635067948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1255-3B4F-8D14-298FD7693FB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1255-3B4F-8D14-298FD7693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932692752"/>
        <c:axId val="1"/>
      </c:barChart>
      <c:catAx>
        <c:axId val="93269275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1D2D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9326927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5940959409594097E-3"/>
          <c:y val="5.2450827349359977E-2"/>
          <c:w val="0.95922509225092256"/>
          <c:h val="0.8950983453012800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5129151291512917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BC8-0B46-A7DE-AD114D2DBEA2}"/>
                </c:ext>
              </c:extLst>
            </c:dLbl>
            <c:dLbl>
              <c:idx val="1"/>
              <c:layout>
                <c:manualLayout>
                  <c:x val="0.38339483394833951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BC8-0B46-A7DE-AD114D2DBEA2}"/>
                </c:ext>
              </c:extLst>
            </c:dLbl>
            <c:dLbl>
              <c:idx val="2"/>
              <c:layout>
                <c:manualLayout>
                  <c:x val="0.4952029520295203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BC8-0B46-A7DE-AD114D2DBEA2}"/>
                </c:ext>
              </c:extLst>
            </c:dLbl>
            <c:dLbl>
              <c:idx val="3"/>
              <c:layout>
                <c:manualLayout>
                  <c:x val="0.47933579335793358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BC8-0B46-A7DE-AD114D2DBEA2}"/>
                </c:ext>
              </c:extLst>
            </c:dLbl>
            <c:dLbl>
              <c:idx val="4"/>
              <c:layout>
                <c:manualLayout>
                  <c:x val="0.27933579335793357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BC8-0B46-A7DE-AD114D2DBEA2}"/>
                </c:ext>
              </c:extLst>
            </c:dLbl>
            <c:dLbl>
              <c:idx val="5"/>
              <c:layout>
                <c:manualLayout>
                  <c:x val="0.33542435424354244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BC8-0B46-A7DE-AD114D2DBEA2}"/>
                </c:ext>
              </c:extLst>
            </c:dLbl>
            <c:dLbl>
              <c:idx val="6"/>
              <c:layout>
                <c:manualLayout>
                  <c:x val="0.24760147601476015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BC8-0B46-A7DE-AD114D2DBEA2}"/>
                </c:ext>
              </c:extLst>
            </c:dLbl>
            <c:dLbl>
              <c:idx val="7"/>
              <c:layout>
                <c:manualLayout>
                  <c:x val="0.28745387453874538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BC8-0B46-A7DE-AD114D2DBEA2}"/>
                </c:ext>
              </c:extLst>
            </c:dLbl>
            <c:dLbl>
              <c:idx val="8"/>
              <c:layout>
                <c:manualLayout>
                  <c:x val="0.21549815498154981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2BC8-0B46-A7DE-AD114D2DBEA2}"/>
                </c:ext>
              </c:extLst>
            </c:dLbl>
            <c:dLbl>
              <c:idx val="9"/>
              <c:layout>
                <c:manualLayout>
                  <c:x val="6.6605166051660517E-2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BC8-0B46-A7DE-AD114D2DBE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42</c:v>
                </c:pt>
                <c:pt idx="1">
                  <c:v>46</c:v>
                </c:pt>
                <c:pt idx="2">
                  <c:v>60</c:v>
                </c:pt>
                <c:pt idx="3">
                  <c:v>58</c:v>
                </c:pt>
                <c:pt idx="4">
                  <c:v>33</c:v>
                </c:pt>
                <c:pt idx="5">
                  <c:v>40</c:v>
                </c:pt>
                <c:pt idx="6">
                  <c:v>29</c:v>
                </c:pt>
                <c:pt idx="7">
                  <c:v>34</c:v>
                </c:pt>
                <c:pt idx="8">
                  <c:v>25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BC8-0B46-A7DE-AD114D2DBEA2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33542435424354244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2BC8-0B46-A7DE-AD114D2DBEA2}"/>
                </c:ext>
              </c:extLst>
            </c:dLbl>
            <c:dLbl>
              <c:idx val="1"/>
              <c:layout>
                <c:manualLayout>
                  <c:x val="0.31143911439114391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2BC8-0B46-A7DE-AD114D2DBEA2}"/>
                </c:ext>
              </c:extLst>
            </c:dLbl>
            <c:dLbl>
              <c:idx val="2"/>
              <c:layout>
                <c:manualLayout>
                  <c:x val="0.26346863468634685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2BC8-0B46-A7DE-AD114D2DBEA2}"/>
                </c:ext>
              </c:extLst>
            </c:dLbl>
            <c:dLbl>
              <c:idx val="3"/>
              <c:layout>
                <c:manualLayout>
                  <c:x val="0.23154981549815498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2BC8-0B46-A7DE-AD114D2DBEA2}"/>
                </c:ext>
              </c:extLst>
            </c:dLbl>
            <c:dLbl>
              <c:idx val="4"/>
              <c:layout>
                <c:manualLayout>
                  <c:x val="0.26346863468634685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2BC8-0B46-A7DE-AD114D2DBEA2}"/>
                </c:ext>
              </c:extLst>
            </c:dLbl>
            <c:dLbl>
              <c:idx val="5"/>
              <c:layout>
                <c:manualLayout>
                  <c:x val="0.18357933579335795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2BC8-0B46-A7DE-AD114D2DBEA2}"/>
                </c:ext>
              </c:extLst>
            </c:dLbl>
            <c:dLbl>
              <c:idx val="6"/>
              <c:layout>
                <c:manualLayout>
                  <c:x val="0.19151291512915128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2BC8-0B46-A7DE-AD114D2DBEA2}"/>
                </c:ext>
              </c:extLst>
            </c:dLbl>
            <c:dLbl>
              <c:idx val="7"/>
              <c:layout>
                <c:manualLayout>
                  <c:x val="0.19151291512915128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2BC8-0B46-A7DE-AD114D2DBEA2}"/>
                </c:ext>
              </c:extLst>
            </c:dLbl>
            <c:dLbl>
              <c:idx val="8"/>
              <c:layout>
                <c:manualLayout>
                  <c:x val="7.435424354243543E-2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2BC8-0B46-A7DE-AD114D2DBEA2}"/>
                </c:ext>
              </c:extLst>
            </c:dLbl>
            <c:dLbl>
              <c:idx val="9"/>
              <c:layout>
                <c:manualLayout>
                  <c:x val="0.14354243542435424"/>
                  <c:y val="9.366219169528567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2BC8-0B46-A7DE-AD114D2DBE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Sheet1!$A$2:$J$2</c:f>
              <c:numCache>
                <c:formatCode>General</c:formatCode>
                <c:ptCount val="10"/>
                <c:pt idx="0">
                  <c:v>40</c:v>
                </c:pt>
                <c:pt idx="1">
                  <c:v>37</c:v>
                </c:pt>
                <c:pt idx="2">
                  <c:v>31</c:v>
                </c:pt>
                <c:pt idx="3">
                  <c:v>27</c:v>
                </c:pt>
                <c:pt idx="4">
                  <c:v>31</c:v>
                </c:pt>
                <c:pt idx="5">
                  <c:v>21</c:v>
                </c:pt>
                <c:pt idx="6">
                  <c:v>22</c:v>
                </c:pt>
                <c:pt idx="7">
                  <c:v>22</c:v>
                </c:pt>
                <c:pt idx="8">
                  <c:v>8</c:v>
                </c:pt>
                <c:pt idx="9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2BC8-0B46-A7DE-AD114D2DB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0166192"/>
        <c:axId val="1"/>
      </c:barChart>
      <c:catAx>
        <c:axId val="32016619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3201661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2.2999999999999998</c:v>
                </c:pt>
                <c:pt idx="1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D5-324B-A3AE-1C35373E6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97585679"/>
        <c:axId val="1"/>
      </c:barChart>
      <c:catAx>
        <c:axId val="4975856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97585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17.3</c:v>
                </c:pt>
                <c:pt idx="1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9-FA42-8843-C427EA7D6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17.3</c:v>
                </c:pt>
                <c:pt idx="1">
                  <c:v>13.6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D9-FA42-8843-C427EA7D6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2.2999999999999998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83-DB4A-AF28-AE25DF3C3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96041855"/>
        <c:axId val="1"/>
      </c:barChart>
      <c:catAx>
        <c:axId val="4960418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960418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69949344857602E-2"/>
          <c:y val="0.21559793531496066"/>
          <c:w val="0.90260101310284802"/>
          <c:h val="0.41469215991217634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3.9</c:v>
                </c:pt>
                <c:pt idx="1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F-8641-BF14-99118B6BF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3.9</c:v>
                </c:pt>
                <c:pt idx="1">
                  <c:v>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8F-8641-BF14-99118B6BF6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2.9</c:v>
                </c:pt>
                <c:pt idx="1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C-014A-90D2-FC8D465F5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76341311"/>
        <c:axId val="1"/>
      </c:barChart>
      <c:catAx>
        <c:axId val="876341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76341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69949344857602E-2"/>
          <c:y val="0.46697075233862489"/>
          <c:w val="0.90260101310284802"/>
          <c:h val="0.40131954828381411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2.7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B-074B-9B79-873315DF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2.7</c:v>
                </c:pt>
                <c:pt idx="1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4B-074B-9B79-873315DF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2.9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1-5848-AA39-D6C2716DB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53113503"/>
        <c:axId val="1"/>
      </c:barChart>
      <c:catAx>
        <c:axId val="4531135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31135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3.1</c:v>
                </c:pt>
                <c:pt idx="1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4C-9C4A-80DD-ED914BDBCC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2716991"/>
        <c:axId val="1"/>
      </c:barChart>
      <c:catAx>
        <c:axId val="1327169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27169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93044469783354E-2"/>
          <c:y val="0.12652068126520682"/>
          <c:w val="0.88141391106043332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3.1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0-FA4A-95E7-DD4000B8F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53355119"/>
        <c:axId val="1"/>
      </c:barChart>
      <c:catAx>
        <c:axId val="453355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3355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6</c:v>
                </c:pt>
                <c:pt idx="1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B8-A347-BBEC-BE5849341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6</c:v>
                </c:pt>
                <c:pt idx="1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B8-A347-BBEC-BE5849341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69949344857602E-2"/>
          <c:y val="0.17169303363541774"/>
          <c:w val="0.90260101310284802"/>
          <c:h val="0.26062162824144147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0.9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6-2643-8016-417DE165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0.9</c:v>
                </c:pt>
                <c:pt idx="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A6-2643-8016-417DE165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810834155470551E-2"/>
          <c:y val="0.51602103090437768"/>
          <c:w val="0.88637833168905888"/>
          <c:h val="0.25692971549769617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0.6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E2-D84B-AAB4-1C67CBEBBA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0.6</c:v>
                </c:pt>
                <c:pt idx="1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E2-D84B-AAB4-1C67CBEBBA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7FE9FF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2.5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2-2D41-BB7D-2E7F3E5401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2023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2.5</c:v>
                </c:pt>
                <c:pt idx="1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2-2D41-BB7D-2E7F3E5401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360730593607303E-2"/>
          <c:y val="0.12652068126520682"/>
          <c:w val="0.88127853881278539"/>
          <c:h val="0.74695863746958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3</c:v>
                </c:pt>
                <c:pt idx="1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0-9C4C-9DC4-E05FFC7E2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53290607"/>
        <c:axId val="1"/>
      </c:barChart>
      <c:catAx>
        <c:axId val="4532906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32906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96014196014196E-2"/>
          <c:y val="6.0012437810945271E-2"/>
          <c:w val="0.91673491673491669"/>
          <c:h val="0.8799751243781094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43543543543543545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C4-2841-99B3-40532348735B}"/>
                </c:ext>
              </c:extLst>
            </c:dLbl>
            <c:dLbl>
              <c:idx val="1"/>
              <c:layout>
                <c:manualLayout>
                  <c:x val="0.40895440895440893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8C4-2841-99B3-40532348735B}"/>
                </c:ext>
              </c:extLst>
            </c:dLbl>
            <c:dLbl>
              <c:idx val="2"/>
              <c:layout>
                <c:manualLayout>
                  <c:x val="0.44881244881244881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8C4-2841-99B3-40532348735B}"/>
                </c:ext>
              </c:extLst>
            </c:dLbl>
            <c:dLbl>
              <c:idx val="3"/>
              <c:layout>
                <c:manualLayout>
                  <c:x val="0.46246246246246248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8C4-2841-99B3-40532348735B}"/>
                </c:ext>
              </c:extLst>
            </c:dLbl>
            <c:dLbl>
              <c:idx val="4"/>
              <c:layout>
                <c:manualLayout>
                  <c:x val="0.44007644007644009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8C4-2841-99B3-40532348735B}"/>
                </c:ext>
              </c:extLst>
            </c:dLbl>
            <c:dLbl>
              <c:idx val="5"/>
              <c:layout>
                <c:manualLayout>
                  <c:x val="0.38684138684138686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8C4-2841-99B3-40532348735B}"/>
                </c:ext>
              </c:extLst>
            </c:dLbl>
            <c:dLbl>
              <c:idx val="6"/>
              <c:layout>
                <c:manualLayout>
                  <c:x val="0.18181818181818182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8C4-2841-99B3-40532348735B}"/>
                </c:ext>
              </c:extLst>
            </c:dLbl>
            <c:dLbl>
              <c:idx val="7"/>
              <c:layout>
                <c:manualLayout>
                  <c:x val="0.43543543543543545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8C4-2841-99B3-40532348735B}"/>
                </c:ext>
              </c:extLst>
            </c:dLbl>
            <c:dLbl>
              <c:idx val="8"/>
              <c:layout>
                <c:manualLayout>
                  <c:x val="0.42669942669942668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8C4-2841-99B3-40532348735B}"/>
                </c:ext>
              </c:extLst>
            </c:dLbl>
            <c:dLbl>
              <c:idx val="9"/>
              <c:layout>
                <c:manualLayout>
                  <c:x val="0.43543543543543545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8C4-2841-99B3-40532348735B}"/>
                </c:ext>
              </c:extLst>
            </c:dLbl>
            <c:dLbl>
              <c:idx val="10"/>
              <c:layout>
                <c:manualLayout>
                  <c:x val="0.49331149331149332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8C4-2841-99B3-40532348735B}"/>
                </c:ext>
              </c:extLst>
            </c:dLbl>
            <c:dLbl>
              <c:idx val="11"/>
              <c:layout>
                <c:manualLayout>
                  <c:x val="0.39557739557739557"/>
                  <c:y val="9.328358208955223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8C4-2841-99B3-40532348735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92</c:v>
                </c:pt>
                <c:pt idx="1">
                  <c:v>86</c:v>
                </c:pt>
                <c:pt idx="2">
                  <c:v>95</c:v>
                </c:pt>
                <c:pt idx="3">
                  <c:v>98</c:v>
                </c:pt>
                <c:pt idx="4">
                  <c:v>93</c:v>
                </c:pt>
                <c:pt idx="5">
                  <c:v>81</c:v>
                </c:pt>
                <c:pt idx="6">
                  <c:v>35</c:v>
                </c:pt>
                <c:pt idx="7">
                  <c:v>92</c:v>
                </c:pt>
                <c:pt idx="8">
                  <c:v>90</c:v>
                </c:pt>
                <c:pt idx="9">
                  <c:v>92</c:v>
                </c:pt>
                <c:pt idx="10">
                  <c:v>103</c:v>
                </c:pt>
                <c:pt idx="1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8C4-2841-99B3-405323487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21377296"/>
        <c:axId val="1"/>
      </c:barChart>
      <c:catAx>
        <c:axId val="152137729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3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213772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B9EB3-6060-250A-4166-6A2FA24BF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941653-AEFB-63BE-36A4-A656CF65F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9EBAE1-06D5-6CEA-A201-9A8092B6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92AAFF-75E9-5777-CF10-153E1974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E17C4-6F55-84F8-071E-D944368F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398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1B5FB-24CC-F361-63A2-5C06E3F7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FF9415-505C-7379-FB6A-1B3FB878B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ED1CF-F0B8-E65A-5F72-8D4F4A80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82BB54-DE43-013B-78F4-4FAF0253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85692-7B10-CBC5-C8FA-94312141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270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6537F-77F9-D2C0-AE94-17360044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39BF77-7410-2469-0108-0A11BA396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7E499E-5916-333E-0111-FB8F08FA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94919-4256-A2DD-D119-E0F92C5D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78291-3DA9-CB3E-8967-E4FF407B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102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0AECB-A65C-5DFC-4A06-E3D5BB1F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F98EDE-B4DC-4978-4C20-8B096619B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2B2731-17D8-6116-6FC5-CFA69E5C4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3A2BA-3AC5-B47E-6270-45D7177D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6B40EC-ACB3-A4B7-1DA5-7654E0E4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00F824-2638-BCF9-3F03-D4DA4A58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662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87581-E778-9428-613C-9983E8FA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639179-FF04-2B46-7B87-18D94EE48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B028F3-D55F-63D9-7896-AABC834A1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139C93-68A8-FB05-798C-D88B0D86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E00A59-D119-7DBC-ADD4-B6E7D6DD3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3FCAD4-09F4-BFE4-8707-AA818DA5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A83C87-FE7E-8AD0-13E7-F6C274FB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F292FB-FDD9-B44A-BE4C-BE387618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27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A4398-0662-E4EC-70C7-B79E1ED9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C6C0D1-34C8-24EE-1464-69977660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48E460-8B74-C9C6-7241-C45CEFBB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598FA4-8252-3378-E2ED-CBC9B759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136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78617E-85E2-F7BE-09B5-16E5469D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49E396-CC5A-0FCE-034B-13023140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10DAA8-3231-385C-0132-21CDDFF1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599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E90AA-418F-D2D1-1167-BD0EC84A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BA4DE-ABDB-760F-5A96-99C829139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A6B57-217A-6E8D-4C96-A2C173C7E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F8DF05-3CEE-4C4F-5459-EA228674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0D22E9-60E7-9889-410C-862344AE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463A16-D7AC-F2D6-4F3C-4F4C2033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5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0B8AA-EB87-00DA-AD29-E76DE167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E03266-ECA3-0BAF-F198-5E64310D9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670C1E-DD1F-EA08-189A-BC91CB786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A3E344-E02E-61E4-CBD9-3CF7046B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64B5E6-754F-66D9-A04F-B428E863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4F492A-2FFD-8259-01A8-ACC3D0E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005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B0C12-4320-6B86-BB72-C603E99F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0749D0-920D-F90D-D8DA-96A501772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994A61-A348-9D08-C29B-E49D0658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A2031-67BE-B84D-4D48-091DBEF6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9F2AE-2AD9-2D0D-EAC6-67D5EDD8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797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FEA214-E2D9-EB0F-6B6A-664B489B5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2CA7BE-9456-C987-43E1-0CDCA70D9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7FA64-5E90-D19F-C725-B15E2E13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84388D-82A8-9182-8387-4BA9949A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0033A8-52D2-71F1-3B30-13597329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39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C510CD9-AF26-7451-4CB5-026F121021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164088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5AA4F-AB92-0F6F-F688-90A91BA6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F86E3-C2E3-93C4-DC06-29CBB3658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8E829-B07B-FB6A-999E-B61E3B683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394C2-E48D-B647-958D-ED4F13F42F6B}" type="datetimeFigureOut">
              <a:rPr kumimoji="1" lang="zh-CN" altLang="en-US" smtClean="0"/>
              <a:t>2024/10/18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BD43C3-7958-9375-3006-1A01B44CB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0EE9D-B29B-F1A8-8265-6C8DBD94C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95915-1141-DC47-A09F-089F5AB2CC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992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chart" Target="../charts/chart1.xml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image" Target="../media/image2.emf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oleObject" Target="../embeddings/oleObject2.bin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slideLayout" Target="../slideLayouts/slideLayout1.xml"/><Relationship Id="rId28" Type="http://schemas.openxmlformats.org/officeDocument/2006/relationships/chart" Target="../charts/chart3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5" Type="http://schemas.openxmlformats.org/officeDocument/2006/relationships/chart" Target="../charts/chart4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chart" Target="../charts/chart5.xml"/><Relationship Id="rId18" Type="http://schemas.openxmlformats.org/officeDocument/2006/relationships/chart" Target="../charts/chart10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2.emf"/><Relationship Id="rId17" Type="http://schemas.openxmlformats.org/officeDocument/2006/relationships/chart" Target="../charts/chart9.xml"/><Relationship Id="rId2" Type="http://schemas.openxmlformats.org/officeDocument/2006/relationships/tags" Target="../tags/tag27.xml"/><Relationship Id="rId16" Type="http://schemas.openxmlformats.org/officeDocument/2006/relationships/chart" Target="../charts/chart8.xml"/><Relationship Id="rId20" Type="http://schemas.openxmlformats.org/officeDocument/2006/relationships/chart" Target="../charts/chart12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oleObject" Target="../embeddings/oleObject4.bin"/><Relationship Id="rId5" Type="http://schemas.openxmlformats.org/officeDocument/2006/relationships/tags" Target="../tags/tag30.xml"/><Relationship Id="rId15" Type="http://schemas.openxmlformats.org/officeDocument/2006/relationships/chart" Target="../charts/chart7.xml"/><Relationship Id="rId10" Type="http://schemas.openxmlformats.org/officeDocument/2006/relationships/slideLayout" Target="../slideLayouts/slideLayout1.xml"/><Relationship Id="rId19" Type="http://schemas.openxmlformats.org/officeDocument/2006/relationships/chart" Target="../charts/chart11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26" Type="http://schemas.openxmlformats.org/officeDocument/2006/relationships/chart" Target="../charts/chart13.xml"/><Relationship Id="rId3" Type="http://schemas.openxmlformats.org/officeDocument/2006/relationships/tags" Target="../tags/tag37.xml"/><Relationship Id="rId21" Type="http://schemas.openxmlformats.org/officeDocument/2006/relationships/tags" Target="../tags/tag55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5" Type="http://schemas.openxmlformats.org/officeDocument/2006/relationships/image" Target="../media/image2.emf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tags" Target="../tags/tag54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oleObject" Target="../embeddings/oleObject5.bin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tags" Target="../tags/tag56.xml"/><Relationship Id="rId27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chart" Target="../charts/chart16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chart" Target="../charts/chart15.xml"/><Relationship Id="rId2" Type="http://schemas.openxmlformats.org/officeDocument/2006/relationships/tags" Target="../tags/tag58.xml"/><Relationship Id="rId16" Type="http://schemas.openxmlformats.org/officeDocument/2006/relationships/image" Target="../media/image2.emf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66.xml"/><Relationship Id="rId19" Type="http://schemas.openxmlformats.org/officeDocument/2006/relationships/chart" Target="../charts/chart17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5" Type="http://schemas.openxmlformats.org/officeDocument/2006/relationships/chart" Target="../charts/chart18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2" Type="http://schemas.openxmlformats.org/officeDocument/2006/relationships/tags" Target="../tags/tag72.xml"/><Relationship Id="rId16" Type="http://schemas.openxmlformats.org/officeDocument/2006/relationships/chart" Target="../charts/chart19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image" Target="../media/image2.emf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3" Type="http://schemas.openxmlformats.org/officeDocument/2006/relationships/tags" Target="../tags/tag85.xml"/><Relationship Id="rId21" Type="http://schemas.openxmlformats.org/officeDocument/2006/relationships/oleObject" Target="../embeddings/oleObject9.bin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chart" Target="../charts/chart20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2" Type="http://schemas.openxmlformats.org/officeDocument/2006/relationships/tags" Target="../tags/tag103.xml"/><Relationship Id="rId16" Type="http://schemas.openxmlformats.org/officeDocument/2006/relationships/chart" Target="../charts/chart21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image" Target="../media/image2.emf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26" Type="http://schemas.openxmlformats.org/officeDocument/2006/relationships/chart" Target="../charts/chart22.xml"/><Relationship Id="rId39" Type="http://schemas.openxmlformats.org/officeDocument/2006/relationships/chart" Target="../charts/chart35.xml"/><Relationship Id="rId21" Type="http://schemas.openxmlformats.org/officeDocument/2006/relationships/tags" Target="../tags/tag134.xml"/><Relationship Id="rId34" Type="http://schemas.openxmlformats.org/officeDocument/2006/relationships/chart" Target="../charts/chart30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5" Type="http://schemas.openxmlformats.org/officeDocument/2006/relationships/image" Target="../media/image3.emf"/><Relationship Id="rId33" Type="http://schemas.openxmlformats.org/officeDocument/2006/relationships/chart" Target="../charts/chart29.xml"/><Relationship Id="rId38" Type="http://schemas.openxmlformats.org/officeDocument/2006/relationships/chart" Target="../charts/chart34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20" Type="http://schemas.openxmlformats.org/officeDocument/2006/relationships/tags" Target="../tags/tag133.xml"/><Relationship Id="rId29" Type="http://schemas.openxmlformats.org/officeDocument/2006/relationships/chart" Target="../charts/chart2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24" Type="http://schemas.openxmlformats.org/officeDocument/2006/relationships/oleObject" Target="../embeddings/oleObject11.bin"/><Relationship Id="rId32" Type="http://schemas.openxmlformats.org/officeDocument/2006/relationships/chart" Target="../charts/chart28.xml"/><Relationship Id="rId37" Type="http://schemas.openxmlformats.org/officeDocument/2006/relationships/chart" Target="../charts/chart33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23" Type="http://schemas.openxmlformats.org/officeDocument/2006/relationships/slideLayout" Target="../slideLayouts/slideLayout1.xml"/><Relationship Id="rId28" Type="http://schemas.openxmlformats.org/officeDocument/2006/relationships/chart" Target="../charts/chart24.xml"/><Relationship Id="rId36" Type="http://schemas.openxmlformats.org/officeDocument/2006/relationships/chart" Target="../charts/chart32.xml"/><Relationship Id="rId10" Type="http://schemas.openxmlformats.org/officeDocument/2006/relationships/tags" Target="../tags/tag123.xml"/><Relationship Id="rId19" Type="http://schemas.openxmlformats.org/officeDocument/2006/relationships/tags" Target="../tags/tag132.xml"/><Relationship Id="rId31" Type="http://schemas.openxmlformats.org/officeDocument/2006/relationships/chart" Target="../charts/chart27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Relationship Id="rId22" Type="http://schemas.openxmlformats.org/officeDocument/2006/relationships/tags" Target="../tags/tag135.xml"/><Relationship Id="rId27" Type="http://schemas.openxmlformats.org/officeDocument/2006/relationships/chart" Target="../charts/chart23.xml"/><Relationship Id="rId30" Type="http://schemas.openxmlformats.org/officeDocument/2006/relationships/chart" Target="../charts/chart26.xml"/><Relationship Id="rId35" Type="http://schemas.openxmlformats.org/officeDocument/2006/relationships/chart" Target="../charts/chart31.xml"/><Relationship Id="rId8" Type="http://schemas.openxmlformats.org/officeDocument/2006/relationships/tags" Target="../tags/tag121.xml"/><Relationship Id="rId3" Type="http://schemas.openxmlformats.org/officeDocument/2006/relationships/tags" Target="../tags/tag1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chart" Target="../charts/chart36.xml"/><Relationship Id="rId5" Type="http://schemas.openxmlformats.org/officeDocument/2006/relationships/tags" Target="../tags/tag140.xml"/><Relationship Id="rId10" Type="http://schemas.openxmlformats.org/officeDocument/2006/relationships/image" Target="../media/image4.emf"/><Relationship Id="rId4" Type="http://schemas.openxmlformats.org/officeDocument/2006/relationships/tags" Target="../tags/tag139.xml"/><Relationship Id="rId9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B3FD4B-ECEF-365A-889A-6766FAFDDF9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37256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7772400" imgH="10058400" progId="TCLayout.ActiveDocument.1">
                  <p:embed/>
                </p:oleObj>
              </mc:Choice>
              <mc:Fallback>
                <p:oleObj name="think-cell 幻灯片" r:id="rId2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66896F5-A517-1AD0-F296-198E7687DBE7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Responses show an increasing number of AI capabilities embedded in organizations over the past five years.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EBDF4F-D50C-44D9-3042-F0FA20DC5BAC}"/>
              </a:ext>
            </a:extLst>
          </p:cNvPr>
          <p:cNvSpPr txBox="1"/>
          <p:nvPr/>
        </p:nvSpPr>
        <p:spPr>
          <a:xfrm>
            <a:off x="394357" y="969712"/>
            <a:ext cx="3423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Average number of Al capabilities that</a:t>
            </a:r>
          </a:p>
          <a:p>
            <a:pPr defTabSz="68580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respondents’ organizations have embedded</a:t>
            </a:r>
          </a:p>
          <a:p>
            <a:pPr defTabSz="68580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within at least one function or business unit</a:t>
            </a:r>
            <a:r>
              <a:rPr lang="en-US" altLang="zh-CN" sz="1200" baseline="300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1</a:t>
            </a:r>
            <a:endParaRPr lang="zh-CN" altLang="en-US" sz="1200" baseline="30000" dirty="0">
              <a:solidFill>
                <a:srgbClr val="000000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D0A69C-1074-EB0F-4B8A-B5B12BF63F7A}"/>
              </a:ext>
            </a:extLst>
          </p:cNvPr>
          <p:cNvSpPr txBox="1"/>
          <p:nvPr/>
        </p:nvSpPr>
        <p:spPr>
          <a:xfrm>
            <a:off x="394356" y="3822700"/>
            <a:ext cx="4243862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defTabSz="685800">
              <a:defRPr sz="120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Share of respondents who say their organizations</a:t>
            </a:r>
            <a:r>
              <a:rPr lang="zh-CN" altLang="en-US" dirty="0"/>
              <a:t> </a:t>
            </a:r>
            <a:r>
              <a:rPr lang="en-US" altLang="zh-CN" dirty="0"/>
              <a:t>have adopted Al in at least one function, </a:t>
            </a:r>
            <a:r>
              <a:rPr lang="en-US" altLang="zh-CN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lang="zh-CN" altLang="en-US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013778-3FA5-DD58-B20D-CEC5CFA6B45D}"/>
              </a:ext>
            </a:extLst>
          </p:cNvPr>
          <p:cNvSpPr/>
          <p:nvPr/>
        </p:nvSpPr>
        <p:spPr>
          <a:xfrm>
            <a:off x="4835268" y="1563453"/>
            <a:ext cx="506619" cy="17804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8737656D-9B10-F73C-8DFC-B096E4753957}"/>
              </a:ext>
            </a:extLst>
          </p:cNvPr>
          <p:cNvCxnSpPr/>
          <p:nvPr>
            <p:custDataLst>
              <p:tags r:id="rId2"/>
            </p:custDataLst>
          </p:nvPr>
        </p:nvCxnSpPr>
        <p:spPr bwMode="gray">
          <a:xfrm>
            <a:off x="496888" y="1811338"/>
            <a:ext cx="4641850" cy="0"/>
          </a:xfrm>
          <a:prstGeom prst="line">
            <a:avLst/>
          </a:prstGeom>
          <a:ln w="317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A44671CF-9947-7CD6-B807-66830F4943E2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496888" y="2322513"/>
            <a:ext cx="4641850" cy="0"/>
          </a:xfrm>
          <a:prstGeom prst="line">
            <a:avLst/>
          </a:prstGeom>
          <a:ln w="317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012B3F7-A010-155C-178D-CD0F61C8A950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496888" y="2832100"/>
            <a:ext cx="4641850" cy="0"/>
          </a:xfrm>
          <a:prstGeom prst="line">
            <a:avLst/>
          </a:prstGeom>
          <a:ln w="317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3EC95B8B-392F-31D0-D659-9DC9B67475C9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09944016"/>
              </p:ext>
            </p:extLst>
          </p:nvPr>
        </p:nvGraphicFramePr>
        <p:xfrm>
          <a:off x="414338" y="1728788"/>
          <a:ext cx="4806950" cy="169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03" name="文本占位符 2">
            <a:extLst>
              <a:ext uri="{FF2B5EF4-FFF2-40B4-BE49-F238E27FC236}">
                <a16:creationId xmlns:a16="http://schemas.microsoft.com/office/drawing/2014/main" id="{200E177E-74E0-84B0-A282-FC235BFE89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4992688" y="3398838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0527FBF-A5E7-4A41-B482-0CF4A2324390}" type="datetime'''''''''''2''''''''''''''''0''22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2022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1" name="文本占位符 2">
            <a:extLst>
              <a:ext uri="{FF2B5EF4-FFF2-40B4-BE49-F238E27FC236}">
                <a16:creationId xmlns:a16="http://schemas.microsoft.com/office/drawing/2014/main" id="{5217F391-0458-AA42-0BBC-4462DD07256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2671763" y="3398838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0383C6F-73D4-46D5-A68C-80D58E2F0E4F}" type="datetime'''''2''''0''''''''''''''''''''2''''''''''''0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2020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3FA305FE-08C6-61D6-280C-C41EC94FF4C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511300" y="3398838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A289BF-FEEC-4E6E-A527-05DFFE324986}" type="datetime'''2''''''''''''''''0''''''''''''''''1''''''''''9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2019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2" name="文本占位符 2">
            <a:extLst>
              <a:ext uri="{FF2B5EF4-FFF2-40B4-BE49-F238E27FC236}">
                <a16:creationId xmlns:a16="http://schemas.microsoft.com/office/drawing/2014/main" id="{2887BEEF-1D26-A505-949D-A962221A02D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3832225" y="3398838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EFFE476-65BE-4FE1-9E76-04D28FB8023D}" type="datetime'''''2''''''''0''''''''''''''''2''''''''''''''''1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2021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9322994F-F4DB-A429-5FE0-490529D4754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350838" y="3398838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EF8ED5B-C10F-47BD-ADDE-F73AE17A9608}" type="datetime'''2''''''''''0''''''''1''''''''''''''''''''8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2018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" name="文本占位符 2">
            <a:extLst>
              <a:ext uri="{FF2B5EF4-FFF2-40B4-BE49-F238E27FC236}">
                <a16:creationId xmlns:a16="http://schemas.microsoft.com/office/drawing/2014/main" id="{13374888-7C06-7B9F-1AD0-3B79841F316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528638" y="2659063"/>
            <a:ext cx="211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F86CA39-1C89-4805-8036-BB83BA191C79}" type="datetime'''''''1'',9''''''''''''''''''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1,9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CE6773F4-A025-781A-D51E-64DD4B54A58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2713038" y="2046288"/>
            <a:ext cx="211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4E9EB6-390C-42D0-9917-BBB92A5E9FFE}" type="datetime'''''''''3'''''',''''1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3,1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0" name="文本占位符 2">
            <a:extLst>
              <a:ext uri="{FF2B5EF4-FFF2-40B4-BE49-F238E27FC236}">
                <a16:creationId xmlns:a16="http://schemas.microsoft.com/office/drawing/2014/main" id="{3B2BF40F-6904-1712-C75A-1A07F866764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873500" y="1636713"/>
            <a:ext cx="211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CD6D5C1-7B70-4712-8A80-B997C95021A2}" type="datetime'''''''''''''''''3'''',''''''9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3FA3C8CA-9105-3315-CFC2-861C141D41BE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5033963" y="1687513"/>
            <a:ext cx="211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48A595E-AC17-4338-86B3-51E801B94625}" type="datetime'''''''''3'''''',''8''''''''''''''''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3,8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86B3F8C6-05EF-2BF8-055B-1EAC432DEC3B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1552575" y="2454275"/>
            <a:ext cx="2111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AACEDB-C688-4EE3-8C1A-35C2ED30458B}" type="datetime'''''''''2'',''''''''''''''''''3''''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3" name="Chart 3">
            <a:extLst>
              <a:ext uri="{FF2B5EF4-FFF2-40B4-BE49-F238E27FC236}">
                <a16:creationId xmlns:a16="http://schemas.microsoft.com/office/drawing/2014/main" id="{85440755-04B3-DD68-E49A-B9F55CCE50A1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560615716"/>
              </p:ext>
            </p:extLst>
          </p:nvPr>
        </p:nvGraphicFramePr>
        <p:xfrm>
          <a:off x="414338" y="4192588"/>
          <a:ext cx="4843462" cy="1982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205" name="文本占位符 2">
            <a:extLst>
              <a:ext uri="{FF2B5EF4-FFF2-40B4-BE49-F238E27FC236}">
                <a16:creationId xmlns:a16="http://schemas.microsoft.com/office/drawing/2014/main" id="{87F8650A-A998-B062-F98F-587B9B6170B6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1279525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B699659-5B40-43CF-8DD6-4FE833DAF1AA}" type="datetime'''''''''''2''''01''''''''''''''8'''''">
              <a:rPr kumimoji="1" lang="zh-CN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2018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6" name="文本占位符 2">
            <a:extLst>
              <a:ext uri="{FF2B5EF4-FFF2-40B4-BE49-F238E27FC236}">
                <a16:creationId xmlns:a16="http://schemas.microsoft.com/office/drawing/2014/main" id="{1C2453A5-EE4E-53C1-64EA-8230192F09E1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2208213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678821-E937-4779-98E4-087BF10088E2}" type="datetime'2''''0''1''''''''''9'''''''">
              <a:rPr kumimoji="1" lang="zh-CN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2019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7" name="文本占位符 2">
            <a:extLst>
              <a:ext uri="{FF2B5EF4-FFF2-40B4-BE49-F238E27FC236}">
                <a16:creationId xmlns:a16="http://schemas.microsoft.com/office/drawing/2014/main" id="{BFBA84F0-9693-4A27-FB60-D091520FA4F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350838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420CA8E-D591-41D7-9054-5A5045AAC47A}" type="datetime'''''''20''1''''''''''''''''''''''''7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2017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8" name="文本占位符 2">
            <a:extLst>
              <a:ext uri="{FF2B5EF4-FFF2-40B4-BE49-F238E27FC236}">
                <a16:creationId xmlns:a16="http://schemas.microsoft.com/office/drawing/2014/main" id="{065D8E7A-52F6-0421-D759-EE562F5FB0B8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4064000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48EFB04-FE34-46B5-B30D-24F9C083545D}" type="datetime'2''''''02''''1'''''''''''''''''''''''''''''">
              <a:rPr kumimoji="1" lang="zh-CN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2021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7" name="文本占位符 2">
            <a:extLst>
              <a:ext uri="{FF2B5EF4-FFF2-40B4-BE49-F238E27FC236}">
                <a16:creationId xmlns:a16="http://schemas.microsoft.com/office/drawing/2014/main" id="{3FFC87BB-0F78-CD62-7EB7-FA2775849BD2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4992688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B1E948F-15FC-4CB8-A171-7697F4E85307}" type="datetime'2''''''''''''''''0''2''''''''''''''''''''''''''''''''2'''">
              <a:rPr kumimoji="1" lang="zh-CN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2022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4" name="文本占位符 2">
            <a:extLst>
              <a:ext uri="{FF2B5EF4-FFF2-40B4-BE49-F238E27FC236}">
                <a16:creationId xmlns:a16="http://schemas.microsoft.com/office/drawing/2014/main" id="{5AAEEFCC-76BC-622B-FBD9-7B9EA9E6BCF7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3135313" y="6005513"/>
            <a:ext cx="292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09AB856-123B-4D70-8318-C1EDD653FB9C}" type="datetime'202''''''''''''''''''''0'''''">
              <a:rPr kumimoji="1" lang="zh-CN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FE6C7C10-82BE-2378-8DBF-77A590941D29}"/>
              </a:ext>
            </a:extLst>
          </p:cNvPr>
          <p:cNvSpPr txBox="1"/>
          <p:nvPr/>
        </p:nvSpPr>
        <p:spPr>
          <a:xfrm>
            <a:off x="5980758" y="969712"/>
            <a:ext cx="5259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defTabSz="685800">
              <a:defRPr sz="120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zh-CN" altLang="en-US" dirty="0"/>
              <a:t>% of respondents who say given Al capability is embedded in products or business proce sses in at least one function or business unit</a:t>
            </a:r>
            <a:r>
              <a:rPr lang="en-US" altLang="zh-CN" baseline="30000" dirty="0"/>
              <a:t>2</a:t>
            </a:r>
            <a:endParaRPr lang="zh-CN" altLang="en-US" baseline="30000" dirty="0"/>
          </a:p>
        </p:txBody>
      </p:sp>
      <p:graphicFrame>
        <p:nvGraphicFramePr>
          <p:cNvPr id="310" name="图表 309">
            <a:extLst>
              <a:ext uri="{FF2B5EF4-FFF2-40B4-BE49-F238E27FC236}">
                <a16:creationId xmlns:a16="http://schemas.microsoft.com/office/drawing/2014/main" id="{34A3ECA0-8407-814F-2BDE-C344246D79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203643"/>
              </p:ext>
            </p:extLst>
          </p:nvPr>
        </p:nvGraphicFramePr>
        <p:xfrm>
          <a:off x="5958144" y="1639305"/>
          <a:ext cx="5668268" cy="4606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311" name="文本框 310">
            <a:extLst>
              <a:ext uri="{FF2B5EF4-FFF2-40B4-BE49-F238E27FC236}">
                <a16:creationId xmlns:a16="http://schemas.microsoft.com/office/drawing/2014/main" id="{C6730372-527F-92DF-105B-58067701ADEB}"/>
              </a:ext>
            </a:extLst>
          </p:cNvPr>
          <p:cNvSpPr txBox="1"/>
          <p:nvPr/>
        </p:nvSpPr>
        <p:spPr>
          <a:xfrm>
            <a:off x="394357" y="6279865"/>
            <a:ext cx="53094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The number of capabilities included in the survey has grown over time, from 9 in 2018 to 15 in the 2022 survey.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820A0A8B-E7F6-4D46-2206-AC85A3A6226C}"/>
              </a:ext>
            </a:extLst>
          </p:cNvPr>
          <p:cNvSpPr txBox="1"/>
          <p:nvPr/>
        </p:nvSpPr>
        <p:spPr>
          <a:xfrm>
            <a:off x="394356" y="6449142"/>
            <a:ext cx="53094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Question was asked only of respondents who said their organizations have adopted Al in at least one function.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28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1C090-9038-DE58-6358-0D7C2C52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40DEDB6-CAE3-02A0-1562-84059B91B8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404299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3FD4B-ECEF-365A-889A-6766FAFDD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694010F-523A-369F-0750-5BAFE9B2D5BA}"/>
              </a:ext>
            </a:extLst>
          </p:cNvPr>
          <p:cNvSpPr txBox="1"/>
          <p:nvPr/>
        </p:nvSpPr>
        <p:spPr>
          <a:xfrm>
            <a:off x="394357" y="263819"/>
            <a:ext cx="1117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The most popular Al use cases span a range of functional activities.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FCD412D8-BA6D-64AC-5503-24B97FC29763}"/>
              </a:ext>
            </a:extLst>
          </p:cNvPr>
          <p:cNvSpPr txBox="1"/>
          <p:nvPr/>
        </p:nvSpPr>
        <p:spPr>
          <a:xfrm>
            <a:off x="394357" y="6279865"/>
            <a:ext cx="62392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Out of 39 use cases. Question was asked only of respondents who said their organizations have adopted Al in at least one function.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55B41123-E915-F60C-3972-5C3320A345C8}"/>
              </a:ext>
            </a:extLst>
          </p:cNvPr>
          <p:cNvSpPr txBox="1"/>
          <p:nvPr/>
        </p:nvSpPr>
        <p:spPr>
          <a:xfrm>
            <a:off x="394356" y="6449142"/>
            <a:ext cx="2278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Eg, field services, Customer care, back office.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FA97C6-686D-18B4-B80F-8626A8EFCD68}"/>
              </a:ext>
            </a:extLst>
          </p:cNvPr>
          <p:cNvSpPr/>
          <p:nvPr/>
        </p:nvSpPr>
        <p:spPr>
          <a:xfrm>
            <a:off x="478523" y="802428"/>
            <a:ext cx="1033975" cy="274320"/>
          </a:xfrm>
          <a:prstGeom prst="rect">
            <a:avLst/>
          </a:prstGeom>
          <a:solidFill>
            <a:srgbClr val="0043F6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7D2F8E-F75A-A019-3A92-CD4886C36BE4}"/>
              </a:ext>
            </a:extLst>
          </p:cNvPr>
          <p:cNvSpPr/>
          <p:nvPr/>
        </p:nvSpPr>
        <p:spPr>
          <a:xfrm>
            <a:off x="1512496" y="802428"/>
            <a:ext cx="1730630" cy="274320"/>
          </a:xfrm>
          <a:prstGeom prst="rect">
            <a:avLst/>
          </a:prstGeom>
          <a:noFill/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50318F-9947-BEF0-0425-11090BBB9703}"/>
              </a:ext>
            </a:extLst>
          </p:cNvPr>
          <p:cNvSpPr txBox="1"/>
          <p:nvPr/>
        </p:nvSpPr>
        <p:spPr>
          <a:xfrm>
            <a:off x="515691" y="835713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900" dirty="0">
                <a:solidFill>
                  <a:srgbClr val="FFFFFF"/>
                </a:solidFill>
                <a:latin typeface="HarmonyOS Sans SC" pitchFamily="2" charset="-122"/>
                <a:ea typeface="HarmonyOS Sans SC" pitchFamily="2" charset="-122"/>
              </a:rPr>
              <a:t>Top use cases</a:t>
            </a:r>
            <a:endParaRPr lang="en-US" altLang="zh-CN" sz="900" dirty="0">
              <a:solidFill>
                <a:srgbClr val="000000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16203B-3E97-8ADE-2867-C8C1AC6B7944}"/>
              </a:ext>
            </a:extLst>
          </p:cNvPr>
          <p:cNvSpPr txBox="1"/>
          <p:nvPr/>
        </p:nvSpPr>
        <p:spPr>
          <a:xfrm>
            <a:off x="1553546" y="824171"/>
            <a:ext cx="1524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1050" dirty="0">
                <a:solidFill>
                  <a:srgbClr val="0043F6"/>
                </a:solidFill>
                <a:latin typeface="HarmonyOS Sans SC" pitchFamily="2" charset="-122"/>
                <a:ea typeface="HarmonyOS Sans SC" pitchFamily="2" charset="-122"/>
              </a:rPr>
              <a:t>Use cases by function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219F82-0F69-B42A-DC73-50F307E11245}"/>
              </a:ext>
            </a:extLst>
          </p:cNvPr>
          <p:cNvSpPr txBox="1"/>
          <p:nvPr/>
        </p:nvSpPr>
        <p:spPr>
          <a:xfrm>
            <a:off x="394355" y="1246025"/>
            <a:ext cx="58648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Most commonly adopted AI use cases, by function, </a:t>
            </a:r>
            <a:r>
              <a:rPr lang="en-US" altLang="zh-CN" sz="12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AE2B2EE-F53D-D997-7ACF-D82377CB4B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7988617"/>
              </p:ext>
            </p:extLst>
          </p:nvPr>
        </p:nvGraphicFramePr>
        <p:xfrm>
          <a:off x="437783" y="1837643"/>
          <a:ext cx="10913018" cy="4254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FE5AB5C-23C5-7AAA-8251-CEB7F934B0A9}"/>
              </a:ext>
            </a:extLst>
          </p:cNvPr>
          <p:cNvSpPr/>
          <p:nvPr/>
        </p:nvSpPr>
        <p:spPr>
          <a:xfrm>
            <a:off x="478523" y="1628222"/>
            <a:ext cx="170406" cy="170406"/>
          </a:xfrm>
          <a:prstGeom prst="rect">
            <a:avLst/>
          </a:prstGeom>
          <a:solidFill>
            <a:srgbClr val="001F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5F1841-A12C-B134-87F0-71CE6AA3ACBA}"/>
              </a:ext>
            </a:extLst>
          </p:cNvPr>
          <p:cNvSpPr txBox="1"/>
          <p:nvPr/>
        </p:nvSpPr>
        <p:spPr>
          <a:xfrm>
            <a:off x="648929" y="1572643"/>
            <a:ext cx="1513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Service operations</a:t>
            </a:r>
            <a:r>
              <a:rPr kumimoji="1"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1FD95F-D73D-6463-85BD-F5A709025834}"/>
              </a:ext>
            </a:extLst>
          </p:cNvPr>
          <p:cNvSpPr/>
          <p:nvPr/>
        </p:nvSpPr>
        <p:spPr>
          <a:xfrm>
            <a:off x="2373631" y="1628222"/>
            <a:ext cx="170406" cy="170406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9F8FC8-97EB-B448-CF76-DAE716C4E336}"/>
              </a:ext>
            </a:extLst>
          </p:cNvPr>
          <p:cNvSpPr txBox="1"/>
          <p:nvPr/>
        </p:nvSpPr>
        <p:spPr>
          <a:xfrm>
            <a:off x="2544037" y="1572643"/>
            <a:ext cx="26997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Product and/or service development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3A4EA-C2B0-5751-0F51-05EC4C0F10F2}"/>
              </a:ext>
            </a:extLst>
          </p:cNvPr>
          <p:cNvSpPr/>
          <p:nvPr/>
        </p:nvSpPr>
        <p:spPr>
          <a:xfrm>
            <a:off x="5454961" y="1628222"/>
            <a:ext cx="170406" cy="170406"/>
          </a:xfrm>
          <a:prstGeom prst="rect">
            <a:avLst/>
          </a:prstGeom>
          <a:solidFill>
            <a:srgbClr val="28F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6D1CAD-0932-D701-B9B8-569710CDB8AB}"/>
              </a:ext>
            </a:extLst>
          </p:cNvPr>
          <p:cNvSpPr txBox="1"/>
          <p:nvPr/>
        </p:nvSpPr>
        <p:spPr>
          <a:xfrm>
            <a:off x="5625367" y="1572643"/>
            <a:ext cx="157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Marketing and sales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FFDBD3-8C9B-5F98-2E82-E66FC0A5CACA}"/>
              </a:ext>
            </a:extLst>
          </p:cNvPr>
          <p:cNvSpPr/>
          <p:nvPr/>
        </p:nvSpPr>
        <p:spPr>
          <a:xfrm>
            <a:off x="7407777" y="1630261"/>
            <a:ext cx="170406" cy="170406"/>
          </a:xfrm>
          <a:prstGeom prst="rect">
            <a:avLst/>
          </a:prstGeom>
          <a:solidFill>
            <a:srgbClr val="004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2C5573-E917-8A53-7EEE-3E28EE5D751C}"/>
              </a:ext>
            </a:extLst>
          </p:cNvPr>
          <p:cNvSpPr txBox="1"/>
          <p:nvPr/>
        </p:nvSpPr>
        <p:spPr>
          <a:xfrm>
            <a:off x="7578183" y="1574682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Risk</a:t>
            </a:r>
            <a:endParaRPr kumimoji="1" lang="zh-CN" altLang="en-US" sz="12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48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7F07B-2BC6-2910-584A-9435D0D4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D14A405-5A68-F50A-7057-A3DC56050AD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78514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7772400" imgH="10058400" progId="TCLayout.ActiveDocument.1">
                  <p:embed/>
                </p:oleObj>
              </mc:Choice>
              <mc:Fallback>
                <p:oleObj name="think-cell 幻灯片" r:id="rId1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0DEDB6-CAE3-02A0-1562-84059B91B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B8FD456-8335-4FCC-426D-ADC6EFF7B8A3}"/>
              </a:ext>
            </a:extLst>
          </p:cNvPr>
          <p:cNvSpPr txBox="1"/>
          <p:nvPr/>
        </p:nvSpPr>
        <p:spPr>
          <a:xfrm>
            <a:off x="394357" y="263819"/>
            <a:ext cx="1117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The most popular Al use cases span a range of functional activities.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B9FF8E28-CFAC-71EE-7FC5-ADD3DBD9667C}"/>
              </a:ext>
            </a:extLst>
          </p:cNvPr>
          <p:cNvSpPr txBox="1"/>
          <p:nvPr/>
        </p:nvSpPr>
        <p:spPr>
          <a:xfrm>
            <a:off x="394357" y="6279865"/>
            <a:ext cx="5291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Question was asked only of respondents who said their organizations have adopted Al in at least one function.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2B81BBAE-BA0D-8E5B-46F4-1C569F612D22}"/>
              </a:ext>
            </a:extLst>
          </p:cNvPr>
          <p:cNvSpPr txBox="1"/>
          <p:nvPr/>
        </p:nvSpPr>
        <p:spPr>
          <a:xfrm>
            <a:off x="394356" y="6449142"/>
            <a:ext cx="2278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Eg, field services, Customer care, back office.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293BDA-F570-045E-BA8A-BC9DF4484C90}"/>
              </a:ext>
            </a:extLst>
          </p:cNvPr>
          <p:cNvSpPr/>
          <p:nvPr/>
        </p:nvSpPr>
        <p:spPr>
          <a:xfrm>
            <a:off x="478523" y="802428"/>
            <a:ext cx="1033975" cy="274320"/>
          </a:xfrm>
          <a:prstGeom prst="rect">
            <a:avLst/>
          </a:prstGeom>
          <a:solidFill>
            <a:schemeClr val="bg1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B7A48C-E4A6-0626-FFCF-CB107F13611C}"/>
              </a:ext>
            </a:extLst>
          </p:cNvPr>
          <p:cNvSpPr/>
          <p:nvPr/>
        </p:nvSpPr>
        <p:spPr>
          <a:xfrm>
            <a:off x="1512496" y="802428"/>
            <a:ext cx="1730630" cy="274320"/>
          </a:xfrm>
          <a:prstGeom prst="rect">
            <a:avLst/>
          </a:prstGeom>
          <a:solidFill>
            <a:srgbClr val="0043F6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8988C5-6365-C698-F7A5-2BEB92434802}"/>
              </a:ext>
            </a:extLst>
          </p:cNvPr>
          <p:cNvSpPr txBox="1"/>
          <p:nvPr/>
        </p:nvSpPr>
        <p:spPr>
          <a:xfrm>
            <a:off x="535287" y="835713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900" dirty="0">
                <a:solidFill>
                  <a:srgbClr val="0043F6"/>
                </a:solidFill>
                <a:latin typeface="HarmonyOS Sans SC" pitchFamily="2" charset="-122"/>
                <a:ea typeface="HarmonyOS Sans SC" pitchFamily="2" charset="-122"/>
              </a:rPr>
              <a:t>Top use cases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8A1179-C6BF-B8EA-276C-AACCA26E0175}"/>
              </a:ext>
            </a:extLst>
          </p:cNvPr>
          <p:cNvSpPr txBox="1"/>
          <p:nvPr/>
        </p:nvSpPr>
        <p:spPr>
          <a:xfrm>
            <a:off x="1553546" y="824171"/>
            <a:ext cx="1524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105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Use cases by function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68B33E-E17A-CD56-35FC-41CC908A5915}"/>
              </a:ext>
            </a:extLst>
          </p:cNvPr>
          <p:cNvSpPr txBox="1"/>
          <p:nvPr/>
        </p:nvSpPr>
        <p:spPr>
          <a:xfrm>
            <a:off x="394356" y="1194590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Most commonly adopted Al use cases within each business function, </a:t>
            </a:r>
            <a:r>
              <a:rPr lang="en-US" altLang="zh-CN" sz="12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F7D79D-E8A7-5F8B-C5EC-C3513702BDEC}"/>
              </a:ext>
            </a:extLst>
          </p:cNvPr>
          <p:cNvSpPr txBox="1"/>
          <p:nvPr/>
        </p:nvSpPr>
        <p:spPr>
          <a:xfrm>
            <a:off x="394356" y="1504950"/>
            <a:ext cx="1576072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Service operations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69" name="Chart 3">
            <a:extLst>
              <a:ext uri="{FF2B5EF4-FFF2-40B4-BE49-F238E27FC236}">
                <a16:creationId xmlns:a16="http://schemas.microsoft.com/office/drawing/2014/main" id="{5F079E45-27AF-6995-6D77-1039F895133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2752742"/>
              </p:ext>
            </p:extLst>
          </p:nvPr>
        </p:nvGraphicFramePr>
        <p:xfrm>
          <a:off x="2300288" y="1557338"/>
          <a:ext cx="3168650" cy="1135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58" name="文本框 57">
            <a:extLst>
              <a:ext uri="{FF2B5EF4-FFF2-40B4-BE49-F238E27FC236}">
                <a16:creationId xmlns:a16="http://schemas.microsoft.com/office/drawing/2014/main" id="{BB4FEDA4-2B2C-6F49-86BC-5EFBF8BCE1AC}"/>
              </a:ext>
            </a:extLst>
          </p:cNvPr>
          <p:cNvSpPr txBox="1"/>
          <p:nvPr/>
        </p:nvSpPr>
        <p:spPr>
          <a:xfrm>
            <a:off x="393700" y="2605088"/>
            <a:ext cx="1595309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Marketing and sales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93" name="Chart 3">
            <a:extLst>
              <a:ext uri="{FF2B5EF4-FFF2-40B4-BE49-F238E27FC236}">
                <a16:creationId xmlns:a16="http://schemas.microsoft.com/office/drawing/2014/main" id="{A0292C55-AC89-3D1C-B2D7-BE428B7E42D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65983119"/>
              </p:ext>
            </p:extLst>
          </p:nvPr>
        </p:nvGraphicFramePr>
        <p:xfrm>
          <a:off x="2300288" y="2655888"/>
          <a:ext cx="2419350" cy="1163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56" name="文本框 255">
            <a:extLst>
              <a:ext uri="{FF2B5EF4-FFF2-40B4-BE49-F238E27FC236}">
                <a16:creationId xmlns:a16="http://schemas.microsoft.com/office/drawing/2014/main" id="{266D871E-02D2-CCE8-9704-094D2DCB4166}"/>
              </a:ext>
            </a:extLst>
          </p:cNvPr>
          <p:cNvSpPr txBox="1"/>
          <p:nvPr/>
        </p:nvSpPr>
        <p:spPr>
          <a:xfrm>
            <a:off x="393700" y="3741738"/>
            <a:ext cx="471604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Risk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91" name="Chart 3">
            <a:extLst>
              <a:ext uri="{FF2B5EF4-FFF2-40B4-BE49-F238E27FC236}">
                <a16:creationId xmlns:a16="http://schemas.microsoft.com/office/drawing/2014/main" id="{06C7596F-2D2A-ECF6-6C17-5BB9D1D4684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115506884"/>
              </p:ext>
            </p:extLst>
          </p:nvPr>
        </p:nvGraphicFramePr>
        <p:xfrm>
          <a:off x="2300288" y="3794125"/>
          <a:ext cx="2052637" cy="1128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BE4E74CC-F375-42DB-04B8-0135B24A017A}"/>
              </a:ext>
            </a:extLst>
          </p:cNvPr>
          <p:cNvSpPr txBox="1"/>
          <p:nvPr/>
        </p:nvSpPr>
        <p:spPr>
          <a:xfrm>
            <a:off x="393700" y="4818063"/>
            <a:ext cx="2379177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Strategy and corporate finance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90" name="Chart 3">
            <a:extLst>
              <a:ext uri="{FF2B5EF4-FFF2-40B4-BE49-F238E27FC236}">
                <a16:creationId xmlns:a16="http://schemas.microsoft.com/office/drawing/2014/main" id="{37443ACE-F3AF-B232-9893-097D8D1A06C0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33252997"/>
              </p:ext>
            </p:extLst>
          </p:nvPr>
        </p:nvGraphicFramePr>
        <p:xfrm>
          <a:off x="2151063" y="4870450"/>
          <a:ext cx="1087437" cy="1506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81" name="文本框 280">
            <a:extLst>
              <a:ext uri="{FF2B5EF4-FFF2-40B4-BE49-F238E27FC236}">
                <a16:creationId xmlns:a16="http://schemas.microsoft.com/office/drawing/2014/main" id="{FD9F7A61-2444-2232-603F-67BBACB20406}"/>
              </a:ext>
            </a:extLst>
          </p:cNvPr>
          <p:cNvSpPr txBox="1"/>
          <p:nvPr/>
        </p:nvSpPr>
        <p:spPr>
          <a:xfrm>
            <a:off x="393700" y="1766650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Service operations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optimization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1EB281EB-C883-0A73-922D-ADC981EAF93C}"/>
              </a:ext>
            </a:extLst>
          </p:cNvPr>
          <p:cNvSpPr txBox="1"/>
          <p:nvPr/>
        </p:nvSpPr>
        <p:spPr>
          <a:xfrm>
            <a:off x="397436" y="212486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Contact-center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automation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FCEBB5FA-807C-EB17-4AE0-B42E581A5766}"/>
              </a:ext>
            </a:extLst>
          </p:cNvPr>
          <p:cNvSpPr txBox="1"/>
          <p:nvPr/>
        </p:nvSpPr>
        <p:spPr>
          <a:xfrm>
            <a:off x="393700" y="2868296"/>
            <a:ext cx="1170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Customer service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analytics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796F5853-E0D3-7778-6FC6-F055A27A756E}"/>
              </a:ext>
            </a:extLst>
          </p:cNvPr>
          <p:cNvSpPr txBox="1"/>
          <p:nvPr/>
        </p:nvSpPr>
        <p:spPr>
          <a:xfrm>
            <a:off x="399966" y="3292206"/>
            <a:ext cx="15648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Customer segmentation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3C462F7F-383F-AA26-6E9E-EF4A30D3AE1A}"/>
              </a:ext>
            </a:extLst>
          </p:cNvPr>
          <p:cNvSpPr txBox="1"/>
          <p:nvPr/>
        </p:nvSpPr>
        <p:spPr>
          <a:xfrm>
            <a:off x="393700" y="4012872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Risk modeling and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analytics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73D54D9E-6B0F-9B6E-557A-B25AD4FEAFFB}"/>
              </a:ext>
            </a:extLst>
          </p:cNvPr>
          <p:cNvSpPr txBox="1"/>
          <p:nvPr/>
        </p:nvSpPr>
        <p:spPr>
          <a:xfrm>
            <a:off x="397436" y="4371091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Fraud and debt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analytics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1C2B2532-1ED4-8741-DAE9-FE28AB8F2485}"/>
              </a:ext>
            </a:extLst>
          </p:cNvPr>
          <p:cNvSpPr txBox="1"/>
          <p:nvPr/>
        </p:nvSpPr>
        <p:spPr>
          <a:xfrm>
            <a:off x="399966" y="5141150"/>
            <a:ext cx="1175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Capital allocation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2AD97807-299D-B35A-7CF3-2C95873E15F7}"/>
              </a:ext>
            </a:extLst>
          </p:cNvPr>
          <p:cNvSpPr txBox="1"/>
          <p:nvPr/>
        </p:nvSpPr>
        <p:spPr>
          <a:xfrm>
            <a:off x="392003" y="5493566"/>
            <a:ext cx="14734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Treasury management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C6D7514B-3518-42DF-E9DB-9AFBD413B6E9}"/>
              </a:ext>
            </a:extLst>
          </p:cNvPr>
          <p:cNvSpPr txBox="1"/>
          <p:nvPr/>
        </p:nvSpPr>
        <p:spPr>
          <a:xfrm>
            <a:off x="402839" y="5848243"/>
            <a:ext cx="950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M&amp;A support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B6677B25-9BA2-7880-43EB-A9D787CEC52E}"/>
              </a:ext>
            </a:extLst>
          </p:cNvPr>
          <p:cNvSpPr txBox="1"/>
          <p:nvPr/>
        </p:nvSpPr>
        <p:spPr>
          <a:xfrm>
            <a:off x="6572250" y="1504950"/>
            <a:ext cx="2752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Product and/or service development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340" name="Chart 3">
            <a:extLst>
              <a:ext uri="{FF2B5EF4-FFF2-40B4-BE49-F238E27FC236}">
                <a16:creationId xmlns:a16="http://schemas.microsoft.com/office/drawing/2014/main" id="{6D4CAF85-AEB8-87F0-30EF-02FF5673D1F7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43733480"/>
              </p:ext>
            </p:extLst>
          </p:nvPr>
        </p:nvGraphicFramePr>
        <p:xfrm>
          <a:off x="8478838" y="1557338"/>
          <a:ext cx="3168650" cy="1135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96" name="文本框 295">
            <a:extLst>
              <a:ext uri="{FF2B5EF4-FFF2-40B4-BE49-F238E27FC236}">
                <a16:creationId xmlns:a16="http://schemas.microsoft.com/office/drawing/2014/main" id="{96418EAB-94D7-29E8-B257-8AB40624E274}"/>
              </a:ext>
            </a:extLst>
          </p:cNvPr>
          <p:cNvSpPr txBox="1"/>
          <p:nvPr/>
        </p:nvSpPr>
        <p:spPr>
          <a:xfrm>
            <a:off x="6572249" y="2605088"/>
            <a:ext cx="2052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Supply chain management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346" name="Chart 3">
            <a:extLst>
              <a:ext uri="{FF2B5EF4-FFF2-40B4-BE49-F238E27FC236}">
                <a16:creationId xmlns:a16="http://schemas.microsoft.com/office/drawing/2014/main" id="{5AEB8EEA-3489-B668-2ED8-AB7D7F9EB64F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363074443"/>
              </p:ext>
            </p:extLst>
          </p:nvPr>
        </p:nvGraphicFramePr>
        <p:xfrm>
          <a:off x="8478838" y="2655888"/>
          <a:ext cx="1581150" cy="1163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298" name="文本框 297">
            <a:extLst>
              <a:ext uri="{FF2B5EF4-FFF2-40B4-BE49-F238E27FC236}">
                <a16:creationId xmlns:a16="http://schemas.microsoft.com/office/drawing/2014/main" id="{3B2B0A18-A127-239C-1754-389AB7E775C0}"/>
              </a:ext>
            </a:extLst>
          </p:cNvPr>
          <p:cNvSpPr txBox="1"/>
          <p:nvPr/>
        </p:nvSpPr>
        <p:spPr>
          <a:xfrm>
            <a:off x="6572250" y="3741738"/>
            <a:ext cx="1418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Human resources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351" name="Chart 3">
            <a:extLst>
              <a:ext uri="{FF2B5EF4-FFF2-40B4-BE49-F238E27FC236}">
                <a16:creationId xmlns:a16="http://schemas.microsoft.com/office/drawing/2014/main" id="{68F6B7B4-B819-EF35-76EF-64E5A25DD728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13798210"/>
              </p:ext>
            </p:extLst>
          </p:nvPr>
        </p:nvGraphicFramePr>
        <p:xfrm>
          <a:off x="8478838" y="3794125"/>
          <a:ext cx="1581150" cy="1128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00" name="文本框 299">
            <a:extLst>
              <a:ext uri="{FF2B5EF4-FFF2-40B4-BE49-F238E27FC236}">
                <a16:creationId xmlns:a16="http://schemas.microsoft.com/office/drawing/2014/main" id="{1EDFE448-BB24-C6FC-8CB2-F4794CF4EE82}"/>
              </a:ext>
            </a:extLst>
          </p:cNvPr>
          <p:cNvSpPr txBox="1"/>
          <p:nvPr/>
        </p:nvSpPr>
        <p:spPr>
          <a:xfrm>
            <a:off x="6572250" y="4818063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Manufacturing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6FAAA53E-3CCD-D458-F587-70196D63C62B}"/>
              </a:ext>
            </a:extLst>
          </p:cNvPr>
          <p:cNvSpPr txBox="1"/>
          <p:nvPr/>
        </p:nvSpPr>
        <p:spPr>
          <a:xfrm>
            <a:off x="6572249" y="1766888"/>
            <a:ext cx="1661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Creation of new Al-based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products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470446DB-A5B0-D811-2EA7-E490D021203F}"/>
              </a:ext>
            </a:extLst>
          </p:cNvPr>
          <p:cNvSpPr txBox="1"/>
          <p:nvPr/>
        </p:nvSpPr>
        <p:spPr>
          <a:xfrm>
            <a:off x="6575425" y="2125663"/>
            <a:ext cx="1826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New Al-based enhancement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of products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FC1EDFE2-5130-D98F-ED6E-1ACBF5F7D15E}"/>
              </a:ext>
            </a:extLst>
          </p:cNvPr>
          <p:cNvSpPr txBox="1"/>
          <p:nvPr/>
        </p:nvSpPr>
        <p:spPr>
          <a:xfrm>
            <a:off x="6572250" y="2868613"/>
            <a:ext cx="1242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Sales and demand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forecasting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D59A7F58-BD25-1DB1-FA88-DA80C3C5B752}"/>
              </a:ext>
            </a:extLst>
          </p:cNvPr>
          <p:cNvSpPr txBox="1"/>
          <p:nvPr/>
        </p:nvSpPr>
        <p:spPr>
          <a:xfrm>
            <a:off x="6578600" y="3292475"/>
            <a:ext cx="1192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Logistics network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optimization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9EC76AC8-C910-AB35-09E7-3B2F524C6E9B}"/>
              </a:ext>
            </a:extLst>
          </p:cNvPr>
          <p:cNvSpPr txBox="1"/>
          <p:nvPr/>
        </p:nvSpPr>
        <p:spPr>
          <a:xfrm>
            <a:off x="6572249" y="4013200"/>
            <a:ext cx="1436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Optimization of talent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management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B50E20C3-8FB4-5441-6E34-F21411890F52}"/>
              </a:ext>
            </a:extLst>
          </p:cNvPr>
          <p:cNvSpPr txBox="1"/>
          <p:nvPr/>
        </p:nvSpPr>
        <p:spPr>
          <a:xfrm>
            <a:off x="6575425" y="4370388"/>
            <a:ext cx="1681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Optimization of workforce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deployment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9D4D3F85-740B-5869-2608-AFF5AA013D19}"/>
              </a:ext>
            </a:extLst>
          </p:cNvPr>
          <p:cNvSpPr txBox="1"/>
          <p:nvPr/>
        </p:nvSpPr>
        <p:spPr>
          <a:xfrm>
            <a:off x="6578600" y="5141913"/>
            <a:ext cx="15231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Predictive maintenance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4349A2C7-487C-2773-8B96-32E6C573B868}"/>
              </a:ext>
            </a:extLst>
          </p:cNvPr>
          <p:cNvSpPr txBox="1"/>
          <p:nvPr/>
        </p:nvSpPr>
        <p:spPr>
          <a:xfrm>
            <a:off x="6578600" y="5418187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Yield, energy, and/or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throughput optimization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DCD05711-6469-3AFF-9B43-951B86A36B66}"/>
              </a:ext>
            </a:extLst>
          </p:cNvPr>
          <p:cNvSpPr txBox="1"/>
          <p:nvPr/>
        </p:nvSpPr>
        <p:spPr>
          <a:xfrm>
            <a:off x="6578600" y="5776926"/>
            <a:ext cx="19175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Simulations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using digital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twins, 3-D modeling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359" name="Chart 3">
            <a:extLst>
              <a:ext uri="{FF2B5EF4-FFF2-40B4-BE49-F238E27FC236}">
                <a16:creationId xmlns:a16="http://schemas.microsoft.com/office/drawing/2014/main" id="{2F215672-DD74-C473-5E2A-FB5A2294FDB7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010216730"/>
              </p:ext>
            </p:extLst>
          </p:nvPr>
        </p:nvGraphicFramePr>
        <p:xfrm>
          <a:off x="8478838" y="4868863"/>
          <a:ext cx="2022475" cy="1506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  <p:extLst>
      <p:ext uri="{BB962C8B-B14F-4D97-AF65-F5344CB8AC3E}">
        <p14:creationId xmlns:p14="http://schemas.microsoft.com/office/powerpoint/2010/main" val="206717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2EEE4-BADC-0919-0F67-C05060EE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EA4E4C1-5E92-6384-C85D-F14C2CA61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22775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7772400" imgH="10058400" progId="TCLayout.ActiveDocument.1">
                  <p:embed/>
                </p:oleObj>
              </mc:Choice>
              <mc:Fallback>
                <p:oleObj name="think-cell 幻灯片" r:id="rId2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14A405-5A68-F50A-7057-A3DC56050A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2A03A6F-51C3-6D37-81C5-81C7203D1D3E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/>
                </a:solidFill>
                <a:latin typeface="HarmonyOS Sans SC Medium" pitchFamily="2" charset="-122"/>
                <a:ea typeface="HarmonyOS Sans SC Medium" pitchFamily="2" charset="-122"/>
              </a:rPr>
              <a:t>Al-related cost decreases are most often reported in supply chain management and revenue increases in product development and marketing and sales.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F7E76E4B-3D4D-8D09-8FD9-D1E3DF10A94D}"/>
              </a:ext>
            </a:extLst>
          </p:cNvPr>
          <p:cNvSpPr txBox="1"/>
          <p:nvPr/>
        </p:nvSpPr>
        <p:spPr>
          <a:xfrm>
            <a:off x="394357" y="6279865"/>
            <a:ext cx="67874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Question was asked only of respondents who said their organizations have adopted Al in a given function. Respondents who said "no change</a:t>
            </a:r>
            <a:r>
              <a:rPr kumimoji="1" lang="zh-CN" altLang="en-US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"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28F20F15-7C65-2641-64D2-C6F93A041E92}"/>
              </a:ext>
            </a:extLst>
          </p:cNvPr>
          <p:cNvSpPr txBox="1"/>
          <p:nvPr/>
        </p:nvSpPr>
        <p:spPr>
          <a:xfrm>
            <a:off x="394356" y="6449142"/>
            <a:ext cx="3164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" cost increase</a:t>
            </a:r>
            <a:r>
              <a:rPr kumimoji="1" lang="zh-CN" altLang="en-US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" " not applicable." or "don't know" are not shown.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AB5D5B-530C-DC63-5AE4-5590735BEC4A}"/>
              </a:ext>
            </a:extLst>
          </p:cNvPr>
          <p:cNvSpPr txBox="1"/>
          <p:nvPr/>
        </p:nvSpPr>
        <p:spPr>
          <a:xfrm>
            <a:off x="394356" y="940927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Cost decrease and revenue increase from Al adoption in 2021, by function, </a:t>
            </a:r>
            <a:r>
              <a:rPr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464" name="Chart 3">
            <a:extLst>
              <a:ext uri="{FF2B5EF4-FFF2-40B4-BE49-F238E27FC236}">
                <a16:creationId xmlns:a16="http://schemas.microsoft.com/office/drawing/2014/main" id="{E09990C9-2931-3859-BA51-2EC6E52F2CC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6401783"/>
              </p:ext>
            </p:extLst>
          </p:nvPr>
        </p:nvGraphicFramePr>
        <p:xfrm>
          <a:off x="3602038" y="1490663"/>
          <a:ext cx="3621087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2BBFD5A5-5502-0789-9F99-04BB3C57CA7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4149725" y="239553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94736AC-1E21-4E4F-8990-21F7F65E7379}" type="datetime'''''''''''''''4''''''''''''2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42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ADC692A4-2EE7-AC0A-7271-1FB0502A062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5013325" y="289401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57FBB28-ED0E-44C3-9627-92BADE3E8574}" type="datetime'''''''''''''''''''''''''''29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29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9" name="文本占位符 2">
            <a:extLst>
              <a:ext uri="{FF2B5EF4-FFF2-40B4-BE49-F238E27FC236}">
                <a16:creationId xmlns:a16="http://schemas.microsoft.com/office/drawing/2014/main" id="{E66F7E5D-E307-264C-DF9A-2236C78EC43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5080000" y="339248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1D685F8-358B-464F-B1E8-8BACAED7CDCA}" type="datetime'''''''''''''''''2''''''8''''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28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92BACF70-D7C0-EAD6-E883-406CF4047BB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4083050" y="38909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612E02C-D763-4FF7-ADC8-330A20730B77}" type="datetime'''4''''3''''''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43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54F0CC7C-7A2C-3359-20A1-8496A3DBD7A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3949700" y="18970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32D314C-F243-4BB6-B36B-F830D4362240}" type="datetime'''''''4''''''''''''''''5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45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73" name="文本占位符 2">
            <a:extLst>
              <a:ext uri="{FF2B5EF4-FFF2-40B4-BE49-F238E27FC236}">
                <a16:creationId xmlns:a16="http://schemas.microsoft.com/office/drawing/2014/main" id="{B1266B77-A1D2-6E4D-6C2F-1BCC3FE459E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4946650" y="488791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FD62C23-589A-4951-B735-1B68861ECC28}" type="datetime'''''''''''''''''''30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30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95" name="文本占位符 2">
            <a:extLst>
              <a:ext uri="{FF2B5EF4-FFF2-40B4-BE49-F238E27FC236}">
                <a16:creationId xmlns:a16="http://schemas.microsoft.com/office/drawing/2014/main" id="{A25CA943-DF6B-4018-C8E2-83CCC019E7E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4083050" y="538638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97DD162-C023-4BA0-9226-30A86EC01931}" type="datetime'''''''''''''''''''''''''''''''''4''''''3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43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18" name="文本占位符 2">
            <a:extLst>
              <a:ext uri="{FF2B5EF4-FFF2-40B4-BE49-F238E27FC236}">
                <a16:creationId xmlns:a16="http://schemas.microsoft.com/office/drawing/2014/main" id="{2488830B-3156-4FFA-EA4B-9EAD1DE6B3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4813300" y="58848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A16CAD0-8954-4C4B-869A-1B5FAB2C910B}" type="datetime'''''''''''''''''''''''3''''''''2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32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27" name="文本占位符 2">
            <a:extLst>
              <a:ext uri="{FF2B5EF4-FFF2-40B4-BE49-F238E27FC236}">
                <a16:creationId xmlns:a16="http://schemas.microsoft.com/office/drawing/2014/main" id="{D04DAC4D-03DA-98B2-FBCC-CC8C6B7F05F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054850" y="2894013"/>
            <a:ext cx="104775" cy="136525"/>
          </a:xfrm>
          <a:prstGeom prst="rect">
            <a:avLst/>
          </a:prstGeom>
          <a:solidFill>
            <a:srgbClr val="78A7CC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7107098-3CD6-4A93-AAEF-AD1EE29BD14F}" type="datetime'''''''''''''''''''''''''''''''''''1'''''''''''''''''''''''">
              <a:rPr kumimoji="1" lang="zh-CN" altLang="en-US" sz="10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62" name="文本占位符 2">
            <a:extLst>
              <a:ext uri="{FF2B5EF4-FFF2-40B4-BE49-F238E27FC236}">
                <a16:creationId xmlns:a16="http://schemas.microsoft.com/office/drawing/2014/main" id="{9D657036-8BD9-F506-97CB-E6B2CB8426E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3484563" y="438943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26242AB7-BA09-4B8D-8500-F6EB6C74669E}" type="datetime'''''''5''''''''''''''''''''''''''2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52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461" name="Chart 3">
            <a:extLst>
              <a:ext uri="{FF2B5EF4-FFF2-40B4-BE49-F238E27FC236}">
                <a16:creationId xmlns:a16="http://schemas.microsoft.com/office/drawing/2014/main" id="{A5D68FB8-5E29-E93C-D931-EA4D578E0D1F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287073674"/>
              </p:ext>
            </p:extLst>
          </p:nvPr>
        </p:nvGraphicFramePr>
        <p:xfrm>
          <a:off x="7339013" y="1490663"/>
          <a:ext cx="3829050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356" name="文本占位符 2">
            <a:extLst>
              <a:ext uri="{FF2B5EF4-FFF2-40B4-BE49-F238E27FC236}">
                <a16:creationId xmlns:a16="http://schemas.microsoft.com/office/drawing/2014/main" id="{B3A5B69F-D2DB-CCDB-DD39-C3BA4ED80A53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0639425" y="239553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83777C5-F9DB-4699-AF1A-808311897C30}" type="datetime'''''''''''''''''''6''''''''''''''''''''1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61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57" name="文本占位符 2">
            <a:extLst>
              <a:ext uri="{FF2B5EF4-FFF2-40B4-BE49-F238E27FC236}">
                <a16:creationId xmlns:a16="http://schemas.microsoft.com/office/drawing/2014/main" id="{B8A78AC1-F303-D13E-B410-2894FC017E56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10482263" y="289401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3B1A368-AEFD-475F-9704-2D589149B0D0}" type="datetime'''''''''''''''''''5''''''''''''''''''''''''''''''''8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58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84" name="文本占位符 2">
            <a:extLst>
              <a:ext uri="{FF2B5EF4-FFF2-40B4-BE49-F238E27FC236}">
                <a16:creationId xmlns:a16="http://schemas.microsoft.com/office/drawing/2014/main" id="{FB2FE598-8294-D96A-76DE-764376D9DE20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1110913" y="339248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1A53E68-D4BE-4404-B221-AEA4C3031287}" type="datetime'''''''''''''''7''''''''''''''''''''''''''0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70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94" name="文本占位符 2">
            <a:extLst>
              <a:ext uri="{FF2B5EF4-FFF2-40B4-BE49-F238E27FC236}">
                <a16:creationId xmlns:a16="http://schemas.microsoft.com/office/drawing/2014/main" id="{8E732383-D8F5-72E3-9CF3-1F58966D0024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9959975" y="38909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1CE1E62-6FDF-412B-9ABC-F98243AB3454}" type="datetime'4''''''''8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48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55" name="文本占位符 2">
            <a:extLst>
              <a:ext uri="{FF2B5EF4-FFF2-40B4-BE49-F238E27FC236}">
                <a16:creationId xmlns:a16="http://schemas.microsoft.com/office/drawing/2014/main" id="{1D78FC1C-B0BE-5C6D-2EE3-30B5935CC2B0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10429875" y="18970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B690D32-852D-456F-A7FB-FED3B71CC903}" type="datetime'''''''''''''''57''''''''''''''''''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57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12" name="文本占位符 2">
            <a:extLst>
              <a:ext uri="{FF2B5EF4-FFF2-40B4-BE49-F238E27FC236}">
                <a16:creationId xmlns:a16="http://schemas.microsoft.com/office/drawing/2014/main" id="{F7295C07-08EE-62E0-D175-C5D660C4227E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1110913" y="488791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54611C1-7171-405A-8CBF-047E0165D790}" type="datetime'''''''''7''''''''0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70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21" name="文本占位符 2">
            <a:extLst>
              <a:ext uri="{FF2B5EF4-FFF2-40B4-BE49-F238E27FC236}">
                <a16:creationId xmlns:a16="http://schemas.microsoft.com/office/drawing/2014/main" id="{E6E150F0-6FA0-1CB2-097B-61727FE0BCF5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0848975" y="538638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2A14D78-F331-41C2-8D49-99768D6FBE78}" type="datetime'''''''6''''''''''''''''''''5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65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30" name="文本占位符 2">
            <a:extLst>
              <a:ext uri="{FF2B5EF4-FFF2-40B4-BE49-F238E27FC236}">
                <a16:creationId xmlns:a16="http://schemas.microsoft.com/office/drawing/2014/main" id="{BFAD7A79-C44B-07D3-7D60-704C1F901E02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10744200" y="5884863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C47174A-0B38-4E13-8C17-1815022A029D}" type="datetime'''''''''''''''''''''''6''3''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63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03" name="文本占位符 2">
            <a:extLst>
              <a:ext uri="{FF2B5EF4-FFF2-40B4-BE49-F238E27FC236}">
                <a16:creationId xmlns:a16="http://schemas.microsoft.com/office/drawing/2014/main" id="{CC230DE9-EEF5-E32C-C050-BB12470788AC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10534650" y="4389438"/>
            <a:ext cx="1746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BEEA10F-4AEC-4092-984F-73B91E386C5F}" type="datetime'''''''''5''''''''''''''''9'''''''''''''''''''''''''''">
              <a:rPr kumimoji="1" lang="zh-CN" altLang="en-US" sz="10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59</a:t>
            </a:fld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68E1F031-FBAE-504C-F57F-9788A1260102}"/>
              </a:ext>
            </a:extLst>
          </p:cNvPr>
          <p:cNvSpPr txBox="1"/>
          <p:nvPr/>
        </p:nvSpPr>
        <p:spPr>
          <a:xfrm>
            <a:off x="394356" y="1826825"/>
            <a:ext cx="1457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Service operations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3809DC00-9438-FD82-FF10-9949D797550D}"/>
              </a:ext>
            </a:extLst>
          </p:cNvPr>
          <p:cNvSpPr txBox="1"/>
          <p:nvPr/>
        </p:nvSpPr>
        <p:spPr>
          <a:xfrm>
            <a:off x="394356" y="2325300"/>
            <a:ext cx="11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Manufacturing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E634A9DB-80B5-0094-0EEE-562D3B116127}"/>
              </a:ext>
            </a:extLst>
          </p:cNvPr>
          <p:cNvSpPr txBox="1"/>
          <p:nvPr/>
        </p:nvSpPr>
        <p:spPr>
          <a:xfrm>
            <a:off x="389282" y="2823775"/>
            <a:ext cx="1394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Human resources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99A826FC-4B78-05D5-DBFE-F7FA5671804E}"/>
              </a:ext>
            </a:extLst>
          </p:cNvPr>
          <p:cNvSpPr txBox="1"/>
          <p:nvPr/>
        </p:nvSpPr>
        <p:spPr>
          <a:xfrm>
            <a:off x="389282" y="3322250"/>
            <a:ext cx="1571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Marketing and sales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69" name="文本框 468">
            <a:extLst>
              <a:ext uri="{FF2B5EF4-FFF2-40B4-BE49-F238E27FC236}">
                <a16:creationId xmlns:a16="http://schemas.microsoft.com/office/drawing/2014/main" id="{8082B617-E2CD-303A-28EB-ABD82145C9B8}"/>
              </a:ext>
            </a:extLst>
          </p:cNvPr>
          <p:cNvSpPr txBox="1"/>
          <p:nvPr/>
        </p:nvSpPr>
        <p:spPr>
          <a:xfrm>
            <a:off x="402869" y="3760042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Risk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0" name="文本框 469">
            <a:extLst>
              <a:ext uri="{FF2B5EF4-FFF2-40B4-BE49-F238E27FC236}">
                <a16:creationId xmlns:a16="http://schemas.microsoft.com/office/drawing/2014/main" id="{DB9849D2-9C4E-A79C-D694-FF188203FBEA}"/>
              </a:ext>
            </a:extLst>
          </p:cNvPr>
          <p:cNvSpPr txBox="1"/>
          <p:nvPr/>
        </p:nvSpPr>
        <p:spPr>
          <a:xfrm>
            <a:off x="402869" y="4258517"/>
            <a:ext cx="2024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Supply chain management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1" name="文本框 470">
            <a:extLst>
              <a:ext uri="{FF2B5EF4-FFF2-40B4-BE49-F238E27FC236}">
                <a16:creationId xmlns:a16="http://schemas.microsoft.com/office/drawing/2014/main" id="{9CB319CE-305F-6D50-F7AF-85F5FFFC3890}"/>
              </a:ext>
            </a:extLst>
          </p:cNvPr>
          <p:cNvSpPr txBox="1"/>
          <p:nvPr/>
        </p:nvSpPr>
        <p:spPr>
          <a:xfrm>
            <a:off x="397795" y="4756992"/>
            <a:ext cx="26997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Product and/or service development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FE86AF1D-BED9-DF9C-2394-A0822B612C6F}"/>
              </a:ext>
            </a:extLst>
          </p:cNvPr>
          <p:cNvSpPr txBox="1"/>
          <p:nvPr/>
        </p:nvSpPr>
        <p:spPr>
          <a:xfrm>
            <a:off x="397795" y="5255467"/>
            <a:ext cx="2335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Strategy and corporate finance</a:t>
            </a:r>
            <a:endParaRPr kumimoji="1" lang="zh-CN" altLang="en-US" sz="12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3" name="文本框 472">
            <a:extLst>
              <a:ext uri="{FF2B5EF4-FFF2-40B4-BE49-F238E27FC236}">
                <a16:creationId xmlns:a16="http://schemas.microsoft.com/office/drawing/2014/main" id="{21FC39ED-E29F-2FF0-FD30-EE3D2D205578}"/>
              </a:ext>
            </a:extLst>
          </p:cNvPr>
          <p:cNvSpPr txBox="1"/>
          <p:nvPr/>
        </p:nvSpPr>
        <p:spPr>
          <a:xfrm>
            <a:off x="389281" y="5755038"/>
            <a:ext cx="2183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Average across all </a:t>
            </a:r>
            <a:r>
              <a:rPr kumimoji="1" lang="en-US" altLang="zh-CN" sz="1200" b="1" dirty="0" err="1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activites</a:t>
            </a:r>
            <a:endParaRPr kumimoji="1" lang="zh-CN" altLang="en-US" sz="1200" b="1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14525107-9959-6FF2-1D5D-881FF4F9E83E}"/>
              </a:ext>
            </a:extLst>
          </p:cNvPr>
          <p:cNvSpPr/>
          <p:nvPr/>
        </p:nvSpPr>
        <p:spPr>
          <a:xfrm>
            <a:off x="4196155" y="1322838"/>
            <a:ext cx="178280" cy="178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12CF06A0-E932-43A8-D6D8-3D983416C88D}"/>
              </a:ext>
            </a:extLst>
          </p:cNvPr>
          <p:cNvSpPr txBox="1"/>
          <p:nvPr/>
        </p:nvSpPr>
        <p:spPr>
          <a:xfrm>
            <a:off x="4374435" y="1255214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Decrease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by&lt;10%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C39D1D7C-B9DB-EADE-47D8-7B01E14E93CA}"/>
              </a:ext>
            </a:extLst>
          </p:cNvPr>
          <p:cNvSpPr/>
          <p:nvPr/>
        </p:nvSpPr>
        <p:spPr>
          <a:xfrm>
            <a:off x="5205981" y="1318096"/>
            <a:ext cx="178280" cy="178280"/>
          </a:xfrm>
          <a:prstGeom prst="rect">
            <a:avLst/>
          </a:prstGeom>
          <a:solidFill>
            <a:srgbClr val="4481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250C1173-50C2-A995-44EF-4F37C294A8ED}"/>
              </a:ext>
            </a:extLst>
          </p:cNvPr>
          <p:cNvSpPr txBox="1"/>
          <p:nvPr/>
        </p:nvSpPr>
        <p:spPr>
          <a:xfrm>
            <a:off x="5384261" y="1250472"/>
            <a:ext cx="803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Decrease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 10-19%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1FE7ADAE-1C86-9B4A-8F66-3FDE29706399}"/>
              </a:ext>
            </a:extLst>
          </p:cNvPr>
          <p:cNvSpPr/>
          <p:nvPr/>
        </p:nvSpPr>
        <p:spPr>
          <a:xfrm>
            <a:off x="6299770" y="1318096"/>
            <a:ext cx="178280" cy="178280"/>
          </a:xfrm>
          <a:prstGeom prst="rect">
            <a:avLst/>
          </a:prstGeom>
          <a:solidFill>
            <a:srgbClr val="78A7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9" name="文本框 478">
            <a:extLst>
              <a:ext uri="{FF2B5EF4-FFF2-40B4-BE49-F238E27FC236}">
                <a16:creationId xmlns:a16="http://schemas.microsoft.com/office/drawing/2014/main" id="{D7355270-DE2A-955E-8497-A4A58B04EBF6}"/>
              </a:ext>
            </a:extLst>
          </p:cNvPr>
          <p:cNvSpPr txBox="1"/>
          <p:nvPr/>
        </p:nvSpPr>
        <p:spPr>
          <a:xfrm>
            <a:off x="6478050" y="1250472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Decrease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 ≥20%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6C52D8A4-4E72-C93B-4F5B-6434E426FF52}"/>
              </a:ext>
            </a:extLst>
          </p:cNvPr>
          <p:cNvSpPr/>
          <p:nvPr/>
        </p:nvSpPr>
        <p:spPr>
          <a:xfrm>
            <a:off x="7309596" y="1313354"/>
            <a:ext cx="178280" cy="178280"/>
          </a:xfrm>
          <a:prstGeom prst="rect">
            <a:avLst/>
          </a:prstGeom>
          <a:solidFill>
            <a:srgbClr val="7F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F20E51C1-9594-DC2B-4937-E0C24D529503}"/>
              </a:ext>
            </a:extLst>
          </p:cNvPr>
          <p:cNvSpPr txBox="1"/>
          <p:nvPr/>
        </p:nvSpPr>
        <p:spPr>
          <a:xfrm>
            <a:off x="7487876" y="1245730"/>
            <a:ext cx="662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Increase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by≥10%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B1D26135-22B9-69A7-AC78-9B639F86BE83}"/>
              </a:ext>
            </a:extLst>
          </p:cNvPr>
          <p:cNvSpPr/>
          <p:nvPr/>
        </p:nvSpPr>
        <p:spPr>
          <a:xfrm>
            <a:off x="8323473" y="1325063"/>
            <a:ext cx="178280" cy="178280"/>
          </a:xfrm>
          <a:prstGeom prst="rect">
            <a:avLst/>
          </a:prstGeom>
          <a:solidFill>
            <a:srgbClr val="43CE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B935651B-E336-BD6B-3528-93AB03EB4B74}"/>
              </a:ext>
            </a:extLst>
          </p:cNvPr>
          <p:cNvSpPr txBox="1"/>
          <p:nvPr/>
        </p:nvSpPr>
        <p:spPr>
          <a:xfrm>
            <a:off x="8501753" y="1257439"/>
            <a:ext cx="732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Increase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 6-10%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84" name="矩形 483">
            <a:extLst>
              <a:ext uri="{FF2B5EF4-FFF2-40B4-BE49-F238E27FC236}">
                <a16:creationId xmlns:a16="http://schemas.microsoft.com/office/drawing/2014/main" id="{9A95B3F7-9B88-D7C0-7084-FE23337A598C}"/>
              </a:ext>
            </a:extLst>
          </p:cNvPr>
          <p:cNvSpPr/>
          <p:nvPr/>
        </p:nvSpPr>
        <p:spPr>
          <a:xfrm>
            <a:off x="9333299" y="1320321"/>
            <a:ext cx="178280" cy="178280"/>
          </a:xfrm>
          <a:prstGeom prst="rect">
            <a:avLst/>
          </a:prstGeom>
          <a:solidFill>
            <a:srgbClr val="00B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33F057A9-6CFC-8524-D27E-561F72BE5606}"/>
              </a:ext>
            </a:extLst>
          </p:cNvPr>
          <p:cNvSpPr txBox="1"/>
          <p:nvPr/>
        </p:nvSpPr>
        <p:spPr>
          <a:xfrm>
            <a:off x="9511579" y="1252697"/>
            <a:ext cx="662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Increase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by≤5%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832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44429-F61B-B6B1-E588-255217F9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25640A9-02CA-DFB2-E2C5-4B05E0C777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66669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A4E4C1-5E92-6384-C85D-F14C2CA61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4AB2D6A-5D82-B1D9-F529-E35E46BDF679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latin typeface="HarmonyOS Sans SC Medium" pitchFamily="2" charset="-122"/>
                <a:ea typeface="HarmonyOS Sans SC Medium" pitchFamily="2" charset="-122"/>
              </a:rPr>
              <a:t>Organizations are using Al within sustainability efforts and are working to reduce the environmental impact of their Al use.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A8AA5E34-47C4-F7E6-3CD4-FE76ADA30C6F}"/>
              </a:ext>
            </a:extLst>
          </p:cNvPr>
          <p:cNvSpPr txBox="1"/>
          <p:nvPr/>
        </p:nvSpPr>
        <p:spPr>
          <a:xfrm>
            <a:off x="394356" y="5816750"/>
            <a:ext cx="11527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Only asked of respondents whose organizations have adopted Al in at least one function. For organizations based in Greater China, n = 102;for Asia-Pacific, n = 74; for developing markets, n = 118; for Europe, n = 260; and for North America, n = 190.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BADCC432-3537-0D7C-96CD-CB7A7BE47E68}"/>
              </a:ext>
            </a:extLst>
          </p:cNvPr>
          <p:cNvSpPr txBox="1"/>
          <p:nvPr/>
        </p:nvSpPr>
        <p:spPr>
          <a:xfrm>
            <a:off x="394356" y="5983993"/>
            <a:ext cx="29642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Includes respondents in Hong Kong SAR and Taiwan China.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5EE514-2302-29EC-2E72-BFCB10E5FFAA}"/>
              </a:ext>
            </a:extLst>
          </p:cNvPr>
          <p:cNvSpPr txBox="1"/>
          <p:nvPr/>
        </p:nvSpPr>
        <p:spPr>
          <a:xfrm>
            <a:off x="394356" y="940927"/>
            <a:ext cx="3419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Organizations using Al in their sustainability</a:t>
            </a:r>
          </a:p>
          <a:p>
            <a:pPr defTabSz="685800">
              <a:defRPr/>
            </a:pPr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efforts</a:t>
            </a:r>
            <a:r>
              <a:rPr lang="zh-CN" altLang="en-US" sz="12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14" name="Chart 3">
            <a:extLst>
              <a:ext uri="{FF2B5EF4-FFF2-40B4-BE49-F238E27FC236}">
                <a16:creationId xmlns:a16="http://schemas.microsoft.com/office/drawing/2014/main" id="{665B0E77-F038-2AAF-5839-1C04C301A94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0224959"/>
              </p:ext>
            </p:extLst>
          </p:nvPr>
        </p:nvGraphicFramePr>
        <p:xfrm>
          <a:off x="1631950" y="1258888"/>
          <a:ext cx="3778250" cy="2162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0AA34998-73D9-CBD1-F4B1-AF914C5349C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469900" y="1587500"/>
            <a:ext cx="8032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F50F936-F7BA-401A-B0F1-6CBDD66A265A}" type="datetime'''''Gr''''''''''ea''t''er C''''''''h''''i''n''''''a'''">
              <a:rPr kumimoji="1" lang="en-US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Greater China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50A2F869-A69A-F651-D843-2EAE0D1B49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69900" y="1928813"/>
            <a:ext cx="6778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00B160A-4260-486E-AD81-3565E0180EF3}" type="datetime'A''''''si''''''a-''P''''a''''''''''cif''''i''''''''''c'''">
              <a:rPr kumimoji="1" lang="en-US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Asia-Pacific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BD540E58-01AD-AA66-7A18-9E60F11EE40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69900" y="2271713"/>
            <a:ext cx="11588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2E59A45-A5AF-4B7D-9BDC-607B5C5F7F9F}" type="datetime'''D''e''v''''el''''op''ing'''' ''marke''''ts'''''''''''">
              <a:rPr kumimoji="1" lang="en-US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Developing markets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8AC51367-447F-2BAD-EA78-5FE1FB843CC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69899" y="2613025"/>
            <a:ext cx="419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18E0045-0C21-402A-A532-4D32CD5A6807}" type="datetime'''''''''''Eu''''''''r''''''''o''''p''''''''''''''e'">
              <a:rPr kumimoji="1" lang="en-US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Europe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1" name="文本占位符 2">
            <a:extLst>
              <a:ext uri="{FF2B5EF4-FFF2-40B4-BE49-F238E27FC236}">
                <a16:creationId xmlns:a16="http://schemas.microsoft.com/office/drawing/2014/main" id="{C7DE8BEF-6AFA-AC24-7154-29CF02F7E68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69900" y="2955925"/>
            <a:ext cx="841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24BFC54-6B67-4316-81E7-587D6F401F6D}" type="datetime'''No''''''''r''th ''A''m''''''e''r''''ic''''''''''''''''a'''">
              <a:rPr kumimoji="1" lang="en-US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North America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424BCEC-6E84-9BEE-0007-0FBA95BEA753}"/>
              </a:ext>
            </a:extLst>
          </p:cNvPr>
          <p:cNvSpPr txBox="1"/>
          <p:nvPr/>
        </p:nvSpPr>
        <p:spPr>
          <a:xfrm>
            <a:off x="6486285" y="940927"/>
            <a:ext cx="3419475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Organizations using Al in their sustainability</a:t>
            </a:r>
          </a:p>
          <a:p>
            <a:pPr defTabSz="685800">
              <a:defRPr/>
            </a:pPr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efforts</a:t>
            </a:r>
            <a:r>
              <a:rPr lang="zh-CN" altLang="en-US" sz="12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lang="en-US" altLang="zh-CN" sz="12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11" name="Chart 3">
            <a:extLst>
              <a:ext uri="{FF2B5EF4-FFF2-40B4-BE49-F238E27FC236}">
                <a16:creationId xmlns:a16="http://schemas.microsoft.com/office/drawing/2014/main" id="{E71FEF45-E13B-1A49-A7E2-E92933C86476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9834740"/>
              </p:ext>
            </p:extLst>
          </p:nvPr>
        </p:nvGraphicFramePr>
        <p:xfrm>
          <a:off x="7756525" y="1258888"/>
          <a:ext cx="3554413" cy="2162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29AAE096-CA55-A9BD-3379-A89290E10F0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94475" y="1587500"/>
            <a:ext cx="8032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F64D32E-CD46-44C2-BCC4-75CCEE646D6A}" type="datetime'G''''re''ater'''' ''''Ch''''i''''n''''''''a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Greater China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9E0BABA8-8FB3-23BA-BB25-0D1F1388422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594475" y="1928813"/>
            <a:ext cx="6778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7F84CDC-BADF-40C0-A3E4-30FCA565F0CF}" type="datetime'As''''i''a''''''''''''''''-''''''Pa''''''''c''''i''fic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Asia-Pacific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7" name="文本占位符 2">
            <a:extLst>
              <a:ext uri="{FF2B5EF4-FFF2-40B4-BE49-F238E27FC236}">
                <a16:creationId xmlns:a16="http://schemas.microsoft.com/office/drawing/2014/main" id="{93CB6947-F5B4-C9B9-D7E6-E7062F024F8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594475" y="2271713"/>
            <a:ext cx="11588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6BB08AE-5EFA-46FB-BA6E-F498801701FB}" type="datetime'''''''D''''''''''e''ve''lo''ping m''''a''rk''''e''t''s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Developing markets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60D43D87-3A47-EC0A-29C1-473C0A15712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594475" y="2613025"/>
            <a:ext cx="4191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D4B7571-76C8-4801-97D5-2B4149975068}" type="datetime'''''''''''''''''''E''''''''''''u''''r''op''''''e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Europe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99DEFD3B-5539-5698-8042-C035450CA042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6594475" y="2955925"/>
            <a:ext cx="841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E5A561E-6F30-4EAE-B172-323F335B93EB}" type="datetime'No''''''''r''''th'''''' ''''A''''''''''''m''''''''e''ric''a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North America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51" name="文本框 450">
            <a:extLst>
              <a:ext uri="{FF2B5EF4-FFF2-40B4-BE49-F238E27FC236}">
                <a16:creationId xmlns:a16="http://schemas.microsoft.com/office/drawing/2014/main" id="{5E6561A5-91BB-9078-9D0E-B29E7B2632CE}"/>
              </a:ext>
            </a:extLst>
          </p:cNvPr>
          <p:cNvSpPr txBox="1"/>
          <p:nvPr/>
        </p:nvSpPr>
        <p:spPr>
          <a:xfrm>
            <a:off x="394356" y="3646941"/>
            <a:ext cx="5750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defTabSz="685800">
              <a:defRPr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/>
              <a:t>Types of sustainability efforts in which respondents' organizations are using Al</a:t>
            </a:r>
            <a:r>
              <a:rPr lang="en-US" altLang="zh-CN" baseline="30000" dirty="0"/>
              <a:t>4</a:t>
            </a:r>
            <a:endParaRPr lang="zh-CN" altLang="en-US" baseline="30000" dirty="0"/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0D11C40E-EDE9-BE66-3AF5-AD31FC5A84BE}"/>
              </a:ext>
            </a:extLst>
          </p:cNvPr>
          <p:cNvSpPr txBox="1"/>
          <p:nvPr/>
        </p:nvSpPr>
        <p:spPr>
          <a:xfrm>
            <a:off x="1198781" y="1544765"/>
            <a:ext cx="272832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defTabSz="685800">
              <a:defRPr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sz="1000" baseline="30000" dirty="0"/>
              <a:t>2</a:t>
            </a:r>
            <a:endParaRPr lang="zh-CN" altLang="en-US" sz="1000" baseline="30000" dirty="0"/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979E6326-FD56-CEC6-CAF5-E3463E004723}"/>
              </a:ext>
            </a:extLst>
          </p:cNvPr>
          <p:cNvSpPr txBox="1"/>
          <p:nvPr/>
        </p:nvSpPr>
        <p:spPr>
          <a:xfrm>
            <a:off x="1545215" y="2241583"/>
            <a:ext cx="272832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defTabSz="685800">
              <a:defRPr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sz="1000" baseline="30000" dirty="0"/>
              <a:t>3</a:t>
            </a:r>
            <a:endParaRPr lang="zh-CN" altLang="en-US" sz="1000" baseline="30000" dirty="0"/>
          </a:p>
        </p:txBody>
      </p: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5780ECC8-3414-3BFF-0E0A-7D2A131F53E6}"/>
              </a:ext>
            </a:extLst>
          </p:cNvPr>
          <p:cNvGrpSpPr/>
          <p:nvPr/>
        </p:nvGrpSpPr>
        <p:grpSpPr>
          <a:xfrm>
            <a:off x="469899" y="3194020"/>
            <a:ext cx="4705004" cy="438282"/>
            <a:chOff x="469899" y="3194020"/>
            <a:chExt cx="4705004" cy="438282"/>
          </a:xfrm>
        </p:grpSpPr>
        <p:cxnSp>
          <p:nvCxnSpPr>
            <p:cNvPr id="455" name="直线连接符 454">
              <a:extLst>
                <a:ext uri="{FF2B5EF4-FFF2-40B4-BE49-F238E27FC236}">
                  <a16:creationId xmlns:a16="http://schemas.microsoft.com/office/drawing/2014/main" id="{55575986-55A6-1551-E529-8F10FF6C21F1}"/>
                </a:ext>
              </a:extLst>
            </p:cNvPr>
            <p:cNvCxnSpPr/>
            <p:nvPr/>
          </p:nvCxnSpPr>
          <p:spPr>
            <a:xfrm>
              <a:off x="469899" y="3206187"/>
              <a:ext cx="0" cy="21487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线连接符 455">
              <a:extLst>
                <a:ext uri="{FF2B5EF4-FFF2-40B4-BE49-F238E27FC236}">
                  <a16:creationId xmlns:a16="http://schemas.microsoft.com/office/drawing/2014/main" id="{3F3EC3FB-F0BF-F994-977A-803668D85AA7}"/>
                </a:ext>
              </a:extLst>
            </p:cNvPr>
            <p:cNvCxnSpPr/>
            <p:nvPr/>
          </p:nvCxnSpPr>
          <p:spPr>
            <a:xfrm>
              <a:off x="5167291" y="3194020"/>
              <a:ext cx="0" cy="21487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线连接符 456">
              <a:extLst>
                <a:ext uri="{FF2B5EF4-FFF2-40B4-BE49-F238E27FC236}">
                  <a16:creationId xmlns:a16="http://schemas.microsoft.com/office/drawing/2014/main" id="{A18EC996-96A1-DE75-8BD3-D355BFBD02F5}"/>
                </a:ext>
              </a:extLst>
            </p:cNvPr>
            <p:cNvCxnSpPr>
              <a:cxnSpLocks/>
            </p:cNvCxnSpPr>
            <p:nvPr/>
          </p:nvCxnSpPr>
          <p:spPr>
            <a:xfrm>
              <a:off x="469899" y="3417426"/>
              <a:ext cx="4705004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线连接符 462">
              <a:extLst>
                <a:ext uri="{FF2B5EF4-FFF2-40B4-BE49-F238E27FC236}">
                  <a16:creationId xmlns:a16="http://schemas.microsoft.com/office/drawing/2014/main" id="{58145275-F73D-199F-FEAA-9205AE595984}"/>
                </a:ext>
              </a:extLst>
            </p:cNvPr>
            <p:cNvCxnSpPr/>
            <p:nvPr/>
          </p:nvCxnSpPr>
          <p:spPr>
            <a:xfrm>
              <a:off x="1339938" y="3417426"/>
              <a:ext cx="0" cy="21487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ts4C5">
            <a:extLst>
              <a:ext uri="{FF2B5EF4-FFF2-40B4-BE49-F238E27FC236}">
                <a16:creationId xmlns:a16="http://schemas.microsoft.com/office/drawing/2014/main" id="{12ADB506-7489-7D7D-E2C3-1ABDF8F37B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67081"/>
              </p:ext>
            </p:extLst>
          </p:nvPr>
        </p:nvGraphicFramePr>
        <p:xfrm>
          <a:off x="4564954" y="3850686"/>
          <a:ext cx="6666112" cy="1914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CD04613-EFE2-389D-DD34-A2F538C6FEDD}"/>
              </a:ext>
            </a:extLst>
          </p:cNvPr>
          <p:cNvSpPr txBox="1"/>
          <p:nvPr/>
        </p:nvSpPr>
        <p:spPr>
          <a:xfrm>
            <a:off x="394356" y="4051232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Improving the organization's environmental impact 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9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，</a:t>
            </a:r>
          </a:p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improving energy efficiency, optimizing transportation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6F348C-F438-30AA-87D7-42C72114DA2F}"/>
              </a:ext>
            </a:extLst>
          </p:cNvPr>
          <p:cNvSpPr txBox="1"/>
          <p:nvPr/>
        </p:nvSpPr>
        <p:spPr>
          <a:xfrm>
            <a:off x="394356" y="4483609"/>
            <a:ext cx="2980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Evaluating sustainability efforts 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9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, benchmarking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7AEA8D-02B3-45C6-9DDA-BBDA7B2A29AC}"/>
              </a:ext>
            </a:extLst>
          </p:cNvPr>
          <p:cNvSpPr txBox="1"/>
          <p:nvPr/>
        </p:nvSpPr>
        <p:spPr>
          <a:xfrm>
            <a:off x="396717" y="4829512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Improving the organization's governance</a:t>
            </a:r>
          </a:p>
          <a:p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9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, regulatory compliance, risk management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8C0F78-0AF6-B8F7-1779-79BC47A75384}"/>
              </a:ext>
            </a:extLst>
          </p:cNvPr>
          <p:cNvSpPr txBox="1"/>
          <p:nvPr/>
        </p:nvSpPr>
        <p:spPr>
          <a:xfrm>
            <a:off x="394356" y="5256791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Improving the organization's social</a:t>
            </a:r>
          </a:p>
          <a:p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impact 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900" dirty="0" err="1">
                <a:latin typeface="HarmonyOS Sans SC Light" pitchFamily="2" charset="-122"/>
                <a:ea typeface="HarmonyOS Sans SC Light" pitchFamily="2" charset="-122"/>
              </a:rPr>
              <a:t>eg</a:t>
            </a:r>
            <a:r>
              <a:rPr kumimoji="1" lang="en-US" altLang="zh-CN" sz="900" dirty="0">
                <a:latin typeface="HarmonyOS Sans SC Light" pitchFamily="2" charset="-122"/>
                <a:ea typeface="HarmonyOS Sans SC Light" pitchFamily="2" charset="-122"/>
              </a:rPr>
              <a:t>, sourcing ethical products</a:t>
            </a:r>
            <a:r>
              <a:rPr kumimoji="1" lang="zh-CN" altLang="en-US" sz="9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BE704F-8AB4-6B6A-892B-4DF91919750E}"/>
              </a:ext>
            </a:extLst>
          </p:cNvPr>
          <p:cNvSpPr txBox="1"/>
          <p:nvPr/>
        </p:nvSpPr>
        <p:spPr>
          <a:xfrm>
            <a:off x="394356" y="6141780"/>
            <a:ext cx="4623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3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Includes respondents in India, Latin America, Middle East, North Africa, and sub-Saharan Africa.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F431EA-5A6D-2622-CF1C-8DFF9F1DDE28}"/>
              </a:ext>
            </a:extLst>
          </p:cNvPr>
          <p:cNvSpPr txBox="1"/>
          <p:nvPr/>
        </p:nvSpPr>
        <p:spPr>
          <a:xfrm>
            <a:off x="394356" y="6299567"/>
            <a:ext cx="110985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4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Only asked of respondents whose organizations have adopted Al in at least one function who said that their organizations are using Al in sustainability efforts; n = 302.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333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8DE04-D75D-9181-7C6C-1242ABF3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2E09F97-7E6D-8280-366B-34B69D320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8795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5640A9-02CA-DFB2-E2C5-4B05E0C777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16E953CB-9EBC-42CC-E755-7CE0593707B2}"/>
              </a:ext>
            </a:extLst>
          </p:cNvPr>
          <p:cNvSpPr/>
          <p:nvPr/>
        </p:nvSpPr>
        <p:spPr>
          <a:xfrm>
            <a:off x="3973902" y="2248619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D0FFBA-28E3-3DF2-C8DC-6C5ECB521CE1}"/>
              </a:ext>
            </a:extLst>
          </p:cNvPr>
          <p:cNvSpPr/>
          <p:nvPr/>
        </p:nvSpPr>
        <p:spPr>
          <a:xfrm>
            <a:off x="3973902" y="2718917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3731FB-E4A5-2194-6C72-DD963AACB616}"/>
              </a:ext>
            </a:extLst>
          </p:cNvPr>
          <p:cNvSpPr/>
          <p:nvPr/>
        </p:nvSpPr>
        <p:spPr>
          <a:xfrm>
            <a:off x="3973902" y="3189215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15A9CB-0D26-4472-3BE3-15562CF59956}"/>
              </a:ext>
            </a:extLst>
          </p:cNvPr>
          <p:cNvSpPr/>
          <p:nvPr/>
        </p:nvSpPr>
        <p:spPr>
          <a:xfrm>
            <a:off x="3973902" y="3659513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55E717-C81E-9E33-E14C-99EDA154C557}"/>
              </a:ext>
            </a:extLst>
          </p:cNvPr>
          <p:cNvSpPr/>
          <p:nvPr/>
        </p:nvSpPr>
        <p:spPr>
          <a:xfrm>
            <a:off x="3973902" y="4129811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71CA5D-9BAD-CE89-292B-3FBA44CC5C46}"/>
              </a:ext>
            </a:extLst>
          </p:cNvPr>
          <p:cNvSpPr/>
          <p:nvPr/>
        </p:nvSpPr>
        <p:spPr>
          <a:xfrm>
            <a:off x="3973902" y="4600109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9DDCB9-1EEE-C028-6985-CB76CCAFAD96}"/>
              </a:ext>
            </a:extLst>
          </p:cNvPr>
          <p:cNvSpPr/>
          <p:nvPr/>
        </p:nvSpPr>
        <p:spPr>
          <a:xfrm>
            <a:off x="3973902" y="5070408"/>
            <a:ext cx="7251940" cy="391064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2" name="ts73B">
            <a:extLst>
              <a:ext uri="{FF2B5EF4-FFF2-40B4-BE49-F238E27FC236}">
                <a16:creationId xmlns:a16="http://schemas.microsoft.com/office/drawing/2014/main" id="{1A7913B5-41B9-8882-C6DC-EAFB1D8B4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910125"/>
              </p:ext>
            </p:extLst>
          </p:nvPr>
        </p:nvGraphicFramePr>
        <p:xfrm>
          <a:off x="3809999" y="2057399"/>
          <a:ext cx="7640919" cy="3739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B58DB29-9057-515A-56BA-A4BEFFB6988F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latin typeface="HarmonyOS Sans SC Medium" pitchFamily="2" charset="-122"/>
                <a:ea typeface="HarmonyOS Sans SC Medium" pitchFamily="2" charset="-122"/>
              </a:rPr>
              <a:t>Organizations seeing the highest returns from Al are more likely to follow</a:t>
            </a:r>
            <a:r>
              <a:rPr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latin typeface="HarmonyOS Sans SC Medium" pitchFamily="2" charset="-122"/>
                <a:ea typeface="HarmonyOS Sans SC Medium" pitchFamily="2" charset="-122"/>
              </a:rPr>
              <a:t>strategy, data, models, tools, technology, and talent best practices.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E45E65D7-6050-D3BB-D9E2-FF2500DE8C98}"/>
              </a:ext>
            </a:extLst>
          </p:cNvPr>
          <p:cNvSpPr txBox="1"/>
          <p:nvPr/>
        </p:nvSpPr>
        <p:spPr>
          <a:xfrm>
            <a:off x="394356" y="5816750"/>
            <a:ext cx="11527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Practices shown here are representative of those with the highest deltas between Al high performers and other respondents. Not all practices are shown.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A1933601-0F2F-DBCA-507B-37DD0D60560C}"/>
              </a:ext>
            </a:extLst>
          </p:cNvPr>
          <p:cNvSpPr txBox="1"/>
          <p:nvPr/>
        </p:nvSpPr>
        <p:spPr>
          <a:xfrm>
            <a:off x="394356" y="5983993"/>
            <a:ext cx="55707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800" dirty="0">
                <a:latin typeface="HarmonyOS Sans SC Light" pitchFamily="2" charset="-122"/>
                <a:ea typeface="HarmonyOS Sans SC Light" pitchFamily="2" charset="-122"/>
              </a:rPr>
              <a:t>Respondents who said that at least 20 percent of their organizations' EBIT in 2021 was attributable to their use of AI.</a:t>
            </a:r>
            <a:endParaRPr kumimoji="1" lang="zh-CN" altLang="en-US" sz="8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9639B4-CD4C-F96D-932D-46665274186B}"/>
              </a:ext>
            </a:extLst>
          </p:cNvPr>
          <p:cNvSpPr/>
          <p:nvPr/>
        </p:nvSpPr>
        <p:spPr>
          <a:xfrm>
            <a:off x="1255822" y="1341656"/>
            <a:ext cx="658704" cy="274320"/>
          </a:xfrm>
          <a:prstGeom prst="rect">
            <a:avLst/>
          </a:prstGeom>
          <a:solidFill>
            <a:schemeClr val="bg1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32B171-141E-B54C-32CC-54EA4565394E}"/>
              </a:ext>
            </a:extLst>
          </p:cNvPr>
          <p:cNvSpPr/>
          <p:nvPr/>
        </p:nvSpPr>
        <p:spPr>
          <a:xfrm>
            <a:off x="506656" y="1341508"/>
            <a:ext cx="751501" cy="274320"/>
          </a:xfrm>
          <a:prstGeom prst="rect">
            <a:avLst/>
          </a:prstGeom>
          <a:solidFill>
            <a:srgbClr val="0043F6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4BE5ED-31EC-CB16-BD26-77EF04D8716A}"/>
              </a:ext>
            </a:extLst>
          </p:cNvPr>
          <p:cNvSpPr txBox="1"/>
          <p:nvPr/>
        </p:nvSpPr>
        <p:spPr>
          <a:xfrm>
            <a:off x="1368608" y="1364854"/>
            <a:ext cx="4331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900" dirty="0">
                <a:solidFill>
                  <a:srgbClr val="0043F6"/>
                </a:solidFill>
                <a:latin typeface="HarmonyOS Sans SC" pitchFamily="2" charset="-122"/>
                <a:ea typeface="HarmonyOS Sans SC" pitchFamily="2" charset="-122"/>
              </a:rPr>
              <a:t>Data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A6120C-0A05-96DB-ADF0-1BAFC5CC839F}"/>
              </a:ext>
            </a:extLst>
          </p:cNvPr>
          <p:cNvSpPr txBox="1"/>
          <p:nvPr/>
        </p:nvSpPr>
        <p:spPr>
          <a:xfrm>
            <a:off x="527180" y="1354885"/>
            <a:ext cx="7104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105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Strategy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0CDB796-C543-BD26-E359-67BFFE3A2E01}"/>
              </a:ext>
            </a:extLst>
          </p:cNvPr>
          <p:cNvSpPr txBox="1"/>
          <p:nvPr/>
        </p:nvSpPr>
        <p:spPr>
          <a:xfrm>
            <a:off x="394356" y="955071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Share of respondents reporting their organizations engage in each practice,</a:t>
            </a:r>
            <a:r>
              <a:rPr lang="en-US" altLang="zh-CN" sz="1200" baseline="300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latin typeface="HarmonyOS Sans SC Light" pitchFamily="2" charset="-122"/>
                <a:ea typeface="HarmonyOS Sans SC Light" pitchFamily="2" charset="-122"/>
              </a:rPr>
              <a:t> % of respondents</a:t>
            </a:r>
            <a:endParaRPr lang="en-US" altLang="zh-CN" sz="1200" baseline="30000" dirty="0">
              <a:solidFill>
                <a:srgbClr val="000000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3A18A5-C1D6-803C-8E8D-6C1C7273BB16}"/>
              </a:ext>
            </a:extLst>
          </p:cNvPr>
          <p:cNvSpPr/>
          <p:nvPr/>
        </p:nvSpPr>
        <p:spPr>
          <a:xfrm>
            <a:off x="1912191" y="1341656"/>
            <a:ext cx="1551734" cy="274320"/>
          </a:xfrm>
          <a:prstGeom prst="rect">
            <a:avLst/>
          </a:prstGeom>
          <a:solidFill>
            <a:schemeClr val="bg1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4676B3-B3E8-A686-9A20-54C230A2283D}"/>
              </a:ext>
            </a:extLst>
          </p:cNvPr>
          <p:cNvSpPr txBox="1"/>
          <p:nvPr/>
        </p:nvSpPr>
        <p:spPr>
          <a:xfrm>
            <a:off x="1988187" y="1364854"/>
            <a:ext cx="13997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900" dirty="0">
                <a:solidFill>
                  <a:srgbClr val="0043F6"/>
                </a:solidFill>
                <a:latin typeface="HarmonyOS Sans SC" pitchFamily="2" charset="-122"/>
                <a:ea typeface="HarmonyOS Sans SC" pitchFamily="2" charset="-122"/>
              </a:rPr>
              <a:t>Models, tools, and tech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E37690-E0DA-3391-67CF-59A1BCEC9F62}"/>
              </a:ext>
            </a:extLst>
          </p:cNvPr>
          <p:cNvSpPr/>
          <p:nvPr/>
        </p:nvSpPr>
        <p:spPr>
          <a:xfrm>
            <a:off x="3461590" y="1341656"/>
            <a:ext cx="1711380" cy="274320"/>
          </a:xfrm>
          <a:prstGeom prst="rect">
            <a:avLst/>
          </a:prstGeom>
          <a:solidFill>
            <a:schemeClr val="bg1"/>
          </a:solidFill>
          <a:ln>
            <a:solidFill>
              <a:srgbClr val="0043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kumimoji="1" lang="zh-CN" altLang="en-US" sz="135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D82CD6-767E-9C0B-7487-14155E7BE8FF}"/>
              </a:ext>
            </a:extLst>
          </p:cNvPr>
          <p:cNvSpPr txBox="1"/>
          <p:nvPr/>
        </p:nvSpPr>
        <p:spPr>
          <a:xfrm>
            <a:off x="3499588" y="1364854"/>
            <a:ext cx="16353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zh-CN" sz="900" dirty="0">
                <a:solidFill>
                  <a:srgbClr val="0043F6"/>
                </a:solidFill>
                <a:latin typeface="HarmonyOS Sans SC" pitchFamily="2" charset="-122"/>
                <a:ea typeface="HarmonyOS Sans SC" pitchFamily="2" charset="-122"/>
              </a:rPr>
              <a:t>Talent and ways of working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716472-BC02-2AED-CE07-6278D6B3E954}"/>
              </a:ext>
            </a:extLst>
          </p:cNvPr>
          <p:cNvSpPr txBox="1"/>
          <p:nvPr/>
        </p:nvSpPr>
        <p:spPr>
          <a:xfrm>
            <a:off x="385958" y="2248619"/>
            <a:ext cx="31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Have a road map that clearly prioritizes Al initiatives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linked to business value across organization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430C44-5024-87FF-940A-BFBA510237EB}"/>
              </a:ext>
            </a:extLst>
          </p:cNvPr>
          <p:cNvSpPr txBox="1"/>
          <p:nvPr/>
        </p:nvSpPr>
        <p:spPr>
          <a:xfrm>
            <a:off x="394356" y="2722689"/>
            <a:ext cx="31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Have an Al strategy that is aligned with the broader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corporate strategy and goals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15C66A-2057-FB40-6CE6-869C02716D18}"/>
              </a:ext>
            </a:extLst>
          </p:cNvPr>
          <p:cNvSpPr txBox="1"/>
          <p:nvPr/>
        </p:nvSpPr>
        <p:spPr>
          <a:xfrm>
            <a:off x="394356" y="3196758"/>
            <a:ext cx="3369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Senior management that is fully aligned and committed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 organization's Al strategy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7A178A-59F3-4C78-2F15-D0743A197D8D}"/>
              </a:ext>
            </a:extLst>
          </p:cNvPr>
          <p:cNvSpPr txBox="1"/>
          <p:nvPr/>
        </p:nvSpPr>
        <p:spPr>
          <a:xfrm>
            <a:off x="394356" y="3716284"/>
            <a:ext cx="2730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Have a clearly defined Al vision and strategy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FA3E73-757E-432D-518B-FDB5CFD8DA79}"/>
              </a:ext>
            </a:extLst>
          </p:cNvPr>
          <p:cNvSpPr txBox="1"/>
          <p:nvPr/>
        </p:nvSpPr>
        <p:spPr>
          <a:xfrm>
            <a:off x="409709" y="4062635"/>
            <a:ext cx="34002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Appointed a credible leader of Al initiatives who is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empowered to move them forward in collaboration with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peers across business units and functions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53D885-9DE4-B882-7495-0F32E5113D46}"/>
              </a:ext>
            </a:extLst>
          </p:cNvPr>
          <p:cNvSpPr txBox="1"/>
          <p:nvPr/>
        </p:nvSpPr>
        <p:spPr>
          <a:xfrm>
            <a:off x="411883" y="4548664"/>
            <a:ext cx="30877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Systematically track a comprehensive set of well-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defined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KPls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to measure the incremental impact of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Al initiatives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D3FEED8-90A0-7CBE-49EC-3640EE92B4EF}"/>
              </a:ext>
            </a:extLst>
          </p:cNvPr>
          <p:cNvSpPr txBox="1"/>
          <p:nvPr/>
        </p:nvSpPr>
        <p:spPr>
          <a:xfrm>
            <a:off x="402754" y="5093036"/>
            <a:ext cx="3225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Have a clear framework for Al governance that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covers every step of the model development process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D755A23-B0E3-5DDD-2A65-DEA61C5C08A9}"/>
              </a:ext>
            </a:extLst>
          </p:cNvPr>
          <p:cNvSpPr/>
          <p:nvPr/>
        </p:nvSpPr>
        <p:spPr>
          <a:xfrm>
            <a:off x="7920990" y="1885454"/>
            <a:ext cx="184030" cy="1840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A7B457-47D5-482B-1C3D-3978684217E6}"/>
              </a:ext>
            </a:extLst>
          </p:cNvPr>
          <p:cNvSpPr txBox="1"/>
          <p:nvPr/>
        </p:nvSpPr>
        <p:spPr>
          <a:xfrm>
            <a:off x="8105020" y="1846664"/>
            <a:ext cx="1540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All other respondents</a:t>
            </a:r>
            <a:endParaRPr kumimoji="1" lang="zh-CN" altLang="en-US" sz="11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44330AA-1C53-3BD2-C252-A26558D41187}"/>
              </a:ext>
            </a:extLst>
          </p:cNvPr>
          <p:cNvSpPr/>
          <p:nvPr/>
        </p:nvSpPr>
        <p:spPr>
          <a:xfrm>
            <a:off x="9745980" y="1886145"/>
            <a:ext cx="184030" cy="184030"/>
          </a:xfrm>
          <a:prstGeom prst="ellipse">
            <a:avLst/>
          </a:prstGeom>
          <a:solidFill>
            <a:srgbClr val="00B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EF4702-1A1F-5E0F-868E-589DD0BF1B07}"/>
              </a:ext>
            </a:extLst>
          </p:cNvPr>
          <p:cNvSpPr txBox="1"/>
          <p:nvPr/>
        </p:nvSpPr>
        <p:spPr>
          <a:xfrm>
            <a:off x="9930010" y="1847355"/>
            <a:ext cx="14366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HarmonyOS Sans SC Light" pitchFamily="2" charset="-122"/>
                <a:ea typeface="HarmonyOS Sans SC Light" pitchFamily="2" charset="-122"/>
              </a:rPr>
              <a:t>Al high performers</a:t>
            </a:r>
            <a:r>
              <a:rPr kumimoji="1" lang="en-US" altLang="zh-CN" sz="11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endParaRPr kumimoji="1" lang="zh-CN" altLang="en-US" sz="11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007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B89E0-DDC8-987F-DCAC-31766273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78E1378-C1AD-A7D6-616A-BE0E949E4E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4468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A4E4C1-5E92-6384-C85D-F14C2CA61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88DFCF5-1005-1ADE-B295-7D055689D382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/>
                </a:solidFill>
                <a:latin typeface="HarmonyOS Sans SC Medium" pitchFamily="2" charset="-122"/>
                <a:ea typeface="HarmonyOS Sans SC Medium" pitchFamily="2" charset="-122"/>
              </a:rPr>
              <a:t>Responses suggest that organizations are most often hiring software engineers, data engineers, and Al data scientists.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C7802105-1528-CCB3-6370-34D2A71DD900}"/>
              </a:ext>
            </a:extLst>
          </p:cNvPr>
          <p:cNvSpPr txBox="1"/>
          <p:nvPr/>
        </p:nvSpPr>
        <p:spPr>
          <a:xfrm>
            <a:off x="394357" y="6096985"/>
            <a:ext cx="69910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Only asked of respondents whose organizations have adopted Al in at least one function. For respondents at Al high performers, n = 51. For all other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E524DDF4-B7FA-F670-6336-C4310B05441C}"/>
              </a:ext>
            </a:extLst>
          </p:cNvPr>
          <p:cNvSpPr txBox="1"/>
          <p:nvPr/>
        </p:nvSpPr>
        <p:spPr>
          <a:xfrm>
            <a:off x="394356" y="6266262"/>
            <a:ext cx="1140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respondents, n =413.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5A809A-2AF9-1F0D-C04C-552D103926A3}"/>
              </a:ext>
            </a:extLst>
          </p:cNvPr>
          <p:cNvSpPr txBox="1"/>
          <p:nvPr/>
        </p:nvSpPr>
        <p:spPr>
          <a:xfrm>
            <a:off x="394356" y="940927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Al-related roles that respondents' organizations hired, past year, </a:t>
            </a:r>
            <a:r>
              <a:rPr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503" name="Chart 3">
            <a:extLst>
              <a:ext uri="{FF2B5EF4-FFF2-40B4-BE49-F238E27FC236}">
                <a16:creationId xmlns:a16="http://schemas.microsoft.com/office/drawing/2014/main" id="{DEC51799-892F-D627-D8AA-6D833FB1219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7389888"/>
              </p:ext>
            </p:extLst>
          </p:nvPr>
        </p:nvGraphicFramePr>
        <p:xfrm>
          <a:off x="2914650" y="1239838"/>
          <a:ext cx="8555038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D60AC9B-DD03-AD9D-F64A-48217159D835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15938" y="2098675"/>
            <a:ext cx="12287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6E45611-AB3D-42CB-BDB8-DBE9BED7EE33}" type="datetime'D''''at''a'' ''e''n''''''''''''''''''''''g''i''''''nee''r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17C23771-29B2-B190-7CDB-952AABDA750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15938" y="2532063"/>
            <a:ext cx="1371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13BC5D8-CED5-4350-AC22-0F67D52F6629}" type="datetime'''AI'''' d''''''a''ta ''sc''ien''''''''''''''tis''t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AI data scientists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863D5106-C423-1890-C078-6185B72E6D6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15938" y="2963863"/>
            <a:ext cx="22352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6515E2C-B2C7-46D6-9FF4-23229F3F5515}" type="datetime'M''''a''''''c''hin''e'' l''ea''rnin''''g ''e''n''''gineer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Machine learning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" name="文本占位符 2">
            <a:extLst>
              <a:ext uri="{FF2B5EF4-FFF2-40B4-BE49-F238E27FC236}">
                <a16:creationId xmlns:a16="http://schemas.microsoft.com/office/drawing/2014/main" id="{85D10745-2E4A-4392-3101-EAA3B1BB4B5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15938" y="3397250"/>
            <a:ext cx="1225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3A60F3A-7C35-4689-8F10-68C80CCC29CC}" type="datetime'D''at''a'''' ''''''a''rch''''it''''e''c''ts''''''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architects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BBA31974-F6A3-D0C7-970C-7AF194C038F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15938" y="1666875"/>
            <a:ext cx="1574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EC65D20-2ABB-4838-AA72-DECA8C43A092}" type="datetime'S''''o''ft''''wa''''''''re e''''''ng''''i''''n''e''''er''s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Software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DB62C294-B0FE-D8D4-4434-ADEDCE15FFB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15938" y="4260850"/>
            <a:ext cx="14319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504AC38-7057-4DFF-B9B4-008CB5D841F6}" type="datetime'''''D''''''''''esig''''''n sp''ec''''''ia''''lis''''''t''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Design specialists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38A0C75B-0634-8FA7-E387-ED49177DDF8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15938" y="4694238"/>
            <a:ext cx="23050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F4488D0-DE87-4EF8-AE15-B8CAC03C6789}" type="datetime'D''ata vi''su''a''''liza''ti''''on speci''a''l''''ist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visualization specialists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C4DEA0D1-819F-075E-1305-0EAAD17B2A4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15938" y="5126038"/>
            <a:ext cx="9064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D092E37-396E-4D98-9D65-F7BD57B68201}" type="datetime'''''''T''''r''''ansl''''''''''''''at''o''''r''''''''s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Translators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3ACC0271-F471-9A76-02B0-18DCDC67B8A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15938" y="5559425"/>
            <a:ext cx="15097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D846D69-12C7-471E-BD5C-2F4181D60667}" type="datetime'''No''n''''''''''''''e'' ''o''''''f t''''''''he abo''''ve''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None of the above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2B0F54FD-BF3F-2B05-7C6A-E89354C5386D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15938" y="3829050"/>
            <a:ext cx="23637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097A18A-E7CF-42D2-92EA-9FD062C5537E}" type="datetime'A''I product o''''''''wners''''''/''man''ager''''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AI product owners/managers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3892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55DF7-606D-AF06-3CEF-0874E179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4C36E63-281D-E7FF-A815-FA7A9614A3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6501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7772400" imgH="10058400" progId="TCLayout.ActiveDocument.1">
                  <p:embed/>
                </p:oleObj>
              </mc:Choice>
              <mc:Fallback>
                <p:oleObj name="think-cell 幻灯片" r:id="rId2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8E1378-C1AD-A7D6-616A-BE0E949E4E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9B29780-0633-BA16-A8A6-816F3BE993D2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/>
                </a:solidFill>
                <a:latin typeface="HarmonyOS Sans SC Medium" pitchFamily="2" charset="-122"/>
                <a:ea typeface="HarmonyOS Sans SC Medium" pitchFamily="2" charset="-122"/>
              </a:rPr>
              <a:t>Most respondents say that hiring for each Al-related role has been difficult in the past year and hasn't become easier over time.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EEBC0748-FD85-EE54-A735-36AD637D9DBE}"/>
              </a:ext>
            </a:extLst>
          </p:cNvPr>
          <p:cNvSpPr txBox="1"/>
          <p:nvPr/>
        </p:nvSpPr>
        <p:spPr>
          <a:xfrm>
            <a:off x="394357" y="6096985"/>
            <a:ext cx="7127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Only asked of respondents whose organizations have adopted Al in at least one function. Figures do not sum to 100%</a:t>
            </a:r>
            <a:r>
              <a:rPr kumimoji="1" lang="zh-CN" altLang="en-US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because respondents who said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329F1990-8F90-5AB0-95CD-A866849C1320}"/>
              </a:ext>
            </a:extLst>
          </p:cNvPr>
          <p:cNvSpPr txBox="1"/>
          <p:nvPr/>
        </p:nvSpPr>
        <p:spPr>
          <a:xfrm>
            <a:off x="394356" y="6266262"/>
            <a:ext cx="1487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"don't know" are not shown.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34D7C3-1667-5C47-F1CE-141A1CCB3D42}"/>
              </a:ext>
            </a:extLst>
          </p:cNvPr>
          <p:cNvSpPr txBox="1"/>
          <p:nvPr/>
        </p:nvSpPr>
        <p:spPr>
          <a:xfrm>
            <a:off x="394356" y="940927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Difficulty in organizations' hiring of Al-related roles, past year, </a:t>
            </a:r>
            <a:r>
              <a:rPr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graphicFrame>
        <p:nvGraphicFramePr>
          <p:cNvPr id="263" name="Chart 3">
            <a:extLst>
              <a:ext uri="{FF2B5EF4-FFF2-40B4-BE49-F238E27FC236}">
                <a16:creationId xmlns:a16="http://schemas.microsoft.com/office/drawing/2014/main" id="{07AC18D0-8352-EF2E-25BE-952E3E89F79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38741390"/>
              </p:ext>
            </p:extLst>
          </p:nvPr>
        </p:nvGraphicFramePr>
        <p:xfrm>
          <a:off x="2914650" y="1436688"/>
          <a:ext cx="8337550" cy="4789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D3BA372-00D6-D6A6-547D-9C66B5BD87B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15938" y="2343150"/>
            <a:ext cx="12287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6E45611-AB3D-42CB-BDB8-DBE9BED7EE33}" type="datetime'D''''at''a'' ''e''n''''''''''''''''''''''g''i''''''nee''r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F52BA548-B91A-4F15-2F6C-2EB9C7B4590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15938" y="2806700"/>
            <a:ext cx="1371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13BC5D8-CED5-4350-AC22-0F67D52F6629}" type="datetime'''AI'''' d''''''a''ta ''sc''ien''''''''''''''tis''t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AI data scientists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F05C46F9-906D-B6F2-A341-E0619D6B3A3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15938" y="3270250"/>
            <a:ext cx="22352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6515E2C-B2C7-46D6-9FF4-23229F3F5515}" type="datetime'M''''a''''''c''hin''e'' l''ea''rnin''''g ''e''n''''gineer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Machine learning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" name="文本占位符 2">
            <a:extLst>
              <a:ext uri="{FF2B5EF4-FFF2-40B4-BE49-F238E27FC236}">
                <a16:creationId xmlns:a16="http://schemas.microsoft.com/office/drawing/2014/main" id="{68885B9D-1225-5840-6502-8BDFD60A964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15938" y="3735388"/>
            <a:ext cx="1225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3A60F3A-7C35-4689-8F10-68C80CCC29CC}" type="datetime'D''at''a'''' ''''''a''rch''''it''''e''c''ts''''''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architects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B17CFEA4-7E4E-FA81-84AF-90B07F8CEF4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15938" y="4198938"/>
            <a:ext cx="23637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097A18A-E7CF-42D2-92EA-9FD062C5537E}" type="datetime'A''I product o''''''''wners''''''/''man''ager''''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AI product owners/managers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F896571E-734A-62A4-45E9-5404B007BE9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15938" y="4662488"/>
            <a:ext cx="14319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504AC38-7057-4DFF-B9B4-008CB5D841F6}" type="datetime'''''D''''''''''esig''''''n sp''ec''''''ia''''lis''''''t''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Design specialists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A6254DFD-17AE-0696-A8D0-96172D65A9A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15938" y="5127625"/>
            <a:ext cx="23050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F4488D0-DE87-4EF8-AE15-B8CAC03C6789}" type="datetime'D''ata vi''su''a''''liza''ti''''on speci''a''l''''ists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visualization specialists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4290D282-308D-C6B5-E403-36208ECC2B7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15938" y="5591175"/>
            <a:ext cx="9064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D092E37-396E-4D98-9D65-F7BD57B68201}" type="datetime'''''''T''''r''''ansl''''''''''''''at''o''''r''''''''s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Translators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29445F58-8C0A-3FF1-0AB5-E53F9AD54A1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15938" y="1878013"/>
            <a:ext cx="1574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EC65D20-2ABB-4838-AA72-DECA8C43A092}" type="datetime'S''''o''ft''''wa''''''''re e''''''ng''''i''''n''e''''er''s'''">
              <a:rPr kumimoji="1" lang="en-US" altLang="en-US" sz="14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Software engineers</a:t>
            </a:fld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B8270844-DBD8-BAC3-1091-ED3E794F0BA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0883900" y="2343150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F896A9B-4EA9-4A5B-A439-4CC381A74916}" type="datetime'''''''''''''''''''''''1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文本占位符 2">
            <a:extLst>
              <a:ext uri="{FF2B5EF4-FFF2-40B4-BE49-F238E27FC236}">
                <a16:creationId xmlns:a16="http://schemas.microsoft.com/office/drawing/2014/main" id="{DE21316A-581D-91E1-9B17-D92BE422FED2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10717213" y="2806700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9A1C85A-E0D8-45FB-A2DC-2C0AF3C7D69E}" type="datetime'''''''''''''''''''1''''''''''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11A93BE0-444E-FEEB-97A8-A9ED56B0F972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11050588" y="3270250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C9F0368-0164-4FB4-A072-589F376B5012}" type="datetime'''''''''''''''''''1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59" name="文本占位符 2">
            <a:extLst>
              <a:ext uri="{FF2B5EF4-FFF2-40B4-BE49-F238E27FC236}">
                <a16:creationId xmlns:a16="http://schemas.microsoft.com/office/drawing/2014/main" id="{5214BA3B-2F93-6992-8A0C-CCF56B05AAD2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10883900" y="3735388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63565F4-FD77-4152-B554-DAF9DFE5AAC6}" type="datetime'''''''''''''''''1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1" name="文本占位符 2">
            <a:extLst>
              <a:ext uri="{FF2B5EF4-FFF2-40B4-BE49-F238E27FC236}">
                <a16:creationId xmlns:a16="http://schemas.microsoft.com/office/drawing/2014/main" id="{DBA24D64-7853-404C-CB4B-A8F30882DA4C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10801350" y="4198938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429513-E56D-45C1-A8E1-9AD7E9CF1FDE}" type="datetime'''''''''1''''''''''''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3" name="文本占位符 2">
            <a:extLst>
              <a:ext uri="{FF2B5EF4-FFF2-40B4-BE49-F238E27FC236}">
                <a16:creationId xmlns:a16="http://schemas.microsoft.com/office/drawing/2014/main" id="{ECAB9C0D-C595-0E56-022B-24A2A4F42EEC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10717213" y="4662488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C7B2730-05E1-40B5-AC80-B3C69BE609AF}" type="datetime'1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95" name="文本占位符 2">
            <a:extLst>
              <a:ext uri="{FF2B5EF4-FFF2-40B4-BE49-F238E27FC236}">
                <a16:creationId xmlns:a16="http://schemas.microsoft.com/office/drawing/2014/main" id="{23A13E3A-912E-8493-093C-7798DCA6B0F6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10801350" y="5127625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126D27-F3E0-4970-B52F-5323A585990A}" type="datetime'''''''''''''''''''''1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4CFB576C-DDC0-5207-8A04-F25A8EF8286E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0883900" y="1878013"/>
            <a:ext cx="152400" cy="192088"/>
          </a:xfrm>
          <a:prstGeom prst="rect">
            <a:avLst/>
          </a:prstGeom>
          <a:solidFill>
            <a:srgbClr val="43CEFC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63305A8-79FB-4749-B543-CB7DFDC2D6DE}" type="datetime'''''''''''''''''''''''''''''''''1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77A1B139-E9F6-3183-A849-807922FE41F9}"/>
              </a:ext>
            </a:extLst>
          </p:cNvPr>
          <p:cNvSpPr/>
          <p:nvPr/>
        </p:nvSpPr>
        <p:spPr>
          <a:xfrm>
            <a:off x="2981747" y="1359678"/>
            <a:ext cx="178280" cy="178280"/>
          </a:xfrm>
          <a:prstGeom prst="rect">
            <a:avLst/>
          </a:prstGeom>
          <a:solidFill>
            <a:srgbClr val="4481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EE4AEA55-4538-DAFB-0FAF-78FC2F51024A}"/>
              </a:ext>
            </a:extLst>
          </p:cNvPr>
          <p:cNvSpPr txBox="1"/>
          <p:nvPr/>
        </p:nvSpPr>
        <p:spPr>
          <a:xfrm>
            <a:off x="3160027" y="1292054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Very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difficult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9A77CEA4-F3CC-085D-E8D4-AA0C92BE7746}"/>
              </a:ext>
            </a:extLst>
          </p:cNvPr>
          <p:cNvSpPr/>
          <p:nvPr/>
        </p:nvSpPr>
        <p:spPr>
          <a:xfrm>
            <a:off x="3991573" y="1354936"/>
            <a:ext cx="178280" cy="178280"/>
          </a:xfrm>
          <a:prstGeom prst="rect">
            <a:avLst/>
          </a:prstGeom>
          <a:solidFill>
            <a:srgbClr val="78A7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ED32E044-7FC7-A542-1464-0CE5DA567D0A}"/>
              </a:ext>
            </a:extLst>
          </p:cNvPr>
          <p:cNvSpPr txBox="1"/>
          <p:nvPr/>
        </p:nvSpPr>
        <p:spPr>
          <a:xfrm>
            <a:off x="4169853" y="1287312"/>
            <a:ext cx="803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Somewhat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difficult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C1144E3-3309-BFAD-F1EC-796BF4B1A3CF}"/>
              </a:ext>
            </a:extLst>
          </p:cNvPr>
          <p:cNvSpPr/>
          <p:nvPr/>
        </p:nvSpPr>
        <p:spPr>
          <a:xfrm>
            <a:off x="5085362" y="1354936"/>
            <a:ext cx="178280" cy="1782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F98284AE-1829-9B7F-E219-5A364FC7539B}"/>
              </a:ext>
            </a:extLst>
          </p:cNvPr>
          <p:cNvSpPr txBox="1"/>
          <p:nvPr/>
        </p:nvSpPr>
        <p:spPr>
          <a:xfrm>
            <a:off x="5263642" y="1287312"/>
            <a:ext cx="902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Neither easy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nor difficult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AA497AAF-FF62-1F8E-E408-62BD42FA0E58}"/>
              </a:ext>
            </a:extLst>
          </p:cNvPr>
          <p:cNvSpPr/>
          <p:nvPr/>
        </p:nvSpPr>
        <p:spPr>
          <a:xfrm>
            <a:off x="6289498" y="1350194"/>
            <a:ext cx="178280" cy="178280"/>
          </a:xfrm>
          <a:prstGeom prst="rect">
            <a:avLst/>
          </a:prstGeom>
          <a:solidFill>
            <a:srgbClr val="7FE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872828E9-49D5-BB8C-0847-BCAAD3930E9A}"/>
              </a:ext>
            </a:extLst>
          </p:cNvPr>
          <p:cNvSpPr txBox="1"/>
          <p:nvPr/>
        </p:nvSpPr>
        <p:spPr>
          <a:xfrm>
            <a:off x="6467778" y="1282570"/>
            <a:ext cx="792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Somewhat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easy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DCFE0145-B584-DBF1-8CFD-8F01741CAAB1}"/>
              </a:ext>
            </a:extLst>
          </p:cNvPr>
          <p:cNvSpPr/>
          <p:nvPr/>
        </p:nvSpPr>
        <p:spPr>
          <a:xfrm>
            <a:off x="7377670" y="1361903"/>
            <a:ext cx="178280" cy="178280"/>
          </a:xfrm>
          <a:prstGeom prst="rect">
            <a:avLst/>
          </a:prstGeom>
          <a:solidFill>
            <a:srgbClr val="43CE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6EE837AE-E311-B535-2F74-F7DDC6C0CCC0}"/>
              </a:ext>
            </a:extLst>
          </p:cNvPr>
          <p:cNvSpPr txBox="1"/>
          <p:nvPr/>
        </p:nvSpPr>
        <p:spPr>
          <a:xfrm>
            <a:off x="7555950" y="1294279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Very</a:t>
            </a:r>
          </a:p>
          <a:p>
            <a:r>
              <a:rPr kumimoji="1" lang="en-US" altLang="zh-CN" sz="1000" dirty="0" err="1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eaSy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40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25E47-51B6-A309-F1D3-DD3E0786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7E14F4-FFF2-3112-2E6A-E7C51DF550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05368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C36E63-281D-E7FF-A815-FA7A9614A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133A766-7D68-454B-1496-C2D1C414A1FF}"/>
              </a:ext>
            </a:extLst>
          </p:cNvPr>
          <p:cNvSpPr txBox="1"/>
          <p:nvPr/>
        </p:nvSpPr>
        <p:spPr>
          <a:xfrm>
            <a:off x="394357" y="263819"/>
            <a:ext cx="11172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/>
                </a:solidFill>
                <a:latin typeface="HarmonyOS Sans SC Medium" pitchFamily="2" charset="-122"/>
                <a:ea typeface="HarmonyOS Sans SC Medium" pitchFamily="2" charset="-122"/>
              </a:rPr>
              <a:t>Al high performers are much more likely than others to have hired Al data scientists, machine learning engineers, and translators in the past year.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730C8F55-32AA-F7AA-C4FC-0A777A92AC66}"/>
              </a:ext>
            </a:extLst>
          </p:cNvPr>
          <p:cNvSpPr txBox="1"/>
          <p:nvPr/>
        </p:nvSpPr>
        <p:spPr>
          <a:xfrm>
            <a:off x="394357" y="6096985"/>
            <a:ext cx="63786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Only asked of respondents whose organizations have adopted Al in at least one function. For respondents at Al high performers, n =51.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93F6866C-C1ED-FF7A-73FF-4D4309A5FE5B}"/>
              </a:ext>
            </a:extLst>
          </p:cNvPr>
          <p:cNvSpPr txBox="1"/>
          <p:nvPr/>
        </p:nvSpPr>
        <p:spPr>
          <a:xfrm>
            <a:off x="394356" y="6266262"/>
            <a:ext cx="1752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For all other respondents, n = 413.</a:t>
            </a:r>
            <a:endParaRPr kumimoji="1" lang="zh-CN" altLang="en-US" sz="8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BDA7CC-96E2-F304-4157-35F20164C35F}"/>
              </a:ext>
            </a:extLst>
          </p:cNvPr>
          <p:cNvSpPr txBox="1"/>
          <p:nvPr/>
        </p:nvSpPr>
        <p:spPr>
          <a:xfrm>
            <a:off x="394356" y="940927"/>
            <a:ext cx="7526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Al-related roles that respondents' organizations hired, past year, </a:t>
            </a:r>
            <a:r>
              <a:rPr lang="en-US" altLang="zh-CN" sz="12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lang="en-US" altLang="zh-CN" sz="12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55DF26E7-E29D-BFDF-58C5-1B5804A661DD}"/>
              </a:ext>
            </a:extLst>
          </p:cNvPr>
          <p:cNvSpPr/>
          <p:nvPr/>
        </p:nvSpPr>
        <p:spPr>
          <a:xfrm>
            <a:off x="9022010" y="5458350"/>
            <a:ext cx="178280" cy="178280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66DCE97D-345B-C053-5E8D-C287C4F2E42D}"/>
              </a:ext>
            </a:extLst>
          </p:cNvPr>
          <p:cNvSpPr txBox="1"/>
          <p:nvPr/>
        </p:nvSpPr>
        <p:spPr>
          <a:xfrm>
            <a:off x="9200290" y="5434112"/>
            <a:ext cx="21900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Respondents at Al high performers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6EBB0279-CAB7-8AC2-A970-6871C8EFEEF5}"/>
              </a:ext>
            </a:extLst>
          </p:cNvPr>
          <p:cNvSpPr/>
          <p:nvPr/>
        </p:nvSpPr>
        <p:spPr>
          <a:xfrm>
            <a:off x="9022010" y="5747463"/>
            <a:ext cx="178280" cy="178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E82617A7-FE47-46C5-53B9-2C1E4D952E19}"/>
              </a:ext>
            </a:extLst>
          </p:cNvPr>
          <p:cNvSpPr txBox="1"/>
          <p:nvPr/>
        </p:nvSpPr>
        <p:spPr>
          <a:xfrm>
            <a:off x="9228061" y="5713492"/>
            <a:ext cx="1423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All other respondents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501" name="Chart 3">
            <a:extLst>
              <a:ext uri="{FF2B5EF4-FFF2-40B4-BE49-F238E27FC236}">
                <a16:creationId xmlns:a16="http://schemas.microsoft.com/office/drawing/2014/main" id="{E4DD3236-48DE-7EE9-001C-33F3D84BDEF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9406193"/>
              </p:ext>
            </p:extLst>
          </p:nvPr>
        </p:nvGraphicFramePr>
        <p:xfrm>
          <a:off x="2630488" y="1184275"/>
          <a:ext cx="8604250" cy="5084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7F716845-13B4-764C-4DD2-4547B90CB2F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498475" y="2049463"/>
            <a:ext cx="10572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1820B22-E8E1-4B73-940C-13B4531400B9}" type="datetime'D''a''t''''''''a ''e''''''n''gi''''''ne''''''''''e''r''''s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engineers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EE77ECAB-28CA-AEA8-22A9-6F01608D753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498475" y="2505075"/>
            <a:ext cx="11747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C6AA230C-4F6A-4C99-BF1F-0F3624570395}" type="datetime'''''''''Al'' d''''a''''t''''a sci''e''ntists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Al data scientists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7C8F4407-1AC7-A16F-2256-BACDECB29CC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98475" y="2878138"/>
            <a:ext cx="11953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252F571-6E8D-4677-9FD0-491A378C6ED3}" type="datetime'Machine ''l''e''a''''rning&#10;e''ng''i''''ne''e''r''s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Machine learning
engineers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A8AC18D0-4C20-2669-95E0-6D7E205920E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98475" y="3416300"/>
            <a:ext cx="10509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F5AE315-AA00-4518-BDDA-7880200A3C80}" type="datetime'''D''''a''''''t''a ''''''a''r''c''h''''''''ite''c''''''''ts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architects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B826CE-E71A-5759-CFD1-FBC2D9B217D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98475" y="1595438"/>
            <a:ext cx="13557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C7B973F-C612-4DCB-BF7F-75E8D0C3C63C}" type="datetime'''''''S''''''''o''''''''f''t''''w''are'' e''ngineer''s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Software engineers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3" name="文本占位符 2">
            <a:extLst>
              <a:ext uri="{FF2B5EF4-FFF2-40B4-BE49-F238E27FC236}">
                <a16:creationId xmlns:a16="http://schemas.microsoft.com/office/drawing/2014/main" id="{C205DF9F-29B2-104E-F934-19B5D5EFB30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498475" y="4243388"/>
            <a:ext cx="21129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F1679CE-7C79-408F-B542-81DC13A9DB1A}" type="thinkcell&lt;?xml version=&quot;1.0&quot; encoding=&quot;UTF-16&quot; standalone=&quot;yes&quot;?&gt;&lt;root reqver=&quot;28224&quot;&gt;&lt;version val=&quot;35557&quot;/&gt;&lt;PersistentType&gt;&lt;m_guid val=&quot;628c16da-0d84-4947-b3c6-399c9ad11695&quot;/&gt;&lt;m_prec&gt;&lt;m_yearfmt&gt;&lt;begin val=&quot;0&quot;/&gt;&lt;end val=&quot;4&quot;/&gt;&lt;/m_yearfmt&gt;&lt;/m_prec&gt;&lt;m_bUseExcelFont val=&quot;0&quot;/&gt;&lt;m_bUseExcelFontColor val=&quot;0&quot;/&gt;&lt;/PersistentType&gt;&lt;/root&gt;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Design specialists （eg, user
interface, experience design）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1AEB80C3-F02A-8C8A-22F7-7EA35FC49FB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498475" y="4781550"/>
            <a:ext cx="1976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7F3ED10-00C8-4C9B-985B-541599C1CD90}" type="datetime'Da''ta vis''''''u''''aliza''tio''''n s''pecialis''''ts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Data visualization specialists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D7EAE4-DC0D-3C8C-4097-DDBDB2C29FC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98475" y="5235575"/>
            <a:ext cx="7778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FA90414-64A2-4216-8A72-E20E0FCF7EDF}" type="datetime'''''''T''''''ran''''''''s''''''''''''''''''''''''''lato''rs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Translators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53" name="文本占位符 2">
            <a:extLst>
              <a:ext uri="{FF2B5EF4-FFF2-40B4-BE49-F238E27FC236}">
                <a16:creationId xmlns:a16="http://schemas.microsoft.com/office/drawing/2014/main" id="{93878D20-6D11-BF68-A55D-12897D0169E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98475" y="5691188"/>
            <a:ext cx="12985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C77AF09-A745-4263-943D-64EB851BBD50}" type="datetime'No''''ne ''of'' ''''''''''the'''''''''''' a''bo''''ve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None of the above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FE104B24-4D44-4167-1F9F-8F0E7FB56C88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498475" y="3787775"/>
            <a:ext cx="13398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8236D1D-DE98-46F8-96C1-0B21AD9760F6}" type="datetime'Al ''p''''ro''''d''uc''t ''o''w''''ne''rs/&#10;m''a''na''gers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Al product owners/
managers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15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48BC0-D165-F982-2400-5CA9283A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54FE7C-82DE-B6E4-BF25-48C28D558B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7772400" imgH="10058400" progId="TCLayout.ActiveDocument.1">
                  <p:embed/>
                </p:oleObj>
              </mc:Choice>
              <mc:Fallback>
                <p:oleObj name="think-cell 幻灯片" r:id="rId2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54FE7C-82DE-B6E4-BF25-48C28D558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51E03F9-DF98-BDA3-C742-AF4986F68D41}"/>
              </a:ext>
            </a:extLst>
          </p:cNvPr>
          <p:cNvSpPr txBox="1"/>
          <p:nvPr/>
        </p:nvSpPr>
        <p:spPr>
          <a:xfrm>
            <a:off x="414604" y="238539"/>
            <a:ext cx="6928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New York City visitors increasingly venture beyond Manhattan.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67FBA6-B026-A5EF-FAC4-9E5B54A9BD3A}"/>
              </a:ext>
            </a:extLst>
          </p:cNvPr>
          <p:cNvSpPr txBox="1"/>
          <p:nvPr/>
        </p:nvSpPr>
        <p:spPr>
          <a:xfrm>
            <a:off x="414604" y="655591"/>
            <a:ext cx="5363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Annual visits to New York City and Long Island,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million visitors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4E35D206-1107-A790-AF19-62F349DB0D8B}"/>
              </a:ext>
            </a:extLst>
          </p:cNvPr>
          <p:cNvSpPr txBox="1"/>
          <p:nvPr/>
        </p:nvSpPr>
        <p:spPr>
          <a:xfrm>
            <a:off x="414604" y="6095168"/>
            <a:ext cx="11432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Visitors with a mobile "home" location &gt;50 miles away.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Placer Labs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" name="Chart 3">
            <a:extLst>
              <a:ext uri="{FF2B5EF4-FFF2-40B4-BE49-F238E27FC236}">
                <a16:creationId xmlns:a16="http://schemas.microsoft.com/office/drawing/2014/main" id="{4693587F-E7AA-4B51-27E8-82C9F3E702C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42913" y="4625975"/>
          <a:ext cx="1392237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51" name="文本占位符 2">
            <a:extLst>
              <a:ext uri="{FF2B5EF4-FFF2-40B4-BE49-F238E27FC236}">
                <a16:creationId xmlns:a16="http://schemas.microsoft.com/office/drawing/2014/main" id="{A73F9993-773D-9BB3-EE8D-A847F7269F6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704850" y="487997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69F883B-997B-4F3E-9A4F-3DB1E758156E}" type="datetime'''2'''''''''''''''''',''''''3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2,3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2" name="文本占位符 2">
            <a:extLst>
              <a:ext uri="{FF2B5EF4-FFF2-40B4-BE49-F238E27FC236}">
                <a16:creationId xmlns:a16="http://schemas.microsoft.com/office/drawing/2014/main" id="{C7BBA499-D6E5-E1CE-F202-82A12E76467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1317625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C57DE02-C46E-44E8-BAF7-9C38B5218179}" type="datetime'''2'''''''''''''''''''',4'''''''''''''''''''">
              <a:rPr kumimoji="1" lang="zh-CN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2,4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56" name="图表 55">
            <a:extLst>
              <a:ext uri="{FF2B5EF4-FFF2-40B4-BE49-F238E27FC236}">
                <a16:creationId xmlns:a16="http://schemas.microsoft.com/office/drawing/2014/main" id="{FA96DE9A-C757-C9E1-0CB1-64EB9BBE9C07}"/>
              </a:ext>
            </a:extLst>
          </p:cNvPr>
          <p:cNvGraphicFramePr>
            <a:graphicFrameLocks/>
          </p:cNvGraphicFramePr>
          <p:nvPr/>
        </p:nvGraphicFramePr>
        <p:xfrm>
          <a:off x="-155574" y="2090747"/>
          <a:ext cx="2461452" cy="2445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58" name="文本框 57">
            <a:extLst>
              <a:ext uri="{FF2B5EF4-FFF2-40B4-BE49-F238E27FC236}">
                <a16:creationId xmlns:a16="http://schemas.microsoft.com/office/drawing/2014/main" id="{8D38E6FD-F95D-ECC4-E81A-A609533B4933}"/>
              </a:ext>
            </a:extLst>
          </p:cNvPr>
          <p:cNvSpPr txBox="1"/>
          <p:nvPr/>
        </p:nvSpPr>
        <p:spPr>
          <a:xfrm>
            <a:off x="664368" y="1062959"/>
            <a:ext cx="949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Manhattan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B2178C-3B25-52E2-001D-CE4CC304BDD6}"/>
              </a:ext>
            </a:extLst>
          </p:cNvPr>
          <p:cNvGrpSpPr/>
          <p:nvPr/>
        </p:nvGrpSpPr>
        <p:grpSpPr>
          <a:xfrm>
            <a:off x="549276" y="1430152"/>
            <a:ext cx="1114818" cy="1000695"/>
            <a:chOff x="646113" y="1423617"/>
            <a:chExt cx="1285875" cy="1000695"/>
          </a:xfrm>
        </p:grpSpPr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E1A04207-92C4-E52D-BF85-B86DE33BAF7B}"/>
                </a:ext>
              </a:extLst>
            </p:cNvPr>
            <p:cNvCxnSpPr/>
            <p:nvPr/>
          </p:nvCxnSpPr>
          <p:spPr>
            <a:xfrm flipV="1">
              <a:off x="646113" y="1423617"/>
              <a:ext cx="0" cy="66713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C21B0253-D21E-3CF9-A521-5C548B65B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988" y="1423617"/>
              <a:ext cx="0" cy="100069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72AD2C90-B263-A836-E693-741AD51C7EBA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" y="1423617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7" name="Chart 3">
            <a:extLst>
              <a:ext uri="{FF2B5EF4-FFF2-40B4-BE49-F238E27FC236}">
                <a16:creationId xmlns:a16="http://schemas.microsoft.com/office/drawing/2014/main" id="{D33BC3E4-8027-6374-4922-A451A0A63CDD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2008188" y="4625975"/>
          <a:ext cx="1392237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71" name="文本占位符 2">
            <a:extLst>
              <a:ext uri="{FF2B5EF4-FFF2-40B4-BE49-F238E27FC236}">
                <a16:creationId xmlns:a16="http://schemas.microsoft.com/office/drawing/2014/main" id="{A1C1AF62-38E9-AE57-2DA2-C13EBDBE16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2270125" y="488950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987E53A-AE9A-4342-AFC6-A868A4250949}" type="datetime'''''2'''''''''''''''''''''''',''''''''''3''''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2,3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2" name="文本占位符 2">
            <a:extLst>
              <a:ext uri="{FF2B5EF4-FFF2-40B4-BE49-F238E27FC236}">
                <a16:creationId xmlns:a16="http://schemas.microsoft.com/office/drawing/2014/main" id="{0BBF5FDF-7E34-1314-EED3-7B5388F96B3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2882900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1B2B6AC-7143-4574-8A1D-9FA56F5C8CD6}" type="datetime'2'''''''''''''''''''''''''''''''''''''''',''5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2,5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5274362-6FFD-A2B5-0D7B-CB41BF7CC1A2}"/>
              </a:ext>
            </a:extLst>
          </p:cNvPr>
          <p:cNvSpPr txBox="1"/>
          <p:nvPr/>
        </p:nvSpPr>
        <p:spPr>
          <a:xfrm>
            <a:off x="2397919" y="1062384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Queens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5962FED-5827-72E6-ABD5-5EDCD08DFE01}"/>
              </a:ext>
            </a:extLst>
          </p:cNvPr>
          <p:cNvGrpSpPr/>
          <p:nvPr/>
        </p:nvGrpSpPr>
        <p:grpSpPr>
          <a:xfrm>
            <a:off x="2180865" y="1417881"/>
            <a:ext cx="1094174" cy="2005012"/>
            <a:chOff x="2549525" y="1423988"/>
            <a:chExt cx="1285876" cy="2005012"/>
          </a:xfrm>
        </p:grpSpPr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A54BBA35-0C0C-7F54-1111-E56AC0672D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525" y="1423988"/>
              <a:ext cx="0" cy="2005012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8F0253A9-711F-90D3-4FB5-EF07FB909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5400" y="1423988"/>
              <a:ext cx="0" cy="2005012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7B08A11B-E4D2-B9EE-56F8-4F94A7A4EE75}"/>
                </a:ext>
              </a:extLst>
            </p:cNvPr>
            <p:cNvCxnSpPr>
              <a:cxnSpLocks/>
            </p:cNvCxnSpPr>
            <p:nvPr/>
          </p:nvCxnSpPr>
          <p:spPr>
            <a:xfrm>
              <a:off x="257333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6" name="图表 85">
            <a:extLst>
              <a:ext uri="{FF2B5EF4-FFF2-40B4-BE49-F238E27FC236}">
                <a16:creationId xmlns:a16="http://schemas.microsoft.com/office/drawing/2014/main" id="{D5648CC3-A01A-71B9-1FEF-FD752301555E}"/>
              </a:ext>
            </a:extLst>
          </p:cNvPr>
          <p:cNvGraphicFramePr>
            <a:graphicFrameLocks/>
          </p:cNvGraphicFramePr>
          <p:nvPr/>
        </p:nvGraphicFramePr>
        <p:xfrm>
          <a:off x="1522413" y="3396582"/>
          <a:ext cx="2422525" cy="1178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28" name="Chart 3">
            <a:extLst>
              <a:ext uri="{FF2B5EF4-FFF2-40B4-BE49-F238E27FC236}">
                <a16:creationId xmlns:a16="http://schemas.microsoft.com/office/drawing/2014/main" id="{2816E614-64AA-FA15-4D29-51103E0542AB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3676650" y="4625975"/>
          <a:ext cx="1392238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94" name="文本占位符 2">
            <a:extLst>
              <a:ext uri="{FF2B5EF4-FFF2-40B4-BE49-F238E27FC236}">
                <a16:creationId xmlns:a16="http://schemas.microsoft.com/office/drawing/2014/main" id="{51E34CB4-E189-1B2B-6439-3514FFEB121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3938588" y="488473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FE6A11E-65EB-48DB-879E-FAC0AC7986D8}" type="datetime'''''''''''''''''2'''''''',''''9''''''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2,9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422D0D15-1DDA-6809-798B-54A8D6924C2D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4551363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6BC729C-A93A-4934-9E29-55D78A678926}" type="datetime'''''3'''''''''''''''''''''''''''''''''''''''',1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B411E18-276E-FEFA-6E7E-AAE0C881F7D3}"/>
              </a:ext>
            </a:extLst>
          </p:cNvPr>
          <p:cNvSpPr txBox="1"/>
          <p:nvPr/>
        </p:nvSpPr>
        <p:spPr>
          <a:xfrm>
            <a:off x="3974601" y="1056887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Brooklyn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71D4DE3-EAB8-AE61-2713-359EE3123AD8}"/>
              </a:ext>
            </a:extLst>
          </p:cNvPr>
          <p:cNvGrpSpPr/>
          <p:nvPr/>
        </p:nvGrpSpPr>
        <p:grpSpPr>
          <a:xfrm>
            <a:off x="3812393" y="1424527"/>
            <a:ext cx="1115207" cy="2052420"/>
            <a:chOff x="4435475" y="1423988"/>
            <a:chExt cx="1285876" cy="2052420"/>
          </a:xfrm>
        </p:grpSpPr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7585BCE3-9400-10F6-D599-AE5B71C93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5475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线连接符 138">
              <a:extLst>
                <a:ext uri="{FF2B5EF4-FFF2-40B4-BE49-F238E27FC236}">
                  <a16:creationId xmlns:a16="http://schemas.microsoft.com/office/drawing/2014/main" id="{54657083-F2C5-41E8-7B42-EAA0C6CEE9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1350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>
              <a:extLst>
                <a:ext uri="{FF2B5EF4-FFF2-40B4-BE49-F238E27FC236}">
                  <a16:creationId xmlns:a16="http://schemas.microsoft.com/office/drawing/2014/main" id="{13EF4192-5779-674D-9EF4-31985E821E17}"/>
                </a:ext>
              </a:extLst>
            </p:cNvPr>
            <p:cNvCxnSpPr>
              <a:cxnSpLocks/>
            </p:cNvCxnSpPr>
            <p:nvPr/>
          </p:nvCxnSpPr>
          <p:spPr>
            <a:xfrm>
              <a:off x="445928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1" name="图表 140">
            <a:extLst>
              <a:ext uri="{FF2B5EF4-FFF2-40B4-BE49-F238E27FC236}">
                <a16:creationId xmlns:a16="http://schemas.microsoft.com/office/drawing/2014/main" id="{23434332-D2B0-36CD-EC60-BD3313011DA8}"/>
              </a:ext>
            </a:extLst>
          </p:cNvPr>
          <p:cNvGraphicFramePr>
            <a:graphicFrameLocks/>
          </p:cNvGraphicFramePr>
          <p:nvPr/>
        </p:nvGraphicFramePr>
        <p:xfrm>
          <a:off x="3143250" y="3227052"/>
          <a:ext cx="2462213" cy="1060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graphicFrame>
        <p:nvGraphicFramePr>
          <p:cNvPr id="53" name="Chart 3">
            <a:extLst>
              <a:ext uri="{FF2B5EF4-FFF2-40B4-BE49-F238E27FC236}">
                <a16:creationId xmlns:a16="http://schemas.microsoft.com/office/drawing/2014/main" id="{646EAA62-BF6F-FF6B-1EA0-9F88659D4F45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5441950" y="4625975"/>
          <a:ext cx="1392238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04FB1183-B239-4336-BF3A-41F94E35BD5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5703888" y="490537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DE1014E-0591-4905-B4D1-BF0BCAE4D836}" type="datetime'''2'''''''''''''''',9''''''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2,9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6" name="文本占位符 2">
            <a:extLst>
              <a:ext uri="{FF2B5EF4-FFF2-40B4-BE49-F238E27FC236}">
                <a16:creationId xmlns:a16="http://schemas.microsoft.com/office/drawing/2014/main" id="{51468DF5-D4FD-0980-423E-C69994BB1593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6316663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DB3E882-476A-4C62-878F-BEF6BA376C96}" type="datetime'''''''3'''''''''''',''''''''''''4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3,4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B4FC7F5-DDF5-7C07-B74E-DD3327169CAE}"/>
              </a:ext>
            </a:extLst>
          </p:cNvPr>
          <p:cNvSpPr txBox="1"/>
          <p:nvPr/>
        </p:nvSpPr>
        <p:spPr>
          <a:xfrm>
            <a:off x="5785934" y="1065165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Bronx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58C0150-266E-47F4-5B7F-6273953B5B06}"/>
              </a:ext>
            </a:extLst>
          </p:cNvPr>
          <p:cNvGrpSpPr/>
          <p:nvPr/>
        </p:nvGrpSpPr>
        <p:grpSpPr>
          <a:xfrm>
            <a:off x="5520128" y="1419990"/>
            <a:ext cx="1110884" cy="2229398"/>
            <a:chOff x="6321425" y="1423988"/>
            <a:chExt cx="1285876" cy="2229398"/>
          </a:xfrm>
        </p:grpSpPr>
        <p:cxnSp>
          <p:nvCxnSpPr>
            <p:cNvPr id="148" name="直线连接符 147">
              <a:extLst>
                <a:ext uri="{FF2B5EF4-FFF2-40B4-BE49-F238E27FC236}">
                  <a16:creationId xmlns:a16="http://schemas.microsoft.com/office/drawing/2014/main" id="{2E511878-F59C-2243-6134-FF7FD5F7D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1425" y="1423988"/>
              <a:ext cx="0" cy="2229398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线连接符 148">
              <a:extLst>
                <a:ext uri="{FF2B5EF4-FFF2-40B4-BE49-F238E27FC236}">
                  <a16:creationId xmlns:a16="http://schemas.microsoft.com/office/drawing/2014/main" id="{071E7CE9-FBF6-0F28-E722-29858DED8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7300" y="1423988"/>
              <a:ext cx="0" cy="2229398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线连接符 149">
              <a:extLst>
                <a:ext uri="{FF2B5EF4-FFF2-40B4-BE49-F238E27FC236}">
                  <a16:creationId xmlns:a16="http://schemas.microsoft.com/office/drawing/2014/main" id="{DF07270C-57A0-DED1-B088-8358680E4BB6}"/>
                </a:ext>
              </a:extLst>
            </p:cNvPr>
            <p:cNvCxnSpPr>
              <a:cxnSpLocks/>
            </p:cNvCxnSpPr>
            <p:nvPr/>
          </p:nvCxnSpPr>
          <p:spPr>
            <a:xfrm>
              <a:off x="634523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43046F9D-F8E9-4CF3-39F1-E09FEB5028F1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7115175" y="4625975"/>
          <a:ext cx="1392238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155" name="文本占位符 2">
            <a:extLst>
              <a:ext uri="{FF2B5EF4-FFF2-40B4-BE49-F238E27FC236}">
                <a16:creationId xmlns:a16="http://schemas.microsoft.com/office/drawing/2014/main" id="{20AA6CCF-F90E-7EC6-FF10-F4D3814D0F8E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7377113" y="491490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8E6976F-405E-41C4-9D67-508C76443B3F}" type="datetime'''3,''''''''''''''''''1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6" name="文本占位符 2">
            <a:extLst>
              <a:ext uri="{FF2B5EF4-FFF2-40B4-BE49-F238E27FC236}">
                <a16:creationId xmlns:a16="http://schemas.microsoft.com/office/drawing/2014/main" id="{6FBA23D2-C289-E1F9-C60C-3FA1A0CFFE8A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7989888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B2AE720-BC20-4453-B658-A7E78743F293}" type="datetime'''''''''3'''''''''''''''''''''''''''''''''''''''''',''''''8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3,8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99E43CE-18AF-BF44-0DCB-4D591A7D756B}"/>
              </a:ext>
            </a:extLst>
          </p:cNvPr>
          <p:cNvSpPr txBox="1"/>
          <p:nvPr/>
        </p:nvSpPr>
        <p:spPr>
          <a:xfrm>
            <a:off x="7231076" y="1051338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Staten Island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C7A2767-5E80-DB2E-12C0-770028B86F04}"/>
              </a:ext>
            </a:extLst>
          </p:cNvPr>
          <p:cNvGrpSpPr/>
          <p:nvPr/>
        </p:nvGrpSpPr>
        <p:grpSpPr>
          <a:xfrm>
            <a:off x="7221537" y="1417881"/>
            <a:ext cx="1090308" cy="2238146"/>
            <a:chOff x="8207375" y="1423988"/>
            <a:chExt cx="1285876" cy="1491979"/>
          </a:xfrm>
        </p:grpSpPr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210ABFEA-0D12-78A4-3E3A-5F0B87F53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7375" y="1423988"/>
              <a:ext cx="0" cy="1491979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0F471BA6-66D3-556D-60AE-71627BF9A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3250" y="1423988"/>
              <a:ext cx="0" cy="1491979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773E7DEA-B688-4B9B-307E-959DDCA61AB9}"/>
                </a:ext>
              </a:extLst>
            </p:cNvPr>
            <p:cNvCxnSpPr>
              <a:cxnSpLocks/>
            </p:cNvCxnSpPr>
            <p:nvPr/>
          </p:nvCxnSpPr>
          <p:spPr>
            <a:xfrm>
              <a:off x="823118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3" name="Chart 3">
            <a:extLst>
              <a:ext uri="{FF2B5EF4-FFF2-40B4-BE49-F238E27FC236}">
                <a16:creationId xmlns:a16="http://schemas.microsoft.com/office/drawing/2014/main" id="{E2D2BC8F-5489-07CF-ED8E-756A6CA8C893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8709025" y="4625975"/>
          <a:ext cx="1392238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165" name="文本占位符 2">
            <a:extLst>
              <a:ext uri="{FF2B5EF4-FFF2-40B4-BE49-F238E27FC236}">
                <a16:creationId xmlns:a16="http://schemas.microsoft.com/office/drawing/2014/main" id="{97A83AC1-34D1-2EBF-C6C1-A56F279F3FE9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8970963" y="489108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1CCE131-917E-4BAA-A36F-61C1A93F9EA1}" type="datetime'''''''''''3'',''''''''''''''''''''1''''''''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3,1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6" name="文本占位符 2">
            <a:extLst>
              <a:ext uri="{FF2B5EF4-FFF2-40B4-BE49-F238E27FC236}">
                <a16:creationId xmlns:a16="http://schemas.microsoft.com/office/drawing/2014/main" id="{FA2FD170-2982-5832-C846-F29F9282FFB0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9583738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7B729BC-3BAA-46AE-A7C3-D48DF12014EE}" type="datetime'''''3'''''''''''''''''''''''''''''''''',''''''''4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3,4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BC8EEA7-5916-5D04-BA62-04F118B958C1}"/>
              </a:ext>
            </a:extLst>
          </p:cNvPr>
          <p:cNvSpPr txBox="1"/>
          <p:nvPr/>
        </p:nvSpPr>
        <p:spPr>
          <a:xfrm>
            <a:off x="8738015" y="1051338"/>
            <a:ext cx="1225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Suffolk County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D294FF9-78DA-721E-72BC-CF7A8CA69A11}"/>
              </a:ext>
            </a:extLst>
          </p:cNvPr>
          <p:cNvGrpSpPr/>
          <p:nvPr/>
        </p:nvGrpSpPr>
        <p:grpSpPr>
          <a:xfrm>
            <a:off x="8805556" y="1417881"/>
            <a:ext cx="1070117" cy="1563857"/>
            <a:chOff x="10093325" y="1423988"/>
            <a:chExt cx="1285876" cy="2052420"/>
          </a:xfrm>
        </p:grpSpPr>
        <p:cxnSp>
          <p:nvCxnSpPr>
            <p:cNvPr id="168" name="直线连接符 167">
              <a:extLst>
                <a:ext uri="{FF2B5EF4-FFF2-40B4-BE49-F238E27FC236}">
                  <a16:creationId xmlns:a16="http://schemas.microsoft.com/office/drawing/2014/main" id="{215791D7-DDAE-152E-9B5C-D02171FDC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3325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线连接符 168">
              <a:extLst>
                <a:ext uri="{FF2B5EF4-FFF2-40B4-BE49-F238E27FC236}">
                  <a16:creationId xmlns:a16="http://schemas.microsoft.com/office/drawing/2014/main" id="{E97342FE-E8FA-0ECA-C791-F4F6AC41B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200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7A7B3BCF-0895-61D0-EA8A-E2D6E8464B67}"/>
                </a:ext>
              </a:extLst>
            </p:cNvPr>
            <p:cNvCxnSpPr>
              <a:cxnSpLocks/>
            </p:cNvCxnSpPr>
            <p:nvPr/>
          </p:nvCxnSpPr>
          <p:spPr>
            <a:xfrm>
              <a:off x="1011713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1" name="图表 170">
            <a:extLst>
              <a:ext uri="{FF2B5EF4-FFF2-40B4-BE49-F238E27FC236}">
                <a16:creationId xmlns:a16="http://schemas.microsoft.com/office/drawing/2014/main" id="{CBA9A93A-C59B-6ADC-864B-F9978E6F6A0F}"/>
              </a:ext>
            </a:extLst>
          </p:cNvPr>
          <p:cNvGraphicFramePr>
            <a:graphicFrameLocks/>
          </p:cNvGraphicFramePr>
          <p:nvPr/>
        </p:nvGraphicFramePr>
        <p:xfrm>
          <a:off x="8143082" y="2760692"/>
          <a:ext cx="2458216" cy="1494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graphicFrame>
        <p:nvGraphicFramePr>
          <p:cNvPr id="151" name="图表 150">
            <a:extLst>
              <a:ext uri="{FF2B5EF4-FFF2-40B4-BE49-F238E27FC236}">
                <a16:creationId xmlns:a16="http://schemas.microsoft.com/office/drawing/2014/main" id="{C1B4876F-C383-C569-750D-C96DF3B18246}"/>
              </a:ext>
            </a:extLst>
          </p:cNvPr>
          <p:cNvGraphicFramePr>
            <a:graphicFrameLocks/>
          </p:cNvGraphicFramePr>
          <p:nvPr/>
        </p:nvGraphicFramePr>
        <p:xfrm>
          <a:off x="4870450" y="3656034"/>
          <a:ext cx="2457450" cy="102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graphicFrame>
        <p:nvGraphicFramePr>
          <p:cNvPr id="161" name="图表 160">
            <a:extLst>
              <a:ext uri="{FF2B5EF4-FFF2-40B4-BE49-F238E27FC236}">
                <a16:creationId xmlns:a16="http://schemas.microsoft.com/office/drawing/2014/main" id="{C8ECFE33-0384-A0E9-357A-D064C475FA93}"/>
              </a:ext>
            </a:extLst>
          </p:cNvPr>
          <p:cNvGraphicFramePr>
            <a:graphicFrameLocks/>
          </p:cNvGraphicFramePr>
          <p:nvPr/>
        </p:nvGraphicFramePr>
        <p:xfrm>
          <a:off x="6542088" y="3649388"/>
          <a:ext cx="2459038" cy="615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graphicFrame>
        <p:nvGraphicFramePr>
          <p:cNvPr id="31" name="图表 30">
            <a:extLst>
              <a:ext uri="{FF2B5EF4-FFF2-40B4-BE49-F238E27FC236}">
                <a16:creationId xmlns:a16="http://schemas.microsoft.com/office/drawing/2014/main" id="{70D0576B-4011-93ED-E2F9-69704972D5B5}"/>
              </a:ext>
            </a:extLst>
          </p:cNvPr>
          <p:cNvGraphicFramePr>
            <a:graphicFrameLocks/>
          </p:cNvGraphicFramePr>
          <p:nvPr/>
        </p:nvGraphicFramePr>
        <p:xfrm>
          <a:off x="9711532" y="3483653"/>
          <a:ext cx="2458216" cy="771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FF826762-7396-84DD-DCE9-E62965D9A3B6}"/>
              </a:ext>
            </a:extLst>
          </p:cNvPr>
          <p:cNvGraphicFramePr/>
          <p:nvPr>
            <p:custDataLst>
              <p:tags r:id="rId20"/>
            </p:custDataLst>
          </p:nvPr>
        </p:nvGraphicFramePr>
        <p:xfrm>
          <a:off x="10306050" y="4625975"/>
          <a:ext cx="1390650" cy="65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8967A335-A9C0-BDE6-CD97-A314FA58C955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10566400" y="492125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56D8DD7-C279-4117-BE1A-A406839E59CA}" type="datetime'''''''''''3'''''''''''''''''''''',''''''''''0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3,0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A0A28256-9D7B-BCD5-8033-71E36DCFAE12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11179175" y="486886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B01DA4-CCD1-4DDD-B4B5-92E41A7889B9}" type="datetime'''3'''''''''''''''''''''''',''''''8'''''''''''''''''''">
              <a:rPr kumimoji="1" lang="zh-CN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3,8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B579C21-F484-1713-3FB2-A9E137167CBA}"/>
              </a:ext>
            </a:extLst>
          </p:cNvPr>
          <p:cNvGrpSpPr/>
          <p:nvPr/>
        </p:nvGrpSpPr>
        <p:grpSpPr>
          <a:xfrm>
            <a:off x="10364646" y="1424527"/>
            <a:ext cx="1070117" cy="1563857"/>
            <a:chOff x="10093325" y="1423988"/>
            <a:chExt cx="1285876" cy="2052420"/>
          </a:xfrm>
        </p:grpSpPr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9BCD65DA-F356-41E1-15BB-F587BA1E6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3325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BB60305-9469-CB8E-D30E-CC847DD2E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200" y="1423988"/>
              <a:ext cx="0" cy="205242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6E65BBB2-1A92-D9C3-140C-C1EF3817BFDB}"/>
                </a:ext>
              </a:extLst>
            </p:cNvPr>
            <p:cNvCxnSpPr>
              <a:cxnSpLocks/>
            </p:cNvCxnSpPr>
            <p:nvPr/>
          </p:nvCxnSpPr>
          <p:spPr>
            <a:xfrm>
              <a:off x="10117138" y="1423988"/>
              <a:ext cx="1262063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A97BAE72-EA31-B4D0-475B-8089DA141529}"/>
              </a:ext>
            </a:extLst>
          </p:cNvPr>
          <p:cNvSpPr txBox="1"/>
          <p:nvPr/>
        </p:nvSpPr>
        <p:spPr>
          <a:xfrm>
            <a:off x="10318514" y="1062383"/>
            <a:ext cx="1244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Nassau County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D56B3D24-E2A0-30BE-C7B8-8AB06C5E9EC4}"/>
              </a:ext>
            </a:extLst>
          </p:cNvPr>
          <p:cNvGrpSpPr/>
          <p:nvPr/>
        </p:nvGrpSpPr>
        <p:grpSpPr>
          <a:xfrm>
            <a:off x="549276" y="5278438"/>
            <a:ext cx="11071212" cy="428516"/>
            <a:chOff x="549276" y="5278438"/>
            <a:chExt cx="11071212" cy="428516"/>
          </a:xfrm>
        </p:grpSpPr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AACF22BD-AEE1-D440-44B7-C8DF0B50EA9F}"/>
                </a:ext>
              </a:extLst>
            </p:cNvPr>
            <p:cNvCxnSpPr/>
            <p:nvPr/>
          </p:nvCxnSpPr>
          <p:spPr>
            <a:xfrm>
              <a:off x="549276" y="5278438"/>
              <a:ext cx="0" cy="423783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893317F6-2F65-64F4-7D34-114610F756AF}"/>
                </a:ext>
              </a:extLst>
            </p:cNvPr>
            <p:cNvCxnSpPr/>
            <p:nvPr/>
          </p:nvCxnSpPr>
          <p:spPr>
            <a:xfrm>
              <a:off x="11612001" y="5278438"/>
              <a:ext cx="0" cy="423783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E0BE3E7E-DE56-9D07-0739-F4636EB06AA1}"/>
                </a:ext>
              </a:extLst>
            </p:cNvPr>
            <p:cNvCxnSpPr>
              <a:cxnSpLocks/>
            </p:cNvCxnSpPr>
            <p:nvPr/>
          </p:nvCxnSpPr>
          <p:spPr>
            <a:xfrm>
              <a:off x="549276" y="5706954"/>
              <a:ext cx="11071212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2333136B-C52D-3BDE-2BF5-633205081B9A}"/>
              </a:ext>
            </a:extLst>
          </p:cNvPr>
          <p:cNvSpPr txBox="1"/>
          <p:nvPr/>
        </p:nvSpPr>
        <p:spPr>
          <a:xfrm>
            <a:off x="4949113" y="5548332"/>
            <a:ext cx="229261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Average nights per visitor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DEDB4E-1AD7-DEC6-949E-0D566747BFD3}"/>
              </a:ext>
            </a:extLst>
          </p:cNvPr>
          <p:cNvSpPr txBox="1"/>
          <p:nvPr/>
        </p:nvSpPr>
        <p:spPr>
          <a:xfrm>
            <a:off x="828608" y="1486718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-21%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9A474C-A211-E6DA-5BD0-C5D71E8B3D26}"/>
              </a:ext>
            </a:extLst>
          </p:cNvPr>
          <p:cNvSpPr txBox="1"/>
          <p:nvPr/>
        </p:nvSpPr>
        <p:spPr>
          <a:xfrm>
            <a:off x="2558674" y="1484110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0%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08F095-6F2A-22F5-5C1D-8D106E16ABFB}"/>
              </a:ext>
            </a:extLst>
          </p:cNvPr>
          <p:cNvSpPr txBox="1"/>
          <p:nvPr/>
        </p:nvSpPr>
        <p:spPr>
          <a:xfrm>
            <a:off x="4186756" y="1486542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4%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9B0E22-B39B-79DE-0E5E-1A9945482BDC}"/>
              </a:ext>
            </a:extLst>
          </p:cNvPr>
          <p:cNvSpPr txBox="1"/>
          <p:nvPr/>
        </p:nvSpPr>
        <p:spPr>
          <a:xfrm>
            <a:off x="5861674" y="148411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10%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B5BE17-7246-71A1-BF6E-E4CB48BFD77E}"/>
              </a:ext>
            </a:extLst>
          </p:cNvPr>
          <p:cNvSpPr txBox="1"/>
          <p:nvPr/>
        </p:nvSpPr>
        <p:spPr>
          <a:xfrm>
            <a:off x="7535929" y="1486542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17%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4F2178-AC6E-0599-15D8-CCDBAE80D2DD}"/>
              </a:ext>
            </a:extLst>
          </p:cNvPr>
          <p:cNvSpPr txBox="1"/>
          <p:nvPr/>
        </p:nvSpPr>
        <p:spPr>
          <a:xfrm>
            <a:off x="9167959" y="1479854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2%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922D14-658B-1AB1-CD34-8D77112BBA4D}"/>
              </a:ext>
            </a:extLst>
          </p:cNvPr>
          <p:cNvSpPr txBox="1"/>
          <p:nvPr/>
        </p:nvSpPr>
        <p:spPr>
          <a:xfrm>
            <a:off x="10694194" y="148742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200">
                <a:latin typeface="HarmonyOS Sans SC" pitchFamily="2" charset="-122"/>
                <a:ea typeface="HarmonyOS Sans SC" pitchFamily="2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12%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73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AE016EF-0881-D851-ED5A-0ED60997F3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7772400" imgH="10058400" progId="TCLayout.ActiveDocument.1">
                  <p:embed/>
                </p:oleObj>
              </mc:Choice>
              <mc:Fallback>
                <p:oleObj name="think-cell 幻灯片" r:id="rId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E016EF-0881-D851-ED5A-0ED60997F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1DA1C9E-4292-9A51-CBFE-D045F5674E68}"/>
              </a:ext>
            </a:extLst>
          </p:cNvPr>
          <p:cNvSpPr txBox="1"/>
          <p:nvPr/>
        </p:nvSpPr>
        <p:spPr>
          <a:xfrm>
            <a:off x="414604" y="238539"/>
            <a:ext cx="5950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New York City travel and tourism continue to recover.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C13427-009C-BABC-DCEE-6EA923D1116F}"/>
              </a:ext>
            </a:extLst>
          </p:cNvPr>
          <p:cNvSpPr txBox="1"/>
          <p:nvPr/>
        </p:nvSpPr>
        <p:spPr>
          <a:xfrm>
            <a:off x="414604" y="721297"/>
            <a:ext cx="4523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New York City tourism metrics,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index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2019 = 100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137" name="Chart 3">
            <a:extLst>
              <a:ext uri="{FF2B5EF4-FFF2-40B4-BE49-F238E27FC236}">
                <a16:creationId xmlns:a16="http://schemas.microsoft.com/office/drawing/2014/main" id="{0DCCB192-4865-7B55-E643-AB1D6170CA30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190875" y="1084263"/>
          <a:ext cx="5815013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4" name="右箭头 63">
            <a:extLst>
              <a:ext uri="{FF2B5EF4-FFF2-40B4-BE49-F238E27FC236}">
                <a16:creationId xmlns:a16="http://schemas.microsoft.com/office/drawing/2014/main" id="{A30E5ACB-3B5D-3EBF-9C12-BD1248C1D0F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5400000">
            <a:off x="8359775" y="1198563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AD653562-96F2-702F-2098-E2680C6101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8423275" y="2797175"/>
            <a:ext cx="0" cy="30861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5586052B-43FF-5F52-784B-6F8E8C8018BB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8423275" y="1390650"/>
            <a:ext cx="0" cy="8413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3A6FA910-FB33-24C8-FD21-13E737BAD53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V="1">
            <a:off x="8423275" y="2424113"/>
            <a:ext cx="0" cy="1809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0276954C-8CED-237E-1213-E9129CD6F93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8270875" y="968375"/>
            <a:ext cx="304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BFFD5D4-EB8E-462E-83AA-F48A6E6063F8}" type="datetime'''''''''''''1''''''''''''''''00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97663C1-F9EE-F1F4-596F-19C3ABEFDC54}"/>
              </a:ext>
            </a:extLst>
          </p:cNvPr>
          <p:cNvSpPr txBox="1"/>
          <p:nvPr/>
        </p:nvSpPr>
        <p:spPr>
          <a:xfrm>
            <a:off x="414604" y="1423988"/>
            <a:ext cx="1386918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Annual visitors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D50907C-A053-ACA8-4EA7-3F985F9ADDE1}"/>
              </a:ext>
            </a:extLst>
          </p:cNvPr>
          <p:cNvSpPr txBox="1"/>
          <p:nvPr/>
        </p:nvSpPr>
        <p:spPr>
          <a:xfrm>
            <a:off x="747979" y="1814513"/>
            <a:ext cx="1204176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International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EBD7B53-4AC7-763E-18F4-57C5356B5833}"/>
              </a:ext>
            </a:extLst>
          </p:cNvPr>
          <p:cNvSpPr txBox="1"/>
          <p:nvPr/>
        </p:nvSpPr>
        <p:spPr>
          <a:xfrm>
            <a:off x="747979" y="2165350"/>
            <a:ext cx="93647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Domestic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143C38B-B20D-E373-909A-7C12C7E886D9}"/>
              </a:ext>
            </a:extLst>
          </p:cNvPr>
          <p:cNvSpPr txBox="1"/>
          <p:nvPr/>
        </p:nvSpPr>
        <p:spPr>
          <a:xfrm>
            <a:off x="747979" y="2563813"/>
            <a:ext cx="1770036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Canada and Mexico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88CB581-C20E-4F99-1B7E-22C592D86A16}"/>
              </a:ext>
            </a:extLst>
          </p:cNvPr>
          <p:cNvSpPr txBox="1"/>
          <p:nvPr/>
        </p:nvSpPr>
        <p:spPr>
          <a:xfrm>
            <a:off x="747979" y="2914650"/>
            <a:ext cx="731290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France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F671B3B-B1F4-F5C5-81BD-CBA6E60E607F}"/>
              </a:ext>
            </a:extLst>
          </p:cNvPr>
          <p:cNvSpPr txBox="1"/>
          <p:nvPr/>
        </p:nvSpPr>
        <p:spPr>
          <a:xfrm>
            <a:off x="747979" y="3294063"/>
            <a:ext cx="428322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UK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C8FA0D1-4173-5605-00B0-54EFC7932E26}"/>
              </a:ext>
            </a:extLst>
          </p:cNvPr>
          <p:cNvSpPr txBox="1"/>
          <p:nvPr/>
        </p:nvSpPr>
        <p:spPr>
          <a:xfrm>
            <a:off x="747979" y="3644900"/>
            <a:ext cx="64312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China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F2607CF-968B-7CF1-B573-1D4706CDD534}"/>
              </a:ext>
            </a:extLst>
          </p:cNvPr>
          <p:cNvSpPr txBox="1"/>
          <p:nvPr/>
        </p:nvSpPr>
        <p:spPr>
          <a:xfrm>
            <a:off x="414604" y="4024313"/>
            <a:ext cx="2755883" cy="306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Overall economic contribution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25B013B-0966-DDFF-DBDA-75580077D415}"/>
              </a:ext>
            </a:extLst>
          </p:cNvPr>
          <p:cNvSpPr txBox="1"/>
          <p:nvPr/>
        </p:nvSpPr>
        <p:spPr>
          <a:xfrm>
            <a:off x="414604" y="4421188"/>
            <a:ext cx="1915909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Tourism employment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DD0BEAE-67E5-B272-F6E2-AC83DFAB6C10}"/>
              </a:ext>
            </a:extLst>
          </p:cNvPr>
          <p:cNvSpPr txBox="1"/>
          <p:nvPr/>
        </p:nvSpPr>
        <p:spPr>
          <a:xfrm>
            <a:off x="414604" y="4824413"/>
            <a:ext cx="1667444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Hotel room nights</a:t>
            </a:r>
            <a:endParaRPr kumimoji="1" lang="zh-CN" altLang="en-US" sz="14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184D519-8296-21D0-2442-76DD0366B74A}"/>
              </a:ext>
            </a:extLst>
          </p:cNvPr>
          <p:cNvSpPr txBox="1"/>
          <p:nvPr/>
        </p:nvSpPr>
        <p:spPr>
          <a:xfrm>
            <a:off x="414604" y="5183188"/>
            <a:ext cx="1737976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Airport passengers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115E3FF-B2C3-C62B-4765-5440F9DE55B9}"/>
              </a:ext>
            </a:extLst>
          </p:cNvPr>
          <p:cNvSpPr txBox="1"/>
          <p:nvPr/>
        </p:nvSpPr>
        <p:spPr>
          <a:xfrm>
            <a:off x="414604" y="5546725"/>
            <a:ext cx="1962397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Broadway admissions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77430A8A-8FAC-BB57-0E77-C477271D9107}"/>
              </a:ext>
            </a:extLst>
          </p:cNvPr>
          <p:cNvCxnSpPr>
            <a:cxnSpLocks/>
          </p:cNvCxnSpPr>
          <p:nvPr/>
        </p:nvCxnSpPr>
        <p:spPr>
          <a:xfrm>
            <a:off x="445426" y="139223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2D166E07-4ED7-DED3-7FD6-17EB95761DBD}"/>
              </a:ext>
            </a:extLst>
          </p:cNvPr>
          <p:cNvCxnSpPr>
            <a:cxnSpLocks/>
          </p:cNvCxnSpPr>
          <p:nvPr/>
        </p:nvCxnSpPr>
        <p:spPr>
          <a:xfrm>
            <a:off x="445426" y="177165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34818B7-6F49-483B-2A18-E0FA4D26F868}"/>
              </a:ext>
            </a:extLst>
          </p:cNvPr>
          <p:cNvCxnSpPr>
            <a:cxnSpLocks/>
          </p:cNvCxnSpPr>
          <p:nvPr/>
        </p:nvCxnSpPr>
        <p:spPr>
          <a:xfrm>
            <a:off x="445426" y="213042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822E0761-D5F7-106C-70ED-669D91F3EB47}"/>
              </a:ext>
            </a:extLst>
          </p:cNvPr>
          <p:cNvCxnSpPr>
            <a:cxnSpLocks/>
          </p:cNvCxnSpPr>
          <p:nvPr/>
        </p:nvCxnSpPr>
        <p:spPr>
          <a:xfrm>
            <a:off x="445426" y="25146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D3D2FE98-18EF-96CE-665E-5CBD24EB2D2F}"/>
              </a:ext>
            </a:extLst>
          </p:cNvPr>
          <p:cNvCxnSpPr>
            <a:cxnSpLocks/>
          </p:cNvCxnSpPr>
          <p:nvPr/>
        </p:nvCxnSpPr>
        <p:spPr>
          <a:xfrm>
            <a:off x="445426" y="29083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111625A6-0632-5F5E-2EBC-11EB35AC396F}"/>
              </a:ext>
            </a:extLst>
          </p:cNvPr>
          <p:cNvCxnSpPr>
            <a:cxnSpLocks/>
          </p:cNvCxnSpPr>
          <p:nvPr/>
        </p:nvCxnSpPr>
        <p:spPr>
          <a:xfrm>
            <a:off x="445426" y="326548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C165FC-9C2E-2318-F626-55C4D45FDA3B}"/>
              </a:ext>
            </a:extLst>
          </p:cNvPr>
          <p:cNvCxnSpPr>
            <a:cxnSpLocks/>
          </p:cNvCxnSpPr>
          <p:nvPr/>
        </p:nvCxnSpPr>
        <p:spPr>
          <a:xfrm>
            <a:off x="445426" y="363378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FB1DAC41-3FFF-DB7B-274F-A4A0FE755C4B}"/>
              </a:ext>
            </a:extLst>
          </p:cNvPr>
          <p:cNvCxnSpPr>
            <a:cxnSpLocks/>
          </p:cNvCxnSpPr>
          <p:nvPr/>
        </p:nvCxnSpPr>
        <p:spPr>
          <a:xfrm>
            <a:off x="445426" y="401637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CB07EA59-1F0F-BEC1-1961-7D352C4B1D86}"/>
              </a:ext>
            </a:extLst>
          </p:cNvPr>
          <p:cNvCxnSpPr>
            <a:cxnSpLocks/>
          </p:cNvCxnSpPr>
          <p:nvPr/>
        </p:nvCxnSpPr>
        <p:spPr>
          <a:xfrm>
            <a:off x="445426" y="438785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6CC37BDF-6A5F-0108-D17C-315F6A4C03CA}"/>
              </a:ext>
            </a:extLst>
          </p:cNvPr>
          <p:cNvCxnSpPr>
            <a:cxnSpLocks/>
          </p:cNvCxnSpPr>
          <p:nvPr/>
        </p:nvCxnSpPr>
        <p:spPr>
          <a:xfrm>
            <a:off x="445426" y="47752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0B7A40DC-F760-D0FA-A43F-CC472ED03881}"/>
              </a:ext>
            </a:extLst>
          </p:cNvPr>
          <p:cNvCxnSpPr>
            <a:cxnSpLocks/>
          </p:cNvCxnSpPr>
          <p:nvPr/>
        </p:nvCxnSpPr>
        <p:spPr>
          <a:xfrm>
            <a:off x="445426" y="51562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DAB31A5-16A9-DCC3-8826-E9B3D6BE7CFF}"/>
              </a:ext>
            </a:extLst>
          </p:cNvPr>
          <p:cNvCxnSpPr>
            <a:cxnSpLocks/>
          </p:cNvCxnSpPr>
          <p:nvPr/>
        </p:nvCxnSpPr>
        <p:spPr>
          <a:xfrm>
            <a:off x="445426" y="552132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E2A2ECEA-CF0D-250A-FF28-8C41B4652676}"/>
              </a:ext>
            </a:extLst>
          </p:cNvPr>
          <p:cNvCxnSpPr>
            <a:cxnSpLocks/>
          </p:cNvCxnSpPr>
          <p:nvPr/>
        </p:nvCxnSpPr>
        <p:spPr>
          <a:xfrm>
            <a:off x="445426" y="588327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1649954B-5209-CF58-0BC8-376DD16F3975}"/>
              </a:ext>
            </a:extLst>
          </p:cNvPr>
          <p:cNvSpPr txBox="1"/>
          <p:nvPr/>
        </p:nvSpPr>
        <p:spPr>
          <a:xfrm>
            <a:off x="10024116" y="1423988"/>
            <a:ext cx="974947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62 million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2D12465-7FF4-E7CD-CF90-3CE1E980C679}"/>
              </a:ext>
            </a:extLst>
          </p:cNvPr>
          <p:cNvSpPr txBox="1"/>
          <p:nvPr/>
        </p:nvSpPr>
        <p:spPr>
          <a:xfrm>
            <a:off x="10043351" y="1811338"/>
            <a:ext cx="93647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11 million</a:t>
            </a:r>
            <a:endParaRPr lang="zh-CN" altLang="en-US" sz="14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02C4F06-EF19-1523-B2BE-377245E500AF}"/>
              </a:ext>
            </a:extLst>
          </p:cNvPr>
          <p:cNvSpPr txBox="1"/>
          <p:nvPr/>
        </p:nvSpPr>
        <p:spPr>
          <a:xfrm>
            <a:off x="10043353" y="2165350"/>
            <a:ext cx="93647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51 million</a:t>
            </a:r>
            <a:endParaRPr lang="zh-CN" altLang="en-US" sz="14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2E2DE4B-6206-D94A-C11D-4684EC3E38E0}"/>
              </a:ext>
            </a:extLst>
          </p:cNvPr>
          <p:cNvSpPr txBox="1"/>
          <p:nvPr/>
        </p:nvSpPr>
        <p:spPr>
          <a:xfrm>
            <a:off x="10046218" y="2563813"/>
            <a:ext cx="976549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1.4 million</a:t>
            </a:r>
            <a:endParaRPr lang="zh-CN" altLang="en-US" sz="14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7BB02AE-995F-11D3-EDE2-5B1DB44D2202}"/>
              </a:ext>
            </a:extLst>
          </p:cNvPr>
          <p:cNvSpPr txBox="1"/>
          <p:nvPr/>
        </p:nvSpPr>
        <p:spPr>
          <a:xfrm>
            <a:off x="10114715" y="2925763"/>
            <a:ext cx="79220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760,000</a:t>
            </a:r>
            <a:endParaRPr lang="zh-CN" altLang="en-US" sz="14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39AFD75-D476-6875-19FF-52B6368DB303}"/>
              </a:ext>
            </a:extLst>
          </p:cNvPr>
          <p:cNvSpPr txBox="1"/>
          <p:nvPr/>
        </p:nvSpPr>
        <p:spPr>
          <a:xfrm>
            <a:off x="10089868" y="3294063"/>
            <a:ext cx="841897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 million</a:t>
            </a:r>
            <a:endParaRPr lang="zh-CN" altLang="en-US" sz="14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62F5819-93C7-8193-DAF0-0E7441A02222}"/>
              </a:ext>
            </a:extLst>
          </p:cNvPr>
          <p:cNvSpPr txBox="1"/>
          <p:nvPr/>
        </p:nvSpPr>
        <p:spPr>
          <a:xfrm>
            <a:off x="10114713" y="3667125"/>
            <a:ext cx="79220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386,000</a:t>
            </a:r>
            <a:endParaRPr lang="zh-CN" altLang="en-US" sz="14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AF64769-3810-02D0-EBAB-81807897CCB7}"/>
              </a:ext>
            </a:extLst>
          </p:cNvPr>
          <p:cNvSpPr txBox="1"/>
          <p:nvPr/>
        </p:nvSpPr>
        <p:spPr>
          <a:xfrm>
            <a:off x="10037501" y="4051300"/>
            <a:ext cx="982961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$74 billion</a:t>
            </a:r>
            <a:endParaRPr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3BA2E9B-C41E-24F4-1DCB-620B4371DB28}"/>
              </a:ext>
            </a:extLst>
          </p:cNvPr>
          <p:cNvSpPr txBox="1"/>
          <p:nvPr/>
        </p:nvSpPr>
        <p:spPr>
          <a:xfrm>
            <a:off x="10132878" y="4429125"/>
            <a:ext cx="79220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254,000</a:t>
            </a:r>
            <a:endParaRPr lang="zh-CN" altLang="en-US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424FD940-4A5A-51F3-228A-7E048654220E}"/>
              </a:ext>
            </a:extLst>
          </p:cNvPr>
          <p:cNvSpPr txBox="1"/>
          <p:nvPr/>
        </p:nvSpPr>
        <p:spPr>
          <a:xfrm>
            <a:off x="10092563" y="4819650"/>
            <a:ext cx="93647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37 million</a:t>
            </a:r>
            <a:endParaRPr lang="zh-CN" altLang="en-US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C42CD65-C9A6-0C7B-3BF8-3958C14FDD48}"/>
              </a:ext>
            </a:extLst>
          </p:cNvPr>
          <p:cNvSpPr txBox="1"/>
          <p:nvPr/>
        </p:nvSpPr>
        <p:spPr>
          <a:xfrm>
            <a:off x="10042579" y="5186363"/>
            <a:ext cx="1031051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144 million</a:t>
            </a:r>
            <a:endParaRPr lang="zh-CN" altLang="en-US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3787243-027A-C26D-2CDA-2705D475F919}"/>
              </a:ext>
            </a:extLst>
          </p:cNvPr>
          <p:cNvSpPr txBox="1"/>
          <p:nvPr/>
        </p:nvSpPr>
        <p:spPr>
          <a:xfrm>
            <a:off x="10089868" y="5546725"/>
            <a:ext cx="936475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12 million</a:t>
            </a:r>
            <a:endParaRPr lang="zh-CN" altLang="en-US" dirty="0"/>
          </a:p>
        </p:txBody>
      </p: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995C0B7C-03DD-8C7C-BD71-94A94A726A93}"/>
              </a:ext>
            </a:extLst>
          </p:cNvPr>
          <p:cNvCxnSpPr>
            <a:cxnSpLocks/>
          </p:cNvCxnSpPr>
          <p:nvPr/>
        </p:nvCxnSpPr>
        <p:spPr>
          <a:xfrm>
            <a:off x="9164472" y="139223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AFB1800E-35ED-DAF1-CB2A-E750A16B29CC}"/>
              </a:ext>
            </a:extLst>
          </p:cNvPr>
          <p:cNvCxnSpPr>
            <a:cxnSpLocks/>
          </p:cNvCxnSpPr>
          <p:nvPr/>
        </p:nvCxnSpPr>
        <p:spPr>
          <a:xfrm>
            <a:off x="9164472" y="177165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90C8163A-F9FA-B40F-E35F-E0B1B08362C0}"/>
              </a:ext>
            </a:extLst>
          </p:cNvPr>
          <p:cNvCxnSpPr>
            <a:cxnSpLocks/>
          </p:cNvCxnSpPr>
          <p:nvPr/>
        </p:nvCxnSpPr>
        <p:spPr>
          <a:xfrm>
            <a:off x="9164472" y="213042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F3B394BF-6F83-4724-A569-BAD45FC6F61F}"/>
              </a:ext>
            </a:extLst>
          </p:cNvPr>
          <p:cNvCxnSpPr>
            <a:cxnSpLocks/>
          </p:cNvCxnSpPr>
          <p:nvPr/>
        </p:nvCxnSpPr>
        <p:spPr>
          <a:xfrm>
            <a:off x="9164472" y="25146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7BB6E035-CAB1-B5E7-32B4-537DBE6C4F00}"/>
              </a:ext>
            </a:extLst>
          </p:cNvPr>
          <p:cNvCxnSpPr>
            <a:cxnSpLocks/>
          </p:cNvCxnSpPr>
          <p:nvPr/>
        </p:nvCxnSpPr>
        <p:spPr>
          <a:xfrm>
            <a:off x="9164472" y="29083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线连接符 125">
            <a:extLst>
              <a:ext uri="{FF2B5EF4-FFF2-40B4-BE49-F238E27FC236}">
                <a16:creationId xmlns:a16="http://schemas.microsoft.com/office/drawing/2014/main" id="{3F615F47-7F51-1E94-E9ED-441FDDE4FA81}"/>
              </a:ext>
            </a:extLst>
          </p:cNvPr>
          <p:cNvCxnSpPr>
            <a:cxnSpLocks/>
          </p:cNvCxnSpPr>
          <p:nvPr/>
        </p:nvCxnSpPr>
        <p:spPr>
          <a:xfrm>
            <a:off x="9164472" y="326548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线连接符 126">
            <a:extLst>
              <a:ext uri="{FF2B5EF4-FFF2-40B4-BE49-F238E27FC236}">
                <a16:creationId xmlns:a16="http://schemas.microsoft.com/office/drawing/2014/main" id="{7373A3F1-D87A-06BB-A70D-36CDAF98A6B1}"/>
              </a:ext>
            </a:extLst>
          </p:cNvPr>
          <p:cNvCxnSpPr>
            <a:cxnSpLocks/>
          </p:cNvCxnSpPr>
          <p:nvPr/>
        </p:nvCxnSpPr>
        <p:spPr>
          <a:xfrm>
            <a:off x="9164472" y="3633788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CC279C7-536E-362C-9E88-C3967E00C32B}"/>
              </a:ext>
            </a:extLst>
          </p:cNvPr>
          <p:cNvCxnSpPr>
            <a:cxnSpLocks/>
          </p:cNvCxnSpPr>
          <p:nvPr/>
        </p:nvCxnSpPr>
        <p:spPr>
          <a:xfrm>
            <a:off x="9164472" y="401637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A872EC2F-5946-2C33-26FE-0ED8D23BB7BF}"/>
              </a:ext>
            </a:extLst>
          </p:cNvPr>
          <p:cNvCxnSpPr>
            <a:cxnSpLocks/>
          </p:cNvCxnSpPr>
          <p:nvPr/>
        </p:nvCxnSpPr>
        <p:spPr>
          <a:xfrm>
            <a:off x="9164472" y="438785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线连接符 129">
            <a:extLst>
              <a:ext uri="{FF2B5EF4-FFF2-40B4-BE49-F238E27FC236}">
                <a16:creationId xmlns:a16="http://schemas.microsoft.com/office/drawing/2014/main" id="{5411F838-C32F-D0CC-D3A3-293A5AF7B215}"/>
              </a:ext>
            </a:extLst>
          </p:cNvPr>
          <p:cNvCxnSpPr>
            <a:cxnSpLocks/>
          </p:cNvCxnSpPr>
          <p:nvPr/>
        </p:nvCxnSpPr>
        <p:spPr>
          <a:xfrm>
            <a:off x="9164472" y="47752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EF857BDC-A230-9ECA-80C8-46CC7BE25785}"/>
              </a:ext>
            </a:extLst>
          </p:cNvPr>
          <p:cNvCxnSpPr>
            <a:cxnSpLocks/>
          </p:cNvCxnSpPr>
          <p:nvPr/>
        </p:nvCxnSpPr>
        <p:spPr>
          <a:xfrm>
            <a:off x="9164472" y="5156200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870DA31B-FDB1-9B1E-05F5-0CBE96331104}"/>
              </a:ext>
            </a:extLst>
          </p:cNvPr>
          <p:cNvCxnSpPr>
            <a:cxnSpLocks/>
          </p:cNvCxnSpPr>
          <p:nvPr/>
        </p:nvCxnSpPr>
        <p:spPr>
          <a:xfrm>
            <a:off x="9164472" y="552132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1BD219F1-3566-7C07-DD71-22652A96E4B0}"/>
              </a:ext>
            </a:extLst>
          </p:cNvPr>
          <p:cNvCxnSpPr>
            <a:cxnSpLocks/>
          </p:cNvCxnSpPr>
          <p:nvPr/>
        </p:nvCxnSpPr>
        <p:spPr>
          <a:xfrm>
            <a:off x="9164472" y="5883275"/>
            <a:ext cx="269423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3AAFA07-FE28-408A-BC46-B294D1AC7C25}"/>
              </a:ext>
            </a:extLst>
          </p:cNvPr>
          <p:cNvSpPr txBox="1"/>
          <p:nvPr/>
        </p:nvSpPr>
        <p:spPr>
          <a:xfrm>
            <a:off x="9634587" y="1066800"/>
            <a:ext cx="1754006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2023 actual figures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70A325A-258B-65E9-5849-93C6A25FDB4A}"/>
              </a:ext>
            </a:extLst>
          </p:cNvPr>
          <p:cNvSpPr txBox="1"/>
          <p:nvPr/>
        </p:nvSpPr>
        <p:spPr>
          <a:xfrm>
            <a:off x="414604" y="6019594"/>
            <a:ext cx="11432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Economic contribution as defined by New York City includes direct spending by visitors, indirect spending by tourism and hospitality players, and induced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spending by wages from tourism and hospitality.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2023 Airport Traffic Report, Port Authority Aviation Department, April 2024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；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" Fact sheet: New York City tourism generates $74 billion in economic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impact for state and city economy in 2023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 New York City Tourism + Conventions, December 12,2023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825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557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1.88073687728652538809E+00&quot;&gt;&lt;m_msothmcolidx val=&quot;0&quot;/&gt;&lt;m_rgb r=&quot;00&quot; g=&quot;AC&quot; b=&quot;FB&quot;/&gt;&lt;/elem&gt;&lt;elem m_fUsage=&quot;1.10031723548100024423E+00&quot;&gt;&lt;m_msothmcolidx val=&quot;0&quot;/&gt;&lt;m_rgb r=&quot;F2&quot; g=&quot;EE&quot; b=&quot;EA&quot;/&gt;&lt;/elem&gt;&lt;elem m_fUsage=&quot;1.05025356827169180640E+00&quot;&gt;&lt;m_msothmcolidx val=&quot;0&quot;/&gt;&lt;m_rgb r=&quot;78&quot; g=&quot;A7&quot; b=&quot;CC&quot;/&gt;&lt;/elem&gt;&lt;elem m_fUsage=&quot;9.95302018885184325292E-01&quot;&gt;&lt;m_msothmcolidx val=&quot;0&quot;/&gt;&lt;m_rgb r=&quot;43&quot; g=&quot;CE&quot; b=&quot;FC&quot;/&gt;&lt;/elem&gt;&lt;elem m_fUsage=&quot;9.34891132094649246476E-01&quot;&gt;&lt;m_msothmcolidx val=&quot;0&quot;/&gt;&lt;m_rgb r=&quot;7F&quot; g=&quot;E9&quot; b=&quot;FF&quot;/&gt;&lt;/elem&gt;&lt;elem m_fUsage=&quot;9.00000000000000022204E-01&quot;&gt;&lt;m_msothmcolidx val=&quot;0&quot;/&gt;&lt;m_rgb r=&quot;00&quot; g=&quot;1D&quot; b=&quot;2D&quot;/&gt;&lt;/elem&gt;&lt;elem m_fUsage=&quot;6.66526171767299446813E-01&quot;&gt;&lt;m_msothmcolidx val=&quot;0&quot;/&gt;&lt;m_rgb r=&quot;44&quot; g=&quot;81&quot; b=&quot;B0&quot;/&gt;&lt;/elem&gt;&lt;elem m_fUsage=&quot;6.56100000000000127542E-01&quot;&gt;&lt;m_msothmcolidx val=&quot;0&quot;/&gt;&lt;m_rgb r=&quot;E6&quot; g=&quot;E6&quot; b=&quot;E6&quot;/&gt;&lt;/elem&gt;&lt;elem m_fUsage=&quot;4.28444883176872626240E-01&quot;&gt;&lt;m_msothmcolidx val=&quot;0&quot;/&gt;&lt;m_rgb r=&quot;00&quot; g=&quot;20&quot; b=&quot;7E&quot;/&gt;&lt;/elem&gt;&lt;elem m_fUsage=&quot;2.54186582832900132001E-01&quot;&gt;&lt;m_msothmcolidx val=&quot;0&quot;/&gt;&lt;m_rgb r=&quot;F0&quot; g=&quot;F0&quot; b=&quot;F0&quot;/&gt;&lt;/elem&gt;&lt;elem m_fUsage=&quot;1.66771816996665767086E-01&quot;&gt;&lt;m_msothmcolidx val=&quot;0&quot;/&gt;&lt;m_rgb r=&quot;00&quot; g=&quot;B7&quot; b=&quot;FA&quot;/&gt;&lt;/elem&gt;&lt;elem m_fUsage=&quot;1.50094635296999207030E-01&quot;&gt;&lt;m_msothmcolidx val=&quot;0&quot;/&gt;&lt;m_rgb r=&quot;25&quot; g=&quot;67&quot; b=&quot;98&quot;/&gt;&lt;/elem&gt;&lt;elem m_fUsage=&quot;9.84770902183611934744E-02&quot;&gt;&lt;m_msothmcolidx val=&quot;0&quot;/&gt;&lt;m_rgb r=&quot;03&quot; g=&quot;52&quot; b=&quot;FF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tW6.0U.xPKw_siYgZCdc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mBd9KbIZPiKw4xKSF8E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D8ZGOQuaF6lDk3jq2l.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.PjPCJSqZid3kjXBU7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ncmL1aKb9uSUx_rEUR2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T0YrSaayyNxngJL0UBI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RWt61gqxoBocJc9yTAN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mxn8GPk_bcqK8DIT2a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LBtPAYaCptFbNyauZAaU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XgJ28GuOkO_nugl34Bp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6sVHOImNyG680MiATLj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B.ozVwZZ1qzCTzBMIsA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i9dzMsUKPmynw1W5qXY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vUgGvxTux6MjX183K_HH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yewjlYmzI4pOk7rPZ3h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vjua_r2cAkf2fxLJyie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y_4glWmdY7hXsLdGAph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Nlsc484ngV7S.eW5cvT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cdWz4vjyGPvAaSJ6a3K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Co4c2sM5aJXnYiLAExoT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W01WNcDTYT2IPXr.M8o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P.wyCiZLf6EFEk5k4Gb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_APJdfbQfCyIK6MNxux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cw0nE9x_76.MAmdLIZx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BfBtpjwaPTLhtlovTP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ebb06kYG9wdugxumort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xZ6.zLajArNbNS0tSLR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YyQvns.DR7g23a7UYoJ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fOabX1MJma8qCQ92TwM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KDlSFL07Mp8croy1sCvh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VeQ4U7tf436t5Evy41H7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Xbty5T0MRiFGnLKQyas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s7.qDg4Mp6Mo5vVqfnd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4RPTV7pF0ephvHPKt.w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.V9EJfirT0ceOpCbJi0d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n2q3gw63A5Jz1r74.vi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N9BmHygA2iEEnA8nAg4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FldAVYIB0XSZsyQPqTd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H1s.yKbXJSLZuzEFEXV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Opyy7n1qOuPjowdWWfT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3Zdt0C7R0kylno6ljGc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Lo_8AxUjK1PvFQBbxk8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cOf4P5_tsxHOAzjYC_U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cj_bsPV2uJN1dBhspBOQ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ZWIa_V8oTalWy5HQKXJ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14v.RY8j_v0tXKRYpSO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rg6eyte3uhzGjQuXjwe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7.oAKebB9Ca4su06waz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Vzq58yvUO7I4t04CY_u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96MAhnblJmIXOmf2wUJ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1gkDfQZn9E4Xf6cWvntT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DhYU.lMJTZZC._YwBfG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2GK7xSTIDCH2eG6uzrPh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Bn5npUk.xwQN0MxsWQ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LNv52p_EmFaJMGQz1rh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ISXC4DyvuwREarEECPL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vbsC2bMCQxg4IniTYvP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tXBAercQ53U8F5jdL2x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Xn.AjSUNaid46NndSa.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K.bx9QPCOBUlMSjOXLQ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_zuid.kTlvgBoDW0f3X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FkbWH2BNlopP4nNFVi.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KSaO047XffzqH0u_UIs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8xX.2vyhBDz4U6u5F5V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2FI3NI6mpuZIoLs8CZA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wvF3wE7w4Xx2ck3s_.v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vH4z0YKgppQedCvOwcG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z0wSz0L1w_6stvqlETs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_qmDakGKcbDNCpeF0u5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8hzef.Jm6YyLTeUruRI5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L0WsYYazfP08DZ41f0z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vNhoGO36vPAKVWTRks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5QhfCjLvJPECEeR.nzeu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KSaO047XffzqH0u_UIs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8xX.2vyhBDz4U6u5F5V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2FI3NI6mpuZIoLs8CZA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wvF3wE7w4Xx2ck3s_.v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vH4z0YKgppQedCvOwcG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5QhfCjLvJPECEeR.nzeu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_qmDakGKcbDNCpeF0u5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8hzef.Jm6YyLTeUruRI5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L0WsYYazfP08DZ41f0z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z0wSz0L1w_6stvqlETs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nR_O6P.wAgnltdHI7tj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F2CJtWkXDHo4iw.kf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_.RCRZ2qHn6amB_GB5f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_FN6zt6ox1wyHKg1BGa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End6EeKP8zZgZjfEf5z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_KmZ7nR3Gkf9RMpCpIwD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dqI3CM..pcuq_HjMN.m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w2YPv8b3.FfH8T55BW5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sM7kk.TFJd0jYUPgakV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tF8ZqG93jAjJknQgUnX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htiboyzAogw02JDAGi4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bpbjbATtFye1OFP63kw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VruP.1HNR2FrfCFLC5k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5LeTL5b81Cecpqmc7Hn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XbW776809x4Sy0EboUN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75gdPJZL1RZfDfaRqci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MJ6AOLO4417aId8EbxD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SuOeqyPeFUX9ZutzPKf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3v37TgkomhJZuEoKkM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uX0xmn.IA6nVFeIAPw6o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cFnUZ0kCQ.pFzVKIVWx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QRDrsSPTj4cjqiXNi7T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bHI5zr.UR9sYeb6O0n5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O_zh7N3hobpXFzvwHIV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cta1gy4vtQYst1tMu19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nUoJsnUJxmFOBVL6xC4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UYAkiZfTHwexYP5K1K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6Bth2b86mNRd3_UaOyJ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ZQPkeUjUCUShNApz8TW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022q0Lz2AM1BdY2e7U0X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Z0NWvxHhSVMTj0QUkuY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8D_6kA5.UCL0SA2ISb9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SmZkrEYOl1293bfcwcl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ds3gB9ZE27hyicJ5wt0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YoFKl.dTNM8VnaLQ4rv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wh2CJlH1iEk4hdxySb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GfCh9aPcmazVuvBZ.DG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McmGXtPURgeYLNRBgvEv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0CNuj3OFD0xTzppKO7R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ispChPWvZEeimBnIscb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JsUxK0dP6hcxujQr50s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98K_foHYmEv4JJUvVKU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MnaJAQwMCEUt4L70hzz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PO16fQJ6uk6RVySAk1gH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Osqr6WFyUGTzJiy2I94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5upECgF7SejBQjcX2IBw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1518</Words>
  <Application>Microsoft Macintosh PowerPoint</Application>
  <PresentationFormat>宽屏</PresentationFormat>
  <Paragraphs>339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HarmonyOS Sans SC</vt:lpstr>
      <vt:lpstr>HarmonyOS Sans SC Light</vt:lpstr>
      <vt:lpstr>HarmonyOS Sans SC Medium</vt:lpstr>
      <vt:lpstr>Arial</vt:lpstr>
      <vt:lpstr>Calibri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12</cp:revision>
  <dcterms:created xsi:type="dcterms:W3CDTF">2024-09-22T12:49:42Z</dcterms:created>
  <dcterms:modified xsi:type="dcterms:W3CDTF">2024-10-18T03:40:15Z</dcterms:modified>
</cp:coreProperties>
</file>