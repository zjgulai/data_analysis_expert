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charts/chart1.xml" ContentType="application/vnd.openxmlformats-officedocument.drawingml.chart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tags/tag44.xml" ContentType="application/vnd.openxmlformats-officedocument.presentationml.tags+xml"/>
  <Override PartName="/ppt/charts/chart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9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0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tags/tag45.xml" ContentType="application/vnd.openxmlformats-officedocument.presentationml.tags+xml"/>
  <Override PartName="/ppt/charts/chart11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2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3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4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5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charts/chart18.xml" ContentType="application/vnd.openxmlformats-officedocument.drawingml.chart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charts/chart21.xml" ContentType="application/vnd.openxmlformats-officedocument.drawingml.chart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charts/chart2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5207" r:id="rId3"/>
    <p:sldId id="5208" r:id="rId4"/>
    <p:sldId id="258" r:id="rId5"/>
    <p:sldId id="257" r:id="rId6"/>
    <p:sldId id="5202" r:id="rId7"/>
    <p:sldId id="5203" r:id="rId8"/>
    <p:sldId id="5204" r:id="rId9"/>
    <p:sldId id="5209" r:id="rId10"/>
    <p:sldId id="5210" r:id="rId11"/>
    <p:sldId id="5211" r:id="rId12"/>
    <p:sldId id="25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DFF"/>
    <a:srgbClr val="0059AE"/>
    <a:srgbClr val="1F40E5"/>
    <a:srgbClr val="051B2C"/>
    <a:srgbClr val="7387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93"/>
    <p:restoredTop sz="95748"/>
  </p:normalViewPr>
  <p:slideViewPr>
    <p:cSldViewPr snapToGrid="0">
      <p:cViewPr varScale="1">
        <p:scale>
          <a:sx n="224" d="100"/>
          <a:sy n="224" d="100"/>
        </p:scale>
        <p:origin x="1128" y="168"/>
      </p:cViewPr>
      <p:guideLst>
        <p:guide orient="horz" pos="28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6.xlsb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___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___8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9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0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1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2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3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4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5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6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7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8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9.xlsb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0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033707865168543E-3"/>
          <c:y val="0.1579861111111111"/>
          <c:w val="0.98539325842696635"/>
          <c:h val="0.7303240740740740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59A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4.224537037037037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C06-E748-A905-6E39DFF9B6AC}"/>
                </c:ext>
              </c:extLst>
            </c:dLbl>
            <c:dLbl>
              <c:idx val="1"/>
              <c:layout>
                <c:manualLayout>
                  <c:x val="0"/>
                  <c:y val="-0.1568287037037036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C06-E748-A905-6E39DFF9B6AC}"/>
                </c:ext>
              </c:extLst>
            </c:dLbl>
            <c:dLbl>
              <c:idx val="2"/>
              <c:layout>
                <c:manualLayout>
                  <c:x val="0"/>
                  <c:y val="-0.2789351851851851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C06-E748-A905-6E39DFF9B6AC}"/>
                </c:ext>
              </c:extLst>
            </c:dLbl>
            <c:dLbl>
              <c:idx val="3"/>
              <c:layout>
                <c:manualLayout>
                  <c:x val="0"/>
                  <c:y val="-0.411458333333333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6C06-E748-A905-6E39DFF9B6A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13</c:v>
                </c:pt>
                <c:pt idx="1">
                  <c:v>51</c:v>
                </c:pt>
                <c:pt idx="2">
                  <c:v>107</c:v>
                </c:pt>
                <c:pt idx="3">
                  <c:v>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06-E748-A905-6E39DFF9B6AC}"/>
            </c:ext>
          </c:extLst>
        </c:ser>
        <c:ser>
          <c:idx val="1"/>
          <c:order val="1"/>
          <c:spPr>
            <a:solidFill>
              <a:srgbClr val="00AD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761574074074074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6C06-E748-A905-6E39DFF9B6AC}"/>
                </c:ext>
              </c:extLst>
            </c:dLbl>
            <c:dLbl>
              <c:idx val="1"/>
              <c:layout>
                <c:manualLayout>
                  <c:x val="0"/>
                  <c:y val="-0.1371527777777777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6C06-E748-A905-6E39DFF9B6AC}"/>
                </c:ext>
              </c:extLst>
            </c:dLbl>
            <c:dLbl>
              <c:idx val="2"/>
              <c:layout>
                <c:manualLayout>
                  <c:x val="0"/>
                  <c:y val="-0.2372685185185185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6C06-E748-A905-6E39DFF9B6AC}"/>
                </c:ext>
              </c:extLst>
            </c:dLbl>
            <c:dLbl>
              <c:idx val="3"/>
              <c:layout>
                <c:manualLayout>
                  <c:x val="0"/>
                  <c:y val="-0.3292824074074073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6C06-E748-A905-6E39DFF9B6A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12</c:v>
                </c:pt>
                <c:pt idx="1">
                  <c:v>42</c:v>
                </c:pt>
                <c:pt idx="2">
                  <c:v>88</c:v>
                </c:pt>
                <c:pt idx="3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C06-E748-A905-6E39DFF9B6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146983296"/>
        <c:axId val="1"/>
      </c:barChart>
      <c:catAx>
        <c:axId val="21469832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6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469832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754385964912282"/>
          <c:y val="8.4835164835164831E-2"/>
          <c:w val="0.56491228070175437"/>
          <c:h val="0.8303296703296703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9A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85934065934065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A39-3643-B863-1D0A82A102E4}"/>
                </c:ext>
              </c:extLst>
            </c:dLbl>
            <c:dLbl>
              <c:idx val="1"/>
              <c:layout>
                <c:manualLayout>
                  <c:x val="0"/>
                  <c:y val="-0.217582417582417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A39-3643-B863-1D0A82A102E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725</c:v>
                </c:pt>
                <c:pt idx="1">
                  <c:v>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39-3643-B863-1D0A82A10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80324879"/>
        <c:axId val="1"/>
      </c:barChart>
      <c:catAx>
        <c:axId val="1803248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kumimoji="1" sz="1400" kern="1200">
                <a:latin typeface="HarmonyOS Sans SC"/>
                <a:ea typeface="HarmonyOS Sans SC"/>
                <a:cs typeface="+mn-cs"/>
                <a:sym typeface="HarmonyOS Sans SC"/>
              </a:defRPr>
            </a:pPr>
            <a:endParaRPr lang="zh-CN"/>
          </a:p>
        </c:txPr>
        <c:crossAx val="180324879"/>
        <c:crosses val="min"/>
        <c:crossBetween val="between"/>
        <c:majorUnit val="5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684210526315789"/>
          <c:y val="8.4835164835164831E-2"/>
          <c:w val="0.56561403508771935"/>
          <c:h val="0.8303296703296703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767032967032967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B63-DB4E-A940-DAE9FDE835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682</c:v>
                </c:pt>
                <c:pt idx="1">
                  <c:v>1823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63-DB4E-A940-DAE9FDE83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696134863"/>
        <c:axId val="1"/>
      </c:barChart>
      <c:catAx>
        <c:axId val="6961348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961348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0750605326876512"/>
          <c:y val="8.4835164835164831E-2"/>
          <c:w val="0.65052461662631156"/>
          <c:h val="0.8303296703296703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9A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7.692307692307692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877-6C40-B6D5-F4781BEC7180}"/>
                </c:ext>
              </c:extLst>
            </c:dLbl>
            <c:dLbl>
              <c:idx val="1"/>
              <c:layout>
                <c:manualLayout>
                  <c:x val="0"/>
                  <c:y val="-7.780219780219779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877-6C40-B6D5-F4781BEC718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50</c:v>
                </c:pt>
                <c:pt idx="1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877-6C40-B6D5-F4781BEC71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695259407"/>
        <c:axId val="1"/>
      </c:barChart>
      <c:catAx>
        <c:axId val="6952594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kumimoji="1" sz="1400" kern="1200">
                <a:solidFill>
                  <a:schemeClr val="tx1"/>
                </a:solidFill>
                <a:latin typeface="HarmonyOS Sans SC"/>
                <a:ea typeface="HarmonyOS Sans SC"/>
                <a:cs typeface="+mn-cs"/>
                <a:sym typeface="HarmonyOS Sans SC"/>
              </a:defRPr>
            </a:pPr>
            <a:endParaRPr lang="zh-CN"/>
          </a:p>
        </c:txPr>
        <c:crossAx val="695259407"/>
        <c:crosses val="min"/>
        <c:crossBetween val="between"/>
        <c:majorUnit val="1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684210526315789"/>
          <c:y val="8.644142167617376E-2"/>
          <c:w val="0.56561403508771935"/>
          <c:h val="0.8288723124177270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D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3777972795085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B71-DE49-B9DB-666387F7F7D0}"/>
                </c:ext>
              </c:extLst>
            </c:dLbl>
            <c:dLbl>
              <c:idx val="1"/>
              <c:layout>
                <c:manualLayout>
                  <c:x val="0"/>
                  <c:y val="-0.4326458973233874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B71-DE49-B9DB-666387F7F7D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124</c:v>
                </c:pt>
                <c:pt idx="1">
                  <c:v>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71-DE49-B9DB-666387F7F7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755926079"/>
        <c:axId val="1"/>
      </c:barChart>
      <c:catAx>
        <c:axId val="7559260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559260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01047569981112E-3"/>
          <c:y val="4.9713193116634802E-2"/>
          <c:w val="0.98213979048600375"/>
          <c:h val="0.900573613766730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val>
            <c:numRef>
              <c:f>Sheet1!$A$1:$D$1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5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7A-3745-A394-6E24BD686C0E}"/>
            </c:ext>
          </c:extLst>
        </c:ser>
        <c:ser>
          <c:idx val="1"/>
          <c:order val="1"/>
          <c:spPr>
            <a:solidFill>
              <a:srgbClr val="72DAFE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7A-3745-A394-6E24BD686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100"/>
        <c:axId val="620581055"/>
        <c:axId val="1"/>
      </c:barChart>
      <c:catAx>
        <c:axId val="6205810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80808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2058105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01047569981112E-3"/>
          <c:y val="4.9713193116634802E-2"/>
          <c:w val="0.98213979048600375"/>
          <c:h val="0.900573613766730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val>
            <c:numRef>
              <c:f>Sheet1!$A$1:$D$1</c:f>
              <c:numCache>
                <c:formatCode>General</c:formatCode>
                <c:ptCount val="4"/>
                <c:pt idx="0">
                  <c:v>-10</c:v>
                </c:pt>
                <c:pt idx="1">
                  <c:v>-5</c:v>
                </c:pt>
                <c:pt idx="2">
                  <c:v>-5</c:v>
                </c:pt>
                <c:pt idx="3">
                  <c:v>-30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EA-E745-B51A-4835BF76C760}"/>
            </c:ext>
          </c:extLst>
        </c:ser>
        <c:ser>
          <c:idx val="1"/>
          <c:order val="1"/>
          <c:spPr>
            <a:solidFill>
              <a:srgbClr val="8C9AC7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-10</c:v>
                </c:pt>
                <c:pt idx="1">
                  <c:v>-5</c:v>
                </c:pt>
                <c:pt idx="2">
                  <c:v>-5</c:v>
                </c:pt>
                <c:pt idx="3">
                  <c:v>-10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EA-E745-B51A-4835BF76C7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100"/>
        <c:axId val="620579567"/>
        <c:axId val="1"/>
      </c:barChart>
      <c:catAx>
        <c:axId val="620579567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808080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40"/>
        </c:scaling>
        <c:delete val="1"/>
        <c:axPos val="l"/>
        <c:numFmt formatCode="General" sourceLinked="1"/>
        <c:majorTickMark val="out"/>
        <c:minorTickMark val="none"/>
        <c:tickLblPos val="nextTo"/>
        <c:crossAx val="6205795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0311122251345292E-2"/>
          <c:y val="0"/>
          <c:w val="0.89937775549730947"/>
          <c:h val="0.91021607318424058"/>
        </c:manualLayout>
      </c:layout>
      <c:areaChart>
        <c:grouping val="standard"/>
        <c:varyColors val="0"/>
        <c:ser>
          <c:idx val="0"/>
          <c:order val="0"/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cat>
            <c:numRef>
              <c:f>Sheet1!$B$7:$B$8</c:f>
              <c:numCache>
                <c:formatCode>General</c:formatCode>
                <c:ptCount val="2"/>
                <c:pt idx="0">
                  <c:v>2018</c:v>
                </c:pt>
                <c:pt idx="1">
                  <c:v>2022</c:v>
                </c:pt>
              </c:numCache>
            </c:numRef>
          </c:cat>
          <c:val>
            <c:numRef>
              <c:f>Sheet1!$C$7:$D$7</c:f>
              <c:numCache>
                <c:formatCode>General</c:formatCode>
                <c:ptCount val="2"/>
                <c:pt idx="0">
                  <c:v>15.5</c:v>
                </c:pt>
                <c:pt idx="1">
                  <c:v>19.3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E5-47C9-A2E6-837AA8A90E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1694832"/>
        <c:axId val="1441690992"/>
      </c:area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0.128064584787386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9E5-47C9-A2E6-837AA8A90E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Sheet1!$B$7:$B$8</c:f>
              <c:numCache>
                <c:formatCode>General</c:formatCode>
                <c:ptCount val="2"/>
                <c:pt idx="0">
                  <c:v>2018</c:v>
                </c:pt>
                <c:pt idx="1">
                  <c:v>2022</c:v>
                </c:pt>
              </c:numCache>
            </c:numRef>
          </c:cat>
          <c:val>
            <c:numRef>
              <c:f>Sheet1!$C$8:$D$8</c:f>
              <c:numCache>
                <c:formatCode>General</c:formatCode>
                <c:ptCount val="2"/>
                <c:pt idx="0">
                  <c:v>13.6</c:v>
                </c:pt>
                <c:pt idx="1">
                  <c:v>15.3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E5-47C9-A2E6-837AA8A90E9E}"/>
            </c:ext>
          </c:extLst>
        </c:ser>
        <c:ser>
          <c:idx val="2"/>
          <c:order val="2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0.128064584787386"/>
                  <c:y val="9.8607856611132366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9E5-47C9-A2E6-837AA8A90E9E}"/>
                </c:ext>
              </c:extLst>
            </c:dLbl>
            <c:dLbl>
              <c:idx val="1"/>
              <c:layout>
                <c:manualLayout>
                  <c:x val="-6.8606075797289032E-3"/>
                  <c:y val="-1.03862308020848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A78-EC42-AEA0-62EAA49401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Sheet1!$B$7:$B$8</c:f>
              <c:numCache>
                <c:formatCode>General</c:formatCode>
                <c:ptCount val="2"/>
                <c:pt idx="0">
                  <c:v>2018</c:v>
                </c:pt>
                <c:pt idx="1">
                  <c:v>2022</c:v>
                </c:pt>
              </c:numCache>
            </c:numRef>
          </c:cat>
          <c:val>
            <c:numRef>
              <c:f>Sheet1!$C$7:$D$7</c:f>
              <c:numCache>
                <c:formatCode>General</c:formatCode>
                <c:ptCount val="2"/>
                <c:pt idx="0">
                  <c:v>15.5</c:v>
                </c:pt>
                <c:pt idx="1">
                  <c:v>19.3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9E5-47C9-A2E6-837AA8A90E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1694832"/>
        <c:axId val="1441690992"/>
      </c:lineChart>
      <c:catAx>
        <c:axId val="1441694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9C9C9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441690992"/>
        <c:crosses val="autoZero"/>
        <c:auto val="1"/>
        <c:lblAlgn val="ctr"/>
        <c:lblOffset val="100"/>
        <c:noMultiLvlLbl val="0"/>
      </c:catAx>
      <c:valAx>
        <c:axId val="14416909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4169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20E-434E-B8AE-250D6051491F}"/>
              </c:ext>
            </c:extLst>
          </c:dPt>
          <c:dPt>
            <c:idx val="1"/>
            <c:invertIfNegative val="0"/>
            <c:bubble3D val="0"/>
            <c:spPr>
              <a:solidFill>
                <a:srgbClr val="00ACF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20E-434E-B8AE-250D605149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类别 1</c:v>
                </c:pt>
                <c:pt idx="1">
                  <c:v>类别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4.9000000000000004</c:v>
                </c:pt>
                <c:pt idx="1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0E-434E-B8AE-250D60514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2"/>
        <c:overlap val="-27"/>
        <c:axId val="380289280"/>
        <c:axId val="380290992"/>
      </c:barChart>
      <c:catAx>
        <c:axId val="38028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0290992"/>
        <c:crosses val="autoZero"/>
        <c:auto val="1"/>
        <c:lblAlgn val="ctr"/>
        <c:lblOffset val="100"/>
        <c:noMultiLvlLbl val="0"/>
      </c:catAx>
      <c:valAx>
        <c:axId val="3802909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028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8.1489735020406125E-3"/>
          <c:w val="0.98989124733252321"/>
          <c:h val="0.88452230813578758"/>
        </c:manualLayout>
      </c:layout>
      <c:areaChart>
        <c:grouping val="standard"/>
        <c:varyColors val="0"/>
        <c:ser>
          <c:idx val="0"/>
          <c:order val="0"/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cat>
            <c:numRef>
              <c:f>Sheet1!$B$7:$B$8</c:f>
              <c:numCache>
                <c:formatCode>General</c:formatCode>
                <c:ptCount val="2"/>
                <c:pt idx="0">
                  <c:v>2018</c:v>
                </c:pt>
                <c:pt idx="1">
                  <c:v>2022</c:v>
                </c:pt>
              </c:numCache>
            </c:numRef>
          </c:cat>
          <c:val>
            <c:numRef>
              <c:f>Sheet1!$C$7:$D$7</c:f>
              <c:numCache>
                <c:formatCode>General</c:formatCode>
                <c:ptCount val="2"/>
                <c:pt idx="0">
                  <c:v>10</c:v>
                </c:pt>
                <c:pt idx="1">
                  <c:v>9.8000000000000007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3E-4A5E-982B-981A2C1A1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1694832"/>
        <c:axId val="1441690992"/>
      </c:area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0.12256852659756101"/>
                  <c:y val="-6.616019361291446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A3E-4A5E-982B-981A2C1A1BD2}"/>
                </c:ext>
              </c:extLst>
            </c:dLbl>
            <c:dLbl>
              <c:idx val="1"/>
              <c:layout>
                <c:manualLayout>
                  <c:x val="-1.2635841338749077E-2"/>
                  <c:y val="-4.620158174415214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A3E-4A5E-982B-981A2C1A1B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Sheet1!$B$7:$B$8</c:f>
              <c:numCache>
                <c:formatCode>General</c:formatCode>
                <c:ptCount val="2"/>
                <c:pt idx="0">
                  <c:v>2018</c:v>
                </c:pt>
                <c:pt idx="1">
                  <c:v>2022</c:v>
                </c:pt>
              </c:numCache>
            </c:numRef>
          </c:cat>
          <c:val>
            <c:numRef>
              <c:f>Sheet1!$C$8:$D$8</c:f>
              <c:numCache>
                <c:formatCode>General</c:formatCode>
                <c:ptCount val="2"/>
                <c:pt idx="0">
                  <c:v>8.4</c:v>
                </c:pt>
                <c:pt idx="1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3E-4A5E-982B-981A2C1A1BD2}"/>
            </c:ext>
          </c:extLst>
        </c:ser>
        <c:ser>
          <c:idx val="2"/>
          <c:order val="2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0.12241689530754885"/>
                  <c:y val="-1.26033671995641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A3E-4A5E-982B-981A2C1A1BD2}"/>
                </c:ext>
              </c:extLst>
            </c:dLbl>
            <c:dLbl>
              <c:idx val="1"/>
              <c:layout>
                <c:manualLayout>
                  <c:x val="-1.2635841338749077E-2"/>
                  <c:y val="-9.6096932804278085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A3E-4A5E-982B-981A2C1A1B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Sheet1!$B$7:$B$8</c:f>
              <c:numCache>
                <c:formatCode>General</c:formatCode>
                <c:ptCount val="2"/>
                <c:pt idx="0">
                  <c:v>2018</c:v>
                </c:pt>
                <c:pt idx="1">
                  <c:v>2022</c:v>
                </c:pt>
              </c:numCache>
            </c:numRef>
          </c:cat>
          <c:val>
            <c:numRef>
              <c:f>Sheet1!$C$7:$D$7</c:f>
              <c:numCache>
                <c:formatCode>General</c:formatCode>
                <c:ptCount val="2"/>
                <c:pt idx="0">
                  <c:v>10</c:v>
                </c:pt>
                <c:pt idx="1">
                  <c:v>9.8000000000000007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3E-4A5E-982B-981A2C1A1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1694832"/>
        <c:axId val="1441690992"/>
      </c:lineChart>
      <c:catAx>
        <c:axId val="1441694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C9C9C9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441690992"/>
        <c:crosses val="autoZero"/>
        <c:auto val="1"/>
        <c:lblAlgn val="ctr"/>
        <c:lblOffset val="100"/>
        <c:noMultiLvlLbl val="0"/>
      </c:catAx>
      <c:valAx>
        <c:axId val="14416909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4169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793838726363585"/>
          <c:y val="3.9020515238391049E-2"/>
          <c:w val="0.64417840105753199"/>
          <c:h val="0.883204642910612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tx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4F6-5445-9F9D-3B1C1DE001B9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chemeClr val="tx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84F6-5445-9F9D-3B1C1DE001B9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2225" cap="rnd">
                <a:solidFill>
                  <a:srgbClr val="0042F6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84F6-5445-9F9D-3B1C1DE001B9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2020</c:v>
                </c:pt>
                <c:pt idx="2">
                  <c:v>2021</c:v>
                </c:pt>
                <c:pt idx="3">
                  <c:v>2030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</c:v>
                </c:pt>
                <c:pt idx="1">
                  <c:v>76</c:v>
                </c:pt>
                <c:pt idx="2">
                  <c:v>99</c:v>
                </c:pt>
                <c:pt idx="3">
                  <c:v>537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F6-5445-9F9D-3B1C1DE00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1158448"/>
        <c:axId val="381160160"/>
      </c:lineChart>
      <c:catAx>
        <c:axId val="38115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1160160"/>
        <c:crosses val="autoZero"/>
        <c:auto val="1"/>
        <c:lblAlgn val="ctr"/>
        <c:lblOffset val="100"/>
        <c:noMultiLvlLbl val="0"/>
      </c:catAx>
      <c:valAx>
        <c:axId val="38116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1158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tx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B0C-4F46-A0D9-3889E428CCF6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rgbClr val="0043F5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0C-4F46-A0D9-3889E428CCF6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2225" cap="rnd">
                <a:solidFill>
                  <a:schemeClr val="accent2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0C-4F46-A0D9-3889E428CCF6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2020</c:v>
                </c:pt>
                <c:pt idx="2">
                  <c:v>2030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189</c:v>
                </c:pt>
                <c:pt idx="2">
                  <c:v>1880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9B0C-4F46-A0D9-3889E428CC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1158448"/>
        <c:axId val="381160160"/>
      </c:lineChart>
      <c:catAx>
        <c:axId val="38115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1160160"/>
        <c:crosses val="autoZero"/>
        <c:auto val="1"/>
        <c:lblAlgn val="ctr"/>
        <c:lblOffset val="100"/>
        <c:noMultiLvlLbl val="0"/>
      </c:catAx>
      <c:valAx>
        <c:axId val="38116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1158448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tx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299-0A46-B2FC-E9B4483CEBFA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chemeClr val="tx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99-0A46-B2FC-E9B4483CEBFA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2225" cap="rnd">
                <a:solidFill>
                  <a:srgbClr val="00B0F0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9299-0A46-B2FC-E9B4483CEBFA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2020</c:v>
                </c:pt>
                <c:pt idx="2">
                  <c:v>2021</c:v>
                </c:pt>
                <c:pt idx="3">
                  <c:v>2030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3.8</c:v>
                </c:pt>
                <c:pt idx="2">
                  <c:v>5.9</c:v>
                </c:pt>
                <c:pt idx="3">
                  <c:v>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9299-0A46-B2FC-E9B4483CE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1158448"/>
        <c:axId val="381160160"/>
      </c:lineChart>
      <c:catAx>
        <c:axId val="38115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1160160"/>
        <c:crosses val="autoZero"/>
        <c:auto val="1"/>
        <c:lblAlgn val="ctr"/>
        <c:lblOffset val="100"/>
        <c:noMultiLvlLbl val="0"/>
      </c:catAx>
      <c:valAx>
        <c:axId val="38116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1158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tx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CA2-6742-BE6B-526661F291F4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rgbClr val="00B0F0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CA2-6742-BE6B-526661F291F4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2225" cap="rnd">
                <a:solidFill>
                  <a:schemeClr val="accent2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CA2-6742-BE6B-526661F291F4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2020</c:v>
                </c:pt>
                <c:pt idx="2">
                  <c:v>2030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1.8</c:v>
                </c:pt>
                <c:pt idx="2">
                  <c:v>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CA2-6742-BE6B-526661F291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1158448"/>
        <c:axId val="381160160"/>
      </c:lineChart>
      <c:catAx>
        <c:axId val="38115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1160160"/>
        <c:crosses val="autoZero"/>
        <c:auto val="1"/>
        <c:lblAlgn val="ctr"/>
        <c:lblOffset val="100"/>
        <c:noMultiLvlLbl val="0"/>
      </c:catAx>
      <c:valAx>
        <c:axId val="381160160"/>
        <c:scaling>
          <c:orientation val="minMax"/>
          <c:max val="5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1158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tx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C07-E84F-9A8B-C308238ED687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chemeClr val="tx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EC07-E84F-9A8B-C308238ED687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2225" cap="rnd">
                <a:solidFill>
                  <a:srgbClr val="00B0F0"/>
                </a:solidFill>
                <a:prstDash val="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EC07-E84F-9A8B-C308238ED687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2020</c:v>
                </c:pt>
                <c:pt idx="2">
                  <c:v>2021</c:v>
                </c:pt>
                <c:pt idx="3">
                  <c:v>2030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3.1</c:v>
                </c:pt>
                <c:pt idx="2">
                  <c:v>2.8</c:v>
                </c:pt>
                <c:pt idx="3">
                  <c:v>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C07-E84F-9A8B-C308238ED6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1158448"/>
        <c:axId val="381160160"/>
      </c:lineChart>
      <c:catAx>
        <c:axId val="38115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1160160"/>
        <c:crosses val="autoZero"/>
        <c:auto val="1"/>
        <c:lblAlgn val="ctr"/>
        <c:lblOffset val="100"/>
        <c:noMultiLvlLbl val="0"/>
      </c:catAx>
      <c:valAx>
        <c:axId val="38116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381158448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 b="0" i="0">
          <a:solidFill>
            <a:schemeClr val="tx1"/>
          </a:solidFill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310924369747899E-2"/>
          <c:y val="2.0280811232449299E-2"/>
          <c:w val="0.94537815126050417"/>
          <c:h val="0.9594383775351014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92B-5246-ABBF-ADC33816A84F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-1.3</c:v>
                </c:pt>
                <c:pt idx="1">
                  <c:v>1.3</c:v>
                </c:pt>
                <c:pt idx="2">
                  <c:v>4.0999999999999996</c:v>
                </c:pt>
                <c:pt idx="3">
                  <c:v>6.5</c:v>
                </c:pt>
                <c:pt idx="4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2B-5246-ABBF-ADC33816A8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56638719"/>
        <c:axId val="1"/>
      </c:barChart>
      <c:catAx>
        <c:axId val="35663871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808080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6.8"/>
          <c:min val="-1.3"/>
        </c:scaling>
        <c:delete val="1"/>
        <c:axPos val="t"/>
        <c:numFmt formatCode="General" sourceLinked="1"/>
        <c:majorTickMark val="out"/>
        <c:minorTickMark val="none"/>
        <c:tickLblPos val="nextTo"/>
        <c:crossAx val="3566387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310924369747899E-2"/>
          <c:y val="2.0280811232449299E-2"/>
          <c:w val="0.94537815126050417"/>
          <c:h val="0.9594383775351014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D40-9A47-BB90-9833E32D4BDF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D40-9A47-BB90-9833E32D4BDF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-1.1000000000000001</c:v>
                </c:pt>
                <c:pt idx="1">
                  <c:v>-0.1</c:v>
                </c:pt>
                <c:pt idx="2">
                  <c:v>1.3</c:v>
                </c:pt>
                <c:pt idx="3">
                  <c:v>4.0999999999999996</c:v>
                </c:pt>
                <c:pt idx="4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40-9A47-BB90-9833E32D4B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62236799"/>
        <c:axId val="1"/>
      </c:barChart>
      <c:catAx>
        <c:axId val="96223679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808080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5.7"/>
          <c:min val="-1.1000000000000001"/>
        </c:scaling>
        <c:delete val="1"/>
        <c:axPos val="t"/>
        <c:numFmt formatCode="General" sourceLinked="1"/>
        <c:majorTickMark val="out"/>
        <c:minorTickMark val="none"/>
        <c:tickLblPos val="nextTo"/>
        <c:crossAx val="9622367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26007326007326E-3"/>
          <c:y val="2.2717343818261248E-2"/>
          <c:w val="0.9853479853479854"/>
          <c:h val="0.95456531236347753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3893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118-D240-BE56-0F3DAE64486B}"/>
              </c:ext>
            </c:extLst>
          </c:dPt>
          <c:dPt>
            <c:idx val="3"/>
            <c:invertIfNegative val="0"/>
            <c:bubble3D val="0"/>
            <c:spPr>
              <a:solidFill>
                <a:srgbClr val="09306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118-D240-BE56-0F3DAE64486B}"/>
              </c:ext>
            </c:extLst>
          </c:dPt>
          <c:val>
            <c:numRef>
              <c:f>Sheet1!$A$1:$D$1</c:f>
              <c:numCache>
                <c:formatCode>General</c:formatCode>
                <c:ptCount val="4"/>
                <c:pt idx="0">
                  <c:v>75</c:v>
                </c:pt>
                <c:pt idx="1">
                  <c:v>31.5</c:v>
                </c:pt>
                <c:pt idx="2">
                  <c:v>6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18-D240-BE56-0F3DAE64486B}"/>
            </c:ext>
          </c:extLst>
        </c:ser>
        <c:ser>
          <c:idx val="1"/>
          <c:order val="1"/>
          <c:spPr>
            <a:solidFill>
              <a:srgbClr val="174B9E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326FD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118-D240-BE56-0F3DAE64486B}"/>
              </c:ext>
            </c:extLst>
          </c:dPt>
          <c:val>
            <c:numRef>
              <c:f>Sheet1!$A$2:$D$2</c:f>
              <c:numCache>
                <c:formatCode>General</c:formatCode>
                <c:ptCount val="4"/>
                <c:pt idx="1">
                  <c:v>43.5</c:v>
                </c:pt>
                <c:pt idx="2">
                  <c:v>25.5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118-D240-BE56-0F3DAE644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01805280"/>
        <c:axId val="1"/>
      </c:barChart>
      <c:catAx>
        <c:axId val="12018052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20180528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310924369747899E-2"/>
          <c:y val="1.8420120439249024E-2"/>
          <c:w val="0.94537815126050417"/>
          <c:h val="0.96315975912150198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893FF"/>
            </a:solidFill>
            <a:ln>
              <a:noFill/>
            </a:ln>
          </c:spPr>
          <c:invertIfNegative val="0"/>
          <c:val>
            <c:numRef>
              <c:f>Sheet1!$A$1:$K$1</c:f>
              <c:numCache>
                <c:formatCode>General</c:formatCode>
                <c:ptCount val="11"/>
                <c:pt idx="0">
                  <c:v>8.6</c:v>
                </c:pt>
                <c:pt idx="1">
                  <c:v>3.1</c:v>
                </c:pt>
                <c:pt idx="2">
                  <c:v>7.2</c:v>
                </c:pt>
                <c:pt idx="3">
                  <c:v>9</c:v>
                </c:pt>
                <c:pt idx="4">
                  <c:v>9.3000000000000007</c:v>
                </c:pt>
                <c:pt idx="5">
                  <c:v>9.6999999999999993</c:v>
                </c:pt>
                <c:pt idx="6">
                  <c:v>10.199999999999999</c:v>
                </c:pt>
                <c:pt idx="7">
                  <c:v>9.1</c:v>
                </c:pt>
                <c:pt idx="8">
                  <c:v>6.7</c:v>
                </c:pt>
                <c:pt idx="9">
                  <c:v>2.1</c:v>
                </c:pt>
                <c:pt idx="10">
                  <c:v>10.935080405002978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1C-DC41-9CD9-66235D0E0F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45281456"/>
        <c:axId val="1"/>
      </c:barChart>
      <c:catAx>
        <c:axId val="1245281456"/>
        <c:scaling>
          <c:orientation val="maxMin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317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axMin"/>
          <c:max val="10.93508040500297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245281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6598465473145781E-2"/>
          <c:y val="5.4991816693944352E-2"/>
          <c:w val="0.92071611253196928"/>
          <c:h val="0.8900163666121112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9306A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A50-5D4D-8DA3-DACA30F679C7}"/>
              </c:ext>
            </c:extLst>
          </c:dPt>
          <c:dLbls>
            <c:dLbl>
              <c:idx val="1"/>
              <c:layout>
                <c:manualLayout>
                  <c:x val="0.13964194373401534"/>
                  <c:y val="9.8199672667757766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A50-5D4D-8DA3-DACA30F679C7}"/>
                </c:ext>
              </c:extLst>
            </c:dLbl>
            <c:dLbl>
              <c:idx val="2"/>
              <c:layout>
                <c:manualLayout>
                  <c:x val="0.40153452685421998"/>
                  <c:y val="9.8199672667757766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A50-5D4D-8DA3-DACA30F679C7}"/>
                </c:ext>
              </c:extLst>
            </c:dLbl>
            <c:dLbl>
              <c:idx val="3"/>
              <c:layout>
                <c:manualLayout>
                  <c:x val="0.43887468030690535"/>
                  <c:y val="9.8199672667757766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A50-5D4D-8DA3-DACA30F679C7}"/>
                </c:ext>
              </c:extLst>
            </c:dLbl>
            <c:dLbl>
              <c:idx val="4"/>
              <c:layout>
                <c:manualLayout>
                  <c:x val="0.48644501278772379"/>
                  <c:y val="9.8199672667757766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A50-5D4D-8DA3-DACA30F679C7}"/>
                </c:ext>
              </c:extLst>
            </c:dLbl>
            <c:dLbl>
              <c:idx val="5"/>
              <c:layout>
                <c:manualLayout>
                  <c:x val="0.35294117647058826"/>
                  <c:y val="9.8199672667757766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8A50-5D4D-8DA3-DACA30F679C7}"/>
                </c:ext>
              </c:extLst>
            </c:dLbl>
            <c:dLbl>
              <c:idx val="6"/>
              <c:layout>
                <c:manualLayout>
                  <c:x val="0.27621483375959077"/>
                  <c:y val="9.8199672667757766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A50-5D4D-8DA3-DACA30F679C7}"/>
                </c:ext>
              </c:extLst>
            </c:dLbl>
            <c:dLbl>
              <c:idx val="7"/>
              <c:layout>
                <c:manualLayout>
                  <c:x val="0.17033248081841432"/>
                  <c:y val="9.8199672667757766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8A50-5D4D-8DA3-DACA30F679C7}"/>
                </c:ext>
              </c:extLst>
            </c:dLbl>
            <c:dLbl>
              <c:idx val="8"/>
              <c:layout>
                <c:manualLayout>
                  <c:x val="0.1938618925831202"/>
                  <c:y val="9.8199672667757766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8A50-5D4D-8DA3-DACA30F679C7}"/>
                </c:ext>
              </c:extLst>
            </c:dLbl>
            <c:dLbl>
              <c:idx val="9"/>
              <c:layout>
                <c:manualLayout>
                  <c:x val="0.13759590792838874"/>
                  <c:y val="9.8199672667757766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8A50-5D4D-8DA3-DACA30F679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Sheet1!$A$1:$K$1</c:f>
              <c:numCache>
                <c:formatCode>General</c:formatCode>
                <c:ptCount val="11"/>
                <c:pt idx="0">
                  <c:v>0</c:v>
                </c:pt>
                <c:pt idx="1">
                  <c:v>46</c:v>
                </c:pt>
                <c:pt idx="2">
                  <c:v>165</c:v>
                </c:pt>
                <c:pt idx="3">
                  <c:v>183</c:v>
                </c:pt>
                <c:pt idx="4">
                  <c:v>206</c:v>
                </c:pt>
                <c:pt idx="5">
                  <c:v>142</c:v>
                </c:pt>
                <c:pt idx="6">
                  <c:v>105</c:v>
                </c:pt>
                <c:pt idx="7">
                  <c:v>61</c:v>
                </c:pt>
                <c:pt idx="8">
                  <c:v>72</c:v>
                </c:pt>
                <c:pt idx="9">
                  <c:v>45</c:v>
                </c:pt>
                <c:pt idx="10">
                  <c:v>220.84574151280526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A50-5D4D-8DA3-DACA30F679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45213808"/>
        <c:axId val="1"/>
      </c:barChart>
      <c:catAx>
        <c:axId val="124521380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317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20.84574151280526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2452138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7941823101640448E-3"/>
          <c:y val="1.908256880733945E-2"/>
          <c:w val="0.98241163537967191"/>
          <c:h val="0.9618348623853211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3893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0B4-7141-A3B8-2551D399ED6C}"/>
              </c:ext>
            </c:extLst>
          </c:dPt>
          <c:dPt>
            <c:idx val="3"/>
            <c:invertIfNegative val="0"/>
            <c:bubble3D val="0"/>
            <c:spPr>
              <a:solidFill>
                <a:srgbClr val="8997A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0B4-7141-A3B8-2551D399ED6C}"/>
              </c:ext>
            </c:extLst>
          </c:dPt>
          <c:val>
            <c:numRef>
              <c:f>Sheet1!$A$1:$D$1</c:f>
              <c:numCache>
                <c:formatCode>General</c:formatCode>
                <c:ptCount val="4"/>
                <c:pt idx="0">
                  <c:v>100</c:v>
                </c:pt>
                <c:pt idx="1">
                  <c:v>36</c:v>
                </c:pt>
                <c:pt idx="2">
                  <c:v>26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B4-7141-A3B8-2551D399ED6C}"/>
            </c:ext>
          </c:extLst>
        </c:ser>
        <c:ser>
          <c:idx val="1"/>
          <c:order val="1"/>
          <c:spPr>
            <a:solidFill>
              <a:srgbClr val="09306A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EFE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0B4-7141-A3B8-2551D399ED6C}"/>
              </c:ext>
            </c:extLst>
          </c:dPt>
          <c:dPt>
            <c:idx val="2"/>
            <c:invertIfNegative val="0"/>
            <c:bubble3D val="0"/>
            <c:spPr>
              <a:solidFill>
                <a:srgbClr val="326FD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E0B4-7141-A3B8-2551D399ED6C}"/>
              </c:ext>
            </c:extLst>
          </c:dPt>
          <c:val>
            <c:numRef>
              <c:f>Sheet1!$A$2:$D$2</c:f>
              <c:numCache>
                <c:formatCode>General</c:formatCode>
                <c:ptCount val="4"/>
                <c:pt idx="0">
                  <c:v>100</c:v>
                </c:pt>
                <c:pt idx="1">
                  <c:v>64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0B4-7141-A3B8-2551D399ED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43150192"/>
        <c:axId val="1"/>
      </c:barChart>
      <c:catAx>
        <c:axId val="204315019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4315019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798544029119422E-3"/>
          <c:y val="5.6074766355140186E-2"/>
          <c:w val="0.98544029119417609"/>
          <c:h val="0.8878504672897196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9306A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174B9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CDB-7148-A3E5-EFDBBC949899}"/>
              </c:ext>
            </c:extLst>
          </c:dPt>
          <c:dPt>
            <c:idx val="2"/>
            <c:invertIfNegative val="0"/>
            <c:bubble3D val="0"/>
            <c:spPr>
              <a:solidFill>
                <a:srgbClr val="326FD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CDB-7148-A3E5-EFDBBC949899}"/>
              </c:ext>
            </c:extLst>
          </c:dPt>
          <c:dPt>
            <c:idx val="3"/>
            <c:invertIfNegative val="0"/>
            <c:bubble3D val="0"/>
            <c:spPr>
              <a:solidFill>
                <a:srgbClr val="3893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CDB-7148-A3E5-EFDBBC949899}"/>
              </c:ext>
            </c:extLst>
          </c:dPt>
          <c:dPt>
            <c:idx val="4"/>
            <c:invertIfNegative val="0"/>
            <c:bubble3D val="0"/>
            <c:spPr>
              <a:solidFill>
                <a:srgbClr val="7FABD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CDB-7148-A3E5-EFDBBC949899}"/>
              </c:ext>
            </c:extLst>
          </c:dPt>
          <c:dLbls>
            <c:dLbl>
              <c:idx val="0"/>
              <c:layout>
                <c:manualLayout>
                  <c:x val="0"/>
                  <c:y val="-1.001335113484646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CDB-7148-A3E5-EFDBBC949899}"/>
                </c:ext>
              </c:extLst>
            </c:dLbl>
            <c:dLbl>
              <c:idx val="1"/>
              <c:layout>
                <c:manualLayout>
                  <c:x val="0"/>
                  <c:y val="-1.001335113484646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CDB-7148-A3E5-EFDBBC949899}"/>
                </c:ext>
              </c:extLst>
            </c:dLbl>
            <c:dLbl>
              <c:idx val="2"/>
              <c:layout>
                <c:manualLayout>
                  <c:x val="0"/>
                  <c:y val="-1.001335113484646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CDB-7148-A3E5-EFDBBC949899}"/>
                </c:ext>
              </c:extLst>
            </c:dLbl>
            <c:dLbl>
              <c:idx val="3"/>
              <c:layout>
                <c:manualLayout>
                  <c:x val="0"/>
                  <c:y val="-1.001335113484646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CDB-7148-A3E5-EFDBBC949899}"/>
                </c:ext>
              </c:extLst>
            </c:dLbl>
            <c:dLbl>
              <c:idx val="4"/>
              <c:layout>
                <c:manualLayout>
                  <c:x val="0"/>
                  <c:y val="-1.33511348464619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CDB-7148-A3E5-EFDBBC94989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41</c:v>
                </c:pt>
                <c:pt idx="1">
                  <c:v>30</c:v>
                </c:pt>
                <c:pt idx="2">
                  <c:v>14</c:v>
                </c:pt>
                <c:pt idx="3">
                  <c:v>13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CDB-7148-A3E5-EFDBBC9498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98592432"/>
        <c:axId val="1"/>
      </c:barChart>
      <c:catAx>
        <c:axId val="189859243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9859243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FB7CE-07E3-3E3C-C48F-017462ED4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F31C00-BCF2-B25F-9F29-44D969CDD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C7E0D7-850F-C30C-E0D8-FEC03419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2DC0B2-92FD-AF69-4D1C-A6314C442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479E17-4A72-1E40-7A08-F67997A5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2907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7CC4D-E36F-8CBA-D59A-B4FF9792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EE2EB1-9EF1-3D61-E605-8F71758AF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1AB51A-9DC2-5436-28D1-39A95AAA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922D12-0D0C-C432-A36D-C73E5519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52E003-8D3D-0E0C-8D65-973E70B7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8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4E274-51E0-0497-8198-02202500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32C448-8B3C-62BB-8C64-64D385F6D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EB9A8D-8369-8CFF-8251-4BB3842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2B8DFA-7ACF-5C62-5BF8-99AE804C4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723CF1-8D26-EAC1-1D0E-A1398FCE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072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867EC-4F97-F2F6-7F45-6B33D4B64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5E2FA7-32A4-08F4-F741-ADDB70EB8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97A109-FC8D-EC83-EAA5-8DF4E0796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47095B-C267-B95D-8B89-5781458E2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BBE111-9800-F703-7ED2-E6DEB2B9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E0C20C-60E4-44B0-0C49-766B0318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2839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3102C7-83A9-48AA-BD96-E39B77711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FEE601-6CC4-6DE3-48E5-ED729F54E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AA8E69-1B35-6AAD-A547-489658A43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01C6E0-CD3E-1DBA-17D5-EF7C06533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38B415-4C30-484E-0348-BAF6FD38C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202622F-2C26-B1EE-C529-7B7D51F96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725404-344B-1DC2-1760-ADFF1A7A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BACDD2-312D-3DAE-BF52-18B8E23D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773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76A7F-1450-CE4E-771F-9EDACA65F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C8261C-D9A7-C49E-B97F-457181E32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9169EA-5FE3-D34A-B7CE-F8429311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82A095-7FB3-E240-8786-6F5B959B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9192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CA4D6E-C16E-8356-7B8F-BA9803EE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528063-48D5-5152-2B66-8AB57071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AF9408-5AF8-E079-EC13-D2513AD6A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217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EF608-E0E8-2044-1890-BDE937F80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B8E314-A1A0-9700-6F79-81CCB626E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09EF49-64C6-EAEE-E281-83C1881B1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C9A5D3-E035-0CE6-6775-80E37C08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6A026C-1ED6-91EA-87A3-307A9AE0C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145515-B60C-64B1-1972-3739CBB3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789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7E951-0FD9-EEE4-1474-EFFFACE12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DD643B-ACC2-5816-C51E-A21FDDCEA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0EB485-36A9-7BB2-A0C4-5B2EA7DB7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57B4E-C252-ED49-7897-9C3AC035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B5093C-D163-C1F8-3DF7-343FBB0D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AA3685-7C18-C6C5-10F4-D00EE6CF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09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66A29-C7D0-8977-CDAF-0901464E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2D4BE0-308A-A579-C4A0-FFCF356F7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71F9FE-5A8F-6AA7-CB7A-2CF3AB275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3CA668-27B6-383C-1023-F30266B81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A66BEA-8638-F7CC-6D98-EB46BCD0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975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1E8FD7-846A-6612-2E47-54C617808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EEF903-3D04-3313-6FBE-B770D9B40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5BF672-17C3-6AAA-0B90-118B3E9C1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798513-E464-87A6-6AD9-F896FACA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806D5C-BE86-C418-6E33-CA1D33E5F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2216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Title &amp; Subtitle">
  <p:cSld name="1_Main Title &amp; Subtitle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7094" y="885782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335" b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5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6459" indent="0">
              <a:buNone/>
              <a:defRPr sz="1200"/>
            </a:lvl8pPr>
            <a:lvl9pPr marL="4876043" indent="0">
              <a:buNone/>
              <a:defRPr sz="1200"/>
            </a:lvl9pPr>
          </a:lstStyle>
          <a:p>
            <a:pPr lvl="0"/>
            <a:r>
              <a:rPr lang="en-US" dirty="0"/>
              <a:t>CLICK TO EDITE SUBTITLE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517094" y="208857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65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48807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7C56A4B-DA21-231D-55D3-F6434C96BA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400572550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7772400" imgH="10058400" progId="TCLayout.ActiveDocument.1">
                  <p:embed/>
                </p:oleObj>
              </mc:Choice>
              <mc:Fallback>
                <p:oleObj name="think-cell 幻灯片" r:id="rId1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A97417-A7C1-87AE-D0E3-AFD813D2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2E129F-A9B8-A1FA-AA20-D53D91170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91645C-1D21-7FAA-B307-0B99C5149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4A322-CBAD-FA49-B451-1E495185F8BC}" type="datetimeFigureOut">
              <a:rPr kumimoji="1" lang="zh-CN" altLang="en-US" smtClean="0"/>
              <a:t>2024/10/30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D731A9-95C3-AC2C-1A38-B40261195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5E32C-FD88-29EF-B3EB-C0192C4D3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8735B-D40E-2D4C-85D5-4D7BF9959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53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image" Target="../media/image3.emf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oleObject" Target="../embeddings/oleObject3.bin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26" Type="http://schemas.openxmlformats.org/officeDocument/2006/relationships/chart" Target="../charts/chart5.xml"/><Relationship Id="rId3" Type="http://schemas.openxmlformats.org/officeDocument/2006/relationships/tags" Target="../tags/tag24.xml"/><Relationship Id="rId21" Type="http://schemas.openxmlformats.org/officeDocument/2006/relationships/oleObject" Target="../embeddings/oleObject5.bin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chart" Target="../charts/chart4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chart" Target="../charts/chart3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chart" Target="../charts/chart2.xml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tags" Target="../tags/tag43.xml"/><Relationship Id="rId7" Type="http://schemas.openxmlformats.org/officeDocument/2006/relationships/chart" Target="../charts/chart6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chart" Target="../charts/chart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4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oleObject" Target="../embeddings/oleObject8.bin"/><Relationship Id="rId7" Type="http://schemas.openxmlformats.org/officeDocument/2006/relationships/chart" Target="../charts/chart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5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image" Target="../media/image6.emf"/><Relationship Id="rId9" Type="http://schemas.openxmlformats.org/officeDocument/2006/relationships/chart" Target="../charts/chart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chart" Target="../charts/chart17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chart" Target="../charts/chart16.xml"/><Relationship Id="rId2" Type="http://schemas.openxmlformats.org/officeDocument/2006/relationships/tags" Target="../tags/tag47.xml"/><Relationship Id="rId16" Type="http://schemas.openxmlformats.org/officeDocument/2006/relationships/image" Target="../media/image4.emf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oleObject" Target="../embeddings/oleObject9.bin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chart" Target="../charts/chart18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7.emf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oleObject" Target="../embeddings/oleObject10.bin"/><Relationship Id="rId5" Type="http://schemas.openxmlformats.org/officeDocument/2006/relationships/tags" Target="../tags/tag63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62.xml"/><Relationship Id="rId9" Type="http://schemas.openxmlformats.org/officeDocument/2006/relationships/tags" Target="../tags/tag6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tags" Target="../tags/tag85.xml"/><Relationship Id="rId26" Type="http://schemas.openxmlformats.org/officeDocument/2006/relationships/chart" Target="../charts/chart19.xml"/><Relationship Id="rId3" Type="http://schemas.openxmlformats.org/officeDocument/2006/relationships/tags" Target="../tags/tag70.xml"/><Relationship Id="rId21" Type="http://schemas.openxmlformats.org/officeDocument/2006/relationships/tags" Target="../tags/tag88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5" Type="http://schemas.openxmlformats.org/officeDocument/2006/relationships/image" Target="../media/image7.emf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tags" Target="../tags/tag87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24" Type="http://schemas.openxmlformats.org/officeDocument/2006/relationships/oleObject" Target="../embeddings/oleObject11.bin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77.xml"/><Relationship Id="rId19" Type="http://schemas.openxmlformats.org/officeDocument/2006/relationships/tags" Target="../tags/tag86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Relationship Id="rId22" Type="http://schemas.openxmlformats.org/officeDocument/2006/relationships/tags" Target="../tags/tag89.xml"/><Relationship Id="rId27" Type="http://schemas.openxmlformats.org/officeDocument/2006/relationships/chart" Target="../charts/chart2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18" Type="http://schemas.openxmlformats.org/officeDocument/2006/relationships/chart" Target="../charts/chart21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image" Target="../media/image7.emf"/><Relationship Id="rId2" Type="http://schemas.openxmlformats.org/officeDocument/2006/relationships/tags" Target="../tags/tag91.xml"/><Relationship Id="rId16" Type="http://schemas.openxmlformats.org/officeDocument/2006/relationships/oleObject" Target="../embeddings/oleObject12.bin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chart" Target="../charts/chart22.xml"/><Relationship Id="rId5" Type="http://schemas.openxmlformats.org/officeDocument/2006/relationships/tags" Target="../tags/tag108.xml"/><Relationship Id="rId10" Type="http://schemas.openxmlformats.org/officeDocument/2006/relationships/image" Target="../media/image7.emf"/><Relationship Id="rId4" Type="http://schemas.openxmlformats.org/officeDocument/2006/relationships/tags" Target="../tags/tag107.xml"/><Relationship Id="rId9" Type="http://schemas.openxmlformats.org/officeDocument/2006/relationships/oleObject" Target="../embeddings/oleObject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14A196C-995C-7227-0E4E-0CE19A0152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44781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086981C9-BB60-8D13-52DE-AA1A7726A15E}"/>
              </a:ext>
            </a:extLst>
          </p:cNvPr>
          <p:cNvSpPr txBox="1"/>
          <p:nvPr/>
        </p:nvSpPr>
        <p:spPr>
          <a:xfrm>
            <a:off x="504305" y="289102"/>
            <a:ext cx="8691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HarmonyOS Sans SC Medium" pitchFamily="2" charset="-122"/>
                <a:ea typeface="HarmonyOS Sans SC Medium" pitchFamily="2" charset="-122"/>
              </a:rPr>
              <a:t>Six ways technology contributed to Asia's response to the COVID-19 pandemic.</a:t>
            </a:r>
            <a:endParaRPr kumimoji="1" lang="zh-CN" altLang="en-US" dirty="0">
              <a:solidFill>
                <a:schemeClr val="bg1"/>
              </a:solidFill>
              <a:latin typeface="HarmonyOS Sans SC Medium" pitchFamily="2" charset="-122"/>
              <a:ea typeface="HarmonyOS Sans SC Medium" pitchFamily="2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0C64476-A2B6-8BF5-C6BD-9AE74D3F7E1E}"/>
              </a:ext>
            </a:extLst>
          </p:cNvPr>
          <p:cNvGrpSpPr/>
          <p:nvPr/>
        </p:nvGrpSpPr>
        <p:grpSpPr>
          <a:xfrm>
            <a:off x="504305" y="3256720"/>
            <a:ext cx="1316386" cy="769442"/>
            <a:chOff x="504305" y="4959927"/>
            <a:chExt cx="1316386" cy="76944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373294C-0E57-4F81-863A-A05A03CCC980}"/>
                </a:ext>
              </a:extLst>
            </p:cNvPr>
            <p:cNvSpPr txBox="1"/>
            <p:nvPr/>
          </p:nvSpPr>
          <p:spPr>
            <a:xfrm>
              <a:off x="504305" y="4959927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1,446%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2286547-B4A8-6D6A-86B7-F2BE8308A390}"/>
                </a:ext>
              </a:extLst>
            </p:cNvPr>
            <p:cNvSpPr txBox="1"/>
            <p:nvPr/>
          </p:nvSpPr>
          <p:spPr>
            <a:xfrm>
              <a:off x="504305" y="5329259"/>
              <a:ext cx="13163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rise in </a:t>
              </a:r>
              <a:r>
                <a:rPr kumimoji="1" lang="en-US" altLang="zh-CN" sz="1000" dirty="0" err="1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DingTalk</a:t>
              </a:r>
              <a:endPara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downloads in China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5F3C439-4A9C-1D7B-5047-82C215EB60A5}"/>
              </a:ext>
            </a:extLst>
          </p:cNvPr>
          <p:cNvGrpSpPr/>
          <p:nvPr/>
        </p:nvGrpSpPr>
        <p:grpSpPr>
          <a:xfrm>
            <a:off x="2046335" y="3257919"/>
            <a:ext cx="1954856" cy="1077218"/>
            <a:chOff x="1909156" y="4959927"/>
            <a:chExt cx="1358989" cy="1077218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01CB84D-DC7D-EC2D-FC91-288B6B789271}"/>
                </a:ext>
              </a:extLst>
            </p:cNvPr>
            <p:cNvSpPr txBox="1"/>
            <p:nvPr/>
          </p:nvSpPr>
          <p:spPr>
            <a:xfrm>
              <a:off x="1909156" y="4959927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&gt;11 million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6AEA55C-968C-C7AE-4829-BACC3F895707}"/>
                </a:ext>
              </a:extLst>
            </p:cNvPr>
            <p:cNvSpPr txBox="1"/>
            <p:nvPr/>
          </p:nvSpPr>
          <p:spPr>
            <a:xfrm>
              <a:off x="1909156" y="5329259"/>
              <a:ext cx="135898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financial and nonfinancial trans-actions in first 2 weeks of Ping An's "do it at home" app in China</a:t>
              </a:r>
              <a:r>
                <a:rPr kumimoji="1" lang="en-US" altLang="zh-CN" sz="1000" baseline="30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1</a:t>
              </a:r>
              <a:endParaRPr kumimoji="1" lang="zh-CN" altLang="en-US" sz="1000" baseline="30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6C851C0-8DEB-17E0-FF2E-F516D7B5D925}"/>
              </a:ext>
            </a:extLst>
          </p:cNvPr>
          <p:cNvGrpSpPr/>
          <p:nvPr/>
        </p:nvGrpSpPr>
        <p:grpSpPr>
          <a:xfrm>
            <a:off x="518755" y="4853105"/>
            <a:ext cx="1548343" cy="1077218"/>
            <a:chOff x="3485803" y="4959927"/>
            <a:chExt cx="1210847" cy="1077218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E7861BC-676E-4F75-4AEF-FC2CBC543686}"/>
                </a:ext>
              </a:extLst>
            </p:cNvPr>
            <p:cNvSpPr txBox="1"/>
            <p:nvPr/>
          </p:nvSpPr>
          <p:spPr>
            <a:xfrm>
              <a:off x="3485803" y="4959927"/>
              <a:ext cx="898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22,000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277C3ED-6842-3E83-FEFE-C050CE7D4682}"/>
                </a:ext>
              </a:extLst>
            </p:cNvPr>
            <p:cNvSpPr txBox="1"/>
            <p:nvPr/>
          </p:nvSpPr>
          <p:spPr>
            <a:xfrm>
              <a:off x="3485803" y="5329259"/>
              <a:ext cx="12108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of 23,000 pharmacies in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South Korea share face-mask inventory using app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C4B34D1-6EA7-8876-3444-F327985960C5}"/>
              </a:ext>
            </a:extLst>
          </p:cNvPr>
          <p:cNvGrpSpPr/>
          <p:nvPr/>
        </p:nvGrpSpPr>
        <p:grpSpPr>
          <a:xfrm>
            <a:off x="2082953" y="4853105"/>
            <a:ext cx="1851737" cy="923330"/>
            <a:chOff x="4835235" y="4959927"/>
            <a:chExt cx="1316383" cy="92333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E588CFC-BFC3-3830-C944-CC49B8012E82}"/>
                </a:ext>
              </a:extLst>
            </p:cNvPr>
            <p:cNvSpPr txBox="1"/>
            <p:nvPr/>
          </p:nvSpPr>
          <p:spPr>
            <a:xfrm>
              <a:off x="4835235" y="4959927"/>
              <a:ext cx="898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≥1,400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62AAC2E-F790-DEB5-499A-5800FB103650}"/>
                </a:ext>
              </a:extLst>
            </p:cNvPr>
            <p:cNvSpPr txBox="1"/>
            <p:nvPr/>
          </p:nvSpPr>
          <p:spPr>
            <a:xfrm>
              <a:off x="4835235" y="5329259"/>
              <a:ext cx="131638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pieces of equipment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installed in hospitals in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Wuhan within 10 days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9C48F82-B4C8-7691-819D-6EE0606CBB69}"/>
              </a:ext>
            </a:extLst>
          </p:cNvPr>
          <p:cNvGrpSpPr/>
          <p:nvPr/>
        </p:nvGrpSpPr>
        <p:grpSpPr>
          <a:xfrm>
            <a:off x="8447573" y="3291811"/>
            <a:ext cx="1330814" cy="923330"/>
            <a:chOff x="6336113" y="4959927"/>
            <a:chExt cx="1330814" cy="923330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18F42C7-31AB-3F34-D1F7-198CD53896F3}"/>
                </a:ext>
              </a:extLst>
            </p:cNvPr>
            <p:cNvSpPr txBox="1"/>
            <p:nvPr/>
          </p:nvSpPr>
          <p:spPr>
            <a:xfrm>
              <a:off x="6336113" y="4959927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&gt;10 million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2FB0285-7F3F-8927-5412-9C323C110ADE}"/>
                </a:ext>
              </a:extLst>
            </p:cNvPr>
            <p:cNvSpPr txBox="1"/>
            <p:nvPr/>
          </p:nvSpPr>
          <p:spPr>
            <a:xfrm>
              <a:off x="6336113" y="5329259"/>
              <a:ext cx="133081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active daily users of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Tencent Meeting by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February 2020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C28E764-A7F6-C643-15D6-63547339180B}"/>
              </a:ext>
            </a:extLst>
          </p:cNvPr>
          <p:cNvGrpSpPr/>
          <p:nvPr/>
        </p:nvGrpSpPr>
        <p:grpSpPr>
          <a:xfrm>
            <a:off x="10120846" y="3293001"/>
            <a:ext cx="1777436" cy="1231106"/>
            <a:chOff x="7912760" y="4959927"/>
            <a:chExt cx="1462777" cy="1231106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ABAF09F-479C-9CF6-E2D1-F024BEBDB077}"/>
                </a:ext>
              </a:extLst>
            </p:cNvPr>
            <p:cNvSpPr txBox="1"/>
            <p:nvPr/>
          </p:nvSpPr>
          <p:spPr>
            <a:xfrm>
              <a:off x="7912760" y="4959927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708%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B5987AA-3E68-A47A-7EFC-00C958165484}"/>
                </a:ext>
              </a:extLst>
            </p:cNvPr>
            <p:cNvSpPr txBox="1"/>
            <p:nvPr/>
          </p:nvSpPr>
          <p:spPr>
            <a:xfrm>
              <a:off x="7912760" y="5329259"/>
              <a:ext cx="1462777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increase in sales of food-and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 </a:t>
              </a:r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health-related items from high-end stores through South Korean</a:t>
              </a:r>
              <a:r>
                <a:rPr kumimoji="1" lang="zh-CN" altLang="en-US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 </a:t>
              </a:r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online retailer </a:t>
              </a:r>
              <a:r>
                <a:rPr kumimoji="1" lang="en-US" altLang="zh-CN" sz="1000" dirty="0" err="1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WeMakePrice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14A2833-2DE6-8F4E-B41C-ADD821924FD1}"/>
              </a:ext>
            </a:extLst>
          </p:cNvPr>
          <p:cNvGrpSpPr/>
          <p:nvPr/>
        </p:nvGrpSpPr>
        <p:grpSpPr>
          <a:xfrm>
            <a:off x="8498500" y="4865717"/>
            <a:ext cx="1403486" cy="923330"/>
            <a:chOff x="9145532" y="4959927"/>
            <a:chExt cx="1403486" cy="923330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76C62A2-769E-4591-8B45-27103600CF93}"/>
                </a:ext>
              </a:extLst>
            </p:cNvPr>
            <p:cNvSpPr txBox="1"/>
            <p:nvPr/>
          </p:nvSpPr>
          <p:spPr>
            <a:xfrm>
              <a:off x="9145532" y="4959927"/>
              <a:ext cx="11416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&gt;3 billion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4976C63-C350-BBD9-1446-EEDFCECF7E2C}"/>
                </a:ext>
              </a:extLst>
            </p:cNvPr>
            <p:cNvSpPr txBox="1"/>
            <p:nvPr/>
          </p:nvSpPr>
          <p:spPr>
            <a:xfrm>
              <a:off x="9145532" y="5329259"/>
              <a:ext cx="140348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people access DXY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COVID-19 live updates dashboard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3F84CA0-EFFF-B5C7-38B0-90A46F527306}"/>
              </a:ext>
            </a:extLst>
          </p:cNvPr>
          <p:cNvGrpSpPr/>
          <p:nvPr/>
        </p:nvGrpSpPr>
        <p:grpSpPr>
          <a:xfrm>
            <a:off x="10167997" y="4871259"/>
            <a:ext cx="1724745" cy="1077218"/>
            <a:chOff x="10722179" y="4959927"/>
            <a:chExt cx="1724745" cy="1077218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EA65EB6-17A7-51E4-E9B3-3C3E67BD0EC1}"/>
                </a:ext>
              </a:extLst>
            </p:cNvPr>
            <p:cNvSpPr txBox="1"/>
            <p:nvPr/>
          </p:nvSpPr>
          <p:spPr>
            <a:xfrm>
              <a:off x="10722179" y="4959927"/>
              <a:ext cx="1281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2-3 weeks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F67EEAC-ED15-DAC1-EF8C-A4741B4D97AB}"/>
                </a:ext>
              </a:extLst>
            </p:cNvPr>
            <p:cNvSpPr txBox="1"/>
            <p:nvPr/>
          </p:nvSpPr>
          <p:spPr>
            <a:xfrm>
              <a:off x="10722179" y="5329259"/>
              <a:ext cx="172474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instead of 2-3 months to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develop COVID-19 test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using Al-based big data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system in South Korea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7B6340CB-607F-FF43-302D-30906A6EBF93}"/>
              </a:ext>
            </a:extLst>
          </p:cNvPr>
          <p:cNvSpPr txBox="1"/>
          <p:nvPr/>
        </p:nvSpPr>
        <p:spPr>
          <a:xfrm>
            <a:off x="504305" y="6168788"/>
            <a:ext cx="77460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aseline="30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Nonfinancial transactions include online medical counseling, traffic-violation inquiries, and shopping for disinfection-related goods.</a:t>
            </a:r>
          </a:p>
          <a:p>
            <a:r>
              <a:rPr kumimoji="1" lang="en-US" altLang="zh-CN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Source: Press search; McKinsey Global Institute analysis</a:t>
            </a:r>
            <a:endParaRPr kumimoji="1" lang="zh-CN" altLang="en-US" sz="10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F6AAE7E-0548-B146-9DED-CD9F69B6AFF3}"/>
              </a:ext>
            </a:extLst>
          </p:cNvPr>
          <p:cNvGrpSpPr/>
          <p:nvPr/>
        </p:nvGrpSpPr>
        <p:grpSpPr>
          <a:xfrm>
            <a:off x="581939" y="2938947"/>
            <a:ext cx="288127" cy="281896"/>
            <a:chOff x="1940011" y="1445745"/>
            <a:chExt cx="3632886" cy="4066117"/>
          </a:xfrm>
          <a:solidFill>
            <a:srgbClr val="051B2C"/>
          </a:solidFill>
        </p:grpSpPr>
        <p:sp>
          <p:nvSpPr>
            <p:cNvPr id="39" name="准备 38">
              <a:extLst>
                <a:ext uri="{FF2B5EF4-FFF2-40B4-BE49-F238E27FC236}">
                  <a16:creationId xmlns:a16="http://schemas.microsoft.com/office/drawing/2014/main" id="{98394269-A848-0E98-4734-D1A4A82F4B50}"/>
                </a:ext>
              </a:extLst>
            </p:cNvPr>
            <p:cNvSpPr/>
            <p:nvPr/>
          </p:nvSpPr>
          <p:spPr>
            <a:xfrm rot="5400000">
              <a:off x="2368280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准备 39">
              <a:extLst>
                <a:ext uri="{FF2B5EF4-FFF2-40B4-BE49-F238E27FC236}">
                  <a16:creationId xmlns:a16="http://schemas.microsoft.com/office/drawing/2014/main" id="{3D5D05F1-B7D5-7497-CD20-FD982C906079}"/>
                </a:ext>
              </a:extLst>
            </p:cNvPr>
            <p:cNvSpPr/>
            <p:nvPr/>
          </p:nvSpPr>
          <p:spPr>
            <a:xfrm rot="5400000">
              <a:off x="3579242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准备 40">
              <a:extLst>
                <a:ext uri="{FF2B5EF4-FFF2-40B4-BE49-F238E27FC236}">
                  <a16:creationId xmlns:a16="http://schemas.microsoft.com/office/drawing/2014/main" id="{CB5678BD-D028-52E2-39CF-B74A856308E3}"/>
                </a:ext>
              </a:extLst>
            </p:cNvPr>
            <p:cNvSpPr/>
            <p:nvPr/>
          </p:nvSpPr>
          <p:spPr>
            <a:xfrm rot="5400000">
              <a:off x="1762799" y="2873982"/>
              <a:ext cx="1565386" cy="1210962"/>
            </a:xfrm>
            <a:prstGeom prst="flowChartPreparation">
              <a:avLst/>
            </a:prstGeom>
            <a:solidFill>
              <a:srgbClr val="1F40E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准备 41">
              <a:extLst>
                <a:ext uri="{FF2B5EF4-FFF2-40B4-BE49-F238E27FC236}">
                  <a16:creationId xmlns:a16="http://schemas.microsoft.com/office/drawing/2014/main" id="{F1B7122D-50E9-F7C5-36EF-BA180D5641A5}"/>
                </a:ext>
              </a:extLst>
            </p:cNvPr>
            <p:cNvSpPr/>
            <p:nvPr/>
          </p:nvSpPr>
          <p:spPr>
            <a:xfrm rot="5400000">
              <a:off x="4184723" y="2873982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准备 42">
              <a:extLst>
                <a:ext uri="{FF2B5EF4-FFF2-40B4-BE49-F238E27FC236}">
                  <a16:creationId xmlns:a16="http://schemas.microsoft.com/office/drawing/2014/main" id="{DAAE1A1B-2F2E-F652-1A47-795D5F99D251}"/>
                </a:ext>
              </a:extLst>
            </p:cNvPr>
            <p:cNvSpPr/>
            <p:nvPr/>
          </p:nvSpPr>
          <p:spPr>
            <a:xfrm rot="5400000">
              <a:off x="2368280" y="4123688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准备 43">
              <a:extLst>
                <a:ext uri="{FF2B5EF4-FFF2-40B4-BE49-F238E27FC236}">
                  <a16:creationId xmlns:a16="http://schemas.microsoft.com/office/drawing/2014/main" id="{89FE5F65-33CB-44FE-05E9-C471CA7788CB}"/>
                </a:ext>
              </a:extLst>
            </p:cNvPr>
            <p:cNvSpPr/>
            <p:nvPr/>
          </p:nvSpPr>
          <p:spPr>
            <a:xfrm rot="5400000">
              <a:off x="3579242" y="4123688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8A3EDE2-BD0C-B4E3-C78B-E4653FCAC16A}"/>
              </a:ext>
            </a:extLst>
          </p:cNvPr>
          <p:cNvGrpSpPr/>
          <p:nvPr/>
        </p:nvGrpSpPr>
        <p:grpSpPr>
          <a:xfrm>
            <a:off x="2103167" y="2910737"/>
            <a:ext cx="288127" cy="281896"/>
            <a:chOff x="1940011" y="1445745"/>
            <a:chExt cx="3632886" cy="4066117"/>
          </a:xfrm>
          <a:solidFill>
            <a:srgbClr val="051B2C"/>
          </a:solidFill>
        </p:grpSpPr>
        <p:sp>
          <p:nvSpPr>
            <p:cNvPr id="46" name="准备 45">
              <a:extLst>
                <a:ext uri="{FF2B5EF4-FFF2-40B4-BE49-F238E27FC236}">
                  <a16:creationId xmlns:a16="http://schemas.microsoft.com/office/drawing/2014/main" id="{274BFF69-6DF9-692D-2692-FF995E0FB0B4}"/>
                </a:ext>
              </a:extLst>
            </p:cNvPr>
            <p:cNvSpPr/>
            <p:nvPr/>
          </p:nvSpPr>
          <p:spPr>
            <a:xfrm rot="5400000">
              <a:off x="2368280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准备 46">
              <a:extLst>
                <a:ext uri="{FF2B5EF4-FFF2-40B4-BE49-F238E27FC236}">
                  <a16:creationId xmlns:a16="http://schemas.microsoft.com/office/drawing/2014/main" id="{95FE0B87-A310-1290-064B-2B9B6C7A0136}"/>
                </a:ext>
              </a:extLst>
            </p:cNvPr>
            <p:cNvSpPr/>
            <p:nvPr/>
          </p:nvSpPr>
          <p:spPr>
            <a:xfrm rot="5400000">
              <a:off x="3579242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准备 47">
              <a:extLst>
                <a:ext uri="{FF2B5EF4-FFF2-40B4-BE49-F238E27FC236}">
                  <a16:creationId xmlns:a16="http://schemas.microsoft.com/office/drawing/2014/main" id="{BE73043C-45CA-DBE3-D920-56EE981B6764}"/>
                </a:ext>
              </a:extLst>
            </p:cNvPr>
            <p:cNvSpPr/>
            <p:nvPr/>
          </p:nvSpPr>
          <p:spPr>
            <a:xfrm rot="5400000">
              <a:off x="1762799" y="2873982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准备 48">
              <a:extLst>
                <a:ext uri="{FF2B5EF4-FFF2-40B4-BE49-F238E27FC236}">
                  <a16:creationId xmlns:a16="http://schemas.microsoft.com/office/drawing/2014/main" id="{E1D3D1EE-1CE2-ACF9-7A48-2C3601A364AF}"/>
                </a:ext>
              </a:extLst>
            </p:cNvPr>
            <p:cNvSpPr/>
            <p:nvPr/>
          </p:nvSpPr>
          <p:spPr>
            <a:xfrm rot="5400000">
              <a:off x="4184723" y="2873982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0" name="准备 49">
              <a:extLst>
                <a:ext uri="{FF2B5EF4-FFF2-40B4-BE49-F238E27FC236}">
                  <a16:creationId xmlns:a16="http://schemas.microsoft.com/office/drawing/2014/main" id="{F586FFD5-5A18-739A-98E4-593EEEAB6931}"/>
                </a:ext>
              </a:extLst>
            </p:cNvPr>
            <p:cNvSpPr/>
            <p:nvPr/>
          </p:nvSpPr>
          <p:spPr>
            <a:xfrm rot="5400000">
              <a:off x="2368280" y="4123688"/>
              <a:ext cx="1565386" cy="1210962"/>
            </a:xfrm>
            <a:prstGeom prst="flowChartPreparation">
              <a:avLst/>
            </a:prstGeom>
            <a:solidFill>
              <a:srgbClr val="1F40E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" name="准备 50">
              <a:extLst>
                <a:ext uri="{FF2B5EF4-FFF2-40B4-BE49-F238E27FC236}">
                  <a16:creationId xmlns:a16="http://schemas.microsoft.com/office/drawing/2014/main" id="{F2846E36-AD6C-3EB1-4F0C-C3C2868C0FB5}"/>
                </a:ext>
              </a:extLst>
            </p:cNvPr>
            <p:cNvSpPr/>
            <p:nvPr/>
          </p:nvSpPr>
          <p:spPr>
            <a:xfrm rot="5400000">
              <a:off x="3579242" y="4123688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16D5CFA2-1E0F-C8B2-9E85-B4B51A04EC15}"/>
              </a:ext>
            </a:extLst>
          </p:cNvPr>
          <p:cNvGrpSpPr/>
          <p:nvPr/>
        </p:nvGrpSpPr>
        <p:grpSpPr>
          <a:xfrm>
            <a:off x="591712" y="4538071"/>
            <a:ext cx="288127" cy="281896"/>
            <a:chOff x="1940011" y="1445745"/>
            <a:chExt cx="3632886" cy="4066117"/>
          </a:xfrm>
          <a:solidFill>
            <a:srgbClr val="051B2C"/>
          </a:solidFill>
        </p:grpSpPr>
        <p:sp>
          <p:nvSpPr>
            <p:cNvPr id="53" name="准备 52">
              <a:extLst>
                <a:ext uri="{FF2B5EF4-FFF2-40B4-BE49-F238E27FC236}">
                  <a16:creationId xmlns:a16="http://schemas.microsoft.com/office/drawing/2014/main" id="{1A668BB4-67E2-1356-A312-D99C7D428853}"/>
                </a:ext>
              </a:extLst>
            </p:cNvPr>
            <p:cNvSpPr/>
            <p:nvPr/>
          </p:nvSpPr>
          <p:spPr>
            <a:xfrm rot="5400000">
              <a:off x="2368280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" name="准备 53">
              <a:extLst>
                <a:ext uri="{FF2B5EF4-FFF2-40B4-BE49-F238E27FC236}">
                  <a16:creationId xmlns:a16="http://schemas.microsoft.com/office/drawing/2014/main" id="{B1040F17-E876-E9C0-5372-E8A48F0FEA17}"/>
                </a:ext>
              </a:extLst>
            </p:cNvPr>
            <p:cNvSpPr/>
            <p:nvPr/>
          </p:nvSpPr>
          <p:spPr>
            <a:xfrm rot="5400000">
              <a:off x="3579242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准备 54">
              <a:extLst>
                <a:ext uri="{FF2B5EF4-FFF2-40B4-BE49-F238E27FC236}">
                  <a16:creationId xmlns:a16="http://schemas.microsoft.com/office/drawing/2014/main" id="{61762AD7-79FA-8BC1-C506-BC1FF7F21703}"/>
                </a:ext>
              </a:extLst>
            </p:cNvPr>
            <p:cNvSpPr/>
            <p:nvPr/>
          </p:nvSpPr>
          <p:spPr>
            <a:xfrm rot="5400000">
              <a:off x="1762799" y="2873982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" name="准备 55">
              <a:extLst>
                <a:ext uri="{FF2B5EF4-FFF2-40B4-BE49-F238E27FC236}">
                  <a16:creationId xmlns:a16="http://schemas.microsoft.com/office/drawing/2014/main" id="{61928E92-9791-45A1-7FA9-6625034859C1}"/>
                </a:ext>
              </a:extLst>
            </p:cNvPr>
            <p:cNvSpPr/>
            <p:nvPr/>
          </p:nvSpPr>
          <p:spPr>
            <a:xfrm rot="5400000">
              <a:off x="4184723" y="2873982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" name="准备 56">
              <a:extLst>
                <a:ext uri="{FF2B5EF4-FFF2-40B4-BE49-F238E27FC236}">
                  <a16:creationId xmlns:a16="http://schemas.microsoft.com/office/drawing/2014/main" id="{2F082245-EA76-2531-5DCF-0EF2C67C214B}"/>
                </a:ext>
              </a:extLst>
            </p:cNvPr>
            <p:cNvSpPr/>
            <p:nvPr/>
          </p:nvSpPr>
          <p:spPr>
            <a:xfrm rot="5400000">
              <a:off x="2368280" y="4123688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准备 57">
              <a:extLst>
                <a:ext uri="{FF2B5EF4-FFF2-40B4-BE49-F238E27FC236}">
                  <a16:creationId xmlns:a16="http://schemas.microsoft.com/office/drawing/2014/main" id="{B08013A1-7533-B30F-6E89-55BC66401EFF}"/>
                </a:ext>
              </a:extLst>
            </p:cNvPr>
            <p:cNvSpPr/>
            <p:nvPr/>
          </p:nvSpPr>
          <p:spPr>
            <a:xfrm rot="5400000">
              <a:off x="3579242" y="4123688"/>
              <a:ext cx="1565386" cy="1210962"/>
            </a:xfrm>
            <a:prstGeom prst="flowChartPreparation">
              <a:avLst/>
            </a:prstGeom>
            <a:solidFill>
              <a:srgbClr val="73879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B2A733F2-3E37-35BA-974B-5FA897024742}"/>
              </a:ext>
            </a:extLst>
          </p:cNvPr>
          <p:cNvGrpSpPr/>
          <p:nvPr/>
        </p:nvGrpSpPr>
        <p:grpSpPr>
          <a:xfrm>
            <a:off x="2133742" y="4542607"/>
            <a:ext cx="288127" cy="281896"/>
            <a:chOff x="1940011" y="1445745"/>
            <a:chExt cx="3632886" cy="4066117"/>
          </a:xfrm>
          <a:solidFill>
            <a:srgbClr val="051B2C"/>
          </a:solidFill>
        </p:grpSpPr>
        <p:sp>
          <p:nvSpPr>
            <p:cNvPr id="60" name="准备 59">
              <a:extLst>
                <a:ext uri="{FF2B5EF4-FFF2-40B4-BE49-F238E27FC236}">
                  <a16:creationId xmlns:a16="http://schemas.microsoft.com/office/drawing/2014/main" id="{6EF37A12-9416-F6A5-567F-FA8296516B9D}"/>
                </a:ext>
              </a:extLst>
            </p:cNvPr>
            <p:cNvSpPr/>
            <p:nvPr/>
          </p:nvSpPr>
          <p:spPr>
            <a:xfrm rot="5400000">
              <a:off x="2368280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准备 60">
              <a:extLst>
                <a:ext uri="{FF2B5EF4-FFF2-40B4-BE49-F238E27FC236}">
                  <a16:creationId xmlns:a16="http://schemas.microsoft.com/office/drawing/2014/main" id="{8D336818-854B-9E79-96B8-97E012C7900A}"/>
                </a:ext>
              </a:extLst>
            </p:cNvPr>
            <p:cNvSpPr/>
            <p:nvPr/>
          </p:nvSpPr>
          <p:spPr>
            <a:xfrm rot="5400000">
              <a:off x="3579242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准备 61">
              <a:extLst>
                <a:ext uri="{FF2B5EF4-FFF2-40B4-BE49-F238E27FC236}">
                  <a16:creationId xmlns:a16="http://schemas.microsoft.com/office/drawing/2014/main" id="{AC383D91-6E0C-03DF-DC63-DA4D5090AFDA}"/>
                </a:ext>
              </a:extLst>
            </p:cNvPr>
            <p:cNvSpPr/>
            <p:nvPr/>
          </p:nvSpPr>
          <p:spPr>
            <a:xfrm rot="5400000">
              <a:off x="1762799" y="2873982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准备 62">
              <a:extLst>
                <a:ext uri="{FF2B5EF4-FFF2-40B4-BE49-F238E27FC236}">
                  <a16:creationId xmlns:a16="http://schemas.microsoft.com/office/drawing/2014/main" id="{A93D5F3E-7879-E02C-FEF6-3636B5D0E529}"/>
                </a:ext>
              </a:extLst>
            </p:cNvPr>
            <p:cNvSpPr/>
            <p:nvPr/>
          </p:nvSpPr>
          <p:spPr>
            <a:xfrm rot="5400000">
              <a:off x="4184723" y="2873982"/>
              <a:ext cx="1565386" cy="1210962"/>
            </a:xfrm>
            <a:prstGeom prst="flowChartPreparation">
              <a:avLst/>
            </a:prstGeom>
            <a:solidFill>
              <a:srgbClr val="73879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准备 63">
              <a:extLst>
                <a:ext uri="{FF2B5EF4-FFF2-40B4-BE49-F238E27FC236}">
                  <a16:creationId xmlns:a16="http://schemas.microsoft.com/office/drawing/2014/main" id="{E1056AAE-824A-9DDE-9739-8A3B329A23F9}"/>
                </a:ext>
              </a:extLst>
            </p:cNvPr>
            <p:cNvSpPr/>
            <p:nvPr/>
          </p:nvSpPr>
          <p:spPr>
            <a:xfrm rot="5400000">
              <a:off x="2368280" y="4123688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准备 64">
              <a:extLst>
                <a:ext uri="{FF2B5EF4-FFF2-40B4-BE49-F238E27FC236}">
                  <a16:creationId xmlns:a16="http://schemas.microsoft.com/office/drawing/2014/main" id="{074230A4-F9A0-0C20-2F20-D094ED461EF7}"/>
                </a:ext>
              </a:extLst>
            </p:cNvPr>
            <p:cNvSpPr/>
            <p:nvPr/>
          </p:nvSpPr>
          <p:spPr>
            <a:xfrm rot="5400000">
              <a:off x="3579242" y="4123688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1D2228D-D3C5-0E3A-5153-F261FE7709E2}"/>
              </a:ext>
            </a:extLst>
          </p:cNvPr>
          <p:cNvGrpSpPr/>
          <p:nvPr/>
        </p:nvGrpSpPr>
        <p:grpSpPr>
          <a:xfrm>
            <a:off x="8547797" y="2910737"/>
            <a:ext cx="288127" cy="281896"/>
            <a:chOff x="1940011" y="1445745"/>
            <a:chExt cx="3632886" cy="4066117"/>
          </a:xfrm>
          <a:solidFill>
            <a:srgbClr val="051B2C"/>
          </a:solidFill>
        </p:grpSpPr>
        <p:sp>
          <p:nvSpPr>
            <p:cNvPr id="67" name="准备 66">
              <a:extLst>
                <a:ext uri="{FF2B5EF4-FFF2-40B4-BE49-F238E27FC236}">
                  <a16:creationId xmlns:a16="http://schemas.microsoft.com/office/drawing/2014/main" id="{298977EF-8D12-2648-FF63-DCC8D44B7349}"/>
                </a:ext>
              </a:extLst>
            </p:cNvPr>
            <p:cNvSpPr/>
            <p:nvPr/>
          </p:nvSpPr>
          <p:spPr>
            <a:xfrm rot="5400000">
              <a:off x="2368280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准备 67">
              <a:extLst>
                <a:ext uri="{FF2B5EF4-FFF2-40B4-BE49-F238E27FC236}">
                  <a16:creationId xmlns:a16="http://schemas.microsoft.com/office/drawing/2014/main" id="{86FBB92C-858B-142D-473E-1DEA49513648}"/>
                </a:ext>
              </a:extLst>
            </p:cNvPr>
            <p:cNvSpPr/>
            <p:nvPr/>
          </p:nvSpPr>
          <p:spPr>
            <a:xfrm rot="5400000">
              <a:off x="3579242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准备 68">
              <a:extLst>
                <a:ext uri="{FF2B5EF4-FFF2-40B4-BE49-F238E27FC236}">
                  <a16:creationId xmlns:a16="http://schemas.microsoft.com/office/drawing/2014/main" id="{0487B1E3-FB19-6D61-331E-6F43E606A731}"/>
                </a:ext>
              </a:extLst>
            </p:cNvPr>
            <p:cNvSpPr/>
            <p:nvPr/>
          </p:nvSpPr>
          <p:spPr>
            <a:xfrm rot="5400000">
              <a:off x="1762799" y="2873982"/>
              <a:ext cx="1565386" cy="1210962"/>
            </a:xfrm>
            <a:prstGeom prst="flowChartPreparation">
              <a:avLst/>
            </a:prstGeom>
            <a:solidFill>
              <a:srgbClr val="1F40E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准备 69">
              <a:extLst>
                <a:ext uri="{FF2B5EF4-FFF2-40B4-BE49-F238E27FC236}">
                  <a16:creationId xmlns:a16="http://schemas.microsoft.com/office/drawing/2014/main" id="{7131457B-862B-ACC8-33A2-E681A5D5A2A4}"/>
                </a:ext>
              </a:extLst>
            </p:cNvPr>
            <p:cNvSpPr/>
            <p:nvPr/>
          </p:nvSpPr>
          <p:spPr>
            <a:xfrm rot="5400000">
              <a:off x="4184723" y="2873982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1" name="准备 70">
              <a:extLst>
                <a:ext uri="{FF2B5EF4-FFF2-40B4-BE49-F238E27FC236}">
                  <a16:creationId xmlns:a16="http://schemas.microsoft.com/office/drawing/2014/main" id="{91C85065-431C-ED40-A9D6-F13851A70DCA}"/>
                </a:ext>
              </a:extLst>
            </p:cNvPr>
            <p:cNvSpPr/>
            <p:nvPr/>
          </p:nvSpPr>
          <p:spPr>
            <a:xfrm rot="5400000">
              <a:off x="2368280" y="4123688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2" name="准备 71">
              <a:extLst>
                <a:ext uri="{FF2B5EF4-FFF2-40B4-BE49-F238E27FC236}">
                  <a16:creationId xmlns:a16="http://schemas.microsoft.com/office/drawing/2014/main" id="{87206760-2350-6553-B961-BB605BC5D00C}"/>
                </a:ext>
              </a:extLst>
            </p:cNvPr>
            <p:cNvSpPr/>
            <p:nvPr/>
          </p:nvSpPr>
          <p:spPr>
            <a:xfrm rot="5400000">
              <a:off x="3579242" y="4123688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84443873-02A0-0C15-0C4D-FAA33B983401}"/>
              </a:ext>
            </a:extLst>
          </p:cNvPr>
          <p:cNvGrpSpPr/>
          <p:nvPr/>
        </p:nvGrpSpPr>
        <p:grpSpPr>
          <a:xfrm>
            <a:off x="10185405" y="2910737"/>
            <a:ext cx="288127" cy="281896"/>
            <a:chOff x="1940011" y="1445745"/>
            <a:chExt cx="3632886" cy="4066117"/>
          </a:xfrm>
          <a:solidFill>
            <a:srgbClr val="051B2C"/>
          </a:solidFill>
        </p:grpSpPr>
        <p:sp>
          <p:nvSpPr>
            <p:cNvPr id="74" name="准备 73">
              <a:extLst>
                <a:ext uri="{FF2B5EF4-FFF2-40B4-BE49-F238E27FC236}">
                  <a16:creationId xmlns:a16="http://schemas.microsoft.com/office/drawing/2014/main" id="{A54628AE-B348-9587-A7A7-339E4460DB85}"/>
                </a:ext>
              </a:extLst>
            </p:cNvPr>
            <p:cNvSpPr/>
            <p:nvPr/>
          </p:nvSpPr>
          <p:spPr>
            <a:xfrm rot="5400000">
              <a:off x="2368280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5" name="准备 74">
              <a:extLst>
                <a:ext uri="{FF2B5EF4-FFF2-40B4-BE49-F238E27FC236}">
                  <a16:creationId xmlns:a16="http://schemas.microsoft.com/office/drawing/2014/main" id="{A9CC3164-46E9-FADB-DE22-C5AF5DCE208F}"/>
                </a:ext>
              </a:extLst>
            </p:cNvPr>
            <p:cNvSpPr/>
            <p:nvPr/>
          </p:nvSpPr>
          <p:spPr>
            <a:xfrm rot="5400000">
              <a:off x="3579242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6" name="准备 75">
              <a:extLst>
                <a:ext uri="{FF2B5EF4-FFF2-40B4-BE49-F238E27FC236}">
                  <a16:creationId xmlns:a16="http://schemas.microsoft.com/office/drawing/2014/main" id="{B65DB298-D56B-D8E0-9C75-9D87805CF8D4}"/>
                </a:ext>
              </a:extLst>
            </p:cNvPr>
            <p:cNvSpPr/>
            <p:nvPr/>
          </p:nvSpPr>
          <p:spPr>
            <a:xfrm rot="5400000">
              <a:off x="1762799" y="2873982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7" name="准备 76">
              <a:extLst>
                <a:ext uri="{FF2B5EF4-FFF2-40B4-BE49-F238E27FC236}">
                  <a16:creationId xmlns:a16="http://schemas.microsoft.com/office/drawing/2014/main" id="{DCC17F68-5FC6-B8AA-85FC-61C7E91D0580}"/>
                </a:ext>
              </a:extLst>
            </p:cNvPr>
            <p:cNvSpPr/>
            <p:nvPr/>
          </p:nvSpPr>
          <p:spPr>
            <a:xfrm rot="5400000">
              <a:off x="4184723" y="2873982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8" name="准备 77">
              <a:extLst>
                <a:ext uri="{FF2B5EF4-FFF2-40B4-BE49-F238E27FC236}">
                  <a16:creationId xmlns:a16="http://schemas.microsoft.com/office/drawing/2014/main" id="{E51B1A49-384C-65DD-E72B-E6416B1CD657}"/>
                </a:ext>
              </a:extLst>
            </p:cNvPr>
            <p:cNvSpPr/>
            <p:nvPr/>
          </p:nvSpPr>
          <p:spPr>
            <a:xfrm rot="5400000">
              <a:off x="2368280" y="4123688"/>
              <a:ext cx="1565386" cy="1210962"/>
            </a:xfrm>
            <a:prstGeom prst="flowChartPreparation">
              <a:avLst/>
            </a:prstGeom>
            <a:solidFill>
              <a:srgbClr val="1F40E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9" name="准备 78">
              <a:extLst>
                <a:ext uri="{FF2B5EF4-FFF2-40B4-BE49-F238E27FC236}">
                  <a16:creationId xmlns:a16="http://schemas.microsoft.com/office/drawing/2014/main" id="{F3CC9191-3819-A20B-3EE1-C8A7B53B4CCF}"/>
                </a:ext>
              </a:extLst>
            </p:cNvPr>
            <p:cNvSpPr/>
            <p:nvPr/>
          </p:nvSpPr>
          <p:spPr>
            <a:xfrm rot="5400000">
              <a:off x="3579242" y="4123688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48B22C63-D0CB-B5B1-13DC-D8F6521F876C}"/>
              </a:ext>
            </a:extLst>
          </p:cNvPr>
          <p:cNvGrpSpPr/>
          <p:nvPr/>
        </p:nvGrpSpPr>
        <p:grpSpPr>
          <a:xfrm>
            <a:off x="8590267" y="4552588"/>
            <a:ext cx="288127" cy="281896"/>
            <a:chOff x="1940011" y="1445745"/>
            <a:chExt cx="3632886" cy="4066117"/>
          </a:xfrm>
          <a:solidFill>
            <a:srgbClr val="051B2C"/>
          </a:solidFill>
        </p:grpSpPr>
        <p:sp>
          <p:nvSpPr>
            <p:cNvPr id="81" name="准备 80">
              <a:extLst>
                <a:ext uri="{FF2B5EF4-FFF2-40B4-BE49-F238E27FC236}">
                  <a16:creationId xmlns:a16="http://schemas.microsoft.com/office/drawing/2014/main" id="{575A4060-0C12-EE2B-D2D0-2F7F55FD59AD}"/>
                </a:ext>
              </a:extLst>
            </p:cNvPr>
            <p:cNvSpPr/>
            <p:nvPr/>
          </p:nvSpPr>
          <p:spPr>
            <a:xfrm rot="5400000">
              <a:off x="2368280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准备 81">
              <a:extLst>
                <a:ext uri="{FF2B5EF4-FFF2-40B4-BE49-F238E27FC236}">
                  <a16:creationId xmlns:a16="http://schemas.microsoft.com/office/drawing/2014/main" id="{3987F6D2-266F-C89D-8444-B681B5929A95}"/>
                </a:ext>
              </a:extLst>
            </p:cNvPr>
            <p:cNvSpPr/>
            <p:nvPr/>
          </p:nvSpPr>
          <p:spPr>
            <a:xfrm rot="5400000">
              <a:off x="3579242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准备 82">
              <a:extLst>
                <a:ext uri="{FF2B5EF4-FFF2-40B4-BE49-F238E27FC236}">
                  <a16:creationId xmlns:a16="http://schemas.microsoft.com/office/drawing/2014/main" id="{2F424574-7F5F-358F-3F9F-02F32E9880DD}"/>
                </a:ext>
              </a:extLst>
            </p:cNvPr>
            <p:cNvSpPr/>
            <p:nvPr/>
          </p:nvSpPr>
          <p:spPr>
            <a:xfrm rot="5400000">
              <a:off x="1762799" y="2873982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4" name="准备 83">
              <a:extLst>
                <a:ext uri="{FF2B5EF4-FFF2-40B4-BE49-F238E27FC236}">
                  <a16:creationId xmlns:a16="http://schemas.microsoft.com/office/drawing/2014/main" id="{9ACDFAB2-A7CC-D158-48A1-3AB82716A5DE}"/>
                </a:ext>
              </a:extLst>
            </p:cNvPr>
            <p:cNvSpPr/>
            <p:nvPr/>
          </p:nvSpPr>
          <p:spPr>
            <a:xfrm rot="5400000">
              <a:off x="4184723" y="2873982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准备 84">
              <a:extLst>
                <a:ext uri="{FF2B5EF4-FFF2-40B4-BE49-F238E27FC236}">
                  <a16:creationId xmlns:a16="http://schemas.microsoft.com/office/drawing/2014/main" id="{F4724D39-ED30-4B52-E8DA-557EF30D8CAF}"/>
                </a:ext>
              </a:extLst>
            </p:cNvPr>
            <p:cNvSpPr/>
            <p:nvPr/>
          </p:nvSpPr>
          <p:spPr>
            <a:xfrm rot="5400000">
              <a:off x="2368280" y="4123688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准备 85">
              <a:extLst>
                <a:ext uri="{FF2B5EF4-FFF2-40B4-BE49-F238E27FC236}">
                  <a16:creationId xmlns:a16="http://schemas.microsoft.com/office/drawing/2014/main" id="{C6D7744A-67EC-8190-AF5E-B6A814788212}"/>
                </a:ext>
              </a:extLst>
            </p:cNvPr>
            <p:cNvSpPr/>
            <p:nvPr/>
          </p:nvSpPr>
          <p:spPr>
            <a:xfrm rot="5400000">
              <a:off x="3579242" y="4123688"/>
              <a:ext cx="1565386" cy="1210962"/>
            </a:xfrm>
            <a:prstGeom prst="flowChartPreparation">
              <a:avLst/>
            </a:prstGeom>
            <a:solidFill>
              <a:srgbClr val="73879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6C63E04B-DF19-A87A-D18D-58159C0FEF3C}"/>
              </a:ext>
            </a:extLst>
          </p:cNvPr>
          <p:cNvGrpSpPr/>
          <p:nvPr/>
        </p:nvGrpSpPr>
        <p:grpSpPr>
          <a:xfrm>
            <a:off x="10248676" y="4551582"/>
            <a:ext cx="288127" cy="281896"/>
            <a:chOff x="1940011" y="1445745"/>
            <a:chExt cx="3632886" cy="4066117"/>
          </a:xfrm>
          <a:solidFill>
            <a:srgbClr val="051B2C"/>
          </a:solidFill>
        </p:grpSpPr>
        <p:sp>
          <p:nvSpPr>
            <p:cNvPr id="88" name="准备 87">
              <a:extLst>
                <a:ext uri="{FF2B5EF4-FFF2-40B4-BE49-F238E27FC236}">
                  <a16:creationId xmlns:a16="http://schemas.microsoft.com/office/drawing/2014/main" id="{023BEE9B-F5E0-6DEB-3A3A-6F3F45CCB2A4}"/>
                </a:ext>
              </a:extLst>
            </p:cNvPr>
            <p:cNvSpPr/>
            <p:nvPr/>
          </p:nvSpPr>
          <p:spPr>
            <a:xfrm rot="5400000">
              <a:off x="2368280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9" name="准备 88">
              <a:extLst>
                <a:ext uri="{FF2B5EF4-FFF2-40B4-BE49-F238E27FC236}">
                  <a16:creationId xmlns:a16="http://schemas.microsoft.com/office/drawing/2014/main" id="{DA910068-333E-552D-7C3A-0C8ED225F67D}"/>
                </a:ext>
              </a:extLst>
            </p:cNvPr>
            <p:cNvSpPr/>
            <p:nvPr/>
          </p:nvSpPr>
          <p:spPr>
            <a:xfrm rot="5400000">
              <a:off x="3579242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0" name="准备 89">
              <a:extLst>
                <a:ext uri="{FF2B5EF4-FFF2-40B4-BE49-F238E27FC236}">
                  <a16:creationId xmlns:a16="http://schemas.microsoft.com/office/drawing/2014/main" id="{4117072E-CD6A-2696-4800-A5AF7372330A}"/>
                </a:ext>
              </a:extLst>
            </p:cNvPr>
            <p:cNvSpPr/>
            <p:nvPr/>
          </p:nvSpPr>
          <p:spPr>
            <a:xfrm rot="5400000">
              <a:off x="1762799" y="2873982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准备 90">
              <a:extLst>
                <a:ext uri="{FF2B5EF4-FFF2-40B4-BE49-F238E27FC236}">
                  <a16:creationId xmlns:a16="http://schemas.microsoft.com/office/drawing/2014/main" id="{E04FE657-45CC-C3A0-1AA7-38BF7EE9049D}"/>
                </a:ext>
              </a:extLst>
            </p:cNvPr>
            <p:cNvSpPr/>
            <p:nvPr/>
          </p:nvSpPr>
          <p:spPr>
            <a:xfrm rot="5400000">
              <a:off x="4184723" y="2873982"/>
              <a:ext cx="1565386" cy="1210962"/>
            </a:xfrm>
            <a:prstGeom prst="flowChartPreparation">
              <a:avLst/>
            </a:prstGeom>
            <a:solidFill>
              <a:srgbClr val="73879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准备 91">
              <a:extLst>
                <a:ext uri="{FF2B5EF4-FFF2-40B4-BE49-F238E27FC236}">
                  <a16:creationId xmlns:a16="http://schemas.microsoft.com/office/drawing/2014/main" id="{E386C1D8-9780-82E4-2538-D1DB388067AB}"/>
                </a:ext>
              </a:extLst>
            </p:cNvPr>
            <p:cNvSpPr/>
            <p:nvPr/>
          </p:nvSpPr>
          <p:spPr>
            <a:xfrm rot="5400000">
              <a:off x="2368280" y="4123688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准备 92">
              <a:extLst>
                <a:ext uri="{FF2B5EF4-FFF2-40B4-BE49-F238E27FC236}">
                  <a16:creationId xmlns:a16="http://schemas.microsoft.com/office/drawing/2014/main" id="{DF1EAC43-7A27-27D9-F37C-A03847E595B5}"/>
                </a:ext>
              </a:extLst>
            </p:cNvPr>
            <p:cNvSpPr/>
            <p:nvPr/>
          </p:nvSpPr>
          <p:spPr>
            <a:xfrm rot="5400000">
              <a:off x="3579242" y="4123688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396C6771-3557-2F12-6FEC-EED163570F40}"/>
              </a:ext>
            </a:extLst>
          </p:cNvPr>
          <p:cNvGrpSpPr/>
          <p:nvPr/>
        </p:nvGrpSpPr>
        <p:grpSpPr>
          <a:xfrm>
            <a:off x="504305" y="1571923"/>
            <a:ext cx="1257075" cy="1077218"/>
            <a:chOff x="504305" y="4959927"/>
            <a:chExt cx="1257075" cy="1077218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BCDED15A-C711-5F5A-F525-A20303E3AE7B}"/>
                </a:ext>
              </a:extLst>
            </p:cNvPr>
            <p:cNvSpPr txBox="1"/>
            <p:nvPr/>
          </p:nvSpPr>
          <p:spPr>
            <a:xfrm>
              <a:off x="504305" y="4959927"/>
              <a:ext cx="102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&gt;10,000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FE2BE84A-DA92-76B3-2567-53F9D09C8A7E}"/>
                </a:ext>
              </a:extLst>
            </p:cNvPr>
            <p:cNvSpPr txBox="1"/>
            <p:nvPr/>
          </p:nvSpPr>
          <p:spPr>
            <a:xfrm>
              <a:off x="504305" y="5329259"/>
              <a:ext cx="125707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delivery drivers as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Malaysia's Grab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redeployed drivers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to deliver orders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AFDB2CE8-DD71-CE5C-82DB-661114E6A8A0}"/>
              </a:ext>
            </a:extLst>
          </p:cNvPr>
          <p:cNvGrpSpPr/>
          <p:nvPr/>
        </p:nvGrpSpPr>
        <p:grpSpPr>
          <a:xfrm>
            <a:off x="581939" y="1254150"/>
            <a:ext cx="288127" cy="281896"/>
            <a:chOff x="1940011" y="1445745"/>
            <a:chExt cx="3632886" cy="4066117"/>
          </a:xfrm>
          <a:solidFill>
            <a:srgbClr val="051B2C"/>
          </a:solidFill>
        </p:grpSpPr>
        <p:sp>
          <p:nvSpPr>
            <p:cNvPr id="98" name="准备 97">
              <a:extLst>
                <a:ext uri="{FF2B5EF4-FFF2-40B4-BE49-F238E27FC236}">
                  <a16:creationId xmlns:a16="http://schemas.microsoft.com/office/drawing/2014/main" id="{4A27B87D-90AF-04C0-7363-6B40DF22AE0E}"/>
                </a:ext>
              </a:extLst>
            </p:cNvPr>
            <p:cNvSpPr/>
            <p:nvPr/>
          </p:nvSpPr>
          <p:spPr>
            <a:xfrm rot="5400000">
              <a:off x="2368280" y="1622957"/>
              <a:ext cx="1565386" cy="1210962"/>
            </a:xfrm>
            <a:prstGeom prst="flowChartPreparation">
              <a:avLst/>
            </a:prstGeom>
            <a:solidFill>
              <a:srgbClr val="1F40E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9" name="准备 98">
              <a:extLst>
                <a:ext uri="{FF2B5EF4-FFF2-40B4-BE49-F238E27FC236}">
                  <a16:creationId xmlns:a16="http://schemas.microsoft.com/office/drawing/2014/main" id="{5B83E2AF-0DEA-AA1C-0192-7F6919D5BE14}"/>
                </a:ext>
              </a:extLst>
            </p:cNvPr>
            <p:cNvSpPr/>
            <p:nvPr/>
          </p:nvSpPr>
          <p:spPr>
            <a:xfrm rot="5400000">
              <a:off x="3579242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准备 99">
              <a:extLst>
                <a:ext uri="{FF2B5EF4-FFF2-40B4-BE49-F238E27FC236}">
                  <a16:creationId xmlns:a16="http://schemas.microsoft.com/office/drawing/2014/main" id="{1090EEB7-0198-5879-27B4-3C50B94F213F}"/>
                </a:ext>
              </a:extLst>
            </p:cNvPr>
            <p:cNvSpPr/>
            <p:nvPr/>
          </p:nvSpPr>
          <p:spPr>
            <a:xfrm rot="5400000">
              <a:off x="1762799" y="2873982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1" name="准备 100">
              <a:extLst>
                <a:ext uri="{FF2B5EF4-FFF2-40B4-BE49-F238E27FC236}">
                  <a16:creationId xmlns:a16="http://schemas.microsoft.com/office/drawing/2014/main" id="{8D258B31-77EB-DBD0-CD34-2F6F79784309}"/>
                </a:ext>
              </a:extLst>
            </p:cNvPr>
            <p:cNvSpPr/>
            <p:nvPr/>
          </p:nvSpPr>
          <p:spPr>
            <a:xfrm rot="5400000">
              <a:off x="4184723" y="2873982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准备 101">
              <a:extLst>
                <a:ext uri="{FF2B5EF4-FFF2-40B4-BE49-F238E27FC236}">
                  <a16:creationId xmlns:a16="http://schemas.microsoft.com/office/drawing/2014/main" id="{FCBC7FD2-0503-6BC8-6D71-3DA6C33FA0BA}"/>
                </a:ext>
              </a:extLst>
            </p:cNvPr>
            <p:cNvSpPr/>
            <p:nvPr/>
          </p:nvSpPr>
          <p:spPr>
            <a:xfrm rot="5400000">
              <a:off x="2368280" y="4123688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准备 102">
              <a:extLst>
                <a:ext uri="{FF2B5EF4-FFF2-40B4-BE49-F238E27FC236}">
                  <a16:creationId xmlns:a16="http://schemas.microsoft.com/office/drawing/2014/main" id="{4AF1049A-6763-21DA-DC00-ECBBC1B1FDFD}"/>
                </a:ext>
              </a:extLst>
            </p:cNvPr>
            <p:cNvSpPr/>
            <p:nvPr/>
          </p:nvSpPr>
          <p:spPr>
            <a:xfrm rot="5400000">
              <a:off x="3579242" y="4123688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EF60B993-1A77-4E40-C97F-672D7E3B9D9C}"/>
              </a:ext>
            </a:extLst>
          </p:cNvPr>
          <p:cNvGrpSpPr/>
          <p:nvPr/>
        </p:nvGrpSpPr>
        <p:grpSpPr>
          <a:xfrm>
            <a:off x="2064786" y="1569153"/>
            <a:ext cx="1244251" cy="923330"/>
            <a:chOff x="504305" y="4959927"/>
            <a:chExt cx="1244251" cy="923330"/>
          </a:xfrm>
        </p:grpSpPr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E656D6FB-FFA2-6295-2F2E-C9058F0DC5A1}"/>
                </a:ext>
              </a:extLst>
            </p:cNvPr>
            <p:cNvSpPr txBox="1"/>
            <p:nvPr/>
          </p:nvSpPr>
          <p:spPr>
            <a:xfrm>
              <a:off x="504305" y="4959927"/>
              <a:ext cx="766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3,000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54F2AD16-22F4-282C-E732-5A705BA91919}"/>
                </a:ext>
              </a:extLst>
            </p:cNvPr>
            <p:cNvSpPr txBox="1"/>
            <p:nvPr/>
          </p:nvSpPr>
          <p:spPr>
            <a:xfrm>
              <a:off x="504305" y="5329259"/>
              <a:ext cx="124425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jobs advertised on</a:t>
              </a:r>
            </a:p>
            <a:p>
              <a:r>
                <a:rPr kumimoji="1" lang="en-US" altLang="zh-CN" sz="1000" dirty="0" err="1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SGUnited's</a:t>
              </a:r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 Virtual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Career Fair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36AC9D66-6260-6ABB-4A3C-1BCC970F2249}"/>
              </a:ext>
            </a:extLst>
          </p:cNvPr>
          <p:cNvGrpSpPr/>
          <p:nvPr/>
        </p:nvGrpSpPr>
        <p:grpSpPr>
          <a:xfrm>
            <a:off x="8429940" y="1622405"/>
            <a:ext cx="1366080" cy="1077218"/>
            <a:chOff x="504305" y="4959927"/>
            <a:chExt cx="1366080" cy="1077218"/>
          </a:xfrm>
        </p:grpSpPr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27BEE825-3CA7-0857-91A1-2AB35AF0DD7B}"/>
                </a:ext>
              </a:extLst>
            </p:cNvPr>
            <p:cNvSpPr txBox="1"/>
            <p:nvPr/>
          </p:nvSpPr>
          <p:spPr>
            <a:xfrm>
              <a:off x="504305" y="4959927"/>
              <a:ext cx="102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6 billion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3C55A9B8-10FD-B54E-9123-39869227D8EC}"/>
                </a:ext>
              </a:extLst>
            </p:cNvPr>
            <p:cNvSpPr txBox="1"/>
            <p:nvPr/>
          </p:nvSpPr>
          <p:spPr>
            <a:xfrm>
              <a:off x="504305" y="5329259"/>
              <a:ext cx="136608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page </a:t>
              </a:r>
              <a:r>
                <a:rPr kumimoji="1" lang="en-US" altLang="zh-CN" sz="1000" dirty="0" err="1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viSits</a:t>
              </a:r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 to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Tencent's health QR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code within a month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of launch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B0722BF0-06AB-819E-E057-F0464EC9FCA6}"/>
              </a:ext>
            </a:extLst>
          </p:cNvPr>
          <p:cNvGrpSpPr/>
          <p:nvPr/>
        </p:nvGrpSpPr>
        <p:grpSpPr>
          <a:xfrm>
            <a:off x="8479865" y="1271381"/>
            <a:ext cx="288127" cy="281896"/>
            <a:chOff x="1940011" y="1445745"/>
            <a:chExt cx="3632886" cy="4066117"/>
          </a:xfrm>
          <a:solidFill>
            <a:srgbClr val="051B2C"/>
          </a:solidFill>
        </p:grpSpPr>
        <p:sp>
          <p:nvSpPr>
            <p:cNvPr id="111" name="准备 110">
              <a:extLst>
                <a:ext uri="{FF2B5EF4-FFF2-40B4-BE49-F238E27FC236}">
                  <a16:creationId xmlns:a16="http://schemas.microsoft.com/office/drawing/2014/main" id="{01604C34-BE7A-BF4B-6344-4486085DDCCF}"/>
                </a:ext>
              </a:extLst>
            </p:cNvPr>
            <p:cNvSpPr/>
            <p:nvPr/>
          </p:nvSpPr>
          <p:spPr>
            <a:xfrm rot="5400000">
              <a:off x="2368280" y="1622957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2" name="准备 111">
              <a:extLst>
                <a:ext uri="{FF2B5EF4-FFF2-40B4-BE49-F238E27FC236}">
                  <a16:creationId xmlns:a16="http://schemas.microsoft.com/office/drawing/2014/main" id="{2CE26772-25CA-DCA2-8C93-7D5E4B4D57A2}"/>
                </a:ext>
              </a:extLst>
            </p:cNvPr>
            <p:cNvSpPr/>
            <p:nvPr/>
          </p:nvSpPr>
          <p:spPr>
            <a:xfrm rot="5400000">
              <a:off x="3579242" y="1622957"/>
              <a:ext cx="1565386" cy="1210962"/>
            </a:xfrm>
            <a:prstGeom prst="flowChartPreparation">
              <a:avLst/>
            </a:prstGeom>
            <a:solidFill>
              <a:srgbClr val="738795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3" name="准备 112">
              <a:extLst>
                <a:ext uri="{FF2B5EF4-FFF2-40B4-BE49-F238E27FC236}">
                  <a16:creationId xmlns:a16="http://schemas.microsoft.com/office/drawing/2014/main" id="{5BA1A3AE-21CB-99A8-B91D-AD1AB738E392}"/>
                </a:ext>
              </a:extLst>
            </p:cNvPr>
            <p:cNvSpPr/>
            <p:nvPr/>
          </p:nvSpPr>
          <p:spPr>
            <a:xfrm rot="5400000">
              <a:off x="1762799" y="2873982"/>
              <a:ext cx="1565386" cy="1210962"/>
            </a:xfrm>
            <a:prstGeom prst="flowChartPreparation">
              <a:avLst/>
            </a:prstGeom>
            <a:solidFill>
              <a:srgbClr val="051B2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14" name="准备 113">
              <a:extLst>
                <a:ext uri="{FF2B5EF4-FFF2-40B4-BE49-F238E27FC236}">
                  <a16:creationId xmlns:a16="http://schemas.microsoft.com/office/drawing/2014/main" id="{DA6B7D08-0152-05D7-72DC-D2FE8E35C137}"/>
                </a:ext>
              </a:extLst>
            </p:cNvPr>
            <p:cNvSpPr/>
            <p:nvPr/>
          </p:nvSpPr>
          <p:spPr>
            <a:xfrm rot="5400000">
              <a:off x="4184723" y="2873982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5" name="准备 114">
              <a:extLst>
                <a:ext uri="{FF2B5EF4-FFF2-40B4-BE49-F238E27FC236}">
                  <a16:creationId xmlns:a16="http://schemas.microsoft.com/office/drawing/2014/main" id="{35CDE8B8-1ABF-489C-0398-C54B27A7099A}"/>
                </a:ext>
              </a:extLst>
            </p:cNvPr>
            <p:cNvSpPr/>
            <p:nvPr/>
          </p:nvSpPr>
          <p:spPr>
            <a:xfrm rot="5400000">
              <a:off x="2368280" y="4123688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准备 115">
              <a:extLst>
                <a:ext uri="{FF2B5EF4-FFF2-40B4-BE49-F238E27FC236}">
                  <a16:creationId xmlns:a16="http://schemas.microsoft.com/office/drawing/2014/main" id="{69C0AE41-E6EB-5E5D-23C2-CF12F5C6CADA}"/>
                </a:ext>
              </a:extLst>
            </p:cNvPr>
            <p:cNvSpPr/>
            <p:nvPr/>
          </p:nvSpPr>
          <p:spPr>
            <a:xfrm rot="5400000">
              <a:off x="3579242" y="4123688"/>
              <a:ext cx="1565386" cy="1210962"/>
            </a:xfrm>
            <a:prstGeom prst="flowChartPreparation">
              <a:avLst/>
            </a:prstGeom>
            <a:grp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46C87AF0-006F-530B-ADA1-C7A81B409D82}"/>
              </a:ext>
            </a:extLst>
          </p:cNvPr>
          <p:cNvGrpSpPr/>
          <p:nvPr/>
        </p:nvGrpSpPr>
        <p:grpSpPr>
          <a:xfrm>
            <a:off x="10104966" y="1619909"/>
            <a:ext cx="1293944" cy="1077218"/>
            <a:chOff x="504305" y="4959927"/>
            <a:chExt cx="1293944" cy="1077218"/>
          </a:xfrm>
        </p:grpSpPr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F30E4B6A-C7D7-3C8A-9B4F-00338A2DD86F}"/>
                </a:ext>
              </a:extLst>
            </p:cNvPr>
            <p:cNvSpPr txBox="1"/>
            <p:nvPr/>
          </p:nvSpPr>
          <p:spPr>
            <a:xfrm>
              <a:off x="504305" y="4959927"/>
              <a:ext cx="898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20,000</a:t>
              </a:r>
              <a:endParaRPr kumimoji="1" lang="zh-CN" altLang="en-US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05D1F46D-CF3E-BCD4-1AA8-E84E9BE679A3}"/>
                </a:ext>
              </a:extLst>
            </p:cNvPr>
            <p:cNvSpPr txBox="1"/>
            <p:nvPr/>
          </p:nvSpPr>
          <p:spPr>
            <a:xfrm>
              <a:off x="504305" y="5329259"/>
              <a:ext cx="12939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people per day of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testing capacity tor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COVID-19 in South</a:t>
              </a:r>
            </a:p>
            <a:p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Korea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87349256-3A73-8046-B183-9A8FE4881853}"/>
              </a:ext>
            </a:extLst>
          </p:cNvPr>
          <p:cNvGrpSpPr/>
          <p:nvPr/>
        </p:nvGrpSpPr>
        <p:grpSpPr>
          <a:xfrm>
            <a:off x="3893174" y="1294319"/>
            <a:ext cx="4437051" cy="4341102"/>
            <a:chOff x="4408563" y="932240"/>
            <a:chExt cx="3374873" cy="3301893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1D9FA2C6-311D-0153-77BB-9979B7584E72}"/>
                </a:ext>
              </a:extLst>
            </p:cNvPr>
            <p:cNvGrpSpPr/>
            <p:nvPr/>
          </p:nvGrpSpPr>
          <p:grpSpPr>
            <a:xfrm>
              <a:off x="4408563" y="932240"/>
              <a:ext cx="3374873" cy="3301893"/>
              <a:chOff x="1940011" y="1445745"/>
              <a:chExt cx="3632886" cy="4066117"/>
            </a:xfrm>
          </p:grpSpPr>
          <p:sp>
            <p:nvSpPr>
              <p:cNvPr id="5" name="准备 4">
                <a:extLst>
                  <a:ext uri="{FF2B5EF4-FFF2-40B4-BE49-F238E27FC236}">
                    <a16:creationId xmlns:a16="http://schemas.microsoft.com/office/drawing/2014/main" id="{968D980D-7773-2D8A-FF98-93F785AF264D}"/>
                  </a:ext>
                </a:extLst>
              </p:cNvPr>
              <p:cNvSpPr/>
              <p:nvPr/>
            </p:nvSpPr>
            <p:spPr>
              <a:xfrm rot="5400000">
                <a:off x="2368280" y="1622957"/>
                <a:ext cx="1565386" cy="1210962"/>
              </a:xfrm>
              <a:prstGeom prst="flowChartPreparation">
                <a:avLst/>
              </a:prstGeom>
              <a:solidFill>
                <a:srgbClr val="1F40E5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p:sp>
            <p:nvSpPr>
              <p:cNvPr id="6" name="准备 5">
                <a:extLst>
                  <a:ext uri="{FF2B5EF4-FFF2-40B4-BE49-F238E27FC236}">
                    <a16:creationId xmlns:a16="http://schemas.microsoft.com/office/drawing/2014/main" id="{47F884A5-ECB5-13B6-34DD-552E49158733}"/>
                  </a:ext>
                </a:extLst>
              </p:cNvPr>
              <p:cNvSpPr/>
              <p:nvPr/>
            </p:nvSpPr>
            <p:spPr>
              <a:xfrm rot="5400000">
                <a:off x="3579242" y="1622957"/>
                <a:ext cx="1565386" cy="1210962"/>
              </a:xfrm>
              <a:prstGeom prst="flowChartPreparation">
                <a:avLst/>
              </a:prstGeom>
              <a:solidFill>
                <a:srgbClr val="738795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p:sp>
            <p:nvSpPr>
              <p:cNvPr id="7" name="准备 6">
                <a:extLst>
                  <a:ext uri="{FF2B5EF4-FFF2-40B4-BE49-F238E27FC236}">
                    <a16:creationId xmlns:a16="http://schemas.microsoft.com/office/drawing/2014/main" id="{7B61AA78-01D7-E7C2-605F-539706BF3BA7}"/>
                  </a:ext>
                </a:extLst>
              </p:cNvPr>
              <p:cNvSpPr/>
              <p:nvPr/>
            </p:nvSpPr>
            <p:spPr>
              <a:xfrm rot="5400000">
                <a:off x="1762799" y="2873982"/>
                <a:ext cx="1565386" cy="1210962"/>
              </a:xfrm>
              <a:prstGeom prst="flowChartPreparation">
                <a:avLst/>
              </a:prstGeom>
              <a:solidFill>
                <a:srgbClr val="1F40E5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p:sp>
            <p:nvSpPr>
              <p:cNvPr id="8" name="准备 7">
                <a:extLst>
                  <a:ext uri="{FF2B5EF4-FFF2-40B4-BE49-F238E27FC236}">
                    <a16:creationId xmlns:a16="http://schemas.microsoft.com/office/drawing/2014/main" id="{F6A1A71F-AEAC-1C29-7FB6-780617B66411}"/>
                  </a:ext>
                </a:extLst>
              </p:cNvPr>
              <p:cNvSpPr/>
              <p:nvPr/>
            </p:nvSpPr>
            <p:spPr>
              <a:xfrm rot="5400000">
                <a:off x="4184723" y="2873982"/>
                <a:ext cx="1565386" cy="1210962"/>
              </a:xfrm>
              <a:prstGeom prst="flowChartPreparation">
                <a:avLst/>
              </a:prstGeom>
              <a:solidFill>
                <a:srgbClr val="738795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p:sp>
            <p:nvSpPr>
              <p:cNvPr id="9" name="准备 8">
                <a:extLst>
                  <a:ext uri="{FF2B5EF4-FFF2-40B4-BE49-F238E27FC236}">
                    <a16:creationId xmlns:a16="http://schemas.microsoft.com/office/drawing/2014/main" id="{DB529023-97E4-EEFC-068D-02017CE9D736}"/>
                  </a:ext>
                </a:extLst>
              </p:cNvPr>
              <p:cNvSpPr/>
              <p:nvPr/>
            </p:nvSpPr>
            <p:spPr>
              <a:xfrm rot="5400000">
                <a:off x="2368280" y="4123688"/>
                <a:ext cx="1565386" cy="1210962"/>
              </a:xfrm>
              <a:prstGeom prst="flowChartPreparation">
                <a:avLst/>
              </a:prstGeom>
              <a:solidFill>
                <a:srgbClr val="1F40E5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  <p:sp>
            <p:nvSpPr>
              <p:cNvPr id="10" name="准备 9">
                <a:extLst>
                  <a:ext uri="{FF2B5EF4-FFF2-40B4-BE49-F238E27FC236}">
                    <a16:creationId xmlns:a16="http://schemas.microsoft.com/office/drawing/2014/main" id="{11BFD2AC-B780-3E66-9DB0-2F49D1BD969F}"/>
                  </a:ext>
                </a:extLst>
              </p:cNvPr>
              <p:cNvSpPr/>
              <p:nvPr/>
            </p:nvSpPr>
            <p:spPr>
              <a:xfrm rot="5400000">
                <a:off x="3579242" y="4123688"/>
                <a:ext cx="1565386" cy="1210962"/>
              </a:xfrm>
              <a:prstGeom prst="flowChartPreparation">
                <a:avLst/>
              </a:prstGeom>
              <a:solidFill>
                <a:srgbClr val="738795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400"/>
              </a:p>
            </p:txBody>
          </p:sp>
        </p:grp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EBA0BCB1-31BC-1922-BB36-9EB2D1A42862}"/>
                </a:ext>
              </a:extLst>
            </p:cNvPr>
            <p:cNvSpPr txBox="1"/>
            <p:nvPr/>
          </p:nvSpPr>
          <p:spPr>
            <a:xfrm>
              <a:off x="5154731" y="1113905"/>
              <a:ext cx="718389" cy="7725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6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Effectively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safeguard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and redeploy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labor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6523B282-F7F6-64D4-8F30-2D249B7B282B}"/>
                </a:ext>
              </a:extLst>
            </p:cNvPr>
            <p:cNvSpPr txBox="1"/>
            <p:nvPr/>
          </p:nvSpPr>
          <p:spPr>
            <a:xfrm>
              <a:off x="6233185" y="1113905"/>
              <a:ext cx="859825" cy="7725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1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Implement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a watertight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track-trace-test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quarantine cycle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DCD6223A-8C53-20B4-86DC-D761844C9EBC}"/>
                </a:ext>
              </a:extLst>
            </p:cNvPr>
            <p:cNvSpPr txBox="1"/>
            <p:nvPr/>
          </p:nvSpPr>
          <p:spPr>
            <a:xfrm>
              <a:off x="6719422" y="2097578"/>
              <a:ext cx="1001259" cy="8895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2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Leverage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technology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resources to enable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surges in health-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care capacity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B77E2876-C089-04D5-D88A-7A592D6D3199}"/>
                </a:ext>
              </a:extLst>
            </p:cNvPr>
            <p:cNvSpPr txBox="1"/>
            <p:nvPr/>
          </p:nvSpPr>
          <p:spPr>
            <a:xfrm>
              <a:off x="4490984" y="2097578"/>
              <a:ext cx="909814" cy="8895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5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Embrace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work from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home to maintain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economic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activity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525D8F0C-4AE2-1A44-EB2B-831E16158FA5}"/>
                </a:ext>
              </a:extLst>
            </p:cNvPr>
            <p:cNvSpPr txBox="1"/>
            <p:nvPr/>
          </p:nvSpPr>
          <p:spPr>
            <a:xfrm>
              <a:off x="5149277" y="3119420"/>
              <a:ext cx="724486" cy="7725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4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Go all-in on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digitizing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products and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services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07878FB9-786B-4E39-2750-9D09005D32C3}"/>
                </a:ext>
              </a:extLst>
            </p:cNvPr>
            <p:cNvSpPr txBox="1"/>
            <p:nvPr/>
          </p:nvSpPr>
          <p:spPr>
            <a:xfrm>
              <a:off x="6196608" y="3108336"/>
              <a:ext cx="932981" cy="8895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HarmonyOS Sans SC" pitchFamily="2" charset="-122"/>
                  <a:ea typeface="HarmonyOS Sans SC" pitchFamily="2" charset="-122"/>
                </a:rPr>
                <a:t>3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Communicate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transparent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and timely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information to the</a:t>
              </a:r>
            </a:p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  <a:latin typeface="HarmonyOS Sans SC Light" pitchFamily="2" charset="-122"/>
                  <a:ea typeface="HarmonyOS Sans SC Light" pitchFamily="2" charset="-122"/>
                </a:rPr>
                <a:t>public</a:t>
              </a:r>
              <a:endParaRPr kumimoji="1" lang="zh-CN" altLang="en-US" sz="1000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B5D59F2-5F6A-0F6D-D50A-2CA46127DC61}"/>
              </a:ext>
            </a:extLst>
          </p:cNvPr>
          <p:cNvSpPr txBox="1"/>
          <p:nvPr/>
        </p:nvSpPr>
        <p:spPr>
          <a:xfrm>
            <a:off x="504306" y="806127"/>
            <a:ext cx="1112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Livelihoods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A814D6D-FE6F-193A-8D26-B3D8611CEE5C}"/>
              </a:ext>
            </a:extLst>
          </p:cNvPr>
          <p:cNvSpPr txBox="1"/>
          <p:nvPr/>
        </p:nvSpPr>
        <p:spPr>
          <a:xfrm>
            <a:off x="8391686" y="811393"/>
            <a:ext cx="7264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Health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252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D261B77-B938-959D-49BF-1F76CF16DD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0" imgW="7772400" imgH="10058400" progId="TCLayout.ActiveDocument.1">
                  <p:embed/>
                </p:oleObj>
              </mc:Choice>
              <mc:Fallback>
                <p:oleObj name="think-cell 幻灯片" r:id="rId20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261B77-B938-959D-49BF-1F76CF16DD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880C83A-2132-2985-E5DB-7BFF749828C3}"/>
              </a:ext>
            </a:extLst>
          </p:cNvPr>
          <p:cNvSpPr txBox="1"/>
          <p:nvPr/>
        </p:nvSpPr>
        <p:spPr>
          <a:xfrm>
            <a:off x="360044" y="222885"/>
            <a:ext cx="1132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South Korea's petrochemical industry faces challenges from China's growing self-sufficiency.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7E0A2A-848F-7394-231E-BA8FBA291FC2}"/>
              </a:ext>
            </a:extLst>
          </p:cNvPr>
          <p:cNvSpPr txBox="1"/>
          <p:nvPr/>
        </p:nvSpPr>
        <p:spPr>
          <a:xfrm>
            <a:off x="360044" y="680085"/>
            <a:ext cx="4419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Petrochemical product demand and supply in China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thousand tons, 2000-2030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76" name="Chart 3">
            <a:extLst>
              <a:ext uri="{FF2B5EF4-FFF2-40B4-BE49-F238E27FC236}">
                <a16:creationId xmlns:a16="http://schemas.microsoft.com/office/drawing/2014/main" id="{90FD86CF-4BB3-86DA-F9A9-3867A5809DF1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77813" y="1470025"/>
          <a:ext cx="11303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6EF93E66-BFDA-1B04-FC9F-D56612E4774E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6823075" y="2200275"/>
            <a:ext cx="9953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DF8C0DE0-89E0-6871-4524-94152FC6396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7818438" y="2200275"/>
            <a:ext cx="0" cy="4016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30BFF40A-17D4-DEAF-D1B6-A2A5A420BB1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V="1">
            <a:off x="6823075" y="2200275"/>
            <a:ext cx="0" cy="1746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F9228582-D2AD-71BF-7A68-1A4099B2B127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10602913" y="1473201"/>
            <a:ext cx="0" cy="6270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2A2981BE-E1FC-52CF-5908-893446B09C30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9607550" y="1473200"/>
            <a:ext cx="9953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8E8F739B-B1C3-B20D-A037-FD99D1B43834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V="1">
            <a:off x="9607550" y="1473200"/>
            <a:ext cx="0" cy="1746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D011FCB6-1866-EC7B-A682-91BFE173F23A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7110413" y="3965575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E2CBC2D-E7A0-44FA-8FB8-1929A472882B}" type="datetime'''''''''2''''''''''020''''''''''''''''''''''''''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C4FD6DF6-8CCC-315C-CF89-7C63352C5D34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4325938" y="3965575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C5CE9B38-7D8F-43FD-B4CA-AB4D246BC58C}" type="datetime'''''20''''''''''''''''''''''''1''''''''0''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30B53679-BBDB-9E6A-618D-3E1CDF4856DC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9842500" y="3965575"/>
            <a:ext cx="5254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9ADF27-CEE3-4CC6-9C36-B01A5CABB286}" type="datetime'''2''0''''''30''E''''''''''''''''''''''''''''''''''''''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2030E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A7D1B979-8A61-C46F-5051-2D4EDA4B57FB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1541463" y="3965575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BBC6ADE-2EE4-4A5F-826D-61FAF51D5D28}" type="datetime'''''''''''2''''''''00''0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2000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4" name="文本占位符 2">
            <a:extLst>
              <a:ext uri="{FF2B5EF4-FFF2-40B4-BE49-F238E27FC236}">
                <a16:creationId xmlns:a16="http://schemas.microsoft.com/office/drawing/2014/main" id="{8D2F1CF1-86B7-7167-A213-9DC7311D0F3D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6999288" y="2063750"/>
            <a:ext cx="641350" cy="2730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8BB947C-56E3-476A-9D2C-FB7DF79F5E3C}" type="datetime'''-''''''''''''''''''18''''%'''''''''''''''''''''''">
              <a:rPr kumimoji="1" lang="en-US" altLang="en-US" sz="1400" b="1" smtClean="0">
                <a:latin typeface="HarmonyOS Sans SC" pitchFamily="2" charset="-122"/>
                <a:ea typeface="HarmonyOS Sans SC" pitchFamily="2" charset="-122"/>
              </a:rPr>
              <a:pPr/>
              <a:t>-18%</a:t>
            </a:fld>
            <a:endParaRPr kumimoji="1" lang="zh-CN" altLang="en-US" sz="1400" b="1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B14CDCCB-6525-90C9-C236-B8C62AC0E76C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9783763" y="1336675"/>
            <a:ext cx="641350" cy="2730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89D6A69-FAAA-4C7C-A60D-34F893BBAC88}" type="datetime'-''''''2''''''''''''''''''''3''''''''''''''''''''''''%'">
              <a:rPr kumimoji="1" lang="en-US" altLang="en-US" sz="1400" b="1" smtClean="0">
                <a:latin typeface="HarmonyOS Sans SC" pitchFamily="2" charset="-122"/>
                <a:ea typeface="HarmonyOS Sans SC" pitchFamily="2" charset="-122"/>
              </a:rPr>
              <a:pPr/>
              <a:t>-23%</a:t>
            </a:fld>
            <a:endParaRPr kumimoji="1" lang="zh-CN" altLang="en-US" sz="1400" b="1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EC3B1A-E3CA-44D3-1117-7DEC5A84A9A9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8736013" y="928688"/>
            <a:ext cx="250825" cy="187325"/>
          </a:xfrm>
          <a:prstGeom prst="rect">
            <a:avLst/>
          </a:prstGeom>
          <a:solidFill>
            <a:srgbClr val="0059AE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D3B7BB-1EF3-F508-670F-9C5B42E44E0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10064750" y="928688"/>
            <a:ext cx="250825" cy="187325"/>
          </a:xfrm>
          <a:prstGeom prst="rect">
            <a:avLst/>
          </a:prstGeom>
          <a:solidFill>
            <a:srgbClr val="00ADF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088FA321-FC73-3D8A-6D32-0EE8E1ABDE98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9037638" y="939800"/>
            <a:ext cx="9255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EAF4A2E3-4581-47AA-8F31-6AB937E9986E}" type="datetime'''T''o''tal'' ''''s''''''''''''up''p''''''''''''ly'''''''''">
              <a:rPr kumimoji="1" lang="en-US" altLang="en-US" sz="1400" smtClean="0">
                <a:ea typeface="等线" panose="02010600030101010101" pitchFamily="2" charset="-122"/>
              </a:rPr>
              <a:pPr/>
              <a:t>Total supply</a:t>
            </a:fld>
            <a:endParaRPr kumimoji="1" lang="zh-CN" altLang="en-US" sz="1400" dirty="0">
              <a:ea typeface="等线" panose="02010600030101010101" pitchFamily="2" charset="-122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B727247D-4385-2818-DAD8-2A745DE59F3B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0366375" y="939800"/>
            <a:ext cx="10604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95E3CEF1-76E0-4C75-9B3A-93AA803046B7}" type="datetime'''''''''T''''''''''''o''t''al ''''''d''''''em''a''''n''d'">
              <a:rPr kumimoji="1" lang="en-US" altLang="en-US" sz="1400" smtClean="0">
                <a:ea typeface="等线" panose="02010600030101010101" pitchFamily="2" charset="-122"/>
              </a:rPr>
              <a:pPr/>
              <a:t>Total demand</a:t>
            </a:fld>
            <a:endParaRPr kumimoji="1" lang="zh-CN" altLang="en-US" sz="1400" dirty="0">
              <a:ea typeface="等线" panose="02010600030101010101" pitchFamily="2" charset="-122"/>
            </a:endParaRPr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ED4313C3-E1BD-CBD2-7C84-1F5D4214EA73}"/>
              </a:ext>
            </a:extLst>
          </p:cNvPr>
          <p:cNvCxnSpPr/>
          <p:nvPr/>
        </p:nvCxnSpPr>
        <p:spPr>
          <a:xfrm>
            <a:off x="605790" y="4760595"/>
            <a:ext cx="105956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F647378E-F495-8D99-DB8D-14ECDBAE73DD}"/>
              </a:ext>
            </a:extLst>
          </p:cNvPr>
          <p:cNvSpPr txBox="1"/>
          <p:nvPr/>
        </p:nvSpPr>
        <p:spPr>
          <a:xfrm>
            <a:off x="6372225" y="439725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2000-2010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2DDC3EB-D8C2-373A-8D01-24F8C68E861D}"/>
              </a:ext>
            </a:extLst>
          </p:cNvPr>
          <p:cNvSpPr txBox="1"/>
          <p:nvPr/>
        </p:nvSpPr>
        <p:spPr>
          <a:xfrm>
            <a:off x="9607550" y="4397255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2010-2020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EAE00802-A09C-D606-718D-6AF0FE6734CA}"/>
              </a:ext>
            </a:extLst>
          </p:cNvPr>
          <p:cNvCxnSpPr/>
          <p:nvPr/>
        </p:nvCxnSpPr>
        <p:spPr>
          <a:xfrm>
            <a:off x="605790" y="6015990"/>
            <a:ext cx="105956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3503B6ED-AD5F-10A5-6219-4F02DAB93EA8}"/>
              </a:ext>
            </a:extLst>
          </p:cNvPr>
          <p:cNvCxnSpPr>
            <a:cxnSpLocks/>
          </p:cNvCxnSpPr>
          <p:nvPr/>
        </p:nvCxnSpPr>
        <p:spPr>
          <a:xfrm>
            <a:off x="3520440" y="5368290"/>
            <a:ext cx="7680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FA0D8F0E-C786-5357-A696-1C7F09E6716A}"/>
              </a:ext>
            </a:extLst>
          </p:cNvPr>
          <p:cNvSpPr txBox="1"/>
          <p:nvPr/>
        </p:nvSpPr>
        <p:spPr>
          <a:xfrm>
            <a:off x="3520440" y="4844069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Global commodity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chemicals industry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DDAC07D5-E365-0310-5DF4-6683555F1338}"/>
              </a:ext>
            </a:extLst>
          </p:cNvPr>
          <p:cNvSpPr txBox="1"/>
          <p:nvPr/>
        </p:nvSpPr>
        <p:spPr>
          <a:xfrm>
            <a:off x="3520440" y="5459076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Korean chemicals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industry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CC271B0-953F-4618-6DB8-8BBE18AB1128}"/>
              </a:ext>
            </a:extLst>
          </p:cNvPr>
          <p:cNvSpPr txBox="1"/>
          <p:nvPr/>
        </p:nvSpPr>
        <p:spPr>
          <a:xfrm>
            <a:off x="6400277" y="4842462"/>
            <a:ext cx="1037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HarmonyOS Sans SC Medium" pitchFamily="2" charset="-122"/>
                <a:ea typeface="HarmonyOS Sans SC Medium" pitchFamily="2" charset="-122"/>
              </a:rPr>
              <a:t>17.2%</a:t>
            </a:r>
            <a:endParaRPr kumimoji="1" lang="zh-CN" altLang="en-US" sz="24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5ACFD2E5-5431-636D-3CBE-08CF3ED0B34E}"/>
              </a:ext>
            </a:extLst>
          </p:cNvPr>
          <p:cNvSpPr txBox="1"/>
          <p:nvPr/>
        </p:nvSpPr>
        <p:spPr>
          <a:xfrm>
            <a:off x="6400277" y="5459075"/>
            <a:ext cx="1037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0059AE"/>
                </a:solidFill>
                <a:latin typeface="HarmonyOS Sans SC Medium" pitchFamily="2" charset="-122"/>
                <a:ea typeface="HarmonyOS Sans SC Medium" pitchFamily="2" charset="-122"/>
              </a:rPr>
              <a:t>29.2%</a:t>
            </a:r>
            <a:endParaRPr kumimoji="1" lang="zh-CN" altLang="en-US" sz="2400" dirty="0">
              <a:solidFill>
                <a:srgbClr val="0059AE"/>
              </a:solidFill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CA09DE8-E1CF-4FDC-48DA-878BCCA61086}"/>
              </a:ext>
            </a:extLst>
          </p:cNvPr>
          <p:cNvSpPr txBox="1"/>
          <p:nvPr/>
        </p:nvSpPr>
        <p:spPr>
          <a:xfrm>
            <a:off x="9671430" y="4842462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0059AE"/>
                </a:solidFill>
                <a:latin typeface="HarmonyOS Sans SC Medium" pitchFamily="2" charset="-122"/>
                <a:ea typeface="HarmonyOS Sans SC Medium" pitchFamily="2" charset="-122"/>
              </a:rPr>
              <a:t>4.2%</a:t>
            </a:r>
            <a:endParaRPr kumimoji="1" lang="zh-CN" altLang="en-US" sz="2400" dirty="0">
              <a:solidFill>
                <a:srgbClr val="0059AE"/>
              </a:solidFill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879DF34-8908-5BF4-7BFA-C88D379370F7}"/>
              </a:ext>
            </a:extLst>
          </p:cNvPr>
          <p:cNvSpPr txBox="1"/>
          <p:nvPr/>
        </p:nvSpPr>
        <p:spPr>
          <a:xfrm>
            <a:off x="9678098" y="5463500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HarmonyOS Sans SC Medium" pitchFamily="2" charset="-122"/>
                <a:ea typeface="HarmonyOS Sans SC Medium" pitchFamily="2" charset="-122"/>
              </a:rPr>
              <a:t>1.3%</a:t>
            </a:r>
            <a:endParaRPr kumimoji="1" lang="zh-CN" altLang="en-US" sz="2400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FDE4883-C5C8-A2AD-4AE7-719B00D0AA3B}"/>
              </a:ext>
            </a:extLst>
          </p:cNvPr>
          <p:cNvSpPr txBox="1"/>
          <p:nvPr/>
        </p:nvSpPr>
        <p:spPr>
          <a:xfrm>
            <a:off x="583508" y="4851421"/>
            <a:ext cx="16241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Total shareholder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return, CAGR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percent</a:t>
            </a:r>
            <a:r>
              <a:rPr kumimoji="1" lang="en-US" altLang="zh-CN" sz="14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endParaRPr kumimoji="1" lang="zh-CN" altLang="en-US" sz="14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72E9996-8F23-576B-14EB-8BF44074A771}"/>
              </a:ext>
            </a:extLst>
          </p:cNvPr>
          <p:cNvSpPr txBox="1"/>
          <p:nvPr/>
        </p:nvSpPr>
        <p:spPr>
          <a:xfrm>
            <a:off x="360044" y="6109692"/>
            <a:ext cx="53126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CAGR period is calculated based on 2001 to 2011 and 2011 to 2020.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Index = 100, December 31,2000.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Chemical market analytics, McKinsey; Corporate performance analytics, McKinsey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875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B528D-BDF6-E1BB-AD03-C6AD55FB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1737F9-CC23-41A3-22E0-7F4DBDB4F7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1737F9-CC23-41A3-22E0-7F4DBDB4F7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7D12592-CA02-970B-D886-17AB0B4BCED9}"/>
              </a:ext>
            </a:extLst>
          </p:cNvPr>
          <p:cNvSpPr txBox="1"/>
          <p:nvPr/>
        </p:nvSpPr>
        <p:spPr>
          <a:xfrm>
            <a:off x="360044" y="222885"/>
            <a:ext cx="1132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Technology areas in which South Korea has a leading position have decreased.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82F817-C367-2CC6-0259-01556BD5C455}"/>
              </a:ext>
            </a:extLst>
          </p:cNvPr>
          <p:cNvSpPr txBox="1"/>
          <p:nvPr/>
        </p:nvSpPr>
        <p:spPr>
          <a:xfrm>
            <a:off x="1685924" y="992986"/>
            <a:ext cx="32576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Assessment of South Korea's position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 120 priority technologies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2012-2020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696790DE-5C00-4AC1-E1B3-9FB15B207963}"/>
              </a:ext>
            </a:extLst>
          </p:cNvPr>
          <p:cNvSpPr txBox="1"/>
          <p:nvPr/>
        </p:nvSpPr>
        <p:spPr>
          <a:xfrm>
            <a:off x="360044" y="6014897"/>
            <a:ext cx="5779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120 priority technologies in the Fourth Basic Plan for Science and Technology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2018 to 2022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Korea Institute of Science &amp; Technology Evaluation and Planning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KISTEP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95187CA-F638-7055-3B59-176BDAD16A4F}"/>
              </a:ext>
            </a:extLst>
          </p:cNvPr>
          <p:cNvSpPr/>
          <p:nvPr/>
        </p:nvSpPr>
        <p:spPr>
          <a:xfrm>
            <a:off x="1731645" y="2423777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DEFA343-9837-30C4-1F5E-408F2033B006}"/>
              </a:ext>
            </a:extLst>
          </p:cNvPr>
          <p:cNvSpPr/>
          <p:nvPr/>
        </p:nvSpPr>
        <p:spPr>
          <a:xfrm>
            <a:off x="4838700" y="2423776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3DEFA30-F483-8B8A-128D-515D86AEA3A1}"/>
              </a:ext>
            </a:extLst>
          </p:cNvPr>
          <p:cNvCxnSpPr>
            <a:stCxn id="2" idx="6"/>
            <a:endCxn id="3" idx="2"/>
          </p:cNvCxnSpPr>
          <p:nvPr/>
        </p:nvCxnSpPr>
        <p:spPr>
          <a:xfrm flipV="1">
            <a:off x="2217420" y="2666664"/>
            <a:ext cx="262128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135DDC2-89C2-8E32-8249-359CB917F25D}"/>
              </a:ext>
            </a:extLst>
          </p:cNvPr>
          <p:cNvSpPr txBox="1"/>
          <p:nvPr/>
        </p:nvSpPr>
        <p:spPr>
          <a:xfrm>
            <a:off x="3297869" y="2481997"/>
            <a:ext cx="46038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59AE"/>
                </a:solidFill>
                <a:latin typeface="HarmonyOS Sans SC" pitchFamily="2" charset="-122"/>
                <a:ea typeface="HarmonyOS Sans SC" pitchFamily="2" charset="-122"/>
              </a:rPr>
              <a:t>+0</a:t>
            </a:r>
            <a:endParaRPr kumimoji="1" lang="zh-CN" altLang="en-US" dirty="0">
              <a:solidFill>
                <a:srgbClr val="0059AE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723C2A2-394A-D311-256C-A6283C24CA7F}"/>
              </a:ext>
            </a:extLst>
          </p:cNvPr>
          <p:cNvCxnSpPr/>
          <p:nvPr/>
        </p:nvCxnSpPr>
        <p:spPr>
          <a:xfrm flipH="1">
            <a:off x="3660775" y="2481997"/>
            <a:ext cx="190500" cy="400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84F80507-6E87-EE67-DB69-A6BC25A35F21}"/>
              </a:ext>
            </a:extLst>
          </p:cNvPr>
          <p:cNvCxnSpPr/>
          <p:nvPr/>
        </p:nvCxnSpPr>
        <p:spPr>
          <a:xfrm flipH="1">
            <a:off x="3202619" y="2466220"/>
            <a:ext cx="190500" cy="400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83595E4D-037C-C69F-8A07-78790DF4AFAF}"/>
              </a:ext>
            </a:extLst>
          </p:cNvPr>
          <p:cNvSpPr/>
          <p:nvPr/>
        </p:nvSpPr>
        <p:spPr>
          <a:xfrm>
            <a:off x="1731645" y="3249949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D4E07181-7332-2163-B2A5-D8FE8A697C80}"/>
              </a:ext>
            </a:extLst>
          </p:cNvPr>
          <p:cNvSpPr/>
          <p:nvPr/>
        </p:nvSpPr>
        <p:spPr>
          <a:xfrm>
            <a:off x="4838700" y="3249948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86113BCF-6206-299F-EA87-287460DE97E5}"/>
              </a:ext>
            </a:extLst>
          </p:cNvPr>
          <p:cNvCxnSpPr>
            <a:stCxn id="20" idx="6"/>
            <a:endCxn id="21" idx="2"/>
          </p:cNvCxnSpPr>
          <p:nvPr/>
        </p:nvCxnSpPr>
        <p:spPr>
          <a:xfrm flipV="1">
            <a:off x="2217420" y="3492836"/>
            <a:ext cx="262128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85918EB-7F6C-594D-A275-70DF40063FA9}"/>
              </a:ext>
            </a:extLst>
          </p:cNvPr>
          <p:cNvSpPr txBox="1"/>
          <p:nvPr/>
        </p:nvSpPr>
        <p:spPr>
          <a:xfrm>
            <a:off x="3241429" y="3308169"/>
            <a:ext cx="55976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HarmonyOS Sans SC" pitchFamily="2" charset="-122"/>
                <a:ea typeface="HarmonyOS Sans SC" pitchFamily="2" charset="-122"/>
              </a:rPr>
              <a:t>-32</a:t>
            </a:r>
            <a:endParaRPr kumimoji="1" lang="zh-CN" altLang="en-US" dirty="0">
              <a:solidFill>
                <a:srgbClr val="C00000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858988C7-E67C-EF12-CE64-7D5F9CC55F44}"/>
              </a:ext>
            </a:extLst>
          </p:cNvPr>
          <p:cNvCxnSpPr/>
          <p:nvPr/>
        </p:nvCxnSpPr>
        <p:spPr>
          <a:xfrm flipH="1">
            <a:off x="3660775" y="3308169"/>
            <a:ext cx="190500" cy="400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2415A984-7417-A30E-77CD-E4278D6507C9}"/>
              </a:ext>
            </a:extLst>
          </p:cNvPr>
          <p:cNvCxnSpPr/>
          <p:nvPr/>
        </p:nvCxnSpPr>
        <p:spPr>
          <a:xfrm flipH="1">
            <a:off x="3202619" y="3292392"/>
            <a:ext cx="190500" cy="400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711A5FB8-AD3A-9D09-99FA-08506D9C7C29}"/>
              </a:ext>
            </a:extLst>
          </p:cNvPr>
          <p:cNvSpPr/>
          <p:nvPr/>
        </p:nvSpPr>
        <p:spPr>
          <a:xfrm>
            <a:off x="1731645" y="4159508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D0850E6-72A9-AF36-E8A3-560EA027B95A}"/>
              </a:ext>
            </a:extLst>
          </p:cNvPr>
          <p:cNvSpPr/>
          <p:nvPr/>
        </p:nvSpPr>
        <p:spPr>
          <a:xfrm>
            <a:off x="4838700" y="4159507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7D3E56D7-BA89-4A5B-65EB-A6F6D65C4191}"/>
              </a:ext>
            </a:extLst>
          </p:cNvPr>
          <p:cNvCxnSpPr>
            <a:stCxn id="26" idx="6"/>
            <a:endCxn id="27" idx="2"/>
          </p:cNvCxnSpPr>
          <p:nvPr/>
        </p:nvCxnSpPr>
        <p:spPr>
          <a:xfrm flipV="1">
            <a:off x="2217420" y="4402395"/>
            <a:ext cx="262128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92D29BD-19AF-6DD9-1E38-26734689BD01}"/>
              </a:ext>
            </a:extLst>
          </p:cNvPr>
          <p:cNvSpPr txBox="1"/>
          <p:nvPr/>
        </p:nvSpPr>
        <p:spPr>
          <a:xfrm>
            <a:off x="3247073" y="4217728"/>
            <a:ext cx="5790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59AE"/>
                </a:solidFill>
                <a:latin typeface="HarmonyOS Sans SC" pitchFamily="2" charset="-122"/>
                <a:ea typeface="HarmonyOS Sans SC" pitchFamily="2" charset="-122"/>
              </a:rPr>
              <a:t>+20</a:t>
            </a:r>
            <a:endParaRPr kumimoji="1" lang="zh-CN" altLang="en-US" dirty="0">
              <a:solidFill>
                <a:srgbClr val="0059AE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C67BA6AC-E71D-F0E6-59FC-55546E53BD67}"/>
              </a:ext>
            </a:extLst>
          </p:cNvPr>
          <p:cNvCxnSpPr/>
          <p:nvPr/>
        </p:nvCxnSpPr>
        <p:spPr>
          <a:xfrm flipH="1">
            <a:off x="3660775" y="4217728"/>
            <a:ext cx="190500" cy="400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478CACE2-4616-34D4-147F-9685E161D35F}"/>
              </a:ext>
            </a:extLst>
          </p:cNvPr>
          <p:cNvCxnSpPr/>
          <p:nvPr/>
        </p:nvCxnSpPr>
        <p:spPr>
          <a:xfrm flipH="1">
            <a:off x="3202619" y="4201951"/>
            <a:ext cx="190500" cy="400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6E83D159-349A-CEF4-CD40-8DAA14FCC574}"/>
              </a:ext>
            </a:extLst>
          </p:cNvPr>
          <p:cNvSpPr/>
          <p:nvPr/>
        </p:nvSpPr>
        <p:spPr>
          <a:xfrm>
            <a:off x="1731645" y="5010844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E961605-CB61-7DF5-F110-C36326180705}"/>
              </a:ext>
            </a:extLst>
          </p:cNvPr>
          <p:cNvSpPr/>
          <p:nvPr/>
        </p:nvSpPr>
        <p:spPr>
          <a:xfrm>
            <a:off x="4838700" y="5010843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90E1545D-B1F9-151F-091E-A82430C50631}"/>
              </a:ext>
            </a:extLst>
          </p:cNvPr>
          <p:cNvCxnSpPr>
            <a:stCxn id="33" idx="6"/>
            <a:endCxn id="34" idx="2"/>
          </p:cNvCxnSpPr>
          <p:nvPr/>
        </p:nvCxnSpPr>
        <p:spPr>
          <a:xfrm flipV="1">
            <a:off x="2217420" y="5253731"/>
            <a:ext cx="262128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611EC049-57A6-0175-D4D2-9EC8E78856A8}"/>
              </a:ext>
            </a:extLst>
          </p:cNvPr>
          <p:cNvSpPr txBox="1"/>
          <p:nvPr/>
        </p:nvSpPr>
        <p:spPr>
          <a:xfrm>
            <a:off x="3241427" y="5069064"/>
            <a:ext cx="5790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59AE"/>
                </a:solidFill>
                <a:latin typeface="HarmonyOS Sans SC" pitchFamily="2" charset="-122"/>
                <a:ea typeface="HarmonyOS Sans SC" pitchFamily="2" charset="-122"/>
              </a:rPr>
              <a:t>+12</a:t>
            </a:r>
            <a:endParaRPr kumimoji="1" lang="zh-CN" altLang="en-US" dirty="0">
              <a:solidFill>
                <a:srgbClr val="0059AE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D7F61A0C-56E7-9279-3F00-A4FBEDE220AE}"/>
              </a:ext>
            </a:extLst>
          </p:cNvPr>
          <p:cNvCxnSpPr/>
          <p:nvPr/>
        </p:nvCxnSpPr>
        <p:spPr>
          <a:xfrm flipH="1">
            <a:off x="3660775" y="5069064"/>
            <a:ext cx="190500" cy="400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A22FC8B3-FC4C-1188-7C32-E8E64C99D1B8}"/>
              </a:ext>
            </a:extLst>
          </p:cNvPr>
          <p:cNvCxnSpPr/>
          <p:nvPr/>
        </p:nvCxnSpPr>
        <p:spPr>
          <a:xfrm flipH="1">
            <a:off x="3202619" y="5053287"/>
            <a:ext cx="190500" cy="4008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2090CDE1-B22E-6576-B566-F1A6523C7A71}"/>
              </a:ext>
            </a:extLst>
          </p:cNvPr>
          <p:cNvSpPr txBox="1"/>
          <p:nvPr/>
        </p:nvSpPr>
        <p:spPr>
          <a:xfrm>
            <a:off x="1830903" y="2518388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D305F85-2424-08DD-DAFE-30183460D31D}"/>
              </a:ext>
            </a:extLst>
          </p:cNvPr>
          <p:cNvSpPr txBox="1"/>
          <p:nvPr/>
        </p:nvSpPr>
        <p:spPr>
          <a:xfrm>
            <a:off x="1777493" y="3354722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36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D1FF121-3BE6-C29A-91E5-1AA504C303D6}"/>
              </a:ext>
            </a:extLst>
          </p:cNvPr>
          <p:cNvSpPr txBox="1"/>
          <p:nvPr/>
        </p:nvSpPr>
        <p:spPr>
          <a:xfrm>
            <a:off x="1784461" y="4264281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83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F76CA9C-4E23-1016-28F0-AA686ABDA72F}"/>
              </a:ext>
            </a:extLst>
          </p:cNvPr>
          <p:cNvSpPr txBox="1"/>
          <p:nvPr/>
        </p:nvSpPr>
        <p:spPr>
          <a:xfrm>
            <a:off x="1828789" y="5115617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529054F-ED1A-E5FD-579E-77517D7D134A}"/>
              </a:ext>
            </a:extLst>
          </p:cNvPr>
          <p:cNvSpPr txBox="1"/>
          <p:nvPr/>
        </p:nvSpPr>
        <p:spPr>
          <a:xfrm>
            <a:off x="4881809" y="2510752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36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3B1D00F-CE8D-59C9-3FAB-22E6C35DEE31}"/>
              </a:ext>
            </a:extLst>
          </p:cNvPr>
          <p:cNvSpPr txBox="1"/>
          <p:nvPr/>
        </p:nvSpPr>
        <p:spPr>
          <a:xfrm>
            <a:off x="4933105" y="3354721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4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530B3DF-CD62-3FB5-F490-E3AA644E3CFE}"/>
              </a:ext>
            </a:extLst>
          </p:cNvPr>
          <p:cNvSpPr txBox="1"/>
          <p:nvPr/>
        </p:nvSpPr>
        <p:spPr>
          <a:xfrm>
            <a:off x="4830512" y="4265378"/>
            <a:ext cx="492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103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FD7D93E-9A1D-54EC-6996-0A1D52F7042C}"/>
              </a:ext>
            </a:extLst>
          </p:cNvPr>
          <p:cNvSpPr txBox="1"/>
          <p:nvPr/>
        </p:nvSpPr>
        <p:spPr>
          <a:xfrm>
            <a:off x="4881809" y="5119013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13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E9214AB-7500-A7FC-8AF2-9AD98EAAC678}"/>
              </a:ext>
            </a:extLst>
          </p:cNvPr>
          <p:cNvSpPr txBox="1"/>
          <p:nvPr/>
        </p:nvSpPr>
        <p:spPr>
          <a:xfrm>
            <a:off x="438329" y="2510751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Top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73C06D2-51F0-3CB5-F321-BCFA5597E3DC}"/>
              </a:ext>
            </a:extLst>
          </p:cNvPr>
          <p:cNvSpPr txBox="1"/>
          <p:nvPr/>
        </p:nvSpPr>
        <p:spPr>
          <a:xfrm>
            <a:off x="438328" y="3338945"/>
            <a:ext cx="846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Leading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784A8A5-3FA5-E6A8-236B-BDD7653EE6A6}"/>
              </a:ext>
            </a:extLst>
          </p:cNvPr>
          <p:cNvSpPr txBox="1"/>
          <p:nvPr/>
        </p:nvSpPr>
        <p:spPr>
          <a:xfrm>
            <a:off x="438328" y="4251147"/>
            <a:ext cx="846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Chasing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2EAB704-C5F0-6C99-DBAD-0E15B3A5BABB}"/>
              </a:ext>
            </a:extLst>
          </p:cNvPr>
          <p:cNvSpPr txBox="1"/>
          <p:nvPr/>
        </p:nvSpPr>
        <p:spPr>
          <a:xfrm>
            <a:off x="438328" y="5099840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Latecomers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9E918B3A-6C49-2142-85E4-99E5423D5FDB}"/>
              </a:ext>
            </a:extLst>
          </p:cNvPr>
          <p:cNvSpPr/>
          <p:nvPr/>
        </p:nvSpPr>
        <p:spPr>
          <a:xfrm>
            <a:off x="6770056" y="2423776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2F9D4BD1-F3D0-F788-C3D2-B6293116692A}"/>
              </a:ext>
            </a:extLst>
          </p:cNvPr>
          <p:cNvSpPr/>
          <p:nvPr/>
        </p:nvSpPr>
        <p:spPr>
          <a:xfrm>
            <a:off x="7945755" y="2421402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47AC5043-AA08-481A-A3C9-DB0DF24268BF}"/>
              </a:ext>
            </a:extLst>
          </p:cNvPr>
          <p:cNvSpPr/>
          <p:nvPr/>
        </p:nvSpPr>
        <p:spPr>
          <a:xfrm>
            <a:off x="9121454" y="2429388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72B059F7-A7AE-30CE-F231-FF32919A4057}"/>
              </a:ext>
            </a:extLst>
          </p:cNvPr>
          <p:cNvSpPr/>
          <p:nvPr/>
        </p:nvSpPr>
        <p:spPr>
          <a:xfrm>
            <a:off x="10297153" y="2429388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44CF40D5-4867-10D8-3171-7C41B0BF9675}"/>
              </a:ext>
            </a:extLst>
          </p:cNvPr>
          <p:cNvSpPr/>
          <p:nvPr/>
        </p:nvSpPr>
        <p:spPr>
          <a:xfrm>
            <a:off x="6770056" y="3252322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2834A51F-745F-B200-3890-36AA92985973}"/>
              </a:ext>
            </a:extLst>
          </p:cNvPr>
          <p:cNvSpPr/>
          <p:nvPr/>
        </p:nvSpPr>
        <p:spPr>
          <a:xfrm>
            <a:off x="7945755" y="3249948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A8FB93D8-BC17-DEB6-B698-DA3582BAC5E8}"/>
              </a:ext>
            </a:extLst>
          </p:cNvPr>
          <p:cNvSpPr/>
          <p:nvPr/>
        </p:nvSpPr>
        <p:spPr>
          <a:xfrm>
            <a:off x="9121454" y="3257934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35AE7FAB-96E8-225F-D0FE-9B9191B2B910}"/>
              </a:ext>
            </a:extLst>
          </p:cNvPr>
          <p:cNvSpPr/>
          <p:nvPr/>
        </p:nvSpPr>
        <p:spPr>
          <a:xfrm>
            <a:off x="10297153" y="3257934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958C6D51-C3A6-A5C1-3564-7178FCCDCB97}"/>
              </a:ext>
            </a:extLst>
          </p:cNvPr>
          <p:cNvSpPr/>
          <p:nvPr/>
        </p:nvSpPr>
        <p:spPr>
          <a:xfrm>
            <a:off x="6770056" y="4161881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EBE0D3E8-4A49-57C4-FC5C-AEFCBD999110}"/>
              </a:ext>
            </a:extLst>
          </p:cNvPr>
          <p:cNvSpPr/>
          <p:nvPr/>
        </p:nvSpPr>
        <p:spPr>
          <a:xfrm>
            <a:off x="7945755" y="4159507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CE3D511E-672D-C46A-55B5-18C9BEADA72C}"/>
              </a:ext>
            </a:extLst>
          </p:cNvPr>
          <p:cNvSpPr/>
          <p:nvPr/>
        </p:nvSpPr>
        <p:spPr>
          <a:xfrm>
            <a:off x="9121454" y="4167493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A21824A3-A067-1D2C-549A-F325FD5B3E69}"/>
              </a:ext>
            </a:extLst>
          </p:cNvPr>
          <p:cNvSpPr/>
          <p:nvPr/>
        </p:nvSpPr>
        <p:spPr>
          <a:xfrm>
            <a:off x="10297153" y="4167493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CEAACA9E-FA4B-E6BE-CFAC-E62F1C6CB1FA}"/>
              </a:ext>
            </a:extLst>
          </p:cNvPr>
          <p:cNvSpPr/>
          <p:nvPr/>
        </p:nvSpPr>
        <p:spPr>
          <a:xfrm>
            <a:off x="6770056" y="5016304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6A00FB4F-20A1-528C-B340-9A465B80635B}"/>
              </a:ext>
            </a:extLst>
          </p:cNvPr>
          <p:cNvSpPr/>
          <p:nvPr/>
        </p:nvSpPr>
        <p:spPr>
          <a:xfrm>
            <a:off x="7945755" y="5013930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356D3224-35B2-8DC2-5778-D424AC321178}"/>
              </a:ext>
            </a:extLst>
          </p:cNvPr>
          <p:cNvSpPr/>
          <p:nvPr/>
        </p:nvSpPr>
        <p:spPr>
          <a:xfrm>
            <a:off x="9121454" y="5021916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E5B6F85E-42FF-5A96-9F55-1D857E4BE694}"/>
              </a:ext>
            </a:extLst>
          </p:cNvPr>
          <p:cNvSpPr/>
          <p:nvPr/>
        </p:nvSpPr>
        <p:spPr>
          <a:xfrm>
            <a:off x="10297153" y="5021916"/>
            <a:ext cx="485775" cy="485775"/>
          </a:xfrm>
          <a:prstGeom prst="ellipse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B9F853B-DB07-110E-B8AC-62A45D840B0B}"/>
              </a:ext>
            </a:extLst>
          </p:cNvPr>
          <p:cNvSpPr txBox="1"/>
          <p:nvPr/>
        </p:nvSpPr>
        <p:spPr>
          <a:xfrm>
            <a:off x="1681868" y="204888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2012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1653EC3-5CA3-4A66-D5EE-5E3FDC231FEB}"/>
              </a:ext>
            </a:extLst>
          </p:cNvPr>
          <p:cNvSpPr txBox="1"/>
          <p:nvPr/>
        </p:nvSpPr>
        <p:spPr>
          <a:xfrm>
            <a:off x="4779215" y="20427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2020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8DBB1B01-6B2C-FC9D-A532-122C4169447B}"/>
              </a:ext>
            </a:extLst>
          </p:cNvPr>
          <p:cNvSpPr txBox="1"/>
          <p:nvPr/>
        </p:nvSpPr>
        <p:spPr>
          <a:xfrm>
            <a:off x="6687373" y="2028652"/>
            <a:ext cx="651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China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BC6A746-3427-0A13-AA22-12A6E02F4457}"/>
              </a:ext>
            </a:extLst>
          </p:cNvPr>
          <p:cNvSpPr txBox="1"/>
          <p:nvPr/>
        </p:nvSpPr>
        <p:spPr>
          <a:xfrm>
            <a:off x="7851049" y="2028652"/>
            <a:ext cx="675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Japan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AA7BC1D-0B53-2D0F-C5D7-CE2E3EA5D7FA}"/>
              </a:ext>
            </a:extLst>
          </p:cNvPr>
          <p:cNvSpPr txBox="1"/>
          <p:nvPr/>
        </p:nvSpPr>
        <p:spPr>
          <a:xfrm>
            <a:off x="9152584" y="2039610"/>
            <a:ext cx="423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EU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2775321-0D4E-DA59-4E4C-8F4E801AE6DD}"/>
              </a:ext>
            </a:extLst>
          </p:cNvPr>
          <p:cNvSpPr txBox="1"/>
          <p:nvPr/>
        </p:nvSpPr>
        <p:spPr>
          <a:xfrm>
            <a:off x="10202448" y="1931888"/>
            <a:ext cx="736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United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States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5995709A-D446-310C-B354-17D684899048}"/>
              </a:ext>
            </a:extLst>
          </p:cNvPr>
          <p:cNvSpPr txBox="1"/>
          <p:nvPr/>
        </p:nvSpPr>
        <p:spPr>
          <a:xfrm>
            <a:off x="6869314" y="2507075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162D65E0-0ED6-3ED5-0060-B9BE0277E8CD}"/>
              </a:ext>
            </a:extLst>
          </p:cNvPr>
          <p:cNvSpPr txBox="1"/>
          <p:nvPr/>
        </p:nvSpPr>
        <p:spPr>
          <a:xfrm>
            <a:off x="8054468" y="2518386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8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5229CD1E-BB9F-333E-1110-605EA40B374B}"/>
              </a:ext>
            </a:extLst>
          </p:cNvPr>
          <p:cNvSpPr txBox="1"/>
          <p:nvPr/>
        </p:nvSpPr>
        <p:spPr>
          <a:xfrm>
            <a:off x="9169416" y="2518386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28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A7477C8-1141-1D52-E2A5-2958F4191C0D}"/>
              </a:ext>
            </a:extLst>
          </p:cNvPr>
          <p:cNvSpPr txBox="1"/>
          <p:nvPr/>
        </p:nvSpPr>
        <p:spPr>
          <a:xfrm>
            <a:off x="10345115" y="2518386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97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2789280-1D70-3C7E-61CB-EE8739CB7C44}"/>
              </a:ext>
            </a:extLst>
          </p:cNvPr>
          <p:cNvSpPr txBox="1"/>
          <p:nvPr/>
        </p:nvSpPr>
        <p:spPr>
          <a:xfrm>
            <a:off x="6869314" y="3357368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A9E4BF7-7AE7-016B-C04D-1B18BE358EDE}"/>
              </a:ext>
            </a:extLst>
          </p:cNvPr>
          <p:cNvSpPr txBox="1"/>
          <p:nvPr/>
        </p:nvSpPr>
        <p:spPr>
          <a:xfrm>
            <a:off x="8003172" y="3354721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38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5BD912A-79CD-449D-0A3C-FCBDAED71D19}"/>
              </a:ext>
            </a:extLst>
          </p:cNvPr>
          <p:cNvSpPr txBox="1"/>
          <p:nvPr/>
        </p:nvSpPr>
        <p:spPr>
          <a:xfrm>
            <a:off x="9169416" y="336867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78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533F491A-E83B-4840-CBBD-5D720FB792FF}"/>
              </a:ext>
            </a:extLst>
          </p:cNvPr>
          <p:cNvSpPr txBox="1"/>
          <p:nvPr/>
        </p:nvSpPr>
        <p:spPr>
          <a:xfrm>
            <a:off x="10345115" y="336867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17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C377A18-4D06-14B1-4851-D57F4CE73D63}"/>
              </a:ext>
            </a:extLst>
          </p:cNvPr>
          <p:cNvSpPr txBox="1"/>
          <p:nvPr/>
        </p:nvSpPr>
        <p:spPr>
          <a:xfrm>
            <a:off x="6818019" y="4270001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97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B7C7C1A-1172-09A9-561B-9FE2FAE2CF01}"/>
              </a:ext>
            </a:extLst>
          </p:cNvPr>
          <p:cNvSpPr txBox="1"/>
          <p:nvPr/>
        </p:nvSpPr>
        <p:spPr>
          <a:xfrm>
            <a:off x="8014061" y="4258713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71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DC954CF5-DCB7-8EB7-A467-D96A6303D240}"/>
              </a:ext>
            </a:extLst>
          </p:cNvPr>
          <p:cNvSpPr txBox="1"/>
          <p:nvPr/>
        </p:nvSpPr>
        <p:spPr>
          <a:xfrm>
            <a:off x="9173790" y="4280326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14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0F0C21C9-D85E-CA37-EE51-236B9192BF89}"/>
              </a:ext>
            </a:extLst>
          </p:cNvPr>
          <p:cNvSpPr txBox="1"/>
          <p:nvPr/>
        </p:nvSpPr>
        <p:spPr>
          <a:xfrm>
            <a:off x="10396411" y="4271783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6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9B4FE0CC-1D5F-C0B7-1CE4-89FA1D9209AC}"/>
              </a:ext>
            </a:extLst>
          </p:cNvPr>
          <p:cNvSpPr txBox="1"/>
          <p:nvPr/>
        </p:nvSpPr>
        <p:spPr>
          <a:xfrm>
            <a:off x="6823080" y="5119012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7759D59-DA80-916B-36B7-0E2839FF998A}"/>
              </a:ext>
            </a:extLst>
          </p:cNvPr>
          <p:cNvSpPr txBox="1"/>
          <p:nvPr/>
        </p:nvSpPr>
        <p:spPr>
          <a:xfrm>
            <a:off x="8045013" y="5099840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3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AB9CD5E2-1597-6BE3-C67D-5352967185D1}"/>
              </a:ext>
            </a:extLst>
          </p:cNvPr>
          <p:cNvSpPr txBox="1"/>
          <p:nvPr/>
        </p:nvSpPr>
        <p:spPr>
          <a:xfrm>
            <a:off x="9225337" y="5130618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85A238B-1922-54F5-5BBD-44343223FBB3}"/>
              </a:ext>
            </a:extLst>
          </p:cNvPr>
          <p:cNvSpPr txBox="1"/>
          <p:nvPr/>
        </p:nvSpPr>
        <p:spPr>
          <a:xfrm>
            <a:off x="10396411" y="5127787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17C6AA6-7968-AD7B-C81B-F11196A8821D}"/>
              </a:ext>
            </a:extLst>
          </p:cNvPr>
          <p:cNvSpPr txBox="1"/>
          <p:nvPr/>
        </p:nvSpPr>
        <p:spPr>
          <a:xfrm>
            <a:off x="6647215" y="992986"/>
            <a:ext cx="234711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Technology assessment of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major countries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2020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2988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3234-D742-3A32-93E0-A695578D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06FCDB1-A5F6-F18D-D6B5-09E91BE982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1" imgW="7772400" imgH="10058400" progId="TCLayout.ActiveDocument.1">
                  <p:embed/>
                </p:oleObj>
              </mc:Choice>
              <mc:Fallback>
                <p:oleObj name="think-cell 幻灯片" r:id="rId21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6FCDB1-A5F6-F18D-D6B5-09E91BE982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E1282FC-1419-54B5-0B63-63098F85210F}"/>
              </a:ext>
            </a:extLst>
          </p:cNvPr>
          <p:cNvSpPr txBox="1"/>
          <p:nvPr/>
        </p:nvSpPr>
        <p:spPr>
          <a:xfrm>
            <a:off x="360044" y="222885"/>
            <a:ext cx="11321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Japan has succeeded in significantly increasing its proportion of skilled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foreign workers while South Korea's has remained stagnant.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2520C9-4F1F-08EC-E95D-51A1C67878D1}"/>
              </a:ext>
            </a:extLst>
          </p:cNvPr>
          <p:cNvSpPr txBox="1"/>
          <p:nvPr/>
        </p:nvSpPr>
        <p:spPr>
          <a:xfrm>
            <a:off x="360044" y="1321067"/>
            <a:ext cx="2632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Number of foreign employees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thousands,2012-2022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A1CCF4C-4992-CDB7-F42B-F2F61736FCC0}"/>
              </a:ext>
            </a:extLst>
          </p:cNvPr>
          <p:cNvSpPr txBox="1"/>
          <p:nvPr/>
        </p:nvSpPr>
        <p:spPr>
          <a:xfrm>
            <a:off x="360044" y="6014897"/>
            <a:ext cx="10815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：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"Employment Status of Foreign Nationals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，”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Ministry of Health, Labor, and Welfare, Japan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；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"Immigration status and employment surveys." Statistics Korea; Ministry of Justice, Republic of Korea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7894030-9561-C701-D5CB-A78C1B1DE958}"/>
              </a:ext>
            </a:extLst>
          </p:cNvPr>
          <p:cNvSpPr txBox="1"/>
          <p:nvPr/>
        </p:nvSpPr>
        <p:spPr>
          <a:xfrm>
            <a:off x="5657850" y="1321067"/>
            <a:ext cx="28344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Number of foreign professionals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thousands, 2012-2022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215" name="Chart 3">
            <a:extLst>
              <a:ext uri="{FF2B5EF4-FFF2-40B4-BE49-F238E27FC236}">
                <a16:creationId xmlns:a16="http://schemas.microsoft.com/office/drawing/2014/main" id="{0104FA54-BFD8-3115-1059-BB527B0639DA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646113" y="1857375"/>
          <a:ext cx="2262187" cy="3611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173" name="文本占位符 2">
            <a:extLst>
              <a:ext uri="{FF2B5EF4-FFF2-40B4-BE49-F238E27FC236}">
                <a16:creationId xmlns:a16="http://schemas.microsoft.com/office/drawing/2014/main" id="{45E347B9-E806-709C-34EE-200572CC48D2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657225" y="4322763"/>
            <a:ext cx="304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8C2898F0-B1C6-4A4E-9901-190384938F11}" type="datetime'''''''''''''''5''''''''''''''''''''''''''''''''''''0''''''0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500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5" name="文本占位符 2">
            <a:extLst>
              <a:ext uri="{FF2B5EF4-FFF2-40B4-BE49-F238E27FC236}">
                <a16:creationId xmlns:a16="http://schemas.microsoft.com/office/drawing/2014/main" id="{EDB583C4-0F34-2D27-B7A5-B0E76DF1396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860425" y="5072063"/>
            <a:ext cx="1016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78A99D88-1BC2-468F-84BB-F0D23232FFD4}" type="datetime'''''''''''''''''''''''''''''''''''''''0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0" name="文本占位符 2">
            <a:extLst>
              <a:ext uri="{FF2B5EF4-FFF2-40B4-BE49-F238E27FC236}">
                <a16:creationId xmlns:a16="http://schemas.microsoft.com/office/drawing/2014/main" id="{452B86D1-CA75-C2C0-BB40-23CAEAC2029D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514350" y="3573463"/>
            <a:ext cx="4476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A46BD8B2-3BE4-4290-8EB7-FA52D71436F9}" type="datetime'''''''''''''''''''''''''1''''''''''.''''''''''''0''''''0''0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1.000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4" name="文本占位符 2">
            <a:extLst>
              <a:ext uri="{FF2B5EF4-FFF2-40B4-BE49-F238E27FC236}">
                <a16:creationId xmlns:a16="http://schemas.microsoft.com/office/drawing/2014/main" id="{04285F82-90A7-C2F8-F178-3FD78EBD9C0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514350" y="2822575"/>
            <a:ext cx="4476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D2F2015-B396-49E6-8209-45395BCD2698}" type="datetime'''''1''.''''''''''5''''''''''''0''''''0''''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1.500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5" name="文本占位符 2">
            <a:extLst>
              <a:ext uri="{FF2B5EF4-FFF2-40B4-BE49-F238E27FC236}">
                <a16:creationId xmlns:a16="http://schemas.microsoft.com/office/drawing/2014/main" id="{84397582-AA97-32E7-FC78-0F9578C108D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514350" y="2073275"/>
            <a:ext cx="4476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6606C72-7666-4598-819F-385FBCF8CED8}" type="datetime'''''''2''''.''''''''0''''''''''''''''''''''''''0''0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2.000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0" name="文本占位符 2">
            <a:extLst>
              <a:ext uri="{FF2B5EF4-FFF2-40B4-BE49-F238E27FC236}">
                <a16:creationId xmlns:a16="http://schemas.microsoft.com/office/drawing/2014/main" id="{29216243-7908-A9AF-D56F-C79EF6D55FBE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1885950" y="5221288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1A172F3-40F2-447E-8FD3-BB3914296C10}" type="datetime'''''2''0''''''''''''''''''''''''''''''22''''''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2022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9" name="文本占位符 2">
            <a:extLst>
              <a:ext uri="{FF2B5EF4-FFF2-40B4-BE49-F238E27FC236}">
                <a16:creationId xmlns:a16="http://schemas.microsoft.com/office/drawing/2014/main" id="{3F251A69-8E92-0572-02E4-FDDD6B5C4DCE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1247775" y="5221288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82F676C-4744-4EA6-9FC5-DDD32EA52FDB}" type="datetime'2''''''''''''''''''''''''0''1''''2''''''''''''''''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2012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205" name="Chart 3">
            <a:extLst>
              <a:ext uri="{FF2B5EF4-FFF2-40B4-BE49-F238E27FC236}">
                <a16:creationId xmlns:a16="http://schemas.microsoft.com/office/drawing/2014/main" id="{E6D9EDEE-490A-BB4E-9239-8D18DD0D3F3B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454275" y="1857375"/>
          <a:ext cx="2262188" cy="3611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88" name="文本占位符 2">
            <a:extLst>
              <a:ext uri="{FF2B5EF4-FFF2-40B4-BE49-F238E27FC236}">
                <a16:creationId xmlns:a16="http://schemas.microsoft.com/office/drawing/2014/main" id="{9405916C-6240-8CD3-24BD-B03CD5F9385C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3054350" y="5221288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85B97A3-97F1-4905-871F-EAC117693A39}" type="datetime'''''''2''0''''''''''''''''''12''''''''''''''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2012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7" name="文本占位符 2">
            <a:extLst>
              <a:ext uri="{FF2B5EF4-FFF2-40B4-BE49-F238E27FC236}">
                <a16:creationId xmlns:a16="http://schemas.microsoft.com/office/drawing/2014/main" id="{5255471B-8975-C656-26BF-D285CA4F8750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3694113" y="5221288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DCA5B68-4203-43F1-8282-1EDE44DDACAC}" type="datetime'''''2''''''''''''''''''''''''0''2''''''2''''''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2022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94" name="文本占位符 2">
            <a:extLst>
              <a:ext uri="{FF2B5EF4-FFF2-40B4-BE49-F238E27FC236}">
                <a16:creationId xmlns:a16="http://schemas.microsoft.com/office/drawing/2014/main" id="{6D48E0CA-EA8F-C4CE-6F41-B5EDD1F52C72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3654425" y="2211388"/>
            <a:ext cx="4984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A65C125-C4AB-41E9-8E7A-787914E18498}" type="datetime'''''''''''1''''''''''.''''''''8''''''''''''2''''3''''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1.823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217" name="直线连接符 216">
            <a:extLst>
              <a:ext uri="{FF2B5EF4-FFF2-40B4-BE49-F238E27FC236}">
                <a16:creationId xmlns:a16="http://schemas.microsoft.com/office/drawing/2014/main" id="{6797FDE9-5AED-F905-DF1E-508C9FA64382}"/>
              </a:ext>
            </a:extLst>
          </p:cNvPr>
          <p:cNvCxnSpPr/>
          <p:nvPr/>
        </p:nvCxnSpPr>
        <p:spPr>
          <a:xfrm>
            <a:off x="1685924" y="4080934"/>
            <a:ext cx="8710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直线箭头连接符 218">
            <a:extLst>
              <a:ext uri="{FF2B5EF4-FFF2-40B4-BE49-F238E27FC236}">
                <a16:creationId xmlns:a16="http://schemas.microsoft.com/office/drawing/2014/main" id="{48E98578-B9F7-8D04-C883-9D0171933233}"/>
              </a:ext>
            </a:extLst>
          </p:cNvPr>
          <p:cNvCxnSpPr>
            <a:endCxn id="205" idx="1"/>
          </p:cNvCxnSpPr>
          <p:nvPr/>
        </p:nvCxnSpPr>
        <p:spPr>
          <a:xfrm flipV="1">
            <a:off x="2454275" y="3663156"/>
            <a:ext cx="0" cy="4131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直线连接符 219">
            <a:extLst>
              <a:ext uri="{FF2B5EF4-FFF2-40B4-BE49-F238E27FC236}">
                <a16:creationId xmlns:a16="http://schemas.microsoft.com/office/drawing/2014/main" id="{8A8A117F-3C69-C3D6-8CB5-88ADD80EE277}"/>
              </a:ext>
            </a:extLst>
          </p:cNvPr>
          <p:cNvCxnSpPr/>
          <p:nvPr/>
        </p:nvCxnSpPr>
        <p:spPr>
          <a:xfrm>
            <a:off x="3529797" y="4146248"/>
            <a:ext cx="8710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直线箭头连接符 220">
            <a:extLst>
              <a:ext uri="{FF2B5EF4-FFF2-40B4-BE49-F238E27FC236}">
                <a16:creationId xmlns:a16="http://schemas.microsoft.com/office/drawing/2014/main" id="{8B7BADB3-052E-30B4-529E-5A15DB30FD12}"/>
              </a:ext>
            </a:extLst>
          </p:cNvPr>
          <p:cNvCxnSpPr>
            <a:cxnSpLocks/>
          </p:cNvCxnSpPr>
          <p:nvPr/>
        </p:nvCxnSpPr>
        <p:spPr>
          <a:xfrm flipV="1">
            <a:off x="4298148" y="2240782"/>
            <a:ext cx="0" cy="19008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2" name="Chart 3">
            <a:extLst>
              <a:ext uri="{FF2B5EF4-FFF2-40B4-BE49-F238E27FC236}">
                <a16:creationId xmlns:a16="http://schemas.microsoft.com/office/drawing/2014/main" id="{129627C2-3AB6-EF5A-062D-EDDACB1650CB}"/>
              </a:ext>
            </a:extLst>
          </p:cNvPr>
          <p:cNvGraphicFramePr/>
          <p:nvPr>
            <p:custDataLst>
              <p:tags r:id="rId14"/>
            </p:custDataLst>
          </p:nvPr>
        </p:nvGraphicFramePr>
        <p:xfrm>
          <a:off x="5657850" y="1857375"/>
          <a:ext cx="1966913" cy="3611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sp>
        <p:nvSpPr>
          <p:cNvPr id="230" name="文本占位符 2">
            <a:extLst>
              <a:ext uri="{FF2B5EF4-FFF2-40B4-BE49-F238E27FC236}">
                <a16:creationId xmlns:a16="http://schemas.microsoft.com/office/drawing/2014/main" id="{6AF41CED-D2ED-1C38-DEE4-941C5CBBA5F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6372225" y="5221288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29B1A42-C668-4327-ACB0-8FF55DF25A41}" type="datetime'''''''''''''''''2''''0''''''''''''''''''1''''''2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2012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29" name="文本占位符 2">
            <a:extLst>
              <a:ext uri="{FF2B5EF4-FFF2-40B4-BE49-F238E27FC236}">
                <a16:creationId xmlns:a16="http://schemas.microsoft.com/office/drawing/2014/main" id="{AF674A12-CB0F-5CEA-5B6A-0E64767C1161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7011988" y="5221288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57B54FE-D6CC-436E-8382-E0DA57D67102}" type="datetime'2''''''''''''''''''0''2''''''2''''''''''''''''''''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2022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253" name="Chart 3">
            <a:extLst>
              <a:ext uri="{FF2B5EF4-FFF2-40B4-BE49-F238E27FC236}">
                <a16:creationId xmlns:a16="http://schemas.microsoft.com/office/drawing/2014/main" id="{5D71065E-61C5-4350-6C48-6605A876E482}"/>
              </a:ext>
            </a:extLst>
          </p:cNvPr>
          <p:cNvGraphicFramePr/>
          <p:nvPr>
            <p:custDataLst>
              <p:tags r:id="rId17"/>
            </p:custDataLst>
          </p:nvPr>
        </p:nvGraphicFramePr>
        <p:xfrm>
          <a:off x="7848600" y="1851025"/>
          <a:ext cx="2262188" cy="3617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244" name="文本占位符 2">
            <a:extLst>
              <a:ext uri="{FF2B5EF4-FFF2-40B4-BE49-F238E27FC236}">
                <a16:creationId xmlns:a16="http://schemas.microsoft.com/office/drawing/2014/main" id="{7FD29A0E-EC58-9017-A8F9-1A2D905DED20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8448675" y="5221288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22618B9-FA10-40B1-8E8D-47F4B1F4A795}" type="datetime'''''''''''2''''''''''''''''''''''''''''0''''''1''''''''''''2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2012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45" name="文本占位符 2">
            <a:extLst>
              <a:ext uri="{FF2B5EF4-FFF2-40B4-BE49-F238E27FC236}">
                <a16:creationId xmlns:a16="http://schemas.microsoft.com/office/drawing/2014/main" id="{6AF28CE2-6529-8810-9C1C-50CA7666A499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auto">
          <a:xfrm>
            <a:off x="9088438" y="5221288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3257C46-3F11-41FC-A3C0-2679CE7F5ACA}" type="datetime'''''2''''''''''''''0''2''''''''2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2022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254" name="直线连接符 253">
            <a:extLst>
              <a:ext uri="{FF2B5EF4-FFF2-40B4-BE49-F238E27FC236}">
                <a16:creationId xmlns:a16="http://schemas.microsoft.com/office/drawing/2014/main" id="{4E8D694F-4006-761B-4313-316ABD409B9B}"/>
              </a:ext>
            </a:extLst>
          </p:cNvPr>
          <p:cNvCxnSpPr/>
          <p:nvPr/>
        </p:nvCxnSpPr>
        <p:spPr>
          <a:xfrm>
            <a:off x="8919981" y="4423460"/>
            <a:ext cx="8710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直线箭头连接符 254">
            <a:extLst>
              <a:ext uri="{FF2B5EF4-FFF2-40B4-BE49-F238E27FC236}">
                <a16:creationId xmlns:a16="http://schemas.microsoft.com/office/drawing/2014/main" id="{2065AAA3-D7C1-4FED-4D72-3C9F40FC4A0A}"/>
              </a:ext>
            </a:extLst>
          </p:cNvPr>
          <p:cNvCxnSpPr>
            <a:cxnSpLocks/>
          </p:cNvCxnSpPr>
          <p:nvPr/>
        </p:nvCxnSpPr>
        <p:spPr>
          <a:xfrm flipV="1">
            <a:off x="9688332" y="2073275"/>
            <a:ext cx="0" cy="23455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4E02ABF8-337E-D961-D2F7-973F1A1CD52B}"/>
              </a:ext>
            </a:extLst>
          </p:cNvPr>
          <p:cNvCxnSpPr/>
          <p:nvPr/>
        </p:nvCxnSpPr>
        <p:spPr>
          <a:xfrm>
            <a:off x="6843267" y="4866614"/>
            <a:ext cx="8710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直线箭头连接符 257">
            <a:extLst>
              <a:ext uri="{FF2B5EF4-FFF2-40B4-BE49-F238E27FC236}">
                <a16:creationId xmlns:a16="http://schemas.microsoft.com/office/drawing/2014/main" id="{ED948639-FF32-DC66-3DA0-678E9F1F43BF}"/>
              </a:ext>
            </a:extLst>
          </p:cNvPr>
          <p:cNvCxnSpPr>
            <a:cxnSpLocks/>
          </p:cNvCxnSpPr>
          <p:nvPr/>
        </p:nvCxnSpPr>
        <p:spPr>
          <a:xfrm flipV="1">
            <a:off x="7611618" y="4664704"/>
            <a:ext cx="0" cy="1972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CA34F556-E813-4AF7-ECF5-6BD7C133B585}"/>
              </a:ext>
            </a:extLst>
          </p:cNvPr>
          <p:cNvSpPr/>
          <p:nvPr/>
        </p:nvSpPr>
        <p:spPr>
          <a:xfrm>
            <a:off x="9257590" y="1010952"/>
            <a:ext cx="181744" cy="176064"/>
          </a:xfrm>
          <a:prstGeom prst="rect">
            <a:avLst/>
          </a:prstGeom>
          <a:solidFill>
            <a:srgbClr val="0059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887332-7088-72BA-8904-CE22E9C77A85}"/>
              </a:ext>
            </a:extLst>
          </p:cNvPr>
          <p:cNvSpPr/>
          <p:nvPr/>
        </p:nvSpPr>
        <p:spPr>
          <a:xfrm>
            <a:off x="10420942" y="1010952"/>
            <a:ext cx="181744" cy="176064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974B3-883E-2ACF-3A31-F8B62FEBBA59}"/>
              </a:ext>
            </a:extLst>
          </p:cNvPr>
          <p:cNvSpPr txBox="1"/>
          <p:nvPr/>
        </p:nvSpPr>
        <p:spPr>
          <a:xfrm>
            <a:off x="9439334" y="975873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South Korea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725F5A-73D2-8295-F9E6-5CDB74F2355D}"/>
              </a:ext>
            </a:extLst>
          </p:cNvPr>
          <p:cNvSpPr txBox="1"/>
          <p:nvPr/>
        </p:nvSpPr>
        <p:spPr>
          <a:xfrm>
            <a:off x="10602686" y="975872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Japan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8458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5C005A5-D407-8470-F39B-B7507A2D63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7772400" imgH="10058400" progId="TCLayout.ActiveDocument.1">
                  <p:embed/>
                </p:oleObj>
              </mc:Choice>
              <mc:Fallback>
                <p:oleObj name="think-cell 幻灯片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C005A5-D407-8470-F39B-B7507A2D63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FDDA19B-C079-DCC6-5D8B-00ABBA688F4B}"/>
              </a:ext>
            </a:extLst>
          </p:cNvPr>
          <p:cNvSpPr txBox="1"/>
          <p:nvPr/>
        </p:nvSpPr>
        <p:spPr>
          <a:xfrm>
            <a:off x="363337" y="248282"/>
            <a:ext cx="11378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Companies across industries can reduce carbon emissions and improve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financial performance at the same time.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2558AD-F079-DA8E-26E5-CE23D264C257}"/>
              </a:ext>
            </a:extLst>
          </p:cNvPr>
          <p:cNvSpPr txBox="1"/>
          <p:nvPr/>
        </p:nvSpPr>
        <p:spPr>
          <a:xfrm>
            <a:off x="363337" y="875661"/>
            <a:ext cx="4916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>
                <a:latin typeface="HarmonyOS Sans SC" pitchFamily="2" charset="-122"/>
                <a:ea typeface="HarmonyOS Sans SC" pitchFamily="2" charset="-122"/>
              </a:rPr>
              <a:t>IIIustrative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 financial improvement and CO</a:t>
            </a:r>
            <a:r>
              <a:rPr kumimoji="1" lang="en-US" altLang="zh-CN" sz="1400" baseline="-25000" dirty="0">
                <a:latin typeface="HarmonyOS Sans SC" pitchFamily="2" charset="-122"/>
                <a:ea typeface="HarmonyOS Sans SC" pitchFamily="2" charset="-122"/>
              </a:rPr>
              <a:t>2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 reduction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26" name="Chart 3">
            <a:extLst>
              <a:ext uri="{FF2B5EF4-FFF2-40B4-BE49-F238E27FC236}">
                <a16:creationId xmlns:a16="http://schemas.microsoft.com/office/drawing/2014/main" id="{95DCA894-3D7A-4DE7-F8BC-63F7D4479B95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301875" y="2065338"/>
          <a:ext cx="9244013" cy="166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8" name="文本框 47">
            <a:extLst>
              <a:ext uri="{FF2B5EF4-FFF2-40B4-BE49-F238E27FC236}">
                <a16:creationId xmlns:a16="http://schemas.microsoft.com/office/drawing/2014/main" id="{9E1DDAB9-DB74-03D7-1DE5-4DD14A1D1AED}"/>
              </a:ext>
            </a:extLst>
          </p:cNvPr>
          <p:cNvSpPr txBox="1"/>
          <p:nvPr/>
        </p:nvSpPr>
        <p:spPr>
          <a:xfrm>
            <a:off x="9406512" y="1317821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Other industries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：</a:t>
            </a:r>
          </a:p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Healthcare provider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687CD66-CA93-288F-76B4-717C9100A9EC}"/>
              </a:ext>
            </a:extLst>
          </p:cNvPr>
          <p:cNvSpPr txBox="1"/>
          <p:nvPr/>
        </p:nvSpPr>
        <p:spPr>
          <a:xfrm>
            <a:off x="7077877" y="1317821"/>
            <a:ext cx="1935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Travel and logistics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：</a:t>
            </a:r>
            <a:endParaRPr kumimoji="1" lang="en-US" altLang="zh-CN" sz="1400" dirty="0"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Logistics player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5D918E3-C011-9631-D371-D5E561D0DD6F}"/>
              </a:ext>
            </a:extLst>
          </p:cNvPr>
          <p:cNvSpPr txBox="1"/>
          <p:nvPr/>
        </p:nvSpPr>
        <p:spPr>
          <a:xfrm>
            <a:off x="5040973" y="1317821"/>
            <a:ext cx="14718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Global energy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and materials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：</a:t>
            </a:r>
            <a:endParaRPr kumimoji="1" lang="en-US" altLang="zh-CN" sz="1400" dirty="0"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Chemical player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43E6E6B-F959-6285-3619-9FF56DCA1EA9}"/>
              </a:ext>
            </a:extLst>
          </p:cNvPr>
          <p:cNvSpPr txBox="1"/>
          <p:nvPr/>
        </p:nvSpPr>
        <p:spPr>
          <a:xfrm>
            <a:off x="2494955" y="1317821"/>
            <a:ext cx="2028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Advanced industries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：</a:t>
            </a:r>
            <a:endParaRPr kumimoji="1" lang="en-US" altLang="zh-CN" sz="1400" dirty="0">
              <a:latin typeface="HarmonyOS Sans SC" pitchFamily="2" charset="-122"/>
              <a:ea typeface="HarmonyOS Sans SC" pitchFamily="2" charset="-122"/>
            </a:endParaRPr>
          </a:p>
          <a:p>
            <a:pPr algn="ctr"/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Automotive player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FBBF3D3F-5C64-AB27-721A-C437F5924652}"/>
              </a:ext>
            </a:extLst>
          </p:cNvPr>
          <p:cNvCxnSpPr>
            <a:cxnSpLocks/>
          </p:cNvCxnSpPr>
          <p:nvPr/>
        </p:nvCxnSpPr>
        <p:spPr>
          <a:xfrm>
            <a:off x="4705224" y="1429234"/>
            <a:ext cx="0" cy="22103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DCAA6B95-9A2B-4CA3-3FB9-EE4C5DEA754C}"/>
              </a:ext>
            </a:extLst>
          </p:cNvPr>
          <p:cNvCxnSpPr>
            <a:cxnSpLocks/>
          </p:cNvCxnSpPr>
          <p:nvPr/>
        </p:nvCxnSpPr>
        <p:spPr>
          <a:xfrm>
            <a:off x="6849926" y="1429234"/>
            <a:ext cx="0" cy="22103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EB8CD049-905D-3497-F352-850C9E3C756D}"/>
              </a:ext>
            </a:extLst>
          </p:cNvPr>
          <p:cNvCxnSpPr>
            <a:cxnSpLocks/>
          </p:cNvCxnSpPr>
          <p:nvPr/>
        </p:nvCxnSpPr>
        <p:spPr>
          <a:xfrm>
            <a:off x="9146019" y="1429234"/>
            <a:ext cx="0" cy="22103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B9D0B442-868E-41EC-BA17-704E8B89B1D7}"/>
              </a:ext>
            </a:extLst>
          </p:cNvPr>
          <p:cNvCxnSpPr>
            <a:cxnSpLocks/>
          </p:cNvCxnSpPr>
          <p:nvPr/>
        </p:nvCxnSpPr>
        <p:spPr>
          <a:xfrm>
            <a:off x="2223426" y="1429234"/>
            <a:ext cx="0" cy="22103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55DDC88F-1D9B-AB25-598C-22E76292BB85}"/>
              </a:ext>
            </a:extLst>
          </p:cNvPr>
          <p:cNvCxnSpPr>
            <a:cxnSpLocks/>
          </p:cNvCxnSpPr>
          <p:nvPr/>
        </p:nvCxnSpPr>
        <p:spPr>
          <a:xfrm>
            <a:off x="1203325" y="3643313"/>
            <a:ext cx="11811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639071F2-1D9B-6F4A-DB09-03C23DA71564}"/>
              </a:ext>
            </a:extLst>
          </p:cNvPr>
          <p:cNvCxnSpPr>
            <a:cxnSpLocks/>
          </p:cNvCxnSpPr>
          <p:nvPr/>
        </p:nvCxnSpPr>
        <p:spPr>
          <a:xfrm flipV="1">
            <a:off x="1207867" y="2613025"/>
            <a:ext cx="0" cy="102870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C66DB972-C327-0D78-18E5-143CF4E676A9}"/>
              </a:ext>
            </a:extLst>
          </p:cNvPr>
          <p:cNvSpPr txBox="1"/>
          <p:nvPr/>
        </p:nvSpPr>
        <p:spPr>
          <a:xfrm>
            <a:off x="465783" y="2028825"/>
            <a:ext cx="1475084" cy="5222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Production cost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improvement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27" name="Chart 3">
            <a:extLst>
              <a:ext uri="{FF2B5EF4-FFF2-40B4-BE49-F238E27FC236}">
                <a16:creationId xmlns:a16="http://schemas.microsoft.com/office/drawing/2014/main" id="{A0DABF47-2BBD-9623-354E-6E5C626BEE44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2289175" y="3894138"/>
          <a:ext cx="9244013" cy="166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53086D57-96DB-909C-0431-B2BE9546405F}"/>
              </a:ext>
            </a:extLst>
          </p:cNvPr>
          <p:cNvCxnSpPr>
            <a:cxnSpLocks/>
          </p:cNvCxnSpPr>
          <p:nvPr/>
        </p:nvCxnSpPr>
        <p:spPr>
          <a:xfrm>
            <a:off x="4705224" y="3967559"/>
            <a:ext cx="0" cy="22103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DA5AEA66-1352-5DC5-4275-D270A3282BF9}"/>
              </a:ext>
            </a:extLst>
          </p:cNvPr>
          <p:cNvCxnSpPr>
            <a:cxnSpLocks/>
          </p:cNvCxnSpPr>
          <p:nvPr/>
        </p:nvCxnSpPr>
        <p:spPr>
          <a:xfrm>
            <a:off x="6849926" y="3967559"/>
            <a:ext cx="0" cy="22103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E7BB2248-DEEB-2718-D2C6-E5C87761A56B}"/>
              </a:ext>
            </a:extLst>
          </p:cNvPr>
          <p:cNvCxnSpPr>
            <a:cxnSpLocks/>
          </p:cNvCxnSpPr>
          <p:nvPr/>
        </p:nvCxnSpPr>
        <p:spPr>
          <a:xfrm>
            <a:off x="9146019" y="3967559"/>
            <a:ext cx="0" cy="22103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98290371-5314-F66B-F558-648925183903}"/>
              </a:ext>
            </a:extLst>
          </p:cNvPr>
          <p:cNvCxnSpPr>
            <a:cxnSpLocks/>
          </p:cNvCxnSpPr>
          <p:nvPr/>
        </p:nvCxnSpPr>
        <p:spPr>
          <a:xfrm>
            <a:off x="2223426" y="3967559"/>
            <a:ext cx="0" cy="2210304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7E506915-7304-56AD-01FF-4AAC99BA1AEC}"/>
              </a:ext>
            </a:extLst>
          </p:cNvPr>
          <p:cNvCxnSpPr>
            <a:cxnSpLocks/>
          </p:cNvCxnSpPr>
          <p:nvPr/>
        </p:nvCxnSpPr>
        <p:spPr>
          <a:xfrm>
            <a:off x="1203325" y="3975100"/>
            <a:ext cx="11811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277C9357-3B89-AA5B-7B54-649A57CCCEAA}"/>
              </a:ext>
            </a:extLst>
          </p:cNvPr>
          <p:cNvCxnSpPr>
            <a:cxnSpLocks/>
          </p:cNvCxnSpPr>
          <p:nvPr/>
        </p:nvCxnSpPr>
        <p:spPr>
          <a:xfrm>
            <a:off x="1203325" y="3975100"/>
            <a:ext cx="0" cy="102870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E1AF0CE-349A-CBEB-48AD-572E58786DBD}"/>
              </a:ext>
            </a:extLst>
          </p:cNvPr>
          <p:cNvSpPr txBox="1"/>
          <p:nvPr/>
        </p:nvSpPr>
        <p:spPr>
          <a:xfrm>
            <a:off x="512270" y="5030788"/>
            <a:ext cx="1382110" cy="523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CO</a:t>
            </a:r>
            <a:r>
              <a:rPr kumimoji="1" lang="en-US" altLang="zh-CN" sz="1400" baseline="-25000" dirty="0">
                <a:latin typeface="HarmonyOS Sans SC" pitchFamily="2" charset="-122"/>
                <a:ea typeface="HarmonyOS Sans SC" pitchFamily="2" charset="-122"/>
              </a:rPr>
              <a:t>2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emissions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reduction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133835D-8169-981E-263E-85A15C7155A8}"/>
              </a:ext>
            </a:extLst>
          </p:cNvPr>
          <p:cNvSpPr txBox="1"/>
          <p:nvPr/>
        </p:nvSpPr>
        <p:spPr>
          <a:xfrm>
            <a:off x="3220927" y="2895600"/>
            <a:ext cx="580608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5-10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71930FF8-2530-0904-2D41-CEA0B204A41E}"/>
              </a:ext>
            </a:extLst>
          </p:cNvPr>
          <p:cNvSpPr txBox="1"/>
          <p:nvPr/>
        </p:nvSpPr>
        <p:spPr>
          <a:xfrm>
            <a:off x="5441265" y="2689225"/>
            <a:ext cx="683200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10-15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479BAD9E-A6FF-3B05-1840-D019E56D34EF}"/>
              </a:ext>
            </a:extLst>
          </p:cNvPr>
          <p:cNvSpPr txBox="1"/>
          <p:nvPr/>
        </p:nvSpPr>
        <p:spPr>
          <a:xfrm>
            <a:off x="7759557" y="2916238"/>
            <a:ext cx="580608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5-10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ADD777A2-42E2-3A8E-45B6-3225E9241FBC}"/>
              </a:ext>
            </a:extLst>
          </p:cNvPr>
          <p:cNvSpPr txBox="1"/>
          <p:nvPr/>
        </p:nvSpPr>
        <p:spPr>
          <a:xfrm>
            <a:off x="9968574" y="185962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30-35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8624490-4782-1546-7CC1-01F73D651127}"/>
              </a:ext>
            </a:extLst>
          </p:cNvPr>
          <p:cNvSpPr txBox="1"/>
          <p:nvPr/>
        </p:nvSpPr>
        <p:spPr>
          <a:xfrm>
            <a:off x="9968574" y="5497513"/>
            <a:ext cx="683200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30-40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586D2EF3-8627-E541-8806-178A0A98BD52}"/>
              </a:ext>
            </a:extLst>
          </p:cNvPr>
          <p:cNvSpPr txBox="1"/>
          <p:nvPr/>
        </p:nvSpPr>
        <p:spPr>
          <a:xfrm>
            <a:off x="7755145" y="4360863"/>
            <a:ext cx="580608" cy="306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5-10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AF772751-6521-5628-DDE4-88ECD09578AB}"/>
              </a:ext>
            </a:extLst>
          </p:cNvPr>
          <p:cNvSpPr txBox="1"/>
          <p:nvPr/>
        </p:nvSpPr>
        <p:spPr>
          <a:xfrm>
            <a:off x="5490276" y="4360863"/>
            <a:ext cx="580608" cy="306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5-10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7020E8DB-0352-AFA1-03E7-B364D874CE49}"/>
              </a:ext>
            </a:extLst>
          </p:cNvPr>
          <p:cNvSpPr txBox="1"/>
          <p:nvPr/>
        </p:nvSpPr>
        <p:spPr>
          <a:xfrm>
            <a:off x="3167414" y="4724400"/>
            <a:ext cx="683200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10-20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576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44D465E-42F3-DC73-30BF-A3B2CE4B6E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4D465E-42F3-DC73-30BF-A3B2CE4B6E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D1AD86B8-980C-E103-166A-DE3F1AABB75E}"/>
              </a:ext>
            </a:extLst>
          </p:cNvPr>
          <p:cNvGraphicFramePr>
            <a:graphicFrameLocks/>
          </p:cNvGraphicFramePr>
          <p:nvPr/>
        </p:nvGraphicFramePr>
        <p:xfrm>
          <a:off x="8115047" y="1184353"/>
          <a:ext cx="3702296" cy="4891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942A6045-4779-A9B3-F994-ECEC27DCDB6D}"/>
              </a:ext>
            </a:extLst>
          </p:cNvPr>
          <p:cNvCxnSpPr>
            <a:cxnSpLocks/>
          </p:cNvCxnSpPr>
          <p:nvPr/>
        </p:nvCxnSpPr>
        <p:spPr>
          <a:xfrm>
            <a:off x="4208744" y="1727201"/>
            <a:ext cx="0" cy="413067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A586F006-9B71-6504-1B75-BF6863FBED07}"/>
              </a:ext>
            </a:extLst>
          </p:cNvPr>
          <p:cNvCxnSpPr>
            <a:cxnSpLocks/>
          </p:cNvCxnSpPr>
          <p:nvPr/>
        </p:nvCxnSpPr>
        <p:spPr>
          <a:xfrm>
            <a:off x="7884196" y="1727199"/>
            <a:ext cx="0" cy="413067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CBC5578B-CE13-EA8B-8716-EB460895F05A}"/>
              </a:ext>
            </a:extLst>
          </p:cNvPr>
          <p:cNvGraphicFramePr/>
          <p:nvPr/>
        </p:nvGraphicFramePr>
        <p:xfrm>
          <a:off x="4561996" y="2146847"/>
          <a:ext cx="2996981" cy="3657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970585D9-44C9-8308-C6E6-0D0EF7CF23F4}"/>
              </a:ext>
            </a:extLst>
          </p:cNvPr>
          <p:cNvSpPr txBox="1"/>
          <p:nvPr/>
        </p:nvSpPr>
        <p:spPr>
          <a:xfrm>
            <a:off x="503640" y="270496"/>
            <a:ext cx="6766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Digital leaders are spurring more value for their shareholders.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163287-5EDC-114B-A5B7-F85D9579957F}"/>
              </a:ext>
            </a:extLst>
          </p:cNvPr>
          <p:cNvSpPr txBox="1"/>
          <p:nvPr/>
        </p:nvSpPr>
        <p:spPr>
          <a:xfrm>
            <a:off x="503640" y="840169"/>
            <a:ext cx="21355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Retail-banking example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B0AE99-EE4B-7A39-DAEF-96A97E4B2AD9}"/>
              </a:ext>
            </a:extLst>
          </p:cNvPr>
          <p:cNvSpPr txBox="1"/>
          <p:nvPr/>
        </p:nvSpPr>
        <p:spPr>
          <a:xfrm>
            <a:off x="886546" y="1275794"/>
            <a:ext cx="2308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P/E ratio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Weighted peer group average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of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P/E ratio, next 12 months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B4DADB8-0E95-0179-E26E-B210F07AA277}"/>
              </a:ext>
            </a:extLst>
          </p:cNvPr>
          <p:cNvSpPr txBox="1"/>
          <p:nvPr/>
        </p:nvSpPr>
        <p:spPr>
          <a:xfrm>
            <a:off x="4684592" y="1275794"/>
            <a:ext cx="2308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TSR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Weighted peer group average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of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TSR, 2018-22,CAGR, %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3D0B7B-FD12-0D8E-F2B7-C3D4FB076430}"/>
              </a:ext>
            </a:extLst>
          </p:cNvPr>
          <p:cNvSpPr txBox="1"/>
          <p:nvPr/>
        </p:nvSpPr>
        <p:spPr>
          <a:xfrm>
            <a:off x="8098281" y="1275794"/>
            <a:ext cx="2651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Return on tangible equity (ROTE)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Adjusted pretax ROTE, peer group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average, %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1AD86B8-980C-E103-166A-DE3F1AABB75E}"/>
              </a:ext>
            </a:extLst>
          </p:cNvPr>
          <p:cNvGraphicFramePr>
            <a:graphicFrameLocks/>
          </p:cNvGraphicFramePr>
          <p:nvPr/>
        </p:nvGraphicFramePr>
        <p:xfrm>
          <a:off x="560481" y="1833166"/>
          <a:ext cx="3350232" cy="4242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7D500B6-D44F-7ECD-8E82-6048FF3B8DD7}"/>
              </a:ext>
            </a:extLst>
          </p:cNvPr>
          <p:cNvSpPr txBox="1"/>
          <p:nvPr/>
        </p:nvSpPr>
        <p:spPr>
          <a:xfrm>
            <a:off x="503640" y="6075444"/>
            <a:ext cx="40046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Top 20 retail banks between 2018 and 2022.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Bottom 20 retail banks between 2018 and 2022.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S&amp;P Global; Corporate Performance Analytics by McKinsey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6FAE36-B2AB-1FB7-84CE-914564353F9C}"/>
              </a:ext>
            </a:extLst>
          </p:cNvPr>
          <p:cNvSpPr/>
          <p:nvPr/>
        </p:nvSpPr>
        <p:spPr>
          <a:xfrm>
            <a:off x="8332470" y="908332"/>
            <a:ext cx="171450" cy="17145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267DEF-736C-CED4-5C64-D5BC62422F97}"/>
              </a:ext>
            </a:extLst>
          </p:cNvPr>
          <p:cNvSpPr txBox="1"/>
          <p:nvPr/>
        </p:nvSpPr>
        <p:spPr>
          <a:xfrm>
            <a:off x="8503920" y="855068"/>
            <a:ext cx="8034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Leaders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CA6D45-EAC1-0943-3F58-79BC06590466}"/>
              </a:ext>
            </a:extLst>
          </p:cNvPr>
          <p:cNvSpPr/>
          <p:nvPr/>
        </p:nvSpPr>
        <p:spPr>
          <a:xfrm>
            <a:off x="9553575" y="903966"/>
            <a:ext cx="171450" cy="1714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12CBF2-9D70-BBE2-B6F1-C41A8E2F4396}"/>
              </a:ext>
            </a:extLst>
          </p:cNvPr>
          <p:cNvSpPr txBox="1"/>
          <p:nvPr/>
        </p:nvSpPr>
        <p:spPr>
          <a:xfrm>
            <a:off x="9725025" y="850702"/>
            <a:ext cx="933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Laggards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590559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2A043F9-05C2-7E04-3803-3051C939B2C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A043F9-05C2-7E04-3803-3051C939B2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B31B699D-229F-B0D3-14D3-99B927D81F1D}"/>
              </a:ext>
            </a:extLst>
          </p:cNvPr>
          <p:cNvGraphicFramePr/>
          <p:nvPr/>
        </p:nvGraphicFramePr>
        <p:xfrm>
          <a:off x="365900" y="2184697"/>
          <a:ext cx="2319867" cy="3741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EEAEC1A7-D8C2-0771-2851-90BB6CFFEF28}"/>
              </a:ext>
            </a:extLst>
          </p:cNvPr>
          <p:cNvGraphicFramePr/>
          <p:nvPr/>
        </p:nvGraphicFramePr>
        <p:xfrm>
          <a:off x="2575555" y="2184697"/>
          <a:ext cx="2319867" cy="3808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9BFA5955-FF96-7991-8869-6A4391FC1198}"/>
              </a:ext>
            </a:extLst>
          </p:cNvPr>
          <p:cNvGraphicFramePr/>
          <p:nvPr/>
        </p:nvGraphicFramePr>
        <p:xfrm>
          <a:off x="4785209" y="2184697"/>
          <a:ext cx="2319867" cy="3808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3A4666FB-181C-3AEE-8813-1018B28C9391}"/>
              </a:ext>
            </a:extLst>
          </p:cNvPr>
          <p:cNvGraphicFramePr/>
          <p:nvPr/>
        </p:nvGraphicFramePr>
        <p:xfrm>
          <a:off x="6994864" y="1847335"/>
          <a:ext cx="2319867" cy="4145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FDA8D984-319C-609C-F8BE-6614C7472C98}"/>
              </a:ext>
            </a:extLst>
          </p:cNvPr>
          <p:cNvGraphicFramePr/>
          <p:nvPr/>
        </p:nvGraphicFramePr>
        <p:xfrm>
          <a:off x="9204519" y="2185846"/>
          <a:ext cx="2319867" cy="38071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6" name="三角形 5">
            <a:extLst>
              <a:ext uri="{FF2B5EF4-FFF2-40B4-BE49-F238E27FC236}">
                <a16:creationId xmlns:a16="http://schemas.microsoft.com/office/drawing/2014/main" id="{94C8B547-A2E5-EBF7-882C-D7FDD58D7C1C}"/>
              </a:ext>
            </a:extLst>
          </p:cNvPr>
          <p:cNvSpPr/>
          <p:nvPr/>
        </p:nvSpPr>
        <p:spPr>
          <a:xfrm rot="472694">
            <a:off x="2017498" y="2643446"/>
            <a:ext cx="182553" cy="112532"/>
          </a:xfrm>
          <a:prstGeom prst="triangle">
            <a:avLst/>
          </a:prstGeom>
          <a:solidFill>
            <a:srgbClr val="004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31BBA77B-AB6E-1A33-62F4-F0E02EA73B84}"/>
              </a:ext>
            </a:extLst>
          </p:cNvPr>
          <p:cNvSpPr/>
          <p:nvPr/>
        </p:nvSpPr>
        <p:spPr>
          <a:xfrm rot="472694">
            <a:off x="3998626" y="2416803"/>
            <a:ext cx="182553" cy="112532"/>
          </a:xfrm>
          <a:prstGeom prst="triangle">
            <a:avLst/>
          </a:prstGeom>
          <a:solidFill>
            <a:srgbClr val="004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0" name="三角形 9">
            <a:extLst>
              <a:ext uri="{FF2B5EF4-FFF2-40B4-BE49-F238E27FC236}">
                <a16:creationId xmlns:a16="http://schemas.microsoft.com/office/drawing/2014/main" id="{E72BCEDC-6E62-F804-B5BC-BFF058E33553}"/>
              </a:ext>
            </a:extLst>
          </p:cNvPr>
          <p:cNvSpPr/>
          <p:nvPr/>
        </p:nvSpPr>
        <p:spPr>
          <a:xfrm rot="472694">
            <a:off x="6635326" y="2611115"/>
            <a:ext cx="182553" cy="112532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AD6BCF0C-284A-4777-E10A-A99509B419EF}"/>
              </a:ext>
            </a:extLst>
          </p:cNvPr>
          <p:cNvSpPr/>
          <p:nvPr/>
        </p:nvSpPr>
        <p:spPr>
          <a:xfrm rot="472694">
            <a:off x="8395756" y="2348558"/>
            <a:ext cx="182553" cy="112532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B96AC058-F289-5E06-50F0-3203FD2222C0}"/>
              </a:ext>
            </a:extLst>
          </p:cNvPr>
          <p:cNvSpPr/>
          <p:nvPr/>
        </p:nvSpPr>
        <p:spPr>
          <a:xfrm rot="472694">
            <a:off x="11077587" y="2485050"/>
            <a:ext cx="182553" cy="112532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F294E6-B6B0-3F52-29E5-4F7823292499}"/>
              </a:ext>
            </a:extLst>
          </p:cNvPr>
          <p:cNvSpPr txBox="1"/>
          <p:nvPr/>
        </p:nvSpPr>
        <p:spPr>
          <a:xfrm>
            <a:off x="365901" y="243743"/>
            <a:ext cx="11158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To reach net-zero targets, a set of existing climate technologies would need to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scale exponentially by 2030.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510EE7-297A-F42D-1081-78A0895CC051}"/>
              </a:ext>
            </a:extLst>
          </p:cNvPr>
          <p:cNvSpPr txBox="1"/>
          <p:nvPr/>
        </p:nvSpPr>
        <p:spPr>
          <a:xfrm>
            <a:off x="366462" y="934638"/>
            <a:ext cx="4440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Annual deployment of climate technologies needed,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multiples of current supply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F75377D-DA7D-9600-2C13-8FA929970CD5}"/>
              </a:ext>
            </a:extLst>
          </p:cNvPr>
          <p:cNvSpPr txBox="1"/>
          <p:nvPr/>
        </p:nvSpPr>
        <p:spPr>
          <a:xfrm>
            <a:off x="365900" y="1520904"/>
            <a:ext cx="8980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Wind power</a:t>
            </a:r>
          </a:p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capacity,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gigawatts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D0D071-6AD9-13AD-8EFF-30B7ACDA4D54}"/>
              </a:ext>
            </a:extLst>
          </p:cNvPr>
          <p:cNvSpPr txBox="1"/>
          <p:nvPr/>
        </p:nvSpPr>
        <p:spPr>
          <a:xfrm>
            <a:off x="2634104" y="1522053"/>
            <a:ext cx="8899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Solar power</a:t>
            </a:r>
          </a:p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capacity,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gigawatts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6F3307-EC30-79E6-F599-F71F5CE12FB3}"/>
              </a:ext>
            </a:extLst>
          </p:cNvPr>
          <p:cNvSpPr txBox="1"/>
          <p:nvPr/>
        </p:nvSpPr>
        <p:spPr>
          <a:xfrm>
            <a:off x="4791414" y="1522052"/>
            <a:ext cx="10743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Battery electric</a:t>
            </a:r>
          </a:p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car sales,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million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731186-8FEE-3A2F-893D-8CB760FE00F0}"/>
              </a:ext>
            </a:extLst>
          </p:cNvPr>
          <p:cNvSpPr txBox="1"/>
          <p:nvPr/>
        </p:nvSpPr>
        <p:spPr>
          <a:xfrm>
            <a:off x="7102912" y="1520904"/>
            <a:ext cx="1317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Green hydrogen</a:t>
            </a:r>
          </a:p>
          <a:p>
            <a:r>
              <a:rPr kumimoji="1" lang="en-US" altLang="zh-CN" sz="1000" dirty="0" err="1">
                <a:latin typeface="HarmonyOS Sans SC" pitchFamily="2" charset="-122"/>
                <a:ea typeface="HarmonyOS Sans SC" pitchFamily="2" charset="-122"/>
              </a:rPr>
              <a:t>electrolyzer</a:t>
            </a:r>
            <a:endParaRPr kumimoji="1" lang="en-US" altLang="zh-CN" sz="1000" dirty="0">
              <a:latin typeface="HarmonyOS Sans SC" pitchFamily="2" charset="-122"/>
              <a:ea typeface="HarmonyOS Sans SC" pitchFamily="2" charset="-122"/>
            </a:endParaRPr>
          </a:p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capacity,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gigawatts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465FFA-3E62-0782-9BB5-3BBD5893C095}"/>
              </a:ext>
            </a:extLst>
          </p:cNvPr>
          <p:cNvSpPr txBox="1"/>
          <p:nvPr/>
        </p:nvSpPr>
        <p:spPr>
          <a:xfrm>
            <a:off x="9252260" y="1520904"/>
            <a:ext cx="15552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Carbon capture,</a:t>
            </a:r>
          </a:p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utilization, and storage,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megatons of CO</a:t>
            </a:r>
            <a:r>
              <a:rPr kumimoji="1" lang="en-US" altLang="zh-CN" sz="1000" baseline="-25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endParaRPr kumimoji="1" lang="zh-CN" altLang="en-US" sz="1000" baseline="-25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50F15A-0F43-0190-D329-EB4EBE5473E0}"/>
              </a:ext>
            </a:extLst>
          </p:cNvPr>
          <p:cNvSpPr txBox="1"/>
          <p:nvPr/>
        </p:nvSpPr>
        <p:spPr>
          <a:xfrm>
            <a:off x="10073122" y="2436549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2400" b="1">
                <a:latin typeface="HarmonyOS Sans SC Black" pitchFamily="2" charset="-122"/>
                <a:ea typeface="HarmonyOS Sans SC Black" pitchFamily="2" charset="-122"/>
              </a:defRPr>
            </a:lvl1pPr>
          </a:lstStyle>
          <a:p>
            <a:r>
              <a:rPr lang="en-US" altLang="zh-CN" dirty="0"/>
              <a:t>100x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E4F74EB-FC7D-4906-25B5-40A6996172B3}"/>
              </a:ext>
            </a:extLst>
          </p:cNvPr>
          <p:cNvSpPr txBox="1"/>
          <p:nvPr/>
        </p:nvSpPr>
        <p:spPr>
          <a:xfrm>
            <a:off x="7367617" y="2436549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2400" b="1">
                <a:latin typeface="HarmonyOS Sans SC Black" pitchFamily="2" charset="-122"/>
                <a:ea typeface="HarmonyOS Sans SC Black" pitchFamily="2" charset="-122"/>
              </a:defRPr>
            </a:lvl1pPr>
          </a:lstStyle>
          <a:p>
            <a:r>
              <a:rPr lang="en-US" altLang="zh-CN" dirty="0"/>
              <a:t>200x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9F822B-B678-BCAA-28CF-C2C293987E1C}"/>
              </a:ext>
            </a:extLst>
          </p:cNvPr>
          <p:cNvSpPr txBox="1"/>
          <p:nvPr/>
        </p:nvSpPr>
        <p:spPr>
          <a:xfrm>
            <a:off x="5718799" y="2436549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2400" b="1">
                <a:latin typeface="HarmonyOS Sans SC Black" pitchFamily="2" charset="-122"/>
                <a:ea typeface="HarmonyOS Sans SC Black" pitchFamily="2" charset="-122"/>
              </a:defRPr>
            </a:lvl1pPr>
          </a:lstStyle>
          <a:p>
            <a:r>
              <a:rPr lang="en-US" altLang="zh-CN" dirty="0"/>
              <a:t>14x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44A41DE-B62B-DD04-0AA2-76C346ECB0B4}"/>
              </a:ext>
            </a:extLst>
          </p:cNvPr>
          <p:cNvSpPr txBox="1"/>
          <p:nvPr/>
        </p:nvSpPr>
        <p:spPr>
          <a:xfrm>
            <a:off x="3252446" y="2436549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2400" b="1">
                <a:latin typeface="HarmonyOS Sans SC Black" pitchFamily="2" charset="-122"/>
                <a:ea typeface="HarmonyOS Sans SC Black" pitchFamily="2" charset="-122"/>
              </a:defRPr>
            </a:lvl1pPr>
          </a:lstStyle>
          <a:p>
            <a:r>
              <a:rPr lang="en-US" altLang="zh-CN" dirty="0"/>
              <a:t>14x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2BCB40-9655-0823-25B1-E6F7B0AC25BC}"/>
              </a:ext>
            </a:extLst>
          </p:cNvPr>
          <p:cNvSpPr txBox="1"/>
          <p:nvPr/>
        </p:nvSpPr>
        <p:spPr>
          <a:xfrm>
            <a:off x="1387663" y="243654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HarmonyOS Sans SC Black" pitchFamily="2" charset="-122"/>
                <a:ea typeface="HarmonyOS Sans SC Black" pitchFamily="2" charset="-122"/>
              </a:rPr>
              <a:t>6x</a:t>
            </a:r>
            <a:endParaRPr kumimoji="1" lang="zh-CN" altLang="en-US" sz="2400" b="1" dirty="0">
              <a:latin typeface="HarmonyOS Sans SC Black" pitchFamily="2" charset="-122"/>
              <a:ea typeface="HarmonyOS Sans SC Black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E949F-45A9-74E7-26FC-D500ECB90D17}"/>
              </a:ext>
            </a:extLst>
          </p:cNvPr>
          <p:cNvSpPr txBox="1"/>
          <p:nvPr/>
        </p:nvSpPr>
        <p:spPr>
          <a:xfrm>
            <a:off x="288917" y="5990462"/>
            <a:ext cx="11483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Based on the McKinsey 1.5°C achieved commitments scenario, which represents existing commitments from companies and policies from countries. To con-duct this analysis, we estimated the current trajectory of supply of key climate technologies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based on historic and current activity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），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factored in current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emis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-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sions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-reductions commitments from countries and governments, and assessed the supply of these technologies that would be required by 2030 to stay 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track for a 1.5°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pathway. 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EV-Volumes; IEA; International Renewable Energy Agency; McKinsey analysis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302760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CCF0D-6212-A52B-F713-D077543C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936C592-9317-DDFA-4C0A-C03FB92BCC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7772400" imgH="10058400" progId="TCLayout.ActiveDocument.1">
                  <p:embed/>
                </p:oleObj>
              </mc:Choice>
              <mc:Fallback>
                <p:oleObj name="think-cell 幻灯片" r:id="rId1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36C592-9317-DDFA-4C0A-C03FB92BCC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1E7FF23-A415-A217-0F81-423915A54523}"/>
              </a:ext>
            </a:extLst>
          </p:cNvPr>
          <p:cNvSpPr txBox="1"/>
          <p:nvPr/>
        </p:nvSpPr>
        <p:spPr>
          <a:xfrm>
            <a:off x="363337" y="248282"/>
            <a:ext cx="11378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The more rules you master to create growth for your organization, the better.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CC79EB-7138-5EBE-9C77-D0D772DA73C0}"/>
              </a:ext>
            </a:extLst>
          </p:cNvPr>
          <p:cNvSpPr txBox="1"/>
          <p:nvPr/>
        </p:nvSpPr>
        <p:spPr>
          <a:xfrm>
            <a:off x="363337" y="775301"/>
            <a:ext cx="782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Revenue growth and shareholder returns by rules mastered, 2005-09 to 2015-19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CAGR %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65" name="Chart 3">
            <a:extLst>
              <a:ext uri="{FF2B5EF4-FFF2-40B4-BE49-F238E27FC236}">
                <a16:creationId xmlns:a16="http://schemas.microsoft.com/office/drawing/2014/main" id="{6D9DA4C5-BB31-E50C-C1CF-0A333FD911EF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024063" y="1833563"/>
          <a:ext cx="3022600" cy="4070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42" name="文本占位符 2">
            <a:extLst>
              <a:ext uri="{FF2B5EF4-FFF2-40B4-BE49-F238E27FC236}">
                <a16:creationId xmlns:a16="http://schemas.microsoft.com/office/drawing/2014/main" id="{E3BB81FE-8507-D0A8-B358-7B848164908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1697038" y="2211388"/>
            <a:ext cx="3841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6AA99F3-E4FA-4EE5-AEC8-C0C8558B6B01}" type="datetime'''''-1'''''''''''''''''''''''''''''',''''''''''''''''''''''3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-1,3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3" name="文本占位符 2">
            <a:extLst>
              <a:ext uri="{FF2B5EF4-FFF2-40B4-BE49-F238E27FC236}">
                <a16:creationId xmlns:a16="http://schemas.microsoft.com/office/drawing/2014/main" id="{C3D6C7DD-C3C2-7D6D-F12E-2400B43445B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3049588" y="2992438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E6B2E01F-8863-471F-A090-739AD197287F}" type="datetime'''1'''''''''''''''''''',''''''''3''''''''''''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1,3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4" name="文本占位符 2">
            <a:extLst>
              <a:ext uri="{FF2B5EF4-FFF2-40B4-BE49-F238E27FC236}">
                <a16:creationId xmlns:a16="http://schemas.microsoft.com/office/drawing/2014/main" id="{623F28F1-A03C-0121-097D-343A8C172FBD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4037013" y="3773488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A6F6019-B9CC-4A8F-A873-18C0C133C225}" type="datetime'''''4'''''''',''1''''''''''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4,1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5" name="文本占位符 2">
            <a:extLst>
              <a:ext uri="{FF2B5EF4-FFF2-40B4-BE49-F238E27FC236}">
                <a16:creationId xmlns:a16="http://schemas.microsoft.com/office/drawing/2014/main" id="{3A390584-60ED-6380-44EB-05457921ABD2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4883150" y="4554538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71DB80D-E677-44F9-8A69-609C19C73B6E}" type="datetime'''''6'''''''''''''''''''''''''''''''''''''''''''',''5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6,5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6" name="文本占位符 2">
            <a:extLst>
              <a:ext uri="{FF2B5EF4-FFF2-40B4-BE49-F238E27FC236}">
                <a16:creationId xmlns:a16="http://schemas.microsoft.com/office/drawing/2014/main" id="{D075E0BE-02BC-E278-9E78-F7C8754B4910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4989513" y="5335588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FCC24B3-0877-49DD-B0A3-398848F97380}" type="datetime'''''''''''''''''''6'''''''',''''''8'''''''''''''''''''''''''">
              <a:rPr kumimoji="1" lang="zh-CN" altLang="en-US" sz="14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427E51D-CBD3-4631-8D80-07771A2B56D9}"/>
              </a:ext>
            </a:extLst>
          </p:cNvPr>
          <p:cNvSpPr txBox="1"/>
          <p:nvPr/>
        </p:nvSpPr>
        <p:spPr>
          <a:xfrm>
            <a:off x="363337" y="1399957"/>
            <a:ext cx="122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Number of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rules mastered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0B06213-1375-00CE-6752-1BC3068167DC}"/>
              </a:ext>
            </a:extLst>
          </p:cNvPr>
          <p:cNvSpPr txBox="1"/>
          <p:nvPr/>
        </p:nvSpPr>
        <p:spPr>
          <a:xfrm>
            <a:off x="363337" y="5930900"/>
            <a:ext cx="113785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Largest 3,000 publicly listed companies by revenue in 2018 with an average revenue of &gt;$1 billion in 2005-09, a reliable business segment, and TSR data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；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1,621 companies charted.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Excess total shareholder returns calculated as the company's annual shareholder returns less the median return in its primary industry.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Corporate Performance Analytics by McKinsey; regulatory filings; S&amp;P Global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BE25B3E-AFC8-1770-A918-D712939481C6}"/>
              </a:ext>
            </a:extLst>
          </p:cNvPr>
          <p:cNvSpPr txBox="1"/>
          <p:nvPr/>
        </p:nvSpPr>
        <p:spPr>
          <a:xfrm>
            <a:off x="363337" y="2152049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0-1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BB60FEB-B573-CE30-BA86-B23680CF54C2}"/>
              </a:ext>
            </a:extLst>
          </p:cNvPr>
          <p:cNvSpPr txBox="1"/>
          <p:nvPr/>
        </p:nvSpPr>
        <p:spPr>
          <a:xfrm>
            <a:off x="363337" y="2934593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2-3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8306828-0E0A-4793-E53F-872BDC88FBD3}"/>
              </a:ext>
            </a:extLst>
          </p:cNvPr>
          <p:cNvSpPr txBox="1"/>
          <p:nvPr/>
        </p:nvSpPr>
        <p:spPr>
          <a:xfrm>
            <a:off x="363337" y="3717137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4-5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045CC0E-6412-8DBF-66DC-DEC75629BDDE}"/>
              </a:ext>
            </a:extLst>
          </p:cNvPr>
          <p:cNvSpPr txBox="1"/>
          <p:nvPr/>
        </p:nvSpPr>
        <p:spPr>
          <a:xfrm>
            <a:off x="363337" y="4499681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6-7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E64A5D9-CD6A-3A4A-513E-D269DA849F53}"/>
              </a:ext>
            </a:extLst>
          </p:cNvPr>
          <p:cNvSpPr txBox="1"/>
          <p:nvPr/>
        </p:nvSpPr>
        <p:spPr>
          <a:xfrm>
            <a:off x="363337" y="5282225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8+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89" name="Chart 3">
            <a:extLst>
              <a:ext uri="{FF2B5EF4-FFF2-40B4-BE49-F238E27FC236}">
                <a16:creationId xmlns:a16="http://schemas.microsoft.com/office/drawing/2014/main" id="{1A688B0F-5906-7F4E-6EEE-48615D0C3671}"/>
              </a:ext>
            </a:extLst>
          </p:cNvPr>
          <p:cNvGraphicFramePr/>
          <p:nvPr>
            <p:custDataLst>
              <p:tags r:id="rId8"/>
            </p:custDataLst>
          </p:nvPr>
        </p:nvGraphicFramePr>
        <p:xfrm>
          <a:off x="6083300" y="1833563"/>
          <a:ext cx="3022600" cy="4070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72" name="文本占位符 2">
            <a:extLst>
              <a:ext uri="{FF2B5EF4-FFF2-40B4-BE49-F238E27FC236}">
                <a16:creationId xmlns:a16="http://schemas.microsoft.com/office/drawing/2014/main" id="{06099ECF-22CB-A3D1-5F45-3F0D6FAFD918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5756275" y="2211388"/>
            <a:ext cx="3841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95ED872F-AF2B-4D3D-B0E2-884A0CD19589}" type="datetime'''''''''-''''''''1'''''''''''''''',''''''''''''''''''1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-1,1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3" name="文本占位符 2">
            <a:extLst>
              <a:ext uri="{FF2B5EF4-FFF2-40B4-BE49-F238E27FC236}">
                <a16:creationId xmlns:a16="http://schemas.microsoft.com/office/drawing/2014/main" id="{4D2B8B15-6FF0-E6E9-2C9D-7DA383647AC8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6176963" y="2992438"/>
            <a:ext cx="3841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9D690A36-B1CC-4595-BC43-F0754FDB7172}" type="datetime'''''''''''''''''''''-''''''''''''0'',''''''''''''''1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-0,1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4" name="文本占位符 2">
            <a:extLst>
              <a:ext uri="{FF2B5EF4-FFF2-40B4-BE49-F238E27FC236}">
                <a16:creationId xmlns:a16="http://schemas.microsoft.com/office/drawing/2014/main" id="{51AC5692-3B49-8DFD-2A77-6636E4E7EE1D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7199313" y="3773488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BECDD436-F245-40A3-81D6-BA7989B06F63}" type="datetime'''''''''1'''''''',''''''''''3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1,3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5" name="文本占位符 2">
            <a:extLst>
              <a:ext uri="{FF2B5EF4-FFF2-40B4-BE49-F238E27FC236}">
                <a16:creationId xmlns:a16="http://schemas.microsoft.com/office/drawing/2014/main" id="{CD7F57EB-05CC-B159-791C-4C9825A54F4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375650" y="4554538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3639792-FE32-4B7C-9278-427982C73D70}" type="datetime'''''''''''''''''''''''''''''''4'''''',''1''''''''''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4,1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6" name="文本占位符 2">
            <a:extLst>
              <a:ext uri="{FF2B5EF4-FFF2-40B4-BE49-F238E27FC236}">
                <a16:creationId xmlns:a16="http://schemas.microsoft.com/office/drawing/2014/main" id="{E38D3787-8FF0-15B4-8415-6C82673A7F81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9048750" y="5335588"/>
            <a:ext cx="296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2DDC801-E1EB-4C46-B17A-025D56BE65E0}" type="datetime'''''''''5'''''''''''''''''''''''''''''''',7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5,7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FC26A92-E54A-514A-9CC7-825347449091}"/>
              </a:ext>
            </a:extLst>
          </p:cNvPr>
          <p:cNvSpPr txBox="1"/>
          <p:nvPr/>
        </p:nvSpPr>
        <p:spPr>
          <a:xfrm>
            <a:off x="1984225" y="1582359"/>
            <a:ext cx="12554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Median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growth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0275B62-7E3D-2934-06D7-AD7139E310D0}"/>
              </a:ext>
            </a:extLst>
          </p:cNvPr>
          <p:cNvSpPr txBox="1"/>
          <p:nvPr/>
        </p:nvSpPr>
        <p:spPr>
          <a:xfrm>
            <a:off x="5180013" y="1582359"/>
            <a:ext cx="2537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Excess total shareholder returns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2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11AFE35E-8B3A-78BE-7704-8F9325C9F357}"/>
              </a:ext>
            </a:extLst>
          </p:cNvPr>
          <p:cNvSpPr txBox="1"/>
          <p:nvPr/>
        </p:nvSpPr>
        <p:spPr>
          <a:xfrm>
            <a:off x="9902824" y="1397693"/>
            <a:ext cx="122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Number of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rules mastered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F343E8E-28F7-5F24-E6C0-0796C6005F19}"/>
              </a:ext>
            </a:extLst>
          </p:cNvPr>
          <p:cNvSpPr txBox="1"/>
          <p:nvPr/>
        </p:nvSpPr>
        <p:spPr>
          <a:xfrm>
            <a:off x="10266701" y="215204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922AF93-FCE2-16D1-11DA-2BE4ED75A3B4}"/>
              </a:ext>
            </a:extLst>
          </p:cNvPr>
          <p:cNvSpPr txBox="1"/>
          <p:nvPr/>
        </p:nvSpPr>
        <p:spPr>
          <a:xfrm>
            <a:off x="10266701" y="2934593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43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19FCFC84-D5C2-FA1D-8470-346A6F419950}"/>
              </a:ext>
            </a:extLst>
          </p:cNvPr>
          <p:cNvSpPr txBox="1"/>
          <p:nvPr/>
        </p:nvSpPr>
        <p:spPr>
          <a:xfrm>
            <a:off x="10266701" y="3717137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29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2D036E4-0435-CF6E-80A2-1300650C0111}"/>
              </a:ext>
            </a:extLst>
          </p:cNvPr>
          <p:cNvSpPr txBox="1"/>
          <p:nvPr/>
        </p:nvSpPr>
        <p:spPr>
          <a:xfrm>
            <a:off x="10266701" y="4499681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8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7B3A0CDC-B5F4-30EF-FC38-D7F0E2DB5688}"/>
              </a:ext>
            </a:extLst>
          </p:cNvPr>
          <p:cNvSpPr txBox="1"/>
          <p:nvPr/>
        </p:nvSpPr>
        <p:spPr>
          <a:xfrm>
            <a:off x="10266701" y="5282225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0.3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66068C40-99CB-3201-58EF-DF3161A438A3}"/>
              </a:ext>
            </a:extLst>
          </p:cNvPr>
          <p:cNvCxnSpPr/>
          <p:nvPr/>
        </p:nvCxnSpPr>
        <p:spPr>
          <a:xfrm>
            <a:off x="407020" y="2704171"/>
            <a:ext cx="10822258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0BB9536-BE56-6C84-CBF7-B568B832C019}"/>
              </a:ext>
            </a:extLst>
          </p:cNvPr>
          <p:cNvCxnSpPr/>
          <p:nvPr/>
        </p:nvCxnSpPr>
        <p:spPr>
          <a:xfrm>
            <a:off x="407020" y="3486615"/>
            <a:ext cx="10822258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CF45212-7EE8-D03D-43CA-AD0BCE98047E}"/>
              </a:ext>
            </a:extLst>
          </p:cNvPr>
          <p:cNvCxnSpPr/>
          <p:nvPr/>
        </p:nvCxnSpPr>
        <p:spPr>
          <a:xfrm>
            <a:off x="396643" y="4256049"/>
            <a:ext cx="10822258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4F36C77D-6CC7-81F8-2742-43CDCB0EEDA9}"/>
              </a:ext>
            </a:extLst>
          </p:cNvPr>
          <p:cNvCxnSpPr/>
          <p:nvPr/>
        </p:nvCxnSpPr>
        <p:spPr>
          <a:xfrm>
            <a:off x="396643" y="5053361"/>
            <a:ext cx="10822258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285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F29469C-8472-5F89-A431-F7AFF77672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7772400" imgH="10058400" progId="TCLayout.ActiveDocument.1">
                  <p:embed/>
                </p:oleObj>
              </mc:Choice>
              <mc:Fallback>
                <p:oleObj name="think-cell 幻灯片" r:id="rId11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29469C-8472-5F89-A431-F7AFF77672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2CA05A8-97D5-4A48-1C23-2B4BE542BD00}"/>
              </a:ext>
            </a:extLst>
          </p:cNvPr>
          <p:cNvSpPr txBox="1"/>
          <p:nvPr/>
        </p:nvSpPr>
        <p:spPr>
          <a:xfrm>
            <a:off x="454325" y="258792"/>
            <a:ext cx="4527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FIGURE 1: The women's health gap 2040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39F7FB0C-6818-2773-49B7-005D733D03E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5389562" y="3784600"/>
            <a:ext cx="12319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803C0578-045F-3D90-4554-47E9ABBF55A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8164512" y="4964113"/>
            <a:ext cx="12334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22E6ECFE-AA7E-EA42-0AEF-0F4CCE2E9ED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13024" y="1773238"/>
            <a:ext cx="123348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1" name="Chart 3">
            <a:extLst>
              <a:ext uri="{FF2B5EF4-FFF2-40B4-BE49-F238E27FC236}">
                <a16:creationId xmlns:a16="http://schemas.microsoft.com/office/drawing/2014/main" id="{BD012904-464A-4864-1B1A-0CC821C41379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371475" y="1690688"/>
          <a:ext cx="11268075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9" name="文本占位符 2">
            <a:extLst>
              <a:ext uri="{FF2B5EF4-FFF2-40B4-BE49-F238E27FC236}">
                <a16:creationId xmlns:a16="http://schemas.microsoft.com/office/drawing/2014/main" id="{C46F4839-3C40-2633-5710-CA6BBB36833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6675437" y="5300663"/>
            <a:ext cx="1435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D480F59-A7FC-4771-8449-E227A0EB15FE}" type="datetime'''''Car''e'' ''''de''''l''i''''''''''v''''''''e''ry ''g''a''p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Care delivery gap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6A0030F4-7555-DD91-C579-BBC2C75DD1E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9790113" y="5300663"/>
            <a:ext cx="7588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EA105E9-074B-4046-9391-D87119627789}" type="datetime'''''D''''at''''''''''a ''g''a''''''''''''p''''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Data gap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F673BC5E-67A2-F576-0726-D93C4764386F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895725" y="5300663"/>
            <a:ext cx="14462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109339B-FED7-4834-B754-238E8674E4F1}" type="datetime'''Ef''f''e''ct''''ivenes''''''''''''''s'' g''''''a''p''''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Effectiveness gap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4CAAEB47-9BED-357D-46AD-269F28DC1B82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1079500" y="5300663"/>
            <a:ext cx="15240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3395702-DDEF-45CA-A682-CF886DCB7684}" type="datetime'G''''''''''en''''''''''de''r'''' h''''''''''''ealth'''' gap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Gender health gap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9" name="右大括号 88">
            <a:extLst>
              <a:ext uri="{FF2B5EF4-FFF2-40B4-BE49-F238E27FC236}">
                <a16:creationId xmlns:a16="http://schemas.microsoft.com/office/drawing/2014/main" id="{15066E9D-9717-0CB8-0714-E368D0305CA3}"/>
              </a:ext>
            </a:extLst>
          </p:cNvPr>
          <p:cNvSpPr/>
          <p:nvPr/>
        </p:nvSpPr>
        <p:spPr>
          <a:xfrm rot="16200000">
            <a:off x="7360773" y="-2049732"/>
            <a:ext cx="184030" cy="7212552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AED5458-9B8E-811E-77EA-63D29395B3DE}"/>
              </a:ext>
            </a:extLst>
          </p:cNvPr>
          <p:cNvSpPr txBox="1"/>
          <p:nvPr/>
        </p:nvSpPr>
        <p:spPr>
          <a:xfrm>
            <a:off x="4822901" y="972085"/>
            <a:ext cx="525977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Gender health gap of 75 million DALYs</a:t>
            </a:r>
          </a:p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Equivalent to seven days per woman per year of additional health burden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0C8B6EF-4EAE-1657-A0D3-39D8F2C91862}"/>
              </a:ext>
            </a:extLst>
          </p:cNvPr>
          <p:cNvSpPr txBox="1"/>
          <p:nvPr/>
        </p:nvSpPr>
        <p:spPr>
          <a:xfrm>
            <a:off x="371475" y="5753866"/>
            <a:ext cx="112680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armonyOS Sans SC Light" pitchFamily="2" charset="-122"/>
                <a:ea typeface="HarmonyOS Sans SC Light" pitchFamily="2" charset="-122"/>
              </a:rPr>
              <a:t>Note: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Missed value from undercounting was calculated by adding the underestimated disease burden for endometriosis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difference between real endometriosis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disease burden based on WHO prevalence and IHME disease weight and IHME reported endometrioses burden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and menopause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difference between real disease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burden based on prevalence sizing and PMS disease weight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.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E387F875-597F-DDD7-583A-B9678514590B}"/>
              </a:ext>
            </a:extLst>
          </p:cNvPr>
          <p:cNvSpPr txBox="1"/>
          <p:nvPr/>
        </p:nvSpPr>
        <p:spPr>
          <a:xfrm>
            <a:off x="371475" y="6307058"/>
            <a:ext cx="11268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armonyOS Sans SC Light" pitchFamily="2" charset="-122"/>
                <a:ea typeface="HarmonyOS Sans SC Light" pitchFamily="2" charset="-122"/>
              </a:rPr>
              <a:t>Source: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University of Washington's Institute for Health Metrics and Evaluation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"Global Burden of Disease Study 2019"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women's health model, used with permission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D4BA5CA-31C0-14AC-33EA-8659D76F5F8B}"/>
              </a:ext>
            </a:extLst>
          </p:cNvPr>
          <p:cNvSpPr txBox="1"/>
          <p:nvPr/>
        </p:nvSpPr>
        <p:spPr>
          <a:xfrm>
            <a:off x="4354976" y="2562691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58%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952CA77-8431-CAAD-17AE-EE6178AA0AE7}"/>
              </a:ext>
            </a:extLst>
          </p:cNvPr>
          <p:cNvSpPr txBox="1"/>
          <p:nvPr/>
        </p:nvSpPr>
        <p:spPr>
          <a:xfrm>
            <a:off x="7129132" y="4210337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34%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46E73B2-4316-E5AD-A8B9-1AF4859E5E9A}"/>
              </a:ext>
            </a:extLst>
          </p:cNvPr>
          <p:cNvSpPr txBox="1"/>
          <p:nvPr/>
        </p:nvSpPr>
        <p:spPr>
          <a:xfrm>
            <a:off x="9956967" y="4962892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8%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C290260-BB5F-ED0A-F454-326DDF3ACF76}"/>
              </a:ext>
            </a:extLst>
          </p:cNvPr>
          <p:cNvSpPr txBox="1"/>
          <p:nvPr/>
        </p:nvSpPr>
        <p:spPr>
          <a:xfrm>
            <a:off x="1646575" y="3275111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75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3293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8F76-C8AA-DDC1-6C16-011008BF0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B5123C4-322F-DBAE-50B2-B979D5D8FC4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7772400" imgH="10058400" progId="TCLayout.ActiveDocument.1">
                  <p:embed/>
                </p:oleObj>
              </mc:Choice>
              <mc:Fallback>
                <p:oleObj name="think-cell 幻灯片" r:id="rId2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5123C4-322F-DBAE-50B2-B979D5D8FC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0B0B689-2F3E-3723-5948-406CCB506723}"/>
              </a:ext>
            </a:extLst>
          </p:cNvPr>
          <p:cNvSpPr txBox="1"/>
          <p:nvPr/>
        </p:nvSpPr>
        <p:spPr>
          <a:xfrm>
            <a:off x="454325" y="258792"/>
            <a:ext cx="6898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FIGURE 2: Women's health gap and GDP impact by age groups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62CA5225-38FE-B7D6-73C3-EC4EFE5926DD}"/>
              </a:ext>
            </a:extLst>
          </p:cNvPr>
          <p:cNvSpPr txBox="1"/>
          <p:nvPr/>
        </p:nvSpPr>
        <p:spPr>
          <a:xfrm>
            <a:off x="459142" y="5850436"/>
            <a:ext cx="11268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1. Additional healthy life years of women by closing the gender health gap by 2040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2AE4ECB-FECC-44B2-1CAC-136C3A8BCA1A}"/>
              </a:ext>
            </a:extLst>
          </p:cNvPr>
          <p:cNvSpPr txBox="1"/>
          <p:nvPr/>
        </p:nvSpPr>
        <p:spPr>
          <a:xfrm>
            <a:off x="459142" y="6108871"/>
            <a:ext cx="11268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armonyOS Sans SC Light" pitchFamily="2" charset="-122"/>
                <a:ea typeface="HarmonyOS Sans SC Light" pitchFamily="2" charset="-122"/>
              </a:rPr>
              <a:t>Source: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University of Washington's Institute for Health Metrics and Evaluation, used with permission; Oxford Economics; International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Labour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Organization ILOSTAT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database;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Organisation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 for Economic Co-operation and Development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OECD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）；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Eurostat; National Transfer Accounts project; McKinsey Global Institute analysis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216" name="Chart 3">
            <a:extLst>
              <a:ext uri="{FF2B5EF4-FFF2-40B4-BE49-F238E27FC236}">
                <a16:creationId xmlns:a16="http://schemas.microsoft.com/office/drawing/2014/main" id="{76CA8C64-83CF-2BE2-FB33-F2C066C92B91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0" y="1252538"/>
          <a:ext cx="3022600" cy="4481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 useBgFill="1">
        <p:nvSpPr>
          <p:cNvPr id="214" name="任意形状 213">
            <a:extLst>
              <a:ext uri="{FF2B5EF4-FFF2-40B4-BE49-F238E27FC236}">
                <a16:creationId xmlns:a16="http://schemas.microsoft.com/office/drawing/2014/main" id="{72609F44-6BF1-772E-D388-5E863EBE394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062288" y="5299075"/>
            <a:ext cx="141288" cy="311151"/>
          </a:xfrm>
          <a:custGeom>
            <a:avLst/>
            <a:gdLst/>
            <a:ahLst/>
            <a:cxnLst/>
            <a:rect l="0" t="0" r="0" b="0"/>
            <a:pathLst>
              <a:path w="141288" h="311151">
                <a:moveTo>
                  <a:pt x="141287" y="0"/>
                </a:moveTo>
                <a:lnTo>
                  <a:pt x="57150" y="311150"/>
                </a:lnTo>
                <a:lnTo>
                  <a:pt x="0" y="311150"/>
                </a:lnTo>
                <a:lnTo>
                  <a:pt x="84137" y="0"/>
                </a:lnTo>
                <a:close/>
              </a:path>
            </a:pathLst>
          </a:custGeom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3" name="任意形状 212">
            <a:extLst>
              <a:ext uri="{FF2B5EF4-FFF2-40B4-BE49-F238E27FC236}">
                <a16:creationId xmlns:a16="http://schemas.microsoft.com/office/drawing/2014/main" id="{030C5648-D275-FE45-BE3C-190FDC6B3C9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3119438" y="5299075"/>
            <a:ext cx="84138" cy="311151"/>
          </a:xfrm>
          <a:custGeom>
            <a:avLst/>
            <a:gdLst/>
            <a:ahLst/>
            <a:cxnLst/>
            <a:rect l="0" t="0" r="0" b="0"/>
            <a:pathLst>
              <a:path w="84138" h="311151">
                <a:moveTo>
                  <a:pt x="84137" y="0"/>
                </a:moveTo>
                <a:lnTo>
                  <a:pt x="0" y="3111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2" name="任意形状 211">
            <a:extLst>
              <a:ext uri="{FF2B5EF4-FFF2-40B4-BE49-F238E27FC236}">
                <a16:creationId xmlns:a16="http://schemas.microsoft.com/office/drawing/2014/main" id="{CE67DB9A-56C6-DC24-0504-6A136F98E0A9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062288" y="5299075"/>
            <a:ext cx="84138" cy="311151"/>
          </a:xfrm>
          <a:custGeom>
            <a:avLst/>
            <a:gdLst/>
            <a:ahLst/>
            <a:cxnLst/>
            <a:rect l="0" t="0" r="0" b="0"/>
            <a:pathLst>
              <a:path w="84138" h="311151">
                <a:moveTo>
                  <a:pt x="84137" y="0"/>
                </a:moveTo>
                <a:lnTo>
                  <a:pt x="0" y="3111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文本占位符 2">
            <a:extLst>
              <a:ext uri="{FF2B5EF4-FFF2-40B4-BE49-F238E27FC236}">
                <a16:creationId xmlns:a16="http://schemas.microsoft.com/office/drawing/2014/main" id="{B502F7CD-C890-C97A-432A-DE424B5443A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3260725" y="2625725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E5AE600B-54FF-4C95-9845-370D8DEFCDCC}" type="datetime'''''''''''''''''''''9'''',''''''0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9,0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5" name="文本占位符 2">
            <a:extLst>
              <a:ext uri="{FF2B5EF4-FFF2-40B4-BE49-F238E27FC236}">
                <a16:creationId xmlns:a16="http://schemas.microsoft.com/office/drawing/2014/main" id="{BCCCB3B4-FE6B-9712-1F77-DA77C34A8AC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3181350" y="3017838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9CCCF1B2-37B9-4E66-891D-F46E96C4F3E0}" type="datetime'''''''''''''''''''''9'''''''',''''''''''''''''''''3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9,3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6" name="文本占位符 2">
            <a:extLst>
              <a:ext uri="{FF2B5EF4-FFF2-40B4-BE49-F238E27FC236}">
                <a16:creationId xmlns:a16="http://schemas.microsoft.com/office/drawing/2014/main" id="{0877323B-B650-A278-F0F6-6C27401410D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3076575" y="3409950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A63EBCF9-EC0E-407F-9307-25656AD93B8C}" type="datetime'''''''''9'''''''',''''''''''''''''''''''''''''''''7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9,7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2" name="文本占位符 2">
            <a:extLst>
              <a:ext uri="{FF2B5EF4-FFF2-40B4-BE49-F238E27FC236}">
                <a16:creationId xmlns:a16="http://schemas.microsoft.com/office/drawing/2014/main" id="{97F74B0A-768B-7513-C5B6-9263946E964E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2667000" y="5372100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BC580ECB-8D30-4A60-B149-E225DC1F207F}" type="datetime'''''''''''7''4'''''',''''''''''''''''''''''''''''''9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74,9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8" name="文本占位符 2">
            <a:extLst>
              <a:ext uri="{FF2B5EF4-FFF2-40B4-BE49-F238E27FC236}">
                <a16:creationId xmlns:a16="http://schemas.microsoft.com/office/drawing/2014/main" id="{A6213606-D0E8-6184-E0EA-1A9418E58D8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3233738" y="4194175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BC9F9BD0-9DEF-4A8E-B97A-5BC442769B76}" type="datetime'''9,''''''''''1''''''''''''''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9,1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9" name="文本占位符 2">
            <a:extLst>
              <a:ext uri="{FF2B5EF4-FFF2-40B4-BE49-F238E27FC236}">
                <a16:creationId xmlns:a16="http://schemas.microsoft.com/office/drawing/2014/main" id="{B5C289F2-538D-58A2-ED4B-EA46F1BD05AB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3860800" y="4587875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7964F88-CB5F-4549-B668-ABD01F749FF4}" type="datetime'''''6'''''''''''''''''''''''''''''''',''''''7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6,7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0" name="文本占位符 2">
            <a:extLst>
              <a:ext uri="{FF2B5EF4-FFF2-40B4-BE49-F238E27FC236}">
                <a16:creationId xmlns:a16="http://schemas.microsoft.com/office/drawing/2014/main" id="{6CC8BF5C-AB0F-788A-AC8D-EF1541BF3AF1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5062538" y="4979988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09FA810C-9848-43BA-B022-DB967A2C6B8F}" type="datetime'''''''''''''''''''''2'''''''''''''''''',''''''''''''''''''''1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3" name="文本占位符 2">
            <a:extLst>
              <a:ext uri="{FF2B5EF4-FFF2-40B4-BE49-F238E27FC236}">
                <a16:creationId xmlns:a16="http://schemas.microsoft.com/office/drawing/2014/main" id="{C1BA0B93-0AF7-FA5D-0BFF-403393FB12B5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3730625" y="2233613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9DDF7409-AC00-4451-96DE-ADB3897C675B}" type="datetime'''''''''''''''''''''''''''7'''''',''''''''''''''''''''''''2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7,2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2" name="文本占位符 2">
            <a:extLst>
              <a:ext uri="{FF2B5EF4-FFF2-40B4-BE49-F238E27FC236}">
                <a16:creationId xmlns:a16="http://schemas.microsoft.com/office/drawing/2014/main" id="{458FCE68-B421-42A2-CA12-9984B5A1FF86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4802188" y="1839913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9CDA2B81-FCD5-43A5-ABD2-52C91F3FFD2A}" type="datetime'''3'''''''''''''''''''''''''''''''''''',''''''''''''''''1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3,1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1" name="文本占位符 2">
            <a:extLst>
              <a:ext uri="{FF2B5EF4-FFF2-40B4-BE49-F238E27FC236}">
                <a16:creationId xmlns:a16="http://schemas.microsoft.com/office/drawing/2014/main" id="{9286B7BE-756B-8972-D435-51194E495BC5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3363913" y="1447800"/>
            <a:ext cx="2555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4E1E7FDA-A9BE-4693-9732-949BC433A8F7}" type="datetime'''''''''''''''''''''8'''''''''''',6''''''''''''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7" name="文本占位符 2">
            <a:extLst>
              <a:ext uri="{FF2B5EF4-FFF2-40B4-BE49-F238E27FC236}">
                <a16:creationId xmlns:a16="http://schemas.microsoft.com/office/drawing/2014/main" id="{5D88407F-A475-31AB-8343-9B95BD262BEE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2859088" y="3802063"/>
            <a:ext cx="3429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BD7C90F5-FDCD-43DE-85F9-D7FFC8838DB8}" type="datetime'''''''''''''1''0'''''''''''''''''',''''2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10,2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220" name="Chart 3">
            <a:extLst>
              <a:ext uri="{FF2B5EF4-FFF2-40B4-BE49-F238E27FC236}">
                <a16:creationId xmlns:a16="http://schemas.microsoft.com/office/drawing/2014/main" id="{3D59E18B-502C-727C-647D-EDBA0137E05A}"/>
              </a:ext>
            </a:extLst>
          </p:cNvPr>
          <p:cNvGraphicFramePr/>
          <p:nvPr>
            <p:custDataLst>
              <p:tags r:id="rId17"/>
            </p:custDataLst>
          </p:nvPr>
        </p:nvGraphicFramePr>
        <p:xfrm>
          <a:off x="5810250" y="1068388"/>
          <a:ext cx="3103563" cy="4849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 useBgFill="1">
        <p:nvSpPr>
          <p:cNvPr id="219" name="任意形状 218">
            <a:extLst>
              <a:ext uri="{FF2B5EF4-FFF2-40B4-BE49-F238E27FC236}">
                <a16:creationId xmlns:a16="http://schemas.microsoft.com/office/drawing/2014/main" id="{7ECD5E14-F860-C04C-763C-EB636F8EF26F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585200" y="5299075"/>
            <a:ext cx="141289" cy="311151"/>
          </a:xfrm>
          <a:custGeom>
            <a:avLst/>
            <a:gdLst/>
            <a:ahLst/>
            <a:cxnLst/>
            <a:rect l="0" t="0" r="0" b="0"/>
            <a:pathLst>
              <a:path w="141289" h="311151">
                <a:moveTo>
                  <a:pt x="141288" y="0"/>
                </a:moveTo>
                <a:lnTo>
                  <a:pt x="57150" y="311150"/>
                </a:lnTo>
                <a:lnTo>
                  <a:pt x="0" y="311150"/>
                </a:lnTo>
                <a:lnTo>
                  <a:pt x="84138" y="0"/>
                </a:lnTo>
                <a:close/>
              </a:path>
            </a:pathLst>
          </a:custGeom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7" name="任意形状 216">
            <a:extLst>
              <a:ext uri="{FF2B5EF4-FFF2-40B4-BE49-F238E27FC236}">
                <a16:creationId xmlns:a16="http://schemas.microsoft.com/office/drawing/2014/main" id="{4C423CCD-07C9-0632-CD7A-405708C696F2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585200" y="5299075"/>
            <a:ext cx="84139" cy="311151"/>
          </a:xfrm>
          <a:custGeom>
            <a:avLst/>
            <a:gdLst/>
            <a:ahLst/>
            <a:cxnLst/>
            <a:rect l="0" t="0" r="0" b="0"/>
            <a:pathLst>
              <a:path w="84139" h="311151">
                <a:moveTo>
                  <a:pt x="84138" y="0"/>
                </a:moveTo>
                <a:lnTo>
                  <a:pt x="0" y="3111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8" name="任意形状 217">
            <a:extLst>
              <a:ext uri="{FF2B5EF4-FFF2-40B4-BE49-F238E27FC236}">
                <a16:creationId xmlns:a16="http://schemas.microsoft.com/office/drawing/2014/main" id="{7C385345-F5A1-1FEA-C998-91EEAD62D9F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642350" y="5299075"/>
            <a:ext cx="84139" cy="311151"/>
          </a:xfrm>
          <a:custGeom>
            <a:avLst/>
            <a:gdLst/>
            <a:ahLst/>
            <a:cxnLst/>
            <a:rect l="0" t="0" r="0" b="0"/>
            <a:pathLst>
              <a:path w="84139" h="311151">
                <a:moveTo>
                  <a:pt x="84138" y="0"/>
                </a:moveTo>
                <a:lnTo>
                  <a:pt x="0" y="31115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9" name="文本占位符 2">
            <a:extLst>
              <a:ext uri="{FF2B5EF4-FFF2-40B4-BE49-F238E27FC236}">
                <a16:creationId xmlns:a16="http://schemas.microsoft.com/office/drawing/2014/main" id="{E6C74B5B-7A53-2E6A-F752-35D7F61A511C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5918201" y="1447800"/>
            <a:ext cx="1317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7351A40-7E36-4D7A-B1BF-6C33585906B3}" type="datetime'''''''''''''''''''''''''''''''''''''''''''''0''''''''''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8" name="文本占位符 2">
            <a:extLst>
              <a:ext uri="{FF2B5EF4-FFF2-40B4-BE49-F238E27FC236}">
                <a16:creationId xmlns:a16="http://schemas.microsoft.com/office/drawing/2014/main" id="{BA860762-8E33-CD6D-1EBE-7D54526A63FF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8775700" y="5372100"/>
            <a:ext cx="4286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B4E815B-06FD-49A7-B62E-73DD7B3BA625}" type="datetime'''''''''1.''''''''''''''''''''0''''2''''''5'">
              <a:rPr kumimoji="1" lang="zh-CN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1.025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8012DAA4-1BA0-4DD8-318D-96013A68F9B9}"/>
              </a:ext>
            </a:extLst>
          </p:cNvPr>
          <p:cNvCxnSpPr/>
          <p:nvPr/>
        </p:nvCxnSpPr>
        <p:spPr>
          <a:xfrm>
            <a:off x="511805" y="2116346"/>
            <a:ext cx="1107631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直线连接符 222">
            <a:extLst>
              <a:ext uri="{FF2B5EF4-FFF2-40B4-BE49-F238E27FC236}">
                <a16:creationId xmlns:a16="http://schemas.microsoft.com/office/drawing/2014/main" id="{2E0A23FB-073C-5081-B6A2-78BC23A53CB6}"/>
              </a:ext>
            </a:extLst>
          </p:cNvPr>
          <p:cNvCxnSpPr/>
          <p:nvPr/>
        </p:nvCxnSpPr>
        <p:spPr>
          <a:xfrm>
            <a:off x="511805" y="4073949"/>
            <a:ext cx="1107631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右大括号 223">
            <a:extLst>
              <a:ext uri="{FF2B5EF4-FFF2-40B4-BE49-F238E27FC236}">
                <a16:creationId xmlns:a16="http://schemas.microsoft.com/office/drawing/2014/main" id="{E1C64104-E35D-F655-7BEC-1A434FB1A5FC}"/>
              </a:ext>
            </a:extLst>
          </p:cNvPr>
          <p:cNvSpPr/>
          <p:nvPr/>
        </p:nvSpPr>
        <p:spPr>
          <a:xfrm>
            <a:off x="9368175" y="2176862"/>
            <a:ext cx="265471" cy="1852397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46BD7204-899C-BBA2-E2BB-DAB5931DD822}"/>
              </a:ext>
            </a:extLst>
          </p:cNvPr>
          <p:cNvSpPr txBox="1"/>
          <p:nvPr/>
        </p:nvSpPr>
        <p:spPr>
          <a:xfrm>
            <a:off x="9793385" y="2771982"/>
            <a:ext cx="159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~80% of the GDP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impact generated in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working age group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26" name="右大括号 225">
            <a:extLst>
              <a:ext uri="{FF2B5EF4-FFF2-40B4-BE49-F238E27FC236}">
                <a16:creationId xmlns:a16="http://schemas.microsoft.com/office/drawing/2014/main" id="{3BA54292-5CD4-7B64-D552-AACC2843631C}"/>
              </a:ext>
            </a:extLst>
          </p:cNvPr>
          <p:cNvSpPr/>
          <p:nvPr/>
        </p:nvSpPr>
        <p:spPr>
          <a:xfrm flipH="1">
            <a:off x="2483435" y="2176861"/>
            <a:ext cx="265471" cy="1852397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124F0D2B-103D-16E5-17D0-C0697E7913D8}"/>
              </a:ext>
            </a:extLst>
          </p:cNvPr>
          <p:cNvSpPr txBox="1"/>
          <p:nvPr/>
        </p:nvSpPr>
        <p:spPr>
          <a:xfrm>
            <a:off x="933681" y="2679649"/>
            <a:ext cx="14478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Around 60% of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additional healthy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life years gained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 working age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70B38AFF-304F-986B-B432-509FB6AFFD6D}"/>
              </a:ext>
            </a:extLst>
          </p:cNvPr>
          <p:cNvSpPr txBox="1"/>
          <p:nvPr/>
        </p:nvSpPr>
        <p:spPr>
          <a:xfrm>
            <a:off x="454325" y="1391850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31DD16F7-4018-12A7-3CE8-9E826E285F9A}"/>
              </a:ext>
            </a:extLst>
          </p:cNvPr>
          <p:cNvSpPr txBox="1"/>
          <p:nvPr/>
        </p:nvSpPr>
        <p:spPr>
          <a:xfrm>
            <a:off x="454325" y="1778832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10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0D47CC8B-987E-2AAC-FA54-E3020B5C2174}"/>
              </a:ext>
            </a:extLst>
          </p:cNvPr>
          <p:cNvSpPr txBox="1"/>
          <p:nvPr/>
        </p:nvSpPr>
        <p:spPr>
          <a:xfrm>
            <a:off x="449508" y="2167690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20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73BA3442-8E19-85FD-CD2E-F9A15C5FC2BF}"/>
              </a:ext>
            </a:extLst>
          </p:cNvPr>
          <p:cNvSpPr txBox="1"/>
          <p:nvPr/>
        </p:nvSpPr>
        <p:spPr>
          <a:xfrm>
            <a:off x="459142" y="2553284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30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93E9C77B-F028-E026-F961-8549204ECFE2}"/>
              </a:ext>
            </a:extLst>
          </p:cNvPr>
          <p:cNvSpPr txBox="1"/>
          <p:nvPr/>
        </p:nvSpPr>
        <p:spPr>
          <a:xfrm>
            <a:off x="454325" y="2942142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40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C970C496-9663-26AB-B184-DA15ED2042EC}"/>
              </a:ext>
            </a:extLst>
          </p:cNvPr>
          <p:cNvSpPr txBox="1"/>
          <p:nvPr/>
        </p:nvSpPr>
        <p:spPr>
          <a:xfrm>
            <a:off x="454779" y="3343893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50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461C3230-B813-DC61-FF11-13C8D4BCC10F}"/>
              </a:ext>
            </a:extLst>
          </p:cNvPr>
          <p:cNvSpPr txBox="1"/>
          <p:nvPr/>
        </p:nvSpPr>
        <p:spPr>
          <a:xfrm>
            <a:off x="460678" y="3741669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60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C6C1124F-66A5-D228-9FB1-520DC67CD918}"/>
              </a:ext>
            </a:extLst>
          </p:cNvPr>
          <p:cNvSpPr txBox="1"/>
          <p:nvPr/>
        </p:nvSpPr>
        <p:spPr>
          <a:xfrm>
            <a:off x="459142" y="4136739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70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E51B387A-5EE2-06C2-6607-FBDB69933135}"/>
              </a:ext>
            </a:extLst>
          </p:cNvPr>
          <p:cNvSpPr txBox="1"/>
          <p:nvPr/>
        </p:nvSpPr>
        <p:spPr>
          <a:xfrm>
            <a:off x="451044" y="4530124"/>
            <a:ext cx="360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80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F475E5DC-BC2E-1F4C-4998-D72BF6BF4DA4}"/>
              </a:ext>
            </a:extLst>
          </p:cNvPr>
          <p:cNvSpPr txBox="1"/>
          <p:nvPr/>
        </p:nvSpPr>
        <p:spPr>
          <a:xfrm>
            <a:off x="437605" y="4918982"/>
            <a:ext cx="449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90+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DD509CC0-733B-0C8E-C21D-E763C1498AC2}"/>
              </a:ext>
            </a:extLst>
          </p:cNvPr>
          <p:cNvSpPr txBox="1"/>
          <p:nvPr/>
        </p:nvSpPr>
        <p:spPr>
          <a:xfrm>
            <a:off x="454325" y="5320265"/>
            <a:ext cx="540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Total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D7819AFD-C3A2-11E2-5DD1-69A50C0D1534}"/>
              </a:ext>
            </a:extLst>
          </p:cNvPr>
          <p:cNvSpPr txBox="1"/>
          <p:nvPr/>
        </p:nvSpPr>
        <p:spPr>
          <a:xfrm>
            <a:off x="437605" y="709106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Age group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D2A984E9-D41D-5E13-2069-375B7CF29F60}"/>
              </a:ext>
            </a:extLst>
          </p:cNvPr>
          <p:cNvSpPr txBox="1"/>
          <p:nvPr/>
        </p:nvSpPr>
        <p:spPr>
          <a:xfrm>
            <a:off x="1854766" y="707698"/>
            <a:ext cx="3829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Additional healthy life years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 lived in 2040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in DALY millions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571DDB85-EEA8-DC67-FA57-D12B2B94BBBE}"/>
              </a:ext>
            </a:extLst>
          </p:cNvPr>
          <p:cNvSpPr txBox="1"/>
          <p:nvPr/>
        </p:nvSpPr>
        <p:spPr>
          <a:xfrm>
            <a:off x="5901482" y="707698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Women's GDP impact by age group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endParaRPr kumimoji="1" lang="en-US" altLang="zh-CN" sz="1400" dirty="0">
              <a:latin typeface="HarmonyOS Sans SC" pitchFamily="2" charset="-122"/>
              <a:ea typeface="HarmonyOS Sans SC" pitchFamily="2" charset="-122"/>
            </a:endParaRPr>
          </a:p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GDP impact in $ billions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7871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A1616-44C3-5F34-D614-A2F473B3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A665DCB-1AF1-8506-1A22-954431C854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65DCB-1AF1-8506-1A22-954431C854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1B9401D-D844-B9AA-9568-89A427B76CA7}"/>
              </a:ext>
            </a:extLst>
          </p:cNvPr>
          <p:cNvSpPr txBox="1"/>
          <p:nvPr/>
        </p:nvSpPr>
        <p:spPr>
          <a:xfrm>
            <a:off x="454325" y="258792"/>
            <a:ext cx="936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FIGURE 5: Effectiveness of and access to interventions vary between men and women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DC5EA18-C632-0150-2940-6FBE869C8291}"/>
              </a:ext>
            </a:extLst>
          </p:cNvPr>
          <p:cNvSpPr txBox="1"/>
          <p:nvPr/>
        </p:nvSpPr>
        <p:spPr>
          <a:xfrm>
            <a:off x="454325" y="5899864"/>
            <a:ext cx="11268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armonyOS Sans SC Light" pitchFamily="2" charset="-122"/>
                <a:ea typeface="HarmonyOS Sans SC Light" pitchFamily="2" charset="-122"/>
              </a:rPr>
              <a:t>Source: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McKinsey analysis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E570F229-9513-1958-268D-D5E0B728FCA8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8415337" y="4548188"/>
            <a:ext cx="10239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9143ADFD-43C2-05B9-EB19-F353BFDD251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6110287" y="4340225"/>
            <a:ext cx="10239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8C1CCF5D-099E-B8EB-5DC7-4F171511EF79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803649" y="3009900"/>
            <a:ext cx="10239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0" name="Chart 3">
            <a:extLst>
              <a:ext uri="{FF2B5EF4-FFF2-40B4-BE49-F238E27FC236}">
                <a16:creationId xmlns:a16="http://schemas.microsoft.com/office/drawing/2014/main" id="{D59492E7-5F63-9EFB-9A94-BDE945D5AC5C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1928813" y="846138"/>
          <a:ext cx="9386887" cy="4325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6" name="文本占位符 2">
            <a:extLst>
              <a:ext uri="{FF2B5EF4-FFF2-40B4-BE49-F238E27FC236}">
                <a16:creationId xmlns:a16="http://schemas.microsoft.com/office/drawing/2014/main" id="{BCF54D6D-79CE-8926-B555-D37DA35045A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948238" y="5140325"/>
            <a:ext cx="1041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B83B538-AC7A-4720-905E-144C6CBF6917}" type="datetime'''W''''''''omen''''&#10;d''is''a''''''dva''''''nt''''''ag''''ed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Women
disadvantaged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7D03DED1-5069-DC1B-3452-8F228CC8D97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9842500" y="5140325"/>
            <a:ext cx="4746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ECF436E-C44E-4879-93D9-2FEA68D3C736}" type="datetime'Eq''u''''''a''l&#10;''''r''''''''''''''''''''''e''s''ult''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Equal
results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EFD265A5-9A8E-713F-D569-E7947F3001E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253288" y="5140325"/>
            <a:ext cx="1041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9B281E2-75C8-4468-963D-6E3BB68CAB17}" type="datetime'M''en''''&#10;d''''''''''''''''i''s''''adv''''a''''''n''''tag''ed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Men
disadvantaged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40C54719-E063-04C3-DFEF-1BA30400D02A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5300663" y="3592513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DA7B792-AD8A-470D-ABE0-180D37CBC902}" type="datetime'''''6''''''''''''''''''''''''''''''''4''''''''''''%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64%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8" name="文本占位符 2">
            <a:extLst>
              <a:ext uri="{FF2B5EF4-FFF2-40B4-BE49-F238E27FC236}">
                <a16:creationId xmlns:a16="http://schemas.microsoft.com/office/drawing/2014/main" id="{856E7D96-1EF9-68DD-BA8E-D195BBE32603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7605713" y="4360863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049B31A-BC6C-4E14-947E-70E0B9555C9E}" type="datetime'''''''''''''''''''''''''1''''''''''''''''0''''''%''''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10%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0" name="文本占位符 2">
            <a:extLst>
              <a:ext uri="{FF2B5EF4-FFF2-40B4-BE49-F238E27FC236}">
                <a16:creationId xmlns:a16="http://schemas.microsoft.com/office/drawing/2014/main" id="{2D075CC6-0F4B-DDA8-7858-26440379768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9910763" y="4735513"/>
            <a:ext cx="3365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2956A1B-165D-43FD-84EC-57E79A7E35D2}" type="datetime'''''''''''''''26''''''''''''''''''''''%'''''''''">
              <a:rPr kumimoji="1" lang="en-US" altLang="en-US" sz="12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26%</a:t>
            </a:fld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3" name="文本占位符 2">
            <a:extLst>
              <a:ext uri="{FF2B5EF4-FFF2-40B4-BE49-F238E27FC236}">
                <a16:creationId xmlns:a16="http://schemas.microsoft.com/office/drawing/2014/main" id="{C4A818A9-F21D-FA82-5B1A-CF8F6E189558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712788" y="1803400"/>
            <a:ext cx="15621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97C9B41-D89A-4F03-944F-29F8D9068180}" type="datetime'''N''o ''sex-d''''i''''s''a''''''g''g''r''egate''d&#10;da''ta'''">
              <a:rPr kumimoji="1" lang="en-US" altLang="en-US" sz="12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No sex-disaggregated
data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6" name="文本占位符 2">
            <a:extLst>
              <a:ext uri="{FF2B5EF4-FFF2-40B4-BE49-F238E27FC236}">
                <a16:creationId xmlns:a16="http://schemas.microsoft.com/office/drawing/2014/main" id="{AECF57D3-8188-FBBF-E73C-D07D6969237C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712788" y="3884613"/>
            <a:ext cx="168751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D7479165-83B7-4F6D-8FE5-C060F33AB270}" type="datetime'W''it''h ''s''ex-disa''''ggr''ega''''t''''''''''ed&#10;da''t''''a'">
              <a:rPr kumimoji="1" lang="en-US" altLang="en-US" sz="1200" smtClean="0">
                <a:latin typeface="HarmonyOS Sans SC" pitchFamily="2" charset="-122"/>
                <a:ea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With sex-disaggregated
data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C940FC70-3A94-E868-25CE-C7AAC44F8E1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2698750" y="5140325"/>
            <a:ext cx="9271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4C51B59-A419-40F6-8791-0A423F653445}" type="datetime'''Resear''''''che''d''''&#10;''''inte''r''''''''vent''''ions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Researched
interventions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408B451-2F65-24DC-DB24-C9C99BF4632E}"/>
              </a:ext>
            </a:extLst>
          </p:cNvPr>
          <p:cNvSpPr txBox="1"/>
          <p:nvPr/>
        </p:nvSpPr>
        <p:spPr>
          <a:xfrm>
            <a:off x="2922491" y="1803400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50%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EDE2512-86E4-841B-981B-D7C0EE0CECE6}"/>
              </a:ext>
            </a:extLst>
          </p:cNvPr>
          <p:cNvSpPr txBox="1"/>
          <p:nvPr/>
        </p:nvSpPr>
        <p:spPr>
          <a:xfrm>
            <a:off x="2922491" y="3907475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50%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3626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00621-6616-3DDC-89B0-6CD6D03D4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41CD5AF-A764-BF61-1C0B-3C4AFD7D95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9" imgW="7772400" imgH="10058400" progId="TCLayout.ActiveDocument.1">
                  <p:embed/>
                </p:oleObj>
              </mc:Choice>
              <mc:Fallback>
                <p:oleObj name="think-cell 幻灯片" r:id="rId9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1CD5AF-A764-BF61-1C0B-3C4AFD7D95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967815C-4031-4033-D40C-5BCAACACEE07}"/>
              </a:ext>
            </a:extLst>
          </p:cNvPr>
          <p:cNvSpPr txBox="1"/>
          <p:nvPr/>
        </p:nvSpPr>
        <p:spPr>
          <a:xfrm>
            <a:off x="454325" y="258792"/>
            <a:ext cx="7451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FIGURE 8: Disparities across ethnicities in maternal deaths in the US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76948FC-6E7F-2B75-A846-41265775A79E}"/>
              </a:ext>
            </a:extLst>
          </p:cNvPr>
          <p:cNvSpPr txBox="1"/>
          <p:nvPr/>
        </p:nvSpPr>
        <p:spPr>
          <a:xfrm>
            <a:off x="454325" y="5970814"/>
            <a:ext cx="11268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armonyOS Sans SC Light" pitchFamily="2" charset="-122"/>
                <a:ea typeface="HarmonyOS Sans SC Light" pitchFamily="2" charset="-122"/>
              </a:rPr>
              <a:t>Sources: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James, A.H.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Federspiel, J.J. and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Ahmadzia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, H.K.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"Disparities in Obstetrics Hemorrhage Outcomes”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；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US Centers for Disease Control and Prevention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"Racial/Ethnic Disparities in Pregnancy-Related Deaths - United States, 2007-2016"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87" name="Chart 3">
            <a:extLst>
              <a:ext uri="{FF2B5EF4-FFF2-40B4-BE49-F238E27FC236}">
                <a16:creationId xmlns:a16="http://schemas.microsoft.com/office/drawing/2014/main" id="{CEC8FA97-A26E-D4C9-25D1-81912F9BAAF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71475" y="1068388"/>
          <a:ext cx="11339513" cy="475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FB3F9C-10C5-5A11-532A-4175F342A8C2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377950" y="5608638"/>
            <a:ext cx="3841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C539EF3-F4F3-440C-B0D7-F5DA56EFCF50}" type="datetime'''''''B''l''''a''''''''''c''''''''''''''''k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Black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1" name="文本占位符 2">
            <a:extLst>
              <a:ext uri="{FF2B5EF4-FFF2-40B4-BE49-F238E27FC236}">
                <a16:creationId xmlns:a16="http://schemas.microsoft.com/office/drawing/2014/main" id="{D4665199-767A-49B4-E4F2-E84E34B5E82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3225800" y="5608638"/>
            <a:ext cx="11588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2EFAE8E-F950-40EA-8DFD-289D21C60316}" type="datetime'Na''t''''''''''''i''''ve'' ''''A''''m''e''''''''''ric''''an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Native American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4" name="文本占位符 2">
            <a:extLst>
              <a:ext uri="{FF2B5EF4-FFF2-40B4-BE49-F238E27FC236}">
                <a16:creationId xmlns:a16="http://schemas.microsoft.com/office/drawing/2014/main" id="{62BBA88F-2226-A50C-5B57-CD1385C62BCD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845175" y="5608638"/>
            <a:ext cx="3921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431A8B7-312C-458B-AACF-6EDE299DD6F1}" type="datetime'''''''A''''''''s''''''''i''''''''''a''''''''''''n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Asian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7" name="文本占位符 2">
            <a:extLst>
              <a:ext uri="{FF2B5EF4-FFF2-40B4-BE49-F238E27FC236}">
                <a16:creationId xmlns:a16="http://schemas.microsoft.com/office/drawing/2014/main" id="{B649F77A-4EB0-FEDE-EF07-9181DB06CD7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061325" y="5608638"/>
            <a:ext cx="4254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9564A50-677E-4EB4-ACC2-E74F40C670F5}" type="datetime'Wh''''''i''''''t''''''e''''''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White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0" name="文本占位符 2">
            <a:extLst>
              <a:ext uri="{FF2B5EF4-FFF2-40B4-BE49-F238E27FC236}">
                <a16:creationId xmlns:a16="http://schemas.microsoft.com/office/drawing/2014/main" id="{094B6D5A-A95E-3939-A31D-10D857D2677C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206039" y="5608638"/>
            <a:ext cx="6080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EA86DA7-50E7-4F24-8E40-7E110CBC4C02}" type="datetime'H''''''''''''''i''''s''''''''''''''''''''''pani''''''c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Hispanic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A1C0CF7-115E-05D9-F5A4-0D30F2C25AB1}"/>
              </a:ext>
            </a:extLst>
          </p:cNvPr>
          <p:cNvSpPr txBox="1"/>
          <p:nvPr/>
        </p:nvSpPr>
        <p:spPr>
          <a:xfrm>
            <a:off x="454325" y="899596"/>
            <a:ext cx="6588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Maternal deaths across ethnicities in the US, 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number of maternal deaths per 100,000 births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40698A36-B5ED-2E32-3590-BFE350489A6C}"/>
              </a:ext>
            </a:extLst>
          </p:cNvPr>
          <p:cNvCxnSpPr/>
          <p:nvPr/>
        </p:nvCxnSpPr>
        <p:spPr>
          <a:xfrm>
            <a:off x="2188661" y="1799303"/>
            <a:ext cx="58726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椭圆 90">
            <a:extLst>
              <a:ext uri="{FF2B5EF4-FFF2-40B4-BE49-F238E27FC236}">
                <a16:creationId xmlns:a16="http://schemas.microsoft.com/office/drawing/2014/main" id="{0E7A449B-23B3-8D43-73AC-DF37CDB7D1B7}"/>
              </a:ext>
            </a:extLst>
          </p:cNvPr>
          <p:cNvSpPr/>
          <p:nvPr/>
        </p:nvSpPr>
        <p:spPr>
          <a:xfrm>
            <a:off x="8061325" y="517188"/>
            <a:ext cx="2564230" cy="2564230"/>
          </a:xfrm>
          <a:prstGeom prst="ellipse">
            <a:avLst/>
          </a:prstGeom>
          <a:solidFill>
            <a:srgbClr val="F0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933DC09-9E29-3A42-234F-B2AB1EF5B4CB}"/>
              </a:ext>
            </a:extLst>
          </p:cNvPr>
          <p:cNvSpPr txBox="1"/>
          <p:nvPr/>
        </p:nvSpPr>
        <p:spPr>
          <a:xfrm>
            <a:off x="8455216" y="1176595"/>
            <a:ext cx="177644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In the US, Native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American and Black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women are </a:t>
            </a:r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2-3x more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likely to die from a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pregnancy-related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cause than white</a:t>
            </a:r>
          </a:p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women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27822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SmAORraa4O4BQHWE3DZ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pFGky.2SNXpA_aHOyr.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nNIuLd8_zhyxLHsDd4Un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DuRQlGXvm3WTnniz3ht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62yPsAcvSahPB55k1m1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6ou_W3OPpcPfVHFPg2kw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mJ0MOrG7EEVQPePkc5Q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LgQ3g4L3NCDYCMq3gaV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_U6q1DQa2yKKB7GCWec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cC.WFx4ZykGNSgWkELO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t3Cr.8SRonPg5WTZmfwA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851do0cBrtaaPLxZm5J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GZO.sbl2LmDTZSkmTqB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U2jcPpEMS9s7J0_Bbka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B9HP0PCAVI73V.Uwl.a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Qv2WJ24vf2oR3IcT6BIc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4VScjsUfDqtuFIw2bZx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JQzSZAHBoY.PKYAr8Jm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k6eO5KBOUdrEXftUpl6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eigCevBd0vS08Y8HJcY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9RRNKttFhjleW0KygiAK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51SbOVD7iy0nKOMqNdSn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kBo35Cm4_MsjgA.B.Y0q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CI_of6m0icbI6s6n28jw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Yeou66lMyskPEZ.e5.pq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ySj.1q0qBgV5.ie8f5d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plr4OcDqFkNPHaFwMcn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6iU8Hc5DAGs.RpCSqFN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DdP0xneke5rT.7TUx0ef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92WT2WWlwQMZmAnhB4vg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FtfaFUHQFDNlGcAG_Mog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2mGry2c4kATbBS0F_2KA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omC7XkMuQv3KyA8zV3y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EnSyfEEq0hk1WwYAZcs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Rdta4dosKcXkY6SqGRZ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k0.2BNrV.8SmK40LGTn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hpKPnlGGxl_N6p.FKib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omg57eDDW8CJqlFAubL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I2bf4fkVaX9vlF6n3Yn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0qxT0HPbh6epyzsE0qPi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AIb.xerv4XMJNR64Swk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X9wkyaW608EmZdcQcpX9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ruzdZDbZpizI0gpAGUa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VzD9uYZX14yNk9ByhWRw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ihbXtKs6FT23EfF7Zwr8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2rkf.LPeFlF_WgZH8hV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3JM0QYr_eTffGk.eqMY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QBNVWbkUH48xAjHJPth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ImZvmty95AiGPmqpY4U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KHBBqO6ucFkWVxiFOMI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pu93_I4wg2fiWTbM7k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0_5LEj1t2xt9kadDnxFV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w6SrR8J9vSePZaV.6.H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.epn901DwW3NhCzqdU53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tEv4YOg4LVFUSsco_pM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EOhr5UrmvN3nahOd.IU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e5sDnSLY0PGO7L0VQ_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hJBfrTBkEZK7XgMSZfp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0.2TrgVa3Tl04PjRj0C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qXmYHi2AvavrglY6S6C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aHq00P2YknAuD9Wgoyg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wA_H5j1j9LUx2IdaQaR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nagGVmRLjN2SmYhjRmYd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5TdJllbS9vTrbceW1iX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.yOBAtfgJtCFKFXnXn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jxWA8tosRXPblqmR1N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HfGv2XW7wBxlJu38UwxH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m3NJdExwivBg0fBYxb_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K40JRn2YUJexzTP5lFb4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xQ7KlTCj4brOewEWGWBn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HVAUmCTnyQH0IfC1ov6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1fdvKYU9vFg0gN1KemJ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OgTq922dH8s4IjXTMdbX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ruS4gst4ccEBF_QH7W0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xHVtfzahA_Tta1.vpaO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MRaBZRnJ0caH6qzfAwph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Ho4vkAdoJiwKKOyfn1P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9_pSrvxRAKKwkVJtrlJ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GizJfEtmaZArQopbtND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wggIktaP3hHvHfH3oaI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AMbe95nmUnRLH1rGQVeG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ZgvsK0b1ehh5zwy6vV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51eSUo9SUnMTS3wI93LX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sV9C4g5seozq61d4E0pM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2EMJRjaq6t7nmo4UX2R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p3uiURfWmos3KiST7FgQ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aeyiao2tEIibbSM7fIr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fY1og9CwkRNxYpvqihR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WPS9d4sQJAMsxNWIo21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dGdc613Q2tCEDIa2.H7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SxeMrEjChN6mW53uR7j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n5CX1yF_ncnIH7BSPD6l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JfG8.UOq3zuwm4cRfJfP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DqnLXqIXUBh0iff4NUt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xtaCfw7MfYq733ZeVvA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.OKmqwIdppJ070f5GEkJ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xkm2LmnTIYGdMdRAZ7A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1387</Words>
  <Application>Microsoft Macintosh PowerPoint</Application>
  <PresentationFormat>宽屏</PresentationFormat>
  <Paragraphs>363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等线 Light</vt:lpstr>
      <vt:lpstr>HarmonyOS Sans SC</vt:lpstr>
      <vt:lpstr>HarmonyOS Sans SC Black</vt:lpstr>
      <vt:lpstr>HarmonyOS Sans SC Light</vt:lpstr>
      <vt:lpstr>HarmonyOS Sans SC Medium</vt:lpstr>
      <vt:lpstr>Arial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zhangbaoxu</dc:creator>
  <cp:lastModifiedBy>zhangbaoxu</cp:lastModifiedBy>
  <cp:revision>5</cp:revision>
  <dcterms:created xsi:type="dcterms:W3CDTF">2024-10-26T13:38:51Z</dcterms:created>
  <dcterms:modified xsi:type="dcterms:W3CDTF">2024-10-30T05:05:16Z</dcterms:modified>
</cp:coreProperties>
</file>