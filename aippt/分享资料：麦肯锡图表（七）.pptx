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lsb" ContentType="application/vnd.ms-excel.sheet.binary.macroEnabled.12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charts/chart1.xml" ContentType="application/vnd.openxmlformats-officedocument.drawingml.chart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1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charts/chart7.xml" ContentType="application/vnd.openxmlformats-officedocument.drawingml.chart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tags/tag45.xml" ContentType="application/vnd.openxmlformats-officedocument.presentationml.tags+xml"/>
  <Override PartName="/ppt/charts/chart10.xml" ContentType="application/vnd.openxmlformats-officedocument.drawingml.chart+xml"/>
  <Override PartName="/ppt/theme/themeOverride1.xml" ContentType="application/vnd.openxmlformats-officedocument.themeOverride+xml"/>
  <Override PartName="/ppt/charts/chart11.xml" ContentType="application/vnd.openxmlformats-officedocument.drawingml.chart+xml"/>
  <Override PartName="/ppt/theme/themeOverride2.xml" ContentType="application/vnd.openxmlformats-officedocument.themeOverride+xml"/>
  <Override PartName="/ppt/charts/chart12.xml" ContentType="application/vnd.openxmlformats-officedocument.drawingml.chart+xml"/>
  <Override PartName="/ppt/theme/themeOverride3.xml" ContentType="application/vnd.openxmlformats-officedocument.themeOverride+xml"/>
  <Override PartName="/ppt/charts/chart13.xml" ContentType="application/vnd.openxmlformats-officedocument.drawingml.chart+xml"/>
  <Override PartName="/ppt/theme/themeOverride4.xml" ContentType="application/vnd.openxmlformats-officedocument.themeOverride+xml"/>
  <Override PartName="/ppt/charts/chart14.xml" ContentType="application/vnd.openxmlformats-officedocument.drawingml.chart+xml"/>
  <Override PartName="/ppt/theme/themeOverride5.xml" ContentType="application/vnd.openxmlformats-officedocument.themeOverride+xml"/>
  <Override PartName="/ppt/tags/tag46.xml" ContentType="application/vnd.openxmlformats-officedocument.presentationml.tags+xml"/>
  <Override PartName="/ppt/charts/chart15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6.xml" ContentType="application/vnd.openxmlformats-officedocument.themeOverride+xml"/>
  <Override PartName="/ppt/charts/chart16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7.xml" ContentType="application/vnd.openxmlformats-officedocument.themeOverride+xml"/>
  <Override PartName="/ppt/charts/chart17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8.xml" ContentType="application/vnd.openxmlformats-officedocument.themeOverride+xml"/>
  <Override PartName="/ppt/charts/chart18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9.xml" ContentType="application/vnd.openxmlformats-officedocument.themeOverride+xml"/>
  <Override PartName="/ppt/charts/chart19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10.xml" ContentType="application/vnd.openxmlformats-officedocument.themeOverride+xml"/>
  <Override PartName="/ppt/charts/chart20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11.xml" ContentType="application/vnd.openxmlformats-officedocument.themeOverride+xml"/>
  <Override PartName="/ppt/charts/chart21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12.xml" ContentType="application/vnd.openxmlformats-officedocument.themeOverride+xml"/>
  <Override PartName="/ppt/charts/chart22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13.xml" ContentType="application/vnd.openxmlformats-officedocument.themeOverride+xml"/>
  <Override PartName="/ppt/tags/tag47.xml" ContentType="application/vnd.openxmlformats-officedocument.presentationml.tags+xml"/>
  <Override PartName="/ppt/charts/chart23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14.xml" ContentType="application/vnd.openxmlformats-officedocument.themeOverr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notesSlides/notesSlide2.xml" ContentType="application/vnd.openxmlformats-officedocument.presentationml.notesSlide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6" r:id="rId2"/>
    <p:sldId id="275" r:id="rId3"/>
    <p:sldId id="267" r:id="rId4"/>
    <p:sldId id="268" r:id="rId5"/>
    <p:sldId id="269" r:id="rId6"/>
    <p:sldId id="270" r:id="rId7"/>
    <p:sldId id="271" r:id="rId8"/>
    <p:sldId id="272" r:id="rId9"/>
    <p:sldId id="256" r:id="rId10"/>
    <p:sldId id="276" r:id="rId11"/>
    <p:sldId id="257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777"/>
    <p:restoredTop sz="95748"/>
  </p:normalViewPr>
  <p:slideViewPr>
    <p:cSldViewPr snapToGrid="0">
      <p:cViewPr varScale="1">
        <p:scale>
          <a:sx n="224" d="100"/>
          <a:sy n="224" d="100"/>
        </p:scale>
        <p:origin x="104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.xlsb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3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4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5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6.xlsb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7.xlsb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8.xlsb"/></Relationships>
</file>

<file path=ppt/charts/_rels/chart10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___.xlsx"/><Relationship Id="rId1" Type="http://schemas.openxmlformats.org/officeDocument/2006/relationships/themeOverride" Target="../theme/themeOverride1.xml"/></Relationships>
</file>

<file path=ppt/charts/_rels/chart1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___9.xlsx"/><Relationship Id="rId1" Type="http://schemas.openxmlformats.org/officeDocument/2006/relationships/themeOverride" Target="../theme/themeOverride2.xml"/></Relationships>
</file>

<file path=ppt/charts/_rels/chart1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___10.xlsx"/><Relationship Id="rId1" Type="http://schemas.openxmlformats.org/officeDocument/2006/relationships/themeOverride" Target="../theme/themeOverride3.xml"/></Relationships>
</file>

<file path=ppt/charts/_rels/chart1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___11.xlsx"/><Relationship Id="rId1" Type="http://schemas.openxmlformats.org/officeDocument/2006/relationships/themeOverride" Target="../theme/themeOverride4.xml"/></Relationships>
</file>

<file path=ppt/charts/_rels/chart1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___12.xlsx"/><Relationship Id="rId1" Type="http://schemas.openxmlformats.org/officeDocument/2006/relationships/themeOverride" Target="../theme/themeOverride5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___13.xlsx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___14.xlsx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___15.xlsx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9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___16.xlsx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0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___17.xlsx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1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package" Target="../embeddings/Microsoft_Excel____18.xlsx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2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package" Target="../embeddings/Microsoft_Excel____19.xlsx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3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package" Target="../embeddings/Microsoft_Excel____20.xlsx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4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package" Target="../embeddings/Microsoft_Excel____21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2.xlsb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3.xlsb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4.xlsb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5.xlsb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6.xlsb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7.xlsb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8.xlsb"/></Relationships>
</file>

<file path=ppt/charts/_rels/chart3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9.xlsb"/></Relationships>
</file>

<file path=ppt/charts/_rels/chart3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30.xlsb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31.xlsb"/></Relationships>
</file>

<file path=ppt/charts/_rels/chart3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32.xlsb"/></Relationships>
</file>

<file path=ppt/charts/_rels/chart3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33.xlsb"/></Relationships>
</file>

<file path=ppt/charts/_rels/chart3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34.xlsb"/></Relationships>
</file>

<file path=ppt/charts/_rels/chart3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35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9132670551936924E-3"/>
          <c:y val="8.0769230769230774E-2"/>
          <c:w val="0.98217346588961263"/>
          <c:h val="0.83846153846153848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00ACFB"/>
            </a:solidFill>
            <a:ln w="3175" cmpd="sng" algn="ctr">
              <a:solidFill>
                <a:schemeClr val="bg1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-1.7140898183064793E-4"/>
                  <c:y val="1.44230769230769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25E0-5646-BDFC-1DFFCEF7266D}"/>
                </c:ext>
              </c:extLst>
            </c:dLbl>
            <c:dLbl>
              <c:idx val="1"/>
              <c:layout>
                <c:manualLayout>
                  <c:x val="-1.7140898183064793E-4"/>
                  <c:y val="1.44230769230769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25E0-5646-BDFC-1DFFCEF7266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15</c:v>
                </c:pt>
                <c:pt idx="1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E0-5646-BDFC-1DFFCEF7266D}"/>
            </c:ext>
          </c:extLst>
        </c:ser>
        <c:ser>
          <c:idx val="1"/>
          <c:order val="1"/>
          <c:spPr>
            <a:solidFill>
              <a:srgbClr val="01ACFA"/>
            </a:solidFill>
            <a:ln w="3175" cmpd="sng" algn="ctr">
              <a:solidFill>
                <a:schemeClr val="bg1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-1.7140898183064793E-4"/>
                  <c:y val="1.44230769230769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25E0-5646-BDFC-1DFFCEF7266D}"/>
                </c:ext>
              </c:extLst>
            </c:dLbl>
            <c:dLbl>
              <c:idx val="1"/>
              <c:layout>
                <c:manualLayout>
                  <c:x val="0"/>
                  <c:y val="1.44230769230769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25E0-5646-BDFC-1DFFCEF7266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67</c:v>
                </c:pt>
                <c:pt idx="1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5E0-5646-BDFC-1DFFCEF7266D}"/>
            </c:ext>
          </c:extLst>
        </c:ser>
        <c:ser>
          <c:idx val="2"/>
          <c:order val="2"/>
          <c:spPr>
            <a:solidFill>
              <a:schemeClr val="tx1"/>
            </a:solidFill>
            <a:ln w="3175" cmpd="sng" algn="ctr">
              <a:solidFill>
                <a:schemeClr val="bg1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1.44230769230769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25E0-5646-BDFC-1DFFCEF7266D}"/>
                </c:ext>
              </c:extLst>
            </c:dLbl>
            <c:dLbl>
              <c:idx val="1"/>
              <c:layout>
                <c:manualLayout>
                  <c:x val="0"/>
                  <c:y val="1.44230769230769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25E0-5646-BDFC-1DFFCEF7266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Sheet1!$A$3:$B$3</c:f>
              <c:numCache>
                <c:formatCode>General</c:formatCode>
                <c:ptCount val="2"/>
                <c:pt idx="0">
                  <c:v>8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5E0-5646-BDFC-1DFFCEF7266D}"/>
            </c:ext>
          </c:extLst>
        </c:ser>
        <c:ser>
          <c:idx val="3"/>
          <c:order val="3"/>
          <c:spPr>
            <a:solidFill>
              <a:schemeClr val="tx1"/>
            </a:solidFill>
            <a:ln w="3175" cmpd="sng" algn="ctr">
              <a:solidFill>
                <a:schemeClr val="bg1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1.44230769230769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25E0-5646-BDFC-1DFFCEF7266D}"/>
                </c:ext>
              </c:extLst>
            </c:dLbl>
            <c:dLbl>
              <c:idx val="1"/>
              <c:layout>
                <c:manualLayout>
                  <c:x val="0"/>
                  <c:y val="1.44230769230769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25E0-5646-BDFC-1DFFCEF7266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Sheet1!$A$4:$B$4</c:f>
              <c:numCache>
                <c:formatCode>General</c:formatCode>
                <c:ptCount val="2"/>
                <c:pt idx="0">
                  <c:v>8</c:v>
                </c:pt>
                <c:pt idx="1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25E0-5646-BDFC-1DFFCEF726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517299008"/>
        <c:axId val="1"/>
      </c:barChart>
      <c:catAx>
        <c:axId val="517299008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98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517299008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4186046511627906E-2"/>
          <c:y val="0.10575342465753425"/>
          <c:w val="0.95162790697674415"/>
          <c:h val="0.78849315068493153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00ACFB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813D-BC49-A0F3-7BEEDFB82895}"/>
              </c:ext>
            </c:extLst>
          </c:dPt>
          <c:dLbls>
            <c:dLbl>
              <c:idx val="0"/>
              <c:layout>
                <c:manualLayout>
                  <c:x val="0"/>
                  <c:y val="1.643835616438356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13D-BC49-A0F3-7BEEDFB82895}"/>
                </c:ext>
              </c:extLst>
            </c:dLbl>
            <c:dLbl>
              <c:idx val="1"/>
              <c:layout>
                <c:manualLayout>
                  <c:x val="0"/>
                  <c:y val="1.643835616438356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13D-BC49-A0F3-7BEEDFB8289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52</c:v>
                </c:pt>
                <c:pt idx="1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13D-BC49-A0F3-7BEEDFB82895}"/>
            </c:ext>
          </c:extLst>
        </c:ser>
        <c:ser>
          <c:idx val="1"/>
          <c:order val="1"/>
          <c:spPr>
            <a:solidFill>
              <a:srgbClr val="F0F0F0"/>
            </a:solidFill>
            <a:ln>
              <a:noFill/>
            </a:ln>
          </c:spPr>
          <c:invertIfNegative val="0"/>
          <c:val>
            <c:numRef>
              <c:f>Sheet1!$A$2:$B$2</c:f>
              <c:numCache>
                <c:formatCode>General</c:formatCode>
                <c:ptCount val="2"/>
                <c:pt idx="0">
                  <c:v>48</c:v>
                </c:pt>
                <c:pt idx="1">
                  <c:v>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13D-BC49-A0F3-7BEEDFB828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19669519"/>
        <c:axId val="1"/>
      </c:barChart>
      <c:catAx>
        <c:axId val="319669519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31966951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4186046511627906E-2"/>
          <c:y val="0.10575342465753425"/>
          <c:w val="0.95162790697674415"/>
          <c:h val="0.78849315068493153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00ACFB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0C2D-6A4C-AB2A-A2E96F2479B6}"/>
              </c:ext>
            </c:extLst>
          </c:dPt>
          <c:dLbls>
            <c:dLbl>
              <c:idx val="0"/>
              <c:layout>
                <c:manualLayout>
                  <c:x val="-4.6511627906976747E-4"/>
                  <c:y val="1.643835616438356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0C2D-6A4C-AB2A-A2E96F2479B6}"/>
                </c:ext>
              </c:extLst>
            </c:dLbl>
            <c:dLbl>
              <c:idx val="1"/>
              <c:layout>
                <c:manualLayout>
                  <c:x val="0"/>
                  <c:y val="1.643835616438356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0C2D-6A4C-AB2A-A2E96F2479B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50</c:v>
                </c:pt>
                <c:pt idx="1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C2D-6A4C-AB2A-A2E96F2479B6}"/>
            </c:ext>
          </c:extLst>
        </c:ser>
        <c:ser>
          <c:idx val="1"/>
          <c:order val="1"/>
          <c:spPr>
            <a:solidFill>
              <a:srgbClr val="F0F0F0"/>
            </a:solidFill>
            <a:ln>
              <a:noFill/>
            </a:ln>
          </c:spPr>
          <c:invertIfNegative val="0"/>
          <c:val>
            <c:numRef>
              <c:f>Sheet1!$A$2:$B$2</c:f>
              <c:numCache>
                <c:formatCode>General</c:formatCode>
                <c:ptCount val="2"/>
                <c:pt idx="0">
                  <c:v>50</c:v>
                </c:pt>
                <c:pt idx="1">
                  <c:v>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C2D-6A4C-AB2A-A2E96F2479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47798703"/>
        <c:axId val="1"/>
      </c:barChart>
      <c:catAx>
        <c:axId val="247798703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24779870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4186046511627906E-2"/>
          <c:y val="0.10575342465753425"/>
          <c:w val="0.95162790697674415"/>
          <c:h val="0.78849315068493153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00ACFB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50D9-A149-AE6E-600701AE84DF}"/>
              </c:ext>
            </c:extLst>
          </c:dPt>
          <c:dLbls>
            <c:dLbl>
              <c:idx val="0"/>
              <c:layout>
                <c:manualLayout>
                  <c:x val="0"/>
                  <c:y val="1.643835616438356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0D9-A149-AE6E-600701AE84DF}"/>
                </c:ext>
              </c:extLst>
            </c:dLbl>
            <c:dLbl>
              <c:idx val="1"/>
              <c:layout>
                <c:manualLayout>
                  <c:x val="-4.6511627906976747E-4"/>
                  <c:y val="1.643835616438356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bg1"/>
                      </a:solidFill>
                      <a:latin typeface="+mn-lt"/>
                      <a:ea typeface="等线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0D9-A149-AE6E-600701AE84D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45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0D9-A149-AE6E-600701AE84DF}"/>
            </c:ext>
          </c:extLst>
        </c:ser>
        <c:ser>
          <c:idx val="1"/>
          <c:order val="1"/>
          <c:spPr>
            <a:solidFill>
              <a:srgbClr val="F0F0F0"/>
            </a:solidFill>
            <a:ln>
              <a:noFill/>
            </a:ln>
          </c:spPr>
          <c:invertIfNegative val="0"/>
          <c:val>
            <c:numRef>
              <c:f>Sheet1!$A$2:$B$2</c:f>
              <c:numCache>
                <c:formatCode>General</c:formatCode>
                <c:ptCount val="2"/>
                <c:pt idx="0">
                  <c:v>55</c:v>
                </c:pt>
                <c:pt idx="1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0D9-A149-AE6E-600701AE84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639801487"/>
        <c:axId val="1"/>
      </c:barChart>
      <c:catAx>
        <c:axId val="639801487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63980148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7912504305890458E-2"/>
          <c:y val="0.14233576642335766"/>
          <c:w val="0.96417499138821905"/>
          <c:h val="0.7570385818561000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ACFB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381647549530761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08EC-0546-B400-8AD2569F1050}"/>
                </c:ext>
              </c:extLst>
            </c:dLbl>
            <c:dLbl>
              <c:idx val="1"/>
              <c:layout>
                <c:manualLayout>
                  <c:x val="0"/>
                  <c:y val="-0.1913451511991657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08EC-0546-B400-8AD2569F1050}"/>
                </c:ext>
              </c:extLst>
            </c:dLbl>
            <c:dLbl>
              <c:idx val="2"/>
              <c:layout>
                <c:manualLayout>
                  <c:x val="0"/>
                  <c:y val="-0.3055265901981230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08EC-0546-B400-8AD2569F1050}"/>
                </c:ext>
              </c:extLst>
            </c:dLbl>
            <c:dLbl>
              <c:idx val="3"/>
              <c:layout>
                <c:manualLayout>
                  <c:x val="0"/>
                  <c:y val="-0.4202294056308654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08EC-0546-B400-8AD2569F105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11</c:v>
                </c:pt>
                <c:pt idx="1">
                  <c:v>17</c:v>
                </c:pt>
                <c:pt idx="2">
                  <c:v>30</c:v>
                </c:pt>
                <c:pt idx="3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8EC-0546-B400-8AD2569F10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820923103"/>
        <c:axId val="1"/>
      </c:barChart>
      <c:catAx>
        <c:axId val="82092310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3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82092310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7918676774638181E-2"/>
          <c:y val="0.10364464692482915"/>
          <c:w val="0.96416264645072369"/>
          <c:h val="0.8230827638572513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419134396355353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C17B-C34E-9CB6-129D18A25780}"/>
                </c:ext>
              </c:extLst>
            </c:dLbl>
            <c:dLbl>
              <c:idx val="1"/>
              <c:layout>
                <c:manualLayout>
                  <c:x val="0"/>
                  <c:y val="-0.1408504176157934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C17B-C34E-9CB6-129D18A25780}"/>
                </c:ext>
              </c:extLst>
            </c:dLbl>
            <c:dLbl>
              <c:idx val="2"/>
              <c:layout>
                <c:manualLayout>
                  <c:x val="0"/>
                  <c:y val="-8.5421412300683369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C17B-C34E-9CB6-129D18A25780}"/>
                </c:ext>
              </c:extLst>
            </c:dLbl>
            <c:dLbl>
              <c:idx val="3"/>
              <c:layout>
                <c:manualLayout>
                  <c:x val="0"/>
                  <c:y val="-6.7198177676537588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C17B-C34E-9CB6-129D18A2578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67</c:v>
                </c:pt>
                <c:pt idx="1">
                  <c:v>18</c:v>
                </c:pt>
                <c:pt idx="2">
                  <c:v>9</c:v>
                </c:pt>
                <c:pt idx="3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17B-C34E-9CB6-129D18A25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79463663"/>
        <c:axId val="1"/>
      </c:barChart>
      <c:catAx>
        <c:axId val="77946366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7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7946366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9301047569981112E-3"/>
          <c:y val="6.5318818040435461E-2"/>
          <c:w val="0.98213979048600375"/>
          <c:h val="0.8693623639191291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B3B3B3"/>
            </a:solidFill>
            <a:ln>
              <a:noFill/>
            </a:ln>
          </c:spPr>
          <c:invertIfNegative val="0"/>
          <c:val>
            <c:numRef>
              <c:f>Sheet1!$A$1:$I$1</c:f>
              <c:numCache>
                <c:formatCode>General</c:formatCode>
                <c:ptCount val="9"/>
                <c:pt idx="0">
                  <c:v>9.5</c:v>
                </c:pt>
                <c:pt idx="1">
                  <c:v>17.5</c:v>
                </c:pt>
                <c:pt idx="2">
                  <c:v>11.5</c:v>
                </c:pt>
                <c:pt idx="3">
                  <c:v>18.5</c:v>
                </c:pt>
                <c:pt idx="4">
                  <c:v>15.5</c:v>
                </c:pt>
                <c:pt idx="5">
                  <c:v>7.5</c:v>
                </c:pt>
                <c:pt idx="6">
                  <c:v>20</c:v>
                </c:pt>
                <c:pt idx="7">
                  <c:v>17.5</c:v>
                </c:pt>
                <c:pt idx="8">
                  <c:v>15.5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47-9841-9E3E-B8B86BCA760E}"/>
            </c:ext>
          </c:extLst>
        </c:ser>
        <c:ser>
          <c:idx val="1"/>
          <c:order val="1"/>
          <c:spPr>
            <a:solidFill>
              <a:srgbClr val="01ACFA"/>
            </a:solidFill>
            <a:ln w="3175" cmpd="sng" algn="ctr">
              <a:solidFill>
                <a:schemeClr val="bg1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-1.555209953343701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247-9841-9E3E-B8B86BCA760E}"/>
                </c:ext>
              </c:extLst>
            </c:dLbl>
            <c:dLbl>
              <c:idx val="1"/>
              <c:layout>
                <c:manualLayout>
                  <c:x val="0"/>
                  <c:y val="-1.166407465007776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5247-9841-9E3E-B8B86BCA760E}"/>
                </c:ext>
              </c:extLst>
            </c:dLbl>
            <c:dLbl>
              <c:idx val="2"/>
              <c:layout>
                <c:manualLayout>
                  <c:x val="0"/>
                  <c:y val="-1.166407465007776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5247-9841-9E3E-B8B86BCA760E}"/>
                </c:ext>
              </c:extLst>
            </c:dLbl>
            <c:dLbl>
              <c:idx val="3"/>
              <c:layout>
                <c:manualLayout>
                  <c:x val="0"/>
                  <c:y val="-1.166407465007776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5247-9841-9E3E-B8B86BCA760E}"/>
                </c:ext>
              </c:extLst>
            </c:dLbl>
            <c:dLbl>
              <c:idx val="4"/>
              <c:layout>
                <c:manualLayout>
                  <c:x val="0"/>
                  <c:y val="-1.166407465007776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5247-9841-9E3E-B8B86BCA760E}"/>
                </c:ext>
              </c:extLst>
            </c:dLbl>
            <c:dLbl>
              <c:idx val="5"/>
              <c:layout>
                <c:manualLayout>
                  <c:x val="0"/>
                  <c:y val="-1.166407465007776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5247-9841-9E3E-B8B86BCA760E}"/>
                </c:ext>
              </c:extLst>
            </c:dLbl>
            <c:dLbl>
              <c:idx val="6"/>
              <c:layout>
                <c:manualLayout>
                  <c:x val="0"/>
                  <c:y val="-1.166407465007776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5247-9841-9E3E-B8B86BCA760E}"/>
                </c:ext>
              </c:extLst>
            </c:dLbl>
            <c:dLbl>
              <c:idx val="7"/>
              <c:layout>
                <c:manualLayout>
                  <c:x val="0"/>
                  <c:y val="-1.166407465007776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5247-9841-9E3E-B8B86BCA760E}"/>
                </c:ext>
              </c:extLst>
            </c:dLbl>
            <c:dLbl>
              <c:idx val="8"/>
              <c:layout>
                <c:manualLayout>
                  <c:x val="0"/>
                  <c:y val="-1.166407465007776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5247-9841-9E3E-B8B86BCA760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Sheet1!$A$2:$I$2</c:f>
              <c:numCache>
                <c:formatCode>General</c:formatCode>
                <c:ptCount val="9"/>
                <c:pt idx="0">
                  <c:v>59</c:v>
                </c:pt>
                <c:pt idx="1">
                  <c:v>45</c:v>
                </c:pt>
                <c:pt idx="2">
                  <c:v>45</c:v>
                </c:pt>
                <c:pt idx="3">
                  <c:v>38</c:v>
                </c:pt>
                <c:pt idx="4">
                  <c:v>40</c:v>
                </c:pt>
                <c:pt idx="5">
                  <c:v>46</c:v>
                </c:pt>
                <c:pt idx="6">
                  <c:v>25</c:v>
                </c:pt>
                <c:pt idx="7">
                  <c:v>22</c:v>
                </c:pt>
                <c:pt idx="8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247-9841-9E3E-B8B86BCA760E}"/>
            </c:ext>
          </c:extLst>
        </c:ser>
        <c:ser>
          <c:idx val="2"/>
          <c:order val="2"/>
          <c:spPr>
            <a:solidFill>
              <a:srgbClr val="B3B3B3"/>
            </a:solidFill>
            <a:ln>
              <a:noFill/>
            </a:ln>
          </c:spPr>
          <c:invertIfNegative val="0"/>
          <c:val>
            <c:numRef>
              <c:f>Sheet1!$A$3:$I$3</c:f>
              <c:numCache>
                <c:formatCode>General</c:formatCode>
                <c:ptCount val="9"/>
                <c:pt idx="0">
                  <c:v>-9.5</c:v>
                </c:pt>
                <c:pt idx="1">
                  <c:v>-17.5</c:v>
                </c:pt>
                <c:pt idx="2">
                  <c:v>-11.5</c:v>
                </c:pt>
                <c:pt idx="3">
                  <c:v>-18.5</c:v>
                </c:pt>
                <c:pt idx="4">
                  <c:v>-15.5</c:v>
                </c:pt>
                <c:pt idx="5">
                  <c:v>-7.5</c:v>
                </c:pt>
                <c:pt idx="6">
                  <c:v>-20</c:v>
                </c:pt>
                <c:pt idx="7">
                  <c:v>-17.5</c:v>
                </c:pt>
                <c:pt idx="8">
                  <c:v>-15.5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5247-9841-9E3E-B8B86BCA760E}"/>
            </c:ext>
          </c:extLst>
        </c:ser>
        <c:ser>
          <c:idx val="3"/>
          <c:order val="3"/>
          <c:spPr>
            <a:solidFill>
              <a:schemeClr val="tx1"/>
            </a:solidFill>
            <a:ln w="3175" cmpd="sng" algn="ctr">
              <a:solidFill>
                <a:schemeClr val="bg1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1.555209953343701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5247-9841-9E3E-B8B86BCA760E}"/>
                </c:ext>
              </c:extLst>
            </c:dLbl>
            <c:dLbl>
              <c:idx val="1"/>
              <c:layout>
                <c:manualLayout>
                  <c:x val="0"/>
                  <c:y val="1.555209953343701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5247-9841-9E3E-B8B86BCA760E}"/>
                </c:ext>
              </c:extLst>
            </c:dLbl>
            <c:dLbl>
              <c:idx val="2"/>
              <c:layout>
                <c:manualLayout>
                  <c:x val="0"/>
                  <c:y val="1.166407465007776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5247-9841-9E3E-B8B86BCA760E}"/>
                </c:ext>
              </c:extLst>
            </c:dLbl>
            <c:dLbl>
              <c:idx val="3"/>
              <c:layout>
                <c:manualLayout>
                  <c:x val="0"/>
                  <c:y val="1.555209953343701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F-5247-9841-9E3E-B8B86BCA760E}"/>
                </c:ext>
              </c:extLst>
            </c:dLbl>
            <c:dLbl>
              <c:idx val="4"/>
              <c:layout>
                <c:manualLayout>
                  <c:x val="0"/>
                  <c:y val="1.555209953343701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0-5247-9841-9E3E-B8B86BCA760E}"/>
                </c:ext>
              </c:extLst>
            </c:dLbl>
            <c:dLbl>
              <c:idx val="5"/>
              <c:layout>
                <c:manualLayout>
                  <c:x val="0"/>
                  <c:y val="1.166407465007776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1-5247-9841-9E3E-B8B86BCA760E}"/>
                </c:ext>
              </c:extLst>
            </c:dLbl>
            <c:dLbl>
              <c:idx val="6"/>
              <c:layout>
                <c:manualLayout>
                  <c:x val="0"/>
                  <c:y val="1.166407465007776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2-5247-9841-9E3E-B8B86BCA760E}"/>
                </c:ext>
              </c:extLst>
            </c:dLbl>
            <c:dLbl>
              <c:idx val="7"/>
              <c:layout>
                <c:manualLayout>
                  <c:x val="0"/>
                  <c:y val="1.555209953343701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3-5247-9841-9E3E-B8B86BCA760E}"/>
                </c:ext>
              </c:extLst>
            </c:dLbl>
            <c:dLbl>
              <c:idx val="8"/>
              <c:layout>
                <c:manualLayout>
                  <c:x val="0"/>
                  <c:y val="1.555209953343701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4-5247-9841-9E3E-B8B86BCA760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Sheet1!$A$4:$I$4</c:f>
              <c:numCache>
                <c:formatCode>General</c:formatCode>
                <c:ptCount val="9"/>
                <c:pt idx="0">
                  <c:v>-8</c:v>
                </c:pt>
                <c:pt idx="1">
                  <c:v>-17</c:v>
                </c:pt>
                <c:pt idx="2">
                  <c:v>-13</c:v>
                </c:pt>
                <c:pt idx="3">
                  <c:v>-21</c:v>
                </c:pt>
                <c:pt idx="4">
                  <c:v>-14</c:v>
                </c:pt>
                <c:pt idx="5">
                  <c:v>-7</c:v>
                </c:pt>
                <c:pt idx="6">
                  <c:v>-28</c:v>
                </c:pt>
                <c:pt idx="7">
                  <c:v>-33</c:v>
                </c:pt>
                <c:pt idx="8">
                  <c:v>-36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5247-9841-9E3E-B8B86BCA76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100"/>
        <c:axId val="943497040"/>
        <c:axId val="1"/>
      </c:barChart>
      <c:catAx>
        <c:axId val="94349704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B3B3B3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68.5"/>
          <c:min val="-51.5"/>
        </c:scaling>
        <c:delete val="1"/>
        <c:axPos val="l"/>
        <c:numFmt formatCode="General" sourceLinked="1"/>
        <c:majorTickMark val="out"/>
        <c:minorTickMark val="none"/>
        <c:tickLblPos val="nextTo"/>
        <c:crossAx val="943497040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2453671450466769E-3"/>
          <c:y val="0.10005955926146516"/>
          <c:w val="0.9855092657099066"/>
          <c:h val="0.79988088147706971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4D4D4D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786777843954734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3744-B34D-8FE2-10A57653C1E9}"/>
                </c:ext>
              </c:extLst>
            </c:dLbl>
            <c:dLbl>
              <c:idx val="1"/>
              <c:layout>
                <c:manualLayout>
                  <c:x val="0"/>
                  <c:y val="-1.786777843954734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3744-B34D-8FE2-10A57653C1E9}"/>
                </c:ext>
              </c:extLst>
            </c:dLbl>
            <c:dLbl>
              <c:idx val="2"/>
              <c:layout>
                <c:manualLayout>
                  <c:x val="0"/>
                  <c:y val="-1.786777843954734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3744-B34D-8FE2-10A57653C1E9}"/>
                </c:ext>
              </c:extLst>
            </c:dLbl>
            <c:dLbl>
              <c:idx val="3"/>
              <c:layout>
                <c:manualLayout>
                  <c:x val="0"/>
                  <c:y val="-1.786777843954734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3744-B34D-8FE2-10A57653C1E9}"/>
                </c:ext>
              </c:extLst>
            </c:dLbl>
            <c:dLbl>
              <c:idx val="4"/>
              <c:layout>
                <c:manualLayout>
                  <c:x val="0"/>
                  <c:y val="-1.786777843954734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3744-B34D-8FE2-10A57653C1E9}"/>
                </c:ext>
              </c:extLst>
            </c:dLbl>
            <c:dLbl>
              <c:idx val="5"/>
              <c:layout>
                <c:manualLayout>
                  <c:x val="0"/>
                  <c:y val="-1.786777843954734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3744-B34D-8FE2-10A57653C1E9}"/>
                </c:ext>
              </c:extLst>
            </c:dLbl>
            <c:dLbl>
              <c:idx val="6"/>
              <c:layout>
                <c:manualLayout>
                  <c:x val="0"/>
                  <c:y val="-1.786777843954734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3744-B34D-8FE2-10A57653C1E9}"/>
                </c:ext>
              </c:extLst>
            </c:dLbl>
            <c:dLbl>
              <c:idx val="7"/>
              <c:layout>
                <c:manualLayout>
                  <c:x val="0"/>
                  <c:y val="-2.3823704586063135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3744-B34D-8FE2-10A57653C1E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Sheet1!$A$1:$H$1</c:f>
              <c:numCache>
                <c:formatCode>General</c:formatCode>
                <c:ptCount val="8"/>
                <c:pt idx="0">
                  <c:v>77</c:v>
                </c:pt>
                <c:pt idx="1">
                  <c:v>61</c:v>
                </c:pt>
                <c:pt idx="2">
                  <c:v>59</c:v>
                </c:pt>
                <c:pt idx="3">
                  <c:v>57</c:v>
                </c:pt>
                <c:pt idx="4">
                  <c:v>54</c:v>
                </c:pt>
                <c:pt idx="5">
                  <c:v>54</c:v>
                </c:pt>
                <c:pt idx="6">
                  <c:v>46</c:v>
                </c:pt>
                <c:pt idx="7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744-B34D-8FE2-10A57653C1E9}"/>
            </c:ext>
          </c:extLst>
        </c:ser>
        <c:ser>
          <c:idx val="1"/>
          <c:order val="1"/>
          <c:spPr>
            <a:solidFill>
              <a:srgbClr val="F0F0F0"/>
            </a:solidFill>
            <a:ln>
              <a:noFill/>
            </a:ln>
          </c:spPr>
          <c:invertIfNegative val="0"/>
          <c:val>
            <c:numRef>
              <c:f>Sheet1!$A$2:$H$2</c:f>
              <c:numCache>
                <c:formatCode>General</c:formatCode>
                <c:ptCount val="8"/>
                <c:pt idx="0">
                  <c:v>23</c:v>
                </c:pt>
                <c:pt idx="1">
                  <c:v>39</c:v>
                </c:pt>
                <c:pt idx="2">
                  <c:v>41</c:v>
                </c:pt>
                <c:pt idx="3">
                  <c:v>43</c:v>
                </c:pt>
                <c:pt idx="4">
                  <c:v>46</c:v>
                </c:pt>
                <c:pt idx="5">
                  <c:v>46</c:v>
                </c:pt>
                <c:pt idx="6">
                  <c:v>54</c:v>
                </c:pt>
                <c:pt idx="7">
                  <c:v>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3744-B34D-8FE2-10A57653C1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20263087"/>
        <c:axId val="1"/>
      </c:barChart>
      <c:catAx>
        <c:axId val="82026308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82026308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3832173789578305E-3"/>
          <c:y val="0.19976218787158145"/>
          <c:w val="0.98523356524208439"/>
          <c:h val="0.60047562425683709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3.567181926278240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14F5-CE4F-A1A0-DBC1D4EA5D0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4F5-CE4F-A1A0-DBC1D4EA5D08}"/>
            </c:ext>
          </c:extLst>
        </c:ser>
        <c:ser>
          <c:idx val="1"/>
          <c:order val="1"/>
          <c:spPr>
            <a:solidFill>
              <a:srgbClr val="4C616C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-1.419849495953429E-4"/>
                  <c:y val="3.567181926278240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14F5-CE4F-A1A0-DBC1D4EA5D0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4F5-CE4F-A1A0-DBC1D4EA5D08}"/>
            </c:ext>
          </c:extLst>
        </c:ser>
        <c:ser>
          <c:idx val="2"/>
          <c:order val="2"/>
          <c:spPr>
            <a:solidFill>
              <a:srgbClr val="B3B3B3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3.567181926278240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14F5-CE4F-A1A0-DBC1D4EA5D0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</c:f>
              <c:numCache>
                <c:formatCode>General</c:formatCode>
                <c:ptCount val="1"/>
                <c:pt idx="0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4F5-CE4F-A1A0-DBC1D4EA5D08}"/>
            </c:ext>
          </c:extLst>
        </c:ser>
        <c:ser>
          <c:idx val="3"/>
          <c:order val="3"/>
          <c:spPr>
            <a:solidFill>
              <a:srgbClr val="2FCEFD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3.567181926278240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14F5-CE4F-A1A0-DBC1D4EA5D0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</c:f>
              <c:numCache>
                <c:formatCode>General</c:formatCode>
                <c:ptCount val="1"/>
                <c:pt idx="0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4F5-CE4F-A1A0-DBC1D4EA5D08}"/>
            </c:ext>
          </c:extLst>
        </c:ser>
        <c:ser>
          <c:idx val="4"/>
          <c:order val="4"/>
          <c:spPr>
            <a:solidFill>
              <a:srgbClr val="01ACFA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3.567181926278240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14F5-CE4F-A1A0-DBC1D4EA5D0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Sheet1!$A$5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14F5-CE4F-A1A0-DBC1D4EA5D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867667343"/>
        <c:axId val="1"/>
      </c:barChart>
      <c:catAx>
        <c:axId val="867667343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99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86766734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8.4694830478387245E-2"/>
          <c:y val="0.14151596363193392"/>
          <c:w val="0.81180173986832527"/>
          <c:h val="0.7707453442803136"/>
        </c:manualLayout>
      </c:layout>
      <c:pieChart>
        <c:varyColors val="1"/>
        <c:ser>
          <c:idx val="3"/>
          <c:order val="3"/>
          <c:tx>
            <c:v>tusimpleBI</c:v>
          </c:tx>
          <c:spPr>
            <a:noFill/>
            <a:ln w="38100"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F9ED5"/>
                  </a:solidFill>
                </a14:hiddenFill>
              </a:ext>
            </a:extLst>
          </c:spPr>
          <c:extLst>
            <c:ext xmlns:c16="http://schemas.microsoft.com/office/drawing/2014/chart" uri="{C3380CC4-5D6E-409C-BE32-E72D297353CC}">
              <c16:uniqueId val="{00000000-DFEE-46AB-9FA7-53196F91E5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catterChart>
        <c:scatterStyle val="lineMarker"/>
        <c:varyColors val="0"/>
        <c:ser>
          <c:idx val="0"/>
          <c:order val="0"/>
          <c:tx>
            <c:v>tusimpleBI</c:v>
          </c:tx>
          <c:spPr>
            <a:ln w="38100">
              <a:noFill/>
            </a:ln>
          </c:spPr>
          <c:marker>
            <c:symbol val="circle"/>
            <c:size val="12"/>
            <c:spPr>
              <a:solidFill>
                <a:srgbClr val="031B2C"/>
              </a:solidFill>
              <a:ln w="12700">
                <a:noFill/>
              </a:ln>
            </c:spPr>
          </c:marker>
          <c:xVal>
            <c:numRef>
              <c:f>Sheet1!ts41E_A3E32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</c:v>
                </c:pt>
                <c:pt idx="11">
                  <c:v>2</c:v>
                </c:pt>
                <c:pt idx="12">
                  <c:v>3</c:v>
                </c:pt>
                <c:pt idx="13">
                  <c:v>4</c:v>
                </c:pt>
                <c:pt idx="14">
                  <c:v>5</c:v>
                </c:pt>
                <c:pt idx="15">
                  <c:v>6</c:v>
                </c:pt>
                <c:pt idx="16">
                  <c:v>7</c:v>
                </c:pt>
                <c:pt idx="17">
                  <c:v>8</c:v>
                </c:pt>
                <c:pt idx="18">
                  <c:v>9</c:v>
                </c:pt>
                <c:pt idx="19">
                  <c:v>10</c:v>
                </c:pt>
                <c:pt idx="20">
                  <c:v>1</c:v>
                </c:pt>
                <c:pt idx="21">
                  <c:v>2</c:v>
                </c:pt>
                <c:pt idx="22">
                  <c:v>3</c:v>
                </c:pt>
                <c:pt idx="23">
                  <c:v>4</c:v>
                </c:pt>
                <c:pt idx="24">
                  <c:v>5</c:v>
                </c:pt>
                <c:pt idx="25">
                  <c:v>6</c:v>
                </c:pt>
                <c:pt idx="26">
                  <c:v>7</c:v>
                </c:pt>
                <c:pt idx="27">
                  <c:v>8</c:v>
                </c:pt>
                <c:pt idx="28">
                  <c:v>9</c:v>
                </c:pt>
                <c:pt idx="29">
                  <c:v>10</c:v>
                </c:pt>
                <c:pt idx="30">
                  <c:v>1</c:v>
                </c:pt>
                <c:pt idx="31">
                  <c:v>2</c:v>
                </c:pt>
                <c:pt idx="32">
                  <c:v>3</c:v>
                </c:pt>
                <c:pt idx="33">
                  <c:v>4</c:v>
                </c:pt>
                <c:pt idx="34">
                  <c:v>5</c:v>
                </c:pt>
                <c:pt idx="35">
                  <c:v>6</c:v>
                </c:pt>
                <c:pt idx="36">
                  <c:v>7</c:v>
                </c:pt>
                <c:pt idx="37">
                  <c:v>8</c:v>
                </c:pt>
                <c:pt idx="38">
                  <c:v>9</c:v>
                </c:pt>
                <c:pt idx="39">
                  <c:v>10</c:v>
                </c:pt>
                <c:pt idx="40">
                  <c:v>1</c:v>
                </c:pt>
                <c:pt idx="41">
                  <c:v>2</c:v>
                </c:pt>
                <c:pt idx="42">
                  <c:v>3</c:v>
                </c:pt>
                <c:pt idx="43">
                  <c:v>4</c:v>
                </c:pt>
                <c:pt idx="44">
                  <c:v>5</c:v>
                </c:pt>
                <c:pt idx="45">
                  <c:v>6</c:v>
                </c:pt>
                <c:pt idx="46">
                  <c:v>7</c:v>
                </c:pt>
                <c:pt idx="47">
                  <c:v>8</c:v>
                </c:pt>
                <c:pt idx="48">
                  <c:v>9</c:v>
                </c:pt>
                <c:pt idx="49">
                  <c:v>10</c:v>
                </c:pt>
                <c:pt idx="50">
                  <c:v>1</c:v>
                </c:pt>
                <c:pt idx="51">
                  <c:v>2</c:v>
                </c:pt>
                <c:pt idx="52">
                  <c:v>3</c:v>
                </c:pt>
                <c:pt idx="53">
                  <c:v>4</c:v>
                </c:pt>
                <c:pt idx="54">
                  <c:v>5</c:v>
                </c:pt>
                <c:pt idx="55">
                  <c:v>6</c:v>
                </c:pt>
                <c:pt idx="56">
                  <c:v>7</c:v>
                </c:pt>
                <c:pt idx="57">
                  <c:v>8</c:v>
                </c:pt>
                <c:pt idx="58">
                  <c:v>9</c:v>
                </c:pt>
                <c:pt idx="59">
                  <c:v>10</c:v>
                </c:pt>
                <c:pt idx="60">
                  <c:v>1</c:v>
                </c:pt>
                <c:pt idx="61">
                  <c:v>2</c:v>
                </c:pt>
                <c:pt idx="62">
                  <c:v>3</c:v>
                </c:pt>
                <c:pt idx="63">
                  <c:v>4</c:v>
                </c:pt>
                <c:pt idx="64">
                  <c:v>5</c:v>
                </c:pt>
                <c:pt idx="65">
                  <c:v>6</c:v>
                </c:pt>
                <c:pt idx="66">
                  <c:v>7</c:v>
                </c:pt>
                <c:pt idx="67">
                  <c:v>8</c:v>
                </c:pt>
                <c:pt idx="68">
                  <c:v>9</c:v>
                </c:pt>
                <c:pt idx="69">
                  <c:v>10</c:v>
                </c:pt>
                <c:pt idx="70">
                  <c:v>1</c:v>
                </c:pt>
                <c:pt idx="71">
                  <c:v>2</c:v>
                </c:pt>
                <c:pt idx="72">
                  <c:v>3</c:v>
                </c:pt>
                <c:pt idx="73">
                  <c:v>4</c:v>
                </c:pt>
                <c:pt idx="74">
                  <c:v>5</c:v>
                </c:pt>
                <c:pt idx="75">
                  <c:v>6</c:v>
                </c:pt>
                <c:pt idx="76">
                  <c:v>7</c:v>
                </c:pt>
                <c:pt idx="77">
                  <c:v>8</c:v>
                </c:pt>
                <c:pt idx="78">
                  <c:v>9</c:v>
                </c:pt>
                <c:pt idx="79">
                  <c:v>10</c:v>
                </c:pt>
                <c:pt idx="80">
                  <c:v>1</c:v>
                </c:pt>
                <c:pt idx="81">
                  <c:v>2</c:v>
                </c:pt>
                <c:pt idx="82">
                  <c:v>3</c:v>
                </c:pt>
                <c:pt idx="83">
                  <c:v>4</c:v>
                </c:pt>
                <c:pt idx="84">
                  <c:v>5</c:v>
                </c:pt>
                <c:pt idx="85">
                  <c:v>6</c:v>
                </c:pt>
                <c:pt idx="86">
                  <c:v>7</c:v>
                </c:pt>
                <c:pt idx="87">
                  <c:v>8</c:v>
                </c:pt>
                <c:pt idx="88">
                  <c:v>9</c:v>
                </c:pt>
                <c:pt idx="89">
                  <c:v>10</c:v>
                </c:pt>
                <c:pt idx="90">
                  <c:v>1</c:v>
                </c:pt>
                <c:pt idx="91">
                  <c:v>2</c:v>
                </c:pt>
                <c:pt idx="92">
                  <c:v>3</c:v>
                </c:pt>
                <c:pt idx="93">
                  <c:v>4</c:v>
                </c:pt>
                <c:pt idx="94">
                  <c:v>5</c:v>
                </c:pt>
                <c:pt idx="95">
                  <c:v>6</c:v>
                </c:pt>
                <c:pt idx="96">
                  <c:v>7</c:v>
                </c:pt>
                <c:pt idx="97">
                  <c:v>8</c:v>
                </c:pt>
                <c:pt idx="98">
                  <c:v>9</c:v>
                </c:pt>
                <c:pt idx="99">
                  <c:v>10</c:v>
                </c:pt>
              </c:numCache>
            </c:numRef>
          </c:xVal>
          <c:yVal>
            <c:numRef>
              <c:f>Sheet1!ts41E_AD9FA</c:f>
              <c:numCache>
                <c:formatCode>General</c:formatCode>
                <c:ptCount val="10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3</c:v>
                </c:pt>
                <c:pt idx="21">
                  <c:v>3</c:v>
                </c:pt>
                <c:pt idx="22">
                  <c:v>3</c:v>
                </c:pt>
                <c:pt idx="23">
                  <c:v>3</c:v>
                </c:pt>
                <c:pt idx="24">
                  <c:v>3</c:v>
                </c:pt>
                <c:pt idx="25">
                  <c:v>3</c:v>
                </c:pt>
                <c:pt idx="26">
                  <c:v>3</c:v>
                </c:pt>
                <c:pt idx="27">
                  <c:v>3</c:v>
                </c:pt>
                <c:pt idx="28">
                  <c:v>3</c:v>
                </c:pt>
                <c:pt idx="29">
                  <c:v>3</c:v>
                </c:pt>
                <c:pt idx="30">
                  <c:v>4</c:v>
                </c:pt>
                <c:pt idx="31">
                  <c:v>4</c:v>
                </c:pt>
                <c:pt idx="32">
                  <c:v>4</c:v>
                </c:pt>
                <c:pt idx="33">
                  <c:v>4</c:v>
                </c:pt>
                <c:pt idx="34">
                  <c:v>4</c:v>
                </c:pt>
                <c:pt idx="35">
                  <c:v>4</c:v>
                </c:pt>
                <c:pt idx="36">
                  <c:v>4</c:v>
                </c:pt>
                <c:pt idx="37">
                  <c:v>4</c:v>
                </c:pt>
                <c:pt idx="38">
                  <c:v>4</c:v>
                </c:pt>
                <c:pt idx="39">
                  <c:v>4</c:v>
                </c:pt>
                <c:pt idx="40">
                  <c:v>5</c:v>
                </c:pt>
                <c:pt idx="41">
                  <c:v>5</c:v>
                </c:pt>
                <c:pt idx="42">
                  <c:v>5</c:v>
                </c:pt>
                <c:pt idx="43">
                  <c:v>5</c:v>
                </c:pt>
                <c:pt idx="44">
                  <c:v>5</c:v>
                </c:pt>
                <c:pt idx="45">
                  <c:v>5</c:v>
                </c:pt>
                <c:pt idx="46">
                  <c:v>5</c:v>
                </c:pt>
                <c:pt idx="47">
                  <c:v>5</c:v>
                </c:pt>
                <c:pt idx="48">
                  <c:v>5</c:v>
                </c:pt>
                <c:pt idx="49">
                  <c:v>5</c:v>
                </c:pt>
                <c:pt idx="50">
                  <c:v>6</c:v>
                </c:pt>
                <c:pt idx="51">
                  <c:v>6</c:v>
                </c:pt>
                <c:pt idx="52">
                  <c:v>6</c:v>
                </c:pt>
                <c:pt idx="53">
                  <c:v>6</c:v>
                </c:pt>
                <c:pt idx="54">
                  <c:v>6</c:v>
                </c:pt>
                <c:pt idx="55">
                  <c:v>6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  <c:pt idx="65">
                  <c:v>#N/A</c:v>
                </c:pt>
                <c:pt idx="66">
                  <c:v>#N/A</c:v>
                </c:pt>
                <c:pt idx="67">
                  <c:v>#N/A</c:v>
                </c:pt>
                <c:pt idx="68">
                  <c:v>#N/A</c:v>
                </c:pt>
                <c:pt idx="69">
                  <c:v>#N/A</c:v>
                </c:pt>
                <c:pt idx="70">
                  <c:v>#N/A</c:v>
                </c:pt>
                <c:pt idx="71">
                  <c:v>#N/A</c:v>
                </c:pt>
                <c:pt idx="72">
                  <c:v>#N/A</c:v>
                </c:pt>
                <c:pt idx="73">
                  <c:v>#N/A</c:v>
                </c:pt>
                <c:pt idx="74">
                  <c:v>#N/A</c:v>
                </c:pt>
                <c:pt idx="75">
                  <c:v>#N/A</c:v>
                </c:pt>
                <c:pt idx="76">
                  <c:v>#N/A</c:v>
                </c:pt>
                <c:pt idx="77">
                  <c:v>#N/A</c:v>
                </c:pt>
                <c:pt idx="78">
                  <c:v>#N/A</c:v>
                </c:pt>
                <c:pt idx="79">
                  <c:v>#N/A</c:v>
                </c:pt>
                <c:pt idx="80">
                  <c:v>#N/A</c:v>
                </c:pt>
                <c:pt idx="81">
                  <c:v>#N/A</c:v>
                </c:pt>
                <c:pt idx="82">
                  <c:v>#N/A</c:v>
                </c:pt>
                <c:pt idx="83">
                  <c:v>#N/A</c:v>
                </c:pt>
                <c:pt idx="84">
                  <c:v>#N/A</c:v>
                </c:pt>
                <c:pt idx="85">
                  <c:v>#N/A</c:v>
                </c:pt>
                <c:pt idx="86">
                  <c:v>#N/A</c:v>
                </c:pt>
                <c:pt idx="87">
                  <c:v>#N/A</c:v>
                </c:pt>
                <c:pt idx="88">
                  <c:v>#N/A</c:v>
                </c:pt>
                <c:pt idx="89">
                  <c:v>#N/A</c:v>
                </c:pt>
                <c:pt idx="90">
                  <c:v>#N/A</c:v>
                </c:pt>
                <c:pt idx="91">
                  <c:v>#N/A</c:v>
                </c:pt>
                <c:pt idx="92">
                  <c:v>#N/A</c:v>
                </c:pt>
                <c:pt idx="93">
                  <c:v>#N/A</c:v>
                </c:pt>
                <c:pt idx="94">
                  <c:v>#N/A</c:v>
                </c:pt>
                <c:pt idx="95">
                  <c:v>#N/A</c:v>
                </c:pt>
                <c:pt idx="96">
                  <c:v>#N/A</c:v>
                </c:pt>
                <c:pt idx="97">
                  <c:v>#N/A</c:v>
                </c:pt>
                <c:pt idx="98">
                  <c:v>#N/A</c:v>
                </c:pt>
                <c:pt idx="99">
                  <c:v>#N/A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FEE-46AB-9FA7-53196F91E511}"/>
            </c:ext>
          </c:extLst>
        </c:ser>
        <c:ser>
          <c:idx val="1"/>
          <c:order val="1"/>
          <c:tx>
            <c:v>tusimpleBI</c:v>
          </c:tx>
          <c:spPr>
            <a:ln w="38100">
              <a:noFill/>
            </a:ln>
          </c:spPr>
          <c:marker>
            <c:symbol val="circle"/>
            <c:size val="12"/>
            <c:spPr>
              <a:solidFill>
                <a:srgbClr val="F0F0F0"/>
              </a:solidFill>
              <a:ln w="12700">
                <a:noFill/>
              </a:ln>
            </c:spPr>
          </c:marker>
          <c:xVal>
            <c:numRef>
              <c:f>Sheet1!ts41E_A3E32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</c:v>
                </c:pt>
                <c:pt idx="11">
                  <c:v>2</c:v>
                </c:pt>
                <c:pt idx="12">
                  <c:v>3</c:v>
                </c:pt>
                <c:pt idx="13">
                  <c:v>4</c:v>
                </c:pt>
                <c:pt idx="14">
                  <c:v>5</c:v>
                </c:pt>
                <c:pt idx="15">
                  <c:v>6</c:v>
                </c:pt>
                <c:pt idx="16">
                  <c:v>7</c:v>
                </c:pt>
                <c:pt idx="17">
                  <c:v>8</c:v>
                </c:pt>
                <c:pt idx="18">
                  <c:v>9</c:v>
                </c:pt>
                <c:pt idx="19">
                  <c:v>10</c:v>
                </c:pt>
                <c:pt idx="20">
                  <c:v>1</c:v>
                </c:pt>
                <c:pt idx="21">
                  <c:v>2</c:v>
                </c:pt>
                <c:pt idx="22">
                  <c:v>3</c:v>
                </c:pt>
                <c:pt idx="23">
                  <c:v>4</c:v>
                </c:pt>
                <c:pt idx="24">
                  <c:v>5</c:v>
                </c:pt>
                <c:pt idx="25">
                  <c:v>6</c:v>
                </c:pt>
                <c:pt idx="26">
                  <c:v>7</c:v>
                </c:pt>
                <c:pt idx="27">
                  <c:v>8</c:v>
                </c:pt>
                <c:pt idx="28">
                  <c:v>9</c:v>
                </c:pt>
                <c:pt idx="29">
                  <c:v>10</c:v>
                </c:pt>
                <c:pt idx="30">
                  <c:v>1</c:v>
                </c:pt>
                <c:pt idx="31">
                  <c:v>2</c:v>
                </c:pt>
                <c:pt idx="32">
                  <c:v>3</c:v>
                </c:pt>
                <c:pt idx="33">
                  <c:v>4</c:v>
                </c:pt>
                <c:pt idx="34">
                  <c:v>5</c:v>
                </c:pt>
                <c:pt idx="35">
                  <c:v>6</c:v>
                </c:pt>
                <c:pt idx="36">
                  <c:v>7</c:v>
                </c:pt>
                <c:pt idx="37">
                  <c:v>8</c:v>
                </c:pt>
                <c:pt idx="38">
                  <c:v>9</c:v>
                </c:pt>
                <c:pt idx="39">
                  <c:v>10</c:v>
                </c:pt>
                <c:pt idx="40">
                  <c:v>1</c:v>
                </c:pt>
                <c:pt idx="41">
                  <c:v>2</c:v>
                </c:pt>
                <c:pt idx="42">
                  <c:v>3</c:v>
                </c:pt>
                <c:pt idx="43">
                  <c:v>4</c:v>
                </c:pt>
                <c:pt idx="44">
                  <c:v>5</c:v>
                </c:pt>
                <c:pt idx="45">
                  <c:v>6</c:v>
                </c:pt>
                <c:pt idx="46">
                  <c:v>7</c:v>
                </c:pt>
                <c:pt idx="47">
                  <c:v>8</c:v>
                </c:pt>
                <c:pt idx="48">
                  <c:v>9</c:v>
                </c:pt>
                <c:pt idx="49">
                  <c:v>10</c:v>
                </c:pt>
                <c:pt idx="50">
                  <c:v>1</c:v>
                </c:pt>
                <c:pt idx="51">
                  <c:v>2</c:v>
                </c:pt>
                <c:pt idx="52">
                  <c:v>3</c:v>
                </c:pt>
                <c:pt idx="53">
                  <c:v>4</c:v>
                </c:pt>
                <c:pt idx="54">
                  <c:v>5</c:v>
                </c:pt>
                <c:pt idx="55">
                  <c:v>6</c:v>
                </c:pt>
                <c:pt idx="56">
                  <c:v>7</c:v>
                </c:pt>
                <c:pt idx="57">
                  <c:v>8</c:v>
                </c:pt>
                <c:pt idx="58">
                  <c:v>9</c:v>
                </c:pt>
                <c:pt idx="59">
                  <c:v>10</c:v>
                </c:pt>
                <c:pt idx="60">
                  <c:v>1</c:v>
                </c:pt>
                <c:pt idx="61">
                  <c:v>2</c:v>
                </c:pt>
                <c:pt idx="62">
                  <c:v>3</c:v>
                </c:pt>
                <c:pt idx="63">
                  <c:v>4</c:v>
                </c:pt>
                <c:pt idx="64">
                  <c:v>5</c:v>
                </c:pt>
                <c:pt idx="65">
                  <c:v>6</c:v>
                </c:pt>
                <c:pt idx="66">
                  <c:v>7</c:v>
                </c:pt>
                <c:pt idx="67">
                  <c:v>8</c:v>
                </c:pt>
                <c:pt idx="68">
                  <c:v>9</c:v>
                </c:pt>
                <c:pt idx="69">
                  <c:v>10</c:v>
                </c:pt>
                <c:pt idx="70">
                  <c:v>1</c:v>
                </c:pt>
                <c:pt idx="71">
                  <c:v>2</c:v>
                </c:pt>
                <c:pt idx="72">
                  <c:v>3</c:v>
                </c:pt>
                <c:pt idx="73">
                  <c:v>4</c:v>
                </c:pt>
                <c:pt idx="74">
                  <c:v>5</c:v>
                </c:pt>
                <c:pt idx="75">
                  <c:v>6</c:v>
                </c:pt>
                <c:pt idx="76">
                  <c:v>7</c:v>
                </c:pt>
                <c:pt idx="77">
                  <c:v>8</c:v>
                </c:pt>
                <c:pt idx="78">
                  <c:v>9</c:v>
                </c:pt>
                <c:pt idx="79">
                  <c:v>10</c:v>
                </c:pt>
                <c:pt idx="80">
                  <c:v>1</c:v>
                </c:pt>
                <c:pt idx="81">
                  <c:v>2</c:v>
                </c:pt>
                <c:pt idx="82">
                  <c:v>3</c:v>
                </c:pt>
                <c:pt idx="83">
                  <c:v>4</c:v>
                </c:pt>
                <c:pt idx="84">
                  <c:v>5</c:v>
                </c:pt>
                <c:pt idx="85">
                  <c:v>6</c:v>
                </c:pt>
                <c:pt idx="86">
                  <c:v>7</c:v>
                </c:pt>
                <c:pt idx="87">
                  <c:v>8</c:v>
                </c:pt>
                <c:pt idx="88">
                  <c:v>9</c:v>
                </c:pt>
                <c:pt idx="89">
                  <c:v>10</c:v>
                </c:pt>
                <c:pt idx="90">
                  <c:v>1</c:v>
                </c:pt>
                <c:pt idx="91">
                  <c:v>2</c:v>
                </c:pt>
                <c:pt idx="92">
                  <c:v>3</c:v>
                </c:pt>
                <c:pt idx="93">
                  <c:v>4</c:v>
                </c:pt>
                <c:pt idx="94">
                  <c:v>5</c:v>
                </c:pt>
                <c:pt idx="95">
                  <c:v>6</c:v>
                </c:pt>
                <c:pt idx="96">
                  <c:v>7</c:v>
                </c:pt>
                <c:pt idx="97">
                  <c:v>8</c:v>
                </c:pt>
                <c:pt idx="98">
                  <c:v>9</c:v>
                </c:pt>
                <c:pt idx="99">
                  <c:v>10</c:v>
                </c:pt>
              </c:numCache>
            </c:numRef>
          </c:xVal>
          <c:yVal>
            <c:numRef>
              <c:f>Sheet1!ts41E_7E9BB</c:f>
              <c:numCache>
                <c:formatCode>General</c:formatCode>
                <c:ptCount val="100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6</c:v>
                </c:pt>
                <c:pt idx="57">
                  <c:v>6</c:v>
                </c:pt>
                <c:pt idx="58">
                  <c:v>6</c:v>
                </c:pt>
                <c:pt idx="59">
                  <c:v>6</c:v>
                </c:pt>
                <c:pt idx="60">
                  <c:v>7</c:v>
                </c:pt>
                <c:pt idx="61">
                  <c:v>7</c:v>
                </c:pt>
                <c:pt idx="62">
                  <c:v>7</c:v>
                </c:pt>
                <c:pt idx="63">
                  <c:v>7</c:v>
                </c:pt>
                <c:pt idx="64">
                  <c:v>7</c:v>
                </c:pt>
                <c:pt idx="65">
                  <c:v>7</c:v>
                </c:pt>
                <c:pt idx="66">
                  <c:v>7</c:v>
                </c:pt>
                <c:pt idx="67">
                  <c:v>7</c:v>
                </c:pt>
                <c:pt idx="68">
                  <c:v>7</c:v>
                </c:pt>
                <c:pt idx="69">
                  <c:v>7</c:v>
                </c:pt>
                <c:pt idx="70">
                  <c:v>8</c:v>
                </c:pt>
                <c:pt idx="71">
                  <c:v>8</c:v>
                </c:pt>
                <c:pt idx="72">
                  <c:v>8</c:v>
                </c:pt>
                <c:pt idx="73">
                  <c:v>8</c:v>
                </c:pt>
                <c:pt idx="74">
                  <c:v>8</c:v>
                </c:pt>
                <c:pt idx="75">
                  <c:v>8</c:v>
                </c:pt>
                <c:pt idx="76">
                  <c:v>8</c:v>
                </c:pt>
                <c:pt idx="77">
                  <c:v>8</c:v>
                </c:pt>
                <c:pt idx="78">
                  <c:v>8</c:v>
                </c:pt>
                <c:pt idx="79">
                  <c:v>8</c:v>
                </c:pt>
                <c:pt idx="80">
                  <c:v>9</c:v>
                </c:pt>
                <c:pt idx="81">
                  <c:v>9</c:v>
                </c:pt>
                <c:pt idx="82">
                  <c:v>9</c:v>
                </c:pt>
                <c:pt idx="83">
                  <c:v>9</c:v>
                </c:pt>
                <c:pt idx="84">
                  <c:v>9</c:v>
                </c:pt>
                <c:pt idx="85">
                  <c:v>9</c:v>
                </c:pt>
                <c:pt idx="86">
                  <c:v>9</c:v>
                </c:pt>
                <c:pt idx="87">
                  <c:v>9</c:v>
                </c:pt>
                <c:pt idx="88">
                  <c:v>9</c:v>
                </c:pt>
                <c:pt idx="89">
                  <c:v>9</c:v>
                </c:pt>
                <c:pt idx="90">
                  <c:v>10</c:v>
                </c:pt>
                <c:pt idx="91">
                  <c:v>10</c:v>
                </c:pt>
                <c:pt idx="92">
                  <c:v>10</c:v>
                </c:pt>
                <c:pt idx="93">
                  <c:v>10</c:v>
                </c:pt>
                <c:pt idx="94">
                  <c:v>10</c:v>
                </c:pt>
                <c:pt idx="95">
                  <c:v>10</c:v>
                </c:pt>
                <c:pt idx="96">
                  <c:v>10</c:v>
                </c:pt>
                <c:pt idx="97">
                  <c:v>10</c:v>
                </c:pt>
                <c:pt idx="98">
                  <c:v>10</c:v>
                </c:pt>
                <c:pt idx="99">
                  <c:v>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DFEE-46AB-9FA7-53196F91E511}"/>
            </c:ext>
          </c:extLst>
        </c:ser>
        <c:ser>
          <c:idx val="2"/>
          <c:order val="2"/>
          <c:tx>
            <c:v>tusimpleBI</c:v>
          </c:tx>
          <c:spPr>
            <a:ln w="38100">
              <a:noFill/>
            </a:ln>
          </c:spPr>
          <c:marker>
            <c:symbol val="none"/>
          </c:marker>
          <c:dLbls>
            <c:dLbl>
              <c:idx val="0"/>
              <c:tx>
                <c:strRef>
                  <c:f>Sheet1!$D$4</c:f>
                  <c:strCache>
                    <c:ptCount val="1"/>
                    <c:pt idx="0">
                      <c:v>56</c:v>
                    </c:pt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{38FDB491-2373-2242-B310-4348CC1C2F07}</c15:txfldGUID>
                      <c15:f>Sheet1!$D$4</c15:f>
                      <c15:dlblFieldTableCache>
                        <c:ptCount val="1"/>
                        <c:pt idx="0">
                          <c:v>56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3-DFEE-46AB-9FA7-53196F91E51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none" lIns="38100" tIns="19050" rIns="38100" bIns="19050" anchor="ctr">
                <a:spAutoFit/>
              </a:bodyPr>
              <a:lstStyle/>
              <a:p>
                <a:pPr>
                  <a:defRPr sz="1000" b="1">
                    <a:noFill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xVal>
            <c:numRef>
              <c:f>Sheet1!ts41E_44C18</c:f>
              <c:numCache>
                <c:formatCode>General</c:formatCode>
                <c:ptCount val="1"/>
                <c:pt idx="0">
                  <c:v>5.5</c:v>
                </c:pt>
              </c:numCache>
            </c:numRef>
          </c:xVal>
          <c:yVal>
            <c:numRef>
              <c:f>Sheet1!ts41E_1DE77</c:f>
              <c:numCache>
                <c:formatCode>General</c:formatCode>
                <c:ptCount val="1"/>
                <c:pt idx="0">
                  <c:v>6.5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DFEE-46AB-9FA7-53196F91E5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34499119"/>
        <c:axId val="1434498159"/>
      </c:scatterChart>
      <c:valAx>
        <c:axId val="1434499119"/>
        <c:scaling>
          <c:orientation val="minMax"/>
          <c:max val="11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1434498159"/>
        <c:crosses val="autoZero"/>
        <c:crossBetween val="midCat"/>
      </c:valAx>
      <c:valAx>
        <c:axId val="1434498159"/>
        <c:scaling>
          <c:orientation val="minMax"/>
          <c:max val="11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434499119"/>
        <c:crosses val="autoZero"/>
        <c:crossBetween val="midCat"/>
      </c:valAx>
      <c:spPr>
        <a:ln w="25400">
          <a:noFill/>
        </a:ln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12700">
      <a:noFill/>
    </a:ln>
  </c:spPr>
  <c:externalData r:id="rId2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8.4694830478387245E-2"/>
          <c:y val="0.14151596363193392"/>
          <c:w val="0.81180173986832527"/>
          <c:h val="0.7707453442803136"/>
        </c:manualLayout>
      </c:layout>
      <c:pieChart>
        <c:varyColors val="1"/>
        <c:ser>
          <c:idx val="3"/>
          <c:order val="3"/>
          <c:tx>
            <c:v>tusimpleBI</c:v>
          </c:tx>
          <c:spPr>
            <a:noFill/>
            <a:ln w="38100"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F9ED5"/>
                  </a:solidFill>
                </a14:hiddenFill>
              </a:ext>
            </a:extLst>
          </c:spPr>
          <c:extLst>
            <c:ext xmlns:c16="http://schemas.microsoft.com/office/drawing/2014/chart" uri="{C3380CC4-5D6E-409C-BE32-E72D297353CC}">
              <c16:uniqueId val="{00000000-4DC5-4C3C-8146-DFAB96C5F0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catterChart>
        <c:scatterStyle val="lineMarker"/>
        <c:varyColors val="0"/>
        <c:ser>
          <c:idx val="0"/>
          <c:order val="0"/>
          <c:tx>
            <c:v>tusimpleBI</c:v>
          </c:tx>
          <c:spPr>
            <a:ln w="38100">
              <a:noFill/>
            </a:ln>
          </c:spPr>
          <c:marker>
            <c:symbol val="circle"/>
            <c:size val="12"/>
            <c:spPr>
              <a:solidFill>
                <a:srgbClr val="031B2C"/>
              </a:solidFill>
              <a:ln w="12700">
                <a:noFill/>
              </a:ln>
            </c:spPr>
          </c:marker>
          <c:xVal>
            <c:numRef>
              <c:f>Sheet1!ts41E_A3E32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</c:v>
                </c:pt>
                <c:pt idx="11">
                  <c:v>2</c:v>
                </c:pt>
                <c:pt idx="12">
                  <c:v>3</c:v>
                </c:pt>
                <c:pt idx="13">
                  <c:v>4</c:v>
                </c:pt>
                <c:pt idx="14">
                  <c:v>5</c:v>
                </c:pt>
                <c:pt idx="15">
                  <c:v>6</c:v>
                </c:pt>
                <c:pt idx="16">
                  <c:v>7</c:v>
                </c:pt>
                <c:pt idx="17">
                  <c:v>8</c:v>
                </c:pt>
                <c:pt idx="18">
                  <c:v>9</c:v>
                </c:pt>
                <c:pt idx="19">
                  <c:v>10</c:v>
                </c:pt>
                <c:pt idx="20">
                  <c:v>1</c:v>
                </c:pt>
                <c:pt idx="21">
                  <c:v>2</c:v>
                </c:pt>
                <c:pt idx="22">
                  <c:v>3</c:v>
                </c:pt>
                <c:pt idx="23">
                  <c:v>4</c:v>
                </c:pt>
                <c:pt idx="24">
                  <c:v>5</c:v>
                </c:pt>
                <c:pt idx="25">
                  <c:v>6</c:v>
                </c:pt>
                <c:pt idx="26">
                  <c:v>7</c:v>
                </c:pt>
                <c:pt idx="27">
                  <c:v>8</c:v>
                </c:pt>
                <c:pt idx="28">
                  <c:v>9</c:v>
                </c:pt>
                <c:pt idx="29">
                  <c:v>10</c:v>
                </c:pt>
                <c:pt idx="30">
                  <c:v>1</c:v>
                </c:pt>
                <c:pt idx="31">
                  <c:v>2</c:v>
                </c:pt>
                <c:pt idx="32">
                  <c:v>3</c:v>
                </c:pt>
                <c:pt idx="33">
                  <c:v>4</c:v>
                </c:pt>
                <c:pt idx="34">
                  <c:v>5</c:v>
                </c:pt>
                <c:pt idx="35">
                  <c:v>6</c:v>
                </c:pt>
                <c:pt idx="36">
                  <c:v>7</c:v>
                </c:pt>
                <c:pt idx="37">
                  <c:v>8</c:v>
                </c:pt>
                <c:pt idx="38">
                  <c:v>9</c:v>
                </c:pt>
                <c:pt idx="39">
                  <c:v>10</c:v>
                </c:pt>
                <c:pt idx="40">
                  <c:v>1</c:v>
                </c:pt>
                <c:pt idx="41">
                  <c:v>2</c:v>
                </c:pt>
                <c:pt idx="42">
                  <c:v>3</c:v>
                </c:pt>
                <c:pt idx="43">
                  <c:v>4</c:v>
                </c:pt>
                <c:pt idx="44">
                  <c:v>5</c:v>
                </c:pt>
                <c:pt idx="45">
                  <c:v>6</c:v>
                </c:pt>
                <c:pt idx="46">
                  <c:v>7</c:v>
                </c:pt>
                <c:pt idx="47">
                  <c:v>8</c:v>
                </c:pt>
                <c:pt idx="48">
                  <c:v>9</c:v>
                </c:pt>
                <c:pt idx="49">
                  <c:v>10</c:v>
                </c:pt>
                <c:pt idx="50">
                  <c:v>1</c:v>
                </c:pt>
                <c:pt idx="51">
                  <c:v>2</c:v>
                </c:pt>
                <c:pt idx="52">
                  <c:v>3</c:v>
                </c:pt>
                <c:pt idx="53">
                  <c:v>4</c:v>
                </c:pt>
                <c:pt idx="54">
                  <c:v>5</c:v>
                </c:pt>
                <c:pt idx="55">
                  <c:v>6</c:v>
                </c:pt>
                <c:pt idx="56">
                  <c:v>7</c:v>
                </c:pt>
                <c:pt idx="57">
                  <c:v>8</c:v>
                </c:pt>
                <c:pt idx="58">
                  <c:v>9</c:v>
                </c:pt>
                <c:pt idx="59">
                  <c:v>10</c:v>
                </c:pt>
                <c:pt idx="60">
                  <c:v>1</c:v>
                </c:pt>
                <c:pt idx="61">
                  <c:v>2</c:v>
                </c:pt>
                <c:pt idx="62">
                  <c:v>3</c:v>
                </c:pt>
                <c:pt idx="63">
                  <c:v>4</c:v>
                </c:pt>
                <c:pt idx="64">
                  <c:v>5</c:v>
                </c:pt>
                <c:pt idx="65">
                  <c:v>6</c:v>
                </c:pt>
                <c:pt idx="66">
                  <c:v>7</c:v>
                </c:pt>
                <c:pt idx="67">
                  <c:v>8</c:v>
                </c:pt>
                <c:pt idx="68">
                  <c:v>9</c:v>
                </c:pt>
                <c:pt idx="69">
                  <c:v>10</c:v>
                </c:pt>
                <c:pt idx="70">
                  <c:v>1</c:v>
                </c:pt>
                <c:pt idx="71">
                  <c:v>2</c:v>
                </c:pt>
                <c:pt idx="72">
                  <c:v>3</c:v>
                </c:pt>
                <c:pt idx="73">
                  <c:v>4</c:v>
                </c:pt>
                <c:pt idx="74">
                  <c:v>5</c:v>
                </c:pt>
                <c:pt idx="75">
                  <c:v>6</c:v>
                </c:pt>
                <c:pt idx="76">
                  <c:v>7</c:v>
                </c:pt>
                <c:pt idx="77">
                  <c:v>8</c:v>
                </c:pt>
                <c:pt idx="78">
                  <c:v>9</c:v>
                </c:pt>
                <c:pt idx="79">
                  <c:v>10</c:v>
                </c:pt>
                <c:pt idx="80">
                  <c:v>1</c:v>
                </c:pt>
                <c:pt idx="81">
                  <c:v>2</c:v>
                </c:pt>
                <c:pt idx="82">
                  <c:v>3</c:v>
                </c:pt>
                <c:pt idx="83">
                  <c:v>4</c:v>
                </c:pt>
                <c:pt idx="84">
                  <c:v>5</c:v>
                </c:pt>
                <c:pt idx="85">
                  <c:v>6</c:v>
                </c:pt>
                <c:pt idx="86">
                  <c:v>7</c:v>
                </c:pt>
                <c:pt idx="87">
                  <c:v>8</c:v>
                </c:pt>
                <c:pt idx="88">
                  <c:v>9</c:v>
                </c:pt>
                <c:pt idx="89">
                  <c:v>10</c:v>
                </c:pt>
                <c:pt idx="90">
                  <c:v>1</c:v>
                </c:pt>
                <c:pt idx="91">
                  <c:v>2</c:v>
                </c:pt>
                <c:pt idx="92">
                  <c:v>3</c:v>
                </c:pt>
                <c:pt idx="93">
                  <c:v>4</c:v>
                </c:pt>
                <c:pt idx="94">
                  <c:v>5</c:v>
                </c:pt>
                <c:pt idx="95">
                  <c:v>6</c:v>
                </c:pt>
                <c:pt idx="96">
                  <c:v>7</c:v>
                </c:pt>
                <c:pt idx="97">
                  <c:v>8</c:v>
                </c:pt>
                <c:pt idx="98">
                  <c:v>9</c:v>
                </c:pt>
                <c:pt idx="99">
                  <c:v>10</c:v>
                </c:pt>
              </c:numCache>
            </c:numRef>
          </c:xVal>
          <c:yVal>
            <c:numRef>
              <c:f>Sheet1!ts41E_AD9FA</c:f>
              <c:numCache>
                <c:formatCode>General</c:formatCode>
                <c:ptCount val="10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3</c:v>
                </c:pt>
                <c:pt idx="21">
                  <c:v>3</c:v>
                </c:pt>
                <c:pt idx="22">
                  <c:v>3</c:v>
                </c:pt>
                <c:pt idx="23">
                  <c:v>3</c:v>
                </c:pt>
                <c:pt idx="24">
                  <c:v>3</c:v>
                </c:pt>
                <c:pt idx="25">
                  <c:v>3</c:v>
                </c:pt>
                <c:pt idx="26">
                  <c:v>3</c:v>
                </c:pt>
                <c:pt idx="27">
                  <c:v>3</c:v>
                </c:pt>
                <c:pt idx="28">
                  <c:v>3</c:v>
                </c:pt>
                <c:pt idx="29">
                  <c:v>3</c:v>
                </c:pt>
                <c:pt idx="30">
                  <c:v>4</c:v>
                </c:pt>
                <c:pt idx="31">
                  <c:v>4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  <c:pt idx="65">
                  <c:v>#N/A</c:v>
                </c:pt>
                <c:pt idx="66">
                  <c:v>#N/A</c:v>
                </c:pt>
                <c:pt idx="67">
                  <c:v>#N/A</c:v>
                </c:pt>
                <c:pt idx="68">
                  <c:v>#N/A</c:v>
                </c:pt>
                <c:pt idx="69">
                  <c:v>#N/A</c:v>
                </c:pt>
                <c:pt idx="70">
                  <c:v>#N/A</c:v>
                </c:pt>
                <c:pt idx="71">
                  <c:v>#N/A</c:v>
                </c:pt>
                <c:pt idx="72">
                  <c:v>#N/A</c:v>
                </c:pt>
                <c:pt idx="73">
                  <c:v>#N/A</c:v>
                </c:pt>
                <c:pt idx="74">
                  <c:v>#N/A</c:v>
                </c:pt>
                <c:pt idx="75">
                  <c:v>#N/A</c:v>
                </c:pt>
                <c:pt idx="76">
                  <c:v>#N/A</c:v>
                </c:pt>
                <c:pt idx="77">
                  <c:v>#N/A</c:v>
                </c:pt>
                <c:pt idx="78">
                  <c:v>#N/A</c:v>
                </c:pt>
                <c:pt idx="79">
                  <c:v>#N/A</c:v>
                </c:pt>
                <c:pt idx="80">
                  <c:v>#N/A</c:v>
                </c:pt>
                <c:pt idx="81">
                  <c:v>#N/A</c:v>
                </c:pt>
                <c:pt idx="82">
                  <c:v>#N/A</c:v>
                </c:pt>
                <c:pt idx="83">
                  <c:v>#N/A</c:v>
                </c:pt>
                <c:pt idx="84">
                  <c:v>#N/A</c:v>
                </c:pt>
                <c:pt idx="85">
                  <c:v>#N/A</c:v>
                </c:pt>
                <c:pt idx="86">
                  <c:v>#N/A</c:v>
                </c:pt>
                <c:pt idx="87">
                  <c:v>#N/A</c:v>
                </c:pt>
                <c:pt idx="88">
                  <c:v>#N/A</c:v>
                </c:pt>
                <c:pt idx="89">
                  <c:v>#N/A</c:v>
                </c:pt>
                <c:pt idx="90">
                  <c:v>#N/A</c:v>
                </c:pt>
                <c:pt idx="91">
                  <c:v>#N/A</c:v>
                </c:pt>
                <c:pt idx="92">
                  <c:v>#N/A</c:v>
                </c:pt>
                <c:pt idx="93">
                  <c:v>#N/A</c:v>
                </c:pt>
                <c:pt idx="94">
                  <c:v>#N/A</c:v>
                </c:pt>
                <c:pt idx="95">
                  <c:v>#N/A</c:v>
                </c:pt>
                <c:pt idx="96">
                  <c:v>#N/A</c:v>
                </c:pt>
                <c:pt idx="97">
                  <c:v>#N/A</c:v>
                </c:pt>
                <c:pt idx="98">
                  <c:v>#N/A</c:v>
                </c:pt>
                <c:pt idx="99">
                  <c:v>#N/A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DC5-4C3C-8146-DFAB96C5F06F}"/>
            </c:ext>
          </c:extLst>
        </c:ser>
        <c:ser>
          <c:idx val="1"/>
          <c:order val="1"/>
          <c:tx>
            <c:v>tusimpleBI</c:v>
          </c:tx>
          <c:spPr>
            <a:ln w="38100">
              <a:noFill/>
            </a:ln>
          </c:spPr>
          <c:marker>
            <c:symbol val="circle"/>
            <c:size val="12"/>
            <c:spPr>
              <a:solidFill>
                <a:srgbClr val="F0F0F0"/>
              </a:solidFill>
              <a:ln w="12700">
                <a:noFill/>
              </a:ln>
            </c:spPr>
          </c:marker>
          <c:xVal>
            <c:numRef>
              <c:f>Sheet1!ts41E_A3E32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</c:v>
                </c:pt>
                <c:pt idx="11">
                  <c:v>2</c:v>
                </c:pt>
                <c:pt idx="12">
                  <c:v>3</c:v>
                </c:pt>
                <c:pt idx="13">
                  <c:v>4</c:v>
                </c:pt>
                <c:pt idx="14">
                  <c:v>5</c:v>
                </c:pt>
                <c:pt idx="15">
                  <c:v>6</c:v>
                </c:pt>
                <c:pt idx="16">
                  <c:v>7</c:v>
                </c:pt>
                <c:pt idx="17">
                  <c:v>8</c:v>
                </c:pt>
                <c:pt idx="18">
                  <c:v>9</c:v>
                </c:pt>
                <c:pt idx="19">
                  <c:v>10</c:v>
                </c:pt>
                <c:pt idx="20">
                  <c:v>1</c:v>
                </c:pt>
                <c:pt idx="21">
                  <c:v>2</c:v>
                </c:pt>
                <c:pt idx="22">
                  <c:v>3</c:v>
                </c:pt>
                <c:pt idx="23">
                  <c:v>4</c:v>
                </c:pt>
                <c:pt idx="24">
                  <c:v>5</c:v>
                </c:pt>
                <c:pt idx="25">
                  <c:v>6</c:v>
                </c:pt>
                <c:pt idx="26">
                  <c:v>7</c:v>
                </c:pt>
                <c:pt idx="27">
                  <c:v>8</c:v>
                </c:pt>
                <c:pt idx="28">
                  <c:v>9</c:v>
                </c:pt>
                <c:pt idx="29">
                  <c:v>10</c:v>
                </c:pt>
                <c:pt idx="30">
                  <c:v>1</c:v>
                </c:pt>
                <c:pt idx="31">
                  <c:v>2</c:v>
                </c:pt>
                <c:pt idx="32">
                  <c:v>3</c:v>
                </c:pt>
                <c:pt idx="33">
                  <c:v>4</c:v>
                </c:pt>
                <c:pt idx="34">
                  <c:v>5</c:v>
                </c:pt>
                <c:pt idx="35">
                  <c:v>6</c:v>
                </c:pt>
                <c:pt idx="36">
                  <c:v>7</c:v>
                </c:pt>
                <c:pt idx="37">
                  <c:v>8</c:v>
                </c:pt>
                <c:pt idx="38">
                  <c:v>9</c:v>
                </c:pt>
                <c:pt idx="39">
                  <c:v>10</c:v>
                </c:pt>
                <c:pt idx="40">
                  <c:v>1</c:v>
                </c:pt>
                <c:pt idx="41">
                  <c:v>2</c:v>
                </c:pt>
                <c:pt idx="42">
                  <c:v>3</c:v>
                </c:pt>
                <c:pt idx="43">
                  <c:v>4</c:v>
                </c:pt>
                <c:pt idx="44">
                  <c:v>5</c:v>
                </c:pt>
                <c:pt idx="45">
                  <c:v>6</c:v>
                </c:pt>
                <c:pt idx="46">
                  <c:v>7</c:v>
                </c:pt>
                <c:pt idx="47">
                  <c:v>8</c:v>
                </c:pt>
                <c:pt idx="48">
                  <c:v>9</c:v>
                </c:pt>
                <c:pt idx="49">
                  <c:v>10</c:v>
                </c:pt>
                <c:pt idx="50">
                  <c:v>1</c:v>
                </c:pt>
                <c:pt idx="51">
                  <c:v>2</c:v>
                </c:pt>
                <c:pt idx="52">
                  <c:v>3</c:v>
                </c:pt>
                <c:pt idx="53">
                  <c:v>4</c:v>
                </c:pt>
                <c:pt idx="54">
                  <c:v>5</c:v>
                </c:pt>
                <c:pt idx="55">
                  <c:v>6</c:v>
                </c:pt>
                <c:pt idx="56">
                  <c:v>7</c:v>
                </c:pt>
                <c:pt idx="57">
                  <c:v>8</c:v>
                </c:pt>
                <c:pt idx="58">
                  <c:v>9</c:v>
                </c:pt>
                <c:pt idx="59">
                  <c:v>10</c:v>
                </c:pt>
                <c:pt idx="60">
                  <c:v>1</c:v>
                </c:pt>
                <c:pt idx="61">
                  <c:v>2</c:v>
                </c:pt>
                <c:pt idx="62">
                  <c:v>3</c:v>
                </c:pt>
                <c:pt idx="63">
                  <c:v>4</c:v>
                </c:pt>
                <c:pt idx="64">
                  <c:v>5</c:v>
                </c:pt>
                <c:pt idx="65">
                  <c:v>6</c:v>
                </c:pt>
                <c:pt idx="66">
                  <c:v>7</c:v>
                </c:pt>
                <c:pt idx="67">
                  <c:v>8</c:v>
                </c:pt>
                <c:pt idx="68">
                  <c:v>9</c:v>
                </c:pt>
                <c:pt idx="69">
                  <c:v>10</c:v>
                </c:pt>
                <c:pt idx="70">
                  <c:v>1</c:v>
                </c:pt>
                <c:pt idx="71">
                  <c:v>2</c:v>
                </c:pt>
                <c:pt idx="72">
                  <c:v>3</c:v>
                </c:pt>
                <c:pt idx="73">
                  <c:v>4</c:v>
                </c:pt>
                <c:pt idx="74">
                  <c:v>5</c:v>
                </c:pt>
                <c:pt idx="75">
                  <c:v>6</c:v>
                </c:pt>
                <c:pt idx="76">
                  <c:v>7</c:v>
                </c:pt>
                <c:pt idx="77">
                  <c:v>8</c:v>
                </c:pt>
                <c:pt idx="78">
                  <c:v>9</c:v>
                </c:pt>
                <c:pt idx="79">
                  <c:v>10</c:v>
                </c:pt>
                <c:pt idx="80">
                  <c:v>1</c:v>
                </c:pt>
                <c:pt idx="81">
                  <c:v>2</c:v>
                </c:pt>
                <c:pt idx="82">
                  <c:v>3</c:v>
                </c:pt>
                <c:pt idx="83">
                  <c:v>4</c:v>
                </c:pt>
                <c:pt idx="84">
                  <c:v>5</c:v>
                </c:pt>
                <c:pt idx="85">
                  <c:v>6</c:v>
                </c:pt>
                <c:pt idx="86">
                  <c:v>7</c:v>
                </c:pt>
                <c:pt idx="87">
                  <c:v>8</c:v>
                </c:pt>
                <c:pt idx="88">
                  <c:v>9</c:v>
                </c:pt>
                <c:pt idx="89">
                  <c:v>10</c:v>
                </c:pt>
                <c:pt idx="90">
                  <c:v>1</c:v>
                </c:pt>
                <c:pt idx="91">
                  <c:v>2</c:v>
                </c:pt>
                <c:pt idx="92">
                  <c:v>3</c:v>
                </c:pt>
                <c:pt idx="93">
                  <c:v>4</c:v>
                </c:pt>
                <c:pt idx="94">
                  <c:v>5</c:v>
                </c:pt>
                <c:pt idx="95">
                  <c:v>6</c:v>
                </c:pt>
                <c:pt idx="96">
                  <c:v>7</c:v>
                </c:pt>
                <c:pt idx="97">
                  <c:v>8</c:v>
                </c:pt>
                <c:pt idx="98">
                  <c:v>9</c:v>
                </c:pt>
                <c:pt idx="99">
                  <c:v>10</c:v>
                </c:pt>
              </c:numCache>
            </c:numRef>
          </c:xVal>
          <c:yVal>
            <c:numRef>
              <c:f>Sheet1!ts41E_7E9BB</c:f>
              <c:numCache>
                <c:formatCode>General</c:formatCode>
                <c:ptCount val="100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4</c:v>
                </c:pt>
                <c:pt idx="33">
                  <c:v>4</c:v>
                </c:pt>
                <c:pt idx="34">
                  <c:v>4</c:v>
                </c:pt>
                <c:pt idx="35">
                  <c:v>4</c:v>
                </c:pt>
                <c:pt idx="36">
                  <c:v>4</c:v>
                </c:pt>
                <c:pt idx="37">
                  <c:v>4</c:v>
                </c:pt>
                <c:pt idx="38">
                  <c:v>4</c:v>
                </c:pt>
                <c:pt idx="39">
                  <c:v>4</c:v>
                </c:pt>
                <c:pt idx="40">
                  <c:v>5</c:v>
                </c:pt>
                <c:pt idx="41">
                  <c:v>5</c:v>
                </c:pt>
                <c:pt idx="42">
                  <c:v>5</c:v>
                </c:pt>
                <c:pt idx="43">
                  <c:v>5</c:v>
                </c:pt>
                <c:pt idx="44">
                  <c:v>5</c:v>
                </c:pt>
                <c:pt idx="45">
                  <c:v>5</c:v>
                </c:pt>
                <c:pt idx="46">
                  <c:v>5</c:v>
                </c:pt>
                <c:pt idx="47">
                  <c:v>5</c:v>
                </c:pt>
                <c:pt idx="48">
                  <c:v>5</c:v>
                </c:pt>
                <c:pt idx="49">
                  <c:v>5</c:v>
                </c:pt>
                <c:pt idx="50">
                  <c:v>6</c:v>
                </c:pt>
                <c:pt idx="51">
                  <c:v>6</c:v>
                </c:pt>
                <c:pt idx="52">
                  <c:v>6</c:v>
                </c:pt>
                <c:pt idx="53">
                  <c:v>6</c:v>
                </c:pt>
                <c:pt idx="54">
                  <c:v>6</c:v>
                </c:pt>
                <c:pt idx="55">
                  <c:v>6</c:v>
                </c:pt>
                <c:pt idx="56">
                  <c:v>6</c:v>
                </c:pt>
                <c:pt idx="57">
                  <c:v>6</c:v>
                </c:pt>
                <c:pt idx="58">
                  <c:v>6</c:v>
                </c:pt>
                <c:pt idx="59">
                  <c:v>6</c:v>
                </c:pt>
                <c:pt idx="60">
                  <c:v>7</c:v>
                </c:pt>
                <c:pt idx="61">
                  <c:v>7</c:v>
                </c:pt>
                <c:pt idx="62">
                  <c:v>7</c:v>
                </c:pt>
                <c:pt idx="63">
                  <c:v>7</c:v>
                </c:pt>
                <c:pt idx="64">
                  <c:v>7</c:v>
                </c:pt>
                <c:pt idx="65">
                  <c:v>7</c:v>
                </c:pt>
                <c:pt idx="66">
                  <c:v>7</c:v>
                </c:pt>
                <c:pt idx="67">
                  <c:v>7</c:v>
                </c:pt>
                <c:pt idx="68">
                  <c:v>7</c:v>
                </c:pt>
                <c:pt idx="69">
                  <c:v>7</c:v>
                </c:pt>
                <c:pt idx="70">
                  <c:v>8</c:v>
                </c:pt>
                <c:pt idx="71">
                  <c:v>8</c:v>
                </c:pt>
                <c:pt idx="72">
                  <c:v>8</c:v>
                </c:pt>
                <c:pt idx="73">
                  <c:v>8</c:v>
                </c:pt>
                <c:pt idx="74">
                  <c:v>8</c:v>
                </c:pt>
                <c:pt idx="75">
                  <c:v>8</c:v>
                </c:pt>
                <c:pt idx="76">
                  <c:v>8</c:v>
                </c:pt>
                <c:pt idx="77">
                  <c:v>8</c:v>
                </c:pt>
                <c:pt idx="78">
                  <c:v>8</c:v>
                </c:pt>
                <c:pt idx="79">
                  <c:v>8</c:v>
                </c:pt>
                <c:pt idx="80">
                  <c:v>9</c:v>
                </c:pt>
                <c:pt idx="81">
                  <c:v>9</c:v>
                </c:pt>
                <c:pt idx="82">
                  <c:v>9</c:v>
                </c:pt>
                <c:pt idx="83">
                  <c:v>9</c:v>
                </c:pt>
                <c:pt idx="84">
                  <c:v>9</c:v>
                </c:pt>
                <c:pt idx="85">
                  <c:v>9</c:v>
                </c:pt>
                <c:pt idx="86">
                  <c:v>9</c:v>
                </c:pt>
                <c:pt idx="87">
                  <c:v>9</c:v>
                </c:pt>
                <c:pt idx="88">
                  <c:v>9</c:v>
                </c:pt>
                <c:pt idx="89">
                  <c:v>9</c:v>
                </c:pt>
                <c:pt idx="90">
                  <c:v>10</c:v>
                </c:pt>
                <c:pt idx="91">
                  <c:v>10</c:v>
                </c:pt>
                <c:pt idx="92">
                  <c:v>10</c:v>
                </c:pt>
                <c:pt idx="93">
                  <c:v>10</c:v>
                </c:pt>
                <c:pt idx="94">
                  <c:v>10</c:v>
                </c:pt>
                <c:pt idx="95">
                  <c:v>10</c:v>
                </c:pt>
                <c:pt idx="96">
                  <c:v>10</c:v>
                </c:pt>
                <c:pt idx="97">
                  <c:v>10</c:v>
                </c:pt>
                <c:pt idx="98">
                  <c:v>10</c:v>
                </c:pt>
                <c:pt idx="99">
                  <c:v>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DC5-4C3C-8146-DFAB96C5F06F}"/>
            </c:ext>
          </c:extLst>
        </c:ser>
        <c:ser>
          <c:idx val="2"/>
          <c:order val="2"/>
          <c:tx>
            <c:v>tusimpleBI</c:v>
          </c:tx>
          <c:spPr>
            <a:ln w="38100">
              <a:noFill/>
            </a:ln>
          </c:spPr>
          <c:marker>
            <c:symbol val="none"/>
          </c:marker>
          <c:dLbls>
            <c:dLbl>
              <c:idx val="0"/>
              <c:tx>
                <c:strRef>
                  <c:f>Sheet1!$D$4</c:f>
                  <c:strCache>
                    <c:ptCount val="1"/>
                    <c:pt idx="0">
                      <c:v>32</c:v>
                    </c:pt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{C8C2E953-84BA-7E47-91A0-8967C016E607}</c15:txfldGUID>
                      <c15:f>Sheet1!$D$4</c15:f>
                      <c15:dlblFieldTableCache>
                        <c:ptCount val="1"/>
                        <c:pt idx="0">
                          <c:v>32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3-4DC5-4C3C-8146-DFAB96C5F06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none" lIns="38100" tIns="19050" rIns="38100" bIns="19050" anchor="ctr">
                <a:spAutoFit/>
              </a:bodyPr>
              <a:lstStyle/>
              <a:p>
                <a:pPr>
                  <a:defRPr sz="1000" b="1">
                    <a:noFill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xVal>
            <c:numRef>
              <c:f>Sheet1!ts41E_44C18</c:f>
              <c:numCache>
                <c:formatCode>General</c:formatCode>
                <c:ptCount val="1"/>
                <c:pt idx="0">
                  <c:v>5.5</c:v>
                </c:pt>
              </c:numCache>
            </c:numRef>
          </c:xVal>
          <c:yVal>
            <c:numRef>
              <c:f>Sheet1!ts41E_1DE77</c:f>
              <c:numCache>
                <c:formatCode>General</c:formatCode>
                <c:ptCount val="1"/>
                <c:pt idx="0">
                  <c:v>4.5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4DC5-4C3C-8146-DFAB96C5F0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34499119"/>
        <c:axId val="1434498159"/>
      </c:scatterChart>
      <c:valAx>
        <c:axId val="1434499119"/>
        <c:scaling>
          <c:orientation val="minMax"/>
          <c:max val="11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1434498159"/>
        <c:crosses val="autoZero"/>
        <c:crossBetween val="midCat"/>
      </c:valAx>
      <c:valAx>
        <c:axId val="1434498159"/>
        <c:scaling>
          <c:orientation val="minMax"/>
          <c:max val="11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434499119"/>
        <c:crosses val="autoZero"/>
        <c:crossBetween val="midCat"/>
      </c:valAx>
      <c:spPr>
        <a:ln w="25400">
          <a:noFill/>
        </a:ln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12700">
      <a:noFill/>
    </a:ln>
  </c:spPr>
  <c:externalData r:id="rId2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8.4694830478387245E-2"/>
          <c:y val="0.14151596363193392"/>
          <c:w val="0.81180173986832527"/>
          <c:h val="0.7707453442803136"/>
        </c:manualLayout>
      </c:layout>
      <c:pieChart>
        <c:varyColors val="1"/>
        <c:ser>
          <c:idx val="3"/>
          <c:order val="3"/>
          <c:tx>
            <c:v>tusimpleBI</c:v>
          </c:tx>
          <c:spPr>
            <a:noFill/>
            <a:ln w="38100"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F9ED5"/>
                  </a:solidFill>
                </a14:hiddenFill>
              </a:ext>
            </a:extLst>
          </c:spPr>
          <c:extLst>
            <c:ext xmlns:c16="http://schemas.microsoft.com/office/drawing/2014/chart" uri="{C3380CC4-5D6E-409C-BE32-E72D297353CC}">
              <c16:uniqueId val="{00000000-C44A-49A8-B77D-EE5DC02875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catterChart>
        <c:scatterStyle val="lineMarker"/>
        <c:varyColors val="0"/>
        <c:ser>
          <c:idx val="0"/>
          <c:order val="0"/>
          <c:tx>
            <c:v>tusimpleBI</c:v>
          </c:tx>
          <c:spPr>
            <a:ln w="38100">
              <a:noFill/>
            </a:ln>
          </c:spPr>
          <c:marker>
            <c:symbol val="circle"/>
            <c:size val="12"/>
            <c:spPr>
              <a:solidFill>
                <a:srgbClr val="031B2C"/>
              </a:solidFill>
              <a:ln w="12700">
                <a:noFill/>
              </a:ln>
            </c:spPr>
          </c:marker>
          <c:xVal>
            <c:numRef>
              <c:f>Sheet1!ts41E_A3E32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</c:v>
                </c:pt>
                <c:pt idx="11">
                  <c:v>2</c:v>
                </c:pt>
                <c:pt idx="12">
                  <c:v>3</c:v>
                </c:pt>
                <c:pt idx="13">
                  <c:v>4</c:v>
                </c:pt>
                <c:pt idx="14">
                  <c:v>5</c:v>
                </c:pt>
                <c:pt idx="15">
                  <c:v>6</c:v>
                </c:pt>
                <c:pt idx="16">
                  <c:v>7</c:v>
                </c:pt>
                <c:pt idx="17">
                  <c:v>8</c:v>
                </c:pt>
                <c:pt idx="18">
                  <c:v>9</c:v>
                </c:pt>
                <c:pt idx="19">
                  <c:v>10</c:v>
                </c:pt>
                <c:pt idx="20">
                  <c:v>1</c:v>
                </c:pt>
                <c:pt idx="21">
                  <c:v>2</c:v>
                </c:pt>
                <c:pt idx="22">
                  <c:v>3</c:v>
                </c:pt>
                <c:pt idx="23">
                  <c:v>4</c:v>
                </c:pt>
                <c:pt idx="24">
                  <c:v>5</c:v>
                </c:pt>
                <c:pt idx="25">
                  <c:v>6</c:v>
                </c:pt>
                <c:pt idx="26">
                  <c:v>7</c:v>
                </c:pt>
                <c:pt idx="27">
                  <c:v>8</c:v>
                </c:pt>
                <c:pt idx="28">
                  <c:v>9</c:v>
                </c:pt>
                <c:pt idx="29">
                  <c:v>10</c:v>
                </c:pt>
                <c:pt idx="30">
                  <c:v>1</c:v>
                </c:pt>
                <c:pt idx="31">
                  <c:v>2</c:v>
                </c:pt>
                <c:pt idx="32">
                  <c:v>3</c:v>
                </c:pt>
                <c:pt idx="33">
                  <c:v>4</c:v>
                </c:pt>
                <c:pt idx="34">
                  <c:v>5</c:v>
                </c:pt>
                <c:pt idx="35">
                  <c:v>6</c:v>
                </c:pt>
                <c:pt idx="36">
                  <c:v>7</c:v>
                </c:pt>
                <c:pt idx="37">
                  <c:v>8</c:v>
                </c:pt>
                <c:pt idx="38">
                  <c:v>9</c:v>
                </c:pt>
                <c:pt idx="39">
                  <c:v>10</c:v>
                </c:pt>
                <c:pt idx="40">
                  <c:v>1</c:v>
                </c:pt>
                <c:pt idx="41">
                  <c:v>2</c:v>
                </c:pt>
                <c:pt idx="42">
                  <c:v>3</c:v>
                </c:pt>
                <c:pt idx="43">
                  <c:v>4</c:v>
                </c:pt>
                <c:pt idx="44">
                  <c:v>5</c:v>
                </c:pt>
                <c:pt idx="45">
                  <c:v>6</c:v>
                </c:pt>
                <c:pt idx="46">
                  <c:v>7</c:v>
                </c:pt>
                <c:pt idx="47">
                  <c:v>8</c:v>
                </c:pt>
                <c:pt idx="48">
                  <c:v>9</c:v>
                </c:pt>
                <c:pt idx="49">
                  <c:v>10</c:v>
                </c:pt>
                <c:pt idx="50">
                  <c:v>1</c:v>
                </c:pt>
                <c:pt idx="51">
                  <c:v>2</c:v>
                </c:pt>
                <c:pt idx="52">
                  <c:v>3</c:v>
                </c:pt>
                <c:pt idx="53">
                  <c:v>4</c:v>
                </c:pt>
                <c:pt idx="54">
                  <c:v>5</c:v>
                </c:pt>
                <c:pt idx="55">
                  <c:v>6</c:v>
                </c:pt>
                <c:pt idx="56">
                  <c:v>7</c:v>
                </c:pt>
                <c:pt idx="57">
                  <c:v>8</c:v>
                </c:pt>
                <c:pt idx="58">
                  <c:v>9</c:v>
                </c:pt>
                <c:pt idx="59">
                  <c:v>10</c:v>
                </c:pt>
                <c:pt idx="60">
                  <c:v>1</c:v>
                </c:pt>
                <c:pt idx="61">
                  <c:v>2</c:v>
                </c:pt>
                <c:pt idx="62">
                  <c:v>3</c:v>
                </c:pt>
                <c:pt idx="63">
                  <c:v>4</c:v>
                </c:pt>
                <c:pt idx="64">
                  <c:v>5</c:v>
                </c:pt>
                <c:pt idx="65">
                  <c:v>6</c:v>
                </c:pt>
                <c:pt idx="66">
                  <c:v>7</c:v>
                </c:pt>
                <c:pt idx="67">
                  <c:v>8</c:v>
                </c:pt>
                <c:pt idx="68">
                  <c:v>9</c:v>
                </c:pt>
                <c:pt idx="69">
                  <c:v>10</c:v>
                </c:pt>
                <c:pt idx="70">
                  <c:v>1</c:v>
                </c:pt>
                <c:pt idx="71">
                  <c:v>2</c:v>
                </c:pt>
                <c:pt idx="72">
                  <c:v>3</c:v>
                </c:pt>
                <c:pt idx="73">
                  <c:v>4</c:v>
                </c:pt>
                <c:pt idx="74">
                  <c:v>5</c:v>
                </c:pt>
                <c:pt idx="75">
                  <c:v>6</c:v>
                </c:pt>
                <c:pt idx="76">
                  <c:v>7</c:v>
                </c:pt>
                <c:pt idx="77">
                  <c:v>8</c:v>
                </c:pt>
                <c:pt idx="78">
                  <c:v>9</c:v>
                </c:pt>
                <c:pt idx="79">
                  <c:v>10</c:v>
                </c:pt>
                <c:pt idx="80">
                  <c:v>1</c:v>
                </c:pt>
                <c:pt idx="81">
                  <c:v>2</c:v>
                </c:pt>
                <c:pt idx="82">
                  <c:v>3</c:v>
                </c:pt>
                <c:pt idx="83">
                  <c:v>4</c:v>
                </c:pt>
                <c:pt idx="84">
                  <c:v>5</c:v>
                </c:pt>
                <c:pt idx="85">
                  <c:v>6</c:v>
                </c:pt>
                <c:pt idx="86">
                  <c:v>7</c:v>
                </c:pt>
                <c:pt idx="87">
                  <c:v>8</c:v>
                </c:pt>
                <c:pt idx="88">
                  <c:v>9</c:v>
                </c:pt>
                <c:pt idx="89">
                  <c:v>10</c:v>
                </c:pt>
                <c:pt idx="90">
                  <c:v>1</c:v>
                </c:pt>
                <c:pt idx="91">
                  <c:v>2</c:v>
                </c:pt>
                <c:pt idx="92">
                  <c:v>3</c:v>
                </c:pt>
                <c:pt idx="93">
                  <c:v>4</c:v>
                </c:pt>
                <c:pt idx="94">
                  <c:v>5</c:v>
                </c:pt>
                <c:pt idx="95">
                  <c:v>6</c:v>
                </c:pt>
                <c:pt idx="96">
                  <c:v>7</c:v>
                </c:pt>
                <c:pt idx="97">
                  <c:v>8</c:v>
                </c:pt>
                <c:pt idx="98">
                  <c:v>9</c:v>
                </c:pt>
                <c:pt idx="99">
                  <c:v>10</c:v>
                </c:pt>
              </c:numCache>
            </c:numRef>
          </c:xVal>
          <c:yVal>
            <c:numRef>
              <c:f>Sheet1!ts41E_AD9FA</c:f>
              <c:numCache>
                <c:formatCode>General</c:formatCode>
                <c:ptCount val="10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3</c:v>
                </c:pt>
                <c:pt idx="21">
                  <c:v>3</c:v>
                </c:pt>
                <c:pt idx="22">
                  <c:v>3</c:v>
                </c:pt>
                <c:pt idx="23">
                  <c:v>3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  <c:pt idx="65">
                  <c:v>#N/A</c:v>
                </c:pt>
                <c:pt idx="66">
                  <c:v>#N/A</c:v>
                </c:pt>
                <c:pt idx="67">
                  <c:v>#N/A</c:v>
                </c:pt>
                <c:pt idx="68">
                  <c:v>#N/A</c:v>
                </c:pt>
                <c:pt idx="69">
                  <c:v>#N/A</c:v>
                </c:pt>
                <c:pt idx="70">
                  <c:v>#N/A</c:v>
                </c:pt>
                <c:pt idx="71">
                  <c:v>#N/A</c:v>
                </c:pt>
                <c:pt idx="72">
                  <c:v>#N/A</c:v>
                </c:pt>
                <c:pt idx="73">
                  <c:v>#N/A</c:v>
                </c:pt>
                <c:pt idx="74">
                  <c:v>#N/A</c:v>
                </c:pt>
                <c:pt idx="75">
                  <c:v>#N/A</c:v>
                </c:pt>
                <c:pt idx="76">
                  <c:v>#N/A</c:v>
                </c:pt>
                <c:pt idx="77">
                  <c:v>#N/A</c:v>
                </c:pt>
                <c:pt idx="78">
                  <c:v>#N/A</c:v>
                </c:pt>
                <c:pt idx="79">
                  <c:v>#N/A</c:v>
                </c:pt>
                <c:pt idx="80">
                  <c:v>#N/A</c:v>
                </c:pt>
                <c:pt idx="81">
                  <c:v>#N/A</c:v>
                </c:pt>
                <c:pt idx="82">
                  <c:v>#N/A</c:v>
                </c:pt>
                <c:pt idx="83">
                  <c:v>#N/A</c:v>
                </c:pt>
                <c:pt idx="84">
                  <c:v>#N/A</c:v>
                </c:pt>
                <c:pt idx="85">
                  <c:v>#N/A</c:v>
                </c:pt>
                <c:pt idx="86">
                  <c:v>#N/A</c:v>
                </c:pt>
                <c:pt idx="87">
                  <c:v>#N/A</c:v>
                </c:pt>
                <c:pt idx="88">
                  <c:v>#N/A</c:v>
                </c:pt>
                <c:pt idx="89">
                  <c:v>#N/A</c:v>
                </c:pt>
                <c:pt idx="90">
                  <c:v>#N/A</c:v>
                </c:pt>
                <c:pt idx="91">
                  <c:v>#N/A</c:v>
                </c:pt>
                <c:pt idx="92">
                  <c:v>#N/A</c:v>
                </c:pt>
                <c:pt idx="93">
                  <c:v>#N/A</c:v>
                </c:pt>
                <c:pt idx="94">
                  <c:v>#N/A</c:v>
                </c:pt>
                <c:pt idx="95">
                  <c:v>#N/A</c:v>
                </c:pt>
                <c:pt idx="96">
                  <c:v>#N/A</c:v>
                </c:pt>
                <c:pt idx="97">
                  <c:v>#N/A</c:v>
                </c:pt>
                <c:pt idx="98">
                  <c:v>#N/A</c:v>
                </c:pt>
                <c:pt idx="99">
                  <c:v>#N/A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C44A-49A8-B77D-EE5DC0287521}"/>
            </c:ext>
          </c:extLst>
        </c:ser>
        <c:ser>
          <c:idx val="1"/>
          <c:order val="1"/>
          <c:tx>
            <c:v>tusimpleBI</c:v>
          </c:tx>
          <c:spPr>
            <a:ln w="38100">
              <a:noFill/>
            </a:ln>
          </c:spPr>
          <c:marker>
            <c:symbol val="circle"/>
            <c:size val="12"/>
            <c:spPr>
              <a:solidFill>
                <a:srgbClr val="F0F0F0"/>
              </a:solidFill>
              <a:ln w="12700">
                <a:noFill/>
              </a:ln>
            </c:spPr>
          </c:marker>
          <c:xVal>
            <c:numRef>
              <c:f>Sheet1!ts41E_A3E32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</c:v>
                </c:pt>
                <c:pt idx="11">
                  <c:v>2</c:v>
                </c:pt>
                <c:pt idx="12">
                  <c:v>3</c:v>
                </c:pt>
                <c:pt idx="13">
                  <c:v>4</c:v>
                </c:pt>
                <c:pt idx="14">
                  <c:v>5</c:v>
                </c:pt>
                <c:pt idx="15">
                  <c:v>6</c:v>
                </c:pt>
                <c:pt idx="16">
                  <c:v>7</c:v>
                </c:pt>
                <c:pt idx="17">
                  <c:v>8</c:v>
                </c:pt>
                <c:pt idx="18">
                  <c:v>9</c:v>
                </c:pt>
                <c:pt idx="19">
                  <c:v>10</c:v>
                </c:pt>
                <c:pt idx="20">
                  <c:v>1</c:v>
                </c:pt>
                <c:pt idx="21">
                  <c:v>2</c:v>
                </c:pt>
                <c:pt idx="22">
                  <c:v>3</c:v>
                </c:pt>
                <c:pt idx="23">
                  <c:v>4</c:v>
                </c:pt>
                <c:pt idx="24">
                  <c:v>5</c:v>
                </c:pt>
                <c:pt idx="25">
                  <c:v>6</c:v>
                </c:pt>
                <c:pt idx="26">
                  <c:v>7</c:v>
                </c:pt>
                <c:pt idx="27">
                  <c:v>8</c:v>
                </c:pt>
                <c:pt idx="28">
                  <c:v>9</c:v>
                </c:pt>
                <c:pt idx="29">
                  <c:v>10</c:v>
                </c:pt>
                <c:pt idx="30">
                  <c:v>1</c:v>
                </c:pt>
                <c:pt idx="31">
                  <c:v>2</c:v>
                </c:pt>
                <c:pt idx="32">
                  <c:v>3</c:v>
                </c:pt>
                <c:pt idx="33">
                  <c:v>4</c:v>
                </c:pt>
                <c:pt idx="34">
                  <c:v>5</c:v>
                </c:pt>
                <c:pt idx="35">
                  <c:v>6</c:v>
                </c:pt>
                <c:pt idx="36">
                  <c:v>7</c:v>
                </c:pt>
                <c:pt idx="37">
                  <c:v>8</c:v>
                </c:pt>
                <c:pt idx="38">
                  <c:v>9</c:v>
                </c:pt>
                <c:pt idx="39">
                  <c:v>10</c:v>
                </c:pt>
                <c:pt idx="40">
                  <c:v>1</c:v>
                </c:pt>
                <c:pt idx="41">
                  <c:v>2</c:v>
                </c:pt>
                <c:pt idx="42">
                  <c:v>3</c:v>
                </c:pt>
                <c:pt idx="43">
                  <c:v>4</c:v>
                </c:pt>
                <c:pt idx="44">
                  <c:v>5</c:v>
                </c:pt>
                <c:pt idx="45">
                  <c:v>6</c:v>
                </c:pt>
                <c:pt idx="46">
                  <c:v>7</c:v>
                </c:pt>
                <c:pt idx="47">
                  <c:v>8</c:v>
                </c:pt>
                <c:pt idx="48">
                  <c:v>9</c:v>
                </c:pt>
                <c:pt idx="49">
                  <c:v>10</c:v>
                </c:pt>
                <c:pt idx="50">
                  <c:v>1</c:v>
                </c:pt>
                <c:pt idx="51">
                  <c:v>2</c:v>
                </c:pt>
                <c:pt idx="52">
                  <c:v>3</c:v>
                </c:pt>
                <c:pt idx="53">
                  <c:v>4</c:v>
                </c:pt>
                <c:pt idx="54">
                  <c:v>5</c:v>
                </c:pt>
                <c:pt idx="55">
                  <c:v>6</c:v>
                </c:pt>
                <c:pt idx="56">
                  <c:v>7</c:v>
                </c:pt>
                <c:pt idx="57">
                  <c:v>8</c:v>
                </c:pt>
                <c:pt idx="58">
                  <c:v>9</c:v>
                </c:pt>
                <c:pt idx="59">
                  <c:v>10</c:v>
                </c:pt>
                <c:pt idx="60">
                  <c:v>1</c:v>
                </c:pt>
                <c:pt idx="61">
                  <c:v>2</c:v>
                </c:pt>
                <c:pt idx="62">
                  <c:v>3</c:v>
                </c:pt>
                <c:pt idx="63">
                  <c:v>4</c:v>
                </c:pt>
                <c:pt idx="64">
                  <c:v>5</c:v>
                </c:pt>
                <c:pt idx="65">
                  <c:v>6</c:v>
                </c:pt>
                <c:pt idx="66">
                  <c:v>7</c:v>
                </c:pt>
                <c:pt idx="67">
                  <c:v>8</c:v>
                </c:pt>
                <c:pt idx="68">
                  <c:v>9</c:v>
                </c:pt>
                <c:pt idx="69">
                  <c:v>10</c:v>
                </c:pt>
                <c:pt idx="70">
                  <c:v>1</c:v>
                </c:pt>
                <c:pt idx="71">
                  <c:v>2</c:v>
                </c:pt>
                <c:pt idx="72">
                  <c:v>3</c:v>
                </c:pt>
                <c:pt idx="73">
                  <c:v>4</c:v>
                </c:pt>
                <c:pt idx="74">
                  <c:v>5</c:v>
                </c:pt>
                <c:pt idx="75">
                  <c:v>6</c:v>
                </c:pt>
                <c:pt idx="76">
                  <c:v>7</c:v>
                </c:pt>
                <c:pt idx="77">
                  <c:v>8</c:v>
                </c:pt>
                <c:pt idx="78">
                  <c:v>9</c:v>
                </c:pt>
                <c:pt idx="79">
                  <c:v>10</c:v>
                </c:pt>
                <c:pt idx="80">
                  <c:v>1</c:v>
                </c:pt>
                <c:pt idx="81">
                  <c:v>2</c:v>
                </c:pt>
                <c:pt idx="82">
                  <c:v>3</c:v>
                </c:pt>
                <c:pt idx="83">
                  <c:v>4</c:v>
                </c:pt>
                <c:pt idx="84">
                  <c:v>5</c:v>
                </c:pt>
                <c:pt idx="85">
                  <c:v>6</c:v>
                </c:pt>
                <c:pt idx="86">
                  <c:v>7</c:v>
                </c:pt>
                <c:pt idx="87">
                  <c:v>8</c:v>
                </c:pt>
                <c:pt idx="88">
                  <c:v>9</c:v>
                </c:pt>
                <c:pt idx="89">
                  <c:v>10</c:v>
                </c:pt>
                <c:pt idx="90">
                  <c:v>1</c:v>
                </c:pt>
                <c:pt idx="91">
                  <c:v>2</c:v>
                </c:pt>
                <c:pt idx="92">
                  <c:v>3</c:v>
                </c:pt>
                <c:pt idx="93">
                  <c:v>4</c:v>
                </c:pt>
                <c:pt idx="94">
                  <c:v>5</c:v>
                </c:pt>
                <c:pt idx="95">
                  <c:v>6</c:v>
                </c:pt>
                <c:pt idx="96">
                  <c:v>7</c:v>
                </c:pt>
                <c:pt idx="97">
                  <c:v>8</c:v>
                </c:pt>
                <c:pt idx="98">
                  <c:v>9</c:v>
                </c:pt>
                <c:pt idx="99">
                  <c:v>10</c:v>
                </c:pt>
              </c:numCache>
            </c:numRef>
          </c:xVal>
          <c:yVal>
            <c:numRef>
              <c:f>Sheet1!ts41E_7E9BB</c:f>
              <c:numCache>
                <c:formatCode>General</c:formatCode>
                <c:ptCount val="100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3</c:v>
                </c:pt>
                <c:pt idx="25">
                  <c:v>3</c:v>
                </c:pt>
                <c:pt idx="26">
                  <c:v>3</c:v>
                </c:pt>
                <c:pt idx="27">
                  <c:v>3</c:v>
                </c:pt>
                <c:pt idx="28">
                  <c:v>3</c:v>
                </c:pt>
                <c:pt idx="29">
                  <c:v>3</c:v>
                </c:pt>
                <c:pt idx="30">
                  <c:v>4</c:v>
                </c:pt>
                <c:pt idx="31">
                  <c:v>4</c:v>
                </c:pt>
                <c:pt idx="32">
                  <c:v>4</c:v>
                </c:pt>
                <c:pt idx="33">
                  <c:v>4</c:v>
                </c:pt>
                <c:pt idx="34">
                  <c:v>4</c:v>
                </c:pt>
                <c:pt idx="35">
                  <c:v>4</c:v>
                </c:pt>
                <c:pt idx="36">
                  <c:v>4</c:v>
                </c:pt>
                <c:pt idx="37">
                  <c:v>4</c:v>
                </c:pt>
                <c:pt idx="38">
                  <c:v>4</c:v>
                </c:pt>
                <c:pt idx="39">
                  <c:v>4</c:v>
                </c:pt>
                <c:pt idx="40">
                  <c:v>5</c:v>
                </c:pt>
                <c:pt idx="41">
                  <c:v>5</c:v>
                </c:pt>
                <c:pt idx="42">
                  <c:v>5</c:v>
                </c:pt>
                <c:pt idx="43">
                  <c:v>5</c:v>
                </c:pt>
                <c:pt idx="44">
                  <c:v>5</c:v>
                </c:pt>
                <c:pt idx="45">
                  <c:v>5</c:v>
                </c:pt>
                <c:pt idx="46">
                  <c:v>5</c:v>
                </c:pt>
                <c:pt idx="47">
                  <c:v>5</c:v>
                </c:pt>
                <c:pt idx="48">
                  <c:v>5</c:v>
                </c:pt>
                <c:pt idx="49">
                  <c:v>5</c:v>
                </c:pt>
                <c:pt idx="50">
                  <c:v>6</c:v>
                </c:pt>
                <c:pt idx="51">
                  <c:v>6</c:v>
                </c:pt>
                <c:pt idx="52">
                  <c:v>6</c:v>
                </c:pt>
                <c:pt idx="53">
                  <c:v>6</c:v>
                </c:pt>
                <c:pt idx="54">
                  <c:v>6</c:v>
                </c:pt>
                <c:pt idx="55">
                  <c:v>6</c:v>
                </c:pt>
                <c:pt idx="56">
                  <c:v>6</c:v>
                </c:pt>
                <c:pt idx="57">
                  <c:v>6</c:v>
                </c:pt>
                <c:pt idx="58">
                  <c:v>6</c:v>
                </c:pt>
                <c:pt idx="59">
                  <c:v>6</c:v>
                </c:pt>
                <c:pt idx="60">
                  <c:v>7</c:v>
                </c:pt>
                <c:pt idx="61">
                  <c:v>7</c:v>
                </c:pt>
                <c:pt idx="62">
                  <c:v>7</c:v>
                </c:pt>
                <c:pt idx="63">
                  <c:v>7</c:v>
                </c:pt>
                <c:pt idx="64">
                  <c:v>7</c:v>
                </c:pt>
                <c:pt idx="65">
                  <c:v>7</c:v>
                </c:pt>
                <c:pt idx="66">
                  <c:v>7</c:v>
                </c:pt>
                <c:pt idx="67">
                  <c:v>7</c:v>
                </c:pt>
                <c:pt idx="68">
                  <c:v>7</c:v>
                </c:pt>
                <c:pt idx="69">
                  <c:v>7</c:v>
                </c:pt>
                <c:pt idx="70">
                  <c:v>8</c:v>
                </c:pt>
                <c:pt idx="71">
                  <c:v>8</c:v>
                </c:pt>
                <c:pt idx="72">
                  <c:v>8</c:v>
                </c:pt>
                <c:pt idx="73">
                  <c:v>8</c:v>
                </c:pt>
                <c:pt idx="74">
                  <c:v>8</c:v>
                </c:pt>
                <c:pt idx="75">
                  <c:v>8</c:v>
                </c:pt>
                <c:pt idx="76">
                  <c:v>8</c:v>
                </c:pt>
                <c:pt idx="77">
                  <c:v>8</c:v>
                </c:pt>
                <c:pt idx="78">
                  <c:v>8</c:v>
                </c:pt>
                <c:pt idx="79">
                  <c:v>8</c:v>
                </c:pt>
                <c:pt idx="80">
                  <c:v>9</c:v>
                </c:pt>
                <c:pt idx="81">
                  <c:v>9</c:v>
                </c:pt>
                <c:pt idx="82">
                  <c:v>9</c:v>
                </c:pt>
                <c:pt idx="83">
                  <c:v>9</c:v>
                </c:pt>
                <c:pt idx="84">
                  <c:v>9</c:v>
                </c:pt>
                <c:pt idx="85">
                  <c:v>9</c:v>
                </c:pt>
                <c:pt idx="86">
                  <c:v>9</c:v>
                </c:pt>
                <c:pt idx="87">
                  <c:v>9</c:v>
                </c:pt>
                <c:pt idx="88">
                  <c:v>9</c:v>
                </c:pt>
                <c:pt idx="89">
                  <c:v>9</c:v>
                </c:pt>
                <c:pt idx="90">
                  <c:v>10</c:v>
                </c:pt>
                <c:pt idx="91">
                  <c:v>10</c:v>
                </c:pt>
                <c:pt idx="92">
                  <c:v>10</c:v>
                </c:pt>
                <c:pt idx="93">
                  <c:v>10</c:v>
                </c:pt>
                <c:pt idx="94">
                  <c:v>10</c:v>
                </c:pt>
                <c:pt idx="95">
                  <c:v>10</c:v>
                </c:pt>
                <c:pt idx="96">
                  <c:v>10</c:v>
                </c:pt>
                <c:pt idx="97">
                  <c:v>10</c:v>
                </c:pt>
                <c:pt idx="98">
                  <c:v>10</c:v>
                </c:pt>
                <c:pt idx="99">
                  <c:v>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C44A-49A8-B77D-EE5DC0287521}"/>
            </c:ext>
          </c:extLst>
        </c:ser>
        <c:ser>
          <c:idx val="2"/>
          <c:order val="2"/>
          <c:tx>
            <c:v>tusimpleBI</c:v>
          </c:tx>
          <c:spPr>
            <a:ln w="38100">
              <a:noFill/>
            </a:ln>
          </c:spPr>
          <c:marker>
            <c:symbol val="none"/>
          </c:marker>
          <c:dLbls>
            <c:dLbl>
              <c:idx val="0"/>
              <c:tx>
                <c:strRef>
                  <c:f>Sheet1!$D$4</c:f>
                  <c:strCache>
                    <c:ptCount val="1"/>
                    <c:pt idx="0">
                      <c:v>24</c:v>
                    </c:pt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{F3071EEB-494B-F241-8421-23554110B36E}</c15:txfldGUID>
                      <c15:f>Sheet1!$D$4</c15:f>
                      <c15:dlblFieldTableCache>
                        <c:ptCount val="1"/>
                        <c:pt idx="0">
                          <c:v>24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3-C44A-49A8-B77D-EE5DC028752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none" lIns="38100" tIns="19050" rIns="38100" bIns="19050" anchor="ctr">
                <a:spAutoFit/>
              </a:bodyPr>
              <a:lstStyle/>
              <a:p>
                <a:pPr>
                  <a:defRPr sz="1000" b="1">
                    <a:noFill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xVal>
            <c:numRef>
              <c:f>Sheet1!ts41E_44C18</c:f>
              <c:numCache>
                <c:formatCode>General</c:formatCode>
                <c:ptCount val="1"/>
                <c:pt idx="0">
                  <c:v>5.5</c:v>
                </c:pt>
              </c:numCache>
            </c:numRef>
          </c:xVal>
          <c:yVal>
            <c:numRef>
              <c:f>Sheet1!ts41E_1DE77</c:f>
              <c:numCache>
                <c:formatCode>General</c:formatCode>
                <c:ptCount val="1"/>
                <c:pt idx="0">
                  <c:v>3.5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C44A-49A8-B77D-EE5DC02875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34499119"/>
        <c:axId val="1434498159"/>
      </c:scatterChart>
      <c:valAx>
        <c:axId val="1434499119"/>
        <c:scaling>
          <c:orientation val="minMax"/>
          <c:max val="11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1434498159"/>
        <c:crosses val="autoZero"/>
        <c:crossBetween val="midCat"/>
      </c:valAx>
      <c:valAx>
        <c:axId val="1434498159"/>
        <c:scaling>
          <c:orientation val="minMax"/>
          <c:max val="11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434499119"/>
        <c:crosses val="autoZero"/>
        <c:crossBetween val="midCat"/>
      </c:valAx>
      <c:spPr>
        <a:ln w="25400">
          <a:noFill/>
        </a:ln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12700">
      <a:noFill/>
    </a:ln>
  </c:spPr>
  <c:externalData r:id="rId2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8.4694830478387245E-2"/>
          <c:y val="0.14151596363193392"/>
          <c:w val="0.81180173986832527"/>
          <c:h val="0.7707453442803136"/>
        </c:manualLayout>
      </c:layout>
      <c:pieChart>
        <c:varyColors val="1"/>
        <c:ser>
          <c:idx val="3"/>
          <c:order val="3"/>
          <c:tx>
            <c:v>tusimpleBI</c:v>
          </c:tx>
          <c:spPr>
            <a:noFill/>
            <a:ln w="38100"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F9ED5"/>
                  </a:solidFill>
                </a14:hiddenFill>
              </a:ext>
            </a:extLst>
          </c:spPr>
          <c:extLst>
            <c:ext xmlns:c16="http://schemas.microsoft.com/office/drawing/2014/chart" uri="{C3380CC4-5D6E-409C-BE32-E72D297353CC}">
              <c16:uniqueId val="{00000000-CAA7-42C1-A5C5-DED389B6AE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catterChart>
        <c:scatterStyle val="lineMarker"/>
        <c:varyColors val="0"/>
        <c:ser>
          <c:idx val="0"/>
          <c:order val="0"/>
          <c:tx>
            <c:v>tusimpleBI</c:v>
          </c:tx>
          <c:spPr>
            <a:ln w="38100">
              <a:noFill/>
            </a:ln>
          </c:spPr>
          <c:marker>
            <c:symbol val="circle"/>
            <c:size val="12"/>
            <c:spPr>
              <a:solidFill>
                <a:srgbClr val="031B2C"/>
              </a:solidFill>
              <a:ln w="12700">
                <a:noFill/>
              </a:ln>
            </c:spPr>
          </c:marker>
          <c:xVal>
            <c:numRef>
              <c:f>Sheet1!ts41E_A3E32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</c:v>
                </c:pt>
                <c:pt idx="11">
                  <c:v>2</c:v>
                </c:pt>
                <c:pt idx="12">
                  <c:v>3</c:v>
                </c:pt>
                <c:pt idx="13">
                  <c:v>4</c:v>
                </c:pt>
                <c:pt idx="14">
                  <c:v>5</c:v>
                </c:pt>
                <c:pt idx="15">
                  <c:v>6</c:v>
                </c:pt>
                <c:pt idx="16">
                  <c:v>7</c:v>
                </c:pt>
                <c:pt idx="17">
                  <c:v>8</c:v>
                </c:pt>
                <c:pt idx="18">
                  <c:v>9</c:v>
                </c:pt>
                <c:pt idx="19">
                  <c:v>10</c:v>
                </c:pt>
                <c:pt idx="20">
                  <c:v>1</c:v>
                </c:pt>
                <c:pt idx="21">
                  <c:v>2</c:v>
                </c:pt>
                <c:pt idx="22">
                  <c:v>3</c:v>
                </c:pt>
                <c:pt idx="23">
                  <c:v>4</c:v>
                </c:pt>
                <c:pt idx="24">
                  <c:v>5</c:v>
                </c:pt>
                <c:pt idx="25">
                  <c:v>6</c:v>
                </c:pt>
                <c:pt idx="26">
                  <c:v>7</c:v>
                </c:pt>
                <c:pt idx="27">
                  <c:v>8</c:v>
                </c:pt>
                <c:pt idx="28">
                  <c:v>9</c:v>
                </c:pt>
                <c:pt idx="29">
                  <c:v>10</c:v>
                </c:pt>
                <c:pt idx="30">
                  <c:v>1</c:v>
                </c:pt>
                <c:pt idx="31">
                  <c:v>2</c:v>
                </c:pt>
                <c:pt idx="32">
                  <c:v>3</c:v>
                </c:pt>
                <c:pt idx="33">
                  <c:v>4</c:v>
                </c:pt>
                <c:pt idx="34">
                  <c:v>5</c:v>
                </c:pt>
                <c:pt idx="35">
                  <c:v>6</c:v>
                </c:pt>
                <c:pt idx="36">
                  <c:v>7</c:v>
                </c:pt>
                <c:pt idx="37">
                  <c:v>8</c:v>
                </c:pt>
                <c:pt idx="38">
                  <c:v>9</c:v>
                </c:pt>
                <c:pt idx="39">
                  <c:v>10</c:v>
                </c:pt>
                <c:pt idx="40">
                  <c:v>1</c:v>
                </c:pt>
                <c:pt idx="41">
                  <c:v>2</c:v>
                </c:pt>
                <c:pt idx="42">
                  <c:v>3</c:v>
                </c:pt>
                <c:pt idx="43">
                  <c:v>4</c:v>
                </c:pt>
                <c:pt idx="44">
                  <c:v>5</c:v>
                </c:pt>
                <c:pt idx="45">
                  <c:v>6</c:v>
                </c:pt>
                <c:pt idx="46">
                  <c:v>7</c:v>
                </c:pt>
                <c:pt idx="47">
                  <c:v>8</c:v>
                </c:pt>
                <c:pt idx="48">
                  <c:v>9</c:v>
                </c:pt>
                <c:pt idx="49">
                  <c:v>10</c:v>
                </c:pt>
                <c:pt idx="50">
                  <c:v>1</c:v>
                </c:pt>
                <c:pt idx="51">
                  <c:v>2</c:v>
                </c:pt>
                <c:pt idx="52">
                  <c:v>3</c:v>
                </c:pt>
                <c:pt idx="53">
                  <c:v>4</c:v>
                </c:pt>
                <c:pt idx="54">
                  <c:v>5</c:v>
                </c:pt>
                <c:pt idx="55">
                  <c:v>6</c:v>
                </c:pt>
                <c:pt idx="56">
                  <c:v>7</c:v>
                </c:pt>
                <c:pt idx="57">
                  <c:v>8</c:v>
                </c:pt>
                <c:pt idx="58">
                  <c:v>9</c:v>
                </c:pt>
                <c:pt idx="59">
                  <c:v>10</c:v>
                </c:pt>
                <c:pt idx="60">
                  <c:v>1</c:v>
                </c:pt>
                <c:pt idx="61">
                  <c:v>2</c:v>
                </c:pt>
                <c:pt idx="62">
                  <c:v>3</c:v>
                </c:pt>
                <c:pt idx="63">
                  <c:v>4</c:v>
                </c:pt>
                <c:pt idx="64">
                  <c:v>5</c:v>
                </c:pt>
                <c:pt idx="65">
                  <c:v>6</c:v>
                </c:pt>
                <c:pt idx="66">
                  <c:v>7</c:v>
                </c:pt>
                <c:pt idx="67">
                  <c:v>8</c:v>
                </c:pt>
                <c:pt idx="68">
                  <c:v>9</c:v>
                </c:pt>
                <c:pt idx="69">
                  <c:v>10</c:v>
                </c:pt>
                <c:pt idx="70">
                  <c:v>1</c:v>
                </c:pt>
                <c:pt idx="71">
                  <c:v>2</c:v>
                </c:pt>
                <c:pt idx="72">
                  <c:v>3</c:v>
                </c:pt>
                <c:pt idx="73">
                  <c:v>4</c:v>
                </c:pt>
                <c:pt idx="74">
                  <c:v>5</c:v>
                </c:pt>
                <c:pt idx="75">
                  <c:v>6</c:v>
                </c:pt>
                <c:pt idx="76">
                  <c:v>7</c:v>
                </c:pt>
                <c:pt idx="77">
                  <c:v>8</c:v>
                </c:pt>
                <c:pt idx="78">
                  <c:v>9</c:v>
                </c:pt>
                <c:pt idx="79">
                  <c:v>10</c:v>
                </c:pt>
                <c:pt idx="80">
                  <c:v>1</c:v>
                </c:pt>
                <c:pt idx="81">
                  <c:v>2</c:v>
                </c:pt>
                <c:pt idx="82">
                  <c:v>3</c:v>
                </c:pt>
                <c:pt idx="83">
                  <c:v>4</c:v>
                </c:pt>
                <c:pt idx="84">
                  <c:v>5</c:v>
                </c:pt>
                <c:pt idx="85">
                  <c:v>6</c:v>
                </c:pt>
                <c:pt idx="86">
                  <c:v>7</c:v>
                </c:pt>
                <c:pt idx="87">
                  <c:v>8</c:v>
                </c:pt>
                <c:pt idx="88">
                  <c:v>9</c:v>
                </c:pt>
                <c:pt idx="89">
                  <c:v>10</c:v>
                </c:pt>
                <c:pt idx="90">
                  <c:v>1</c:v>
                </c:pt>
                <c:pt idx="91">
                  <c:v>2</c:v>
                </c:pt>
                <c:pt idx="92">
                  <c:v>3</c:v>
                </c:pt>
                <c:pt idx="93">
                  <c:v>4</c:v>
                </c:pt>
                <c:pt idx="94">
                  <c:v>5</c:v>
                </c:pt>
                <c:pt idx="95">
                  <c:v>6</c:v>
                </c:pt>
                <c:pt idx="96">
                  <c:v>7</c:v>
                </c:pt>
                <c:pt idx="97">
                  <c:v>8</c:v>
                </c:pt>
                <c:pt idx="98">
                  <c:v>9</c:v>
                </c:pt>
                <c:pt idx="99">
                  <c:v>10</c:v>
                </c:pt>
              </c:numCache>
            </c:numRef>
          </c:xVal>
          <c:yVal>
            <c:numRef>
              <c:f>Sheet1!ts41E_AD9FA</c:f>
              <c:numCache>
                <c:formatCode>General</c:formatCode>
                <c:ptCount val="10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3</c:v>
                </c:pt>
                <c:pt idx="21">
                  <c:v>3</c:v>
                </c:pt>
                <c:pt idx="22">
                  <c:v>3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  <c:pt idx="65">
                  <c:v>#N/A</c:v>
                </c:pt>
                <c:pt idx="66">
                  <c:v>#N/A</c:v>
                </c:pt>
                <c:pt idx="67">
                  <c:v>#N/A</c:v>
                </c:pt>
                <c:pt idx="68">
                  <c:v>#N/A</c:v>
                </c:pt>
                <c:pt idx="69">
                  <c:v>#N/A</c:v>
                </c:pt>
                <c:pt idx="70">
                  <c:v>#N/A</c:v>
                </c:pt>
                <c:pt idx="71">
                  <c:v>#N/A</c:v>
                </c:pt>
                <c:pt idx="72">
                  <c:v>#N/A</c:v>
                </c:pt>
                <c:pt idx="73">
                  <c:v>#N/A</c:v>
                </c:pt>
                <c:pt idx="74">
                  <c:v>#N/A</c:v>
                </c:pt>
                <c:pt idx="75">
                  <c:v>#N/A</c:v>
                </c:pt>
                <c:pt idx="76">
                  <c:v>#N/A</c:v>
                </c:pt>
                <c:pt idx="77">
                  <c:v>#N/A</c:v>
                </c:pt>
                <c:pt idx="78">
                  <c:v>#N/A</c:v>
                </c:pt>
                <c:pt idx="79">
                  <c:v>#N/A</c:v>
                </c:pt>
                <c:pt idx="80">
                  <c:v>#N/A</c:v>
                </c:pt>
                <c:pt idx="81">
                  <c:v>#N/A</c:v>
                </c:pt>
                <c:pt idx="82">
                  <c:v>#N/A</c:v>
                </c:pt>
                <c:pt idx="83">
                  <c:v>#N/A</c:v>
                </c:pt>
                <c:pt idx="84">
                  <c:v>#N/A</c:v>
                </c:pt>
                <c:pt idx="85">
                  <c:v>#N/A</c:v>
                </c:pt>
                <c:pt idx="86">
                  <c:v>#N/A</c:v>
                </c:pt>
                <c:pt idx="87">
                  <c:v>#N/A</c:v>
                </c:pt>
                <c:pt idx="88">
                  <c:v>#N/A</c:v>
                </c:pt>
                <c:pt idx="89">
                  <c:v>#N/A</c:v>
                </c:pt>
                <c:pt idx="90">
                  <c:v>#N/A</c:v>
                </c:pt>
                <c:pt idx="91">
                  <c:v>#N/A</c:v>
                </c:pt>
                <c:pt idx="92">
                  <c:v>#N/A</c:v>
                </c:pt>
                <c:pt idx="93">
                  <c:v>#N/A</c:v>
                </c:pt>
                <c:pt idx="94">
                  <c:v>#N/A</c:v>
                </c:pt>
                <c:pt idx="95">
                  <c:v>#N/A</c:v>
                </c:pt>
                <c:pt idx="96">
                  <c:v>#N/A</c:v>
                </c:pt>
                <c:pt idx="97">
                  <c:v>#N/A</c:v>
                </c:pt>
                <c:pt idx="98">
                  <c:v>#N/A</c:v>
                </c:pt>
                <c:pt idx="99">
                  <c:v>#N/A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CAA7-42C1-A5C5-DED389B6AE1F}"/>
            </c:ext>
          </c:extLst>
        </c:ser>
        <c:ser>
          <c:idx val="1"/>
          <c:order val="1"/>
          <c:tx>
            <c:v>tusimpleBI</c:v>
          </c:tx>
          <c:spPr>
            <a:ln w="38100">
              <a:noFill/>
            </a:ln>
          </c:spPr>
          <c:marker>
            <c:symbol val="circle"/>
            <c:size val="12"/>
            <c:spPr>
              <a:solidFill>
                <a:srgbClr val="F0F0F0"/>
              </a:solidFill>
              <a:ln w="12700">
                <a:noFill/>
              </a:ln>
            </c:spPr>
          </c:marker>
          <c:xVal>
            <c:numRef>
              <c:f>Sheet1!ts41E_A3E32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</c:v>
                </c:pt>
                <c:pt idx="11">
                  <c:v>2</c:v>
                </c:pt>
                <c:pt idx="12">
                  <c:v>3</c:v>
                </c:pt>
                <c:pt idx="13">
                  <c:v>4</c:v>
                </c:pt>
                <c:pt idx="14">
                  <c:v>5</c:v>
                </c:pt>
                <c:pt idx="15">
                  <c:v>6</c:v>
                </c:pt>
                <c:pt idx="16">
                  <c:v>7</c:v>
                </c:pt>
                <c:pt idx="17">
                  <c:v>8</c:v>
                </c:pt>
                <c:pt idx="18">
                  <c:v>9</c:v>
                </c:pt>
                <c:pt idx="19">
                  <c:v>10</c:v>
                </c:pt>
                <c:pt idx="20">
                  <c:v>1</c:v>
                </c:pt>
                <c:pt idx="21">
                  <c:v>2</c:v>
                </c:pt>
                <c:pt idx="22">
                  <c:v>3</c:v>
                </c:pt>
                <c:pt idx="23">
                  <c:v>4</c:v>
                </c:pt>
                <c:pt idx="24">
                  <c:v>5</c:v>
                </c:pt>
                <c:pt idx="25">
                  <c:v>6</c:v>
                </c:pt>
                <c:pt idx="26">
                  <c:v>7</c:v>
                </c:pt>
                <c:pt idx="27">
                  <c:v>8</c:v>
                </c:pt>
                <c:pt idx="28">
                  <c:v>9</c:v>
                </c:pt>
                <c:pt idx="29">
                  <c:v>10</c:v>
                </c:pt>
                <c:pt idx="30">
                  <c:v>1</c:v>
                </c:pt>
                <c:pt idx="31">
                  <c:v>2</c:v>
                </c:pt>
                <c:pt idx="32">
                  <c:v>3</c:v>
                </c:pt>
                <c:pt idx="33">
                  <c:v>4</c:v>
                </c:pt>
                <c:pt idx="34">
                  <c:v>5</c:v>
                </c:pt>
                <c:pt idx="35">
                  <c:v>6</c:v>
                </c:pt>
                <c:pt idx="36">
                  <c:v>7</c:v>
                </c:pt>
                <c:pt idx="37">
                  <c:v>8</c:v>
                </c:pt>
                <c:pt idx="38">
                  <c:v>9</c:v>
                </c:pt>
                <c:pt idx="39">
                  <c:v>10</c:v>
                </c:pt>
                <c:pt idx="40">
                  <c:v>1</c:v>
                </c:pt>
                <c:pt idx="41">
                  <c:v>2</c:v>
                </c:pt>
                <c:pt idx="42">
                  <c:v>3</c:v>
                </c:pt>
                <c:pt idx="43">
                  <c:v>4</c:v>
                </c:pt>
                <c:pt idx="44">
                  <c:v>5</c:v>
                </c:pt>
                <c:pt idx="45">
                  <c:v>6</c:v>
                </c:pt>
                <c:pt idx="46">
                  <c:v>7</c:v>
                </c:pt>
                <c:pt idx="47">
                  <c:v>8</c:v>
                </c:pt>
                <c:pt idx="48">
                  <c:v>9</c:v>
                </c:pt>
                <c:pt idx="49">
                  <c:v>10</c:v>
                </c:pt>
                <c:pt idx="50">
                  <c:v>1</c:v>
                </c:pt>
                <c:pt idx="51">
                  <c:v>2</c:v>
                </c:pt>
                <c:pt idx="52">
                  <c:v>3</c:v>
                </c:pt>
                <c:pt idx="53">
                  <c:v>4</c:v>
                </c:pt>
                <c:pt idx="54">
                  <c:v>5</c:v>
                </c:pt>
                <c:pt idx="55">
                  <c:v>6</c:v>
                </c:pt>
                <c:pt idx="56">
                  <c:v>7</c:v>
                </c:pt>
                <c:pt idx="57">
                  <c:v>8</c:v>
                </c:pt>
                <c:pt idx="58">
                  <c:v>9</c:v>
                </c:pt>
                <c:pt idx="59">
                  <c:v>10</c:v>
                </c:pt>
                <c:pt idx="60">
                  <c:v>1</c:v>
                </c:pt>
                <c:pt idx="61">
                  <c:v>2</c:v>
                </c:pt>
                <c:pt idx="62">
                  <c:v>3</c:v>
                </c:pt>
                <c:pt idx="63">
                  <c:v>4</c:v>
                </c:pt>
                <c:pt idx="64">
                  <c:v>5</c:v>
                </c:pt>
                <c:pt idx="65">
                  <c:v>6</c:v>
                </c:pt>
                <c:pt idx="66">
                  <c:v>7</c:v>
                </c:pt>
                <c:pt idx="67">
                  <c:v>8</c:v>
                </c:pt>
                <c:pt idx="68">
                  <c:v>9</c:v>
                </c:pt>
                <c:pt idx="69">
                  <c:v>10</c:v>
                </c:pt>
                <c:pt idx="70">
                  <c:v>1</c:v>
                </c:pt>
                <c:pt idx="71">
                  <c:v>2</c:v>
                </c:pt>
                <c:pt idx="72">
                  <c:v>3</c:v>
                </c:pt>
                <c:pt idx="73">
                  <c:v>4</c:v>
                </c:pt>
                <c:pt idx="74">
                  <c:v>5</c:v>
                </c:pt>
                <c:pt idx="75">
                  <c:v>6</c:v>
                </c:pt>
                <c:pt idx="76">
                  <c:v>7</c:v>
                </c:pt>
                <c:pt idx="77">
                  <c:v>8</c:v>
                </c:pt>
                <c:pt idx="78">
                  <c:v>9</c:v>
                </c:pt>
                <c:pt idx="79">
                  <c:v>10</c:v>
                </c:pt>
                <c:pt idx="80">
                  <c:v>1</c:v>
                </c:pt>
                <c:pt idx="81">
                  <c:v>2</c:v>
                </c:pt>
                <c:pt idx="82">
                  <c:v>3</c:v>
                </c:pt>
                <c:pt idx="83">
                  <c:v>4</c:v>
                </c:pt>
                <c:pt idx="84">
                  <c:v>5</c:v>
                </c:pt>
                <c:pt idx="85">
                  <c:v>6</c:v>
                </c:pt>
                <c:pt idx="86">
                  <c:v>7</c:v>
                </c:pt>
                <c:pt idx="87">
                  <c:v>8</c:v>
                </c:pt>
                <c:pt idx="88">
                  <c:v>9</c:v>
                </c:pt>
                <c:pt idx="89">
                  <c:v>10</c:v>
                </c:pt>
                <c:pt idx="90">
                  <c:v>1</c:v>
                </c:pt>
                <c:pt idx="91">
                  <c:v>2</c:v>
                </c:pt>
                <c:pt idx="92">
                  <c:v>3</c:v>
                </c:pt>
                <c:pt idx="93">
                  <c:v>4</c:v>
                </c:pt>
                <c:pt idx="94">
                  <c:v>5</c:v>
                </c:pt>
                <c:pt idx="95">
                  <c:v>6</c:v>
                </c:pt>
                <c:pt idx="96">
                  <c:v>7</c:v>
                </c:pt>
                <c:pt idx="97">
                  <c:v>8</c:v>
                </c:pt>
                <c:pt idx="98">
                  <c:v>9</c:v>
                </c:pt>
                <c:pt idx="99">
                  <c:v>10</c:v>
                </c:pt>
              </c:numCache>
            </c:numRef>
          </c:xVal>
          <c:yVal>
            <c:numRef>
              <c:f>Sheet1!ts41E_7E9BB</c:f>
              <c:numCache>
                <c:formatCode>General</c:formatCode>
                <c:ptCount val="100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3</c:v>
                </c:pt>
                <c:pt idx="24">
                  <c:v>3</c:v>
                </c:pt>
                <c:pt idx="25">
                  <c:v>3</c:v>
                </c:pt>
                <c:pt idx="26">
                  <c:v>3</c:v>
                </c:pt>
                <c:pt idx="27">
                  <c:v>3</c:v>
                </c:pt>
                <c:pt idx="28">
                  <c:v>3</c:v>
                </c:pt>
                <c:pt idx="29">
                  <c:v>3</c:v>
                </c:pt>
                <c:pt idx="30">
                  <c:v>4</c:v>
                </c:pt>
                <c:pt idx="31">
                  <c:v>4</c:v>
                </c:pt>
                <c:pt idx="32">
                  <c:v>4</c:v>
                </c:pt>
                <c:pt idx="33">
                  <c:v>4</c:v>
                </c:pt>
                <c:pt idx="34">
                  <c:v>4</c:v>
                </c:pt>
                <c:pt idx="35">
                  <c:v>4</c:v>
                </c:pt>
                <c:pt idx="36">
                  <c:v>4</c:v>
                </c:pt>
                <c:pt idx="37">
                  <c:v>4</c:v>
                </c:pt>
                <c:pt idx="38">
                  <c:v>4</c:v>
                </c:pt>
                <c:pt idx="39">
                  <c:v>4</c:v>
                </c:pt>
                <c:pt idx="40">
                  <c:v>5</c:v>
                </c:pt>
                <c:pt idx="41">
                  <c:v>5</c:v>
                </c:pt>
                <c:pt idx="42">
                  <c:v>5</c:v>
                </c:pt>
                <c:pt idx="43">
                  <c:v>5</c:v>
                </c:pt>
                <c:pt idx="44">
                  <c:v>5</c:v>
                </c:pt>
                <c:pt idx="45">
                  <c:v>5</c:v>
                </c:pt>
                <c:pt idx="46">
                  <c:v>5</c:v>
                </c:pt>
                <c:pt idx="47">
                  <c:v>5</c:v>
                </c:pt>
                <c:pt idx="48">
                  <c:v>5</c:v>
                </c:pt>
                <c:pt idx="49">
                  <c:v>5</c:v>
                </c:pt>
                <c:pt idx="50">
                  <c:v>6</c:v>
                </c:pt>
                <c:pt idx="51">
                  <c:v>6</c:v>
                </c:pt>
                <c:pt idx="52">
                  <c:v>6</c:v>
                </c:pt>
                <c:pt idx="53">
                  <c:v>6</c:v>
                </c:pt>
                <c:pt idx="54">
                  <c:v>6</c:v>
                </c:pt>
                <c:pt idx="55">
                  <c:v>6</c:v>
                </c:pt>
                <c:pt idx="56">
                  <c:v>6</c:v>
                </c:pt>
                <c:pt idx="57">
                  <c:v>6</c:v>
                </c:pt>
                <c:pt idx="58">
                  <c:v>6</c:v>
                </c:pt>
                <c:pt idx="59">
                  <c:v>6</c:v>
                </c:pt>
                <c:pt idx="60">
                  <c:v>7</c:v>
                </c:pt>
                <c:pt idx="61">
                  <c:v>7</c:v>
                </c:pt>
                <c:pt idx="62">
                  <c:v>7</c:v>
                </c:pt>
                <c:pt idx="63">
                  <c:v>7</c:v>
                </c:pt>
                <c:pt idx="64">
                  <c:v>7</c:v>
                </c:pt>
                <c:pt idx="65">
                  <c:v>7</c:v>
                </c:pt>
                <c:pt idx="66">
                  <c:v>7</c:v>
                </c:pt>
                <c:pt idx="67">
                  <c:v>7</c:v>
                </c:pt>
                <c:pt idx="68">
                  <c:v>7</c:v>
                </c:pt>
                <c:pt idx="69">
                  <c:v>7</c:v>
                </c:pt>
                <c:pt idx="70">
                  <c:v>8</c:v>
                </c:pt>
                <c:pt idx="71">
                  <c:v>8</c:v>
                </c:pt>
                <c:pt idx="72">
                  <c:v>8</c:v>
                </c:pt>
                <c:pt idx="73">
                  <c:v>8</c:v>
                </c:pt>
                <c:pt idx="74">
                  <c:v>8</c:v>
                </c:pt>
                <c:pt idx="75">
                  <c:v>8</c:v>
                </c:pt>
                <c:pt idx="76">
                  <c:v>8</c:v>
                </c:pt>
                <c:pt idx="77">
                  <c:v>8</c:v>
                </c:pt>
                <c:pt idx="78">
                  <c:v>8</c:v>
                </c:pt>
                <c:pt idx="79">
                  <c:v>8</c:v>
                </c:pt>
                <c:pt idx="80">
                  <c:v>9</c:v>
                </c:pt>
                <c:pt idx="81">
                  <c:v>9</c:v>
                </c:pt>
                <c:pt idx="82">
                  <c:v>9</c:v>
                </c:pt>
                <c:pt idx="83">
                  <c:v>9</c:v>
                </c:pt>
                <c:pt idx="84">
                  <c:v>9</c:v>
                </c:pt>
                <c:pt idx="85">
                  <c:v>9</c:v>
                </c:pt>
                <c:pt idx="86">
                  <c:v>9</c:v>
                </c:pt>
                <c:pt idx="87">
                  <c:v>9</c:v>
                </c:pt>
                <c:pt idx="88">
                  <c:v>9</c:v>
                </c:pt>
                <c:pt idx="89">
                  <c:v>9</c:v>
                </c:pt>
                <c:pt idx="90">
                  <c:v>10</c:v>
                </c:pt>
                <c:pt idx="91">
                  <c:v>10</c:v>
                </c:pt>
                <c:pt idx="92">
                  <c:v>10</c:v>
                </c:pt>
                <c:pt idx="93">
                  <c:v>10</c:v>
                </c:pt>
                <c:pt idx="94">
                  <c:v>10</c:v>
                </c:pt>
                <c:pt idx="95">
                  <c:v>10</c:v>
                </c:pt>
                <c:pt idx="96">
                  <c:v>10</c:v>
                </c:pt>
                <c:pt idx="97">
                  <c:v>10</c:v>
                </c:pt>
                <c:pt idx="98">
                  <c:v>10</c:v>
                </c:pt>
                <c:pt idx="99">
                  <c:v>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CAA7-42C1-A5C5-DED389B6AE1F}"/>
            </c:ext>
          </c:extLst>
        </c:ser>
        <c:ser>
          <c:idx val="2"/>
          <c:order val="2"/>
          <c:tx>
            <c:v>tusimpleBI</c:v>
          </c:tx>
          <c:spPr>
            <a:ln w="38100">
              <a:noFill/>
            </a:ln>
          </c:spPr>
          <c:marker>
            <c:symbol val="none"/>
          </c:marker>
          <c:dLbls>
            <c:dLbl>
              <c:idx val="0"/>
              <c:tx>
                <c:strRef>
                  <c:f>Sheet1!$D$4</c:f>
                  <c:strCache>
                    <c:ptCount val="1"/>
                    <c:pt idx="0">
                      <c:v>23</c:v>
                    </c:pt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{28E2CDC1-8D8A-5B43-84F8-A13077549590}</c15:txfldGUID>
                      <c15:f>Sheet1!$D$4</c15:f>
                      <c15:dlblFieldTableCache>
                        <c:ptCount val="1"/>
                        <c:pt idx="0">
                          <c:v>23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3-CAA7-42C1-A5C5-DED389B6AE1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none" lIns="38100" tIns="19050" rIns="38100" bIns="19050" anchor="ctr">
                <a:spAutoFit/>
              </a:bodyPr>
              <a:lstStyle/>
              <a:p>
                <a:pPr>
                  <a:defRPr sz="1000" b="1">
                    <a:noFill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xVal>
            <c:numRef>
              <c:f>Sheet1!ts41E_44C18</c:f>
              <c:numCache>
                <c:formatCode>General</c:formatCode>
                <c:ptCount val="1"/>
                <c:pt idx="0">
                  <c:v>5.5</c:v>
                </c:pt>
              </c:numCache>
            </c:numRef>
          </c:xVal>
          <c:yVal>
            <c:numRef>
              <c:f>Sheet1!ts41E_1DE77</c:f>
              <c:numCache>
                <c:formatCode>General</c:formatCode>
                <c:ptCount val="1"/>
                <c:pt idx="0">
                  <c:v>3.5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CAA7-42C1-A5C5-DED389B6AE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34499119"/>
        <c:axId val="1434498159"/>
      </c:scatterChart>
      <c:valAx>
        <c:axId val="1434499119"/>
        <c:scaling>
          <c:orientation val="minMax"/>
          <c:max val="11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1434498159"/>
        <c:crosses val="autoZero"/>
        <c:crossBetween val="midCat"/>
      </c:valAx>
      <c:valAx>
        <c:axId val="1434498159"/>
        <c:scaling>
          <c:orientation val="minMax"/>
          <c:max val="11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434499119"/>
        <c:crosses val="autoZero"/>
        <c:crossBetween val="midCat"/>
      </c:valAx>
      <c:spPr>
        <a:ln w="25400">
          <a:noFill/>
        </a:ln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12700">
      <a:noFill/>
    </a:ln>
  </c:spPr>
  <c:externalData r:id="rId2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8.4694830478387245E-2"/>
          <c:y val="0.14151596363193392"/>
          <c:w val="0.81180173986832527"/>
          <c:h val="0.7707453442803136"/>
        </c:manualLayout>
      </c:layout>
      <c:pieChart>
        <c:varyColors val="1"/>
        <c:ser>
          <c:idx val="3"/>
          <c:order val="3"/>
          <c:tx>
            <c:v>tusimpleBI</c:v>
          </c:tx>
          <c:spPr>
            <a:noFill/>
            <a:ln w="38100"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F9ED5"/>
                  </a:solidFill>
                </a14:hiddenFill>
              </a:ext>
            </a:extLst>
          </c:spPr>
          <c:extLst>
            <c:ext xmlns:c16="http://schemas.microsoft.com/office/drawing/2014/chart" uri="{C3380CC4-5D6E-409C-BE32-E72D297353CC}">
              <c16:uniqueId val="{00000000-6181-4464-903E-90C8F8E58F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catterChart>
        <c:scatterStyle val="lineMarker"/>
        <c:varyColors val="0"/>
        <c:ser>
          <c:idx val="0"/>
          <c:order val="0"/>
          <c:tx>
            <c:v>tusimpleBI</c:v>
          </c:tx>
          <c:spPr>
            <a:ln w="38100">
              <a:noFill/>
            </a:ln>
          </c:spPr>
          <c:marker>
            <c:symbol val="circle"/>
            <c:size val="12"/>
            <c:spPr>
              <a:solidFill>
                <a:srgbClr val="031B2C"/>
              </a:solidFill>
              <a:ln w="12700">
                <a:noFill/>
              </a:ln>
            </c:spPr>
          </c:marker>
          <c:xVal>
            <c:numRef>
              <c:f>Sheet1!ts41E_A3E32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</c:v>
                </c:pt>
                <c:pt idx="11">
                  <c:v>2</c:v>
                </c:pt>
                <c:pt idx="12">
                  <c:v>3</c:v>
                </c:pt>
                <c:pt idx="13">
                  <c:v>4</c:v>
                </c:pt>
                <c:pt idx="14">
                  <c:v>5</c:v>
                </c:pt>
                <c:pt idx="15">
                  <c:v>6</c:v>
                </c:pt>
                <c:pt idx="16">
                  <c:v>7</c:v>
                </c:pt>
                <c:pt idx="17">
                  <c:v>8</c:v>
                </c:pt>
                <c:pt idx="18">
                  <c:v>9</c:v>
                </c:pt>
                <c:pt idx="19">
                  <c:v>10</c:v>
                </c:pt>
                <c:pt idx="20">
                  <c:v>1</c:v>
                </c:pt>
                <c:pt idx="21">
                  <c:v>2</c:v>
                </c:pt>
                <c:pt idx="22">
                  <c:v>3</c:v>
                </c:pt>
                <c:pt idx="23">
                  <c:v>4</c:v>
                </c:pt>
                <c:pt idx="24">
                  <c:v>5</c:v>
                </c:pt>
                <c:pt idx="25">
                  <c:v>6</c:v>
                </c:pt>
                <c:pt idx="26">
                  <c:v>7</c:v>
                </c:pt>
                <c:pt idx="27">
                  <c:v>8</c:v>
                </c:pt>
                <c:pt idx="28">
                  <c:v>9</c:v>
                </c:pt>
                <c:pt idx="29">
                  <c:v>10</c:v>
                </c:pt>
                <c:pt idx="30">
                  <c:v>1</c:v>
                </c:pt>
                <c:pt idx="31">
                  <c:v>2</c:v>
                </c:pt>
                <c:pt idx="32">
                  <c:v>3</c:v>
                </c:pt>
                <c:pt idx="33">
                  <c:v>4</c:v>
                </c:pt>
                <c:pt idx="34">
                  <c:v>5</c:v>
                </c:pt>
                <c:pt idx="35">
                  <c:v>6</c:v>
                </c:pt>
                <c:pt idx="36">
                  <c:v>7</c:v>
                </c:pt>
                <c:pt idx="37">
                  <c:v>8</c:v>
                </c:pt>
                <c:pt idx="38">
                  <c:v>9</c:v>
                </c:pt>
                <c:pt idx="39">
                  <c:v>10</c:v>
                </c:pt>
                <c:pt idx="40">
                  <c:v>1</c:v>
                </c:pt>
                <c:pt idx="41">
                  <c:v>2</c:v>
                </c:pt>
                <c:pt idx="42">
                  <c:v>3</c:v>
                </c:pt>
                <c:pt idx="43">
                  <c:v>4</c:v>
                </c:pt>
                <c:pt idx="44">
                  <c:v>5</c:v>
                </c:pt>
                <c:pt idx="45">
                  <c:v>6</c:v>
                </c:pt>
                <c:pt idx="46">
                  <c:v>7</c:v>
                </c:pt>
                <c:pt idx="47">
                  <c:v>8</c:v>
                </c:pt>
                <c:pt idx="48">
                  <c:v>9</c:v>
                </c:pt>
                <c:pt idx="49">
                  <c:v>10</c:v>
                </c:pt>
                <c:pt idx="50">
                  <c:v>1</c:v>
                </c:pt>
                <c:pt idx="51">
                  <c:v>2</c:v>
                </c:pt>
                <c:pt idx="52">
                  <c:v>3</c:v>
                </c:pt>
                <c:pt idx="53">
                  <c:v>4</c:v>
                </c:pt>
                <c:pt idx="54">
                  <c:v>5</c:v>
                </c:pt>
                <c:pt idx="55">
                  <c:v>6</c:v>
                </c:pt>
                <c:pt idx="56">
                  <c:v>7</c:v>
                </c:pt>
                <c:pt idx="57">
                  <c:v>8</c:v>
                </c:pt>
                <c:pt idx="58">
                  <c:v>9</c:v>
                </c:pt>
                <c:pt idx="59">
                  <c:v>10</c:v>
                </c:pt>
                <c:pt idx="60">
                  <c:v>1</c:v>
                </c:pt>
                <c:pt idx="61">
                  <c:v>2</c:v>
                </c:pt>
                <c:pt idx="62">
                  <c:v>3</c:v>
                </c:pt>
                <c:pt idx="63">
                  <c:v>4</c:v>
                </c:pt>
                <c:pt idx="64">
                  <c:v>5</c:v>
                </c:pt>
                <c:pt idx="65">
                  <c:v>6</c:v>
                </c:pt>
                <c:pt idx="66">
                  <c:v>7</c:v>
                </c:pt>
                <c:pt idx="67">
                  <c:v>8</c:v>
                </c:pt>
                <c:pt idx="68">
                  <c:v>9</c:v>
                </c:pt>
                <c:pt idx="69">
                  <c:v>10</c:v>
                </c:pt>
                <c:pt idx="70">
                  <c:v>1</c:v>
                </c:pt>
                <c:pt idx="71">
                  <c:v>2</c:v>
                </c:pt>
                <c:pt idx="72">
                  <c:v>3</c:v>
                </c:pt>
                <c:pt idx="73">
                  <c:v>4</c:v>
                </c:pt>
                <c:pt idx="74">
                  <c:v>5</c:v>
                </c:pt>
                <c:pt idx="75">
                  <c:v>6</c:v>
                </c:pt>
                <c:pt idx="76">
                  <c:v>7</c:v>
                </c:pt>
                <c:pt idx="77">
                  <c:v>8</c:v>
                </c:pt>
                <c:pt idx="78">
                  <c:v>9</c:v>
                </c:pt>
                <c:pt idx="79">
                  <c:v>10</c:v>
                </c:pt>
                <c:pt idx="80">
                  <c:v>1</c:v>
                </c:pt>
                <c:pt idx="81">
                  <c:v>2</c:v>
                </c:pt>
                <c:pt idx="82">
                  <c:v>3</c:v>
                </c:pt>
                <c:pt idx="83">
                  <c:v>4</c:v>
                </c:pt>
                <c:pt idx="84">
                  <c:v>5</c:v>
                </c:pt>
                <c:pt idx="85">
                  <c:v>6</c:v>
                </c:pt>
                <c:pt idx="86">
                  <c:v>7</c:v>
                </c:pt>
                <c:pt idx="87">
                  <c:v>8</c:v>
                </c:pt>
                <c:pt idx="88">
                  <c:v>9</c:v>
                </c:pt>
                <c:pt idx="89">
                  <c:v>10</c:v>
                </c:pt>
                <c:pt idx="90">
                  <c:v>1</c:v>
                </c:pt>
                <c:pt idx="91">
                  <c:v>2</c:v>
                </c:pt>
                <c:pt idx="92">
                  <c:v>3</c:v>
                </c:pt>
                <c:pt idx="93">
                  <c:v>4</c:v>
                </c:pt>
                <c:pt idx="94">
                  <c:v>5</c:v>
                </c:pt>
                <c:pt idx="95">
                  <c:v>6</c:v>
                </c:pt>
                <c:pt idx="96">
                  <c:v>7</c:v>
                </c:pt>
                <c:pt idx="97">
                  <c:v>8</c:v>
                </c:pt>
                <c:pt idx="98">
                  <c:v>9</c:v>
                </c:pt>
                <c:pt idx="99">
                  <c:v>10</c:v>
                </c:pt>
              </c:numCache>
            </c:numRef>
          </c:xVal>
          <c:yVal>
            <c:numRef>
              <c:f>Sheet1!ts41E_AD9FA</c:f>
              <c:numCache>
                <c:formatCode>General</c:formatCode>
                <c:ptCount val="10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3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  <c:pt idx="65">
                  <c:v>#N/A</c:v>
                </c:pt>
                <c:pt idx="66">
                  <c:v>#N/A</c:v>
                </c:pt>
                <c:pt idx="67">
                  <c:v>#N/A</c:v>
                </c:pt>
                <c:pt idx="68">
                  <c:v>#N/A</c:v>
                </c:pt>
                <c:pt idx="69">
                  <c:v>#N/A</c:v>
                </c:pt>
                <c:pt idx="70">
                  <c:v>#N/A</c:v>
                </c:pt>
                <c:pt idx="71">
                  <c:v>#N/A</c:v>
                </c:pt>
                <c:pt idx="72">
                  <c:v>#N/A</c:v>
                </c:pt>
                <c:pt idx="73">
                  <c:v>#N/A</c:v>
                </c:pt>
                <c:pt idx="74">
                  <c:v>#N/A</c:v>
                </c:pt>
                <c:pt idx="75">
                  <c:v>#N/A</c:v>
                </c:pt>
                <c:pt idx="76">
                  <c:v>#N/A</c:v>
                </c:pt>
                <c:pt idx="77">
                  <c:v>#N/A</c:v>
                </c:pt>
                <c:pt idx="78">
                  <c:v>#N/A</c:v>
                </c:pt>
                <c:pt idx="79">
                  <c:v>#N/A</c:v>
                </c:pt>
                <c:pt idx="80">
                  <c:v>#N/A</c:v>
                </c:pt>
                <c:pt idx="81">
                  <c:v>#N/A</c:v>
                </c:pt>
                <c:pt idx="82">
                  <c:v>#N/A</c:v>
                </c:pt>
                <c:pt idx="83">
                  <c:v>#N/A</c:v>
                </c:pt>
                <c:pt idx="84">
                  <c:v>#N/A</c:v>
                </c:pt>
                <c:pt idx="85">
                  <c:v>#N/A</c:v>
                </c:pt>
                <c:pt idx="86">
                  <c:v>#N/A</c:v>
                </c:pt>
                <c:pt idx="87">
                  <c:v>#N/A</c:v>
                </c:pt>
                <c:pt idx="88">
                  <c:v>#N/A</c:v>
                </c:pt>
                <c:pt idx="89">
                  <c:v>#N/A</c:v>
                </c:pt>
                <c:pt idx="90">
                  <c:v>#N/A</c:v>
                </c:pt>
                <c:pt idx="91">
                  <c:v>#N/A</c:v>
                </c:pt>
                <c:pt idx="92">
                  <c:v>#N/A</c:v>
                </c:pt>
                <c:pt idx="93">
                  <c:v>#N/A</c:v>
                </c:pt>
                <c:pt idx="94">
                  <c:v>#N/A</c:v>
                </c:pt>
                <c:pt idx="95">
                  <c:v>#N/A</c:v>
                </c:pt>
                <c:pt idx="96">
                  <c:v>#N/A</c:v>
                </c:pt>
                <c:pt idx="97">
                  <c:v>#N/A</c:v>
                </c:pt>
                <c:pt idx="98">
                  <c:v>#N/A</c:v>
                </c:pt>
                <c:pt idx="99">
                  <c:v>#N/A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181-4464-903E-90C8F8E58F3A}"/>
            </c:ext>
          </c:extLst>
        </c:ser>
        <c:ser>
          <c:idx val="1"/>
          <c:order val="1"/>
          <c:tx>
            <c:v>tusimpleBI</c:v>
          </c:tx>
          <c:spPr>
            <a:ln w="38100">
              <a:noFill/>
            </a:ln>
          </c:spPr>
          <c:marker>
            <c:symbol val="circle"/>
            <c:size val="12"/>
            <c:spPr>
              <a:solidFill>
                <a:srgbClr val="F0F0F0"/>
              </a:solidFill>
              <a:ln w="12700">
                <a:noFill/>
              </a:ln>
            </c:spPr>
          </c:marker>
          <c:xVal>
            <c:numRef>
              <c:f>Sheet1!ts41E_A3E32</c:f>
              <c:numCache>
                <c:formatCode>General</c:formatCode>
                <c:ptCount val="10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</c:v>
                </c:pt>
                <c:pt idx="11">
                  <c:v>2</c:v>
                </c:pt>
                <c:pt idx="12">
                  <c:v>3</c:v>
                </c:pt>
                <c:pt idx="13">
                  <c:v>4</c:v>
                </c:pt>
                <c:pt idx="14">
                  <c:v>5</c:v>
                </c:pt>
                <c:pt idx="15">
                  <c:v>6</c:v>
                </c:pt>
                <c:pt idx="16">
                  <c:v>7</c:v>
                </c:pt>
                <c:pt idx="17">
                  <c:v>8</c:v>
                </c:pt>
                <c:pt idx="18">
                  <c:v>9</c:v>
                </c:pt>
                <c:pt idx="19">
                  <c:v>10</c:v>
                </c:pt>
                <c:pt idx="20">
                  <c:v>1</c:v>
                </c:pt>
                <c:pt idx="21">
                  <c:v>2</c:v>
                </c:pt>
                <c:pt idx="22">
                  <c:v>3</c:v>
                </c:pt>
                <c:pt idx="23">
                  <c:v>4</c:v>
                </c:pt>
                <c:pt idx="24">
                  <c:v>5</c:v>
                </c:pt>
                <c:pt idx="25">
                  <c:v>6</c:v>
                </c:pt>
                <c:pt idx="26">
                  <c:v>7</c:v>
                </c:pt>
                <c:pt idx="27">
                  <c:v>8</c:v>
                </c:pt>
                <c:pt idx="28">
                  <c:v>9</c:v>
                </c:pt>
                <c:pt idx="29">
                  <c:v>10</c:v>
                </c:pt>
                <c:pt idx="30">
                  <c:v>1</c:v>
                </c:pt>
                <c:pt idx="31">
                  <c:v>2</c:v>
                </c:pt>
                <c:pt idx="32">
                  <c:v>3</c:v>
                </c:pt>
                <c:pt idx="33">
                  <c:v>4</c:v>
                </c:pt>
                <c:pt idx="34">
                  <c:v>5</c:v>
                </c:pt>
                <c:pt idx="35">
                  <c:v>6</c:v>
                </c:pt>
                <c:pt idx="36">
                  <c:v>7</c:v>
                </c:pt>
                <c:pt idx="37">
                  <c:v>8</c:v>
                </c:pt>
                <c:pt idx="38">
                  <c:v>9</c:v>
                </c:pt>
                <c:pt idx="39">
                  <c:v>10</c:v>
                </c:pt>
                <c:pt idx="40">
                  <c:v>1</c:v>
                </c:pt>
                <c:pt idx="41">
                  <c:v>2</c:v>
                </c:pt>
                <c:pt idx="42">
                  <c:v>3</c:v>
                </c:pt>
                <c:pt idx="43">
                  <c:v>4</c:v>
                </c:pt>
                <c:pt idx="44">
                  <c:v>5</c:v>
                </c:pt>
                <c:pt idx="45">
                  <c:v>6</c:v>
                </c:pt>
                <c:pt idx="46">
                  <c:v>7</c:v>
                </c:pt>
                <c:pt idx="47">
                  <c:v>8</c:v>
                </c:pt>
                <c:pt idx="48">
                  <c:v>9</c:v>
                </c:pt>
                <c:pt idx="49">
                  <c:v>10</c:v>
                </c:pt>
                <c:pt idx="50">
                  <c:v>1</c:v>
                </c:pt>
                <c:pt idx="51">
                  <c:v>2</c:v>
                </c:pt>
                <c:pt idx="52">
                  <c:v>3</c:v>
                </c:pt>
                <c:pt idx="53">
                  <c:v>4</c:v>
                </c:pt>
                <c:pt idx="54">
                  <c:v>5</c:v>
                </c:pt>
                <c:pt idx="55">
                  <c:v>6</c:v>
                </c:pt>
                <c:pt idx="56">
                  <c:v>7</c:v>
                </c:pt>
                <c:pt idx="57">
                  <c:v>8</c:v>
                </c:pt>
                <c:pt idx="58">
                  <c:v>9</c:v>
                </c:pt>
                <c:pt idx="59">
                  <c:v>10</c:v>
                </c:pt>
                <c:pt idx="60">
                  <c:v>1</c:v>
                </c:pt>
                <c:pt idx="61">
                  <c:v>2</c:v>
                </c:pt>
                <c:pt idx="62">
                  <c:v>3</c:v>
                </c:pt>
                <c:pt idx="63">
                  <c:v>4</c:v>
                </c:pt>
                <c:pt idx="64">
                  <c:v>5</c:v>
                </c:pt>
                <c:pt idx="65">
                  <c:v>6</c:v>
                </c:pt>
                <c:pt idx="66">
                  <c:v>7</c:v>
                </c:pt>
                <c:pt idx="67">
                  <c:v>8</c:v>
                </c:pt>
                <c:pt idx="68">
                  <c:v>9</c:v>
                </c:pt>
                <c:pt idx="69">
                  <c:v>10</c:v>
                </c:pt>
                <c:pt idx="70">
                  <c:v>1</c:v>
                </c:pt>
                <c:pt idx="71">
                  <c:v>2</c:v>
                </c:pt>
                <c:pt idx="72">
                  <c:v>3</c:v>
                </c:pt>
                <c:pt idx="73">
                  <c:v>4</c:v>
                </c:pt>
                <c:pt idx="74">
                  <c:v>5</c:v>
                </c:pt>
                <c:pt idx="75">
                  <c:v>6</c:v>
                </c:pt>
                <c:pt idx="76">
                  <c:v>7</c:v>
                </c:pt>
                <c:pt idx="77">
                  <c:v>8</c:v>
                </c:pt>
                <c:pt idx="78">
                  <c:v>9</c:v>
                </c:pt>
                <c:pt idx="79">
                  <c:v>10</c:v>
                </c:pt>
                <c:pt idx="80">
                  <c:v>1</c:v>
                </c:pt>
                <c:pt idx="81">
                  <c:v>2</c:v>
                </c:pt>
                <c:pt idx="82">
                  <c:v>3</c:v>
                </c:pt>
                <c:pt idx="83">
                  <c:v>4</c:v>
                </c:pt>
                <c:pt idx="84">
                  <c:v>5</c:v>
                </c:pt>
                <c:pt idx="85">
                  <c:v>6</c:v>
                </c:pt>
                <c:pt idx="86">
                  <c:v>7</c:v>
                </c:pt>
                <c:pt idx="87">
                  <c:v>8</c:v>
                </c:pt>
                <c:pt idx="88">
                  <c:v>9</c:v>
                </c:pt>
                <c:pt idx="89">
                  <c:v>10</c:v>
                </c:pt>
                <c:pt idx="90">
                  <c:v>1</c:v>
                </c:pt>
                <c:pt idx="91">
                  <c:v>2</c:v>
                </c:pt>
                <c:pt idx="92">
                  <c:v>3</c:v>
                </c:pt>
                <c:pt idx="93">
                  <c:v>4</c:v>
                </c:pt>
                <c:pt idx="94">
                  <c:v>5</c:v>
                </c:pt>
                <c:pt idx="95">
                  <c:v>6</c:v>
                </c:pt>
                <c:pt idx="96">
                  <c:v>7</c:v>
                </c:pt>
                <c:pt idx="97">
                  <c:v>8</c:v>
                </c:pt>
                <c:pt idx="98">
                  <c:v>9</c:v>
                </c:pt>
                <c:pt idx="99">
                  <c:v>10</c:v>
                </c:pt>
              </c:numCache>
            </c:numRef>
          </c:xVal>
          <c:yVal>
            <c:numRef>
              <c:f>Sheet1!ts41E_7E9BB</c:f>
              <c:numCache>
                <c:formatCode>General</c:formatCode>
                <c:ptCount val="100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3</c:v>
                </c:pt>
                <c:pt idx="22">
                  <c:v>3</c:v>
                </c:pt>
                <c:pt idx="23">
                  <c:v>3</c:v>
                </c:pt>
                <c:pt idx="24">
                  <c:v>3</c:v>
                </c:pt>
                <c:pt idx="25">
                  <c:v>3</c:v>
                </c:pt>
                <c:pt idx="26">
                  <c:v>3</c:v>
                </c:pt>
                <c:pt idx="27">
                  <c:v>3</c:v>
                </c:pt>
                <c:pt idx="28">
                  <c:v>3</c:v>
                </c:pt>
                <c:pt idx="29">
                  <c:v>3</c:v>
                </c:pt>
                <c:pt idx="30">
                  <c:v>4</c:v>
                </c:pt>
                <c:pt idx="31">
                  <c:v>4</c:v>
                </c:pt>
                <c:pt idx="32">
                  <c:v>4</c:v>
                </c:pt>
                <c:pt idx="33">
                  <c:v>4</c:v>
                </c:pt>
                <c:pt idx="34">
                  <c:v>4</c:v>
                </c:pt>
                <c:pt idx="35">
                  <c:v>4</c:v>
                </c:pt>
                <c:pt idx="36">
                  <c:v>4</c:v>
                </c:pt>
                <c:pt idx="37">
                  <c:v>4</c:v>
                </c:pt>
                <c:pt idx="38">
                  <c:v>4</c:v>
                </c:pt>
                <c:pt idx="39">
                  <c:v>4</c:v>
                </c:pt>
                <c:pt idx="40">
                  <c:v>5</c:v>
                </c:pt>
                <c:pt idx="41">
                  <c:v>5</c:v>
                </c:pt>
                <c:pt idx="42">
                  <c:v>5</c:v>
                </c:pt>
                <c:pt idx="43">
                  <c:v>5</c:v>
                </c:pt>
                <c:pt idx="44">
                  <c:v>5</c:v>
                </c:pt>
                <c:pt idx="45">
                  <c:v>5</c:v>
                </c:pt>
                <c:pt idx="46">
                  <c:v>5</c:v>
                </c:pt>
                <c:pt idx="47">
                  <c:v>5</c:v>
                </c:pt>
                <c:pt idx="48">
                  <c:v>5</c:v>
                </c:pt>
                <c:pt idx="49">
                  <c:v>5</c:v>
                </c:pt>
                <c:pt idx="50">
                  <c:v>6</c:v>
                </c:pt>
                <c:pt idx="51">
                  <c:v>6</c:v>
                </c:pt>
                <c:pt idx="52">
                  <c:v>6</c:v>
                </c:pt>
                <c:pt idx="53">
                  <c:v>6</c:v>
                </c:pt>
                <c:pt idx="54">
                  <c:v>6</c:v>
                </c:pt>
                <c:pt idx="55">
                  <c:v>6</c:v>
                </c:pt>
                <c:pt idx="56">
                  <c:v>6</c:v>
                </c:pt>
                <c:pt idx="57">
                  <c:v>6</c:v>
                </c:pt>
                <c:pt idx="58">
                  <c:v>6</c:v>
                </c:pt>
                <c:pt idx="59">
                  <c:v>6</c:v>
                </c:pt>
                <c:pt idx="60">
                  <c:v>7</c:v>
                </c:pt>
                <c:pt idx="61">
                  <c:v>7</c:v>
                </c:pt>
                <c:pt idx="62">
                  <c:v>7</c:v>
                </c:pt>
                <c:pt idx="63">
                  <c:v>7</c:v>
                </c:pt>
                <c:pt idx="64">
                  <c:v>7</c:v>
                </c:pt>
                <c:pt idx="65">
                  <c:v>7</c:v>
                </c:pt>
                <c:pt idx="66">
                  <c:v>7</c:v>
                </c:pt>
                <c:pt idx="67">
                  <c:v>7</c:v>
                </c:pt>
                <c:pt idx="68">
                  <c:v>7</c:v>
                </c:pt>
                <c:pt idx="69">
                  <c:v>7</c:v>
                </c:pt>
                <c:pt idx="70">
                  <c:v>8</c:v>
                </c:pt>
                <c:pt idx="71">
                  <c:v>8</c:v>
                </c:pt>
                <c:pt idx="72">
                  <c:v>8</c:v>
                </c:pt>
                <c:pt idx="73">
                  <c:v>8</c:v>
                </c:pt>
                <c:pt idx="74">
                  <c:v>8</c:v>
                </c:pt>
                <c:pt idx="75">
                  <c:v>8</c:v>
                </c:pt>
                <c:pt idx="76">
                  <c:v>8</c:v>
                </c:pt>
                <c:pt idx="77">
                  <c:v>8</c:v>
                </c:pt>
                <c:pt idx="78">
                  <c:v>8</c:v>
                </c:pt>
                <c:pt idx="79">
                  <c:v>8</c:v>
                </c:pt>
                <c:pt idx="80">
                  <c:v>9</c:v>
                </c:pt>
                <c:pt idx="81">
                  <c:v>9</c:v>
                </c:pt>
                <c:pt idx="82">
                  <c:v>9</c:v>
                </c:pt>
                <c:pt idx="83">
                  <c:v>9</c:v>
                </c:pt>
                <c:pt idx="84">
                  <c:v>9</c:v>
                </c:pt>
                <c:pt idx="85">
                  <c:v>9</c:v>
                </c:pt>
                <c:pt idx="86">
                  <c:v>9</c:v>
                </c:pt>
                <c:pt idx="87">
                  <c:v>9</c:v>
                </c:pt>
                <c:pt idx="88">
                  <c:v>9</c:v>
                </c:pt>
                <c:pt idx="89">
                  <c:v>9</c:v>
                </c:pt>
                <c:pt idx="90">
                  <c:v>10</c:v>
                </c:pt>
                <c:pt idx="91">
                  <c:v>10</c:v>
                </c:pt>
                <c:pt idx="92">
                  <c:v>10</c:v>
                </c:pt>
                <c:pt idx="93">
                  <c:v>10</c:v>
                </c:pt>
                <c:pt idx="94">
                  <c:v>10</c:v>
                </c:pt>
                <c:pt idx="95">
                  <c:v>10</c:v>
                </c:pt>
                <c:pt idx="96">
                  <c:v>10</c:v>
                </c:pt>
                <c:pt idx="97">
                  <c:v>10</c:v>
                </c:pt>
                <c:pt idx="98">
                  <c:v>10</c:v>
                </c:pt>
                <c:pt idx="99">
                  <c:v>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6181-4464-903E-90C8F8E58F3A}"/>
            </c:ext>
          </c:extLst>
        </c:ser>
        <c:ser>
          <c:idx val="2"/>
          <c:order val="2"/>
          <c:tx>
            <c:v>tusimpleBI</c:v>
          </c:tx>
          <c:spPr>
            <a:ln w="38100">
              <a:noFill/>
            </a:ln>
          </c:spPr>
          <c:marker>
            <c:symbol val="none"/>
          </c:marker>
          <c:dLbls>
            <c:dLbl>
              <c:idx val="0"/>
              <c:tx>
                <c:strRef>
                  <c:f>Sheet1!$D$4</c:f>
                  <c:strCache>
                    <c:ptCount val="1"/>
                    <c:pt idx="0">
                      <c:v>21</c:v>
                    </c:pt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{81F79B54-3075-0149-AF84-007FD2750224}</c15:txfldGUID>
                      <c15:f>Sheet1!$D$4</c15:f>
                      <c15:dlblFieldTableCache>
                        <c:ptCount val="1"/>
                        <c:pt idx="0">
                          <c:v>21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3-6181-4464-903E-90C8F8E58F3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none" lIns="38100" tIns="19050" rIns="38100" bIns="19050" anchor="ctr">
                <a:spAutoFit/>
              </a:bodyPr>
              <a:lstStyle/>
              <a:p>
                <a:pPr>
                  <a:defRPr sz="1000" b="1">
                    <a:noFill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xVal>
            <c:numRef>
              <c:f>Sheet1!ts41E_44C18</c:f>
              <c:numCache>
                <c:formatCode>General</c:formatCode>
                <c:ptCount val="1"/>
                <c:pt idx="0">
                  <c:v>5.5</c:v>
                </c:pt>
              </c:numCache>
            </c:numRef>
          </c:xVal>
          <c:yVal>
            <c:numRef>
              <c:f>Sheet1!ts41E_1DE77</c:f>
              <c:numCache>
                <c:formatCode>General</c:formatCode>
                <c:ptCount val="1"/>
                <c:pt idx="0">
                  <c:v>3.5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6181-4464-903E-90C8F8E58F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34499119"/>
        <c:axId val="1434498159"/>
      </c:scatterChart>
      <c:valAx>
        <c:axId val="1434499119"/>
        <c:scaling>
          <c:orientation val="minMax"/>
          <c:max val="11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1434498159"/>
        <c:crosses val="autoZero"/>
        <c:crossBetween val="midCat"/>
      </c:valAx>
      <c:valAx>
        <c:axId val="1434498159"/>
        <c:scaling>
          <c:orientation val="minMax"/>
          <c:max val="11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434499119"/>
        <c:crosses val="autoZero"/>
        <c:crossBetween val="midCat"/>
      </c:valAx>
      <c:spPr>
        <a:ln w="25400">
          <a:noFill/>
        </a:ln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12700">
      <a:noFill/>
    </a:ln>
  </c:spPr>
  <c:externalData r:id="rId2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areaChart>
        <c:grouping val="standard"/>
        <c:varyColors val="0"/>
        <c:ser>
          <c:idx val="1"/>
          <c:order val="1"/>
          <c:spPr>
            <a:solidFill>
              <a:srgbClr val="CDD2D5"/>
            </a:solidFill>
            <a:ln>
              <a:noFill/>
            </a:ln>
            <a:effectLst/>
          </c:spPr>
          <c:cat>
            <c:numRef>
              <c:f>Sheet1!$D$6:$D$7</c:f>
              <c:numCache>
                <c:formatCode>General</c:formatCode>
                <c:ptCount val="2"/>
                <c:pt idx="0">
                  <c:v>2019</c:v>
                </c:pt>
                <c:pt idx="1">
                  <c:v>2020</c:v>
                </c:pt>
              </c:numCache>
            </c:numRef>
          </c:cat>
          <c:val>
            <c:numRef>
              <c:f>Sheet1!$E$6:$E$7</c:f>
              <c:numCache>
                <c:formatCode>General</c:formatCode>
                <c:ptCount val="2"/>
                <c:pt idx="0">
                  <c:v>57</c:v>
                </c:pt>
                <c:pt idx="1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AF-354B-A8D1-F127B53204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23216592"/>
        <c:axId val="934728928"/>
      </c:areaChart>
      <c:lineChart>
        <c:grouping val="standard"/>
        <c:varyColors val="0"/>
        <c:ser>
          <c:idx val="0"/>
          <c:order val="0"/>
          <c:spPr>
            <a:ln w="28575" cap="rnd">
              <a:solidFill>
                <a:sysClr val="windowText" lastClr="000000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ysClr val="windowText" lastClr="000000"/>
              </a:solidFill>
              <a:ln w="1587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armonyOS Sans SC" pitchFamily="2" charset="-122"/>
                    <a:ea typeface="HarmonyOS Sans SC" pitchFamily="2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Sheet1!$D$6:$D$7</c:f>
              <c:numCache>
                <c:formatCode>General</c:formatCode>
                <c:ptCount val="2"/>
                <c:pt idx="0">
                  <c:v>2019</c:v>
                </c:pt>
                <c:pt idx="1">
                  <c:v>2020</c:v>
                </c:pt>
              </c:numCache>
            </c:numRef>
          </c:cat>
          <c:val>
            <c:numRef>
              <c:f>Sheet1!$E$6:$E$7</c:f>
              <c:numCache>
                <c:formatCode>General</c:formatCode>
                <c:ptCount val="2"/>
                <c:pt idx="0">
                  <c:v>57</c:v>
                </c:pt>
                <c:pt idx="1">
                  <c:v>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1AF-354B-A8D1-F127B53204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2837712"/>
        <c:axId val="1012840112"/>
      </c:lineChart>
      <c:catAx>
        <c:axId val="1012837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1012840112"/>
        <c:crosses val="autoZero"/>
        <c:auto val="1"/>
        <c:lblAlgn val="ctr"/>
        <c:lblOffset val="100"/>
        <c:noMultiLvlLbl val="0"/>
      </c:catAx>
      <c:valAx>
        <c:axId val="101284011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12837712"/>
        <c:crosses val="autoZero"/>
        <c:crossBetween val="between"/>
      </c:valAx>
      <c:valAx>
        <c:axId val="934728928"/>
        <c:scaling>
          <c:orientation val="minMax"/>
          <c:min val="10"/>
        </c:scaling>
        <c:delete val="1"/>
        <c:axPos val="r"/>
        <c:numFmt formatCode="General" sourceLinked="1"/>
        <c:majorTickMark val="out"/>
        <c:minorTickMark val="none"/>
        <c:tickLblPos val="nextTo"/>
        <c:crossAx val="1823216592"/>
        <c:crosses val="max"/>
        <c:crossBetween val="between"/>
      </c:valAx>
      <c:catAx>
        <c:axId val="182321659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93472892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 b="1" i="0">
          <a:latin typeface="HarmonyOS Sans SC" pitchFamily="2" charset="-122"/>
          <a:ea typeface="HarmonyOS Sans SC" pitchFamily="2" charset="-122"/>
        </a:defRPr>
      </a:pPr>
      <a:endParaRPr lang="zh-CN"/>
    </a:p>
  </c:txPr>
  <c:externalData r:id="rId4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areaChart>
        <c:grouping val="standard"/>
        <c:varyColors val="0"/>
        <c:ser>
          <c:idx val="1"/>
          <c:order val="1"/>
          <c:spPr>
            <a:solidFill>
              <a:srgbClr val="CBEEFE"/>
            </a:solidFill>
            <a:ln>
              <a:noFill/>
            </a:ln>
            <a:effectLst/>
          </c:spPr>
          <c:cat>
            <c:numRef>
              <c:f>Sheet1!$D$6:$D$7</c:f>
              <c:numCache>
                <c:formatCode>General</c:formatCode>
                <c:ptCount val="2"/>
                <c:pt idx="0">
                  <c:v>2019</c:v>
                </c:pt>
                <c:pt idx="1">
                  <c:v>2020</c:v>
                </c:pt>
              </c:numCache>
            </c:numRef>
          </c:cat>
          <c:val>
            <c:numRef>
              <c:f>Sheet1!$E$6:$E$7</c:f>
              <c:numCache>
                <c:formatCode>General</c:formatCode>
                <c:ptCount val="2"/>
                <c:pt idx="0">
                  <c:v>44</c:v>
                </c:pt>
                <c:pt idx="1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1B-D146-B7A1-B0DC10094B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12837712"/>
        <c:axId val="1012840112"/>
      </c:areaChart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00B0F0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rgbClr val="00ACFF"/>
              </a:solidFill>
              <a:ln w="15875">
                <a:solidFill>
                  <a:srgbClr val="00B0F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armonyOS Sans SC" pitchFamily="2" charset="-122"/>
                    <a:ea typeface="HarmonyOS Sans SC" pitchFamily="2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Sheet1!$D$6:$D$7</c:f>
              <c:numCache>
                <c:formatCode>General</c:formatCode>
                <c:ptCount val="2"/>
                <c:pt idx="0">
                  <c:v>2019</c:v>
                </c:pt>
                <c:pt idx="1">
                  <c:v>2020</c:v>
                </c:pt>
              </c:numCache>
            </c:numRef>
          </c:cat>
          <c:val>
            <c:numRef>
              <c:f>Sheet1!$E$6:$E$7</c:f>
              <c:numCache>
                <c:formatCode>General</c:formatCode>
                <c:ptCount val="2"/>
                <c:pt idx="0">
                  <c:v>44</c:v>
                </c:pt>
                <c:pt idx="1">
                  <c:v>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E1B-D146-B7A1-B0DC10094B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2837712"/>
        <c:axId val="1012840112"/>
      </c:lineChart>
      <c:catAx>
        <c:axId val="1012837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1012840112"/>
        <c:crosses val="autoZero"/>
        <c:auto val="1"/>
        <c:lblAlgn val="ctr"/>
        <c:lblOffset val="100"/>
        <c:noMultiLvlLbl val="0"/>
      </c:catAx>
      <c:valAx>
        <c:axId val="101284011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12837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 b="1" i="0">
          <a:latin typeface="HarmonyOS Sans SC" pitchFamily="2" charset="-122"/>
          <a:ea typeface="HarmonyOS Sans SC" pitchFamily="2" charset="-122"/>
        </a:defRPr>
      </a:pPr>
      <a:endParaRPr lang="zh-CN"/>
    </a:p>
  </c:txPr>
  <c:externalData r:id="rId4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areaChart>
        <c:grouping val="standard"/>
        <c:varyColors val="0"/>
        <c:ser>
          <c:idx val="1"/>
          <c:order val="1"/>
          <c:spPr>
            <a:solidFill>
              <a:srgbClr val="CDD2D5"/>
            </a:solidFill>
            <a:ln>
              <a:noFill/>
            </a:ln>
            <a:effectLst/>
          </c:spPr>
          <c:cat>
            <c:numRef>
              <c:f>Sheet1!$D$6:$D$7</c:f>
              <c:numCache>
                <c:formatCode>General</c:formatCode>
                <c:ptCount val="2"/>
                <c:pt idx="0">
                  <c:v>2019</c:v>
                </c:pt>
                <c:pt idx="1">
                  <c:v>2020</c:v>
                </c:pt>
              </c:numCache>
            </c:numRef>
          </c:cat>
          <c:val>
            <c:numRef>
              <c:f>Sheet1!$E$6:$E$7</c:f>
              <c:numCache>
                <c:formatCode>General</c:formatCode>
                <c:ptCount val="2"/>
                <c:pt idx="0">
                  <c:v>54</c:v>
                </c:pt>
                <c:pt idx="1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27-9F41-84BA-A75B604999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12837712"/>
        <c:axId val="1012840112"/>
      </c:areaChart>
      <c:lineChart>
        <c:grouping val="standard"/>
        <c:varyColors val="0"/>
        <c:ser>
          <c:idx val="0"/>
          <c:order val="0"/>
          <c:spPr>
            <a:ln w="28575" cap="rnd">
              <a:solidFill>
                <a:sysClr val="windowText" lastClr="000000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ysClr val="windowText" lastClr="000000"/>
              </a:solidFill>
              <a:ln w="1587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armonyOS Sans SC" pitchFamily="2" charset="-122"/>
                    <a:ea typeface="HarmonyOS Sans SC" pitchFamily="2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Sheet1!$D$6:$D$7</c:f>
              <c:numCache>
                <c:formatCode>General</c:formatCode>
                <c:ptCount val="2"/>
                <c:pt idx="0">
                  <c:v>2019</c:v>
                </c:pt>
                <c:pt idx="1">
                  <c:v>2020</c:v>
                </c:pt>
              </c:numCache>
            </c:numRef>
          </c:cat>
          <c:val>
            <c:numRef>
              <c:f>Sheet1!$E$6:$E$7</c:f>
              <c:numCache>
                <c:formatCode>General</c:formatCode>
                <c:ptCount val="2"/>
                <c:pt idx="0">
                  <c:v>54</c:v>
                </c:pt>
                <c:pt idx="1">
                  <c:v>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D27-9F41-84BA-A75B604999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2837712"/>
        <c:axId val="1012840112"/>
      </c:lineChart>
      <c:catAx>
        <c:axId val="1012837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1012840112"/>
        <c:crosses val="autoZero"/>
        <c:auto val="1"/>
        <c:lblAlgn val="ctr"/>
        <c:lblOffset val="100"/>
        <c:noMultiLvlLbl val="0"/>
      </c:catAx>
      <c:valAx>
        <c:axId val="101284011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12837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 b="1" i="0">
          <a:latin typeface="HarmonyOS Sans SC" pitchFamily="2" charset="-122"/>
          <a:ea typeface="HarmonyOS Sans SC" pitchFamily="2" charset="-122"/>
        </a:defRPr>
      </a:pPr>
      <a:endParaRPr lang="zh-CN"/>
    </a:p>
  </c:txPr>
  <c:externalData r:id="rId4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areaChart>
        <c:grouping val="standard"/>
        <c:varyColors val="0"/>
        <c:ser>
          <c:idx val="1"/>
          <c:order val="1"/>
          <c:spPr>
            <a:solidFill>
              <a:srgbClr val="CDD2D5"/>
            </a:solidFill>
            <a:ln>
              <a:noFill/>
            </a:ln>
            <a:effectLst/>
          </c:spPr>
          <c:cat>
            <c:numRef>
              <c:f>Sheet1!$D$6:$D$7</c:f>
              <c:numCache>
                <c:formatCode>General</c:formatCode>
                <c:ptCount val="2"/>
                <c:pt idx="0">
                  <c:v>2019</c:v>
                </c:pt>
                <c:pt idx="1">
                  <c:v>2020</c:v>
                </c:pt>
              </c:numCache>
            </c:numRef>
          </c:cat>
          <c:val>
            <c:numRef>
              <c:f>Sheet1!$E$6:$E$7</c:f>
              <c:numCache>
                <c:formatCode>General</c:formatCode>
                <c:ptCount val="2"/>
                <c:pt idx="0">
                  <c:v>40</c:v>
                </c:pt>
                <c:pt idx="1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D3-E04A-8D84-1435BD6735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12837712"/>
        <c:axId val="1012840112"/>
      </c:areaChart>
      <c:lineChart>
        <c:grouping val="standard"/>
        <c:varyColors val="0"/>
        <c:ser>
          <c:idx val="0"/>
          <c:order val="0"/>
          <c:spPr>
            <a:ln w="28575" cap="rnd">
              <a:solidFill>
                <a:sysClr val="windowText" lastClr="000000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ysClr val="windowText" lastClr="000000"/>
              </a:solidFill>
              <a:ln w="1587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armonyOS Sans SC" pitchFamily="2" charset="-122"/>
                    <a:ea typeface="HarmonyOS Sans SC" pitchFamily="2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Sheet1!$D$6:$D$7</c:f>
              <c:numCache>
                <c:formatCode>General</c:formatCode>
                <c:ptCount val="2"/>
                <c:pt idx="0">
                  <c:v>2019</c:v>
                </c:pt>
                <c:pt idx="1">
                  <c:v>2020</c:v>
                </c:pt>
              </c:numCache>
            </c:numRef>
          </c:cat>
          <c:val>
            <c:numRef>
              <c:f>Sheet1!$E$6:$E$7</c:f>
              <c:numCache>
                <c:formatCode>General</c:formatCode>
                <c:ptCount val="2"/>
                <c:pt idx="0">
                  <c:v>40</c:v>
                </c:pt>
                <c:pt idx="1">
                  <c:v>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8D3-E04A-8D84-1435BD6735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2837712"/>
        <c:axId val="1012840112"/>
      </c:lineChart>
      <c:catAx>
        <c:axId val="1012837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1012840112"/>
        <c:crosses val="autoZero"/>
        <c:auto val="1"/>
        <c:lblAlgn val="ctr"/>
        <c:lblOffset val="100"/>
        <c:noMultiLvlLbl val="0"/>
      </c:catAx>
      <c:valAx>
        <c:axId val="101284011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12837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 b="1" i="0">
          <a:latin typeface="HarmonyOS Sans SC" pitchFamily="2" charset="-122"/>
          <a:ea typeface="HarmonyOS Sans SC" pitchFamily="2" charset="-122"/>
        </a:defRPr>
      </a:pPr>
      <a:endParaRPr lang="zh-CN"/>
    </a:p>
  </c:txPr>
  <c:externalData r:id="rId4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areaChart>
        <c:grouping val="standard"/>
        <c:varyColors val="0"/>
        <c:ser>
          <c:idx val="1"/>
          <c:order val="1"/>
          <c:spPr>
            <a:solidFill>
              <a:srgbClr val="CDD2D5"/>
            </a:solidFill>
            <a:ln>
              <a:noFill/>
            </a:ln>
            <a:effectLst/>
          </c:spPr>
          <c:cat>
            <c:numRef>
              <c:f>Sheet1!$D$6:$D$7</c:f>
              <c:numCache>
                <c:formatCode>General</c:formatCode>
                <c:ptCount val="2"/>
                <c:pt idx="0">
                  <c:v>2019</c:v>
                </c:pt>
                <c:pt idx="1">
                  <c:v>2020</c:v>
                </c:pt>
              </c:numCache>
            </c:numRef>
          </c:cat>
          <c:val>
            <c:numRef>
              <c:f>Sheet1!$E$6:$E$7</c:f>
              <c:numCache>
                <c:formatCode>General</c:formatCode>
                <c:ptCount val="2"/>
                <c:pt idx="0">
                  <c:v>59</c:v>
                </c:pt>
                <c:pt idx="1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21-DB4C-9C09-115BF16E26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12837712"/>
        <c:axId val="1012840112"/>
      </c:areaChart>
      <c:lineChart>
        <c:grouping val="standard"/>
        <c:varyColors val="0"/>
        <c:ser>
          <c:idx val="0"/>
          <c:order val="0"/>
          <c:spPr>
            <a:ln w="28575" cap="rnd">
              <a:solidFill>
                <a:sysClr val="windowText" lastClr="000000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ysClr val="windowText" lastClr="000000"/>
              </a:solidFill>
              <a:ln w="1587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armonyOS Sans SC" pitchFamily="2" charset="-122"/>
                    <a:ea typeface="HarmonyOS Sans SC" pitchFamily="2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Sheet1!$D$6:$D$7</c:f>
              <c:numCache>
                <c:formatCode>General</c:formatCode>
                <c:ptCount val="2"/>
                <c:pt idx="0">
                  <c:v>2019</c:v>
                </c:pt>
                <c:pt idx="1">
                  <c:v>2020</c:v>
                </c:pt>
              </c:numCache>
            </c:numRef>
          </c:cat>
          <c:val>
            <c:numRef>
              <c:f>Sheet1!$E$6:$E$7</c:f>
              <c:numCache>
                <c:formatCode>General</c:formatCode>
                <c:ptCount val="2"/>
                <c:pt idx="0">
                  <c:v>59</c:v>
                </c:pt>
                <c:pt idx="1">
                  <c:v>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C21-DB4C-9C09-115BF16E26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2837712"/>
        <c:axId val="1012840112"/>
      </c:lineChart>
      <c:catAx>
        <c:axId val="1012837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1012840112"/>
        <c:crosses val="autoZero"/>
        <c:auto val="1"/>
        <c:lblAlgn val="ctr"/>
        <c:lblOffset val="100"/>
        <c:noMultiLvlLbl val="0"/>
      </c:catAx>
      <c:valAx>
        <c:axId val="101284011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12837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 b="1" i="0">
          <a:latin typeface="HarmonyOS Sans SC" pitchFamily="2" charset="-122"/>
          <a:ea typeface="HarmonyOS Sans SC" pitchFamily="2" charset="-122"/>
        </a:defRPr>
      </a:pPr>
      <a:endParaRPr lang="zh-CN"/>
    </a:p>
  </c:txPr>
  <c:externalData r:id="rId4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6.5775069977235326E-2"/>
          <c:y val="8.0045985473229345E-2"/>
          <c:w val="0.86844986004552938"/>
          <c:h val="0.8319034305062184"/>
        </c:manualLayout>
      </c:layout>
      <c:areaChart>
        <c:grouping val="standard"/>
        <c:varyColors val="0"/>
        <c:ser>
          <c:idx val="1"/>
          <c:order val="1"/>
          <c:spPr>
            <a:solidFill>
              <a:srgbClr val="CDD2D5"/>
            </a:solidFill>
            <a:ln>
              <a:noFill/>
            </a:ln>
            <a:effectLst/>
          </c:spPr>
          <c:cat>
            <c:numRef>
              <c:f>Sheet1!$D$6:$D$7</c:f>
              <c:numCache>
                <c:formatCode>General</c:formatCode>
                <c:ptCount val="2"/>
                <c:pt idx="0">
                  <c:v>2019</c:v>
                </c:pt>
                <c:pt idx="1">
                  <c:v>2020</c:v>
                </c:pt>
              </c:numCache>
            </c:numRef>
          </c:cat>
          <c:val>
            <c:numRef>
              <c:f>Sheet1!$E$6:$E$7</c:f>
              <c:numCache>
                <c:formatCode>General</c:formatCode>
                <c:ptCount val="2"/>
                <c:pt idx="0">
                  <c:v>41</c:v>
                </c:pt>
                <c:pt idx="1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F1-0D4F-B98D-9829EFDB2C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11608687"/>
        <c:axId val="663803231"/>
      </c:areaChart>
      <c:lineChart>
        <c:grouping val="standard"/>
        <c:varyColors val="0"/>
        <c:ser>
          <c:idx val="0"/>
          <c:order val="0"/>
          <c:spPr>
            <a:ln w="28575" cap="rnd">
              <a:solidFill>
                <a:sysClr val="windowText" lastClr="000000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ysClr val="windowText" lastClr="000000"/>
              </a:solidFill>
              <a:ln w="1587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armonyOS Sans SC" pitchFamily="2" charset="-122"/>
                    <a:ea typeface="HarmonyOS Sans SC" pitchFamily="2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Sheet1!$D$6:$D$7</c:f>
              <c:numCache>
                <c:formatCode>General</c:formatCode>
                <c:ptCount val="2"/>
                <c:pt idx="0">
                  <c:v>2019</c:v>
                </c:pt>
                <c:pt idx="1">
                  <c:v>2020</c:v>
                </c:pt>
              </c:numCache>
            </c:numRef>
          </c:cat>
          <c:val>
            <c:numRef>
              <c:f>Sheet1!$E$6:$E$7</c:f>
              <c:numCache>
                <c:formatCode>General</c:formatCode>
                <c:ptCount val="2"/>
                <c:pt idx="0">
                  <c:v>41</c:v>
                </c:pt>
                <c:pt idx="1">
                  <c:v>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CF1-0D4F-B98D-9829EFDB2C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2837712"/>
        <c:axId val="1012840112"/>
      </c:lineChart>
      <c:catAx>
        <c:axId val="1012837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1012840112"/>
        <c:crosses val="autoZero"/>
        <c:auto val="1"/>
        <c:lblAlgn val="ctr"/>
        <c:lblOffset val="100"/>
        <c:noMultiLvlLbl val="0"/>
      </c:catAx>
      <c:valAx>
        <c:axId val="101284011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12837712"/>
        <c:crosses val="autoZero"/>
        <c:crossBetween val="between"/>
      </c:valAx>
      <c:valAx>
        <c:axId val="663803231"/>
        <c:scaling>
          <c:orientation val="minMax"/>
          <c:min val="10"/>
        </c:scaling>
        <c:delete val="1"/>
        <c:axPos val="r"/>
        <c:numFmt formatCode="General" sourceLinked="1"/>
        <c:majorTickMark val="out"/>
        <c:minorTickMark val="none"/>
        <c:tickLblPos val="nextTo"/>
        <c:crossAx val="711608687"/>
        <c:crosses val="max"/>
        <c:crossBetween val="between"/>
      </c:valAx>
      <c:catAx>
        <c:axId val="71160868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66380323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 b="1" i="0">
          <a:latin typeface="HarmonyOS Sans SC" pitchFamily="2" charset="-122"/>
          <a:ea typeface="HarmonyOS Sans SC" pitchFamily="2" charset="-122"/>
        </a:defRPr>
      </a:pPr>
      <a:endParaRPr lang="zh-CN"/>
    </a:p>
  </c:txPr>
  <c:externalData r:id="rId4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6.5775069977235326E-2"/>
          <c:y val="0.31012278569039747"/>
          <c:w val="0.86844986004552938"/>
          <c:h val="0.61571741773146405"/>
        </c:manualLayout>
      </c:layout>
      <c:areaChart>
        <c:grouping val="standard"/>
        <c:varyColors val="0"/>
        <c:ser>
          <c:idx val="1"/>
          <c:order val="1"/>
          <c:spPr>
            <a:solidFill>
              <a:srgbClr val="CDD2D5"/>
            </a:solidFill>
            <a:ln>
              <a:noFill/>
            </a:ln>
            <a:effectLst/>
          </c:spPr>
          <c:cat>
            <c:numRef>
              <c:f>Sheet1!$D$6:$D$7</c:f>
              <c:numCache>
                <c:formatCode>General</c:formatCode>
                <c:ptCount val="2"/>
                <c:pt idx="0">
                  <c:v>2019</c:v>
                </c:pt>
                <c:pt idx="1">
                  <c:v>2020</c:v>
                </c:pt>
              </c:numCache>
            </c:numRef>
          </c:cat>
          <c:val>
            <c:numRef>
              <c:f>Sheet1!$E$6:$E$7</c:f>
              <c:numCache>
                <c:formatCode>General</c:formatCode>
                <c:ptCount val="2"/>
                <c:pt idx="0">
                  <c:v>37</c:v>
                </c:pt>
                <c:pt idx="1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E3-7744-B913-3AD4D627C6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12837712"/>
        <c:axId val="1012840112"/>
      </c:areaChart>
      <c:lineChart>
        <c:grouping val="standard"/>
        <c:varyColors val="0"/>
        <c:ser>
          <c:idx val="0"/>
          <c:order val="0"/>
          <c:spPr>
            <a:ln w="28575" cap="rnd">
              <a:solidFill>
                <a:sysClr val="windowText" lastClr="000000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ysClr val="windowText" lastClr="000000"/>
              </a:solidFill>
              <a:ln w="1587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0.11011368210913389"/>
                  <c:y val="-0.1023872341103213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0E3-7744-B913-3AD4D627C6EF}"/>
                </c:ext>
              </c:extLst>
            </c:dLbl>
            <c:dLbl>
              <c:idx val="1"/>
              <c:layout>
                <c:manualLayout>
                  <c:x val="-9.8154578476909282E-2"/>
                  <c:y val="-9.826146504084894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0E3-7744-B913-3AD4D627C6E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armonyOS Sans SC" pitchFamily="2" charset="-122"/>
                    <a:ea typeface="HarmonyOS Sans SC" pitchFamily="2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Sheet1!$D$6:$D$7</c:f>
              <c:numCache>
                <c:formatCode>General</c:formatCode>
                <c:ptCount val="2"/>
                <c:pt idx="0">
                  <c:v>2019</c:v>
                </c:pt>
                <c:pt idx="1">
                  <c:v>2020</c:v>
                </c:pt>
              </c:numCache>
            </c:numRef>
          </c:cat>
          <c:val>
            <c:numRef>
              <c:f>Sheet1!$E$6:$E$7</c:f>
              <c:numCache>
                <c:formatCode>General</c:formatCode>
                <c:ptCount val="2"/>
                <c:pt idx="0">
                  <c:v>37</c:v>
                </c:pt>
                <c:pt idx="1">
                  <c:v>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0E3-7744-B913-3AD4D627C6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2837712"/>
        <c:axId val="1012840112"/>
      </c:lineChart>
      <c:catAx>
        <c:axId val="1012837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1012840112"/>
        <c:crosses val="autoZero"/>
        <c:auto val="1"/>
        <c:lblAlgn val="ctr"/>
        <c:lblOffset val="100"/>
        <c:noMultiLvlLbl val="0"/>
      </c:catAx>
      <c:valAx>
        <c:axId val="101284011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12837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 b="1" i="0">
          <a:latin typeface="HarmonyOS Sans SC" pitchFamily="2" charset="-122"/>
          <a:ea typeface="HarmonyOS Sans SC" pitchFamily="2" charset="-122"/>
        </a:defRPr>
      </a:pPr>
      <a:endParaRPr lang="zh-CN"/>
    </a:p>
  </c:txPr>
  <c:externalData r:id="rId4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6.5775069977235326E-2"/>
          <c:y val="4.7522114621843706E-2"/>
          <c:w val="0.86844986004552938"/>
          <c:h val="0.90020355929412799"/>
        </c:manualLayout>
      </c:layout>
      <c:areaChart>
        <c:grouping val="standard"/>
        <c:varyColors val="0"/>
        <c:ser>
          <c:idx val="1"/>
          <c:order val="1"/>
          <c:spPr>
            <a:solidFill>
              <a:srgbClr val="CDD2D5"/>
            </a:solidFill>
            <a:ln>
              <a:noFill/>
            </a:ln>
            <a:effectLst/>
          </c:spPr>
          <c:cat>
            <c:numRef>
              <c:f>Sheet1!$D$6:$D$7</c:f>
              <c:numCache>
                <c:formatCode>General</c:formatCode>
                <c:ptCount val="2"/>
                <c:pt idx="0">
                  <c:v>2019</c:v>
                </c:pt>
                <c:pt idx="1">
                  <c:v>2020</c:v>
                </c:pt>
              </c:numCache>
            </c:numRef>
          </c:cat>
          <c:val>
            <c:numRef>
              <c:f>Sheet1!$E$6:$E$7</c:f>
              <c:numCache>
                <c:formatCode>General</c:formatCode>
                <c:ptCount val="2"/>
                <c:pt idx="0">
                  <c:v>77</c:v>
                </c:pt>
                <c:pt idx="1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A3-6240-8563-66BD0DD7A2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60607328"/>
        <c:axId val="360641392"/>
      </c:areaChart>
      <c:lineChart>
        <c:grouping val="standard"/>
        <c:varyColors val="0"/>
        <c:ser>
          <c:idx val="0"/>
          <c:order val="0"/>
          <c:spPr>
            <a:ln w="28575" cap="rnd">
              <a:solidFill>
                <a:sysClr val="windowText" lastClr="000000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ysClr val="windowText" lastClr="000000"/>
              </a:solidFill>
              <a:ln w="15875">
                <a:noFill/>
              </a:ln>
              <a:effectLst/>
            </c:spPr>
          </c:marker>
          <c:dLbls>
            <c:dLbl>
              <c:idx val="1"/>
              <c:layout>
                <c:manualLayout>
                  <c:x val="-6.2277267580235461E-2"/>
                  <c:y val="-0.11760706882413467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CA3-6240-8563-66BD0DD7A2F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armonyOS Sans SC" pitchFamily="2" charset="-122"/>
                    <a:ea typeface="HarmonyOS Sans SC" pitchFamily="2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Sheet1!$D$6:$D$7</c:f>
              <c:numCache>
                <c:formatCode>General</c:formatCode>
                <c:ptCount val="2"/>
                <c:pt idx="0">
                  <c:v>2019</c:v>
                </c:pt>
                <c:pt idx="1">
                  <c:v>2020</c:v>
                </c:pt>
              </c:numCache>
            </c:numRef>
          </c:cat>
          <c:val>
            <c:numRef>
              <c:f>Sheet1!$E$6:$E$7</c:f>
              <c:numCache>
                <c:formatCode>General</c:formatCode>
                <c:ptCount val="2"/>
                <c:pt idx="0">
                  <c:v>77</c:v>
                </c:pt>
                <c:pt idx="1">
                  <c:v>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CA3-6240-8563-66BD0DD7A2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2837712"/>
        <c:axId val="1012840112"/>
      </c:lineChart>
      <c:catAx>
        <c:axId val="1012837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1012840112"/>
        <c:crosses val="autoZero"/>
        <c:auto val="1"/>
        <c:lblAlgn val="ctr"/>
        <c:lblOffset val="100"/>
        <c:noMultiLvlLbl val="0"/>
      </c:catAx>
      <c:valAx>
        <c:axId val="101284011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12837712"/>
        <c:crosses val="autoZero"/>
        <c:crossBetween val="between"/>
      </c:valAx>
      <c:valAx>
        <c:axId val="360641392"/>
        <c:scaling>
          <c:orientation val="minMax"/>
          <c:min val="40"/>
        </c:scaling>
        <c:delete val="1"/>
        <c:axPos val="r"/>
        <c:numFmt formatCode="General" sourceLinked="1"/>
        <c:majorTickMark val="out"/>
        <c:minorTickMark val="none"/>
        <c:tickLblPos val="nextTo"/>
        <c:crossAx val="360607328"/>
        <c:crosses val="max"/>
        <c:crossBetween val="between"/>
      </c:valAx>
      <c:catAx>
        <c:axId val="36060732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6064139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 b="1" i="0">
          <a:latin typeface="HarmonyOS Sans SC" pitchFamily="2" charset="-122"/>
          <a:ea typeface="HarmonyOS Sans SC" pitchFamily="2" charset="-122"/>
        </a:defRPr>
      </a:pPr>
      <a:endParaRPr lang="zh-CN"/>
    </a:p>
  </c:txPr>
  <c:externalData r:id="rId4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Sheet1!$F$5</c:f>
              <c:strCache>
                <c:ptCount val="1"/>
                <c:pt idx="0">
                  <c:v>数值1</c:v>
                </c:pt>
              </c:strCache>
            </c:strRef>
          </c:tx>
          <c:spPr>
            <a:solidFill>
              <a:srgbClr val="00A8F7"/>
            </a:solidFill>
            <a:ln>
              <a:noFill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125-CE4D-95BF-F8EAEBD9E989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125-CE4D-95BF-F8EAEBD9E98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armonyOS Sans SC" pitchFamily="2" charset="-122"/>
                    <a:ea typeface="HarmonyOS Sans SC" pitchFamily="2" charset="-122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Sheet1!$E$6:$E$15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Sheet1!$F$6:$F$15</c:f>
              <c:numCache>
                <c:formatCode>General</c:formatCode>
                <c:ptCount val="10"/>
                <c:pt idx="0">
                  <c:v>58</c:v>
                </c:pt>
                <c:pt idx="1">
                  <c:v>57</c:v>
                </c:pt>
                <c:pt idx="2">
                  <c:v>50</c:v>
                </c:pt>
                <c:pt idx="3">
                  <c:v>47</c:v>
                </c:pt>
                <c:pt idx="4">
                  <c:v>46</c:v>
                </c:pt>
                <c:pt idx="5">
                  <c:v>45</c:v>
                </c:pt>
                <c:pt idx="6">
                  <c:v>40</c:v>
                </c:pt>
                <c:pt idx="7">
                  <c:v>35</c:v>
                </c:pt>
                <c:pt idx="8">
                  <c:v>29</c:v>
                </c:pt>
                <c:pt idx="9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D9-42D1-8C92-C36CA23229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1121100336"/>
        <c:axId val="1121087856"/>
      </c:barChart>
      <c:barChart>
        <c:barDir val="bar"/>
        <c:grouping val="clustered"/>
        <c:varyColors val="0"/>
        <c:ser>
          <c:idx val="1"/>
          <c:order val="1"/>
          <c:tx>
            <c:strRef>
              <c:f>Sheet1!$G$5</c:f>
              <c:strCache>
                <c:ptCount val="1"/>
                <c:pt idx="0">
                  <c:v>数值2</c:v>
                </c:pt>
              </c:strCache>
            </c:strRef>
          </c:tx>
          <c:spPr>
            <a:solidFill>
              <a:sysClr val="windowText" lastClr="0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HarmonyOS Sans SC" pitchFamily="2" charset="-122"/>
                    <a:ea typeface="HarmonyOS Sans SC" pitchFamily="2" charset="-122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Sheet1!$E$6:$E$15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Sheet1!$G$6:$G$15</c:f>
              <c:numCache>
                <c:formatCode>General</c:formatCode>
                <c:ptCount val="10"/>
                <c:pt idx="0">
                  <c:v>64</c:v>
                </c:pt>
                <c:pt idx="1">
                  <c:v>47</c:v>
                </c:pt>
                <c:pt idx="2">
                  <c:v>23</c:v>
                </c:pt>
                <c:pt idx="3">
                  <c:v>18</c:v>
                </c:pt>
                <c:pt idx="4">
                  <c:v>33</c:v>
                </c:pt>
                <c:pt idx="5">
                  <c:v>26</c:v>
                </c:pt>
                <c:pt idx="6">
                  <c:v>25</c:v>
                </c:pt>
                <c:pt idx="7">
                  <c:v>13</c:v>
                </c:pt>
                <c:pt idx="8">
                  <c:v>13</c:v>
                </c:pt>
                <c:pt idx="9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7D9-42D1-8C92-C36CA23229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41"/>
        <c:overlap val="-27"/>
        <c:axId val="1121090736"/>
        <c:axId val="1121082576"/>
      </c:barChart>
      <c:catAx>
        <c:axId val="112110033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21087856"/>
        <c:crosses val="autoZero"/>
        <c:auto val="1"/>
        <c:lblAlgn val="ctr"/>
        <c:lblOffset val="100"/>
        <c:noMultiLvlLbl val="0"/>
      </c:catAx>
      <c:valAx>
        <c:axId val="112108785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121100336"/>
        <c:crosses val="max"/>
        <c:crossBetween val="between"/>
      </c:valAx>
      <c:valAx>
        <c:axId val="112108257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21090736"/>
        <c:crosses val="max"/>
        <c:crossBetween val="between"/>
      </c:valAx>
      <c:catAx>
        <c:axId val="1121090736"/>
        <c:scaling>
          <c:orientation val="maxMin"/>
        </c:scaling>
        <c:delete val="1"/>
        <c:axPos val="r"/>
        <c:numFmt formatCode="General" sourceLinked="1"/>
        <c:majorTickMark val="out"/>
        <c:minorTickMark val="none"/>
        <c:tickLblPos val="nextTo"/>
        <c:crossAx val="1121082576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6161335187760782E-2"/>
          <c:y val="4.9523809523809526E-2"/>
          <c:w val="0.92767732962447846"/>
          <c:h val="0.90095238095238095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00ABF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609B-2046-A1E5-7A0F4B52DCE1}"/>
              </c:ext>
            </c:extLst>
          </c:dPt>
          <c:val>
            <c:numRef>
              <c:f>Sheet1!$A$1:$E$1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25</c:v>
                </c:pt>
                <c:pt idx="3">
                  <c:v>5</c:v>
                </c:pt>
                <c:pt idx="4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09B-2046-A1E5-7A0F4B52DCE1}"/>
            </c:ext>
          </c:extLst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B3B3B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609B-2046-A1E5-7A0F4B52DCE1}"/>
              </c:ext>
            </c:extLst>
          </c:dPt>
          <c:val>
            <c:numRef>
              <c:f>Sheet1!$A$2:$E$2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09B-2046-A1E5-7A0F4B52DC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813011024"/>
        <c:axId val="1"/>
      </c:barChart>
      <c:catAx>
        <c:axId val="1813011024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8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81301102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6161335187760782E-2"/>
          <c:y val="4.9523809523809526E-2"/>
          <c:w val="0.92767732962447846"/>
          <c:h val="0.90095238095238095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00ABF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827A-044A-B15F-6D4274DE2FBE}"/>
              </c:ext>
            </c:extLst>
          </c:dPt>
          <c:val>
            <c:numRef>
              <c:f>Sheet1!$A$1:$E$1</c:f>
              <c:numCache>
                <c:formatCode>General</c:formatCode>
                <c:ptCount val="5"/>
                <c:pt idx="0">
                  <c:v>0</c:v>
                </c:pt>
                <c:pt idx="1">
                  <c:v>3</c:v>
                </c:pt>
                <c:pt idx="2">
                  <c:v>21</c:v>
                </c:pt>
                <c:pt idx="3">
                  <c:v>7.0000000000000009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27A-044A-B15F-6D4274DE2FBE}"/>
            </c:ext>
          </c:extLst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B3B3B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827A-044A-B15F-6D4274DE2FBE}"/>
              </c:ext>
            </c:extLst>
          </c:dPt>
          <c:val>
            <c:numRef>
              <c:f>Sheet1!$A$2:$E$2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6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27A-044A-B15F-6D4274DE2F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635274256"/>
        <c:axId val="1"/>
      </c:barChart>
      <c:catAx>
        <c:axId val="1635274256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7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63527425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6161335187760782E-2"/>
          <c:y val="4.9523809523809526E-2"/>
          <c:w val="0.92767732962447846"/>
          <c:h val="0.90095238095238095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00ABF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6E56-FA45-BD27-F281C678E9A5}"/>
              </c:ext>
            </c:extLst>
          </c:dPt>
          <c:val>
            <c:numRef>
              <c:f>Sheet1!$A$1:$E$1</c:f>
              <c:numCache>
                <c:formatCode>General</c:formatCode>
                <c:ptCount val="5"/>
                <c:pt idx="0">
                  <c:v>3</c:v>
                </c:pt>
                <c:pt idx="1">
                  <c:v>6</c:v>
                </c:pt>
                <c:pt idx="2">
                  <c:v>20</c:v>
                </c:pt>
                <c:pt idx="3">
                  <c:v>15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E56-FA45-BD27-F281C678E9A5}"/>
            </c:ext>
          </c:extLst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B3B3B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6E56-FA45-BD27-F281C678E9A5}"/>
              </c:ext>
            </c:extLst>
          </c:dPt>
          <c:val>
            <c:numRef>
              <c:f>Sheet1!$A$2:$E$2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8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E56-FA45-BD27-F281C678E9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577092816"/>
        <c:axId val="1"/>
      </c:barChart>
      <c:catAx>
        <c:axId val="1577092816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8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57709281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6161335187760782E-2"/>
          <c:y val="4.9523809523809526E-2"/>
          <c:w val="0.92767732962447846"/>
          <c:h val="0.90095238095238095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0.6</c:v>
                </c:pt>
                <c:pt idx="1">
                  <c:v>0.85</c:v>
                </c:pt>
                <c:pt idx="2">
                  <c:v>1.1499999999999999</c:v>
                </c:pt>
                <c:pt idx="3">
                  <c:v>0.44</c:v>
                </c:pt>
                <c:pt idx="4">
                  <c:v>0.99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4C-654A-860B-071142791B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635236112"/>
        <c:axId val="1"/>
      </c:barChart>
      <c:catAx>
        <c:axId val="1635236112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.1499999999999999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63523611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6161335187760782E-2"/>
          <c:y val="4.9523809523809526E-2"/>
          <c:w val="0.92767732962447846"/>
          <c:h val="0.90095238095238095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0.21</c:v>
                </c:pt>
                <c:pt idx="1">
                  <c:v>0.54</c:v>
                </c:pt>
                <c:pt idx="2">
                  <c:v>0.82</c:v>
                </c:pt>
                <c:pt idx="3">
                  <c:v>0.4</c:v>
                </c:pt>
                <c:pt idx="4">
                  <c:v>0.66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13-424D-919C-ADFCAF7A3E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715063568"/>
        <c:axId val="1"/>
      </c:barChart>
      <c:catAx>
        <c:axId val="1715063568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0.82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715063568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6161335187760782E-2"/>
          <c:y val="4.9523809523809526E-2"/>
          <c:w val="0.92767732962447846"/>
          <c:h val="0.90095238095238095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00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38F9-DB47-8266-D4981AEC3A57}"/>
              </c:ext>
            </c:extLst>
          </c:dPt>
          <c:val>
            <c:numRef>
              <c:f>Sheet1!$A$1:$E$1</c:f>
              <c:numCache>
                <c:formatCode>General</c:formatCode>
                <c:ptCount val="5"/>
                <c:pt idx="0">
                  <c:v>0.91</c:v>
                </c:pt>
                <c:pt idx="1">
                  <c:v>0.18</c:v>
                </c:pt>
                <c:pt idx="2">
                  <c:v>1.1499999999999999</c:v>
                </c:pt>
                <c:pt idx="3">
                  <c:v>0.7</c:v>
                </c:pt>
                <c:pt idx="4">
                  <c:v>1.38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8F9-DB47-8266-D4981AEC3A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519939568"/>
        <c:axId val="1"/>
      </c:barChart>
      <c:catAx>
        <c:axId val="1519939568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.38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519939568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5384615384615385"/>
          <c:y val="0.12853863810252486"/>
          <c:w val="0.69230769230769229"/>
          <c:h val="0.69319051262433051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207E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ABF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528E-B94E-990E-877A62B4860F}"/>
              </c:ext>
            </c:extLst>
          </c:dPt>
          <c:dPt>
            <c:idx val="2"/>
            <c:invertIfNegative val="0"/>
            <c:bubble3D val="0"/>
            <c:spPr>
              <a:solidFill>
                <a:srgbClr val="0352F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528E-B94E-990E-877A62B4860F}"/>
              </c:ext>
            </c:extLst>
          </c:dPt>
          <c:dLbls>
            <c:dLbl>
              <c:idx val="0"/>
              <c:layout>
                <c:manualLayout>
                  <c:x val="0"/>
                  <c:y val="-0.3420045906656465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528E-B94E-990E-877A62B4860F}"/>
                </c:ext>
              </c:extLst>
            </c:dLbl>
            <c:dLbl>
              <c:idx val="1"/>
              <c:layout>
                <c:manualLayout>
                  <c:x val="0"/>
                  <c:y val="-0.3963274674827850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28E-B94E-990E-877A62B4860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-356</c:v>
                </c:pt>
                <c:pt idx="1">
                  <c:v>-422</c:v>
                </c:pt>
                <c:pt idx="2">
                  <c:v>-202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28E-B94E-990E-877A62B4860F}"/>
            </c:ext>
          </c:extLst>
        </c:ser>
        <c:ser>
          <c:idx val="1"/>
          <c:order val="1"/>
          <c:spPr>
            <a:solidFill>
              <a:schemeClr val="bg1"/>
            </a:solidFill>
            <a:ln>
              <a:noFill/>
            </a:ln>
          </c:spPr>
          <c:invertIfNegative val="0"/>
          <c:val>
            <c:numRef>
              <c:f>Sheet1!$A$2:$C$2</c:f>
              <c:numCache>
                <c:formatCode>General</c:formatCode>
                <c:ptCount val="3"/>
                <c:pt idx="2">
                  <c:v>-202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28E-B94E-990E-877A62B486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509824880"/>
        <c:axId val="1"/>
      </c:barChart>
      <c:catAx>
        <c:axId val="1509824880"/>
        <c:scaling>
          <c:orientation val="minMax"/>
        </c:scaling>
        <c:delete val="0"/>
        <c:axPos val="t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969696"/>
            </a:solidFill>
            <a:prstDash val="solid"/>
          </a:ln>
        </c:spPr>
        <c:crossAx val="1"/>
        <c:crosses val="max"/>
        <c:auto val="0"/>
        <c:lblAlgn val="ctr"/>
        <c:lblOffset val="100"/>
        <c:noMultiLvlLbl val="0"/>
      </c:catAx>
      <c:valAx>
        <c:axId val="1"/>
        <c:scaling>
          <c:orientation val="minMax"/>
          <c:max val="0"/>
          <c:min val="-422"/>
        </c:scaling>
        <c:delete val="1"/>
        <c:axPos val="l"/>
        <c:numFmt formatCode="General" sourceLinked="1"/>
        <c:majorTickMark val="out"/>
        <c:minorTickMark val="none"/>
        <c:tickLblPos val="nextTo"/>
        <c:crossAx val="1509824880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0952380952380956E-2"/>
          <c:y val="0.18140243902439024"/>
          <c:w val="0.83888888888888891"/>
          <c:h val="0.69054878048780488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207E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ABF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BC78-1642-89B6-9D4D5874A228}"/>
              </c:ext>
            </c:extLst>
          </c:dPt>
          <c:dPt>
            <c:idx val="2"/>
            <c:invertIfNegative val="0"/>
            <c:bubble3D val="0"/>
            <c:spPr>
              <a:solidFill>
                <a:srgbClr val="0352F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C78-1642-89B6-9D4D5874A228}"/>
              </c:ext>
            </c:extLst>
          </c:dPt>
          <c:dLbls>
            <c:dLbl>
              <c:idx val="0"/>
              <c:layout>
                <c:manualLayout>
                  <c:x val="0"/>
                  <c:y val="-0.3993902439024390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BC78-1642-89B6-9D4D5874A228}"/>
                </c:ext>
              </c:extLst>
            </c:dLbl>
            <c:dLbl>
              <c:idx val="1"/>
              <c:layout>
                <c:manualLayout>
                  <c:x val="0"/>
                  <c:y val="-0.288871951219512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BC78-1642-89B6-9D4D5874A228}"/>
                </c:ext>
              </c:extLst>
            </c:dLbl>
            <c:dLbl>
              <c:idx val="2"/>
              <c:layout>
                <c:manualLayout>
                  <c:x val="0"/>
                  <c:y val="-2.286585365853658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BC78-1642-89B6-9D4D5874A22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392</c:v>
                </c:pt>
                <c:pt idx="1">
                  <c:v>267</c:v>
                </c:pt>
                <c:pt idx="2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C78-1642-89B6-9D4D5874A228}"/>
            </c:ext>
          </c:extLst>
        </c:ser>
        <c:ser>
          <c:idx val="1"/>
          <c:order val="1"/>
          <c:spPr>
            <a:solidFill>
              <a:schemeClr val="bg1"/>
            </a:solidFill>
            <a:ln>
              <a:noFill/>
            </a:ln>
          </c:spPr>
          <c:invertIfNegative val="0"/>
          <c:val>
            <c:numRef>
              <c:f>Sheet1!$A$2:$C$2</c:f>
              <c:numCache>
                <c:formatCode>General</c:formatCode>
                <c:ptCount val="3"/>
                <c:pt idx="2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C78-1642-89B6-9D4D5874A2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34812224"/>
        <c:axId val="1"/>
      </c:barChart>
      <c:catAx>
        <c:axId val="163481222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969696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9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63481222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6521739130434782"/>
          <c:y val="0.1073038773669973"/>
          <c:w val="0.66956521739130437"/>
          <c:h val="0.7876465284039675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207E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ABF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89E5-BB46-A6CA-A686B0C56FDF}"/>
              </c:ext>
            </c:extLst>
          </c:dPt>
          <c:dPt>
            <c:idx val="2"/>
            <c:invertIfNegative val="0"/>
            <c:bubble3D val="0"/>
            <c:spPr>
              <a:solidFill>
                <a:srgbClr val="0352F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89E5-BB46-A6CA-A686B0C56FDF}"/>
              </c:ext>
            </c:extLst>
          </c:dPt>
          <c:dLbls>
            <c:dLbl>
              <c:idx val="0"/>
              <c:layout>
                <c:manualLayout>
                  <c:x val="0"/>
                  <c:y val="-0.2484220018034265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89E5-BB46-A6CA-A686B0C56FDF}"/>
                </c:ext>
              </c:extLst>
            </c:dLbl>
            <c:dLbl>
              <c:idx val="1"/>
              <c:layout>
                <c:manualLayout>
                  <c:x val="0"/>
                  <c:y val="-0.2064923354373309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9E5-BB46-A6CA-A686B0C56FDF}"/>
                </c:ext>
              </c:extLst>
            </c:dLbl>
            <c:dLbl>
              <c:idx val="2"/>
              <c:layout>
                <c:manualLayout>
                  <c:x val="0"/>
                  <c:y val="-1.80342651036970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 Light"/>
                      <a:ea typeface="HarmonyOS Sans SC Light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9E5-BB46-A6CA-A686B0C56FD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412</c:v>
                </c:pt>
                <c:pt idx="1">
                  <c:v>-337</c:v>
                </c:pt>
                <c:pt idx="2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9E5-BB46-A6CA-A686B0C56FDF}"/>
            </c:ext>
          </c:extLst>
        </c:ser>
        <c:ser>
          <c:idx val="1"/>
          <c:order val="1"/>
          <c:spPr>
            <a:solidFill>
              <a:schemeClr val="bg1"/>
            </a:solidFill>
            <a:ln>
              <a:noFill/>
            </a:ln>
          </c:spPr>
          <c:invertIfNegative val="0"/>
          <c:val>
            <c:numRef>
              <c:f>Sheet1!$A$2:$C$2</c:f>
              <c:numCache>
                <c:formatCode>General</c:formatCode>
                <c:ptCount val="3"/>
                <c:pt idx="2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9E5-BB46-A6CA-A686B0C56F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588525008"/>
        <c:axId val="1"/>
      </c:barChart>
      <c:catAx>
        <c:axId val="1588525008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969696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412"/>
          <c:min val="-337"/>
        </c:scaling>
        <c:delete val="1"/>
        <c:axPos val="l"/>
        <c:numFmt formatCode="General" sourceLinked="1"/>
        <c:majorTickMark val="out"/>
        <c:minorTickMark val="none"/>
        <c:tickLblPos val="nextTo"/>
        <c:crossAx val="1588525008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238095238095238"/>
          <c:y val="0.20606060606060606"/>
          <c:w val="0.79523809523809519"/>
          <c:h val="0.6484848484848484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207E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ABF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A685-0B49-A492-2468987596A5}"/>
              </c:ext>
            </c:extLst>
          </c:dPt>
          <c:dPt>
            <c:idx val="2"/>
            <c:invertIfNegative val="0"/>
            <c:bubble3D val="0"/>
            <c:spPr>
              <a:solidFill>
                <a:srgbClr val="0352F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A685-0B49-A492-2468987596A5}"/>
              </c:ext>
            </c:extLst>
          </c:dPt>
          <c:dLbls>
            <c:dLbl>
              <c:idx val="0"/>
              <c:layout>
                <c:manualLayout>
                  <c:x val="0"/>
                  <c:y val="-0.3861471861471861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A685-0B49-A492-2468987596A5}"/>
                </c:ext>
              </c:extLst>
            </c:dLbl>
            <c:dLbl>
              <c:idx val="1"/>
              <c:layout>
                <c:manualLayout>
                  <c:x val="0"/>
                  <c:y val="-0.1852813852813852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A685-0B49-A492-2468987596A5}"/>
                </c:ext>
              </c:extLst>
            </c:dLbl>
            <c:dLbl>
              <c:idx val="2"/>
              <c:layout>
                <c:manualLayout>
                  <c:x val="0"/>
                  <c:y val="-3.463203463203463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 Light"/>
                      <a:ea typeface="HarmonyOS Sans SC Light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A685-0B49-A492-2468987596A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331</c:v>
                </c:pt>
                <c:pt idx="1">
                  <c:v>127</c:v>
                </c:pt>
                <c:pt idx="2">
                  <c:v>162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685-0B49-A492-2468987596A5}"/>
            </c:ext>
          </c:extLst>
        </c:ser>
        <c:ser>
          <c:idx val="1"/>
          <c:order val="1"/>
          <c:spPr>
            <a:solidFill>
              <a:schemeClr val="bg1"/>
            </a:solidFill>
            <a:ln>
              <a:noFill/>
            </a:ln>
          </c:spPr>
          <c:invertIfNegative val="0"/>
          <c:val>
            <c:numRef>
              <c:f>Sheet1!$A$2:$C$2</c:f>
              <c:numCache>
                <c:formatCode>General</c:formatCode>
                <c:ptCount val="3"/>
                <c:pt idx="2">
                  <c:v>162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685-0B49-A492-2468987596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518600640"/>
        <c:axId val="1"/>
      </c:barChart>
      <c:catAx>
        <c:axId val="151860064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969696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31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518600640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238095238095238"/>
          <c:y val="0.31733333333333336"/>
          <c:w val="0.79523809523809519"/>
          <c:h val="0.4586666666666666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207E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ABF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D386-2844-B4BC-CF1BAB2BDA82}"/>
              </c:ext>
            </c:extLst>
          </c:dPt>
          <c:dPt>
            <c:idx val="2"/>
            <c:invertIfNegative val="0"/>
            <c:bubble3D val="0"/>
            <c:spPr>
              <a:solidFill>
                <a:srgbClr val="0352F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D386-2844-B4BC-CF1BAB2BDA82}"/>
              </c:ext>
            </c:extLst>
          </c:dPt>
          <c:dLbls>
            <c:dLbl>
              <c:idx val="0"/>
              <c:layout>
                <c:manualLayout>
                  <c:x val="0"/>
                  <c:y val="-0.3240000000000000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D386-2844-B4BC-CF1BAB2BDA82}"/>
                </c:ext>
              </c:extLst>
            </c:dLbl>
            <c:dLbl>
              <c:idx val="1"/>
              <c:layout>
                <c:manualLayout>
                  <c:x val="0"/>
                  <c:y val="-0.2959999999999999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D386-2844-B4BC-CF1BAB2BDA82}"/>
                </c:ext>
              </c:extLst>
            </c:dLbl>
            <c:dLbl>
              <c:idx val="2"/>
              <c:layout>
                <c:manualLayout>
                  <c:x val="0"/>
                  <c:y val="-4.000000000000000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 Light"/>
                      <a:ea typeface="HarmonyOS Sans SC Light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D386-2844-B4BC-CF1BAB2BDA8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159</c:v>
                </c:pt>
                <c:pt idx="1">
                  <c:v>139</c:v>
                </c:pt>
                <c:pt idx="2">
                  <c:v>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386-2844-B4BC-CF1BAB2BDA82}"/>
            </c:ext>
          </c:extLst>
        </c:ser>
        <c:ser>
          <c:idx val="1"/>
          <c:order val="1"/>
          <c:spPr>
            <a:solidFill>
              <a:schemeClr val="bg1"/>
            </a:solidFill>
            <a:ln>
              <a:noFill/>
            </a:ln>
          </c:spPr>
          <c:invertIfNegative val="0"/>
          <c:val>
            <c:numRef>
              <c:f>Sheet1!$A$2:$C$2</c:f>
              <c:numCache>
                <c:formatCode>General</c:formatCode>
                <c:ptCount val="3"/>
                <c:pt idx="2">
                  <c:v>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386-2844-B4BC-CF1BAB2BDA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71815775"/>
        <c:axId val="1"/>
      </c:barChart>
      <c:catAx>
        <c:axId val="17181577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969696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5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7181577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238095238095238"/>
          <c:y val="0.1168958742632613"/>
          <c:w val="0.79523809523809519"/>
          <c:h val="0.8005893909626719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207E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ABF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96D0-E24C-AF5F-4560031C9A69}"/>
              </c:ext>
            </c:extLst>
          </c:dPt>
          <c:dPt>
            <c:idx val="2"/>
            <c:invertIfNegative val="0"/>
            <c:bubble3D val="0"/>
            <c:spPr>
              <a:solidFill>
                <a:srgbClr val="0352F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96D0-E24C-AF5F-4560031C9A69}"/>
              </c:ext>
            </c:extLst>
          </c:dPt>
          <c:dLbls>
            <c:dLbl>
              <c:idx val="0"/>
              <c:layout>
                <c:manualLayout>
                  <c:x val="0"/>
                  <c:y val="-0.4282907662082514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96D0-E24C-AF5F-4560031C9A69}"/>
                </c:ext>
              </c:extLst>
            </c:dLbl>
            <c:dLbl>
              <c:idx val="1"/>
              <c:layout>
                <c:manualLayout>
                  <c:x val="0"/>
                  <c:y val="-0.4351669941060903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 Light"/>
                      <a:ea typeface="HarmonyOS Sans SC Light"/>
                      <a:cs typeface="HarmonyOS Sans SC Light"/>
                      <a:sym typeface="HarmonyOS Sans SC Ligh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96D0-E24C-AF5F-4560031C9A69}"/>
                </c:ext>
              </c:extLst>
            </c:dLbl>
            <c:dLbl>
              <c:idx val="2"/>
              <c:layout>
                <c:manualLayout>
                  <c:x val="0"/>
                  <c:y val="-1.9646365422396855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 Light"/>
                      <a:ea typeface="HarmonyOS Sans SC Light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96D0-E24C-AF5F-4560031C9A6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828</c:v>
                </c:pt>
                <c:pt idx="1">
                  <c:v>843</c:v>
                </c:pt>
                <c:pt idx="2">
                  <c:v>292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6D0-E24C-AF5F-4560031C9A69}"/>
            </c:ext>
          </c:extLst>
        </c:ser>
        <c:ser>
          <c:idx val="1"/>
          <c:order val="1"/>
          <c:spPr>
            <a:solidFill>
              <a:schemeClr val="bg1"/>
            </a:solidFill>
            <a:ln>
              <a:noFill/>
            </a:ln>
          </c:spPr>
          <c:invertIfNegative val="0"/>
          <c:val>
            <c:numRef>
              <c:f>Sheet1!$A$2:$C$2</c:f>
              <c:numCache>
                <c:formatCode>General</c:formatCode>
                <c:ptCount val="3"/>
                <c:pt idx="2">
                  <c:v>292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6D0-E24C-AF5F-4560031C9A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107491743"/>
        <c:axId val="1"/>
      </c:barChart>
      <c:catAx>
        <c:axId val="210749174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969696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843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10749174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8426647767540751E-2"/>
          <c:y val="5.9030217849613494E-2"/>
          <c:w val="0.96314670446491846"/>
          <c:h val="0.88193956430077303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00207E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05411103302881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92B6-964E-8357-CC99CC91E18A}"/>
                </c:ext>
              </c:extLst>
            </c:dLbl>
            <c:dLbl>
              <c:idx val="1"/>
              <c:layout>
                <c:manualLayout>
                  <c:x val="0"/>
                  <c:y val="-1.05411103302881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92B6-964E-8357-CC99CC91E18A}"/>
                </c:ext>
              </c:extLst>
            </c:dLbl>
            <c:dLbl>
              <c:idx val="2"/>
              <c:layout>
                <c:manualLayout>
                  <c:x val="0"/>
                  <c:y val="-1.05411103302881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92B6-964E-8357-CC99CC91E18A}"/>
                </c:ext>
              </c:extLst>
            </c:dLbl>
            <c:dLbl>
              <c:idx val="3"/>
              <c:layout>
                <c:manualLayout>
                  <c:x val="0"/>
                  <c:y val="-1.05411103302881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92B6-964E-8357-CC99CC91E18A}"/>
                </c:ext>
              </c:extLst>
            </c:dLbl>
            <c:dLbl>
              <c:idx val="4"/>
              <c:layout>
                <c:manualLayout>
                  <c:x val="0"/>
                  <c:y val="-1.05411103302881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92B6-964E-8357-CC99CC91E18A}"/>
                </c:ext>
              </c:extLst>
            </c:dLbl>
            <c:dLbl>
              <c:idx val="5"/>
              <c:layout>
                <c:manualLayout>
                  <c:x val="-3.5435861091424523E-4"/>
                  <c:y val="-1.05411103302881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92B6-964E-8357-CC99CC91E18A}"/>
                </c:ext>
              </c:extLst>
            </c:dLbl>
            <c:dLbl>
              <c:idx val="6"/>
              <c:layout>
                <c:manualLayout>
                  <c:x val="0"/>
                  <c:y val="-1.05411103302881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92B6-964E-8357-CC99CC91E18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Sheet1!$A$1:$G$1</c:f>
              <c:numCache>
                <c:formatCode>General</c:formatCode>
                <c:ptCount val="7"/>
                <c:pt idx="0">
                  <c:v>-18</c:v>
                </c:pt>
                <c:pt idx="1">
                  <c:v>-19</c:v>
                </c:pt>
                <c:pt idx="2">
                  <c:v>-27</c:v>
                </c:pt>
                <c:pt idx="3">
                  <c:v>-24</c:v>
                </c:pt>
                <c:pt idx="4">
                  <c:v>-12</c:v>
                </c:pt>
                <c:pt idx="5">
                  <c:v>-14</c:v>
                </c:pt>
                <c:pt idx="6">
                  <c:v>-19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92B6-964E-8357-CC99CC91E18A}"/>
            </c:ext>
          </c:extLst>
        </c:ser>
        <c:ser>
          <c:idx val="1"/>
          <c:order val="1"/>
          <c:spPr>
            <a:solidFill>
              <a:srgbClr val="00ABFA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1.05411103302881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92B6-964E-8357-CC99CC91E18A}"/>
                </c:ext>
              </c:extLst>
            </c:dLbl>
            <c:dLbl>
              <c:idx val="1"/>
              <c:layout>
                <c:manualLayout>
                  <c:x val="0"/>
                  <c:y val="1.05411103302881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92B6-964E-8357-CC99CC91E18A}"/>
                </c:ext>
              </c:extLst>
            </c:dLbl>
            <c:dLbl>
              <c:idx val="2"/>
              <c:layout>
                <c:manualLayout>
                  <c:x val="0"/>
                  <c:y val="1.05411103302881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92B6-964E-8357-CC99CC91E18A}"/>
                </c:ext>
              </c:extLst>
            </c:dLbl>
            <c:dLbl>
              <c:idx val="3"/>
              <c:layout>
                <c:manualLayout>
                  <c:x val="-3.5435861091424523E-4"/>
                  <c:y val="1.05411103302881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92B6-964E-8357-CC99CC91E18A}"/>
                </c:ext>
              </c:extLst>
            </c:dLbl>
            <c:dLbl>
              <c:idx val="4"/>
              <c:layout>
                <c:manualLayout>
                  <c:x val="0"/>
                  <c:y val="1.05411103302881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92B6-964E-8357-CC99CC91E18A}"/>
                </c:ext>
              </c:extLst>
            </c:dLbl>
            <c:dLbl>
              <c:idx val="5"/>
              <c:layout>
                <c:manualLayout>
                  <c:x val="0"/>
                  <c:y val="1.05411103302881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92B6-964E-8357-CC99CC91E18A}"/>
                </c:ext>
              </c:extLst>
            </c:dLbl>
            <c:dLbl>
              <c:idx val="6"/>
              <c:layout>
                <c:manualLayout>
                  <c:x val="0"/>
                  <c:y val="1.05411103302881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92B6-964E-8357-CC99CC91E18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Sheet1!$A$2:$G$2</c:f>
              <c:numCache>
                <c:formatCode>General</c:formatCode>
                <c:ptCount val="7"/>
                <c:pt idx="0">
                  <c:v>29</c:v>
                </c:pt>
                <c:pt idx="1">
                  <c:v>33</c:v>
                </c:pt>
                <c:pt idx="2">
                  <c:v>26</c:v>
                </c:pt>
                <c:pt idx="3">
                  <c:v>27</c:v>
                </c:pt>
                <c:pt idx="4">
                  <c:v>47</c:v>
                </c:pt>
                <c:pt idx="5">
                  <c:v>46</c:v>
                </c:pt>
                <c:pt idx="6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92B6-964E-8357-CC99CC91E1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107453471"/>
        <c:axId val="1"/>
      </c:barChart>
      <c:catAx>
        <c:axId val="2107453471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969696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47"/>
          <c:min val="-27"/>
        </c:scaling>
        <c:delete val="1"/>
        <c:axPos val="t"/>
        <c:numFmt formatCode="General" sourceLinked="1"/>
        <c:majorTickMark val="out"/>
        <c:minorTickMark val="none"/>
        <c:tickLblPos val="nextTo"/>
        <c:crossAx val="210745347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8426647767540751E-2"/>
          <c:y val="5.9030217849613494E-2"/>
          <c:w val="0.96314670446491846"/>
          <c:h val="0.88193956430077303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00207E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-3.5435861091424523E-4"/>
                  <c:y val="-1.05411103302881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10BB-2E4D-848E-AFA9B445DC17}"/>
                </c:ext>
              </c:extLst>
            </c:dLbl>
            <c:dLbl>
              <c:idx val="1"/>
              <c:layout>
                <c:manualLayout>
                  <c:x val="-3.5435861091424523E-4"/>
                  <c:y val="-1.05411103302881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10BB-2E4D-848E-AFA9B445DC17}"/>
                </c:ext>
              </c:extLst>
            </c:dLbl>
            <c:dLbl>
              <c:idx val="2"/>
              <c:layout>
                <c:manualLayout>
                  <c:x val="-3.5435861091424523E-4"/>
                  <c:y val="-1.05411103302881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10BB-2E4D-848E-AFA9B445DC17}"/>
                </c:ext>
              </c:extLst>
            </c:dLbl>
            <c:dLbl>
              <c:idx val="3"/>
              <c:layout>
                <c:manualLayout>
                  <c:x val="-3.5435861091424523E-4"/>
                  <c:y val="-1.05411103302881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10BB-2E4D-848E-AFA9B445DC17}"/>
                </c:ext>
              </c:extLst>
            </c:dLbl>
            <c:dLbl>
              <c:idx val="4"/>
              <c:layout>
                <c:manualLayout>
                  <c:x val="-3.5435861091424523E-4"/>
                  <c:y val="-1.05411103302881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10BB-2E4D-848E-AFA9B445DC17}"/>
                </c:ext>
              </c:extLst>
            </c:dLbl>
            <c:dLbl>
              <c:idx val="5"/>
              <c:layout>
                <c:manualLayout>
                  <c:x val="-3.5435861091424523E-4"/>
                  <c:y val="-1.05411103302881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10BB-2E4D-848E-AFA9B445DC17}"/>
                </c:ext>
              </c:extLst>
            </c:dLbl>
            <c:dLbl>
              <c:idx val="6"/>
              <c:layout>
                <c:manualLayout>
                  <c:x val="-3.5435861091424523E-4"/>
                  <c:y val="-1.05411103302881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10BB-2E4D-848E-AFA9B445DC1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Sheet1!$A$1:$G$1</c:f>
              <c:numCache>
                <c:formatCode>General</c:formatCode>
                <c:ptCount val="7"/>
                <c:pt idx="0">
                  <c:v>-16</c:v>
                </c:pt>
                <c:pt idx="1">
                  <c:v>-11</c:v>
                </c:pt>
                <c:pt idx="2">
                  <c:v>-20</c:v>
                </c:pt>
                <c:pt idx="3">
                  <c:v>-22</c:v>
                </c:pt>
                <c:pt idx="4">
                  <c:v>-12</c:v>
                </c:pt>
                <c:pt idx="5">
                  <c:v>-16</c:v>
                </c:pt>
                <c:pt idx="6">
                  <c:v>-16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0BB-2E4D-848E-AFA9B445DC17}"/>
            </c:ext>
          </c:extLst>
        </c:ser>
        <c:ser>
          <c:idx val="1"/>
          <c:order val="1"/>
          <c:spPr>
            <a:solidFill>
              <a:srgbClr val="00ABFA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-3.5435861091424523E-4"/>
                  <c:y val="1.05411103302881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10BB-2E4D-848E-AFA9B445DC17}"/>
                </c:ext>
              </c:extLst>
            </c:dLbl>
            <c:dLbl>
              <c:idx val="1"/>
              <c:layout>
                <c:manualLayout>
                  <c:x val="-3.5435861091424523E-4"/>
                  <c:y val="1.05411103302881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10BB-2E4D-848E-AFA9B445DC17}"/>
                </c:ext>
              </c:extLst>
            </c:dLbl>
            <c:dLbl>
              <c:idx val="2"/>
              <c:layout>
                <c:manualLayout>
                  <c:x val="-3.5435861091424523E-4"/>
                  <c:y val="1.05411103302881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10BB-2E4D-848E-AFA9B445DC17}"/>
                </c:ext>
              </c:extLst>
            </c:dLbl>
            <c:dLbl>
              <c:idx val="3"/>
              <c:layout>
                <c:manualLayout>
                  <c:x val="-3.5435861091424523E-4"/>
                  <c:y val="1.05411103302881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10BB-2E4D-848E-AFA9B445DC17}"/>
                </c:ext>
              </c:extLst>
            </c:dLbl>
            <c:dLbl>
              <c:idx val="4"/>
              <c:layout>
                <c:manualLayout>
                  <c:x val="-3.5435861091424523E-4"/>
                  <c:y val="1.05411103302881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10BB-2E4D-848E-AFA9B445DC17}"/>
                </c:ext>
              </c:extLst>
            </c:dLbl>
            <c:dLbl>
              <c:idx val="5"/>
              <c:layout>
                <c:manualLayout>
                  <c:x val="-3.5435861091424523E-4"/>
                  <c:y val="1.05411103302881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10BB-2E4D-848E-AFA9B445DC17}"/>
                </c:ext>
              </c:extLst>
            </c:dLbl>
            <c:dLbl>
              <c:idx val="6"/>
              <c:layout>
                <c:manualLayout>
                  <c:x val="-3.5435861091424523E-4"/>
                  <c:y val="1.0541110330288123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10BB-2E4D-848E-AFA9B445DC1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Sheet1!$A$2:$G$2</c:f>
              <c:numCache>
                <c:formatCode>General</c:formatCode>
                <c:ptCount val="7"/>
                <c:pt idx="0">
                  <c:v>45</c:v>
                </c:pt>
                <c:pt idx="1">
                  <c:v>51</c:v>
                </c:pt>
                <c:pt idx="2">
                  <c:v>44</c:v>
                </c:pt>
                <c:pt idx="3">
                  <c:v>39</c:v>
                </c:pt>
                <c:pt idx="4">
                  <c:v>58</c:v>
                </c:pt>
                <c:pt idx="5">
                  <c:v>56</c:v>
                </c:pt>
                <c:pt idx="6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10BB-2E4D-848E-AFA9B445DC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944473424"/>
        <c:axId val="1"/>
      </c:barChart>
      <c:catAx>
        <c:axId val="1944473424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969696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58"/>
          <c:min val="-22"/>
        </c:scaling>
        <c:delete val="1"/>
        <c:axPos val="t"/>
        <c:numFmt formatCode="General" sourceLinked="1"/>
        <c:majorTickMark val="out"/>
        <c:minorTickMark val="none"/>
        <c:tickLblPos val="nextTo"/>
        <c:crossAx val="194447342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CA05A1-6A6D-D84A-8264-693ECA213639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9BCBFB-39D6-9D4B-917D-62A122C025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8262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7482B5-E9DD-0D4F-BA2C-EDF0B89A8486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1937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00C1AB-2126-B843-A7FD-7DB59FE4107E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85292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6F7B15-5589-2A34-7060-DDA337E3CC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3F256B9-1325-3CDF-1519-2231D94B8E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5EC3E9-EF17-5C5F-92DA-22C495EA2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89DD5-B2F1-2B41-8416-A11D7687633A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5FDFB9-CEE2-AA98-02C9-BE223E724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8177FF-47DB-A8EE-5E78-D21F3516B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DEF82-28DA-4144-97CF-AB8FDD70B7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23397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50CF3C-07CB-642B-CB90-672A276A2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C8FB8C-12AD-8D47-2BA6-6F3E8A33E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F72201-6971-7046-9923-B6ADD9235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89DD5-B2F1-2B41-8416-A11D7687633A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7AABF4-EC42-A0DB-AF1D-29311EB9B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906245-AE90-4274-5D8D-9C96A2B62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DEF82-28DA-4144-97CF-AB8FDD70B7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84798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929100-6206-D5AB-B20B-867BA89C9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AFE35C-5DFD-090A-BF72-8184EA952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225E13-ACAB-2BF8-4860-D6E4521FD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89DD5-B2F1-2B41-8416-A11D7687633A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FB4ADE-7635-BEE4-2B1C-32D5C0DF0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CDE310-D6CD-40AE-15B8-2F6F5C6BA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DEF82-28DA-4144-97CF-AB8FDD70B7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47818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41159C-CBA2-D555-375C-5DBF11A2E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636B44-3A81-5188-B7F0-793A2C2453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CDE5828-2955-7F2C-EFBF-24772E42AD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527C47-057D-5BA5-F918-4728D9223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89DD5-B2F1-2B41-8416-A11D7687633A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62E5A9-5187-4144-F783-02282E731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787366-071F-CF9D-917E-B59C3F16A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DEF82-28DA-4144-97CF-AB8FDD70B7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41061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5DD8FD-7228-4AE7-E9BC-E31AAD34D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FA17FC-7700-BC5D-721E-507403957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8E5DFBD-3A07-04FD-6767-97FC613F8C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58182C4-A376-E2C9-F5C8-380DDD9CD8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7F3EDA9-8F35-F563-B467-40D3C86C19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BACC030-2F6A-0ED5-E76D-39B19D52B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89DD5-B2F1-2B41-8416-A11D7687633A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88A6FCC-6398-F203-7E73-0962421B4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5DDC8EC-E155-0B7C-09D3-D81B1A979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DEF82-28DA-4144-97CF-AB8FDD70B7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39841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1354EE-002C-1FDE-673C-60568D20F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F2E036A-47AF-9DB5-2457-EABC1D88F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89DD5-B2F1-2B41-8416-A11D7687633A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9523180-0099-E515-6D98-CA1360EBE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5EE982-EC91-5B20-68A0-E832025AC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DEF82-28DA-4144-97CF-AB8FDD70B7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00166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053CA87-7D01-1AC5-8F93-F39413935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89DD5-B2F1-2B41-8416-A11D7687633A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45D6728-0778-2D24-5418-FACA775F1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59703A-CE41-633A-2197-FF6648F98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DEF82-28DA-4144-97CF-AB8FDD70B7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69418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E471E8-CFF0-FD8D-E8EC-65B666EAF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4AE25F-908F-03C5-0573-EB2078E65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2CADF1-D5AF-CE5C-E980-D14C083BD5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E22D84-C565-8FF8-CF7A-65CFC4744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89DD5-B2F1-2B41-8416-A11D7687633A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BD553E-1CEE-7F78-FB98-D4AAAA269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DB3E6A-458D-C400-9094-F896B76FA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DEF82-28DA-4144-97CF-AB8FDD70B7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31014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9BCED7-033B-7892-8762-0FA21A87D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9E1D03A-EFE7-B12A-CD72-344017703A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637CE04-6F03-662A-096B-0850A46CC2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450BBD-79FA-A43F-AB2B-F903F0E02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89DD5-B2F1-2B41-8416-A11D7687633A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7555C9E-8C03-F3E3-17B8-3B113C98D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67E970-E59F-5B7D-74B1-7119FCE96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DEF82-28DA-4144-97CF-AB8FDD70B7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41455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1A3FC9-3ED8-92A1-974B-F4B1BBFC6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41470BE-D144-88BD-A504-B5679B3DAF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DFCB3A-A0FB-CF8F-8AEA-424E863A0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89DD5-B2F1-2B41-8416-A11D7687633A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969502-5CB2-842D-6047-F3817DD44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7A773E-99DF-F698-7BB4-B5C391BBE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DEF82-28DA-4144-97CF-AB8FDD70B7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62621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926549C-F572-3652-58C3-EDB0D53BAF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B5EFB1-8C73-2B3F-E9E1-F9E73F490B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9CD51C-AAEB-FB9F-880D-CEEEBCA91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89DD5-B2F1-2B41-8416-A11D7687633A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7A4310-3814-9D3F-6506-3A6B15CBB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DB8F67-6302-6463-EA07-6DEA888AF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DEF82-28DA-4144-97CF-AB8FDD70B7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81317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7918DF7-6E5E-BB93-577D-628A4EE6E3B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59608409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4" imgW="7772400" imgH="10058400" progId="TCLayout.ActiveDocument.1">
                  <p:embed/>
                </p:oleObj>
              </mc:Choice>
              <mc:Fallback>
                <p:oleObj name="think-cell 幻灯片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8B9B2A0-C50D-A67A-B72F-BE43FC52F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57371B-C980-4434-A2E8-66C94E315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E26D58-FF41-4322-C07E-FC066210BE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F89DD5-B2F1-2B41-8416-A11D7687633A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BF763D-56F9-C3E7-64F7-B2FD5B40C9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DDD3E3-BE3F-26AD-C45A-5146FE7B8A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CDEF82-28DA-4144-97CF-AB8FDD70B7D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50426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image" Target="../media/image2.emf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oleObject" Target="../embeddings/oleObject2.bin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14.xml"/><Relationship Id="rId7" Type="http://schemas.openxmlformats.org/officeDocument/2006/relationships/oleObject" Target="../embeddings/oleObject3.bin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notesSlide" Target="../notesSlides/notesSlide1.xml"/><Relationship Id="rId11" Type="http://schemas.openxmlformats.org/officeDocument/2006/relationships/chart" Target="../charts/chart4.xml"/><Relationship Id="rId5" Type="http://schemas.openxmlformats.org/officeDocument/2006/relationships/slideLayout" Target="../slideLayouts/slideLayout1.xml"/><Relationship Id="rId10" Type="http://schemas.openxmlformats.org/officeDocument/2006/relationships/chart" Target="../charts/chart3.xml"/><Relationship Id="rId4" Type="http://schemas.openxmlformats.org/officeDocument/2006/relationships/tags" Target="../tags/tag15.xml"/><Relationship Id="rId9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13" Type="http://schemas.openxmlformats.org/officeDocument/2006/relationships/oleObject" Target="../embeddings/oleObject4.bin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12" Type="http://schemas.openxmlformats.org/officeDocument/2006/relationships/slideLayout" Target="../slideLayouts/slideLayout1.xml"/><Relationship Id="rId2" Type="http://schemas.openxmlformats.org/officeDocument/2006/relationships/tags" Target="../tags/tag17.xml"/><Relationship Id="rId16" Type="http://schemas.openxmlformats.org/officeDocument/2006/relationships/chart" Target="../charts/chart6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tags" Target="../tags/tag26.xml"/><Relationship Id="rId5" Type="http://schemas.openxmlformats.org/officeDocument/2006/relationships/tags" Target="../tags/tag20.xml"/><Relationship Id="rId15" Type="http://schemas.openxmlformats.org/officeDocument/2006/relationships/chart" Target="../charts/chart5.xml"/><Relationship Id="rId10" Type="http://schemas.openxmlformats.org/officeDocument/2006/relationships/tags" Target="../tags/tag25.xml"/><Relationship Id="rId4" Type="http://schemas.openxmlformats.org/officeDocument/2006/relationships/tags" Target="../tags/tag19.xml"/><Relationship Id="rId9" Type="http://schemas.openxmlformats.org/officeDocument/2006/relationships/tags" Target="../tags/tag24.xml"/><Relationship Id="rId1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chart" Target="../charts/chart7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13" Type="http://schemas.openxmlformats.org/officeDocument/2006/relationships/tags" Target="../tags/tag41.xml"/><Relationship Id="rId18" Type="http://schemas.openxmlformats.org/officeDocument/2006/relationships/oleObject" Target="../embeddings/oleObject6.bin"/><Relationship Id="rId3" Type="http://schemas.openxmlformats.org/officeDocument/2006/relationships/tags" Target="../tags/tag31.xml"/><Relationship Id="rId21" Type="http://schemas.openxmlformats.org/officeDocument/2006/relationships/chart" Target="../charts/chart9.xml"/><Relationship Id="rId7" Type="http://schemas.openxmlformats.org/officeDocument/2006/relationships/tags" Target="../tags/tag35.xml"/><Relationship Id="rId12" Type="http://schemas.openxmlformats.org/officeDocument/2006/relationships/tags" Target="../tags/tag40.xml"/><Relationship Id="rId17" Type="http://schemas.openxmlformats.org/officeDocument/2006/relationships/slideLayout" Target="../slideLayouts/slideLayout1.xml"/><Relationship Id="rId2" Type="http://schemas.openxmlformats.org/officeDocument/2006/relationships/tags" Target="../tags/tag30.xml"/><Relationship Id="rId16" Type="http://schemas.openxmlformats.org/officeDocument/2006/relationships/tags" Target="../tags/tag44.xml"/><Relationship Id="rId20" Type="http://schemas.openxmlformats.org/officeDocument/2006/relationships/chart" Target="../charts/chart8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11" Type="http://schemas.openxmlformats.org/officeDocument/2006/relationships/tags" Target="../tags/tag39.xml"/><Relationship Id="rId5" Type="http://schemas.openxmlformats.org/officeDocument/2006/relationships/tags" Target="../tags/tag33.xml"/><Relationship Id="rId15" Type="http://schemas.openxmlformats.org/officeDocument/2006/relationships/tags" Target="../tags/tag43.xml"/><Relationship Id="rId10" Type="http://schemas.openxmlformats.org/officeDocument/2006/relationships/tags" Target="../tags/tag38.xml"/><Relationship Id="rId19" Type="http://schemas.openxmlformats.org/officeDocument/2006/relationships/image" Target="../media/image2.emf"/><Relationship Id="rId4" Type="http://schemas.openxmlformats.org/officeDocument/2006/relationships/tags" Target="../tags/tag32.xml"/><Relationship Id="rId9" Type="http://schemas.openxmlformats.org/officeDocument/2006/relationships/tags" Target="../tags/tag37.xml"/><Relationship Id="rId14" Type="http://schemas.openxmlformats.org/officeDocument/2006/relationships/tags" Target="../tags/tag4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3.xml"/><Relationship Id="rId3" Type="http://schemas.openxmlformats.org/officeDocument/2006/relationships/oleObject" Target="../embeddings/oleObject7.bin"/><Relationship Id="rId7" Type="http://schemas.openxmlformats.org/officeDocument/2006/relationships/chart" Target="../charts/chart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5.xml"/><Relationship Id="rId6" Type="http://schemas.openxmlformats.org/officeDocument/2006/relationships/chart" Target="../charts/chart11.xml"/><Relationship Id="rId5" Type="http://schemas.openxmlformats.org/officeDocument/2006/relationships/chart" Target="../charts/chart10.xml"/><Relationship Id="rId4" Type="http://schemas.openxmlformats.org/officeDocument/2006/relationships/image" Target="../media/image2.emf"/><Relationship Id="rId9" Type="http://schemas.openxmlformats.org/officeDocument/2006/relationships/chart" Target="../charts/chart1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8.xml"/><Relationship Id="rId3" Type="http://schemas.openxmlformats.org/officeDocument/2006/relationships/oleObject" Target="../embeddings/oleObject8.bin"/><Relationship Id="rId7" Type="http://schemas.openxmlformats.org/officeDocument/2006/relationships/chart" Target="../charts/chart17.xml"/><Relationship Id="rId12" Type="http://schemas.openxmlformats.org/officeDocument/2006/relationships/chart" Target="../charts/chart2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6.xml"/><Relationship Id="rId6" Type="http://schemas.openxmlformats.org/officeDocument/2006/relationships/chart" Target="../charts/chart16.xml"/><Relationship Id="rId11" Type="http://schemas.openxmlformats.org/officeDocument/2006/relationships/chart" Target="../charts/chart21.xml"/><Relationship Id="rId5" Type="http://schemas.openxmlformats.org/officeDocument/2006/relationships/chart" Target="../charts/chart15.xml"/><Relationship Id="rId10" Type="http://schemas.openxmlformats.org/officeDocument/2006/relationships/chart" Target="../charts/chart20.xml"/><Relationship Id="rId4" Type="http://schemas.openxmlformats.org/officeDocument/2006/relationships/image" Target="../media/image2.emf"/><Relationship Id="rId9" Type="http://schemas.openxmlformats.org/officeDocument/2006/relationships/chart" Target="../charts/char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7.xml"/><Relationship Id="rId5" Type="http://schemas.openxmlformats.org/officeDocument/2006/relationships/chart" Target="../charts/chart23.xml"/><Relationship Id="rId4" Type="http://schemas.openxmlformats.org/officeDocument/2006/relationships/image" Target="../media/image2.emf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tags" Target="../tags/tag73.xml"/><Relationship Id="rId21" Type="http://schemas.openxmlformats.org/officeDocument/2006/relationships/tags" Target="../tags/tag68.xml"/><Relationship Id="rId42" Type="http://schemas.openxmlformats.org/officeDocument/2006/relationships/tags" Target="../tags/tag89.xml"/><Relationship Id="rId47" Type="http://schemas.openxmlformats.org/officeDocument/2006/relationships/tags" Target="../tags/tag94.xml"/><Relationship Id="rId63" Type="http://schemas.openxmlformats.org/officeDocument/2006/relationships/tags" Target="../tags/tag110.xml"/><Relationship Id="rId68" Type="http://schemas.openxmlformats.org/officeDocument/2006/relationships/tags" Target="../tags/tag115.xml"/><Relationship Id="rId16" Type="http://schemas.openxmlformats.org/officeDocument/2006/relationships/tags" Target="../tags/tag63.xml"/><Relationship Id="rId11" Type="http://schemas.openxmlformats.org/officeDocument/2006/relationships/tags" Target="../tags/tag58.xml"/><Relationship Id="rId32" Type="http://schemas.openxmlformats.org/officeDocument/2006/relationships/tags" Target="../tags/tag79.xml"/><Relationship Id="rId37" Type="http://schemas.openxmlformats.org/officeDocument/2006/relationships/tags" Target="../tags/tag84.xml"/><Relationship Id="rId53" Type="http://schemas.openxmlformats.org/officeDocument/2006/relationships/tags" Target="../tags/tag100.xml"/><Relationship Id="rId58" Type="http://schemas.openxmlformats.org/officeDocument/2006/relationships/tags" Target="../tags/tag105.xml"/><Relationship Id="rId74" Type="http://schemas.openxmlformats.org/officeDocument/2006/relationships/notesSlide" Target="../notesSlides/notesSlide2.xml"/><Relationship Id="rId79" Type="http://schemas.openxmlformats.org/officeDocument/2006/relationships/chart" Target="../charts/chart26.xml"/><Relationship Id="rId5" Type="http://schemas.openxmlformats.org/officeDocument/2006/relationships/tags" Target="../tags/tag52.xml"/><Relationship Id="rId61" Type="http://schemas.openxmlformats.org/officeDocument/2006/relationships/tags" Target="../tags/tag108.xml"/><Relationship Id="rId82" Type="http://schemas.openxmlformats.org/officeDocument/2006/relationships/chart" Target="../charts/chart29.xml"/><Relationship Id="rId19" Type="http://schemas.openxmlformats.org/officeDocument/2006/relationships/tags" Target="../tags/tag66.xml"/><Relationship Id="rId14" Type="http://schemas.openxmlformats.org/officeDocument/2006/relationships/tags" Target="../tags/tag61.xml"/><Relationship Id="rId22" Type="http://schemas.openxmlformats.org/officeDocument/2006/relationships/tags" Target="../tags/tag69.xml"/><Relationship Id="rId27" Type="http://schemas.openxmlformats.org/officeDocument/2006/relationships/tags" Target="../tags/tag74.xml"/><Relationship Id="rId30" Type="http://schemas.openxmlformats.org/officeDocument/2006/relationships/tags" Target="../tags/tag77.xml"/><Relationship Id="rId35" Type="http://schemas.openxmlformats.org/officeDocument/2006/relationships/tags" Target="../tags/tag82.xml"/><Relationship Id="rId43" Type="http://schemas.openxmlformats.org/officeDocument/2006/relationships/tags" Target="../tags/tag90.xml"/><Relationship Id="rId48" Type="http://schemas.openxmlformats.org/officeDocument/2006/relationships/tags" Target="../tags/tag95.xml"/><Relationship Id="rId56" Type="http://schemas.openxmlformats.org/officeDocument/2006/relationships/tags" Target="../tags/tag103.xml"/><Relationship Id="rId64" Type="http://schemas.openxmlformats.org/officeDocument/2006/relationships/tags" Target="../tags/tag111.xml"/><Relationship Id="rId69" Type="http://schemas.openxmlformats.org/officeDocument/2006/relationships/tags" Target="../tags/tag116.xml"/><Relationship Id="rId77" Type="http://schemas.openxmlformats.org/officeDocument/2006/relationships/chart" Target="../charts/chart24.xml"/><Relationship Id="rId8" Type="http://schemas.openxmlformats.org/officeDocument/2006/relationships/tags" Target="../tags/tag55.xml"/><Relationship Id="rId51" Type="http://schemas.openxmlformats.org/officeDocument/2006/relationships/tags" Target="../tags/tag98.xml"/><Relationship Id="rId72" Type="http://schemas.openxmlformats.org/officeDocument/2006/relationships/tags" Target="../tags/tag119.xml"/><Relationship Id="rId80" Type="http://schemas.openxmlformats.org/officeDocument/2006/relationships/chart" Target="../charts/chart27.xml"/><Relationship Id="rId3" Type="http://schemas.openxmlformats.org/officeDocument/2006/relationships/tags" Target="../tags/tag50.xml"/><Relationship Id="rId12" Type="http://schemas.openxmlformats.org/officeDocument/2006/relationships/tags" Target="../tags/tag59.xml"/><Relationship Id="rId17" Type="http://schemas.openxmlformats.org/officeDocument/2006/relationships/tags" Target="../tags/tag64.xml"/><Relationship Id="rId25" Type="http://schemas.openxmlformats.org/officeDocument/2006/relationships/tags" Target="../tags/tag72.xml"/><Relationship Id="rId33" Type="http://schemas.openxmlformats.org/officeDocument/2006/relationships/tags" Target="../tags/tag80.xml"/><Relationship Id="rId38" Type="http://schemas.openxmlformats.org/officeDocument/2006/relationships/tags" Target="../tags/tag85.xml"/><Relationship Id="rId46" Type="http://schemas.openxmlformats.org/officeDocument/2006/relationships/tags" Target="../tags/tag93.xml"/><Relationship Id="rId59" Type="http://schemas.openxmlformats.org/officeDocument/2006/relationships/tags" Target="../tags/tag106.xml"/><Relationship Id="rId67" Type="http://schemas.openxmlformats.org/officeDocument/2006/relationships/tags" Target="../tags/tag114.xml"/><Relationship Id="rId20" Type="http://schemas.openxmlformats.org/officeDocument/2006/relationships/tags" Target="../tags/tag67.xml"/><Relationship Id="rId41" Type="http://schemas.openxmlformats.org/officeDocument/2006/relationships/tags" Target="../tags/tag88.xml"/><Relationship Id="rId54" Type="http://schemas.openxmlformats.org/officeDocument/2006/relationships/tags" Target="../tags/tag101.xml"/><Relationship Id="rId62" Type="http://schemas.openxmlformats.org/officeDocument/2006/relationships/tags" Target="../tags/tag109.xml"/><Relationship Id="rId70" Type="http://schemas.openxmlformats.org/officeDocument/2006/relationships/tags" Target="../tags/tag117.xml"/><Relationship Id="rId75" Type="http://schemas.openxmlformats.org/officeDocument/2006/relationships/oleObject" Target="../embeddings/oleObject10.bin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5" Type="http://schemas.openxmlformats.org/officeDocument/2006/relationships/tags" Target="../tags/tag62.xml"/><Relationship Id="rId23" Type="http://schemas.openxmlformats.org/officeDocument/2006/relationships/tags" Target="../tags/tag70.xml"/><Relationship Id="rId28" Type="http://schemas.openxmlformats.org/officeDocument/2006/relationships/tags" Target="../tags/tag75.xml"/><Relationship Id="rId36" Type="http://schemas.openxmlformats.org/officeDocument/2006/relationships/tags" Target="../tags/tag83.xml"/><Relationship Id="rId49" Type="http://schemas.openxmlformats.org/officeDocument/2006/relationships/tags" Target="../tags/tag96.xml"/><Relationship Id="rId57" Type="http://schemas.openxmlformats.org/officeDocument/2006/relationships/tags" Target="../tags/tag104.xml"/><Relationship Id="rId10" Type="http://schemas.openxmlformats.org/officeDocument/2006/relationships/tags" Target="../tags/tag57.xml"/><Relationship Id="rId31" Type="http://schemas.openxmlformats.org/officeDocument/2006/relationships/tags" Target="../tags/tag78.xml"/><Relationship Id="rId44" Type="http://schemas.openxmlformats.org/officeDocument/2006/relationships/tags" Target="../tags/tag91.xml"/><Relationship Id="rId52" Type="http://schemas.openxmlformats.org/officeDocument/2006/relationships/tags" Target="../tags/tag99.xml"/><Relationship Id="rId60" Type="http://schemas.openxmlformats.org/officeDocument/2006/relationships/tags" Target="../tags/tag107.xml"/><Relationship Id="rId65" Type="http://schemas.openxmlformats.org/officeDocument/2006/relationships/tags" Target="../tags/tag112.xml"/><Relationship Id="rId73" Type="http://schemas.openxmlformats.org/officeDocument/2006/relationships/slideLayout" Target="../slideLayouts/slideLayout1.xml"/><Relationship Id="rId78" Type="http://schemas.openxmlformats.org/officeDocument/2006/relationships/chart" Target="../charts/chart25.xml"/><Relationship Id="rId81" Type="http://schemas.openxmlformats.org/officeDocument/2006/relationships/chart" Target="../charts/chart28.xml"/><Relationship Id="rId4" Type="http://schemas.openxmlformats.org/officeDocument/2006/relationships/tags" Target="../tags/tag51.xml"/><Relationship Id="rId9" Type="http://schemas.openxmlformats.org/officeDocument/2006/relationships/tags" Target="../tags/tag56.xml"/><Relationship Id="rId13" Type="http://schemas.openxmlformats.org/officeDocument/2006/relationships/tags" Target="../tags/tag60.xml"/><Relationship Id="rId18" Type="http://schemas.openxmlformats.org/officeDocument/2006/relationships/tags" Target="../tags/tag65.xml"/><Relationship Id="rId39" Type="http://schemas.openxmlformats.org/officeDocument/2006/relationships/tags" Target="../tags/tag86.xml"/><Relationship Id="rId34" Type="http://schemas.openxmlformats.org/officeDocument/2006/relationships/tags" Target="../tags/tag81.xml"/><Relationship Id="rId50" Type="http://schemas.openxmlformats.org/officeDocument/2006/relationships/tags" Target="../tags/tag97.xml"/><Relationship Id="rId55" Type="http://schemas.openxmlformats.org/officeDocument/2006/relationships/tags" Target="../tags/tag102.xml"/><Relationship Id="rId76" Type="http://schemas.openxmlformats.org/officeDocument/2006/relationships/image" Target="../media/image3.emf"/><Relationship Id="rId7" Type="http://schemas.openxmlformats.org/officeDocument/2006/relationships/tags" Target="../tags/tag54.xml"/><Relationship Id="rId71" Type="http://schemas.openxmlformats.org/officeDocument/2006/relationships/tags" Target="../tags/tag118.xml"/><Relationship Id="rId2" Type="http://schemas.openxmlformats.org/officeDocument/2006/relationships/tags" Target="../tags/tag49.xml"/><Relationship Id="rId29" Type="http://schemas.openxmlformats.org/officeDocument/2006/relationships/tags" Target="../tags/tag76.xml"/><Relationship Id="rId24" Type="http://schemas.openxmlformats.org/officeDocument/2006/relationships/tags" Target="../tags/tag71.xml"/><Relationship Id="rId40" Type="http://schemas.openxmlformats.org/officeDocument/2006/relationships/tags" Target="../tags/tag87.xml"/><Relationship Id="rId45" Type="http://schemas.openxmlformats.org/officeDocument/2006/relationships/tags" Target="../tags/tag92.xml"/><Relationship Id="rId66" Type="http://schemas.openxmlformats.org/officeDocument/2006/relationships/tags" Target="../tags/tag11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27.xml"/><Relationship Id="rId13" Type="http://schemas.openxmlformats.org/officeDocument/2006/relationships/tags" Target="../tags/tag132.xml"/><Relationship Id="rId18" Type="http://schemas.openxmlformats.org/officeDocument/2006/relationships/tags" Target="../tags/tag137.xml"/><Relationship Id="rId26" Type="http://schemas.openxmlformats.org/officeDocument/2006/relationships/chart" Target="../charts/chart33.xml"/><Relationship Id="rId3" Type="http://schemas.openxmlformats.org/officeDocument/2006/relationships/tags" Target="../tags/tag122.xml"/><Relationship Id="rId21" Type="http://schemas.openxmlformats.org/officeDocument/2006/relationships/oleObject" Target="../embeddings/oleObject11.bin"/><Relationship Id="rId7" Type="http://schemas.openxmlformats.org/officeDocument/2006/relationships/tags" Target="../tags/tag126.xml"/><Relationship Id="rId12" Type="http://schemas.openxmlformats.org/officeDocument/2006/relationships/tags" Target="../tags/tag131.xml"/><Relationship Id="rId17" Type="http://schemas.openxmlformats.org/officeDocument/2006/relationships/tags" Target="../tags/tag136.xml"/><Relationship Id="rId25" Type="http://schemas.openxmlformats.org/officeDocument/2006/relationships/chart" Target="../charts/chart32.xml"/><Relationship Id="rId2" Type="http://schemas.openxmlformats.org/officeDocument/2006/relationships/tags" Target="../tags/tag121.xml"/><Relationship Id="rId16" Type="http://schemas.openxmlformats.org/officeDocument/2006/relationships/tags" Target="../tags/tag135.xml"/><Relationship Id="rId20" Type="http://schemas.openxmlformats.org/officeDocument/2006/relationships/slideLayout" Target="../slideLayouts/slideLayout1.xml"/><Relationship Id="rId1" Type="http://schemas.openxmlformats.org/officeDocument/2006/relationships/tags" Target="../tags/tag120.xml"/><Relationship Id="rId6" Type="http://schemas.openxmlformats.org/officeDocument/2006/relationships/tags" Target="../tags/tag125.xml"/><Relationship Id="rId11" Type="http://schemas.openxmlformats.org/officeDocument/2006/relationships/tags" Target="../tags/tag130.xml"/><Relationship Id="rId24" Type="http://schemas.openxmlformats.org/officeDocument/2006/relationships/chart" Target="../charts/chart31.xml"/><Relationship Id="rId5" Type="http://schemas.openxmlformats.org/officeDocument/2006/relationships/tags" Target="../tags/tag124.xml"/><Relationship Id="rId15" Type="http://schemas.openxmlformats.org/officeDocument/2006/relationships/tags" Target="../tags/tag134.xml"/><Relationship Id="rId23" Type="http://schemas.openxmlformats.org/officeDocument/2006/relationships/chart" Target="../charts/chart30.xml"/><Relationship Id="rId28" Type="http://schemas.openxmlformats.org/officeDocument/2006/relationships/chart" Target="../charts/chart35.xml"/><Relationship Id="rId10" Type="http://schemas.openxmlformats.org/officeDocument/2006/relationships/tags" Target="../tags/tag129.xml"/><Relationship Id="rId19" Type="http://schemas.openxmlformats.org/officeDocument/2006/relationships/tags" Target="../tags/tag138.xml"/><Relationship Id="rId4" Type="http://schemas.openxmlformats.org/officeDocument/2006/relationships/tags" Target="../tags/tag123.xml"/><Relationship Id="rId9" Type="http://schemas.openxmlformats.org/officeDocument/2006/relationships/tags" Target="../tags/tag128.xml"/><Relationship Id="rId14" Type="http://schemas.openxmlformats.org/officeDocument/2006/relationships/tags" Target="../tags/tag133.xml"/><Relationship Id="rId22" Type="http://schemas.openxmlformats.org/officeDocument/2006/relationships/image" Target="../media/image4.emf"/><Relationship Id="rId27" Type="http://schemas.openxmlformats.org/officeDocument/2006/relationships/chart" Target="../charts/chart3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46.xml"/><Relationship Id="rId13" Type="http://schemas.openxmlformats.org/officeDocument/2006/relationships/image" Target="../media/image5.emf"/><Relationship Id="rId3" Type="http://schemas.openxmlformats.org/officeDocument/2006/relationships/tags" Target="../tags/tag141.xml"/><Relationship Id="rId7" Type="http://schemas.openxmlformats.org/officeDocument/2006/relationships/tags" Target="../tags/tag145.xml"/><Relationship Id="rId12" Type="http://schemas.openxmlformats.org/officeDocument/2006/relationships/oleObject" Target="../embeddings/oleObject12.bin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6" Type="http://schemas.openxmlformats.org/officeDocument/2006/relationships/tags" Target="../tags/tag144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143.xml"/><Relationship Id="rId15" Type="http://schemas.openxmlformats.org/officeDocument/2006/relationships/chart" Target="../charts/chart37.xml"/><Relationship Id="rId10" Type="http://schemas.openxmlformats.org/officeDocument/2006/relationships/tags" Target="../tags/tag148.xml"/><Relationship Id="rId4" Type="http://schemas.openxmlformats.org/officeDocument/2006/relationships/tags" Target="../tags/tag142.xml"/><Relationship Id="rId9" Type="http://schemas.openxmlformats.org/officeDocument/2006/relationships/tags" Target="../tags/tag147.xml"/><Relationship Id="rId14" Type="http://schemas.openxmlformats.org/officeDocument/2006/relationships/chart" Target="../charts/char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1D2BB-ACA5-DB21-CFD2-6C37235C0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461CD73-D957-55B9-D49E-4E452CEA3F6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994354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2" imgW="7772400" imgH="10058400" progId="TCLayout.ActiveDocument.1">
                  <p:embed/>
                </p:oleObj>
              </mc:Choice>
              <mc:Fallback>
                <p:oleObj name="think-cell 幻灯片" r:id="rId12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461CD73-D957-55B9-D49E-4E452CEA3F6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C2769FB0-647B-D906-C984-5420A0CE2FE6}"/>
              </a:ext>
            </a:extLst>
          </p:cNvPr>
          <p:cNvSpPr txBox="1"/>
          <p:nvPr/>
        </p:nvSpPr>
        <p:spPr>
          <a:xfrm>
            <a:off x="414602" y="287052"/>
            <a:ext cx="11336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Medium" pitchFamily="2" charset="-122"/>
                <a:ea typeface="HarmonyOS Sans SC Medium" pitchFamily="2" charset="-122"/>
              </a:rPr>
              <a:t>Looking ahead, top economic performers are planning to double down</a:t>
            </a:r>
            <a:r>
              <a:rPr kumimoji="1" lang="zh-CN" altLang="en-US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Medium" pitchFamily="2" charset="-122"/>
                <a:ea typeface="HarmonyOS Sans SC Medium" pitchFamily="2" charset="-122"/>
              </a:rPr>
              <a:t> </a:t>
            </a:r>
            <a:r>
              <a:rPr kumimoji="1" lang="en-US" altLang="zh-CN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Medium" pitchFamily="2" charset="-122"/>
                <a:ea typeface="HarmonyOS Sans SC Medium" pitchFamily="2" charset="-122"/>
              </a:rPr>
              <a:t>on tech as a differentiator.</a:t>
            </a:r>
            <a:endParaRPr kumimoji="1" lang="zh-CN" altLang="en-US" sz="18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9E5B579-225B-056B-6F14-63181A911114}"/>
              </a:ext>
            </a:extLst>
          </p:cNvPr>
          <p:cNvSpPr txBox="1"/>
          <p:nvPr/>
        </p:nvSpPr>
        <p:spPr>
          <a:xfrm>
            <a:off x="409503" y="699187"/>
            <a:ext cx="74126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Level of ambition for organizations' planned investments in digital and technology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，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% of respondents</a:t>
            </a:r>
            <a:r>
              <a:rPr kumimoji="1" lang="en-US" altLang="zh-CN" sz="12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1</a:t>
            </a:r>
            <a:endParaRPr kumimoji="1" lang="zh-CN" altLang="en-US" sz="12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7D9B4D31-77D4-DC65-8DEA-7DED934889D1}"/>
              </a:ext>
            </a:extLst>
          </p:cNvPr>
          <p:cNvSpPr txBox="1"/>
          <p:nvPr/>
        </p:nvSpPr>
        <p:spPr>
          <a:xfrm>
            <a:off x="409505" y="5740516"/>
            <a:ext cx="43476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1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Respondents who answered "don't know/not applicable" are not shown.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DD86A1F1-68B4-2C94-52A8-370DA60D46EF}"/>
              </a:ext>
            </a:extLst>
          </p:cNvPr>
          <p:cNvSpPr txBox="1"/>
          <p:nvPr/>
        </p:nvSpPr>
        <p:spPr>
          <a:xfrm>
            <a:off x="409505" y="5945047"/>
            <a:ext cx="6399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2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n=118.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43E1F869-D651-C1D7-EA8A-244FD2A16703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 flipH="1">
            <a:off x="6813550" y="3721100"/>
            <a:ext cx="2319338" cy="6143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5EE922E2-64AB-4D5A-05C2-159556967DCD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H="1">
            <a:off x="2171700" y="3721100"/>
            <a:ext cx="742950" cy="6143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ABAB2BF8-DA86-D931-858A-F4BF9F5D604B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10618788" y="3721100"/>
            <a:ext cx="0" cy="6143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线连接符 65">
            <a:extLst>
              <a:ext uri="{FF2B5EF4-FFF2-40B4-BE49-F238E27FC236}">
                <a16:creationId xmlns:a16="http://schemas.microsoft.com/office/drawing/2014/main" id="{216DE97A-3842-61CD-2C33-938A2E20922A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 flipH="1">
            <a:off x="9598025" y="3721100"/>
            <a:ext cx="277813" cy="6143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" name="Chart 3">
            <a:extLst>
              <a:ext uri="{FF2B5EF4-FFF2-40B4-BE49-F238E27FC236}">
                <a16:creationId xmlns:a16="http://schemas.microsoft.com/office/drawing/2014/main" id="{7DBB6BD3-62B8-20E4-4707-9C9820BE3B0C}"/>
              </a:ext>
            </a:extLst>
          </p:cNvPr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951387172"/>
              </p:ext>
            </p:extLst>
          </p:nvPr>
        </p:nvGraphicFramePr>
        <p:xfrm>
          <a:off x="1439863" y="2378075"/>
          <a:ext cx="9261475" cy="330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7" name="文本占位符 2">
            <a:extLst>
              <a:ext uri="{FF2B5EF4-FFF2-40B4-BE49-F238E27FC236}">
                <a16:creationId xmlns:a16="http://schemas.microsoft.com/office/drawing/2014/main" id="{2B25B63F-2A13-C3C0-36C1-528F1BCD0076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547688" y="4554538"/>
            <a:ext cx="87312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99522DE-DB2E-4BC4-9448-06AC9C6BDCD6}" type="datetime'All'' o''''''''''the''r&#10;''''r''''e''spond''''en''t''''''s'">
              <a:rPr kumimoji="1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  <a:sym typeface="HarmonyOS Sans SC" pitchFamily="2" charset="-122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All other
respondents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  <a:sym typeface="HarmonyOS Sans SC" pitchFamily="2" charset="-122"/>
            </a:endParaRPr>
          </a:p>
        </p:txBody>
      </p:sp>
      <p:sp>
        <p:nvSpPr>
          <p:cNvPr id="15" name="文本占位符 2">
            <a:extLst>
              <a:ext uri="{FF2B5EF4-FFF2-40B4-BE49-F238E27FC236}">
                <a16:creationId xmlns:a16="http://schemas.microsoft.com/office/drawing/2014/main" id="{83F529EA-DB5F-A5B9-9DFC-F7CDFD80606E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gray">
          <a:xfrm>
            <a:off x="10644188" y="3252788"/>
            <a:ext cx="2190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625C21E-87FF-45A0-96A7-359279D9C519}" type="datetime'''''9''''''''''8'''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  <a:sym typeface="HarmonyOS Sans SC" pitchFamily="2" charset="-122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98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  <a:sym typeface="HarmonyOS Sans SC" pitchFamily="2" charset="-122"/>
            </a:endParaRPr>
          </a:p>
        </p:txBody>
      </p:sp>
      <p:sp>
        <p:nvSpPr>
          <p:cNvPr id="16" name="文本占位符 2">
            <a:extLst>
              <a:ext uri="{FF2B5EF4-FFF2-40B4-BE49-F238E27FC236}">
                <a16:creationId xmlns:a16="http://schemas.microsoft.com/office/drawing/2014/main" id="{347FD1E8-0B21-D315-8730-22CA74FA9BF6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gray">
          <a:xfrm>
            <a:off x="10644188" y="4637088"/>
            <a:ext cx="2190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02CE187-1D32-4EFC-B2AF-BE5BC80C4F35}" type="datetime'9''''''''''''''''''8'''''''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  <a:sym typeface="HarmonyOS Sans SC" pitchFamily="2" charset="-122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98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  <a:sym typeface="HarmonyOS Sans SC" pitchFamily="2" charset="-122"/>
            </a:endParaRPr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4E88FBAE-17CB-E9F5-C010-76FAB726B377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547688" y="3087688"/>
            <a:ext cx="774700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A3FDCB8-1C20-40B1-9FDA-5A51C1F7E287}" type="datetime'''T''o''''p-deci''le&#10;''econom''''i''c&#10;p''''e''rform''''ers'">
              <a:rPr kumimoji="1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  <a:sym typeface="HarmonyOS Sans SC" pitchFamily="2" charset="-122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Top-decile
economic
performers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  <a:sym typeface="HarmonyOS Sans SC" pitchFamily="2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9E787C47-D84C-0CA6-F214-3DB6E91635A0}"/>
              </a:ext>
            </a:extLst>
          </p:cNvPr>
          <p:cNvSpPr txBox="1"/>
          <p:nvPr/>
        </p:nvSpPr>
        <p:spPr>
          <a:xfrm>
            <a:off x="1260475" y="3121026"/>
            <a:ext cx="241300" cy="214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2</a:t>
            </a:r>
            <a:endParaRPr kumimoji="1" lang="zh-CN" altLang="en-US" sz="12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51D97C89-E98C-355C-79B0-95CCE38A7C89}"/>
              </a:ext>
            </a:extLst>
          </p:cNvPr>
          <p:cNvSpPr txBox="1"/>
          <p:nvPr/>
        </p:nvSpPr>
        <p:spPr>
          <a:xfrm>
            <a:off x="1330325" y="3879850"/>
            <a:ext cx="241300" cy="2159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3</a:t>
            </a:r>
            <a:endParaRPr kumimoji="1" lang="zh-CN" altLang="en-US" sz="12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2CB09EC1-30B2-DBFB-BD0E-359D69ACEF0D}"/>
              </a:ext>
            </a:extLst>
          </p:cNvPr>
          <p:cNvSpPr txBox="1"/>
          <p:nvPr/>
        </p:nvSpPr>
        <p:spPr>
          <a:xfrm>
            <a:off x="1925638" y="1535113"/>
            <a:ext cx="966788" cy="6461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To become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a tech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company</a:t>
            </a:r>
            <a:r>
              <a:rPr kumimoji="1" lang="en-US" altLang="zh-CN" sz="12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4</a:t>
            </a:r>
            <a:endParaRPr kumimoji="1" lang="zh-CN" altLang="en-US" sz="12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7B84E5F8-B07A-D75B-C2CF-D8304E44671B}"/>
              </a:ext>
            </a:extLst>
          </p:cNvPr>
          <p:cNvSpPr txBox="1"/>
          <p:nvPr/>
        </p:nvSpPr>
        <p:spPr>
          <a:xfrm>
            <a:off x="5637212" y="1535113"/>
            <a:ext cx="1276350" cy="6461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To differentiate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ourselves from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competitors</a:t>
            </a:r>
            <a:endParaRPr kumimoji="1" lang="zh-CN" altLang="en-US" sz="12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90149A34-88F7-569D-DA32-16AE170C29C7}"/>
              </a:ext>
            </a:extLst>
          </p:cNvPr>
          <p:cNvSpPr txBox="1"/>
          <p:nvPr/>
        </p:nvSpPr>
        <p:spPr>
          <a:xfrm>
            <a:off x="9040813" y="1535113"/>
            <a:ext cx="9733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To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keep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up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with our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industry</a:t>
            </a:r>
            <a:endParaRPr kumimoji="1" lang="zh-CN" altLang="en-US" sz="12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6BFF14AC-D5EB-720D-7A6B-301C85CE6B0F}"/>
              </a:ext>
            </a:extLst>
          </p:cNvPr>
          <p:cNvSpPr txBox="1"/>
          <p:nvPr/>
        </p:nvSpPr>
        <p:spPr>
          <a:xfrm>
            <a:off x="10055225" y="1531938"/>
            <a:ext cx="1695450" cy="6461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To maintain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current infrastructure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and capabilities</a:t>
            </a:r>
            <a:endParaRPr kumimoji="1" lang="zh-CN" altLang="en-US" sz="12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</a:endParaRPr>
          </a:p>
        </p:txBody>
      </p: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DEFF484D-8604-23AF-10D4-7A848AE60C36}"/>
              </a:ext>
            </a:extLst>
          </p:cNvPr>
          <p:cNvCxnSpPr/>
          <p:nvPr/>
        </p:nvCxnSpPr>
        <p:spPr>
          <a:xfrm>
            <a:off x="2171700" y="2159000"/>
            <a:ext cx="0" cy="569913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直线连接符 83">
            <a:extLst>
              <a:ext uri="{FF2B5EF4-FFF2-40B4-BE49-F238E27FC236}">
                <a16:creationId xmlns:a16="http://schemas.microsoft.com/office/drawing/2014/main" id="{26DB351D-F39B-B5A3-1477-A5EC3DB01F2B}"/>
              </a:ext>
            </a:extLst>
          </p:cNvPr>
          <p:cNvCxnSpPr/>
          <p:nvPr/>
        </p:nvCxnSpPr>
        <p:spPr>
          <a:xfrm>
            <a:off x="6070600" y="2184400"/>
            <a:ext cx="0" cy="569913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线连接符 84">
            <a:extLst>
              <a:ext uri="{FF2B5EF4-FFF2-40B4-BE49-F238E27FC236}">
                <a16:creationId xmlns:a16="http://schemas.microsoft.com/office/drawing/2014/main" id="{7AB7DFB7-5CB1-15A2-5754-1F03439245E5}"/>
              </a:ext>
            </a:extLst>
          </p:cNvPr>
          <p:cNvCxnSpPr/>
          <p:nvPr/>
        </p:nvCxnSpPr>
        <p:spPr>
          <a:xfrm>
            <a:off x="9429750" y="2184400"/>
            <a:ext cx="0" cy="569913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直线连接符 85">
            <a:extLst>
              <a:ext uri="{FF2B5EF4-FFF2-40B4-BE49-F238E27FC236}">
                <a16:creationId xmlns:a16="http://schemas.microsoft.com/office/drawing/2014/main" id="{7D77C31D-DAF7-1BFF-6143-77BD30360151}"/>
              </a:ext>
            </a:extLst>
          </p:cNvPr>
          <p:cNvCxnSpPr/>
          <p:nvPr/>
        </p:nvCxnSpPr>
        <p:spPr>
          <a:xfrm>
            <a:off x="10480675" y="2184400"/>
            <a:ext cx="0" cy="569913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8A38EA5E-CA56-0BFE-7A77-89A522A1537C}"/>
              </a:ext>
            </a:extLst>
          </p:cNvPr>
          <p:cNvSpPr txBox="1"/>
          <p:nvPr/>
        </p:nvSpPr>
        <p:spPr>
          <a:xfrm>
            <a:off x="409504" y="6149578"/>
            <a:ext cx="7152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3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n=1,022.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D8AC1519-42C8-0853-ED30-E972E378164F}"/>
              </a:ext>
            </a:extLst>
          </p:cNvPr>
          <p:cNvSpPr txBox="1"/>
          <p:nvPr/>
        </p:nvSpPr>
        <p:spPr>
          <a:xfrm>
            <a:off x="409503" y="6350077"/>
            <a:ext cx="58945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4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That is, the organization's core value proposition is based on the technology and data it produces.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2202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70848-FCEF-0697-AF40-D4676B2E2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CD84E9F-6568-64F2-CBC5-0D174D057EA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7" imgW="7772400" imgH="10058400" progId="TCLayout.ActiveDocument.1">
                  <p:embed/>
                </p:oleObj>
              </mc:Choice>
              <mc:Fallback>
                <p:oleObj name="think-cell 幻灯片" r:id="rId7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D84E9F-6568-64F2-CBC5-0D174D057E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59200B2D-C0F5-8F07-CF7A-053B6B8BA67F}"/>
              </a:ext>
            </a:extLst>
          </p:cNvPr>
          <p:cNvSpPr txBox="1"/>
          <p:nvPr/>
        </p:nvSpPr>
        <p:spPr>
          <a:xfrm>
            <a:off x="414602" y="338568"/>
            <a:ext cx="11336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Medium" pitchFamily="2" charset="-122"/>
                <a:ea typeface="HarmonyOS Sans SC Medium" pitchFamily="2" charset="-122"/>
              </a:rPr>
              <a:t>Effective digital- and technology-driven strategies require deep involvement from technology leaders.</a:t>
            </a:r>
            <a:endParaRPr kumimoji="1" lang="zh-CN" altLang="en-US" sz="18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0CEFAB8-9400-8EFB-22DD-C30299888242}"/>
              </a:ext>
            </a:extLst>
          </p:cNvPr>
          <p:cNvSpPr txBox="1"/>
          <p:nvPr/>
        </p:nvSpPr>
        <p:spPr>
          <a:xfrm>
            <a:off x="409503" y="750703"/>
            <a:ext cx="4892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Share of respondents who strongly agree with each statement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， </a:t>
            </a:r>
            <a:r>
              <a:rPr kumimoji="1" lang="en-US" altLang="zh-CN" sz="12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</a:rPr>
              <a:t>%</a:t>
            </a:r>
            <a:endParaRPr kumimoji="1" lang="zh-CN" altLang="en-US" sz="120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545E7C-25A1-4E4A-D19B-21C2E3FA3585}"/>
              </a:ext>
            </a:extLst>
          </p:cNvPr>
          <p:cNvSpPr/>
          <p:nvPr/>
        </p:nvSpPr>
        <p:spPr>
          <a:xfrm>
            <a:off x="6077647" y="1377315"/>
            <a:ext cx="171450" cy="171450"/>
          </a:xfrm>
          <a:prstGeom prst="rect">
            <a:avLst/>
          </a:prstGeom>
          <a:solidFill>
            <a:srgbClr val="00AC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kumimoji="1" lang="zh-CN" altLang="en-US" dirty="0" err="1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4883221-A751-011E-A0A6-5D198CAE8D9C}"/>
              </a:ext>
            </a:extLst>
          </p:cNvPr>
          <p:cNvSpPr txBox="1"/>
          <p:nvPr/>
        </p:nvSpPr>
        <p:spPr>
          <a:xfrm>
            <a:off x="6249097" y="1339929"/>
            <a:ext cx="20633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Top-decile economic performers</a:t>
            </a:r>
            <a:endParaRPr kumimoji="1" lang="zh-CN" altLang="en-US" sz="1000" baseline="30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9962F1C-B171-3DEC-77ED-BCAEAEE60C1D}"/>
              </a:ext>
            </a:extLst>
          </p:cNvPr>
          <p:cNvSpPr/>
          <p:nvPr/>
        </p:nvSpPr>
        <p:spPr>
          <a:xfrm>
            <a:off x="8591334" y="1377315"/>
            <a:ext cx="171450" cy="1714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kumimoji="1" lang="zh-CN" altLang="en-US" dirty="0" err="1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399AB3E-7A9E-AA13-88CD-C35CA1C88212}"/>
              </a:ext>
            </a:extLst>
          </p:cNvPr>
          <p:cNvSpPr txBox="1"/>
          <p:nvPr/>
        </p:nvSpPr>
        <p:spPr>
          <a:xfrm>
            <a:off x="8762784" y="1339929"/>
            <a:ext cx="14237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All other respondents</a:t>
            </a:r>
            <a:endParaRPr kumimoji="1" lang="zh-CN" altLang="en-US" sz="1000" baseline="30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61" name="Chart 3">
            <a:extLst>
              <a:ext uri="{FF2B5EF4-FFF2-40B4-BE49-F238E27FC236}">
                <a16:creationId xmlns:a16="http://schemas.microsoft.com/office/drawing/2014/main" id="{A877DDAD-A990-A821-FA95-F177F3F94B7C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444500" y="3076575"/>
          <a:ext cx="3413125" cy="28971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54" name="文本框 53">
            <a:extLst>
              <a:ext uri="{FF2B5EF4-FFF2-40B4-BE49-F238E27FC236}">
                <a16:creationId xmlns:a16="http://schemas.microsoft.com/office/drawing/2014/main" id="{AB3313F0-7EB6-80E3-7833-61B69CDFDC87}"/>
              </a:ext>
            </a:extLst>
          </p:cNvPr>
          <p:cNvSpPr txBox="1"/>
          <p:nvPr/>
        </p:nvSpPr>
        <p:spPr>
          <a:xfrm>
            <a:off x="444500" y="1839734"/>
            <a:ext cx="2443298" cy="15275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HarmonyOS Sans SC Light" pitchFamily="2" charset="-122"/>
                <a:ea typeface="HarmonyOS Sans SC Light" pitchFamily="2" charset="-122"/>
              </a:rPr>
              <a:t>Organization’s highest-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HarmonyOS Sans SC Light" pitchFamily="2" charset="-122"/>
                <a:ea typeface="HarmonyOS Sans SC Light" pitchFamily="2" charset="-122"/>
              </a:rPr>
              <a:t>level tech leader plays a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HarmonyOS Sans SC Light" pitchFamily="2" charset="-122"/>
                <a:ea typeface="HarmonyOS Sans SC Light" pitchFamily="2" charset="-122"/>
              </a:rPr>
              <a:t>centra role in shaping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HarmonyOS Sans SC Light" pitchFamily="2" charset="-122"/>
                <a:ea typeface="HarmonyOS Sans SC Light" pitchFamily="2" charset="-122"/>
              </a:rPr>
              <a:t>overall business strategy</a:t>
            </a:r>
            <a:endParaRPr kumimoji="1" lang="zh-CN" altLang="en-US" sz="16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92" name="Chart 3">
            <a:extLst>
              <a:ext uri="{FF2B5EF4-FFF2-40B4-BE49-F238E27FC236}">
                <a16:creationId xmlns:a16="http://schemas.microsoft.com/office/drawing/2014/main" id="{63F0DBA8-C05A-8478-60CA-C0604C8E8FA9}"/>
              </a:ext>
            </a:extLst>
          </p:cNvPr>
          <p:cNvGraphicFramePr/>
          <p:nvPr>
            <p:custDataLst>
              <p:tags r:id="rId3"/>
            </p:custDataLst>
          </p:nvPr>
        </p:nvGraphicFramePr>
        <p:xfrm>
          <a:off x="4302125" y="3076575"/>
          <a:ext cx="3413125" cy="28971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65" name="文本框 64">
            <a:extLst>
              <a:ext uri="{FF2B5EF4-FFF2-40B4-BE49-F238E27FC236}">
                <a16:creationId xmlns:a16="http://schemas.microsoft.com/office/drawing/2014/main" id="{D5B8787B-F479-76C7-9070-3DC214C10087}"/>
              </a:ext>
            </a:extLst>
          </p:cNvPr>
          <p:cNvSpPr txBox="1"/>
          <p:nvPr/>
        </p:nvSpPr>
        <p:spPr>
          <a:xfrm>
            <a:off x="4302125" y="1839914"/>
            <a:ext cx="2818400" cy="15275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HarmonyOS Sans SC Light" pitchFamily="2" charset="-122"/>
                <a:ea typeface="HarmonyOS Sans SC Light" pitchFamily="2" charset="-122"/>
              </a:rPr>
              <a:t>Technology leaders play a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HarmonyOS Sans SC Light" pitchFamily="2" charset="-122"/>
                <a:ea typeface="HarmonyOS Sans SC Light" pitchFamily="2" charset="-122"/>
              </a:rPr>
              <a:t>central role in the company's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HarmonyOS Sans SC Light" pitchFamily="2" charset="-122"/>
                <a:ea typeface="HarmonyOS Sans SC Light" pitchFamily="2" charset="-122"/>
              </a:rPr>
              <a:t>innovations, whether they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HarmonyOS Sans SC Light" pitchFamily="2" charset="-122"/>
                <a:ea typeface="HarmonyOS Sans SC Light" pitchFamily="2" charset="-122"/>
              </a:rPr>
              <a:t>are tech-related or not</a:t>
            </a:r>
            <a:endParaRPr kumimoji="1" lang="zh-CN" altLang="en-US" sz="16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98" name="Chart 3">
            <a:extLst>
              <a:ext uri="{FF2B5EF4-FFF2-40B4-BE49-F238E27FC236}">
                <a16:creationId xmlns:a16="http://schemas.microsoft.com/office/drawing/2014/main" id="{047E61AF-18B4-2D56-7142-039B61F0D1FA}"/>
              </a:ext>
            </a:extLst>
          </p:cNvPr>
          <p:cNvGraphicFramePr/>
          <p:nvPr>
            <p:custDataLst>
              <p:tags r:id="rId4"/>
            </p:custDataLst>
          </p:nvPr>
        </p:nvGraphicFramePr>
        <p:xfrm>
          <a:off x="8118475" y="3076575"/>
          <a:ext cx="3413125" cy="28971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71" name="文本框 70">
            <a:extLst>
              <a:ext uri="{FF2B5EF4-FFF2-40B4-BE49-F238E27FC236}">
                <a16:creationId xmlns:a16="http://schemas.microsoft.com/office/drawing/2014/main" id="{684B5E6D-345C-B5AF-9E7C-7EC8B9325328}"/>
              </a:ext>
            </a:extLst>
          </p:cNvPr>
          <p:cNvSpPr txBox="1"/>
          <p:nvPr/>
        </p:nvSpPr>
        <p:spPr>
          <a:xfrm>
            <a:off x="8118476" y="1839914"/>
            <a:ext cx="3070071" cy="15275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HarmonyOS Sans SC Light" pitchFamily="2" charset="-122"/>
                <a:ea typeface="HarmonyOS Sans SC Light" pitchFamily="2" charset="-122"/>
              </a:rPr>
              <a:t>Product-management function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HarmonyOS Sans SC Light" pitchFamily="2" charset="-122"/>
                <a:ea typeface="HarmonyOS Sans SC Light" pitchFamily="2" charset="-122"/>
              </a:rPr>
              <a:t>works closely with engineering/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HarmonyOS Sans SC Light" pitchFamily="2" charset="-122"/>
                <a:ea typeface="HarmonyOS Sans SC Light" pitchFamily="2" charset="-122"/>
              </a:rPr>
              <a:t>technology leaders to define</a:t>
            </a: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HarmonyOS Sans SC Light" pitchFamily="2" charset="-122"/>
                <a:ea typeface="HarmonyOS Sans SC Light" pitchFamily="2" charset="-122"/>
              </a:rPr>
              <a:t>our tech-enabled offerings</a:t>
            </a:r>
            <a:endParaRPr kumimoji="1" lang="zh-CN" altLang="en-US" sz="16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cxnSp>
        <p:nvCxnSpPr>
          <p:cNvPr id="100" name="直线连接符 99">
            <a:extLst>
              <a:ext uri="{FF2B5EF4-FFF2-40B4-BE49-F238E27FC236}">
                <a16:creationId xmlns:a16="http://schemas.microsoft.com/office/drawing/2014/main" id="{50233B3A-57BE-1B82-CE23-C94883D6E372}"/>
              </a:ext>
            </a:extLst>
          </p:cNvPr>
          <p:cNvCxnSpPr>
            <a:cxnSpLocks/>
          </p:cNvCxnSpPr>
          <p:nvPr/>
        </p:nvCxnSpPr>
        <p:spPr>
          <a:xfrm>
            <a:off x="4063365" y="1983105"/>
            <a:ext cx="0" cy="3701056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直线连接符 100">
            <a:extLst>
              <a:ext uri="{FF2B5EF4-FFF2-40B4-BE49-F238E27FC236}">
                <a16:creationId xmlns:a16="http://schemas.microsoft.com/office/drawing/2014/main" id="{FAA594DD-9ADA-B51C-DE08-FE61FD633F1B}"/>
              </a:ext>
            </a:extLst>
          </p:cNvPr>
          <p:cNvCxnSpPr>
            <a:cxnSpLocks/>
          </p:cNvCxnSpPr>
          <p:nvPr/>
        </p:nvCxnSpPr>
        <p:spPr>
          <a:xfrm>
            <a:off x="7901940" y="1983104"/>
            <a:ext cx="0" cy="3701057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直线连接符 102">
            <a:extLst>
              <a:ext uri="{FF2B5EF4-FFF2-40B4-BE49-F238E27FC236}">
                <a16:creationId xmlns:a16="http://schemas.microsoft.com/office/drawing/2014/main" id="{CF0F65BC-A983-5F2E-C670-9FEF2E9ECF27}"/>
              </a:ext>
            </a:extLst>
          </p:cNvPr>
          <p:cNvCxnSpPr/>
          <p:nvPr/>
        </p:nvCxnSpPr>
        <p:spPr>
          <a:xfrm>
            <a:off x="8218170" y="5497829"/>
            <a:ext cx="0" cy="188596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直线连接符 103">
            <a:extLst>
              <a:ext uri="{FF2B5EF4-FFF2-40B4-BE49-F238E27FC236}">
                <a16:creationId xmlns:a16="http://schemas.microsoft.com/office/drawing/2014/main" id="{7952B0D3-FD4F-6569-F62D-181E5FAE4BA3}"/>
              </a:ext>
            </a:extLst>
          </p:cNvPr>
          <p:cNvCxnSpPr/>
          <p:nvPr/>
        </p:nvCxnSpPr>
        <p:spPr>
          <a:xfrm>
            <a:off x="11447753" y="5499797"/>
            <a:ext cx="0" cy="188596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直线连接符 104">
            <a:extLst>
              <a:ext uri="{FF2B5EF4-FFF2-40B4-BE49-F238E27FC236}">
                <a16:creationId xmlns:a16="http://schemas.microsoft.com/office/drawing/2014/main" id="{9EDEF2E9-F28C-0BBC-AC56-77AFB24DFB84}"/>
              </a:ext>
            </a:extLst>
          </p:cNvPr>
          <p:cNvCxnSpPr>
            <a:cxnSpLocks/>
          </p:cNvCxnSpPr>
          <p:nvPr/>
        </p:nvCxnSpPr>
        <p:spPr>
          <a:xfrm flipH="1">
            <a:off x="8214927" y="5684162"/>
            <a:ext cx="3232826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文本框 107">
            <a:extLst>
              <a:ext uri="{FF2B5EF4-FFF2-40B4-BE49-F238E27FC236}">
                <a16:creationId xmlns:a16="http://schemas.microsoft.com/office/drawing/2014/main" id="{4D341ADA-5D2B-6414-6AAE-8ADC2C7B91EE}"/>
              </a:ext>
            </a:extLst>
          </p:cNvPr>
          <p:cNvSpPr txBox="1"/>
          <p:nvPr/>
        </p:nvSpPr>
        <p:spPr>
          <a:xfrm>
            <a:off x="9628664" y="5530273"/>
            <a:ext cx="492443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100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4241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80A7E-E021-6309-5B9A-BA9ADAD5D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08FE6F7-660C-8C90-7216-78563B5C54B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3" imgW="7772400" imgH="10058400" progId="TCLayout.ActiveDocument.1">
                  <p:embed/>
                </p:oleObj>
              </mc:Choice>
              <mc:Fallback>
                <p:oleObj name="think-cell 幻灯片" r:id="rId1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08FE6F7-660C-8C90-7216-78563B5C54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4BD6AD9C-3DF0-3A42-1FA8-C865E011564A}"/>
              </a:ext>
            </a:extLst>
          </p:cNvPr>
          <p:cNvSpPr txBox="1"/>
          <p:nvPr/>
        </p:nvSpPr>
        <p:spPr>
          <a:xfrm>
            <a:off x="414602" y="164705"/>
            <a:ext cx="113362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Medium" pitchFamily="2" charset="-122"/>
                <a:ea typeface="HarmonyOS Sans SC Medium" pitchFamily="2" charset="-122"/>
              </a:rPr>
              <a:t>Organizations with tech-savvy leadership teams significantly outperformed</a:t>
            </a:r>
            <a:r>
              <a:rPr kumimoji="1" lang="zh-CN" altLang="en-US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Medium" pitchFamily="2" charset="-122"/>
                <a:ea typeface="HarmonyOS Sans SC Medium" pitchFamily="2" charset="-122"/>
              </a:rPr>
              <a:t> </a:t>
            </a:r>
            <a:r>
              <a:rPr kumimoji="1" lang="en-US" altLang="zh-CN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Medium" pitchFamily="2" charset="-122"/>
                <a:ea typeface="HarmonyOS Sans SC Medium" pitchFamily="2" charset="-122"/>
              </a:rPr>
              <a:t>their peers in their ability to build top-performing tech endowments.</a:t>
            </a:r>
            <a:endParaRPr kumimoji="1" lang="zh-CN" altLang="en-US" sz="18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E298B25-5872-1DDA-52B7-FE1998BB0340}"/>
              </a:ext>
            </a:extLst>
          </p:cNvPr>
          <p:cNvSpPr txBox="1"/>
          <p:nvPr/>
        </p:nvSpPr>
        <p:spPr>
          <a:xfrm>
            <a:off x="409503" y="817714"/>
            <a:ext cx="4450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Number of tech-savvy company leaders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，</a:t>
            </a:r>
            <a:r>
              <a:rPr kumimoji="1" lang="en-US" altLang="zh-CN" sz="12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1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% of respondents</a:t>
            </a:r>
            <a:endParaRPr kumimoji="1" lang="zh-CN" altLang="en-US" sz="12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4DB7B952-92F2-8A29-E6E1-2797B71F31A4}"/>
              </a:ext>
            </a:extLst>
          </p:cNvPr>
          <p:cNvSpPr txBox="1"/>
          <p:nvPr/>
        </p:nvSpPr>
        <p:spPr>
          <a:xfrm>
            <a:off x="409503" y="5349151"/>
            <a:ext cx="36134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Note: Figures may not sum to 100%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， 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because of rounding.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graphicFrame>
        <p:nvGraphicFramePr>
          <p:cNvPr id="101" name="Chart 3">
            <a:extLst>
              <a:ext uri="{FF2B5EF4-FFF2-40B4-BE49-F238E27FC236}">
                <a16:creationId xmlns:a16="http://schemas.microsoft.com/office/drawing/2014/main" id="{6A757E8A-FC24-801B-5D3B-DC8176B12AD9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376238" y="2078038"/>
          <a:ext cx="4608512" cy="3044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64BC25-251C-D9EE-2BD0-C7BB248E0C6A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630238" y="4875213"/>
            <a:ext cx="766763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911B018-C9E7-4D4A-B591-139365C68281}" type="datetime'0'''' ''''to ''''''''2&#10;''''m''e''''m''''''b''er''''''''''s'''">
              <a:rPr kumimoji="1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  <a:sym typeface="HarmonyOS Sans SC" pitchFamily="2" charset="-122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 to 2
members</a:t>
            </a:fld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  <a:sym typeface="HarmonyOS Sans SC" pitchFamily="2" charset="-122"/>
            </a:endParaRPr>
          </a:p>
        </p:txBody>
      </p:sp>
      <p:sp>
        <p:nvSpPr>
          <p:cNvPr id="35" name="文本占位符 2">
            <a:extLst>
              <a:ext uri="{FF2B5EF4-FFF2-40B4-BE49-F238E27FC236}">
                <a16:creationId xmlns:a16="http://schemas.microsoft.com/office/drawing/2014/main" id="{A8197345-CA12-2613-4912-5E61A474F09B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1884363" y="4875213"/>
            <a:ext cx="481013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310A61E5-638D-4039-9072-4FFCAE8C1BF0}" type="datetime'''3'''''''''''''''''''''''' ''''''to'''' ''''''''''4'''''''''">
              <a:rPr kumimoji="1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  <a:sym typeface="HarmonyOS Sans SC" pitchFamily="2" charset="-122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 to 4</a:t>
            </a:fld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  <a:sym typeface="HarmonyOS Sans SC" pitchFamily="2" charset="-122"/>
            </a:endParaRPr>
          </a:p>
        </p:txBody>
      </p:sp>
      <p:sp>
        <p:nvSpPr>
          <p:cNvPr id="38" name="文本占位符 2">
            <a:extLst>
              <a:ext uri="{FF2B5EF4-FFF2-40B4-BE49-F238E27FC236}">
                <a16:creationId xmlns:a16="http://schemas.microsoft.com/office/drawing/2014/main" id="{C3E4627E-0309-3607-CD65-45890886BC0C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2995613" y="4875213"/>
            <a:ext cx="481013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158B9D4F-47E1-48F0-9597-4D9A9896C8E3}" type="datetime'''5'''''''''''''' ''''t''o ''''6'''''''''''''''''''">
              <a:rPr kumimoji="1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  <a:sym typeface="HarmonyOS Sans SC" pitchFamily="2" charset="-122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 to 6</a:t>
            </a:fld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  <a:sym typeface="HarmonyOS Sans SC" pitchFamily="2" charset="-122"/>
            </a:endParaRPr>
          </a:p>
        </p:txBody>
      </p:sp>
      <p:sp>
        <p:nvSpPr>
          <p:cNvPr id="41" name="文本占位符 2">
            <a:extLst>
              <a:ext uri="{FF2B5EF4-FFF2-40B4-BE49-F238E27FC236}">
                <a16:creationId xmlns:a16="http://schemas.microsoft.com/office/drawing/2014/main" id="{6CB51FDB-74AC-0536-CAE2-3BE69964D0B1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4105275" y="4875213"/>
            <a:ext cx="481013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98941A9-810C-40F7-8E9C-DE51246ABDB4}" type="datetime'''''7 ''''''''''t''''o'''''''' ''9'''''''''''''''">
              <a:rPr kumimoji="1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  <a:sym typeface="HarmonyOS Sans SC" pitchFamily="2" charset="-122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 to 9</a:t>
            </a:fld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  <a:sym typeface="HarmonyOS Sans SC" pitchFamily="2" charset="-122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82BBCDE9-9AFB-3203-F48B-E7026DDEDD86}"/>
              </a:ext>
            </a:extLst>
          </p:cNvPr>
          <p:cNvSpPr/>
          <p:nvPr/>
        </p:nvSpPr>
        <p:spPr>
          <a:xfrm>
            <a:off x="1321060" y="3910013"/>
            <a:ext cx="496310" cy="901700"/>
          </a:xfrm>
          <a:custGeom>
            <a:avLst/>
            <a:gdLst>
              <a:gd name="connsiteX0" fmla="*/ 0 w 492500"/>
              <a:gd name="connsiteY0" fmla="*/ 0 h 584488"/>
              <a:gd name="connsiteX1" fmla="*/ 492500 w 492500"/>
              <a:gd name="connsiteY1" fmla="*/ 0 h 584488"/>
              <a:gd name="connsiteX2" fmla="*/ 492500 w 492500"/>
              <a:gd name="connsiteY2" fmla="*/ 584488 h 584488"/>
              <a:gd name="connsiteX3" fmla="*/ 0 w 492500"/>
              <a:gd name="connsiteY3" fmla="*/ 584488 h 584488"/>
              <a:gd name="connsiteX4" fmla="*/ 0 w 492500"/>
              <a:gd name="connsiteY4" fmla="*/ 0 h 584488"/>
              <a:gd name="connsiteX0" fmla="*/ 0 w 496310"/>
              <a:gd name="connsiteY0" fmla="*/ 316230 h 900718"/>
              <a:gd name="connsiteX1" fmla="*/ 496310 w 496310"/>
              <a:gd name="connsiteY1" fmla="*/ 0 h 900718"/>
              <a:gd name="connsiteX2" fmla="*/ 492500 w 496310"/>
              <a:gd name="connsiteY2" fmla="*/ 900718 h 900718"/>
              <a:gd name="connsiteX3" fmla="*/ 0 w 496310"/>
              <a:gd name="connsiteY3" fmla="*/ 900718 h 900718"/>
              <a:gd name="connsiteX4" fmla="*/ 0 w 496310"/>
              <a:gd name="connsiteY4" fmla="*/ 316230 h 900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6310" h="900718">
                <a:moveTo>
                  <a:pt x="0" y="316230"/>
                </a:moveTo>
                <a:lnTo>
                  <a:pt x="496310" y="0"/>
                </a:lnTo>
                <a:lnTo>
                  <a:pt x="492500" y="900718"/>
                </a:lnTo>
                <a:lnTo>
                  <a:pt x="0" y="900718"/>
                </a:lnTo>
                <a:lnTo>
                  <a:pt x="0" y="316230"/>
                </a:lnTo>
                <a:close/>
              </a:path>
            </a:pathLst>
          </a:cu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3" name="矩形 49">
            <a:extLst>
              <a:ext uri="{FF2B5EF4-FFF2-40B4-BE49-F238E27FC236}">
                <a16:creationId xmlns:a16="http://schemas.microsoft.com/office/drawing/2014/main" id="{FA3B1380-B96F-A897-5D08-6FB2AED605A6}"/>
              </a:ext>
            </a:extLst>
          </p:cNvPr>
          <p:cNvSpPr/>
          <p:nvPr/>
        </p:nvSpPr>
        <p:spPr>
          <a:xfrm>
            <a:off x="2432339" y="3201988"/>
            <a:ext cx="492500" cy="1609725"/>
          </a:xfrm>
          <a:custGeom>
            <a:avLst/>
            <a:gdLst>
              <a:gd name="connsiteX0" fmla="*/ 0 w 492500"/>
              <a:gd name="connsiteY0" fmla="*/ 0 h 584488"/>
              <a:gd name="connsiteX1" fmla="*/ 492500 w 492500"/>
              <a:gd name="connsiteY1" fmla="*/ 0 h 584488"/>
              <a:gd name="connsiteX2" fmla="*/ 492500 w 492500"/>
              <a:gd name="connsiteY2" fmla="*/ 584488 h 584488"/>
              <a:gd name="connsiteX3" fmla="*/ 0 w 492500"/>
              <a:gd name="connsiteY3" fmla="*/ 584488 h 584488"/>
              <a:gd name="connsiteX4" fmla="*/ 0 w 492500"/>
              <a:gd name="connsiteY4" fmla="*/ 0 h 584488"/>
              <a:gd name="connsiteX0" fmla="*/ 0 w 496310"/>
              <a:gd name="connsiteY0" fmla="*/ 316230 h 900718"/>
              <a:gd name="connsiteX1" fmla="*/ 496310 w 496310"/>
              <a:gd name="connsiteY1" fmla="*/ 0 h 900718"/>
              <a:gd name="connsiteX2" fmla="*/ 492500 w 496310"/>
              <a:gd name="connsiteY2" fmla="*/ 900718 h 900718"/>
              <a:gd name="connsiteX3" fmla="*/ 0 w 496310"/>
              <a:gd name="connsiteY3" fmla="*/ 900718 h 900718"/>
              <a:gd name="connsiteX4" fmla="*/ 0 w 496310"/>
              <a:gd name="connsiteY4" fmla="*/ 316230 h 900718"/>
              <a:gd name="connsiteX0" fmla="*/ 0 w 492500"/>
              <a:gd name="connsiteY0" fmla="*/ 456733 h 1041221"/>
              <a:gd name="connsiteX1" fmla="*/ 492500 w 492500"/>
              <a:gd name="connsiteY1" fmla="*/ 0 h 1041221"/>
              <a:gd name="connsiteX2" fmla="*/ 492500 w 492500"/>
              <a:gd name="connsiteY2" fmla="*/ 1041221 h 1041221"/>
              <a:gd name="connsiteX3" fmla="*/ 0 w 492500"/>
              <a:gd name="connsiteY3" fmla="*/ 1041221 h 1041221"/>
              <a:gd name="connsiteX4" fmla="*/ 0 w 492500"/>
              <a:gd name="connsiteY4" fmla="*/ 456733 h 104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2500" h="1041221">
                <a:moveTo>
                  <a:pt x="0" y="456733"/>
                </a:moveTo>
                <a:lnTo>
                  <a:pt x="492500" y="0"/>
                </a:lnTo>
                <a:lnTo>
                  <a:pt x="492500" y="1041221"/>
                </a:lnTo>
                <a:lnTo>
                  <a:pt x="0" y="1041221"/>
                </a:lnTo>
                <a:lnTo>
                  <a:pt x="0" y="456733"/>
                </a:lnTo>
                <a:close/>
              </a:path>
            </a:pathLst>
          </a:cu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4" name="矩形 49">
            <a:extLst>
              <a:ext uri="{FF2B5EF4-FFF2-40B4-BE49-F238E27FC236}">
                <a16:creationId xmlns:a16="http://schemas.microsoft.com/office/drawing/2014/main" id="{ECF7EB57-0C48-8C73-D2EF-4587F9A172B3}"/>
              </a:ext>
            </a:extLst>
          </p:cNvPr>
          <p:cNvSpPr/>
          <p:nvPr/>
        </p:nvSpPr>
        <p:spPr>
          <a:xfrm>
            <a:off x="3543618" y="2516188"/>
            <a:ext cx="492500" cy="2295525"/>
          </a:xfrm>
          <a:custGeom>
            <a:avLst/>
            <a:gdLst>
              <a:gd name="connsiteX0" fmla="*/ 0 w 492500"/>
              <a:gd name="connsiteY0" fmla="*/ 0 h 584488"/>
              <a:gd name="connsiteX1" fmla="*/ 492500 w 492500"/>
              <a:gd name="connsiteY1" fmla="*/ 0 h 584488"/>
              <a:gd name="connsiteX2" fmla="*/ 492500 w 492500"/>
              <a:gd name="connsiteY2" fmla="*/ 584488 h 584488"/>
              <a:gd name="connsiteX3" fmla="*/ 0 w 492500"/>
              <a:gd name="connsiteY3" fmla="*/ 584488 h 584488"/>
              <a:gd name="connsiteX4" fmla="*/ 0 w 492500"/>
              <a:gd name="connsiteY4" fmla="*/ 0 h 584488"/>
              <a:gd name="connsiteX0" fmla="*/ 0 w 496310"/>
              <a:gd name="connsiteY0" fmla="*/ 316230 h 900718"/>
              <a:gd name="connsiteX1" fmla="*/ 496310 w 496310"/>
              <a:gd name="connsiteY1" fmla="*/ 0 h 900718"/>
              <a:gd name="connsiteX2" fmla="*/ 492500 w 496310"/>
              <a:gd name="connsiteY2" fmla="*/ 900718 h 900718"/>
              <a:gd name="connsiteX3" fmla="*/ 0 w 496310"/>
              <a:gd name="connsiteY3" fmla="*/ 900718 h 900718"/>
              <a:gd name="connsiteX4" fmla="*/ 0 w 496310"/>
              <a:gd name="connsiteY4" fmla="*/ 316230 h 900718"/>
              <a:gd name="connsiteX0" fmla="*/ 0 w 492500"/>
              <a:gd name="connsiteY0" fmla="*/ 456733 h 1041221"/>
              <a:gd name="connsiteX1" fmla="*/ 492500 w 492500"/>
              <a:gd name="connsiteY1" fmla="*/ 0 h 1041221"/>
              <a:gd name="connsiteX2" fmla="*/ 492500 w 492500"/>
              <a:gd name="connsiteY2" fmla="*/ 1041221 h 1041221"/>
              <a:gd name="connsiteX3" fmla="*/ 0 w 492500"/>
              <a:gd name="connsiteY3" fmla="*/ 1041221 h 1041221"/>
              <a:gd name="connsiteX4" fmla="*/ 0 w 492500"/>
              <a:gd name="connsiteY4" fmla="*/ 456733 h 1041221"/>
              <a:gd name="connsiteX0" fmla="*/ 0 w 496310"/>
              <a:gd name="connsiteY0" fmla="*/ 247980 h 832468"/>
              <a:gd name="connsiteX1" fmla="*/ 496310 w 496310"/>
              <a:gd name="connsiteY1" fmla="*/ 0 h 832468"/>
              <a:gd name="connsiteX2" fmla="*/ 492500 w 496310"/>
              <a:gd name="connsiteY2" fmla="*/ 832468 h 832468"/>
              <a:gd name="connsiteX3" fmla="*/ 0 w 496310"/>
              <a:gd name="connsiteY3" fmla="*/ 832468 h 832468"/>
              <a:gd name="connsiteX4" fmla="*/ 0 w 496310"/>
              <a:gd name="connsiteY4" fmla="*/ 247980 h 832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6310" h="832468">
                <a:moveTo>
                  <a:pt x="0" y="247980"/>
                </a:moveTo>
                <a:lnTo>
                  <a:pt x="496310" y="0"/>
                </a:lnTo>
                <a:lnTo>
                  <a:pt x="492500" y="832468"/>
                </a:lnTo>
                <a:lnTo>
                  <a:pt x="0" y="832468"/>
                </a:lnTo>
                <a:lnTo>
                  <a:pt x="0" y="247980"/>
                </a:lnTo>
                <a:close/>
              </a:path>
            </a:pathLst>
          </a:cu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108" name="Chart 3">
            <a:extLst>
              <a:ext uri="{FF2B5EF4-FFF2-40B4-BE49-F238E27FC236}">
                <a16:creationId xmlns:a16="http://schemas.microsoft.com/office/drawing/2014/main" id="{B6504188-FDB2-4245-4715-E582BF5590D5}"/>
              </a:ext>
            </a:extLst>
          </p:cNvPr>
          <p:cNvGraphicFramePr/>
          <p:nvPr>
            <p:custDataLst>
              <p:tags r:id="rId7"/>
            </p:custDataLst>
          </p:nvPr>
        </p:nvGraphicFramePr>
        <p:xfrm>
          <a:off x="6580188" y="942975"/>
          <a:ext cx="4606925" cy="4181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56" name="文本占位符 2">
            <a:extLst>
              <a:ext uri="{FF2B5EF4-FFF2-40B4-BE49-F238E27FC236}">
                <a16:creationId xmlns:a16="http://schemas.microsoft.com/office/drawing/2014/main" id="{6395B813-6F70-5B77-3938-05E66BDD6844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6834188" y="4876800"/>
            <a:ext cx="766763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54E337E6-7131-414B-9B4D-8D721C2D5BF4}" type="datetime'''0'' t''''o'' 2''''&#10;m''e''mb''''''''''''e''''''r''''''''''s'">
              <a:rPr kumimoji="1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0 to 2
members</a:t>
            </a:fld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  <a:sym typeface="HarmonyOS Sans SC" pitchFamily="2" charset="-122"/>
            </a:endParaRPr>
          </a:p>
        </p:txBody>
      </p:sp>
      <p:sp>
        <p:nvSpPr>
          <p:cNvPr id="57" name="文本占位符 2">
            <a:extLst>
              <a:ext uri="{FF2B5EF4-FFF2-40B4-BE49-F238E27FC236}">
                <a16:creationId xmlns:a16="http://schemas.microsoft.com/office/drawing/2014/main" id="{16DB13FB-C09B-1F77-4931-9E6C32E66395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8088313" y="4876800"/>
            <a:ext cx="481013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F27C7B8-AB2F-430B-A696-6F9A2DCBA592}" type="datetime'''3'' ''''''''''''t''''''o'''''''''''''''''' ''''4'''''''''">
              <a:rPr kumimoji="1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3 to 4</a:t>
            </a:fld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  <a:sym typeface="HarmonyOS Sans SC" pitchFamily="2" charset="-122"/>
            </a:endParaRPr>
          </a:p>
        </p:txBody>
      </p:sp>
      <p:sp>
        <p:nvSpPr>
          <p:cNvPr id="58" name="文本占位符 2">
            <a:extLst>
              <a:ext uri="{FF2B5EF4-FFF2-40B4-BE49-F238E27FC236}">
                <a16:creationId xmlns:a16="http://schemas.microsoft.com/office/drawing/2014/main" id="{7962EC10-195B-41D8-738A-848B0D50EEB7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9197975" y="4876800"/>
            <a:ext cx="481013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E0819E4-8B56-4204-98A4-F454919E6FEC}" type="datetime'5'''''''' ''''''''''''''''''''''''''''''''''t''o'' 6'''''''''">
              <a:rPr kumimoji="1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 to 6</a:t>
            </a:fld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  <a:sym typeface="HarmonyOS Sans SC" pitchFamily="2" charset="-122"/>
            </a:endParaRPr>
          </a:p>
        </p:txBody>
      </p:sp>
      <p:sp>
        <p:nvSpPr>
          <p:cNvPr id="59" name="文本占位符 2">
            <a:extLst>
              <a:ext uri="{FF2B5EF4-FFF2-40B4-BE49-F238E27FC236}">
                <a16:creationId xmlns:a16="http://schemas.microsoft.com/office/drawing/2014/main" id="{ED12598D-9685-A80E-5843-9391ABBA8B29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10309225" y="4876800"/>
            <a:ext cx="481013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C00D1AF-78BC-489E-98CA-94B65B06991D}" type="datetime'''''''7'''''''''''''''''''''''''''''' ''t''''''o ''''9'''">
              <a:rPr kumimoji="1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7 to 9</a:t>
            </a:fld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  <a:sym typeface="HarmonyOS Sans SC" pitchFamily="2" charset="-122"/>
            </a:endParaRPr>
          </a:p>
        </p:txBody>
      </p:sp>
      <p:sp>
        <p:nvSpPr>
          <p:cNvPr id="91" name="矩形 49">
            <a:extLst>
              <a:ext uri="{FF2B5EF4-FFF2-40B4-BE49-F238E27FC236}">
                <a16:creationId xmlns:a16="http://schemas.microsoft.com/office/drawing/2014/main" id="{A89BF39B-4CA5-1347-F0A2-61BD67893019}"/>
              </a:ext>
            </a:extLst>
          </p:cNvPr>
          <p:cNvSpPr/>
          <p:nvPr/>
        </p:nvSpPr>
        <p:spPr>
          <a:xfrm>
            <a:off x="7526920" y="1365250"/>
            <a:ext cx="489325" cy="3446463"/>
          </a:xfrm>
          <a:custGeom>
            <a:avLst/>
            <a:gdLst>
              <a:gd name="connsiteX0" fmla="*/ 0 w 492500"/>
              <a:gd name="connsiteY0" fmla="*/ 0 h 584488"/>
              <a:gd name="connsiteX1" fmla="*/ 492500 w 492500"/>
              <a:gd name="connsiteY1" fmla="*/ 0 h 584488"/>
              <a:gd name="connsiteX2" fmla="*/ 492500 w 492500"/>
              <a:gd name="connsiteY2" fmla="*/ 584488 h 584488"/>
              <a:gd name="connsiteX3" fmla="*/ 0 w 492500"/>
              <a:gd name="connsiteY3" fmla="*/ 584488 h 584488"/>
              <a:gd name="connsiteX4" fmla="*/ 0 w 492500"/>
              <a:gd name="connsiteY4" fmla="*/ 0 h 584488"/>
              <a:gd name="connsiteX0" fmla="*/ 0 w 496310"/>
              <a:gd name="connsiteY0" fmla="*/ 316230 h 900718"/>
              <a:gd name="connsiteX1" fmla="*/ 496310 w 496310"/>
              <a:gd name="connsiteY1" fmla="*/ 0 h 900718"/>
              <a:gd name="connsiteX2" fmla="*/ 492500 w 496310"/>
              <a:gd name="connsiteY2" fmla="*/ 900718 h 900718"/>
              <a:gd name="connsiteX3" fmla="*/ 0 w 496310"/>
              <a:gd name="connsiteY3" fmla="*/ 900718 h 900718"/>
              <a:gd name="connsiteX4" fmla="*/ 0 w 496310"/>
              <a:gd name="connsiteY4" fmla="*/ 316230 h 900718"/>
              <a:gd name="connsiteX0" fmla="*/ 0 w 492500"/>
              <a:gd name="connsiteY0" fmla="*/ 456733 h 1041221"/>
              <a:gd name="connsiteX1" fmla="*/ 492500 w 492500"/>
              <a:gd name="connsiteY1" fmla="*/ 0 h 1041221"/>
              <a:gd name="connsiteX2" fmla="*/ 492500 w 492500"/>
              <a:gd name="connsiteY2" fmla="*/ 1041221 h 1041221"/>
              <a:gd name="connsiteX3" fmla="*/ 0 w 492500"/>
              <a:gd name="connsiteY3" fmla="*/ 1041221 h 1041221"/>
              <a:gd name="connsiteX4" fmla="*/ 0 w 492500"/>
              <a:gd name="connsiteY4" fmla="*/ 456733 h 1041221"/>
              <a:gd name="connsiteX0" fmla="*/ 0 w 496310"/>
              <a:gd name="connsiteY0" fmla="*/ 247980 h 832468"/>
              <a:gd name="connsiteX1" fmla="*/ 496310 w 496310"/>
              <a:gd name="connsiteY1" fmla="*/ 0 h 832468"/>
              <a:gd name="connsiteX2" fmla="*/ 492500 w 496310"/>
              <a:gd name="connsiteY2" fmla="*/ 832468 h 832468"/>
              <a:gd name="connsiteX3" fmla="*/ 0 w 496310"/>
              <a:gd name="connsiteY3" fmla="*/ 832468 h 832468"/>
              <a:gd name="connsiteX4" fmla="*/ 0 w 496310"/>
              <a:gd name="connsiteY4" fmla="*/ 247980 h 832468"/>
              <a:gd name="connsiteX0" fmla="*/ 0 w 493110"/>
              <a:gd name="connsiteY0" fmla="*/ 0 h 584488"/>
              <a:gd name="connsiteX1" fmla="*/ 493110 w 493110"/>
              <a:gd name="connsiteY1" fmla="*/ 252014 h 584488"/>
              <a:gd name="connsiteX2" fmla="*/ 492500 w 493110"/>
              <a:gd name="connsiteY2" fmla="*/ 584488 h 584488"/>
              <a:gd name="connsiteX3" fmla="*/ 0 w 493110"/>
              <a:gd name="connsiteY3" fmla="*/ 584488 h 584488"/>
              <a:gd name="connsiteX4" fmla="*/ 0 w 493110"/>
              <a:gd name="connsiteY4" fmla="*/ 0 h 584488"/>
              <a:gd name="connsiteX0" fmla="*/ 0 w 493110"/>
              <a:gd name="connsiteY0" fmla="*/ 0 h 1250379"/>
              <a:gd name="connsiteX1" fmla="*/ 493110 w 493110"/>
              <a:gd name="connsiteY1" fmla="*/ 917905 h 1250379"/>
              <a:gd name="connsiteX2" fmla="*/ 492500 w 493110"/>
              <a:gd name="connsiteY2" fmla="*/ 1250379 h 1250379"/>
              <a:gd name="connsiteX3" fmla="*/ 0 w 493110"/>
              <a:gd name="connsiteY3" fmla="*/ 1250379 h 1250379"/>
              <a:gd name="connsiteX4" fmla="*/ 0 w 493110"/>
              <a:gd name="connsiteY4" fmla="*/ 0 h 1250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3110" h="1250379">
                <a:moveTo>
                  <a:pt x="0" y="0"/>
                </a:moveTo>
                <a:lnTo>
                  <a:pt x="493110" y="917905"/>
                </a:lnTo>
                <a:cubicBezTo>
                  <a:pt x="492907" y="1028730"/>
                  <a:pt x="492703" y="1139554"/>
                  <a:pt x="492500" y="1250379"/>
                </a:cubicBezTo>
                <a:lnTo>
                  <a:pt x="0" y="1250379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2" name="矩形 49">
            <a:extLst>
              <a:ext uri="{FF2B5EF4-FFF2-40B4-BE49-F238E27FC236}">
                <a16:creationId xmlns:a16="http://schemas.microsoft.com/office/drawing/2014/main" id="{83A1BDD2-34D1-C837-6780-2B0373E10927}"/>
              </a:ext>
            </a:extLst>
          </p:cNvPr>
          <p:cNvSpPr/>
          <p:nvPr/>
        </p:nvSpPr>
        <p:spPr>
          <a:xfrm>
            <a:off x="8638987" y="3879850"/>
            <a:ext cx="489325" cy="931863"/>
          </a:xfrm>
          <a:custGeom>
            <a:avLst/>
            <a:gdLst>
              <a:gd name="connsiteX0" fmla="*/ 0 w 492500"/>
              <a:gd name="connsiteY0" fmla="*/ 0 h 584488"/>
              <a:gd name="connsiteX1" fmla="*/ 492500 w 492500"/>
              <a:gd name="connsiteY1" fmla="*/ 0 h 584488"/>
              <a:gd name="connsiteX2" fmla="*/ 492500 w 492500"/>
              <a:gd name="connsiteY2" fmla="*/ 584488 h 584488"/>
              <a:gd name="connsiteX3" fmla="*/ 0 w 492500"/>
              <a:gd name="connsiteY3" fmla="*/ 584488 h 584488"/>
              <a:gd name="connsiteX4" fmla="*/ 0 w 492500"/>
              <a:gd name="connsiteY4" fmla="*/ 0 h 584488"/>
              <a:gd name="connsiteX0" fmla="*/ 0 w 496310"/>
              <a:gd name="connsiteY0" fmla="*/ 316230 h 900718"/>
              <a:gd name="connsiteX1" fmla="*/ 496310 w 496310"/>
              <a:gd name="connsiteY1" fmla="*/ 0 h 900718"/>
              <a:gd name="connsiteX2" fmla="*/ 492500 w 496310"/>
              <a:gd name="connsiteY2" fmla="*/ 900718 h 900718"/>
              <a:gd name="connsiteX3" fmla="*/ 0 w 496310"/>
              <a:gd name="connsiteY3" fmla="*/ 900718 h 900718"/>
              <a:gd name="connsiteX4" fmla="*/ 0 w 496310"/>
              <a:gd name="connsiteY4" fmla="*/ 316230 h 900718"/>
              <a:gd name="connsiteX0" fmla="*/ 0 w 492500"/>
              <a:gd name="connsiteY0" fmla="*/ 456733 h 1041221"/>
              <a:gd name="connsiteX1" fmla="*/ 492500 w 492500"/>
              <a:gd name="connsiteY1" fmla="*/ 0 h 1041221"/>
              <a:gd name="connsiteX2" fmla="*/ 492500 w 492500"/>
              <a:gd name="connsiteY2" fmla="*/ 1041221 h 1041221"/>
              <a:gd name="connsiteX3" fmla="*/ 0 w 492500"/>
              <a:gd name="connsiteY3" fmla="*/ 1041221 h 1041221"/>
              <a:gd name="connsiteX4" fmla="*/ 0 w 492500"/>
              <a:gd name="connsiteY4" fmla="*/ 456733 h 1041221"/>
              <a:gd name="connsiteX0" fmla="*/ 0 w 496310"/>
              <a:gd name="connsiteY0" fmla="*/ 247980 h 832468"/>
              <a:gd name="connsiteX1" fmla="*/ 496310 w 496310"/>
              <a:gd name="connsiteY1" fmla="*/ 0 h 832468"/>
              <a:gd name="connsiteX2" fmla="*/ 492500 w 496310"/>
              <a:gd name="connsiteY2" fmla="*/ 832468 h 832468"/>
              <a:gd name="connsiteX3" fmla="*/ 0 w 496310"/>
              <a:gd name="connsiteY3" fmla="*/ 832468 h 832468"/>
              <a:gd name="connsiteX4" fmla="*/ 0 w 496310"/>
              <a:gd name="connsiteY4" fmla="*/ 247980 h 832468"/>
              <a:gd name="connsiteX0" fmla="*/ 0 w 493110"/>
              <a:gd name="connsiteY0" fmla="*/ 0 h 584488"/>
              <a:gd name="connsiteX1" fmla="*/ 493110 w 493110"/>
              <a:gd name="connsiteY1" fmla="*/ 252014 h 584488"/>
              <a:gd name="connsiteX2" fmla="*/ 492500 w 493110"/>
              <a:gd name="connsiteY2" fmla="*/ 584488 h 584488"/>
              <a:gd name="connsiteX3" fmla="*/ 0 w 493110"/>
              <a:gd name="connsiteY3" fmla="*/ 584488 h 584488"/>
              <a:gd name="connsiteX4" fmla="*/ 0 w 493110"/>
              <a:gd name="connsiteY4" fmla="*/ 0 h 584488"/>
              <a:gd name="connsiteX0" fmla="*/ 0 w 493110"/>
              <a:gd name="connsiteY0" fmla="*/ 0 h 1250379"/>
              <a:gd name="connsiteX1" fmla="*/ 493110 w 493110"/>
              <a:gd name="connsiteY1" fmla="*/ 917905 h 1250379"/>
              <a:gd name="connsiteX2" fmla="*/ 492500 w 493110"/>
              <a:gd name="connsiteY2" fmla="*/ 1250379 h 1250379"/>
              <a:gd name="connsiteX3" fmla="*/ 0 w 493110"/>
              <a:gd name="connsiteY3" fmla="*/ 1250379 h 1250379"/>
              <a:gd name="connsiteX4" fmla="*/ 0 w 493110"/>
              <a:gd name="connsiteY4" fmla="*/ 0 h 1250379"/>
              <a:gd name="connsiteX0" fmla="*/ 0 w 493110"/>
              <a:gd name="connsiteY0" fmla="*/ 0 h 1250379"/>
              <a:gd name="connsiteX1" fmla="*/ 493110 w 493110"/>
              <a:gd name="connsiteY1" fmla="*/ 636528 h 1250379"/>
              <a:gd name="connsiteX2" fmla="*/ 492500 w 493110"/>
              <a:gd name="connsiteY2" fmla="*/ 1250379 h 1250379"/>
              <a:gd name="connsiteX3" fmla="*/ 0 w 493110"/>
              <a:gd name="connsiteY3" fmla="*/ 1250379 h 1250379"/>
              <a:gd name="connsiteX4" fmla="*/ 0 w 493110"/>
              <a:gd name="connsiteY4" fmla="*/ 0 h 1250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3110" h="1250379">
                <a:moveTo>
                  <a:pt x="0" y="0"/>
                </a:moveTo>
                <a:lnTo>
                  <a:pt x="493110" y="636528"/>
                </a:lnTo>
                <a:cubicBezTo>
                  <a:pt x="492907" y="747353"/>
                  <a:pt x="492703" y="1139554"/>
                  <a:pt x="492500" y="1250379"/>
                </a:cubicBezTo>
                <a:lnTo>
                  <a:pt x="0" y="1250379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3" name="矩形 49">
            <a:extLst>
              <a:ext uri="{FF2B5EF4-FFF2-40B4-BE49-F238E27FC236}">
                <a16:creationId xmlns:a16="http://schemas.microsoft.com/office/drawing/2014/main" id="{90BF0DFD-2ECF-062F-88CC-DBA58282DF63}"/>
              </a:ext>
            </a:extLst>
          </p:cNvPr>
          <p:cNvSpPr/>
          <p:nvPr/>
        </p:nvSpPr>
        <p:spPr>
          <a:xfrm>
            <a:off x="9751054" y="4343400"/>
            <a:ext cx="489325" cy="468313"/>
          </a:xfrm>
          <a:custGeom>
            <a:avLst/>
            <a:gdLst>
              <a:gd name="connsiteX0" fmla="*/ 0 w 492500"/>
              <a:gd name="connsiteY0" fmla="*/ 0 h 584488"/>
              <a:gd name="connsiteX1" fmla="*/ 492500 w 492500"/>
              <a:gd name="connsiteY1" fmla="*/ 0 h 584488"/>
              <a:gd name="connsiteX2" fmla="*/ 492500 w 492500"/>
              <a:gd name="connsiteY2" fmla="*/ 584488 h 584488"/>
              <a:gd name="connsiteX3" fmla="*/ 0 w 492500"/>
              <a:gd name="connsiteY3" fmla="*/ 584488 h 584488"/>
              <a:gd name="connsiteX4" fmla="*/ 0 w 492500"/>
              <a:gd name="connsiteY4" fmla="*/ 0 h 584488"/>
              <a:gd name="connsiteX0" fmla="*/ 0 w 496310"/>
              <a:gd name="connsiteY0" fmla="*/ 316230 h 900718"/>
              <a:gd name="connsiteX1" fmla="*/ 496310 w 496310"/>
              <a:gd name="connsiteY1" fmla="*/ 0 h 900718"/>
              <a:gd name="connsiteX2" fmla="*/ 492500 w 496310"/>
              <a:gd name="connsiteY2" fmla="*/ 900718 h 900718"/>
              <a:gd name="connsiteX3" fmla="*/ 0 w 496310"/>
              <a:gd name="connsiteY3" fmla="*/ 900718 h 900718"/>
              <a:gd name="connsiteX4" fmla="*/ 0 w 496310"/>
              <a:gd name="connsiteY4" fmla="*/ 316230 h 900718"/>
              <a:gd name="connsiteX0" fmla="*/ 0 w 492500"/>
              <a:gd name="connsiteY0" fmla="*/ 456733 h 1041221"/>
              <a:gd name="connsiteX1" fmla="*/ 492500 w 492500"/>
              <a:gd name="connsiteY1" fmla="*/ 0 h 1041221"/>
              <a:gd name="connsiteX2" fmla="*/ 492500 w 492500"/>
              <a:gd name="connsiteY2" fmla="*/ 1041221 h 1041221"/>
              <a:gd name="connsiteX3" fmla="*/ 0 w 492500"/>
              <a:gd name="connsiteY3" fmla="*/ 1041221 h 1041221"/>
              <a:gd name="connsiteX4" fmla="*/ 0 w 492500"/>
              <a:gd name="connsiteY4" fmla="*/ 456733 h 1041221"/>
              <a:gd name="connsiteX0" fmla="*/ 0 w 496310"/>
              <a:gd name="connsiteY0" fmla="*/ 247980 h 832468"/>
              <a:gd name="connsiteX1" fmla="*/ 496310 w 496310"/>
              <a:gd name="connsiteY1" fmla="*/ 0 h 832468"/>
              <a:gd name="connsiteX2" fmla="*/ 492500 w 496310"/>
              <a:gd name="connsiteY2" fmla="*/ 832468 h 832468"/>
              <a:gd name="connsiteX3" fmla="*/ 0 w 496310"/>
              <a:gd name="connsiteY3" fmla="*/ 832468 h 832468"/>
              <a:gd name="connsiteX4" fmla="*/ 0 w 496310"/>
              <a:gd name="connsiteY4" fmla="*/ 247980 h 832468"/>
              <a:gd name="connsiteX0" fmla="*/ 0 w 493110"/>
              <a:gd name="connsiteY0" fmla="*/ 0 h 584488"/>
              <a:gd name="connsiteX1" fmla="*/ 493110 w 493110"/>
              <a:gd name="connsiteY1" fmla="*/ 252014 h 584488"/>
              <a:gd name="connsiteX2" fmla="*/ 492500 w 493110"/>
              <a:gd name="connsiteY2" fmla="*/ 584488 h 584488"/>
              <a:gd name="connsiteX3" fmla="*/ 0 w 493110"/>
              <a:gd name="connsiteY3" fmla="*/ 584488 h 584488"/>
              <a:gd name="connsiteX4" fmla="*/ 0 w 493110"/>
              <a:gd name="connsiteY4" fmla="*/ 0 h 584488"/>
              <a:gd name="connsiteX0" fmla="*/ 0 w 493110"/>
              <a:gd name="connsiteY0" fmla="*/ 0 h 1250379"/>
              <a:gd name="connsiteX1" fmla="*/ 493110 w 493110"/>
              <a:gd name="connsiteY1" fmla="*/ 917905 h 1250379"/>
              <a:gd name="connsiteX2" fmla="*/ 492500 w 493110"/>
              <a:gd name="connsiteY2" fmla="*/ 1250379 h 1250379"/>
              <a:gd name="connsiteX3" fmla="*/ 0 w 493110"/>
              <a:gd name="connsiteY3" fmla="*/ 1250379 h 1250379"/>
              <a:gd name="connsiteX4" fmla="*/ 0 w 493110"/>
              <a:gd name="connsiteY4" fmla="*/ 0 h 1250379"/>
              <a:gd name="connsiteX0" fmla="*/ 0 w 493110"/>
              <a:gd name="connsiteY0" fmla="*/ 0 h 1250379"/>
              <a:gd name="connsiteX1" fmla="*/ 493110 w 493110"/>
              <a:gd name="connsiteY1" fmla="*/ 636528 h 1250379"/>
              <a:gd name="connsiteX2" fmla="*/ 492500 w 493110"/>
              <a:gd name="connsiteY2" fmla="*/ 1250379 h 1250379"/>
              <a:gd name="connsiteX3" fmla="*/ 0 w 493110"/>
              <a:gd name="connsiteY3" fmla="*/ 1250379 h 1250379"/>
              <a:gd name="connsiteX4" fmla="*/ 0 w 493110"/>
              <a:gd name="connsiteY4" fmla="*/ 0 h 1250379"/>
              <a:gd name="connsiteX0" fmla="*/ 0 w 492503"/>
              <a:gd name="connsiteY0" fmla="*/ 0 h 1250379"/>
              <a:gd name="connsiteX1" fmla="*/ 483511 w 492503"/>
              <a:gd name="connsiteY1" fmla="*/ 441277 h 1250379"/>
              <a:gd name="connsiteX2" fmla="*/ 492500 w 492503"/>
              <a:gd name="connsiteY2" fmla="*/ 1250379 h 1250379"/>
              <a:gd name="connsiteX3" fmla="*/ 0 w 492503"/>
              <a:gd name="connsiteY3" fmla="*/ 1250379 h 1250379"/>
              <a:gd name="connsiteX4" fmla="*/ 0 w 492503"/>
              <a:gd name="connsiteY4" fmla="*/ 0 h 1250379"/>
              <a:gd name="connsiteX0" fmla="*/ 0 w 496309"/>
              <a:gd name="connsiteY0" fmla="*/ 0 h 1250379"/>
              <a:gd name="connsiteX1" fmla="*/ 496309 w 496309"/>
              <a:gd name="connsiteY1" fmla="*/ 449766 h 1250379"/>
              <a:gd name="connsiteX2" fmla="*/ 492500 w 496309"/>
              <a:gd name="connsiteY2" fmla="*/ 1250379 h 1250379"/>
              <a:gd name="connsiteX3" fmla="*/ 0 w 496309"/>
              <a:gd name="connsiteY3" fmla="*/ 1250379 h 1250379"/>
              <a:gd name="connsiteX4" fmla="*/ 0 w 496309"/>
              <a:gd name="connsiteY4" fmla="*/ 0 h 1250379"/>
              <a:gd name="connsiteX0" fmla="*/ 0 w 493109"/>
              <a:gd name="connsiteY0" fmla="*/ 0 h 1250379"/>
              <a:gd name="connsiteX1" fmla="*/ 493109 w 493109"/>
              <a:gd name="connsiteY1" fmla="*/ 458255 h 1250379"/>
              <a:gd name="connsiteX2" fmla="*/ 492500 w 493109"/>
              <a:gd name="connsiteY2" fmla="*/ 1250379 h 1250379"/>
              <a:gd name="connsiteX3" fmla="*/ 0 w 493109"/>
              <a:gd name="connsiteY3" fmla="*/ 1250379 h 1250379"/>
              <a:gd name="connsiteX4" fmla="*/ 0 w 493109"/>
              <a:gd name="connsiteY4" fmla="*/ 0 h 1250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3109" h="1250379">
                <a:moveTo>
                  <a:pt x="0" y="0"/>
                </a:moveTo>
                <a:lnTo>
                  <a:pt x="493109" y="458255"/>
                </a:lnTo>
                <a:cubicBezTo>
                  <a:pt x="492906" y="569080"/>
                  <a:pt x="492703" y="1139554"/>
                  <a:pt x="492500" y="1250379"/>
                </a:cubicBezTo>
                <a:lnTo>
                  <a:pt x="0" y="1250379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802DDEBD-D8C5-83D7-AB7D-88203CA95F4A}"/>
              </a:ext>
            </a:extLst>
          </p:cNvPr>
          <p:cNvSpPr txBox="1"/>
          <p:nvPr/>
        </p:nvSpPr>
        <p:spPr>
          <a:xfrm>
            <a:off x="1119556" y="1204913"/>
            <a:ext cx="2424062" cy="523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Top-decile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tech-endowed companies</a:t>
            </a:r>
            <a:r>
              <a:rPr kumimoji="1" lang="en-US" altLang="zh-CN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2</a:t>
            </a:r>
            <a:endParaRPr kumimoji="1" lang="zh-CN" altLang="en-US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736845BE-B322-5BED-21E6-A58ECD7550C1}"/>
              </a:ext>
            </a:extLst>
          </p:cNvPr>
          <p:cNvSpPr txBox="1"/>
          <p:nvPr/>
        </p:nvSpPr>
        <p:spPr>
          <a:xfrm>
            <a:off x="8016245" y="1204913"/>
            <a:ext cx="2424062" cy="523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Bottom-decile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tech-endowed companies</a:t>
            </a:r>
            <a:r>
              <a:rPr kumimoji="1" lang="en-US" altLang="zh-CN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3</a:t>
            </a:r>
            <a:endParaRPr kumimoji="1" lang="zh-CN" altLang="en-US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</a:endParaRPr>
          </a:p>
        </p:txBody>
      </p:sp>
      <p:cxnSp>
        <p:nvCxnSpPr>
          <p:cNvPr id="97" name="直线连接符 96">
            <a:extLst>
              <a:ext uri="{FF2B5EF4-FFF2-40B4-BE49-F238E27FC236}">
                <a16:creationId xmlns:a16="http://schemas.microsoft.com/office/drawing/2014/main" id="{D0394245-5DBE-D6E6-C0F0-D47527E825AF}"/>
              </a:ext>
            </a:extLst>
          </p:cNvPr>
          <p:cNvCxnSpPr/>
          <p:nvPr/>
        </p:nvCxnSpPr>
        <p:spPr>
          <a:xfrm>
            <a:off x="5827776" y="1122363"/>
            <a:ext cx="0" cy="4249738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文本框 97">
            <a:extLst>
              <a:ext uri="{FF2B5EF4-FFF2-40B4-BE49-F238E27FC236}">
                <a16:creationId xmlns:a16="http://schemas.microsoft.com/office/drawing/2014/main" id="{9BE06B20-894B-FD0A-32D8-738A327456F5}"/>
              </a:ext>
            </a:extLst>
          </p:cNvPr>
          <p:cNvSpPr txBox="1"/>
          <p:nvPr/>
        </p:nvSpPr>
        <p:spPr>
          <a:xfrm>
            <a:off x="409503" y="5550225"/>
            <a:ext cx="112338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1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That is, company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 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leaders who are industry leaders in finding ways to apply new technologies or who consistently identify how new technologies could change or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 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transform the business and lead the implementation of these technologies.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07822D75-1109-EA17-4DF2-9651B8FF120E}"/>
              </a:ext>
            </a:extLst>
          </p:cNvPr>
          <p:cNvSpPr txBox="1"/>
          <p:nvPr/>
        </p:nvSpPr>
        <p:spPr>
          <a:xfrm>
            <a:off x="409503" y="5885388"/>
            <a:ext cx="112338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2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Companies with a top-decile technology endowment are those where respondents strongly agreed with at least 7 statements 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（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out of 13 total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） 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about the role of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 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technology in their organizations' strategies and the overall role of technology in their organizations; n = 157.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5008E5AE-B46F-0AA4-3773-010F694C6ED2}"/>
              </a:ext>
            </a:extLst>
          </p:cNvPr>
          <p:cNvSpPr txBox="1"/>
          <p:nvPr/>
        </p:nvSpPr>
        <p:spPr>
          <a:xfrm>
            <a:off x="409503" y="6251904"/>
            <a:ext cx="112338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3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Companies with a bottom-decile technology endowment are those where respondents did not strongly agree with any statements 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（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out of 13 total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） 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about the role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 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of technology in their organizations' strategies and the overall role of technology in their </a:t>
            </a:r>
            <a:r>
              <a:rPr kumimoji="1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organizations;n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 =377.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9793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D4D24-5554-E05C-D456-650343FB2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75A9C4B-EBDB-9354-1972-B506BBBEBE1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7772400" imgH="10058400" progId="TCLayout.ActiveDocument.1">
                  <p:embed/>
                </p:oleObj>
              </mc:Choice>
              <mc:Fallback>
                <p:oleObj name="think-cell 幻灯片" r:id="rId4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75A9C4B-EBDB-9354-1972-B506BBBEBE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68FCB8D7-27EF-DA53-E48A-EA09067D1676}"/>
              </a:ext>
            </a:extLst>
          </p:cNvPr>
          <p:cNvSpPr txBox="1"/>
          <p:nvPr/>
        </p:nvSpPr>
        <p:spPr>
          <a:xfrm>
            <a:off x="414602" y="234950"/>
            <a:ext cx="11336289" cy="646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Medium" pitchFamily="2" charset="-122"/>
                <a:ea typeface="HarmonyOS Sans SC Medium" pitchFamily="2" charset="-122"/>
              </a:rPr>
              <a:t>Across the leadership team, the call to become more tech savvy is urgent-even</a:t>
            </a:r>
            <a:r>
              <a:rPr kumimoji="1" lang="zh-CN" altLang="en-US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Medium" pitchFamily="2" charset="-122"/>
                <a:ea typeface="HarmonyOS Sans SC Medium" pitchFamily="2" charset="-122"/>
              </a:rPr>
              <a:t> </a:t>
            </a:r>
            <a:r>
              <a:rPr kumimoji="1" lang="en-US" altLang="zh-CN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Medium" pitchFamily="2" charset="-122"/>
                <a:ea typeface="HarmonyOS Sans SC Medium" pitchFamily="2" charset="-122"/>
              </a:rPr>
              <a:t>for roles that have typically engaged very little with technology.</a:t>
            </a:r>
            <a:endParaRPr kumimoji="1" lang="zh-CN" altLang="en-US" sz="18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0E218D-F1BA-8DBE-14EB-90EB1DE108A7}"/>
              </a:ext>
            </a:extLst>
          </p:cNvPr>
          <p:cNvSpPr txBox="1"/>
          <p:nvPr/>
        </p:nvSpPr>
        <p:spPr>
          <a:xfrm>
            <a:off x="409503" y="887413"/>
            <a:ext cx="36150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Level of engagement by role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，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% of respondents</a:t>
            </a:r>
            <a:r>
              <a:rPr kumimoji="1" lang="en-US" altLang="zh-CN" sz="12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1</a:t>
            </a:r>
            <a:endParaRPr kumimoji="1" lang="zh-CN" altLang="en-US" sz="12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BA58F4DF-7F91-E3C3-EF78-2762BE9133AB}"/>
              </a:ext>
            </a:extLst>
          </p:cNvPr>
          <p:cNvSpPr txBox="1"/>
          <p:nvPr/>
        </p:nvSpPr>
        <p:spPr>
          <a:xfrm>
            <a:off x="409503" y="5501551"/>
            <a:ext cx="40463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1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Respondents who answered "don't know" are not shown; n=1,140.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B555AE8D-4484-F11E-F0B9-3630361AC646}"/>
              </a:ext>
            </a:extLst>
          </p:cNvPr>
          <p:cNvSpPr txBox="1"/>
          <p:nvPr/>
        </p:nvSpPr>
        <p:spPr>
          <a:xfrm>
            <a:off x="409503" y="5702625"/>
            <a:ext cx="112338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2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That is, company leaders who are industry leaders in finding ways to apply new technologies or consistently identify how new technologies could change 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transform the business and lead the implementation of these technologies.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A40B1779-6DD3-71EB-4FE2-455525ECD2F4}"/>
              </a:ext>
            </a:extLst>
          </p:cNvPr>
          <p:cNvSpPr txBox="1"/>
          <p:nvPr/>
        </p:nvSpPr>
        <p:spPr>
          <a:xfrm>
            <a:off x="409503" y="6037788"/>
            <a:ext cx="11233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3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That is, company leaders who respond in a well-informed manner when others raise technology-related decisions. others raise technology-related decisions.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63003D74-149D-B6DC-20FA-BAA748DB0675}"/>
              </a:ext>
            </a:extLst>
          </p:cNvPr>
          <p:cNvSpPr txBox="1"/>
          <p:nvPr/>
        </p:nvSpPr>
        <p:spPr>
          <a:xfrm>
            <a:off x="409502" y="6234179"/>
            <a:ext cx="11233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4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That is, company leaders who respond sporadically and not always in a well-informed manner in technology-related discussions or are not engaged at all in technology-related discussions.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graphicFrame>
        <p:nvGraphicFramePr>
          <p:cNvPr id="208" name="Chart 3">
            <a:extLst>
              <a:ext uri="{FF2B5EF4-FFF2-40B4-BE49-F238E27FC236}">
                <a16:creationId xmlns:a16="http://schemas.microsoft.com/office/drawing/2014/main" id="{882ECA6F-9C06-3A8F-1AB6-FB0E1361984A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2295525" y="1552575"/>
          <a:ext cx="9244013" cy="4083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1" name="文本框 170">
            <a:extLst>
              <a:ext uri="{FF2B5EF4-FFF2-40B4-BE49-F238E27FC236}">
                <a16:creationId xmlns:a16="http://schemas.microsoft.com/office/drawing/2014/main" id="{21A955B2-7BA5-E174-EC74-68F847682393}"/>
              </a:ext>
            </a:extLst>
          </p:cNvPr>
          <p:cNvSpPr txBox="1"/>
          <p:nvPr/>
        </p:nvSpPr>
        <p:spPr>
          <a:xfrm>
            <a:off x="2700528" y="3702050"/>
            <a:ext cx="360996" cy="2762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19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</a:endParaRP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88B2D73E-50F2-AB2D-A09E-B7849B9F5F7F}"/>
              </a:ext>
            </a:extLst>
          </p:cNvPr>
          <p:cNvSpPr txBox="1"/>
          <p:nvPr/>
        </p:nvSpPr>
        <p:spPr>
          <a:xfrm>
            <a:off x="3712464" y="3702050"/>
            <a:ext cx="360996" cy="2762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35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</a:endParaRPr>
          </a:p>
        </p:txBody>
      </p:sp>
      <p:sp>
        <p:nvSpPr>
          <p:cNvPr id="173" name="文本框 172">
            <a:extLst>
              <a:ext uri="{FF2B5EF4-FFF2-40B4-BE49-F238E27FC236}">
                <a16:creationId xmlns:a16="http://schemas.microsoft.com/office/drawing/2014/main" id="{4F799D50-3C72-CB29-62F0-572FF032078C}"/>
              </a:ext>
            </a:extLst>
          </p:cNvPr>
          <p:cNvSpPr txBox="1"/>
          <p:nvPr/>
        </p:nvSpPr>
        <p:spPr>
          <a:xfrm>
            <a:off x="4724400" y="3702050"/>
            <a:ext cx="360996" cy="2762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23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</a:endParaRPr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4BD84749-A8C5-1B17-8948-8D11CEBCA413}"/>
              </a:ext>
            </a:extLst>
          </p:cNvPr>
          <p:cNvSpPr txBox="1"/>
          <p:nvPr/>
        </p:nvSpPr>
        <p:spPr>
          <a:xfrm>
            <a:off x="5736336" y="3702050"/>
            <a:ext cx="360996" cy="2762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37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</a:endParaRPr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7D78A0CD-4EFC-CFC9-700C-BB3175202470}"/>
              </a:ext>
            </a:extLst>
          </p:cNvPr>
          <p:cNvSpPr txBox="1"/>
          <p:nvPr/>
        </p:nvSpPr>
        <p:spPr>
          <a:xfrm>
            <a:off x="6748272" y="3702050"/>
            <a:ext cx="360996" cy="2762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31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</a:endParaRP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885EE51A-E352-CBEB-E60C-20C5A12D7A14}"/>
              </a:ext>
            </a:extLst>
          </p:cNvPr>
          <p:cNvSpPr txBox="1"/>
          <p:nvPr/>
        </p:nvSpPr>
        <p:spPr>
          <a:xfrm>
            <a:off x="7760208" y="3702050"/>
            <a:ext cx="360996" cy="2762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15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</a:endParaRP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F8F3E3DB-1077-B3AF-BB88-4953D4A48550}"/>
              </a:ext>
            </a:extLst>
          </p:cNvPr>
          <p:cNvSpPr txBox="1"/>
          <p:nvPr/>
        </p:nvSpPr>
        <p:spPr>
          <a:xfrm>
            <a:off x="8772144" y="3702050"/>
            <a:ext cx="360996" cy="2762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40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</a:endParaRPr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81900F7D-5C7B-37B4-CD22-64E8727D4E0E}"/>
              </a:ext>
            </a:extLst>
          </p:cNvPr>
          <p:cNvSpPr txBox="1"/>
          <p:nvPr/>
        </p:nvSpPr>
        <p:spPr>
          <a:xfrm>
            <a:off x="9784080" y="3702050"/>
            <a:ext cx="360996" cy="2762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35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</a:endParaRPr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4C72C5B0-5D3B-2914-BA58-EE8E8B1F48A3}"/>
              </a:ext>
            </a:extLst>
          </p:cNvPr>
          <p:cNvSpPr txBox="1"/>
          <p:nvPr/>
        </p:nvSpPr>
        <p:spPr>
          <a:xfrm>
            <a:off x="10796016" y="3702050"/>
            <a:ext cx="360996" cy="2762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31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</a:endParaRPr>
          </a:p>
        </p:txBody>
      </p:sp>
      <p:cxnSp>
        <p:nvCxnSpPr>
          <p:cNvPr id="181" name="直线连接符 180">
            <a:extLst>
              <a:ext uri="{FF2B5EF4-FFF2-40B4-BE49-F238E27FC236}">
                <a16:creationId xmlns:a16="http://schemas.microsoft.com/office/drawing/2014/main" id="{BEDE5A8E-A247-6FB0-478A-2D7E0E7B0A7F}"/>
              </a:ext>
            </a:extLst>
          </p:cNvPr>
          <p:cNvCxnSpPr>
            <a:cxnSpLocks/>
          </p:cNvCxnSpPr>
          <p:nvPr/>
        </p:nvCxnSpPr>
        <p:spPr>
          <a:xfrm>
            <a:off x="1182624" y="2595563"/>
            <a:ext cx="1421511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文本框 182">
            <a:extLst>
              <a:ext uri="{FF2B5EF4-FFF2-40B4-BE49-F238E27FC236}">
                <a16:creationId xmlns:a16="http://schemas.microsoft.com/office/drawing/2014/main" id="{033B3B0F-4B3C-3311-357F-33E8FC5595B2}"/>
              </a:ext>
            </a:extLst>
          </p:cNvPr>
          <p:cNvSpPr txBox="1"/>
          <p:nvPr/>
        </p:nvSpPr>
        <p:spPr>
          <a:xfrm>
            <a:off x="409503" y="2481263"/>
            <a:ext cx="1330814" cy="8318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Leader</a:t>
            </a:r>
            <a:r>
              <a:rPr kumimoji="1" lang="en-US" altLang="zh-CN" sz="12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（</a:t>
            </a:r>
            <a:r>
              <a:rPr kumimoji="1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ie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, leads and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Shapes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thinking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on technology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）</a:t>
            </a:r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B58A3B47-358E-C8F1-20C6-AE205697AF6C}"/>
              </a:ext>
            </a:extLst>
          </p:cNvPr>
          <p:cNvSpPr txBox="1"/>
          <p:nvPr/>
        </p:nvSpPr>
        <p:spPr>
          <a:xfrm>
            <a:off x="409503" y="3427413"/>
            <a:ext cx="1345240" cy="8302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Enabler</a:t>
            </a:r>
            <a:r>
              <a:rPr kumimoji="1" lang="en-US" altLang="zh-CN" sz="12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（</a:t>
            </a:r>
            <a:r>
              <a:rPr kumimoji="1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ie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, participates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helpfully 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technology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）</a:t>
            </a:r>
          </a:p>
        </p:txBody>
      </p:sp>
      <p:cxnSp>
        <p:nvCxnSpPr>
          <p:cNvPr id="186" name="直线连接符 185">
            <a:extLst>
              <a:ext uri="{FF2B5EF4-FFF2-40B4-BE49-F238E27FC236}">
                <a16:creationId xmlns:a16="http://schemas.microsoft.com/office/drawing/2014/main" id="{7DA3A8E3-63AA-3321-B73D-3D683652B3AE}"/>
              </a:ext>
            </a:extLst>
          </p:cNvPr>
          <p:cNvCxnSpPr>
            <a:cxnSpLocks/>
            <a:stCxn id="185" idx="3"/>
          </p:cNvCxnSpPr>
          <p:nvPr/>
        </p:nvCxnSpPr>
        <p:spPr>
          <a:xfrm>
            <a:off x="1754743" y="3842545"/>
            <a:ext cx="540782" cy="793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直线连接符 188">
            <a:extLst>
              <a:ext uri="{FF2B5EF4-FFF2-40B4-BE49-F238E27FC236}">
                <a16:creationId xmlns:a16="http://schemas.microsoft.com/office/drawing/2014/main" id="{B117CFF7-A4FB-1F62-D76C-F55FA470AFD3}"/>
              </a:ext>
            </a:extLst>
          </p:cNvPr>
          <p:cNvCxnSpPr>
            <a:cxnSpLocks/>
          </p:cNvCxnSpPr>
          <p:nvPr/>
        </p:nvCxnSpPr>
        <p:spPr>
          <a:xfrm>
            <a:off x="1444752" y="4322763"/>
            <a:ext cx="1159383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文本框 190">
            <a:extLst>
              <a:ext uri="{FF2B5EF4-FFF2-40B4-BE49-F238E27FC236}">
                <a16:creationId xmlns:a16="http://schemas.microsoft.com/office/drawing/2014/main" id="{98988802-A4B3-57AB-5642-4821A7EC01AB}"/>
              </a:ext>
            </a:extLst>
          </p:cNvPr>
          <p:cNvSpPr txBox="1"/>
          <p:nvPr/>
        </p:nvSpPr>
        <p:spPr>
          <a:xfrm>
            <a:off x="409503" y="4205288"/>
            <a:ext cx="1345240" cy="8318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Obstructor</a:t>
            </a:r>
            <a:r>
              <a:rPr kumimoji="1" lang="en-US" altLang="zh-CN" sz="12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（</a:t>
            </a:r>
            <a:r>
              <a:rPr kumimoji="1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ie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, participates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unhelpfully 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technology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）</a:t>
            </a:r>
          </a:p>
        </p:txBody>
      </p:sp>
      <p:sp>
        <p:nvSpPr>
          <p:cNvPr id="195" name="文本框 194">
            <a:extLst>
              <a:ext uri="{FF2B5EF4-FFF2-40B4-BE49-F238E27FC236}">
                <a16:creationId xmlns:a16="http://schemas.microsoft.com/office/drawing/2014/main" id="{7FC75E8D-AEF7-C016-4B47-00B082D22A9D}"/>
              </a:ext>
            </a:extLst>
          </p:cNvPr>
          <p:cNvSpPr txBox="1"/>
          <p:nvPr/>
        </p:nvSpPr>
        <p:spPr>
          <a:xfrm>
            <a:off x="2526602" y="1336675"/>
            <a:ext cx="708848" cy="4619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CIO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or CT0</a:t>
            </a:r>
            <a:r>
              <a:rPr kumimoji="1" lang="en-US" altLang="zh-CN" sz="12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5</a:t>
            </a:r>
            <a:endParaRPr kumimoji="1" lang="zh-CN" altLang="en-US" sz="12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196" name="文本框 195">
            <a:extLst>
              <a:ext uri="{FF2B5EF4-FFF2-40B4-BE49-F238E27FC236}">
                <a16:creationId xmlns:a16="http://schemas.microsoft.com/office/drawing/2014/main" id="{D8D60736-F7CB-A2C8-2565-A8DE7A7E3FD6}"/>
              </a:ext>
            </a:extLst>
          </p:cNvPr>
          <p:cNvSpPr txBox="1"/>
          <p:nvPr/>
        </p:nvSpPr>
        <p:spPr>
          <a:xfrm>
            <a:off x="3649145" y="1336675"/>
            <a:ext cx="487633" cy="2762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CEO</a:t>
            </a:r>
            <a:endParaRPr kumimoji="1" lang="zh-CN" altLang="en-US" sz="12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197" name="文本框 196">
            <a:extLst>
              <a:ext uri="{FF2B5EF4-FFF2-40B4-BE49-F238E27FC236}">
                <a16:creationId xmlns:a16="http://schemas.microsoft.com/office/drawing/2014/main" id="{92F7A71B-C55F-49F4-DE8B-52CB9E28254F}"/>
              </a:ext>
            </a:extLst>
          </p:cNvPr>
          <p:cNvSpPr txBox="1"/>
          <p:nvPr/>
        </p:nvSpPr>
        <p:spPr>
          <a:xfrm>
            <a:off x="4521619" y="1339850"/>
            <a:ext cx="766557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Head of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Strategy</a:t>
            </a:r>
            <a:endParaRPr kumimoji="1" lang="zh-CN" altLang="en-US" sz="12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198" name="文本框 197">
            <a:extLst>
              <a:ext uri="{FF2B5EF4-FFF2-40B4-BE49-F238E27FC236}">
                <a16:creationId xmlns:a16="http://schemas.microsoft.com/office/drawing/2014/main" id="{E35C9E2D-D339-A0A1-9FC8-7CA587FBE0A2}"/>
              </a:ext>
            </a:extLst>
          </p:cNvPr>
          <p:cNvSpPr txBox="1"/>
          <p:nvPr/>
        </p:nvSpPr>
        <p:spPr>
          <a:xfrm>
            <a:off x="5487869" y="1339850"/>
            <a:ext cx="857927" cy="6461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Business-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unit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leaders</a:t>
            </a:r>
            <a:endParaRPr kumimoji="1" lang="zh-CN" altLang="en-US" sz="12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9A473719-6F1A-BFDA-53CB-A2814962F715}"/>
              </a:ext>
            </a:extLst>
          </p:cNvPr>
          <p:cNvSpPr txBox="1"/>
          <p:nvPr/>
        </p:nvSpPr>
        <p:spPr>
          <a:xfrm>
            <a:off x="6660890" y="1333500"/>
            <a:ext cx="513282" cy="2778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COO</a:t>
            </a:r>
            <a:endParaRPr kumimoji="1" lang="zh-CN" altLang="en-US" sz="12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4AECD46D-863E-D457-F3D4-4309D86CA1BF}"/>
              </a:ext>
            </a:extLst>
          </p:cNvPr>
          <p:cNvSpPr txBox="1"/>
          <p:nvPr/>
        </p:nvSpPr>
        <p:spPr>
          <a:xfrm>
            <a:off x="7589102" y="1336675"/>
            <a:ext cx="622286" cy="6461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Chief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digital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officer</a:t>
            </a:r>
            <a:endParaRPr kumimoji="1" lang="zh-CN" altLang="en-US" sz="12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E4408C74-3FFE-956E-D70D-3E30652E818F}"/>
              </a:ext>
            </a:extLst>
          </p:cNvPr>
          <p:cNvSpPr txBox="1"/>
          <p:nvPr/>
        </p:nvSpPr>
        <p:spPr>
          <a:xfrm>
            <a:off x="8670768" y="1336675"/>
            <a:ext cx="482824" cy="2762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CFO</a:t>
            </a:r>
            <a:endParaRPr kumimoji="1" lang="zh-CN" altLang="en-US" sz="12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202" name="文本框 201">
            <a:extLst>
              <a:ext uri="{FF2B5EF4-FFF2-40B4-BE49-F238E27FC236}">
                <a16:creationId xmlns:a16="http://schemas.microsoft.com/office/drawing/2014/main" id="{9E5D0FE5-07DC-EAD0-097D-FFEF9475B51E}"/>
              </a:ext>
            </a:extLst>
          </p:cNvPr>
          <p:cNvSpPr txBox="1"/>
          <p:nvPr/>
        </p:nvSpPr>
        <p:spPr>
          <a:xfrm>
            <a:off x="9528013" y="1336675"/>
            <a:ext cx="792205" cy="4619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Board of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directors</a:t>
            </a:r>
            <a:endParaRPr kumimoji="1" lang="zh-CN" altLang="en-US" sz="12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203" name="文本框 202">
            <a:extLst>
              <a:ext uri="{FF2B5EF4-FFF2-40B4-BE49-F238E27FC236}">
                <a16:creationId xmlns:a16="http://schemas.microsoft.com/office/drawing/2014/main" id="{7AA36850-DA1C-68FB-5C8A-A9A90DE5D420}"/>
              </a:ext>
            </a:extLst>
          </p:cNvPr>
          <p:cNvSpPr txBox="1"/>
          <p:nvPr/>
        </p:nvSpPr>
        <p:spPr>
          <a:xfrm>
            <a:off x="10541198" y="1336675"/>
            <a:ext cx="851516" cy="8302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Chief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human-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resources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officer</a:t>
            </a:r>
            <a:endParaRPr kumimoji="1" lang="zh-CN" altLang="en-US" sz="12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204" name="文本框 203">
            <a:extLst>
              <a:ext uri="{FF2B5EF4-FFF2-40B4-BE49-F238E27FC236}">
                <a16:creationId xmlns:a16="http://schemas.microsoft.com/office/drawing/2014/main" id="{0502173D-544A-9332-4D0E-B9E818A89834}"/>
              </a:ext>
            </a:extLst>
          </p:cNvPr>
          <p:cNvSpPr txBox="1"/>
          <p:nvPr/>
        </p:nvSpPr>
        <p:spPr>
          <a:xfrm>
            <a:off x="409501" y="6417294"/>
            <a:ext cx="11233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5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Chief information officer or chief technology officer.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5130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023B7-69BA-1685-79B4-9F6D20F6F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024D88B-B0A4-A5E1-E8DA-F94A5739B2A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8" imgW="7772400" imgH="10058400" progId="TCLayout.ActiveDocument.1">
                  <p:embed/>
                </p:oleObj>
              </mc:Choice>
              <mc:Fallback>
                <p:oleObj name="think-cell 幻灯片" r:id="rId18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024D88B-B0A4-A5E1-E8DA-F94A5739B2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16EFB89E-EE06-04AE-A154-A6E81A317C00}"/>
              </a:ext>
            </a:extLst>
          </p:cNvPr>
          <p:cNvSpPr txBox="1"/>
          <p:nvPr/>
        </p:nvSpPr>
        <p:spPr>
          <a:xfrm>
            <a:off x="414602" y="225552"/>
            <a:ext cx="11336289" cy="646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Medium" pitchFamily="2" charset="-122"/>
                <a:ea typeface="HarmonyOS Sans SC Medium" pitchFamily="2" charset="-122"/>
              </a:rPr>
              <a:t>In 2019, corporate resilience ranked low on the board agenda-and for boards that saw it as a challenge, few were prepared to manage it.</a:t>
            </a:r>
            <a:endParaRPr kumimoji="1" lang="zh-CN" altLang="en-US" sz="18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4E87E86-88A6-39D6-757A-E57B73C80718}"/>
              </a:ext>
            </a:extLst>
          </p:cNvPr>
          <p:cNvSpPr txBox="1"/>
          <p:nvPr/>
        </p:nvSpPr>
        <p:spPr>
          <a:xfrm>
            <a:off x="409503" y="957263"/>
            <a:ext cx="41168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Topics on the board's 2019 agenda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，</a:t>
            </a:r>
            <a:r>
              <a:rPr kumimoji="1" lang="en-US" altLang="zh-CN" sz="12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1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% of respondents</a:t>
            </a:r>
            <a:endParaRPr kumimoji="1" lang="zh-CN" altLang="en-US" sz="12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128A336F-D4F0-1334-3330-CBCE9FB356FB}"/>
              </a:ext>
            </a:extLst>
          </p:cNvPr>
          <p:cNvSpPr txBox="1"/>
          <p:nvPr/>
        </p:nvSpPr>
        <p:spPr>
          <a:xfrm>
            <a:off x="331788" y="5997108"/>
            <a:ext cx="37898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1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Out of 15 agenda topics that were offered as answer choices.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55B000FC-B3CA-350A-1032-FB94F99F5C48}"/>
              </a:ext>
            </a:extLst>
          </p:cNvPr>
          <p:cNvSpPr txBox="1"/>
          <p:nvPr/>
        </p:nvSpPr>
        <p:spPr>
          <a:xfrm>
            <a:off x="331788" y="6183312"/>
            <a:ext cx="112338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2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Question was asked only of respondents who identified "lack of corporate resilience" as a significant challenge that their organizations were facing; it was cited by 22%.Respondents who answered "don't know/not applicable" are not shown, so figures do not sum to 100%.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graphicFrame>
        <p:nvGraphicFramePr>
          <p:cNvPr id="222" name="Chart 3">
            <a:extLst>
              <a:ext uri="{FF2B5EF4-FFF2-40B4-BE49-F238E27FC236}">
                <a16:creationId xmlns:a16="http://schemas.microsoft.com/office/drawing/2014/main" id="{45F53C9E-AE62-9238-4D58-06E8F4000407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331788" y="1128713"/>
          <a:ext cx="11393487" cy="26654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sp>
        <p:nvSpPr>
          <p:cNvPr id="74" name="文本占位符 2">
            <a:extLst>
              <a:ext uri="{FF2B5EF4-FFF2-40B4-BE49-F238E27FC236}">
                <a16:creationId xmlns:a16="http://schemas.microsoft.com/office/drawing/2014/main" id="{E200E7FF-B31D-FCB8-5921-8C40DCBF3E5D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2032000" y="3578225"/>
            <a:ext cx="976313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0D434E2-5236-4D07-81C3-836F187DA779}" type="datetime'''Te''''ch''no''logica''''l''''''''''&#10;''''t''''ren''''d''s'''">
              <a:rPr kumimoji="1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  <a:sym typeface="HarmonyOS Sans SC" pitchFamily="2" charset="-122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Technological
trends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  <a:sym typeface="HarmonyOS Sans SC" pitchFamily="2" charset="-122"/>
            </a:endParaRPr>
          </a:p>
        </p:txBody>
      </p:sp>
      <p:sp>
        <p:nvSpPr>
          <p:cNvPr id="77" name="文本占位符 2">
            <a:extLst>
              <a:ext uri="{FF2B5EF4-FFF2-40B4-BE49-F238E27FC236}">
                <a16:creationId xmlns:a16="http://schemas.microsoft.com/office/drawing/2014/main" id="{0CC2600A-F2A6-4383-8FDB-71E490E168E7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3408363" y="3578225"/>
            <a:ext cx="10287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D8E599A-0996-4933-AC4D-89D6BCD23D9A}" type="datetime'''''Or''''g''''aniz''a''''ti''''on''''’s&#10;c''ult''ur''''e'">
              <a:rPr kumimoji="1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  <a:sym typeface="HarmonyOS Sans SC" pitchFamily="2" charset="-122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Organization’s
culture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  <a:sym typeface="HarmonyOS Sans SC" pitchFamily="2" charset="-122"/>
            </a:endParaRPr>
          </a:p>
        </p:txBody>
      </p:sp>
      <p:sp>
        <p:nvSpPr>
          <p:cNvPr id="80" name="文本占位符 2">
            <a:extLst>
              <a:ext uri="{FF2B5EF4-FFF2-40B4-BE49-F238E27FC236}">
                <a16:creationId xmlns:a16="http://schemas.microsoft.com/office/drawing/2014/main" id="{AFFB9794-6747-6E97-F06C-704820CE9BA7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4916488" y="3578225"/>
            <a:ext cx="820738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56971BE-A108-4E2C-88CE-77C6450585E2}" type="datetime'Wo''rk''for''''ce''''''-&#10;''c''a''p''''abi''''lit''y&#10;nee''d''s'">
              <a:rPr kumimoji="1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  <a:sym typeface="HarmonyOS Sans SC" pitchFamily="2" charset="-122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Workforce-
capability
needs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  <a:sym typeface="HarmonyOS Sans SC" pitchFamily="2" charset="-122"/>
            </a:endParaRPr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D7D14187-28D4-7BE2-64FB-6B5AF06C18E2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706438" y="3578225"/>
            <a:ext cx="820738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C7A6A12-112C-4195-852F-A03A68A47CA6}" type="datetime'''''Innov''''''at''i''o''n''''&#10;''a''''nd ''''''gr''ow''''th'''">
              <a:rPr kumimoji="1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  <a:sym typeface="HarmonyOS Sans SC" pitchFamily="2" charset="-122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Innovation
and growth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  <a:sym typeface="HarmonyOS Sans SC" pitchFamily="2" charset="-122"/>
            </a:endParaRPr>
          </a:p>
        </p:txBody>
      </p:sp>
      <p:sp>
        <p:nvSpPr>
          <p:cNvPr id="86" name="文本占位符 2">
            <a:extLst>
              <a:ext uri="{FF2B5EF4-FFF2-40B4-BE49-F238E27FC236}">
                <a16:creationId xmlns:a16="http://schemas.microsoft.com/office/drawing/2014/main" id="{EDF419F0-DEDD-A580-4893-5D106A64542E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7794625" y="3578225"/>
            <a:ext cx="681038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85B6CAC8-37F4-41F6-8524-1F27E24C8C72}" type="datetime'''''C''ha''ng''ing''&#10;c''''''u''st''ome''''r''''&#10;b''ehavior'''">
              <a:rPr kumimoji="1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  <a:sym typeface="HarmonyOS Sans SC" pitchFamily="2" charset="-122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Changing
customer
behavior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  <a:sym typeface="HarmonyOS Sans SC" pitchFamily="2" charset="-122"/>
            </a:endParaRPr>
          </a:p>
        </p:txBody>
      </p:sp>
      <p:sp>
        <p:nvSpPr>
          <p:cNvPr id="89" name="文本占位符 2">
            <a:extLst>
              <a:ext uri="{FF2B5EF4-FFF2-40B4-BE49-F238E27FC236}">
                <a16:creationId xmlns:a16="http://schemas.microsoft.com/office/drawing/2014/main" id="{CA3B1A07-A936-158C-28AF-B043D6335879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9177339" y="3578225"/>
            <a:ext cx="720725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D1607836-29AF-4F9E-8B17-E6513CC92B51}" type="datetime'D''''is''''r''u''''''''pti''ve''&#10;''''business''&#10;m''''odels'''">
              <a:rPr kumimoji="1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  <a:sym typeface="HarmonyOS Sans SC" pitchFamily="2" charset="-122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Disruptive
business
models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  <a:sym typeface="HarmonyOS Sans SC" pitchFamily="2" charset="-122"/>
            </a:endParaRPr>
          </a:p>
        </p:txBody>
      </p:sp>
      <p:sp>
        <p:nvSpPr>
          <p:cNvPr id="96" name="文本占位符 2">
            <a:extLst>
              <a:ext uri="{FF2B5EF4-FFF2-40B4-BE49-F238E27FC236}">
                <a16:creationId xmlns:a16="http://schemas.microsoft.com/office/drawing/2014/main" id="{A37A9800-C65B-0C79-84AD-ED3F9C5D9610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10580689" y="3578225"/>
            <a:ext cx="72072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2DA273A4-0D6A-44D5-9D31-A95F079C4E7D}" type="datetime'''''C''orp''or''''a''''te''''&#10;re''''sil''''''''i''en''ce'">
              <a:rPr kumimoji="1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  <a:sym typeface="HarmonyOS Sans SC" pitchFamily="2" charset="-122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Corporate
resilience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  <a:sym typeface="HarmonyOS Sans SC" pitchFamily="2" charset="-122"/>
            </a:endParaRPr>
          </a:p>
        </p:txBody>
      </p:sp>
      <p:sp>
        <p:nvSpPr>
          <p:cNvPr id="83" name="文本占位符 2">
            <a:extLst>
              <a:ext uri="{FF2B5EF4-FFF2-40B4-BE49-F238E27FC236}">
                <a16:creationId xmlns:a16="http://schemas.microsoft.com/office/drawing/2014/main" id="{D0AF4977-9AC6-E115-D225-487E188E5F29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6216650" y="3578225"/>
            <a:ext cx="10287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C8EC6FFD-5283-4163-AA36-76840990A526}" type="datetime'''O''rga''niza''''t''ion''’''''s&#10;''''pu''r''pos''e'''''''">
              <a:rPr kumimoji="1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  <a:sym typeface="HarmonyOS Sans SC" pitchFamily="2" charset="-122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Organization’s
purpose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  <a:sym typeface="HarmonyOS Sans SC" pitchFamily="2" charset="-122"/>
            </a:endParaRPr>
          </a:p>
        </p:txBody>
      </p:sp>
      <p:cxnSp>
        <p:nvCxnSpPr>
          <p:cNvPr id="123" name="直线连接符 122">
            <a:extLst>
              <a:ext uri="{FF2B5EF4-FFF2-40B4-BE49-F238E27FC236}">
                <a16:creationId xmlns:a16="http://schemas.microsoft.com/office/drawing/2014/main" id="{F8E04D47-3790-9A84-52E8-EE46937E6CA0}"/>
              </a:ext>
            </a:extLst>
          </p:cNvPr>
          <p:cNvCxnSpPr/>
          <p:nvPr/>
        </p:nvCxnSpPr>
        <p:spPr>
          <a:xfrm>
            <a:off x="409503" y="4265613"/>
            <a:ext cx="1123385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矩形 124">
            <a:extLst>
              <a:ext uri="{FF2B5EF4-FFF2-40B4-BE49-F238E27FC236}">
                <a16:creationId xmlns:a16="http://schemas.microsoft.com/office/drawing/2014/main" id="{C8AEFAC6-7F5C-5BC0-0272-9F61B709B9BD}"/>
              </a:ext>
            </a:extLst>
          </p:cNvPr>
          <p:cNvSpPr/>
          <p:nvPr/>
        </p:nvSpPr>
        <p:spPr>
          <a:xfrm>
            <a:off x="10460736" y="1265237"/>
            <a:ext cx="957072" cy="27305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27" name="直线连接符 126">
            <a:extLst>
              <a:ext uri="{FF2B5EF4-FFF2-40B4-BE49-F238E27FC236}">
                <a16:creationId xmlns:a16="http://schemas.microsoft.com/office/drawing/2014/main" id="{F9609CAE-FB18-0A53-4DA4-64E425B77218}"/>
              </a:ext>
            </a:extLst>
          </p:cNvPr>
          <p:cNvCxnSpPr>
            <a:cxnSpLocks/>
            <a:stCxn id="125" idx="2"/>
          </p:cNvCxnSpPr>
          <p:nvPr/>
        </p:nvCxnSpPr>
        <p:spPr>
          <a:xfrm>
            <a:off x="10939272" y="3995737"/>
            <a:ext cx="0" cy="271621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文本框 127">
            <a:extLst>
              <a:ext uri="{FF2B5EF4-FFF2-40B4-BE49-F238E27FC236}">
                <a16:creationId xmlns:a16="http://schemas.microsoft.com/office/drawing/2014/main" id="{3EC9D616-F416-7A7B-23A0-AA8E23ADEF86}"/>
              </a:ext>
            </a:extLst>
          </p:cNvPr>
          <p:cNvSpPr txBox="1"/>
          <p:nvPr/>
        </p:nvSpPr>
        <p:spPr>
          <a:xfrm>
            <a:off x="409503" y="4348163"/>
            <a:ext cx="10891911" cy="306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How prepared boards were in 2019 to manage a lack of corporate resilience within their organizations,</a:t>
            </a:r>
            <a:r>
              <a:rPr kumimoji="1" lang="en-US" altLang="zh-CN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2 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% of respondents</a:t>
            </a:r>
            <a:endParaRPr kumimoji="1" lang="zh-CN" altLang="en-US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graphicFrame>
        <p:nvGraphicFramePr>
          <p:cNvPr id="223" name="Chart 3">
            <a:extLst>
              <a:ext uri="{FF2B5EF4-FFF2-40B4-BE49-F238E27FC236}">
                <a16:creationId xmlns:a16="http://schemas.microsoft.com/office/drawing/2014/main" id="{8CDC9850-24A0-4A69-297F-FDED5ECF7A30}"/>
              </a:ext>
            </a:extLst>
          </p:cNvPr>
          <p:cNvGraphicFramePr/>
          <p:nvPr>
            <p:custDataLst>
              <p:tags r:id="rId11"/>
            </p:custDataLst>
          </p:nvPr>
        </p:nvGraphicFramePr>
        <p:xfrm>
          <a:off x="331788" y="4821238"/>
          <a:ext cx="11180762" cy="13350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sp>
        <p:nvSpPr>
          <p:cNvPr id="133" name="文本占位符 2">
            <a:extLst>
              <a:ext uri="{FF2B5EF4-FFF2-40B4-BE49-F238E27FC236}">
                <a16:creationId xmlns:a16="http://schemas.microsoft.com/office/drawing/2014/main" id="{B0B7ADD4-4A86-7A46-CF94-7DE052B82535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6275389" y="4978400"/>
            <a:ext cx="51752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F0C06170-D2AB-456E-9D33-54A8DC185DB8}" type="datetime'''''''''''''Ne''''''''''u''''t''r''al'''''">
              <a:rPr kumimoji="1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  <a:sym typeface="HarmonyOS Sans SC" pitchFamily="2" charset="-122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Neutral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  <a:sym typeface="HarmonyOS Sans SC" pitchFamily="2" charset="-122"/>
            </a:endParaRPr>
          </a:p>
        </p:txBody>
      </p:sp>
      <p:sp>
        <p:nvSpPr>
          <p:cNvPr id="134" name="文本占位符 2">
            <a:extLst>
              <a:ext uri="{FF2B5EF4-FFF2-40B4-BE49-F238E27FC236}">
                <a16:creationId xmlns:a16="http://schemas.microsoft.com/office/drawing/2014/main" id="{02529402-76DA-A3DB-E37D-418EF4978751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auto">
          <a:xfrm>
            <a:off x="2786064" y="4978400"/>
            <a:ext cx="159861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BF885A2E-D8CD-4F42-9EA5-B9C805AB4977}" type="datetime'''''''''S''''om''''ewh''''''''a''''''t u''''''nprepa''''r''ed'">
              <a:rPr kumimoji="1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  <a:sym typeface="HarmonyOS Sans SC" pitchFamily="2" charset="-122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Somewhat unprepared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  <a:sym typeface="HarmonyOS Sans SC" pitchFamily="2" charset="-122"/>
            </a:endParaRPr>
          </a:p>
        </p:txBody>
      </p:sp>
      <p:sp>
        <p:nvSpPr>
          <p:cNvPr id="135" name="文本占位符 2">
            <a:extLst>
              <a:ext uri="{FF2B5EF4-FFF2-40B4-BE49-F238E27FC236}">
                <a16:creationId xmlns:a16="http://schemas.microsoft.com/office/drawing/2014/main" id="{1BBBA4FF-DEE7-37AD-DA36-E569AFE3878D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auto">
          <a:xfrm>
            <a:off x="449263" y="4813300"/>
            <a:ext cx="81915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6CA73B97-8BBC-4875-9602-D463A87D9EDB}" type="datetime'''Ver''''''y&#10;unp''''''r''e''''''p''''''''''''''''''''''a''red'">
              <a:rPr kumimoji="1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  <a:sym typeface="HarmonyOS Sans SC" pitchFamily="2" charset="-122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Very
unprepared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  <a:sym typeface="HarmonyOS Sans SC" pitchFamily="2" charset="-122"/>
            </a:endParaRPr>
          </a:p>
        </p:txBody>
      </p:sp>
      <p:sp>
        <p:nvSpPr>
          <p:cNvPr id="149" name="文本占位符 2">
            <a:extLst>
              <a:ext uri="{FF2B5EF4-FFF2-40B4-BE49-F238E27FC236}">
                <a16:creationId xmlns:a16="http://schemas.microsoft.com/office/drawing/2014/main" id="{9D3DDE51-EC66-C8C5-52EC-4D1C491286F5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auto">
          <a:xfrm>
            <a:off x="8439150" y="4978400"/>
            <a:ext cx="142081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0084891-824B-445D-9D18-69F163FDDF13}" type="datetime'''So''''''''me''''wh''a''''''t'''' pr''''''''''ep''a''r''ed'">
              <a:rPr kumimoji="1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  <a:sym typeface="HarmonyOS Sans SC" pitchFamily="2" charset="-122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Somewhat prepared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  <a:sym typeface="HarmonyOS Sans SC" pitchFamily="2" charset="-122"/>
            </a:endParaRPr>
          </a:p>
        </p:txBody>
      </p:sp>
      <p:sp>
        <p:nvSpPr>
          <p:cNvPr id="153" name="文本占位符 2">
            <a:extLst>
              <a:ext uri="{FF2B5EF4-FFF2-40B4-BE49-F238E27FC236}">
                <a16:creationId xmlns:a16="http://schemas.microsoft.com/office/drawing/2014/main" id="{22867C7C-8458-6C89-ECC2-E9CF073D5FEF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auto">
          <a:xfrm>
            <a:off x="10788650" y="4813300"/>
            <a:ext cx="64135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A7204B70-357E-4FE9-BDEE-141D27BB9413}" type="datetime'Ve''''''''''r''''y''&#10;''prepa''''r''''''e''''''d'''''''">
              <a:rPr kumimoji="1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  <a:sym typeface="HarmonyOS Sans SC" pitchFamily="2" charset="-122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Very
prepared</a:t>
            </a:fld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  <a:sym typeface="HarmonyOS Sans SC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4189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85880-FC60-694D-64F7-FBE888276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5ED8360-AD6A-3E90-5344-9E4E699875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7772400" imgH="10058400" progId="TCLayout.ActiveDocument.1">
                  <p:embed/>
                </p:oleObj>
              </mc:Choice>
              <mc:Fallback>
                <p:oleObj name="think-cell 幻灯片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5ED8360-AD6A-3E90-5344-9E4E699875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AF5F5FAD-5F0E-FC4C-589B-ACF0E2D6DBCF}"/>
              </a:ext>
            </a:extLst>
          </p:cNvPr>
          <p:cNvSpPr txBox="1"/>
          <p:nvPr/>
        </p:nvSpPr>
        <p:spPr>
          <a:xfrm>
            <a:off x="414602" y="318424"/>
            <a:ext cx="11336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Medium" pitchFamily="2" charset="-122"/>
                <a:ea typeface="HarmonyOS Sans SC Medium" pitchFamily="2" charset="-122"/>
              </a:rPr>
              <a:t>At the start of the pandemic, boards had few established processes in place to</a:t>
            </a:r>
            <a:r>
              <a:rPr kumimoji="1" lang="zh-CN" altLang="en-US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Medium" pitchFamily="2" charset="-122"/>
                <a:ea typeface="HarmonyOS Sans SC Medium" pitchFamily="2" charset="-122"/>
              </a:rPr>
              <a:t> </a:t>
            </a:r>
            <a:r>
              <a:rPr kumimoji="1" lang="en-US" altLang="zh-CN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Medium" pitchFamily="2" charset="-122"/>
                <a:ea typeface="HarmonyOS Sans SC Medium" pitchFamily="2" charset="-122"/>
              </a:rPr>
              <a:t>guide them.</a:t>
            </a:r>
            <a:endParaRPr kumimoji="1" lang="zh-CN" altLang="en-US" sz="18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545509-40EC-F0EC-D6DA-7E084A067AA6}"/>
              </a:ext>
            </a:extLst>
          </p:cNvPr>
          <p:cNvSpPr txBox="1"/>
          <p:nvPr/>
        </p:nvSpPr>
        <p:spPr>
          <a:xfrm>
            <a:off x="414602" y="996974"/>
            <a:ext cx="77652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Most significant operational challenges for boards when the COVID-19 crisis began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，</a:t>
            </a:r>
            <a:r>
              <a:rPr kumimoji="1" lang="en-US" altLang="zh-CN" sz="12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1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% of respondents</a:t>
            </a:r>
            <a:endParaRPr kumimoji="1" lang="zh-CN" altLang="en-US" sz="12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DAF0A1E9-B5D1-7E64-6D70-08B6B65D5333}"/>
              </a:ext>
            </a:extLst>
          </p:cNvPr>
          <p:cNvSpPr txBox="1"/>
          <p:nvPr/>
        </p:nvSpPr>
        <p:spPr>
          <a:xfrm>
            <a:off x="331788" y="5997108"/>
            <a:ext cx="657904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1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Out of 11 challenges that were offered as answer choices. Question was asked only of board members, n =417.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4A43FFF6-B6DD-EDB9-56F9-B3908FE02C86}"/>
              </a:ext>
            </a:extLst>
          </p:cNvPr>
          <p:cNvSpPr txBox="1"/>
          <p:nvPr/>
        </p:nvSpPr>
        <p:spPr>
          <a:xfrm>
            <a:off x="331788" y="6183312"/>
            <a:ext cx="112338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2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For example, digital expertise, transformation experience, crisis-management skills.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47DA1DA-5774-40A2-1895-49AFB3143577}"/>
              </a:ext>
            </a:extLst>
          </p:cNvPr>
          <p:cNvSpPr txBox="1"/>
          <p:nvPr/>
        </p:nvSpPr>
        <p:spPr>
          <a:xfrm>
            <a:off x="613757" y="2018027"/>
            <a:ext cx="171873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Lack of in-person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interactions and/or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discussion among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board members</a:t>
            </a: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4963949-A531-8B91-6367-1E8A1696C0BA}"/>
              </a:ext>
            </a:extLst>
          </p:cNvPr>
          <p:cNvSpPr txBox="1"/>
          <p:nvPr/>
        </p:nvSpPr>
        <p:spPr>
          <a:xfrm>
            <a:off x="1273393" y="3058938"/>
            <a:ext cx="399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kumimoji="1" sz="1400">
                <a:latin typeface="HarmonyOS Sans SC Light" pitchFamily="2" charset="-122"/>
                <a:ea typeface="HarmonyOS Sans SC Light" pitchFamily="2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56</a:t>
            </a:r>
            <a:endParaRPr kumimoji="1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D6273BE-3958-25C4-39D4-F01CEC2ABCF1}"/>
              </a:ext>
            </a:extLst>
          </p:cNvPr>
          <p:cNvSpPr txBox="1"/>
          <p:nvPr/>
        </p:nvSpPr>
        <p:spPr>
          <a:xfrm>
            <a:off x="2949485" y="2015683"/>
            <a:ext cx="149592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Difficulty with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remote-working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tools and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technologies</a:t>
            </a: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F172AD8-91C4-9DA2-E809-0C361B7993D8}"/>
              </a:ext>
            </a:extLst>
          </p:cNvPr>
          <p:cNvSpPr txBox="1"/>
          <p:nvPr/>
        </p:nvSpPr>
        <p:spPr>
          <a:xfrm>
            <a:off x="3469860" y="3056594"/>
            <a:ext cx="3994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kumimoji="1" sz="1400">
                <a:latin typeface="HarmonyOS Sans SC Light" pitchFamily="2" charset="-122"/>
                <a:ea typeface="HarmonyOS Sans SC Light" pitchFamily="2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32</a:t>
            </a:r>
            <a:endParaRPr kumimoji="1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CD84DDD-C73F-53A7-A6EE-B64185805595}"/>
              </a:ext>
            </a:extLst>
          </p:cNvPr>
          <p:cNvSpPr txBox="1"/>
          <p:nvPr/>
        </p:nvSpPr>
        <p:spPr>
          <a:xfrm>
            <a:off x="5062396" y="2018027"/>
            <a:ext cx="171873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Lack of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crisis-management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processes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within the board</a:t>
            </a: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9DB48C4-A111-8654-EC50-5FFFE1417F42}"/>
              </a:ext>
            </a:extLst>
          </p:cNvPr>
          <p:cNvSpPr txBox="1"/>
          <p:nvPr/>
        </p:nvSpPr>
        <p:spPr>
          <a:xfrm>
            <a:off x="5666328" y="3058938"/>
            <a:ext cx="3994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kumimoji="1" sz="1400">
                <a:latin typeface="HarmonyOS Sans SC Light" pitchFamily="2" charset="-122"/>
                <a:ea typeface="HarmonyOS Sans SC Light" pitchFamily="2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24</a:t>
            </a:r>
            <a:endParaRPr kumimoji="1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70D31F4-8D32-8E11-28D3-FD31CA152D50}"/>
              </a:ext>
            </a:extLst>
          </p:cNvPr>
          <p:cNvSpPr txBox="1"/>
          <p:nvPr/>
        </p:nvSpPr>
        <p:spPr>
          <a:xfrm>
            <a:off x="7296333" y="2015683"/>
            <a:ext cx="169950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Blurring of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roles between the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board and senior-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management team</a:t>
            </a: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C114783-8AD4-F6F0-7333-733C8C1FA244}"/>
              </a:ext>
            </a:extLst>
          </p:cNvPr>
          <p:cNvSpPr txBox="1"/>
          <p:nvPr/>
        </p:nvSpPr>
        <p:spPr>
          <a:xfrm>
            <a:off x="7862795" y="3056594"/>
            <a:ext cx="3994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kumimoji="1" sz="1400">
                <a:latin typeface="HarmonyOS Sans SC Light" pitchFamily="2" charset="-122"/>
                <a:ea typeface="HarmonyOS Sans SC Light" pitchFamily="2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23</a:t>
            </a:r>
            <a:endParaRPr kumimoji="1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464F2D7-DA1E-6351-29DF-B1F0BCF0C62E}"/>
              </a:ext>
            </a:extLst>
          </p:cNvPr>
          <p:cNvSpPr txBox="1"/>
          <p:nvPr/>
        </p:nvSpPr>
        <p:spPr>
          <a:xfrm>
            <a:off x="9511035" y="2015683"/>
            <a:ext cx="149592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Lack of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relevant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capabilities</a:t>
            </a:r>
            <a:r>
              <a:rPr kumimoji="1" lang="en-US" altLang="zh-CN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2</a:t>
            </a:r>
            <a:endParaRPr kumimoji="1" lang="zh-CN" altLang="en-US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within the board</a:t>
            </a: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5FCE0C5-118B-7C98-3A69-67AEF7E27D14}"/>
              </a:ext>
            </a:extLst>
          </p:cNvPr>
          <p:cNvSpPr txBox="1"/>
          <p:nvPr/>
        </p:nvSpPr>
        <p:spPr>
          <a:xfrm>
            <a:off x="10059263" y="3056594"/>
            <a:ext cx="3994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kumimoji="1" sz="1400">
                <a:latin typeface="HarmonyOS Sans SC Light" pitchFamily="2" charset="-122"/>
                <a:ea typeface="HarmonyOS Sans SC Light" pitchFamily="2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21</a:t>
            </a:r>
            <a:endParaRPr kumimoji="1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</a:endParaRPr>
          </a:p>
        </p:txBody>
      </p:sp>
      <p:graphicFrame>
        <p:nvGraphicFramePr>
          <p:cNvPr id="2" name="ts41E">
            <a:extLst>
              <a:ext uri="{FF2B5EF4-FFF2-40B4-BE49-F238E27FC236}">
                <a16:creationId xmlns:a16="http://schemas.microsoft.com/office/drawing/2014/main" id="{74546282-E450-BD92-DF85-5E45D21CADDA}"/>
              </a:ext>
            </a:extLst>
          </p:cNvPr>
          <p:cNvGraphicFramePr>
            <a:graphicFrameLocks/>
          </p:cNvGraphicFramePr>
          <p:nvPr/>
        </p:nvGraphicFramePr>
        <p:xfrm>
          <a:off x="252690" y="3075651"/>
          <a:ext cx="2440872" cy="26310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7" name="ts41E">
            <a:extLst>
              <a:ext uri="{FF2B5EF4-FFF2-40B4-BE49-F238E27FC236}">
                <a16:creationId xmlns:a16="http://schemas.microsoft.com/office/drawing/2014/main" id="{2D2B22AA-47D9-1F9A-3128-C894EF6C2301}"/>
              </a:ext>
            </a:extLst>
          </p:cNvPr>
          <p:cNvGraphicFramePr>
            <a:graphicFrameLocks/>
          </p:cNvGraphicFramePr>
          <p:nvPr/>
        </p:nvGraphicFramePr>
        <p:xfrm>
          <a:off x="2449157" y="3065736"/>
          <a:ext cx="2440872" cy="26310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8" name="ts41E">
            <a:extLst>
              <a:ext uri="{FF2B5EF4-FFF2-40B4-BE49-F238E27FC236}">
                <a16:creationId xmlns:a16="http://schemas.microsoft.com/office/drawing/2014/main" id="{B46E6D25-20A0-B710-CE98-EC9BEF182635}"/>
              </a:ext>
            </a:extLst>
          </p:cNvPr>
          <p:cNvGraphicFramePr>
            <a:graphicFrameLocks/>
          </p:cNvGraphicFramePr>
          <p:nvPr/>
        </p:nvGraphicFramePr>
        <p:xfrm>
          <a:off x="4645624" y="3075651"/>
          <a:ext cx="2440872" cy="26310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9" name="ts41E">
            <a:extLst>
              <a:ext uri="{FF2B5EF4-FFF2-40B4-BE49-F238E27FC236}">
                <a16:creationId xmlns:a16="http://schemas.microsoft.com/office/drawing/2014/main" id="{862A0E61-E355-947A-DF40-F44A4CB9EFBF}"/>
              </a:ext>
            </a:extLst>
          </p:cNvPr>
          <p:cNvGraphicFramePr>
            <a:graphicFrameLocks/>
          </p:cNvGraphicFramePr>
          <p:nvPr/>
        </p:nvGraphicFramePr>
        <p:xfrm>
          <a:off x="6842091" y="3063392"/>
          <a:ext cx="2440872" cy="26310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0" name="ts41E">
            <a:extLst>
              <a:ext uri="{FF2B5EF4-FFF2-40B4-BE49-F238E27FC236}">
                <a16:creationId xmlns:a16="http://schemas.microsoft.com/office/drawing/2014/main" id="{94E94A0F-1061-2A32-729B-4136F56EB923}"/>
              </a:ext>
            </a:extLst>
          </p:cNvPr>
          <p:cNvGraphicFramePr>
            <a:graphicFrameLocks/>
          </p:cNvGraphicFramePr>
          <p:nvPr/>
        </p:nvGraphicFramePr>
        <p:xfrm>
          <a:off x="9038560" y="3075651"/>
          <a:ext cx="2440872" cy="26310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838367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DD1DB-F2CD-0C3E-638A-26C680251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E582B68D-D642-6CC4-A8F0-477083E78CA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7772400" imgH="10058400" progId="TCLayout.ActiveDocument.1">
                  <p:embed/>
                </p:oleObj>
              </mc:Choice>
              <mc:Fallback>
                <p:oleObj name="think-cell 幻灯片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82B68D-D642-6CC4-A8F0-477083E78C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图表 31">
            <a:extLst>
              <a:ext uri="{FF2B5EF4-FFF2-40B4-BE49-F238E27FC236}">
                <a16:creationId xmlns:a16="http://schemas.microsoft.com/office/drawing/2014/main" id="{D3158109-B3DC-B2A6-341E-0711F0D95EC5}"/>
              </a:ext>
            </a:extLst>
          </p:cNvPr>
          <p:cNvGraphicFramePr>
            <a:graphicFrameLocks/>
          </p:cNvGraphicFramePr>
          <p:nvPr/>
        </p:nvGraphicFramePr>
        <p:xfrm>
          <a:off x="7216854" y="2981367"/>
          <a:ext cx="2123905" cy="25428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67C37191-F49B-BAA2-18D9-495319530929}"/>
              </a:ext>
            </a:extLst>
          </p:cNvPr>
          <p:cNvSpPr txBox="1"/>
          <p:nvPr/>
        </p:nvSpPr>
        <p:spPr>
          <a:xfrm>
            <a:off x="414602" y="318424"/>
            <a:ext cx="11336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Medium" pitchFamily="2" charset="-122"/>
                <a:ea typeface="HarmonyOS Sans SC Medium" pitchFamily="2" charset="-122"/>
              </a:rPr>
              <a:t>Compared with 2019, respondents report a clear shift in the topics on their</a:t>
            </a:r>
            <a:r>
              <a:rPr kumimoji="1" lang="zh-CN" altLang="en-US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Medium" pitchFamily="2" charset="-122"/>
                <a:ea typeface="HarmonyOS Sans SC Medium" pitchFamily="2" charset="-122"/>
              </a:rPr>
              <a:t> </a:t>
            </a:r>
            <a:r>
              <a:rPr kumimoji="1" lang="en-US" altLang="zh-CN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Medium" pitchFamily="2" charset="-122"/>
                <a:ea typeface="HarmonyOS Sans SC Medium" pitchFamily="2" charset="-122"/>
              </a:rPr>
              <a:t>boards’ agendas.</a:t>
            </a:r>
            <a:endParaRPr kumimoji="1" lang="zh-CN" altLang="en-US" sz="18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7EB9C29-1551-9FE3-AAFC-1D77D6E7D839}"/>
              </a:ext>
            </a:extLst>
          </p:cNvPr>
          <p:cNvSpPr txBox="1"/>
          <p:nvPr/>
        </p:nvSpPr>
        <p:spPr>
          <a:xfrm>
            <a:off x="414602" y="996974"/>
            <a:ext cx="43877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Topics on the board's current agenda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，</a:t>
            </a:r>
            <a:r>
              <a:rPr kumimoji="1" lang="en-US" altLang="zh-CN" sz="12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1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 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% of respondents</a:t>
            </a:r>
            <a:endParaRPr kumimoji="1" lang="zh-CN" altLang="en-US" sz="12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0763A30F-5C45-1411-C5B1-C13FBDEFF41E}"/>
              </a:ext>
            </a:extLst>
          </p:cNvPr>
          <p:cNvSpPr txBox="1"/>
          <p:nvPr/>
        </p:nvSpPr>
        <p:spPr>
          <a:xfrm>
            <a:off x="331788" y="5997108"/>
            <a:ext cx="4990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1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Out of 15 topics that were offered as answer choices. 2019, n = 1,041;2020, n=846.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graphicFrame>
        <p:nvGraphicFramePr>
          <p:cNvPr id="11" name="图表 10">
            <a:extLst>
              <a:ext uri="{FF2B5EF4-FFF2-40B4-BE49-F238E27FC236}">
                <a16:creationId xmlns:a16="http://schemas.microsoft.com/office/drawing/2014/main" id="{E4A4FFAF-5825-36F9-FAE4-289DBB5C0606}"/>
              </a:ext>
            </a:extLst>
          </p:cNvPr>
          <p:cNvGraphicFramePr>
            <a:graphicFrameLocks/>
          </p:cNvGraphicFramePr>
          <p:nvPr/>
        </p:nvGraphicFramePr>
        <p:xfrm>
          <a:off x="183866" y="2537029"/>
          <a:ext cx="2123905" cy="29871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5" name="图表 24">
            <a:extLst>
              <a:ext uri="{FF2B5EF4-FFF2-40B4-BE49-F238E27FC236}">
                <a16:creationId xmlns:a16="http://schemas.microsoft.com/office/drawing/2014/main" id="{5F142D8D-C080-5251-FBA8-5B4EEAA351D1}"/>
              </a:ext>
            </a:extLst>
          </p:cNvPr>
          <p:cNvGraphicFramePr>
            <a:graphicFrameLocks/>
          </p:cNvGraphicFramePr>
          <p:nvPr/>
        </p:nvGraphicFramePr>
        <p:xfrm>
          <a:off x="1599009" y="3265714"/>
          <a:ext cx="2123905" cy="22585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6" name="图表 25">
            <a:extLst>
              <a:ext uri="{FF2B5EF4-FFF2-40B4-BE49-F238E27FC236}">
                <a16:creationId xmlns:a16="http://schemas.microsoft.com/office/drawing/2014/main" id="{98F2876E-3E6D-1510-84DA-009CD6FFCDBA}"/>
              </a:ext>
            </a:extLst>
          </p:cNvPr>
          <p:cNvGraphicFramePr>
            <a:graphicFrameLocks/>
          </p:cNvGraphicFramePr>
          <p:nvPr/>
        </p:nvGraphicFramePr>
        <p:xfrm>
          <a:off x="3022552" y="3265714"/>
          <a:ext cx="2123905" cy="22585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7" name="图表 26">
            <a:extLst>
              <a:ext uri="{FF2B5EF4-FFF2-40B4-BE49-F238E27FC236}">
                <a16:creationId xmlns:a16="http://schemas.microsoft.com/office/drawing/2014/main" id="{CA394D65-AD25-1427-B604-CCCECCFC29FE}"/>
              </a:ext>
            </a:extLst>
          </p:cNvPr>
          <p:cNvGraphicFramePr>
            <a:graphicFrameLocks/>
          </p:cNvGraphicFramePr>
          <p:nvPr/>
        </p:nvGraphicFramePr>
        <p:xfrm>
          <a:off x="4437695" y="2792833"/>
          <a:ext cx="2123905" cy="27313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31" name="图表 30">
            <a:extLst>
              <a:ext uri="{FF2B5EF4-FFF2-40B4-BE49-F238E27FC236}">
                <a16:creationId xmlns:a16="http://schemas.microsoft.com/office/drawing/2014/main" id="{236BB0CE-77B0-6A69-D7E3-C5491BE0BEA9}"/>
              </a:ext>
            </a:extLst>
          </p:cNvPr>
          <p:cNvGraphicFramePr>
            <a:graphicFrameLocks/>
          </p:cNvGraphicFramePr>
          <p:nvPr/>
        </p:nvGraphicFramePr>
        <p:xfrm>
          <a:off x="10068095" y="3937636"/>
          <a:ext cx="2123905" cy="1586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28" name="图表 27">
            <a:extLst>
              <a:ext uri="{FF2B5EF4-FFF2-40B4-BE49-F238E27FC236}">
                <a16:creationId xmlns:a16="http://schemas.microsoft.com/office/drawing/2014/main" id="{213C7B5C-CACA-4C05-9044-33DDCB191249}"/>
              </a:ext>
            </a:extLst>
          </p:cNvPr>
          <p:cNvGraphicFramePr>
            <a:graphicFrameLocks/>
          </p:cNvGraphicFramePr>
          <p:nvPr/>
        </p:nvGraphicFramePr>
        <p:xfrm>
          <a:off x="5814266" y="3640455"/>
          <a:ext cx="2123905" cy="18837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30" name="图表 29">
            <a:extLst>
              <a:ext uri="{FF2B5EF4-FFF2-40B4-BE49-F238E27FC236}">
                <a16:creationId xmlns:a16="http://schemas.microsoft.com/office/drawing/2014/main" id="{E8FA60F9-FB70-57A7-62AC-B93C80C69498}"/>
              </a:ext>
            </a:extLst>
          </p:cNvPr>
          <p:cNvGraphicFramePr>
            <a:graphicFrameLocks/>
          </p:cNvGraphicFramePr>
          <p:nvPr/>
        </p:nvGraphicFramePr>
        <p:xfrm>
          <a:off x="8642475" y="2165985"/>
          <a:ext cx="2123905" cy="3409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33" name="文本框 32">
            <a:extLst>
              <a:ext uri="{FF2B5EF4-FFF2-40B4-BE49-F238E27FC236}">
                <a16:creationId xmlns:a16="http://schemas.microsoft.com/office/drawing/2014/main" id="{DFFB85B6-8775-DE1E-4BC8-254BD60B08AE}"/>
              </a:ext>
            </a:extLst>
          </p:cNvPr>
          <p:cNvSpPr txBox="1"/>
          <p:nvPr/>
        </p:nvSpPr>
        <p:spPr>
          <a:xfrm>
            <a:off x="835942" y="4739395"/>
            <a:ext cx="8290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Medium" pitchFamily="2" charset="-122"/>
                <a:ea typeface="HarmonyOS Sans SC Medium" pitchFamily="2" charset="-122"/>
                <a:cs typeface="+mn-cs"/>
              </a:rPr>
              <a:t>+16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Medium" pitchFamily="2" charset="-122"/>
              <a:ea typeface="HarmonyOS Sans SC Medium" pitchFamily="2" charset="-122"/>
              <a:cs typeface="+mn-cs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046FA1D-E275-AEF1-C627-B80E3BF37837}"/>
              </a:ext>
            </a:extLst>
          </p:cNvPr>
          <p:cNvSpPr txBox="1"/>
          <p:nvPr/>
        </p:nvSpPr>
        <p:spPr>
          <a:xfrm>
            <a:off x="2240416" y="4739395"/>
            <a:ext cx="7970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Medium" pitchFamily="2" charset="-122"/>
                <a:ea typeface="HarmonyOS Sans SC Medium" pitchFamily="2" charset="-122"/>
                <a:cs typeface="+mn-cs"/>
              </a:rPr>
              <a:t>-15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Medium" pitchFamily="2" charset="-122"/>
              <a:ea typeface="HarmonyOS Sans SC Medium" pitchFamily="2" charset="-122"/>
              <a:cs typeface="+mn-cs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AE1B37F-9F3F-61F6-46B6-E181DF000CDC}"/>
              </a:ext>
            </a:extLst>
          </p:cNvPr>
          <p:cNvSpPr txBox="1"/>
          <p:nvPr/>
        </p:nvSpPr>
        <p:spPr>
          <a:xfrm>
            <a:off x="3688968" y="4739395"/>
            <a:ext cx="7970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Medium" pitchFamily="2" charset="-122"/>
                <a:ea typeface="HarmonyOS Sans SC Medium" pitchFamily="2" charset="-122"/>
                <a:cs typeface="+mn-cs"/>
              </a:rPr>
              <a:t>-13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Medium" pitchFamily="2" charset="-122"/>
              <a:ea typeface="HarmonyOS Sans SC Medium" pitchFamily="2" charset="-122"/>
              <a:cs typeface="+mn-cs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F3E4F34-19CD-C28C-3054-1B598590511A}"/>
              </a:ext>
            </a:extLst>
          </p:cNvPr>
          <p:cNvSpPr txBox="1"/>
          <p:nvPr/>
        </p:nvSpPr>
        <p:spPr>
          <a:xfrm>
            <a:off x="5103106" y="4739395"/>
            <a:ext cx="7970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Medium" pitchFamily="2" charset="-122"/>
                <a:ea typeface="HarmonyOS Sans SC Medium" pitchFamily="2" charset="-122"/>
                <a:cs typeface="+mn-cs"/>
              </a:rPr>
              <a:t>-10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Medium" pitchFamily="2" charset="-122"/>
              <a:ea typeface="HarmonyOS Sans SC Medium" pitchFamily="2" charset="-122"/>
              <a:cs typeface="+mn-cs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069642A-5549-04BD-B3B0-6DDDD709F80A}"/>
              </a:ext>
            </a:extLst>
          </p:cNvPr>
          <p:cNvSpPr txBox="1"/>
          <p:nvPr/>
        </p:nvSpPr>
        <p:spPr>
          <a:xfrm>
            <a:off x="6586971" y="4739395"/>
            <a:ext cx="5822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Medium" pitchFamily="2" charset="-122"/>
                <a:ea typeface="HarmonyOS Sans SC Medium" pitchFamily="2" charset="-122"/>
                <a:cs typeface="+mn-cs"/>
              </a:rPr>
              <a:t>-9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Medium" pitchFamily="2" charset="-122"/>
              <a:ea typeface="HarmonyOS Sans SC Medium" pitchFamily="2" charset="-122"/>
              <a:cs typeface="+mn-cs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3A655CA-FDC7-AF0F-2EF8-4E6723ADCE79}"/>
              </a:ext>
            </a:extLst>
          </p:cNvPr>
          <p:cNvSpPr txBox="1"/>
          <p:nvPr/>
        </p:nvSpPr>
        <p:spPr>
          <a:xfrm>
            <a:off x="7987700" y="4739395"/>
            <a:ext cx="5822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Medium" pitchFamily="2" charset="-122"/>
                <a:ea typeface="HarmonyOS Sans SC Medium" pitchFamily="2" charset="-122"/>
                <a:cs typeface="+mn-cs"/>
              </a:rPr>
              <a:t>-9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Medium" pitchFamily="2" charset="-122"/>
              <a:ea typeface="HarmonyOS Sans SC Medium" pitchFamily="2" charset="-122"/>
              <a:cs typeface="+mn-cs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B8F193F-7145-48FE-1A56-69C299A721D3}"/>
              </a:ext>
            </a:extLst>
          </p:cNvPr>
          <p:cNvSpPr txBox="1"/>
          <p:nvPr/>
        </p:nvSpPr>
        <p:spPr>
          <a:xfrm>
            <a:off x="9413321" y="4739395"/>
            <a:ext cx="5822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Medium" pitchFamily="2" charset="-122"/>
                <a:ea typeface="HarmonyOS Sans SC Medium" pitchFamily="2" charset="-122"/>
                <a:cs typeface="+mn-cs"/>
              </a:rPr>
              <a:t>-7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Medium" pitchFamily="2" charset="-122"/>
              <a:ea typeface="HarmonyOS Sans SC Medium" pitchFamily="2" charset="-122"/>
              <a:cs typeface="+mn-cs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C87673DA-6202-8A33-E76F-0451BA682A08}"/>
              </a:ext>
            </a:extLst>
          </p:cNvPr>
          <p:cNvSpPr txBox="1"/>
          <p:nvPr/>
        </p:nvSpPr>
        <p:spPr>
          <a:xfrm>
            <a:off x="10838941" y="4739395"/>
            <a:ext cx="5822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Medium" pitchFamily="2" charset="-122"/>
                <a:ea typeface="HarmonyOS Sans SC Medium" pitchFamily="2" charset="-122"/>
                <a:cs typeface="+mn-cs"/>
              </a:rPr>
              <a:t>-6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Medium" pitchFamily="2" charset="-122"/>
              <a:ea typeface="HarmonyOS Sans SC Medium" pitchFamily="2" charset="-122"/>
              <a:cs typeface="+mn-cs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DBA7B79A-3E69-ED6B-BA24-331BD2BA8FAC}"/>
              </a:ext>
            </a:extLst>
          </p:cNvPr>
          <p:cNvSpPr txBox="1"/>
          <p:nvPr/>
        </p:nvSpPr>
        <p:spPr>
          <a:xfrm>
            <a:off x="736704" y="1710000"/>
            <a:ext cx="10182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Corporate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resilience</a:t>
            </a: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264E81F-ADC9-BA47-5561-720320CAABBF}"/>
              </a:ext>
            </a:extLst>
          </p:cNvPr>
          <p:cNvSpPr txBox="1"/>
          <p:nvPr/>
        </p:nvSpPr>
        <p:spPr>
          <a:xfrm>
            <a:off x="1981127" y="1710000"/>
            <a:ext cx="13596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Organization's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purpose</a:t>
            </a: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F76185A-8481-D0C3-0E99-3E223BE2AB37}"/>
              </a:ext>
            </a:extLst>
          </p:cNvPr>
          <p:cNvSpPr txBox="1"/>
          <p:nvPr/>
        </p:nvSpPr>
        <p:spPr>
          <a:xfrm>
            <a:off x="3423580" y="1710000"/>
            <a:ext cx="132600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Major societal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trends ana/or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Changes</a:t>
            </a: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4E907F2-E12C-A190-7CBC-61E4BCFF4D14}"/>
              </a:ext>
            </a:extLst>
          </p:cNvPr>
          <p:cNvSpPr txBox="1"/>
          <p:nvPr/>
        </p:nvSpPr>
        <p:spPr>
          <a:xfrm>
            <a:off x="4819813" y="1710000"/>
            <a:ext cx="13596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Organization's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culture</a:t>
            </a: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C1E66D2-3A35-4600-1DBF-A5A9706511F1}"/>
              </a:ext>
            </a:extLst>
          </p:cNvPr>
          <p:cNvSpPr txBox="1"/>
          <p:nvPr/>
        </p:nvSpPr>
        <p:spPr>
          <a:xfrm>
            <a:off x="6211613" y="1710000"/>
            <a:ext cx="132921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Diversity of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organization's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leadership</a:t>
            </a: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CE7C0E4-2DF9-08C1-DAE7-706DCD4A14E4}"/>
              </a:ext>
            </a:extLst>
          </p:cNvPr>
          <p:cNvSpPr txBox="1"/>
          <p:nvPr/>
        </p:nvSpPr>
        <p:spPr>
          <a:xfrm>
            <a:off x="7711181" y="1710000"/>
            <a:ext cx="113524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Workforce-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capability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needs</a:t>
            </a: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B5AC3CCA-AABA-3F8A-DF5F-F5182BCFAF89}"/>
              </a:ext>
            </a:extLst>
          </p:cNvPr>
          <p:cNvSpPr txBox="1"/>
          <p:nvPr/>
        </p:nvSpPr>
        <p:spPr>
          <a:xfrm>
            <a:off x="9136802" y="1710000"/>
            <a:ext cx="11352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Innovation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and growth</a:t>
            </a: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A65594CC-BC72-720F-738E-A1741CBCF52D}"/>
              </a:ext>
            </a:extLst>
          </p:cNvPr>
          <p:cNvSpPr txBox="1"/>
          <p:nvPr/>
        </p:nvSpPr>
        <p:spPr>
          <a:xfrm>
            <a:off x="10717111" y="1710000"/>
            <a:ext cx="8258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Cyber-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security</a:t>
            </a:r>
            <a:endParaRPr kumimoji="1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1901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0E25E-CEA0-A2EB-AD5F-ACFDEB593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83C26BB-CFA6-A919-B48F-5DBBF2F9105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7772400" imgH="10058400" progId="TCLayout.ActiveDocument.1">
                  <p:embed/>
                </p:oleObj>
              </mc:Choice>
              <mc:Fallback>
                <p:oleObj name="think-cell 幻灯片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83C26BB-CFA6-A919-B48F-5DBBF2F910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37008522-3AA4-A86E-D17C-E5F1EE223663}"/>
              </a:ext>
            </a:extLst>
          </p:cNvPr>
          <p:cNvSpPr txBox="1"/>
          <p:nvPr/>
        </p:nvSpPr>
        <p:spPr>
          <a:xfrm>
            <a:off x="414602" y="318424"/>
            <a:ext cx="11336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Medium" pitchFamily="2" charset="-122"/>
                <a:ea typeface="HarmonyOS Sans SC Medium" pitchFamily="2" charset="-122"/>
              </a:rPr>
              <a:t>Over the long term, adaptable boards are more likely to stick with many newer</a:t>
            </a:r>
            <a:r>
              <a:rPr kumimoji="1" lang="zh-CN" altLang="en-US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Medium" pitchFamily="2" charset="-122"/>
                <a:ea typeface="HarmonyOS Sans SC Medium" pitchFamily="2" charset="-122"/>
              </a:rPr>
              <a:t> </a:t>
            </a:r>
            <a:r>
              <a:rPr kumimoji="1" lang="en-US" altLang="zh-CN" sz="1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Medium" pitchFamily="2" charset="-122"/>
                <a:ea typeface="HarmonyOS Sans SC Medium" pitchFamily="2" charset="-122"/>
              </a:rPr>
              <a:t>ways of working.</a:t>
            </a:r>
            <a:endParaRPr kumimoji="1" lang="zh-CN" altLang="en-US" sz="18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40C6689-2085-FB50-EA37-3F5B1CA07623}"/>
              </a:ext>
            </a:extLst>
          </p:cNvPr>
          <p:cNvSpPr txBox="1"/>
          <p:nvPr/>
        </p:nvSpPr>
        <p:spPr>
          <a:xfrm>
            <a:off x="414600" y="828043"/>
            <a:ext cx="11449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Changes to a board‘s ways of working that are most likely to remain over the next 3 to 5 years,</a:t>
            </a:r>
            <a:r>
              <a:rPr kumimoji="1" lang="en-US" altLang="zh-CN" sz="12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1</a:t>
            </a:r>
            <a:r>
              <a:rPr kumimoji="1" lang="zh-CN" altLang="en-US" sz="12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 </a:t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By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 </a:t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type of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 </a:t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board</a:t>
            </a:r>
            <a:r>
              <a:rPr kumimoji="1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，</a:t>
            </a:r>
            <a:endParaRPr kumimoji="1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% of respondents</a:t>
            </a:r>
            <a:endParaRPr kumimoji="1" lang="zh-CN" altLang="en-US" sz="12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6028E8B8-F390-D36E-90D7-333FE400F5A8}"/>
              </a:ext>
            </a:extLst>
          </p:cNvPr>
          <p:cNvSpPr txBox="1"/>
          <p:nvPr/>
        </p:nvSpPr>
        <p:spPr>
          <a:xfrm>
            <a:off x="414601" y="6252808"/>
            <a:ext cx="109835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1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Out of 15 changes that were offered as answer choices. Question was asked only of board directors; respondents who answered “none of the above”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 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or "don't know" are not shown.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graphicFrame>
        <p:nvGraphicFramePr>
          <p:cNvPr id="2" name="ts0E9">
            <a:extLst>
              <a:ext uri="{FF2B5EF4-FFF2-40B4-BE49-F238E27FC236}">
                <a16:creationId xmlns:a16="http://schemas.microsoft.com/office/drawing/2014/main" id="{505F9C55-CB07-158A-9E52-85B60EF6A83B}"/>
              </a:ext>
            </a:extLst>
          </p:cNvPr>
          <p:cNvGraphicFramePr>
            <a:graphicFrameLocks/>
          </p:cNvGraphicFramePr>
          <p:nvPr/>
        </p:nvGraphicFramePr>
        <p:xfrm>
          <a:off x="4384922" y="1644219"/>
          <a:ext cx="7365969" cy="46085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00068F00-91A0-3FB8-D467-220E90547CFE}"/>
              </a:ext>
            </a:extLst>
          </p:cNvPr>
          <p:cNvSpPr txBox="1"/>
          <p:nvPr/>
        </p:nvSpPr>
        <p:spPr>
          <a:xfrm>
            <a:off x="414601" y="1835074"/>
            <a:ext cx="35621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Running at least some board meetings remotely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6F538BD-1954-75FB-9EA0-972F2685FEFF}"/>
              </a:ext>
            </a:extLst>
          </p:cNvPr>
          <p:cNvSpPr txBox="1"/>
          <p:nvPr/>
        </p:nvSpPr>
        <p:spPr>
          <a:xfrm>
            <a:off x="414601" y="2203058"/>
            <a:ext cx="32367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Increased use of technology and/or digital-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collaboration tools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2CC1259-2465-2045-D56B-27B991C71BA8}"/>
              </a:ext>
            </a:extLst>
          </p:cNvPr>
          <p:cNvSpPr txBox="1"/>
          <p:nvPr/>
        </p:nvSpPr>
        <p:spPr>
          <a:xfrm>
            <a:off x="414601" y="2664723"/>
            <a:ext cx="36695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More frequent interactions between the board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and senior-management team between meetings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88F0A19-0E33-C543-E455-DCEF17C417F6}"/>
              </a:ext>
            </a:extLst>
          </p:cNvPr>
          <p:cNvSpPr txBox="1"/>
          <p:nvPr/>
        </p:nvSpPr>
        <p:spPr>
          <a:xfrm>
            <a:off x="414601" y="3118366"/>
            <a:ext cx="35060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Strengthened collaboration between the board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and senior-management team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C60B98-DD2B-605B-121F-86D3E8B4896D}"/>
              </a:ext>
            </a:extLst>
          </p:cNvPr>
          <p:cNvSpPr txBox="1"/>
          <p:nvPr/>
        </p:nvSpPr>
        <p:spPr>
          <a:xfrm>
            <a:off x="414601" y="3585613"/>
            <a:ext cx="21435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Improved board processes</a:t>
            </a:r>
            <a:r>
              <a:rPr kumimoji="1" lang="en-US" altLang="zh-CN" sz="12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2</a:t>
            </a:r>
            <a:endParaRPr kumimoji="1" lang="zh-CN" altLang="en-US" sz="12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D812A9E-C14A-E002-843D-404E7F31DA25}"/>
              </a:ext>
            </a:extLst>
          </p:cNvPr>
          <p:cNvSpPr txBox="1"/>
          <p:nvPr/>
        </p:nvSpPr>
        <p:spPr>
          <a:xfrm>
            <a:off x="414601" y="3905299"/>
            <a:ext cx="32784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Including strategy as a topic on every board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meeting's agenda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A1958B9-1DDA-9FB1-02B2-67FBE9CADC19}"/>
              </a:ext>
            </a:extLst>
          </p:cNvPr>
          <p:cNvSpPr txBox="1"/>
          <p:nvPr/>
        </p:nvSpPr>
        <p:spPr>
          <a:xfrm>
            <a:off x="414601" y="4409651"/>
            <a:ext cx="31037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Increased flexibility in the board's agenda</a:t>
            </a:r>
            <a:endParaRPr kumimoji="1" lang="zh-CN" altLang="en-US" sz="12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6DDDBDF-D085-C441-2D25-82992351274C}"/>
              </a:ext>
            </a:extLst>
          </p:cNvPr>
          <p:cNvSpPr txBox="1"/>
          <p:nvPr/>
        </p:nvSpPr>
        <p:spPr>
          <a:xfrm>
            <a:off x="414601" y="4805530"/>
            <a:ext cx="30460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Strengthened collaboration between the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board chair and CEO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8FFDE33-BB8C-4B4E-4AE6-C90AF24A99A4}"/>
              </a:ext>
            </a:extLst>
          </p:cNvPr>
          <p:cNvSpPr txBox="1"/>
          <p:nvPr/>
        </p:nvSpPr>
        <p:spPr>
          <a:xfrm>
            <a:off x="414600" y="5331229"/>
            <a:ext cx="3693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Increased overall time commitment to board work</a:t>
            </a:r>
            <a:endParaRPr kumimoji="1" lang="zh-CN" altLang="en-US" sz="12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09AB95F-B396-3A36-69D2-EEAE7625A136}"/>
              </a:ext>
            </a:extLst>
          </p:cNvPr>
          <p:cNvSpPr txBox="1"/>
          <p:nvPr/>
        </p:nvSpPr>
        <p:spPr>
          <a:xfrm>
            <a:off x="414600" y="5680941"/>
            <a:ext cx="3180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Improved team dynamics among members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of the board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8B197FD-109B-6CEA-3535-D432D20DC9CF}"/>
              </a:ext>
            </a:extLst>
          </p:cNvPr>
          <p:cNvSpPr/>
          <p:nvPr/>
        </p:nvSpPr>
        <p:spPr>
          <a:xfrm>
            <a:off x="6741994" y="5759355"/>
            <a:ext cx="279779" cy="279779"/>
          </a:xfrm>
          <a:prstGeom prst="rect">
            <a:avLst/>
          </a:prstGeom>
          <a:solidFill>
            <a:srgbClr val="00A8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CD53182-2B06-73CF-A218-DAE41451CF10}"/>
              </a:ext>
            </a:extLst>
          </p:cNvPr>
          <p:cNvSpPr txBox="1"/>
          <p:nvPr/>
        </p:nvSpPr>
        <p:spPr>
          <a:xfrm>
            <a:off x="6723827" y="5783828"/>
            <a:ext cx="31611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20</a:t>
            </a:r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2336006-F067-8AA2-FB38-50DA1D75E267}"/>
              </a:ext>
            </a:extLst>
          </p:cNvPr>
          <p:cNvSpPr/>
          <p:nvPr/>
        </p:nvSpPr>
        <p:spPr>
          <a:xfrm>
            <a:off x="11118376" y="1856768"/>
            <a:ext cx="279779" cy="279779"/>
          </a:xfrm>
          <a:prstGeom prst="rect">
            <a:avLst/>
          </a:prstGeom>
          <a:solidFill>
            <a:srgbClr val="00A8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6C60D1D-4CBE-CA37-A9EA-F543417291F4}"/>
              </a:ext>
            </a:extLst>
          </p:cNvPr>
          <p:cNvSpPr txBox="1"/>
          <p:nvPr/>
        </p:nvSpPr>
        <p:spPr>
          <a:xfrm>
            <a:off x="11100209" y="1881241"/>
            <a:ext cx="31611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58</a:t>
            </a:r>
            <a:endParaRPr kumimoji="1" lang="zh-CN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" pitchFamily="2" charset="-122"/>
              <a:ea typeface="HarmonyOS Sans SC" pitchFamily="2" charset="-122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D30DDFF-8EA2-6469-48AD-C8A90344D214}"/>
              </a:ext>
            </a:extLst>
          </p:cNvPr>
          <p:cNvSpPr txBox="1"/>
          <p:nvPr/>
        </p:nvSpPr>
        <p:spPr>
          <a:xfrm>
            <a:off x="414600" y="6451988"/>
            <a:ext cx="109835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2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 Light" pitchFamily="2" charset="-122"/>
                <a:ea typeface="HarmonyOS Sans SC Light" pitchFamily="2" charset="-122"/>
                <a:cs typeface="+mn-cs"/>
              </a:rPr>
              <a:t>For example, more frequent updates on company insights, shorter reports.</a:t>
            </a:r>
            <a:endParaRPr kumimoji="1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armonyOS Sans SC Light" pitchFamily="2" charset="-122"/>
              <a:ea typeface="HarmonyOS Sans SC Light" pitchFamily="2" charset="-122"/>
              <a:cs typeface="+mn-cs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35760CA-DCB2-A4DB-48D3-F94A20690676}"/>
              </a:ext>
            </a:extLst>
          </p:cNvPr>
          <p:cNvSpPr/>
          <p:nvPr/>
        </p:nvSpPr>
        <p:spPr>
          <a:xfrm>
            <a:off x="522514" y="1460180"/>
            <a:ext cx="216622" cy="216622"/>
          </a:xfrm>
          <a:prstGeom prst="rect">
            <a:avLst/>
          </a:prstGeom>
          <a:solidFill>
            <a:srgbClr val="00A8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53D62E6-09C5-1C10-F7BD-6114D3AA62BE}"/>
              </a:ext>
            </a:extLst>
          </p:cNvPr>
          <p:cNvSpPr txBox="1"/>
          <p:nvPr/>
        </p:nvSpPr>
        <p:spPr>
          <a:xfrm>
            <a:off x="727670" y="1444399"/>
            <a:ext cx="31951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Respondents at most adaptable boards 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（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n =143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）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34494C3-B841-9BA3-736D-554BB7F48B1A}"/>
              </a:ext>
            </a:extLst>
          </p:cNvPr>
          <p:cNvSpPr/>
          <p:nvPr/>
        </p:nvSpPr>
        <p:spPr>
          <a:xfrm>
            <a:off x="4018346" y="1460180"/>
            <a:ext cx="216622" cy="2166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619F4B6-7CC9-8961-B288-7CF64AF0278D}"/>
              </a:ext>
            </a:extLst>
          </p:cNvPr>
          <p:cNvSpPr txBox="1"/>
          <p:nvPr/>
        </p:nvSpPr>
        <p:spPr>
          <a:xfrm>
            <a:off x="4223502" y="1444399"/>
            <a:ext cx="21771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All other respondents 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（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n = 268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armonyOS Sans SC" pitchFamily="2" charset="-122"/>
                <a:ea typeface="HarmonyOS Sans SC" pitchFamily="2" charset="-122"/>
                <a:cs typeface="+mn-cs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361601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F03FF85-F528-B0FE-E026-5C749073A29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75" imgW="7772400" imgH="10058400" progId="TCLayout.ActiveDocument.1">
                  <p:embed/>
                </p:oleObj>
              </mc:Choice>
              <mc:Fallback>
                <p:oleObj name="think-cell 幻灯片" r:id="rId75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F03FF85-F528-B0FE-E026-5C749073A2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F0093E2C-1102-3EF7-6629-664B1692AEDC}"/>
              </a:ext>
            </a:extLst>
          </p:cNvPr>
          <p:cNvSpPr txBox="1"/>
          <p:nvPr/>
        </p:nvSpPr>
        <p:spPr>
          <a:xfrm>
            <a:off x="386207" y="283975"/>
            <a:ext cx="7176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Changes in cities depending on their overall level of development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60DD45C-5CF0-1394-D05F-BB466FEB7030}"/>
              </a:ext>
            </a:extLst>
          </p:cNvPr>
          <p:cNvSpPr txBox="1"/>
          <p:nvPr/>
        </p:nvSpPr>
        <p:spPr>
          <a:xfrm>
            <a:off x="386207" y="738335"/>
            <a:ext cx="22509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i="1" dirty="0">
                <a:latin typeface="HarmonyOS Sans SC Light" pitchFamily="2" charset="-122"/>
                <a:ea typeface="HarmonyOS Sans SC Light" pitchFamily="2" charset="-122"/>
              </a:rPr>
              <a:t>Changes by groups of metrics</a:t>
            </a:r>
            <a:endParaRPr kumimoji="1" lang="zh-CN" altLang="en-US" sz="1200" i="1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DF46E5E-BE6E-F871-EBB3-58E14BD5333F}"/>
              </a:ext>
            </a:extLst>
          </p:cNvPr>
          <p:cNvSpPr txBox="1"/>
          <p:nvPr/>
        </p:nvSpPr>
        <p:spPr>
          <a:xfrm>
            <a:off x="386207" y="1100362"/>
            <a:ext cx="2313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Objective assessment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， </a:t>
            </a:r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%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129" name="Chart 3">
            <a:extLst>
              <a:ext uri="{FF2B5EF4-FFF2-40B4-BE49-F238E27FC236}">
                <a16:creationId xmlns:a16="http://schemas.microsoft.com/office/drawing/2014/main" id="{B1DBCC27-E0A1-F63F-4F1D-8E7B2A2D0CE7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1990725" y="1839913"/>
          <a:ext cx="2282825" cy="1666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7"/>
          </a:graphicData>
        </a:graphic>
      </p:graphicFrame>
      <p:cxnSp>
        <p:nvCxnSpPr>
          <p:cNvPr id="114" name="直线连接符 113">
            <a:extLst>
              <a:ext uri="{FF2B5EF4-FFF2-40B4-BE49-F238E27FC236}">
                <a16:creationId xmlns:a16="http://schemas.microsoft.com/office/drawing/2014/main" id="{B65C3C52-8FF6-6242-67C1-08AF45853B1E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2716213" y="1922463"/>
            <a:ext cx="0" cy="1501775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6" name="右箭头 95">
            <a:extLst>
              <a:ext uri="{FF2B5EF4-FFF2-40B4-BE49-F238E27FC236}">
                <a16:creationId xmlns:a16="http://schemas.microsoft.com/office/drawing/2014/main" id="{5AAF5E1C-950D-43A1-1B81-D7C8C5BDF0DE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 rot="16200000">
            <a:off x="2652713" y="3462338"/>
            <a:ext cx="128588" cy="152400"/>
          </a:xfrm>
          <a:prstGeom prst="rightArrow">
            <a:avLst>
              <a:gd name="adj1" fmla="val 100000"/>
              <a:gd name="adj2" fmla="val 100000"/>
            </a:avLst>
          </a:prstGeom>
          <a:solidFill>
            <a:schemeClr val="tx1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文本占位符 2">
            <a:extLst>
              <a:ext uri="{FF2B5EF4-FFF2-40B4-BE49-F238E27FC236}">
                <a16:creationId xmlns:a16="http://schemas.microsoft.com/office/drawing/2014/main" id="{A586A021-621F-CC68-F692-3CBB477A85AF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2249488" y="2003426"/>
            <a:ext cx="20637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426BE73D-C3E0-4FAC-9D8F-15B6788F0EDF}" type="datetime'''''''''''''''''2''''''%'''''">
              <a:rPr kumimoji="1" lang="en-US" altLang="en-US" sz="1000" smtClean="0">
                <a:latin typeface="HarmonyOS Sans SC" pitchFamily="2" charset="-122"/>
                <a:ea typeface="HarmonyOS Sans SC" pitchFamily="2" charset="-122"/>
              </a:rPr>
              <a:pPr/>
              <a:t>2%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8" name="文本占位符 2">
            <a:extLst>
              <a:ext uri="{FF2B5EF4-FFF2-40B4-BE49-F238E27FC236}">
                <a16:creationId xmlns:a16="http://schemas.microsoft.com/office/drawing/2014/main" id="{169731D2-94D7-6AED-CB73-02606B71EE6D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gray">
          <a:xfrm>
            <a:off x="2476500" y="2303464"/>
            <a:ext cx="20637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33B9B6D5-6D41-4632-ABED-70DBA359D2C2}" type="datetime'''''''''''5''''''%'''''''''''''''''''''''''''''''''">
              <a:rPr kumimoji="1" lang="en-US" altLang="en-US" sz="1000" smtClean="0">
                <a:latin typeface="HarmonyOS Sans SC" pitchFamily="2" charset="-122"/>
                <a:ea typeface="HarmonyOS Sans SC" pitchFamily="2" charset="-122"/>
              </a:rPr>
              <a:pPr/>
              <a:t>5%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7" name="文本占位符 2">
            <a:extLst>
              <a:ext uri="{FF2B5EF4-FFF2-40B4-BE49-F238E27FC236}">
                <a16:creationId xmlns:a16="http://schemas.microsoft.com/office/drawing/2014/main" id="{F4D8E113-8734-FE16-DF5A-4D3D2928674D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gray">
          <a:xfrm>
            <a:off x="4216399" y="2603500"/>
            <a:ext cx="2794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000" dirty="0">
                <a:latin typeface="HarmonyOS Sans SC" pitchFamily="2" charset="-122"/>
                <a:ea typeface="HarmonyOS Sans SC" pitchFamily="2" charset="-122"/>
              </a:rPr>
              <a:t>25%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54" name="文本占位符 2">
            <a:extLst>
              <a:ext uri="{FF2B5EF4-FFF2-40B4-BE49-F238E27FC236}">
                <a16:creationId xmlns:a16="http://schemas.microsoft.com/office/drawing/2014/main" id="{4B66A429-01C0-B10D-DD80-1EB721B7F0C3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536575" y="2905126"/>
            <a:ext cx="7429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24EF0238-2256-458C-AE7D-D13019BA4F81}" type="datetime'''''''''C''''o''''nv''''en''''''''''i''e''n''''ce'''''''''''''">
              <a:rPr kumimoji="1" lang="en-US" altLang="en-US" sz="10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Convenience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B57AC4EF-CAFC-CA07-264B-B088B901F202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536575" y="2003426"/>
            <a:ext cx="630238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94573E09-9602-4589-B4A3-E109468CAC3C}" type="datetime'''''Av''''''''''ai''l''a''''''''bil''''''i''ty'''''''''">
              <a:rPr kumimoji="1" lang="en-US" altLang="en-US" sz="10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Availability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0" name="文本占位符 2">
            <a:extLst>
              <a:ext uri="{FF2B5EF4-FFF2-40B4-BE49-F238E27FC236}">
                <a16:creationId xmlns:a16="http://schemas.microsoft.com/office/drawing/2014/main" id="{3BB816BD-2AB3-0E5F-58EB-E14EB484C953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gray">
          <a:xfrm>
            <a:off x="2476500" y="2905126"/>
            <a:ext cx="20637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58D8AFFB-C81E-4D03-8A7E-347CE083E3DE}" type="datetime'5''''''''''''''''''''''%'''''''''''''">
              <a:rPr kumimoji="1" lang="en-US" altLang="en-US" sz="1000" smtClean="0">
                <a:latin typeface="HarmonyOS Sans SC" pitchFamily="2" charset="-122"/>
                <a:ea typeface="HarmonyOS Sans SC" pitchFamily="2" charset="-122"/>
              </a:rPr>
              <a:pPr/>
              <a:t>5%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2" name="文本占位符 2">
            <a:extLst>
              <a:ext uri="{FF2B5EF4-FFF2-40B4-BE49-F238E27FC236}">
                <a16:creationId xmlns:a16="http://schemas.microsoft.com/office/drawing/2014/main" id="{4CFA6F2B-0894-61E5-DF89-FF13FDFBF114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2930525" y="3205164"/>
            <a:ext cx="2794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453F4BFC-D0AA-4F32-A719-555F0517CD27}" type="datetime'''''''''''''1''''''''''''''''''''''''''''''1%'''''">
              <a:rPr kumimoji="1" lang="en-US" altLang="en-US" sz="1000" smtClean="0">
                <a:latin typeface="HarmonyOS Sans SC" pitchFamily="2" charset="-122"/>
                <a:ea typeface="HarmonyOS Sans SC" pitchFamily="2" charset="-122"/>
              </a:rPr>
              <a:pPr/>
              <a:t>11%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94" name="文本占位符 2">
            <a:extLst>
              <a:ext uri="{FF2B5EF4-FFF2-40B4-BE49-F238E27FC236}">
                <a16:creationId xmlns:a16="http://schemas.microsoft.com/office/drawing/2014/main" id="{386394F3-C732-9174-7673-A5A17EB6872C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2420938" y="3654426"/>
            <a:ext cx="58896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Average:9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1" name="文本占位符 2">
            <a:extLst>
              <a:ext uri="{FF2B5EF4-FFF2-40B4-BE49-F238E27FC236}">
                <a16:creationId xmlns:a16="http://schemas.microsoft.com/office/drawing/2014/main" id="{3711D321-7840-1B0A-5FB3-B8AAF7952ECA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auto">
          <a:xfrm>
            <a:off x="536575" y="2603500"/>
            <a:ext cx="5588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708053A4-F864-4FA7-A90B-230D770D20B4}" type="datetime'''''E''ffic''''''''''''''''i''''''''''''''''''''en''''''''cy'">
              <a:rPr kumimoji="1" lang="en-US" altLang="en-US" sz="10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Efficiency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0" name="文本占位符 2">
            <a:extLst>
              <a:ext uri="{FF2B5EF4-FFF2-40B4-BE49-F238E27FC236}">
                <a16:creationId xmlns:a16="http://schemas.microsoft.com/office/drawing/2014/main" id="{D44997C9-744F-262E-735A-226CD29FB2F6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auto">
          <a:xfrm>
            <a:off x="536575" y="2303464"/>
            <a:ext cx="7239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821BF037-FC52-4B09-8312-36875894C979}" type="datetime'''''''''A''f''fo''''''rd''''''''abil''''''''''''''''i''''ty'">
              <a:rPr kumimoji="1" lang="en-US" altLang="en-US" sz="10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Affordability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24" name="文本占位符 2">
            <a:extLst>
              <a:ext uri="{FF2B5EF4-FFF2-40B4-BE49-F238E27FC236}">
                <a16:creationId xmlns:a16="http://schemas.microsoft.com/office/drawing/2014/main" id="{CE4BA03A-EA4D-0AEB-00FC-740B6B42F835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gray">
          <a:xfrm>
            <a:off x="2878137" y="2603501"/>
            <a:ext cx="2794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E83A079-5E0E-4D5A-BEC4-9674F18BC531}" type="datetime'''''''''''''''2''''''''''''5''''''''''''''%'">
              <a:rPr kumimoji="1" lang="en-US" altLang="en-US" sz="10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25%</a:t>
            </a:fld>
            <a:endParaRPr kumimoji="1" lang="zh-CN" altLang="en-US" sz="10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55" name="文本占位符 2">
            <a:extLst>
              <a:ext uri="{FF2B5EF4-FFF2-40B4-BE49-F238E27FC236}">
                <a16:creationId xmlns:a16="http://schemas.microsoft.com/office/drawing/2014/main" id="{44CFB5F0-33B3-3022-78AC-64282B5AC79B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auto">
          <a:xfrm>
            <a:off x="536575" y="3136900"/>
            <a:ext cx="1450975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C1107539-6F62-48CB-8E23-CE516B84CC39}" type="datetime'Sa''fety'' ''and&#10;''su''st''aina''''''ble ''de''velo''''pment'">
              <a:rPr kumimoji="1" lang="en-US" altLang="en-US" sz="10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Safety and
sustainable development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9D6D41A0-AB38-B640-E6D1-711235836BAC}"/>
              </a:ext>
            </a:extLst>
          </p:cNvPr>
          <p:cNvSpPr txBox="1"/>
          <p:nvPr/>
        </p:nvSpPr>
        <p:spPr>
          <a:xfrm>
            <a:off x="1829275" y="1398365"/>
            <a:ext cx="15103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Leading cities</a:t>
            </a:r>
          </a:p>
          <a:p>
            <a:pPr algn="ctr"/>
            <a:r>
              <a:rPr kumimoji="1" lang="zh-CN" altLang="en-US" sz="12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positions 1-10</a:t>
            </a:r>
            <a:r>
              <a:rPr kumimoji="1" lang="zh-CN" altLang="en-US" sz="1200" dirty="0">
                <a:latin typeface="HarmonyOS Sans SC Light" pitchFamily="2" charset="-122"/>
                <a:ea typeface="HarmonyOS Sans SC Light" pitchFamily="2" charset="-122"/>
              </a:rPr>
              <a:t>）</a:t>
            </a: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5F9B8CE0-E171-C675-C9F6-C3CD2E20E9D6}"/>
              </a:ext>
            </a:extLst>
          </p:cNvPr>
          <p:cNvSpPr txBox="1"/>
          <p:nvPr/>
        </p:nvSpPr>
        <p:spPr>
          <a:xfrm>
            <a:off x="3915760" y="2548651"/>
            <a:ext cx="3577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0%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</a:endParaRPr>
          </a:p>
        </p:txBody>
      </p:sp>
      <p:graphicFrame>
        <p:nvGraphicFramePr>
          <p:cNvPr id="187" name="Chart 3">
            <a:extLst>
              <a:ext uri="{FF2B5EF4-FFF2-40B4-BE49-F238E27FC236}">
                <a16:creationId xmlns:a16="http://schemas.microsoft.com/office/drawing/2014/main" id="{397C4860-D453-D38A-6243-81D6B057281E}"/>
              </a:ext>
            </a:extLst>
          </p:cNvPr>
          <p:cNvGraphicFramePr/>
          <p:nvPr>
            <p:custDataLst>
              <p:tags r:id="rId17"/>
            </p:custDataLst>
          </p:nvPr>
        </p:nvGraphicFramePr>
        <p:xfrm>
          <a:off x="5362575" y="1839913"/>
          <a:ext cx="2282825" cy="1666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8"/>
          </a:graphicData>
        </a:graphic>
      </p:graphicFrame>
      <p:cxnSp>
        <p:nvCxnSpPr>
          <p:cNvPr id="180" name="直线连接符 179">
            <a:extLst>
              <a:ext uri="{FF2B5EF4-FFF2-40B4-BE49-F238E27FC236}">
                <a16:creationId xmlns:a16="http://schemas.microsoft.com/office/drawing/2014/main" id="{6EA13F5F-C721-77A7-5CB0-18C9B36ADDCF}"/>
              </a:ext>
            </a:extLst>
          </p:cNvPr>
          <p:cNvCxnSpPr/>
          <p:nvPr>
            <p:custDataLst>
              <p:tags r:id="rId18"/>
            </p:custDataLst>
          </p:nvPr>
        </p:nvCxnSpPr>
        <p:spPr bwMode="auto">
          <a:xfrm>
            <a:off x="6111875" y="3041650"/>
            <a:ext cx="0" cy="38258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3" name="右箭头 132">
            <a:extLst>
              <a:ext uri="{FF2B5EF4-FFF2-40B4-BE49-F238E27FC236}">
                <a16:creationId xmlns:a16="http://schemas.microsoft.com/office/drawing/2014/main" id="{035719FA-753E-411D-93DA-9B803E168A7A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 rot="16200000">
            <a:off x="6048375" y="3462338"/>
            <a:ext cx="128588" cy="152400"/>
          </a:xfrm>
          <a:prstGeom prst="rightArrow">
            <a:avLst>
              <a:gd name="adj1" fmla="val 100000"/>
              <a:gd name="adj2" fmla="val 100000"/>
            </a:avLst>
          </a:prstGeom>
          <a:solidFill>
            <a:schemeClr val="tx1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69" name="直线连接符 168">
            <a:extLst>
              <a:ext uri="{FF2B5EF4-FFF2-40B4-BE49-F238E27FC236}">
                <a16:creationId xmlns:a16="http://schemas.microsoft.com/office/drawing/2014/main" id="{F67FDD5A-0B7E-4CED-5187-8777F5387153}"/>
              </a:ext>
            </a:extLst>
          </p:cNvPr>
          <p:cNvCxnSpPr/>
          <p:nvPr>
            <p:custDataLst>
              <p:tags r:id="rId20"/>
            </p:custDataLst>
          </p:nvPr>
        </p:nvCxnSpPr>
        <p:spPr bwMode="auto">
          <a:xfrm>
            <a:off x="6111875" y="1922463"/>
            <a:ext cx="0" cy="982663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5" name="文本占位符 2">
            <a:extLst>
              <a:ext uri="{FF2B5EF4-FFF2-40B4-BE49-F238E27FC236}">
                <a16:creationId xmlns:a16="http://schemas.microsoft.com/office/drawing/2014/main" id="{72A30919-EF3B-41F0-E241-108376A2A945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gray">
          <a:xfrm>
            <a:off x="5470525" y="2003426"/>
            <a:ext cx="20637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6B5FB1B5-7EFA-4059-8EA5-2F079B012B5B}" type="datetime'''''''''''''''''0''''''%'''''''''''''''''''''''''''">
              <a:rPr kumimoji="1" lang="en-US" altLang="en-US" sz="1000" smtClean="0">
                <a:latin typeface="HarmonyOS Sans SC" pitchFamily="2" charset="-122"/>
                <a:ea typeface="HarmonyOS Sans SC" pitchFamily="2" charset="-122"/>
              </a:rPr>
              <a:pPr/>
              <a:t>0%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76" name="文本占位符 2">
            <a:extLst>
              <a:ext uri="{FF2B5EF4-FFF2-40B4-BE49-F238E27FC236}">
                <a16:creationId xmlns:a16="http://schemas.microsoft.com/office/drawing/2014/main" id="{A31E8279-0409-13EC-A8A2-34374E29E87B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 bwMode="gray">
          <a:xfrm>
            <a:off x="5705475" y="2303464"/>
            <a:ext cx="20637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89025828-A5FE-4E54-8EBD-5B9099876E8B}" type="datetime'''''3''''''''''''''''''''''%'''''''''''''''''''''''''''''''">
              <a:rPr kumimoji="1" lang="en-US" altLang="en-US" sz="1000" smtClean="0">
                <a:latin typeface="HarmonyOS Sans SC" pitchFamily="2" charset="-122"/>
                <a:ea typeface="HarmonyOS Sans SC" pitchFamily="2" charset="-122"/>
              </a:rPr>
              <a:pPr/>
              <a:t>3%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44" name="文本占位符 2">
            <a:extLst>
              <a:ext uri="{FF2B5EF4-FFF2-40B4-BE49-F238E27FC236}">
                <a16:creationId xmlns:a16="http://schemas.microsoft.com/office/drawing/2014/main" id="{B3DF23AE-3227-8AF1-A36D-2BE3EE7882EC}"/>
              </a:ext>
            </a:extLst>
          </p:cNvPr>
          <p:cNvSpPr txBox="1">
            <a:spLocks/>
          </p:cNvSpPr>
          <p:nvPr>
            <p:custDataLst>
              <p:tags r:id="rId23"/>
            </p:custDataLst>
          </p:nvPr>
        </p:nvSpPr>
        <p:spPr bwMode="gray">
          <a:xfrm>
            <a:off x="6129338" y="2603500"/>
            <a:ext cx="2794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B39F864-ECCA-4361-9321-ACA2C63A0736}" type="datetime'''''''''''''''''''''''''21''''''''''''''%'">
              <a:rPr kumimoji="1" lang="en-US" altLang="en-US" sz="10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21%</a:t>
            </a:fld>
            <a:endParaRPr kumimoji="1" lang="zh-CN" altLang="en-US" sz="10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78" name="文本占位符 2">
            <a:extLst>
              <a:ext uri="{FF2B5EF4-FFF2-40B4-BE49-F238E27FC236}">
                <a16:creationId xmlns:a16="http://schemas.microsoft.com/office/drawing/2014/main" id="{254D94FE-6C14-FB47-6AA7-661AE3F24D60}"/>
              </a:ext>
            </a:extLst>
          </p:cNvPr>
          <p:cNvSpPr txBox="1">
            <a:spLocks/>
          </p:cNvSpPr>
          <p:nvPr>
            <p:custDataLst>
              <p:tags r:id="rId24"/>
            </p:custDataLst>
          </p:nvPr>
        </p:nvSpPr>
        <p:spPr bwMode="gray">
          <a:xfrm>
            <a:off x="6019800" y="2905126"/>
            <a:ext cx="20637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F41FA748-DD85-484B-9DB3-2F1E33510633}" type="datetime'7''''%'''''''''''''''''''''''''''''">
              <a:rPr kumimoji="1" lang="en-US" altLang="en-US" sz="1000" smtClean="0">
                <a:latin typeface="HarmonyOS Sans SC" pitchFamily="2" charset="-122"/>
                <a:ea typeface="HarmonyOS Sans SC" pitchFamily="2" charset="-122"/>
              </a:rPr>
              <a:pPr/>
              <a:t>7%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79" name="文本占位符 2">
            <a:extLst>
              <a:ext uri="{FF2B5EF4-FFF2-40B4-BE49-F238E27FC236}">
                <a16:creationId xmlns:a16="http://schemas.microsoft.com/office/drawing/2014/main" id="{A06E867E-D1E8-1714-3A2E-2CF719D5F686}"/>
              </a:ext>
            </a:extLst>
          </p:cNvPr>
          <p:cNvSpPr txBox="1">
            <a:spLocks/>
          </p:cNvSpPr>
          <p:nvPr>
            <p:custDataLst>
              <p:tags r:id="rId25"/>
            </p:custDataLst>
          </p:nvPr>
        </p:nvSpPr>
        <p:spPr bwMode="gray">
          <a:xfrm>
            <a:off x="6254749" y="3205164"/>
            <a:ext cx="2794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454B2782-01AD-413C-A4BA-763D6831ADA4}" type="datetime'''''''''1''''''0''''''%'''''''''''''''''''''''''''''">
              <a:rPr kumimoji="1" lang="en-US" altLang="en-US" sz="1000" smtClean="0">
                <a:latin typeface="HarmonyOS Sans SC" pitchFamily="2" charset="-122"/>
                <a:ea typeface="HarmonyOS Sans SC" pitchFamily="2" charset="-122"/>
              </a:rPr>
              <a:pPr/>
              <a:t>10%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41" name="文本占位符 2">
            <a:extLst>
              <a:ext uri="{FF2B5EF4-FFF2-40B4-BE49-F238E27FC236}">
                <a16:creationId xmlns:a16="http://schemas.microsoft.com/office/drawing/2014/main" id="{5DACA42A-FAAE-5A8C-D870-1575667BF632}"/>
              </a:ext>
            </a:extLst>
          </p:cNvPr>
          <p:cNvSpPr txBox="1">
            <a:spLocks/>
          </p:cNvSpPr>
          <p:nvPr>
            <p:custDataLst>
              <p:tags r:id="rId26"/>
            </p:custDataLst>
          </p:nvPr>
        </p:nvSpPr>
        <p:spPr bwMode="auto">
          <a:xfrm>
            <a:off x="5816600" y="3654425"/>
            <a:ext cx="58896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Average:9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85" name="文本占位符 2">
            <a:extLst>
              <a:ext uri="{FF2B5EF4-FFF2-40B4-BE49-F238E27FC236}">
                <a16:creationId xmlns:a16="http://schemas.microsoft.com/office/drawing/2014/main" id="{FB86367F-E85D-C228-85BB-8BC10957C1CF}"/>
              </a:ext>
            </a:extLst>
          </p:cNvPr>
          <p:cNvSpPr txBox="1">
            <a:spLocks/>
          </p:cNvSpPr>
          <p:nvPr>
            <p:custDataLst>
              <p:tags r:id="rId27"/>
            </p:custDataLst>
          </p:nvPr>
        </p:nvSpPr>
        <p:spPr bwMode="gray">
          <a:xfrm>
            <a:off x="7224714" y="2603500"/>
            <a:ext cx="20637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E2C7CC5-3965-46F7-BBB1-563A3A5D3349}" type="datetime'''''''''''''''''''''''''''''''''6''''''''''''''''''%'''''''''">
              <a:rPr kumimoji="1" lang="en-US" altLang="en-US" sz="10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6%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77" name="文本占位符 2">
            <a:extLst>
              <a:ext uri="{FF2B5EF4-FFF2-40B4-BE49-F238E27FC236}">
                <a16:creationId xmlns:a16="http://schemas.microsoft.com/office/drawing/2014/main" id="{0FE22483-D04D-6CF5-4611-0D79FC23BA11}"/>
              </a:ext>
            </a:extLst>
          </p:cNvPr>
          <p:cNvSpPr txBox="1">
            <a:spLocks/>
          </p:cNvSpPr>
          <p:nvPr>
            <p:custDataLst>
              <p:tags r:id="rId28"/>
            </p:custDataLst>
          </p:nvPr>
        </p:nvSpPr>
        <p:spPr bwMode="gray">
          <a:xfrm>
            <a:off x="7588249" y="2603501"/>
            <a:ext cx="2794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302E06FA-59E5-4BC1-B006-2020A34142A1}" type="datetime'''''2''''''''''''''''''''''''''''''''''''7%'''''">
              <a:rPr kumimoji="1" lang="en-US" altLang="en-US" sz="1000" smtClean="0">
                <a:latin typeface="HarmonyOS Sans SC" pitchFamily="2" charset="-122"/>
                <a:ea typeface="HarmonyOS Sans SC" pitchFamily="2" charset="-122"/>
              </a:rPr>
              <a:pPr/>
              <a:t>27%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graphicFrame>
        <p:nvGraphicFramePr>
          <p:cNvPr id="219" name="Chart 3">
            <a:extLst>
              <a:ext uri="{FF2B5EF4-FFF2-40B4-BE49-F238E27FC236}">
                <a16:creationId xmlns:a16="http://schemas.microsoft.com/office/drawing/2014/main" id="{3BCBF669-E67D-8902-0060-CC76F6E702C3}"/>
              </a:ext>
            </a:extLst>
          </p:cNvPr>
          <p:cNvGraphicFramePr/>
          <p:nvPr>
            <p:custDataLst>
              <p:tags r:id="rId29"/>
            </p:custDataLst>
          </p:nvPr>
        </p:nvGraphicFramePr>
        <p:xfrm>
          <a:off x="8815388" y="1839913"/>
          <a:ext cx="2282825" cy="1666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9"/>
          </a:graphicData>
        </a:graphic>
      </p:graphicFrame>
      <p:cxnSp>
        <p:nvCxnSpPr>
          <p:cNvPr id="191" name="直线连接符 190">
            <a:extLst>
              <a:ext uri="{FF2B5EF4-FFF2-40B4-BE49-F238E27FC236}">
                <a16:creationId xmlns:a16="http://schemas.microsoft.com/office/drawing/2014/main" id="{E9070E05-B99F-02B6-1E40-CD743B798635}"/>
              </a:ext>
            </a:extLst>
          </p:cNvPr>
          <p:cNvCxnSpPr/>
          <p:nvPr>
            <p:custDataLst>
              <p:tags r:id="rId30"/>
            </p:custDataLst>
          </p:nvPr>
        </p:nvCxnSpPr>
        <p:spPr bwMode="auto">
          <a:xfrm>
            <a:off x="9805988" y="1922463"/>
            <a:ext cx="0" cy="1501775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1" name="右箭头 150">
            <a:extLst>
              <a:ext uri="{FF2B5EF4-FFF2-40B4-BE49-F238E27FC236}">
                <a16:creationId xmlns:a16="http://schemas.microsoft.com/office/drawing/2014/main" id="{F38DE310-01F6-5E00-1221-D239FB4978F0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 rot="16200000">
            <a:off x="9742488" y="3462338"/>
            <a:ext cx="128588" cy="152400"/>
          </a:xfrm>
          <a:prstGeom prst="rightArrow">
            <a:avLst>
              <a:gd name="adj1" fmla="val 100000"/>
              <a:gd name="adj2" fmla="val 100000"/>
            </a:avLst>
          </a:prstGeom>
          <a:solidFill>
            <a:schemeClr val="tx1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2" name="文本占位符 2">
            <a:extLst>
              <a:ext uri="{FF2B5EF4-FFF2-40B4-BE49-F238E27FC236}">
                <a16:creationId xmlns:a16="http://schemas.microsoft.com/office/drawing/2014/main" id="{1F823A1D-1726-7673-DEF2-3635CCE09A72}"/>
              </a:ext>
            </a:extLst>
          </p:cNvPr>
          <p:cNvSpPr txBox="1">
            <a:spLocks/>
          </p:cNvSpPr>
          <p:nvPr>
            <p:custDataLst>
              <p:tags r:id="rId32"/>
            </p:custDataLst>
          </p:nvPr>
        </p:nvSpPr>
        <p:spPr bwMode="auto">
          <a:xfrm>
            <a:off x="9474199" y="3654425"/>
            <a:ext cx="661988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Average:12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04" name="文本占位符 2">
            <a:extLst>
              <a:ext uri="{FF2B5EF4-FFF2-40B4-BE49-F238E27FC236}">
                <a16:creationId xmlns:a16="http://schemas.microsoft.com/office/drawing/2014/main" id="{C7F43831-262B-6CC4-72AA-EFA15909A2F5}"/>
              </a:ext>
            </a:extLst>
          </p:cNvPr>
          <p:cNvSpPr txBox="1">
            <a:spLocks/>
          </p:cNvSpPr>
          <p:nvPr>
            <p:custDataLst>
              <p:tags r:id="rId33"/>
            </p:custDataLst>
          </p:nvPr>
        </p:nvSpPr>
        <p:spPr bwMode="gray">
          <a:xfrm>
            <a:off x="9150350" y="2003426"/>
            <a:ext cx="20637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743A5CD2-30DF-4E08-A0EB-289930CF4895}" type="datetime'''''''3''''''''''''%'''''">
              <a:rPr kumimoji="1" lang="en-US" altLang="en-US" sz="1000" smtClean="0">
                <a:latin typeface="HarmonyOS Sans SC" pitchFamily="2" charset="-122"/>
                <a:ea typeface="HarmonyOS Sans SC" pitchFamily="2" charset="-122"/>
              </a:rPr>
              <a:pPr/>
              <a:t>3%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54" name="文本占位符 2">
            <a:extLst>
              <a:ext uri="{FF2B5EF4-FFF2-40B4-BE49-F238E27FC236}">
                <a16:creationId xmlns:a16="http://schemas.microsoft.com/office/drawing/2014/main" id="{095EEACD-44C8-F120-BC5E-29B1B8AC861F}"/>
              </a:ext>
            </a:extLst>
          </p:cNvPr>
          <p:cNvSpPr txBox="1">
            <a:spLocks/>
          </p:cNvSpPr>
          <p:nvPr>
            <p:custDataLst>
              <p:tags r:id="rId34"/>
            </p:custDataLst>
          </p:nvPr>
        </p:nvSpPr>
        <p:spPr bwMode="gray">
          <a:xfrm>
            <a:off x="9513888" y="2603500"/>
            <a:ext cx="2794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FAE92087-CF5F-4148-9787-65268DF44F98}" type="datetime'20''%'''''''''''''''">
              <a:rPr kumimoji="1" lang="en-US" altLang="en-US" sz="1000" smtClean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pPr/>
              <a:t>20%</a:t>
            </a:fld>
            <a:endParaRPr kumimoji="1" lang="zh-CN" altLang="en-US" sz="10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06" name="文本占位符 2">
            <a:extLst>
              <a:ext uri="{FF2B5EF4-FFF2-40B4-BE49-F238E27FC236}">
                <a16:creationId xmlns:a16="http://schemas.microsoft.com/office/drawing/2014/main" id="{B884E60E-ED80-8636-4FDE-823F8143387B}"/>
              </a:ext>
            </a:extLst>
          </p:cNvPr>
          <p:cNvSpPr txBox="1">
            <a:spLocks/>
          </p:cNvSpPr>
          <p:nvPr>
            <p:custDataLst>
              <p:tags r:id="rId35"/>
            </p:custDataLst>
          </p:nvPr>
        </p:nvSpPr>
        <p:spPr bwMode="gray">
          <a:xfrm>
            <a:off x="11041062" y="2603501"/>
            <a:ext cx="2794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66093220-00E1-40B9-9D31-6DA1582FE2D1}" type="datetime'2''''''''''''''''''''''''''''''''8%'''''">
              <a:rPr kumimoji="1" lang="en-US" altLang="en-US" sz="1000" smtClean="0">
                <a:latin typeface="HarmonyOS Sans SC" pitchFamily="2" charset="-122"/>
                <a:ea typeface="HarmonyOS Sans SC" pitchFamily="2" charset="-122"/>
              </a:rPr>
              <a:pPr/>
              <a:t>28%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07" name="文本占位符 2">
            <a:extLst>
              <a:ext uri="{FF2B5EF4-FFF2-40B4-BE49-F238E27FC236}">
                <a16:creationId xmlns:a16="http://schemas.microsoft.com/office/drawing/2014/main" id="{3101ECF7-66F3-AA6B-6F28-14B99FFA3EC4}"/>
              </a:ext>
            </a:extLst>
          </p:cNvPr>
          <p:cNvSpPr txBox="1">
            <a:spLocks/>
          </p:cNvSpPr>
          <p:nvPr>
            <p:custDataLst>
              <p:tags r:id="rId36"/>
            </p:custDataLst>
          </p:nvPr>
        </p:nvSpPr>
        <p:spPr bwMode="gray">
          <a:xfrm>
            <a:off x="10058399" y="2905126"/>
            <a:ext cx="2794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196ABDC7-9B8A-4490-824D-4C18DB475A59}" type="datetime'''''''''''''''''''''1''''''''''''''''''''''5''''''%'''''''">
              <a:rPr kumimoji="1" lang="en-US" altLang="en-US" sz="1000" smtClean="0">
                <a:latin typeface="HarmonyOS Sans SC" pitchFamily="2" charset="-122"/>
                <a:ea typeface="HarmonyOS Sans SC" pitchFamily="2" charset="-122"/>
              </a:rPr>
              <a:pPr/>
              <a:t>15%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08" name="文本占位符 2">
            <a:extLst>
              <a:ext uri="{FF2B5EF4-FFF2-40B4-BE49-F238E27FC236}">
                <a16:creationId xmlns:a16="http://schemas.microsoft.com/office/drawing/2014/main" id="{F12787A6-6E62-BD39-DDEE-4E74657F9D76}"/>
              </a:ext>
            </a:extLst>
          </p:cNvPr>
          <p:cNvSpPr txBox="1">
            <a:spLocks/>
          </p:cNvSpPr>
          <p:nvPr>
            <p:custDataLst>
              <p:tags r:id="rId37"/>
            </p:custDataLst>
          </p:nvPr>
        </p:nvSpPr>
        <p:spPr bwMode="gray">
          <a:xfrm>
            <a:off x="9528175" y="3205164"/>
            <a:ext cx="20637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91913AD7-70B4-4C8E-9A83-71AAC44D0B01}" type="datetime'8''''''''''''''''''%'">
              <a:rPr kumimoji="1" lang="en-US" altLang="en-US" sz="1000" smtClean="0">
                <a:latin typeface="HarmonyOS Sans SC" pitchFamily="2" charset="-122"/>
                <a:ea typeface="HarmonyOS Sans SC" pitchFamily="2" charset="-122"/>
              </a:rPr>
              <a:pPr/>
              <a:t>8%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11" name="文本占位符 2">
            <a:extLst>
              <a:ext uri="{FF2B5EF4-FFF2-40B4-BE49-F238E27FC236}">
                <a16:creationId xmlns:a16="http://schemas.microsoft.com/office/drawing/2014/main" id="{CC334491-CD4E-939E-445B-1567FFCAA353}"/>
              </a:ext>
            </a:extLst>
          </p:cNvPr>
          <p:cNvSpPr txBox="1">
            <a:spLocks/>
          </p:cNvSpPr>
          <p:nvPr>
            <p:custDataLst>
              <p:tags r:id="rId38"/>
            </p:custDataLst>
          </p:nvPr>
        </p:nvSpPr>
        <p:spPr bwMode="gray">
          <a:xfrm>
            <a:off x="10609264" y="2603500"/>
            <a:ext cx="20637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EA2F730B-F4BB-433B-A238-B399508C5335}" type="datetime'''''8''''''''''''''''''''''''''''%'''''''">
              <a:rPr kumimoji="1" lang="en-US" altLang="en-US" sz="10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8%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05" name="文本占位符 2">
            <a:extLst>
              <a:ext uri="{FF2B5EF4-FFF2-40B4-BE49-F238E27FC236}">
                <a16:creationId xmlns:a16="http://schemas.microsoft.com/office/drawing/2014/main" id="{4FE20816-7775-9F3B-9893-A96674CF10FA}"/>
              </a:ext>
            </a:extLst>
          </p:cNvPr>
          <p:cNvSpPr txBox="1">
            <a:spLocks/>
          </p:cNvSpPr>
          <p:nvPr>
            <p:custDataLst>
              <p:tags r:id="rId39"/>
            </p:custDataLst>
          </p:nvPr>
        </p:nvSpPr>
        <p:spPr bwMode="gray">
          <a:xfrm>
            <a:off x="9377363" y="2303464"/>
            <a:ext cx="20637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7170EC6C-8200-44A4-97BC-C765721E970D}" type="datetime'''6''''''''''''''''%'''''''''''''''''''''">
              <a:rPr kumimoji="1" lang="en-US" altLang="en-US" sz="1000" smtClean="0">
                <a:latin typeface="HarmonyOS Sans SC" pitchFamily="2" charset="-122"/>
                <a:ea typeface="HarmonyOS Sans SC" pitchFamily="2" charset="-122"/>
              </a:rPr>
              <a:pPr/>
              <a:t>6%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20" name="文本框 219">
            <a:extLst>
              <a:ext uri="{FF2B5EF4-FFF2-40B4-BE49-F238E27FC236}">
                <a16:creationId xmlns:a16="http://schemas.microsoft.com/office/drawing/2014/main" id="{00DA19F2-F6BA-F645-35E1-2A98AAA5FFB6}"/>
              </a:ext>
            </a:extLst>
          </p:cNvPr>
          <p:cNvSpPr txBox="1"/>
          <p:nvPr/>
        </p:nvSpPr>
        <p:spPr>
          <a:xfrm>
            <a:off x="5221289" y="1395713"/>
            <a:ext cx="15712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Contending cities</a:t>
            </a:r>
          </a:p>
          <a:p>
            <a:pPr algn="ctr"/>
            <a:r>
              <a:rPr kumimoji="1" lang="zh-CN" altLang="en-US" sz="12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positions 11-18</a:t>
            </a:r>
            <a:r>
              <a:rPr kumimoji="1" lang="zh-CN" altLang="en-US" sz="1200" dirty="0">
                <a:latin typeface="HarmonyOS Sans SC Light" pitchFamily="2" charset="-122"/>
                <a:ea typeface="HarmonyOS Sans SC Light" pitchFamily="2" charset="-122"/>
              </a:rPr>
              <a:t>）</a:t>
            </a:r>
          </a:p>
        </p:txBody>
      </p:sp>
      <p:sp>
        <p:nvSpPr>
          <p:cNvPr id="221" name="文本框 220">
            <a:extLst>
              <a:ext uri="{FF2B5EF4-FFF2-40B4-BE49-F238E27FC236}">
                <a16:creationId xmlns:a16="http://schemas.microsoft.com/office/drawing/2014/main" id="{78026672-58CE-3C2C-6CEB-805A3C565998}"/>
              </a:ext>
            </a:extLst>
          </p:cNvPr>
          <p:cNvSpPr txBox="1"/>
          <p:nvPr/>
        </p:nvSpPr>
        <p:spPr>
          <a:xfrm>
            <a:off x="8632557" y="1402074"/>
            <a:ext cx="15712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Emerging cities</a:t>
            </a:r>
          </a:p>
          <a:p>
            <a:pPr algn="ctr"/>
            <a:r>
              <a:rPr kumimoji="1" lang="zh-CN" altLang="en-US" sz="12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positions 19-25</a:t>
            </a:r>
            <a:r>
              <a:rPr kumimoji="1" lang="zh-CN" altLang="en-US" sz="1200" dirty="0">
                <a:latin typeface="HarmonyOS Sans SC Light" pitchFamily="2" charset="-122"/>
                <a:ea typeface="HarmonyOS Sans SC Light" pitchFamily="2" charset="-122"/>
              </a:rPr>
              <a:t>）</a:t>
            </a:r>
          </a:p>
        </p:txBody>
      </p:sp>
      <p:sp>
        <p:nvSpPr>
          <p:cNvPr id="222" name="文本框 221">
            <a:extLst>
              <a:ext uri="{FF2B5EF4-FFF2-40B4-BE49-F238E27FC236}">
                <a16:creationId xmlns:a16="http://schemas.microsoft.com/office/drawing/2014/main" id="{3DF284B3-B5EB-0DF2-F5B9-B85BE1EF0BEC}"/>
              </a:ext>
            </a:extLst>
          </p:cNvPr>
          <p:cNvSpPr txBox="1"/>
          <p:nvPr/>
        </p:nvSpPr>
        <p:spPr>
          <a:xfrm>
            <a:off x="386207" y="3897313"/>
            <a:ext cx="6942926" cy="307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City residents’ level of satisfaction with the current situation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，</a:t>
            </a:r>
            <a:r>
              <a:rPr kumimoji="1" lang="en-US" altLang="zh-CN" sz="1400" baseline="30000" dirty="0">
                <a:latin typeface="HarmonyOS Sans SC" pitchFamily="2" charset="-122"/>
                <a:ea typeface="HarmonyOS Sans SC" pitchFamily="2" charset="-122"/>
              </a:rPr>
              <a:t>1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 </a:t>
            </a:r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scale of -10 to +10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382" name="Chart 3">
            <a:extLst>
              <a:ext uri="{FF2B5EF4-FFF2-40B4-BE49-F238E27FC236}">
                <a16:creationId xmlns:a16="http://schemas.microsoft.com/office/drawing/2014/main" id="{A1A19C14-E8AF-4ECF-88F0-6981745146C7}"/>
              </a:ext>
            </a:extLst>
          </p:cNvPr>
          <p:cNvGraphicFramePr/>
          <p:nvPr>
            <p:custDataLst>
              <p:tags r:id="rId40"/>
            </p:custDataLst>
          </p:nvPr>
        </p:nvGraphicFramePr>
        <p:xfrm>
          <a:off x="1990725" y="4694238"/>
          <a:ext cx="2282825" cy="1666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0"/>
          </a:graphicData>
        </a:graphic>
      </p:graphicFrame>
      <p:cxnSp>
        <p:nvCxnSpPr>
          <p:cNvPr id="315" name="直线连接符 314">
            <a:extLst>
              <a:ext uri="{FF2B5EF4-FFF2-40B4-BE49-F238E27FC236}">
                <a16:creationId xmlns:a16="http://schemas.microsoft.com/office/drawing/2014/main" id="{A4C43865-450E-1A7D-7F48-43BE68201CE2}"/>
              </a:ext>
            </a:extLst>
          </p:cNvPr>
          <p:cNvCxnSpPr/>
          <p:nvPr>
            <p:custDataLst>
              <p:tags r:id="rId41"/>
            </p:custDataLst>
          </p:nvPr>
        </p:nvCxnSpPr>
        <p:spPr bwMode="auto">
          <a:xfrm>
            <a:off x="3557588" y="4776788"/>
            <a:ext cx="0" cy="1501775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5" name="右箭头 224">
            <a:extLst>
              <a:ext uri="{FF2B5EF4-FFF2-40B4-BE49-F238E27FC236}">
                <a16:creationId xmlns:a16="http://schemas.microsoft.com/office/drawing/2014/main" id="{A91A231F-5E61-1BA4-576D-C5D12BADAD1E}"/>
              </a:ext>
            </a:extLst>
          </p:cNvPr>
          <p:cNvSpPr/>
          <p:nvPr>
            <p:custDataLst>
              <p:tags r:id="rId42"/>
            </p:custDataLst>
          </p:nvPr>
        </p:nvSpPr>
        <p:spPr bwMode="auto">
          <a:xfrm rot="16200000">
            <a:off x="3494088" y="6316663"/>
            <a:ext cx="128588" cy="152400"/>
          </a:xfrm>
          <a:prstGeom prst="rightArrow">
            <a:avLst>
              <a:gd name="adj1" fmla="val 100000"/>
              <a:gd name="adj2" fmla="val 100000"/>
            </a:avLst>
          </a:prstGeom>
          <a:solidFill>
            <a:schemeClr val="tx1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9" name="文本占位符 2">
            <a:extLst>
              <a:ext uri="{FF2B5EF4-FFF2-40B4-BE49-F238E27FC236}">
                <a16:creationId xmlns:a16="http://schemas.microsoft.com/office/drawing/2014/main" id="{0DA7693D-65EA-FB6D-0554-28F7F159190C}"/>
              </a:ext>
            </a:extLst>
          </p:cNvPr>
          <p:cNvSpPr txBox="1">
            <a:spLocks/>
          </p:cNvSpPr>
          <p:nvPr>
            <p:custDataLst>
              <p:tags r:id="rId43"/>
            </p:custDataLst>
          </p:nvPr>
        </p:nvSpPr>
        <p:spPr bwMode="auto">
          <a:xfrm>
            <a:off x="536575" y="5759450"/>
            <a:ext cx="7429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2E1D8B8A-6945-4537-A406-22840C29E19F}" type="datetime'''''C''''''o''''''''''''''n''v''e''n''''''''''''''ienc''''e'">
              <a:rPr kumimoji="1" lang="en-US" altLang="en-US" sz="1000" smtClean="0">
                <a:latin typeface="HarmonyOS Sans SC" pitchFamily="2" charset="-122"/>
                <a:ea typeface="HarmonyOS Sans SC" pitchFamily="2" charset="-122"/>
              </a:rPr>
              <a:pPr/>
              <a:t>Convenience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37" name="文本占位符 2">
            <a:extLst>
              <a:ext uri="{FF2B5EF4-FFF2-40B4-BE49-F238E27FC236}">
                <a16:creationId xmlns:a16="http://schemas.microsoft.com/office/drawing/2014/main" id="{4FBC0488-669F-754A-71AA-81561AAAE50E}"/>
              </a:ext>
            </a:extLst>
          </p:cNvPr>
          <p:cNvSpPr txBox="1">
            <a:spLocks/>
          </p:cNvSpPr>
          <p:nvPr>
            <p:custDataLst>
              <p:tags r:id="rId44"/>
            </p:custDataLst>
          </p:nvPr>
        </p:nvSpPr>
        <p:spPr bwMode="auto">
          <a:xfrm>
            <a:off x="536575" y="5991225"/>
            <a:ext cx="1450975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AF61AA9D-E4AE-44BD-A9DB-04DE4F37571C}" type="datetime'''''S''afety and&#10;s''ustainab''le ''d''ev''''''e''''lo''pment'">
              <a:rPr kumimoji="1" lang="en-US" altLang="en-US" sz="1000" smtClean="0">
                <a:latin typeface="HarmonyOS Sans SC" pitchFamily="2" charset="-122"/>
                <a:ea typeface="HarmonyOS Sans SC" pitchFamily="2" charset="-122"/>
              </a:rPr>
              <a:pPr/>
              <a:t>Safety and
sustainable development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33" name="文本占位符 2">
            <a:extLst>
              <a:ext uri="{FF2B5EF4-FFF2-40B4-BE49-F238E27FC236}">
                <a16:creationId xmlns:a16="http://schemas.microsoft.com/office/drawing/2014/main" id="{1C750A45-F70B-78CB-A721-05460D767CA3}"/>
              </a:ext>
            </a:extLst>
          </p:cNvPr>
          <p:cNvSpPr txBox="1">
            <a:spLocks/>
          </p:cNvSpPr>
          <p:nvPr>
            <p:custDataLst>
              <p:tags r:id="rId45"/>
            </p:custDataLst>
          </p:nvPr>
        </p:nvSpPr>
        <p:spPr bwMode="auto">
          <a:xfrm>
            <a:off x="3175000" y="6508750"/>
            <a:ext cx="763588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Average:0.81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34" name="文本占位符 2">
            <a:extLst>
              <a:ext uri="{FF2B5EF4-FFF2-40B4-BE49-F238E27FC236}">
                <a16:creationId xmlns:a16="http://schemas.microsoft.com/office/drawing/2014/main" id="{C20744EF-2377-E547-C1E7-255C18BF4235}"/>
              </a:ext>
            </a:extLst>
          </p:cNvPr>
          <p:cNvSpPr txBox="1">
            <a:spLocks/>
          </p:cNvSpPr>
          <p:nvPr>
            <p:custDataLst>
              <p:tags r:id="rId46"/>
            </p:custDataLst>
          </p:nvPr>
        </p:nvSpPr>
        <p:spPr bwMode="auto">
          <a:xfrm>
            <a:off x="536575" y="5457825"/>
            <a:ext cx="5588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EEAB3769-4E11-43F3-9F12-CE10EBC7B9B2}" type="datetime'''''E''f''f''''''''''i''''c''''i''e''''''n''c''y'''''''''''">
              <a:rPr kumimoji="1" lang="en-US" altLang="en-US" sz="1000" smtClean="0">
                <a:latin typeface="HarmonyOS Sans SC" pitchFamily="2" charset="-122"/>
                <a:ea typeface="HarmonyOS Sans SC" pitchFamily="2" charset="-122"/>
              </a:rPr>
              <a:pPr/>
              <a:t>Efficiency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30" name="文本占位符 2">
            <a:extLst>
              <a:ext uri="{FF2B5EF4-FFF2-40B4-BE49-F238E27FC236}">
                <a16:creationId xmlns:a16="http://schemas.microsoft.com/office/drawing/2014/main" id="{A73DDBAD-F8D1-1C64-3D43-2714D33364B3}"/>
              </a:ext>
            </a:extLst>
          </p:cNvPr>
          <p:cNvSpPr txBox="1">
            <a:spLocks/>
          </p:cNvSpPr>
          <p:nvPr>
            <p:custDataLst>
              <p:tags r:id="rId47"/>
            </p:custDataLst>
          </p:nvPr>
        </p:nvSpPr>
        <p:spPr bwMode="auto">
          <a:xfrm>
            <a:off x="536575" y="4857750"/>
            <a:ext cx="630238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9BC36F1E-289C-47B7-927A-A430D29C39A3}" type="datetime'''''''Av''''''''a''''i''''''''''''''''''''lab''''i''''lit''y'">
              <a:rPr kumimoji="1" lang="en-US" altLang="en-US" sz="1000" smtClean="0">
                <a:latin typeface="HarmonyOS Sans SC" pitchFamily="2" charset="-122"/>
                <a:ea typeface="HarmonyOS Sans SC" pitchFamily="2" charset="-122"/>
              </a:rPr>
              <a:pPr/>
              <a:t>Availability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99" name="文本占位符 2">
            <a:extLst>
              <a:ext uri="{FF2B5EF4-FFF2-40B4-BE49-F238E27FC236}">
                <a16:creationId xmlns:a16="http://schemas.microsoft.com/office/drawing/2014/main" id="{A6FDB215-53F1-46C9-8C3C-ECBF983BBC17}"/>
              </a:ext>
            </a:extLst>
          </p:cNvPr>
          <p:cNvSpPr txBox="1">
            <a:spLocks/>
          </p:cNvSpPr>
          <p:nvPr>
            <p:custDataLst>
              <p:tags r:id="rId48"/>
            </p:custDataLst>
          </p:nvPr>
        </p:nvSpPr>
        <p:spPr bwMode="gray">
          <a:xfrm>
            <a:off x="3663950" y="5157788"/>
            <a:ext cx="28416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76363F1A-FE71-4888-B5F9-8BCC06EF7C2F}" type="datetime'''''''0'',''8''''''''''''''''''''''''''''5'''">
              <a:rPr kumimoji="1" lang="zh-CN" altLang="en-US" sz="10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0,85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00" name="文本占位符 2">
            <a:extLst>
              <a:ext uri="{FF2B5EF4-FFF2-40B4-BE49-F238E27FC236}">
                <a16:creationId xmlns:a16="http://schemas.microsoft.com/office/drawing/2014/main" id="{29C076D8-D914-31F7-2B6F-8C98D2ED7883}"/>
              </a:ext>
            </a:extLst>
          </p:cNvPr>
          <p:cNvSpPr txBox="1">
            <a:spLocks/>
          </p:cNvSpPr>
          <p:nvPr>
            <p:custDataLst>
              <p:tags r:id="rId49"/>
            </p:custDataLst>
          </p:nvPr>
        </p:nvSpPr>
        <p:spPr bwMode="gray">
          <a:xfrm>
            <a:off x="4216400" y="5457825"/>
            <a:ext cx="28416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4920514F-FD63-45F2-A5DD-6CAAA714B5A9}" type="datetime'''1'''''''''''''''''''''',''''''''''''''15'''''''''''''''">
              <a:rPr kumimoji="1" lang="zh-CN" altLang="en-US" sz="10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1,15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01" name="文本占位符 2">
            <a:extLst>
              <a:ext uri="{FF2B5EF4-FFF2-40B4-BE49-F238E27FC236}">
                <a16:creationId xmlns:a16="http://schemas.microsoft.com/office/drawing/2014/main" id="{00C42886-C9FC-AA00-CC98-5AE4D4C46CFD}"/>
              </a:ext>
            </a:extLst>
          </p:cNvPr>
          <p:cNvSpPr txBox="1">
            <a:spLocks/>
          </p:cNvSpPr>
          <p:nvPr>
            <p:custDataLst>
              <p:tags r:id="rId50"/>
            </p:custDataLst>
          </p:nvPr>
        </p:nvSpPr>
        <p:spPr bwMode="gray">
          <a:xfrm>
            <a:off x="2908300" y="5759450"/>
            <a:ext cx="28416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538BB7D0-8910-4E1C-8FFC-66566098BA75}" type="datetime'0'''',''''''''''''''''''''''''''''''4''4'">
              <a:rPr kumimoji="1" lang="zh-CN" altLang="en-US" sz="10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0,44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02" name="文本占位符 2">
            <a:extLst>
              <a:ext uri="{FF2B5EF4-FFF2-40B4-BE49-F238E27FC236}">
                <a16:creationId xmlns:a16="http://schemas.microsoft.com/office/drawing/2014/main" id="{FBB9221B-56AF-E78B-D01A-422B6A6E0803}"/>
              </a:ext>
            </a:extLst>
          </p:cNvPr>
          <p:cNvSpPr txBox="1">
            <a:spLocks/>
          </p:cNvSpPr>
          <p:nvPr>
            <p:custDataLst>
              <p:tags r:id="rId51"/>
            </p:custDataLst>
          </p:nvPr>
        </p:nvSpPr>
        <p:spPr bwMode="gray">
          <a:xfrm>
            <a:off x="3921125" y="6059488"/>
            <a:ext cx="28416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6455BE64-AC50-4A36-8A90-E60D9560DB38}" type="datetime'''''''''0'''''''''',''''''''''''''''''''''9''''''''9'''''''">
              <a:rPr kumimoji="1" lang="zh-CN" altLang="en-US" sz="10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0,99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35" name="文本占位符 2">
            <a:extLst>
              <a:ext uri="{FF2B5EF4-FFF2-40B4-BE49-F238E27FC236}">
                <a16:creationId xmlns:a16="http://schemas.microsoft.com/office/drawing/2014/main" id="{81FFDE8B-BFB8-EEAE-4C05-DA2186E57611}"/>
              </a:ext>
            </a:extLst>
          </p:cNvPr>
          <p:cNvSpPr txBox="1">
            <a:spLocks/>
          </p:cNvSpPr>
          <p:nvPr>
            <p:custDataLst>
              <p:tags r:id="rId52"/>
            </p:custDataLst>
          </p:nvPr>
        </p:nvSpPr>
        <p:spPr bwMode="auto">
          <a:xfrm>
            <a:off x="536575" y="5157788"/>
            <a:ext cx="7239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B039B52E-AC96-4550-B698-A0A92013479C}" type="datetime'''''Affor''''da''''''''bi''''li''''''''''''''''ty'''''">
              <a:rPr kumimoji="1" lang="en-US" altLang="en-US" sz="1000" smtClean="0">
                <a:latin typeface="HarmonyOS Sans SC" pitchFamily="2" charset="-122"/>
                <a:ea typeface="HarmonyOS Sans SC" pitchFamily="2" charset="-122"/>
              </a:rPr>
              <a:pPr/>
              <a:t>Affordability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98" name="文本占位符 2">
            <a:extLst>
              <a:ext uri="{FF2B5EF4-FFF2-40B4-BE49-F238E27FC236}">
                <a16:creationId xmlns:a16="http://schemas.microsoft.com/office/drawing/2014/main" id="{45ED8A6A-3429-9C77-E860-753D1B30D417}"/>
              </a:ext>
            </a:extLst>
          </p:cNvPr>
          <p:cNvSpPr txBox="1">
            <a:spLocks/>
          </p:cNvSpPr>
          <p:nvPr>
            <p:custDataLst>
              <p:tags r:id="rId53"/>
            </p:custDataLst>
          </p:nvPr>
        </p:nvSpPr>
        <p:spPr bwMode="gray">
          <a:xfrm>
            <a:off x="3203575" y="4857750"/>
            <a:ext cx="28416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7F1DA72A-1D5D-4AF5-BA3A-AA185A3E93D9}" type="datetime'0,60'''''''''''''''''''''''''''''''''''''''''''''''''''''''''">
              <a:rPr kumimoji="1" lang="zh-CN" altLang="en-US" sz="10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0,60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38" name="文本框 237">
            <a:extLst>
              <a:ext uri="{FF2B5EF4-FFF2-40B4-BE49-F238E27FC236}">
                <a16:creationId xmlns:a16="http://schemas.microsoft.com/office/drawing/2014/main" id="{967C7093-C15A-6CB0-4966-A1B6532C80AC}"/>
              </a:ext>
            </a:extLst>
          </p:cNvPr>
          <p:cNvSpPr txBox="1"/>
          <p:nvPr/>
        </p:nvSpPr>
        <p:spPr>
          <a:xfrm>
            <a:off x="1828800" y="4252913"/>
            <a:ext cx="1511300" cy="4619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Leading cities</a:t>
            </a:r>
          </a:p>
          <a:p>
            <a:pPr algn="ctr"/>
            <a:r>
              <a:rPr kumimoji="1" lang="zh-CN" altLang="en-US" sz="12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positions 1-10</a:t>
            </a:r>
            <a:r>
              <a:rPr kumimoji="1" lang="zh-CN" altLang="en-US" sz="1200" dirty="0">
                <a:latin typeface="HarmonyOS Sans SC Light" pitchFamily="2" charset="-122"/>
                <a:ea typeface="HarmonyOS Sans SC Light" pitchFamily="2" charset="-122"/>
              </a:rPr>
              <a:t>）</a:t>
            </a:r>
          </a:p>
        </p:txBody>
      </p:sp>
      <p:graphicFrame>
        <p:nvGraphicFramePr>
          <p:cNvPr id="383" name="Chart 3">
            <a:extLst>
              <a:ext uri="{FF2B5EF4-FFF2-40B4-BE49-F238E27FC236}">
                <a16:creationId xmlns:a16="http://schemas.microsoft.com/office/drawing/2014/main" id="{0037C0A6-C73D-09F8-1AF6-61A25B1A28AA}"/>
              </a:ext>
            </a:extLst>
          </p:cNvPr>
          <p:cNvGraphicFramePr/>
          <p:nvPr>
            <p:custDataLst>
              <p:tags r:id="rId54"/>
            </p:custDataLst>
          </p:nvPr>
        </p:nvGraphicFramePr>
        <p:xfrm>
          <a:off x="5362575" y="4694238"/>
          <a:ext cx="2282825" cy="1666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1"/>
          </a:graphicData>
        </a:graphic>
      </p:graphicFrame>
      <p:sp>
        <p:nvSpPr>
          <p:cNvPr id="242" name="右箭头 241">
            <a:extLst>
              <a:ext uri="{FF2B5EF4-FFF2-40B4-BE49-F238E27FC236}">
                <a16:creationId xmlns:a16="http://schemas.microsoft.com/office/drawing/2014/main" id="{B8021076-FB50-F92C-1BB8-85E8948F1209}"/>
              </a:ext>
            </a:extLst>
          </p:cNvPr>
          <p:cNvSpPr/>
          <p:nvPr>
            <p:custDataLst>
              <p:tags r:id="rId55"/>
            </p:custDataLst>
          </p:nvPr>
        </p:nvSpPr>
        <p:spPr bwMode="auto">
          <a:xfrm rot="16200000">
            <a:off x="6740525" y="6316663"/>
            <a:ext cx="128588" cy="152400"/>
          </a:xfrm>
          <a:prstGeom prst="rightArrow">
            <a:avLst>
              <a:gd name="adj1" fmla="val 100000"/>
              <a:gd name="adj2" fmla="val 100000"/>
            </a:avLst>
          </a:prstGeom>
          <a:solidFill>
            <a:schemeClr val="tx1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41" name="直线连接符 240">
            <a:extLst>
              <a:ext uri="{FF2B5EF4-FFF2-40B4-BE49-F238E27FC236}">
                <a16:creationId xmlns:a16="http://schemas.microsoft.com/office/drawing/2014/main" id="{4A461E7F-28EC-D66B-DE09-4DDD9C7DFE31}"/>
              </a:ext>
            </a:extLst>
          </p:cNvPr>
          <p:cNvCxnSpPr/>
          <p:nvPr>
            <p:custDataLst>
              <p:tags r:id="rId56"/>
            </p:custDataLst>
          </p:nvPr>
        </p:nvCxnSpPr>
        <p:spPr bwMode="auto">
          <a:xfrm>
            <a:off x="6804025" y="4776788"/>
            <a:ext cx="0" cy="1501775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9" name="文本占位符 2">
            <a:extLst>
              <a:ext uri="{FF2B5EF4-FFF2-40B4-BE49-F238E27FC236}">
                <a16:creationId xmlns:a16="http://schemas.microsoft.com/office/drawing/2014/main" id="{B42C2050-4541-A9F0-C403-4D5C3FDCBB1F}"/>
              </a:ext>
            </a:extLst>
          </p:cNvPr>
          <p:cNvSpPr txBox="1">
            <a:spLocks/>
          </p:cNvSpPr>
          <p:nvPr>
            <p:custDataLst>
              <p:tags r:id="rId57"/>
            </p:custDataLst>
          </p:nvPr>
        </p:nvSpPr>
        <p:spPr bwMode="gray">
          <a:xfrm>
            <a:off x="6013450" y="4857750"/>
            <a:ext cx="28416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7A2E5F36-D63B-41AF-950A-ADAF67FCC7E8}" type="datetime'''''''''''0,2''''''''''''''''''''''''''''''''''1'''''''''''">
              <a:rPr kumimoji="1" lang="zh-CN" altLang="en-US" sz="10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0,21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49" name="文本占位符 2">
            <a:extLst>
              <a:ext uri="{FF2B5EF4-FFF2-40B4-BE49-F238E27FC236}">
                <a16:creationId xmlns:a16="http://schemas.microsoft.com/office/drawing/2014/main" id="{3F980E2B-AC24-BD3C-ED43-87AB53B69645}"/>
              </a:ext>
            </a:extLst>
          </p:cNvPr>
          <p:cNvSpPr txBox="1">
            <a:spLocks/>
          </p:cNvSpPr>
          <p:nvPr>
            <p:custDataLst>
              <p:tags r:id="rId58"/>
            </p:custDataLst>
          </p:nvPr>
        </p:nvSpPr>
        <p:spPr bwMode="auto">
          <a:xfrm>
            <a:off x="6421438" y="6508750"/>
            <a:ext cx="763588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Average:0.53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41" name="文本占位符 2">
            <a:extLst>
              <a:ext uri="{FF2B5EF4-FFF2-40B4-BE49-F238E27FC236}">
                <a16:creationId xmlns:a16="http://schemas.microsoft.com/office/drawing/2014/main" id="{26F428A0-E7EB-481C-1CE1-1157592C18AC}"/>
              </a:ext>
            </a:extLst>
          </p:cNvPr>
          <p:cNvSpPr txBox="1">
            <a:spLocks/>
          </p:cNvSpPr>
          <p:nvPr>
            <p:custDataLst>
              <p:tags r:id="rId59"/>
            </p:custDataLst>
          </p:nvPr>
        </p:nvSpPr>
        <p:spPr bwMode="gray">
          <a:xfrm>
            <a:off x="7588250" y="5457825"/>
            <a:ext cx="28416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FBCB2709-A12B-4C89-960D-E7891FE648C6}" type="datetime'0'''''''''''''',''''''''''''''''''''8''2'''''''''''">
              <a:rPr kumimoji="1" lang="zh-CN" altLang="en-US" sz="10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0,82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42" name="文本占位符 2">
            <a:extLst>
              <a:ext uri="{FF2B5EF4-FFF2-40B4-BE49-F238E27FC236}">
                <a16:creationId xmlns:a16="http://schemas.microsoft.com/office/drawing/2014/main" id="{65D5FD6F-9E01-FFBF-5001-27789A3987CD}"/>
              </a:ext>
            </a:extLst>
          </p:cNvPr>
          <p:cNvSpPr txBox="1">
            <a:spLocks/>
          </p:cNvSpPr>
          <p:nvPr>
            <p:custDataLst>
              <p:tags r:id="rId60"/>
            </p:custDataLst>
          </p:nvPr>
        </p:nvSpPr>
        <p:spPr bwMode="gray">
          <a:xfrm>
            <a:off x="6503988" y="5759450"/>
            <a:ext cx="28416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096E40FE-8292-4EAA-AA21-5C6179451A1D}" type="datetime'0'''''',''''4''0'''''''''''''''''''''''''''">
              <a:rPr kumimoji="1" lang="zh-CN" altLang="en-US" sz="10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0,40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43" name="文本占位符 2">
            <a:extLst>
              <a:ext uri="{FF2B5EF4-FFF2-40B4-BE49-F238E27FC236}">
                <a16:creationId xmlns:a16="http://schemas.microsoft.com/office/drawing/2014/main" id="{FADF346C-68A3-607B-CE7F-A23991C57F9F}"/>
              </a:ext>
            </a:extLst>
          </p:cNvPr>
          <p:cNvSpPr txBox="1">
            <a:spLocks/>
          </p:cNvSpPr>
          <p:nvPr>
            <p:custDataLst>
              <p:tags r:id="rId61"/>
            </p:custDataLst>
          </p:nvPr>
        </p:nvSpPr>
        <p:spPr bwMode="gray">
          <a:xfrm>
            <a:off x="7175500" y="6059488"/>
            <a:ext cx="28416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78D3D8E1-BDC5-4DE9-99C4-79476E133377}" type="datetime'''''''''''''0'''''''''''''''''''''''''''''',''66'''''''''''''">
              <a:rPr kumimoji="1" lang="zh-CN" altLang="en-US" sz="10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0,66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40" name="文本占位符 2">
            <a:extLst>
              <a:ext uri="{FF2B5EF4-FFF2-40B4-BE49-F238E27FC236}">
                <a16:creationId xmlns:a16="http://schemas.microsoft.com/office/drawing/2014/main" id="{282E34C4-5286-483E-F0C1-136CB0334CAE}"/>
              </a:ext>
            </a:extLst>
          </p:cNvPr>
          <p:cNvSpPr txBox="1">
            <a:spLocks/>
          </p:cNvSpPr>
          <p:nvPr>
            <p:custDataLst>
              <p:tags r:id="rId62"/>
            </p:custDataLst>
          </p:nvPr>
        </p:nvSpPr>
        <p:spPr bwMode="gray">
          <a:xfrm>
            <a:off x="6864350" y="5157788"/>
            <a:ext cx="28416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1AC58719-634D-46C3-9E6E-C0F7C9C2107C}" type="datetime'''''''''''''''''''''''''''''''0,''''5''''''''''4'''''''''''''">
              <a:rPr kumimoji="1" lang="zh-CN" altLang="en-US" sz="10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0,54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graphicFrame>
        <p:nvGraphicFramePr>
          <p:cNvPr id="384" name="Chart 3">
            <a:extLst>
              <a:ext uri="{FF2B5EF4-FFF2-40B4-BE49-F238E27FC236}">
                <a16:creationId xmlns:a16="http://schemas.microsoft.com/office/drawing/2014/main" id="{A2205784-E1DA-DBC8-FFD2-51F3622A4B3E}"/>
              </a:ext>
            </a:extLst>
          </p:cNvPr>
          <p:cNvGraphicFramePr/>
          <p:nvPr>
            <p:custDataLst>
              <p:tags r:id="rId63"/>
            </p:custDataLst>
          </p:nvPr>
        </p:nvGraphicFramePr>
        <p:xfrm>
          <a:off x="8815388" y="4694238"/>
          <a:ext cx="2282825" cy="1666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2"/>
          </a:graphicData>
        </a:graphic>
      </p:graphicFrame>
      <p:sp>
        <p:nvSpPr>
          <p:cNvPr id="254" name="右箭头 253">
            <a:extLst>
              <a:ext uri="{FF2B5EF4-FFF2-40B4-BE49-F238E27FC236}">
                <a16:creationId xmlns:a16="http://schemas.microsoft.com/office/drawing/2014/main" id="{9F85A6D6-5E94-17A2-89A5-BA66ED1767CA}"/>
              </a:ext>
            </a:extLst>
          </p:cNvPr>
          <p:cNvSpPr/>
          <p:nvPr>
            <p:custDataLst>
              <p:tags r:id="rId64"/>
            </p:custDataLst>
          </p:nvPr>
        </p:nvSpPr>
        <p:spPr bwMode="auto">
          <a:xfrm rot="16200000">
            <a:off x="10160000" y="6316663"/>
            <a:ext cx="128588" cy="152400"/>
          </a:xfrm>
          <a:prstGeom prst="rightArrow">
            <a:avLst>
              <a:gd name="adj1" fmla="val 100000"/>
              <a:gd name="adj2" fmla="val 100000"/>
            </a:avLst>
          </a:prstGeom>
          <a:solidFill>
            <a:schemeClr val="tx1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60" name="直线连接符 359">
            <a:extLst>
              <a:ext uri="{FF2B5EF4-FFF2-40B4-BE49-F238E27FC236}">
                <a16:creationId xmlns:a16="http://schemas.microsoft.com/office/drawing/2014/main" id="{D70585E2-55AA-9FFC-6BD9-BDBE6D4B5FBE}"/>
              </a:ext>
            </a:extLst>
          </p:cNvPr>
          <p:cNvCxnSpPr/>
          <p:nvPr>
            <p:custDataLst>
              <p:tags r:id="rId65"/>
            </p:custDataLst>
          </p:nvPr>
        </p:nvCxnSpPr>
        <p:spPr bwMode="auto">
          <a:xfrm>
            <a:off x="10223500" y="4776788"/>
            <a:ext cx="0" cy="982663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2" name="直线连接符 371">
            <a:extLst>
              <a:ext uri="{FF2B5EF4-FFF2-40B4-BE49-F238E27FC236}">
                <a16:creationId xmlns:a16="http://schemas.microsoft.com/office/drawing/2014/main" id="{B3DD9066-F6F0-E417-0637-6F80AAE1AF4A}"/>
              </a:ext>
            </a:extLst>
          </p:cNvPr>
          <p:cNvCxnSpPr/>
          <p:nvPr>
            <p:custDataLst>
              <p:tags r:id="rId66"/>
            </p:custDataLst>
          </p:nvPr>
        </p:nvCxnSpPr>
        <p:spPr bwMode="auto">
          <a:xfrm>
            <a:off x="10223500" y="5895975"/>
            <a:ext cx="0" cy="38258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8" name="文本占位符 2">
            <a:extLst>
              <a:ext uri="{FF2B5EF4-FFF2-40B4-BE49-F238E27FC236}">
                <a16:creationId xmlns:a16="http://schemas.microsoft.com/office/drawing/2014/main" id="{A05E2EE7-CF4C-FDFB-91F4-BB1B1FC55BE8}"/>
              </a:ext>
            </a:extLst>
          </p:cNvPr>
          <p:cNvSpPr txBox="1">
            <a:spLocks/>
          </p:cNvSpPr>
          <p:nvPr>
            <p:custDataLst>
              <p:tags r:id="rId67"/>
            </p:custDataLst>
          </p:nvPr>
        </p:nvSpPr>
        <p:spPr bwMode="gray">
          <a:xfrm>
            <a:off x="9199563" y="5157788"/>
            <a:ext cx="28416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F54F6A08-D210-45F6-A018-E97A5CB06050}" type="datetime'''0,''''''''''''''''''''''1''8'''''''''''">
              <a:rPr kumimoji="1" lang="zh-CN" altLang="en-US" sz="10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0,18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55" name="文本占位符 2">
            <a:extLst>
              <a:ext uri="{FF2B5EF4-FFF2-40B4-BE49-F238E27FC236}">
                <a16:creationId xmlns:a16="http://schemas.microsoft.com/office/drawing/2014/main" id="{D5C8A4DD-9C77-F01C-FDD7-B9C917B0D6DA}"/>
              </a:ext>
            </a:extLst>
          </p:cNvPr>
          <p:cNvSpPr txBox="1">
            <a:spLocks/>
          </p:cNvSpPr>
          <p:nvPr>
            <p:custDataLst>
              <p:tags r:id="rId68"/>
            </p:custDataLst>
          </p:nvPr>
        </p:nvSpPr>
        <p:spPr bwMode="auto">
          <a:xfrm>
            <a:off x="9840912" y="6508750"/>
            <a:ext cx="763588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000" dirty="0">
                <a:latin typeface="HarmonyOS Sans SC" pitchFamily="2" charset="-122"/>
                <a:ea typeface="HarmonyOS Sans SC" pitchFamily="2" charset="-122"/>
              </a:rPr>
              <a:t>Average:0.86</a:t>
            </a:r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70" name="文本占位符 2">
            <a:extLst>
              <a:ext uri="{FF2B5EF4-FFF2-40B4-BE49-F238E27FC236}">
                <a16:creationId xmlns:a16="http://schemas.microsoft.com/office/drawing/2014/main" id="{4578913E-BA8C-0020-4A0B-E3B20A08DAAD}"/>
              </a:ext>
            </a:extLst>
          </p:cNvPr>
          <p:cNvSpPr txBox="1">
            <a:spLocks/>
          </p:cNvSpPr>
          <p:nvPr>
            <p:custDataLst>
              <p:tags r:id="rId69"/>
            </p:custDataLst>
          </p:nvPr>
        </p:nvSpPr>
        <p:spPr bwMode="gray">
          <a:xfrm>
            <a:off x="9998075" y="5759450"/>
            <a:ext cx="28416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0F2301EF-2F63-4BBC-AFA5-8890E7DC1DF7}" type="datetime'''''''0'',''''''''''7''''''''''''0'''''''''''''''''''''''''''">
              <a:rPr kumimoji="1" lang="zh-CN" altLang="en-US" sz="10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0,70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71" name="文本占位符 2">
            <a:extLst>
              <a:ext uri="{FF2B5EF4-FFF2-40B4-BE49-F238E27FC236}">
                <a16:creationId xmlns:a16="http://schemas.microsoft.com/office/drawing/2014/main" id="{EA9DE546-BF48-0ADE-A2BB-326384FF933C}"/>
              </a:ext>
            </a:extLst>
          </p:cNvPr>
          <p:cNvSpPr txBox="1">
            <a:spLocks/>
          </p:cNvSpPr>
          <p:nvPr>
            <p:custDataLst>
              <p:tags r:id="rId70"/>
            </p:custDataLst>
          </p:nvPr>
        </p:nvSpPr>
        <p:spPr bwMode="gray">
          <a:xfrm>
            <a:off x="11041063" y="6059488"/>
            <a:ext cx="28416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BE21FF92-FFFE-42D6-9AF1-440F449199F9}" type="datetime'''''''''''''''''''''''''''1'''''',''''''''3''8'''''''''''''">
              <a:rPr kumimoji="1" lang="zh-CN" altLang="en-US" sz="10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1,38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67" name="文本占位符 2">
            <a:extLst>
              <a:ext uri="{FF2B5EF4-FFF2-40B4-BE49-F238E27FC236}">
                <a16:creationId xmlns:a16="http://schemas.microsoft.com/office/drawing/2014/main" id="{6064F3B0-915D-A83C-5CD2-11351E1201C0}"/>
              </a:ext>
            </a:extLst>
          </p:cNvPr>
          <p:cNvSpPr txBox="1">
            <a:spLocks/>
          </p:cNvSpPr>
          <p:nvPr>
            <p:custDataLst>
              <p:tags r:id="rId71"/>
            </p:custDataLst>
          </p:nvPr>
        </p:nvSpPr>
        <p:spPr bwMode="gray">
          <a:xfrm>
            <a:off x="10320338" y="4857750"/>
            <a:ext cx="28416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27A276F9-4E32-4E0E-8A12-B04F928EB5D4}" type="datetime'''''''0'''''''''''''''''''''''''''''''''''''''''''''',9''''1'">
              <a:rPr kumimoji="1" lang="zh-CN" altLang="en-US" sz="10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0,91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69" name="文本占位符 2">
            <a:extLst>
              <a:ext uri="{FF2B5EF4-FFF2-40B4-BE49-F238E27FC236}">
                <a16:creationId xmlns:a16="http://schemas.microsoft.com/office/drawing/2014/main" id="{72A365C8-F334-7EBF-2DC8-F1305720D0E8}"/>
              </a:ext>
            </a:extLst>
          </p:cNvPr>
          <p:cNvSpPr txBox="1">
            <a:spLocks/>
          </p:cNvSpPr>
          <p:nvPr>
            <p:custDataLst>
              <p:tags r:id="rId72"/>
            </p:custDataLst>
          </p:nvPr>
        </p:nvSpPr>
        <p:spPr bwMode="gray">
          <a:xfrm>
            <a:off x="10688638" y="5457825"/>
            <a:ext cx="28416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3C9C9A04-EEEA-4A08-8B2A-8C4079B9C7A3}" type="datetime'''''''1'''''''''''''''''''''''',''''''''1''''''''''''5'''">
              <a:rPr kumimoji="1" lang="zh-CN" altLang="en-US" sz="1000" smtClean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1,15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63" name="文本框 262">
            <a:extLst>
              <a:ext uri="{FF2B5EF4-FFF2-40B4-BE49-F238E27FC236}">
                <a16:creationId xmlns:a16="http://schemas.microsoft.com/office/drawing/2014/main" id="{3FB27B0F-2A9E-B133-87EE-6BDD16C63270}"/>
              </a:ext>
            </a:extLst>
          </p:cNvPr>
          <p:cNvSpPr txBox="1"/>
          <p:nvPr/>
        </p:nvSpPr>
        <p:spPr>
          <a:xfrm>
            <a:off x="5221288" y="4252913"/>
            <a:ext cx="157162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Contending cities</a:t>
            </a:r>
          </a:p>
          <a:p>
            <a:pPr algn="ctr"/>
            <a:r>
              <a:rPr kumimoji="1" lang="zh-CN" altLang="en-US" sz="12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positions 11-18</a:t>
            </a:r>
            <a:r>
              <a:rPr kumimoji="1" lang="zh-CN" altLang="en-US" sz="1200" dirty="0">
                <a:latin typeface="HarmonyOS Sans SC Light" pitchFamily="2" charset="-122"/>
                <a:ea typeface="HarmonyOS Sans SC Light" pitchFamily="2" charset="-122"/>
              </a:rPr>
              <a:t>）</a:t>
            </a:r>
          </a:p>
        </p:txBody>
      </p:sp>
      <p:sp>
        <p:nvSpPr>
          <p:cNvPr id="264" name="文本框 263">
            <a:extLst>
              <a:ext uri="{FF2B5EF4-FFF2-40B4-BE49-F238E27FC236}">
                <a16:creationId xmlns:a16="http://schemas.microsoft.com/office/drawing/2014/main" id="{E493D221-5371-B22D-A8FB-0D3C501A3016}"/>
              </a:ext>
            </a:extLst>
          </p:cNvPr>
          <p:cNvSpPr txBox="1"/>
          <p:nvPr/>
        </p:nvSpPr>
        <p:spPr>
          <a:xfrm>
            <a:off x="8632825" y="4256088"/>
            <a:ext cx="1571625" cy="4619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Emerging cities</a:t>
            </a:r>
          </a:p>
          <a:p>
            <a:pPr algn="ctr"/>
            <a:r>
              <a:rPr kumimoji="1" lang="zh-CN" altLang="en-US" sz="12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positions 19-25</a:t>
            </a:r>
            <a:r>
              <a:rPr kumimoji="1" lang="zh-CN" altLang="en-US" sz="1200" dirty="0">
                <a:latin typeface="HarmonyOS Sans SC Light" pitchFamily="2" charset="-122"/>
                <a:ea typeface="HarmonyOS Sans SC Light" pitchFamily="2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257999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30ED419-E0CC-F521-7844-2BFE29A966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1" imgW="7772400" imgH="10058400" progId="TCLayout.ActiveDocument.1">
                  <p:embed/>
                </p:oleObj>
              </mc:Choice>
              <mc:Fallback>
                <p:oleObj name="think-cell 幻灯片" r:id="rId21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30ED419-E0CC-F521-7844-2BFE29A966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E097D75E-9133-7500-D08B-8ED1D469F0C6}"/>
              </a:ext>
            </a:extLst>
          </p:cNvPr>
          <p:cNvSpPr txBox="1"/>
          <p:nvPr/>
        </p:nvSpPr>
        <p:spPr>
          <a:xfrm>
            <a:off x="454360" y="238539"/>
            <a:ext cx="9910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Some asset classes showed signs of a muted recovery in the first half of 2023.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A5731F7-E4F5-C90B-46E7-FE5319E9DAAB}"/>
              </a:ext>
            </a:extLst>
          </p:cNvPr>
          <p:cNvSpPr txBox="1"/>
          <p:nvPr/>
        </p:nvSpPr>
        <p:spPr>
          <a:xfrm>
            <a:off x="454360" y="738335"/>
            <a:ext cx="32784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US net flows by asset class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， </a:t>
            </a:r>
            <a:r>
              <a:rPr kumimoji="1" lang="zh-CN" altLang="en-US" sz="1400" dirty="0">
                <a:latin typeface="HarmonyOS Sans SC Light" pitchFamily="2" charset="-122"/>
                <a:ea typeface="HarmonyOS Sans SC Light" pitchFamily="2" charset="-122"/>
              </a:rPr>
              <a:t>＄</a:t>
            </a:r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billion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E9432C-39DD-40B1-47F5-FD5F9E3D8716}"/>
              </a:ext>
            </a:extLst>
          </p:cNvPr>
          <p:cNvSpPr txBox="1"/>
          <p:nvPr/>
        </p:nvSpPr>
        <p:spPr>
          <a:xfrm>
            <a:off x="454360" y="1249490"/>
            <a:ext cx="7441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Equities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D01A9E8F-1E0F-2A4D-9EA7-27E48E95A73B}"/>
              </a:ext>
            </a:extLst>
          </p:cNvPr>
          <p:cNvCxnSpPr>
            <a:cxnSpLocks/>
          </p:cNvCxnSpPr>
          <p:nvPr/>
        </p:nvCxnSpPr>
        <p:spPr>
          <a:xfrm>
            <a:off x="528194" y="1533466"/>
            <a:ext cx="335641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DC93E938-BA22-4AFB-6401-0D971EE4EB73}"/>
              </a:ext>
            </a:extLst>
          </p:cNvPr>
          <p:cNvSpPr txBox="1"/>
          <p:nvPr/>
        </p:nvSpPr>
        <p:spPr>
          <a:xfrm>
            <a:off x="454360" y="1540444"/>
            <a:ext cx="6190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Active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343D174-8A16-13C5-C45E-F42EE71D0EE1}"/>
              </a:ext>
            </a:extLst>
          </p:cNvPr>
          <p:cNvSpPr txBox="1"/>
          <p:nvPr/>
        </p:nvSpPr>
        <p:spPr>
          <a:xfrm>
            <a:off x="2304358" y="1540444"/>
            <a:ext cx="7008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Passive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graphicFrame>
        <p:nvGraphicFramePr>
          <p:cNvPr id="203" name="Chart 3">
            <a:extLst>
              <a:ext uri="{FF2B5EF4-FFF2-40B4-BE49-F238E27FC236}">
                <a16:creationId xmlns:a16="http://schemas.microsoft.com/office/drawing/2014/main" id="{85875C0F-ABA8-2B45-EF07-EB1EC60B1845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252413" y="4130675"/>
          <a:ext cx="2373312" cy="20748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3"/>
          </a:graphicData>
        </a:graphic>
      </p:graphicFrame>
      <p:sp>
        <p:nvSpPr>
          <p:cNvPr id="65" name="矩形 64">
            <a:extLst>
              <a:ext uri="{FF2B5EF4-FFF2-40B4-BE49-F238E27FC236}">
                <a16:creationId xmlns:a16="http://schemas.microsoft.com/office/drawing/2014/main" id="{759259A8-CAE8-C615-1D64-78E4B65F4BAD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833563" y="5086350"/>
            <a:ext cx="304800" cy="687388"/>
          </a:xfrm>
          <a:prstGeom prst="rect">
            <a:avLst/>
          </a:prstGeom>
          <a:noFill/>
          <a:ln w="3175" cap="flat" cmpd="sng" algn="ctr">
            <a:solidFill>
              <a:srgbClr val="0352FF"/>
            </a:solidFill>
            <a:prstDash val="lgDash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0" name="文本占位符 2">
            <a:extLst>
              <a:ext uri="{FF2B5EF4-FFF2-40B4-BE49-F238E27FC236}">
                <a16:creationId xmlns:a16="http://schemas.microsoft.com/office/drawing/2014/main" id="{FF52530B-B8E0-8709-4CB9-F05E9FDB32AA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gray">
          <a:xfrm>
            <a:off x="1800225" y="5799138"/>
            <a:ext cx="3714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D9767E0-281A-4243-9712-30EF30318199}" type="datetime'''''''''''''''''''''''''''''''-''''''''''''''''''4''''''0''4'">
              <a:rPr kumimoji="1" lang="zh-CN" altLang="en-US" sz="1200" smtClean="0">
                <a:effectLst/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-404</a:t>
            </a:fld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graphicFrame>
        <p:nvGraphicFramePr>
          <p:cNvPr id="204" name="Chart 3">
            <a:extLst>
              <a:ext uri="{FF2B5EF4-FFF2-40B4-BE49-F238E27FC236}">
                <a16:creationId xmlns:a16="http://schemas.microsoft.com/office/drawing/2014/main" id="{6E4D01C1-A6B3-E852-FDA3-2277C7193E1D}"/>
              </a:ext>
            </a:extLst>
          </p:cNvPr>
          <p:cNvGraphicFramePr/>
          <p:nvPr>
            <p:custDataLst>
              <p:tags r:id="rId5"/>
            </p:custDataLst>
          </p:nvPr>
        </p:nvGraphicFramePr>
        <p:xfrm>
          <a:off x="2168525" y="2581275"/>
          <a:ext cx="2000250" cy="208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4"/>
          </a:graphicData>
        </a:graphic>
      </p:graphicFrame>
      <p:sp>
        <p:nvSpPr>
          <p:cNvPr id="94" name="矩形 93">
            <a:extLst>
              <a:ext uri="{FF2B5EF4-FFF2-40B4-BE49-F238E27FC236}">
                <a16:creationId xmlns:a16="http://schemas.microsoft.com/office/drawing/2014/main" id="{40A2C73F-54EC-822F-0898-59F3FB421554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3573463" y="3692525"/>
            <a:ext cx="311150" cy="352425"/>
          </a:xfrm>
          <a:prstGeom prst="rect">
            <a:avLst/>
          </a:prstGeom>
          <a:noFill/>
          <a:ln w="3175" cap="flat" cmpd="sng" algn="ctr">
            <a:solidFill>
              <a:srgbClr val="0352FF"/>
            </a:solidFill>
            <a:prstDash val="lgDash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7" name="文本占位符 2">
            <a:extLst>
              <a:ext uri="{FF2B5EF4-FFF2-40B4-BE49-F238E27FC236}">
                <a16:creationId xmlns:a16="http://schemas.microsoft.com/office/drawing/2014/main" id="{6ED1855C-AE25-4B5B-B3C5-0E5BA61E0C9C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gray">
          <a:xfrm>
            <a:off x="3581400" y="3502025"/>
            <a:ext cx="296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57B3BC5-6BA0-4E29-9EFF-53CBE97B5C88}" type="datetime'''''''''''''''''''1''''''''''''''''9''''''''''''2'''''">
              <a:rPr kumimoji="1" lang="zh-CN" altLang="en-US" sz="1200" smtClean="0">
                <a:latin typeface="HarmonyOS Sans SC Light" pitchFamily="2" charset="-122"/>
                <a:ea typeface="HarmonyOS Sans SC Light" pitchFamily="2" charset="-122"/>
              </a:rPr>
              <a:pPr/>
              <a:t>192</a:t>
            </a:fld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graphicFrame>
        <p:nvGraphicFramePr>
          <p:cNvPr id="205" name="Chart 3">
            <a:extLst>
              <a:ext uri="{FF2B5EF4-FFF2-40B4-BE49-F238E27FC236}">
                <a16:creationId xmlns:a16="http://schemas.microsoft.com/office/drawing/2014/main" id="{D1A6C57B-36E4-D6E9-2B16-9AD7537FEB57}"/>
              </a:ext>
            </a:extLst>
          </p:cNvPr>
          <p:cNvGraphicFramePr/>
          <p:nvPr>
            <p:custDataLst>
              <p:tags r:id="rId8"/>
            </p:custDataLst>
          </p:nvPr>
        </p:nvGraphicFramePr>
        <p:xfrm>
          <a:off x="3717925" y="2493963"/>
          <a:ext cx="2373313" cy="3521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5"/>
          </a:graphicData>
        </a:graphic>
      </p:graphicFrame>
      <p:sp>
        <p:nvSpPr>
          <p:cNvPr id="102" name="矩形 101">
            <a:extLst>
              <a:ext uri="{FF2B5EF4-FFF2-40B4-BE49-F238E27FC236}">
                <a16:creationId xmlns:a16="http://schemas.microsoft.com/office/drawing/2014/main" id="{9AC7D150-C3F1-33E0-9F0F-7CAE32E82766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5286375" y="4027488"/>
            <a:ext cx="295275" cy="184150"/>
          </a:xfrm>
          <a:prstGeom prst="rect">
            <a:avLst/>
          </a:prstGeom>
          <a:noFill/>
          <a:ln w="3175" cap="flat" cmpd="sng" algn="ctr">
            <a:solidFill>
              <a:srgbClr val="0352FF"/>
            </a:solidFill>
            <a:prstDash val="lgDash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3" name="文本占位符 2">
            <a:extLst>
              <a:ext uri="{FF2B5EF4-FFF2-40B4-BE49-F238E27FC236}">
                <a16:creationId xmlns:a16="http://schemas.microsoft.com/office/drawing/2014/main" id="{B2CDD57C-5EB7-0ED2-22DF-B5C4D67232D1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gray">
          <a:xfrm>
            <a:off x="5286375" y="3836988"/>
            <a:ext cx="296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8084ADD-0124-42BC-99C1-D47EB7DA979B}" type="datetime'''''1''0''0'''''''''''''''''''''''''''''''''''''''''''">
              <a:rPr kumimoji="1" lang="zh-CN" altLang="en-US" sz="1200" smtClean="0">
                <a:latin typeface="HarmonyOS Sans SC Light" pitchFamily="2" charset="-122"/>
                <a:ea typeface="HarmonyOS Sans SC Light" pitchFamily="2" charset="-122"/>
              </a:rPr>
              <a:pPr/>
              <a:t>100</a:t>
            </a:fld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graphicFrame>
        <p:nvGraphicFramePr>
          <p:cNvPr id="206" name="Chart 3">
            <a:extLst>
              <a:ext uri="{FF2B5EF4-FFF2-40B4-BE49-F238E27FC236}">
                <a16:creationId xmlns:a16="http://schemas.microsoft.com/office/drawing/2014/main" id="{60F9E976-9454-266F-4102-40659A955B0A}"/>
              </a:ext>
            </a:extLst>
          </p:cNvPr>
          <p:cNvGraphicFramePr/>
          <p:nvPr>
            <p:custDataLst>
              <p:tags r:id="rId11"/>
            </p:custDataLst>
          </p:nvPr>
        </p:nvGraphicFramePr>
        <p:xfrm>
          <a:off x="5595938" y="2830513"/>
          <a:ext cx="2000250" cy="18335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sp>
        <p:nvSpPr>
          <p:cNvPr id="149" name="矩形 148">
            <a:extLst>
              <a:ext uri="{FF2B5EF4-FFF2-40B4-BE49-F238E27FC236}">
                <a16:creationId xmlns:a16="http://schemas.microsoft.com/office/drawing/2014/main" id="{3AE742A3-ED27-DE77-32A1-8873DF1B38F4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6978650" y="3233738"/>
            <a:ext cx="295275" cy="581025"/>
          </a:xfrm>
          <a:prstGeom prst="rect">
            <a:avLst/>
          </a:prstGeom>
          <a:noFill/>
          <a:ln w="3175" cap="flat" cmpd="sng" algn="ctr">
            <a:solidFill>
              <a:srgbClr val="0352FF"/>
            </a:solidFill>
            <a:prstDash val="lgDash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0" name="文本占位符 2">
            <a:extLst>
              <a:ext uri="{FF2B5EF4-FFF2-40B4-BE49-F238E27FC236}">
                <a16:creationId xmlns:a16="http://schemas.microsoft.com/office/drawing/2014/main" id="{FA5CC5B2-C8CC-84D3-5850-C22D082E3720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gray">
          <a:xfrm>
            <a:off x="6978650" y="3043238"/>
            <a:ext cx="296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68491DD-5F97-41CB-8562-107530F7E97E}" type="datetime'''''''3''''''''2''''''''''''''''''''''''''''''4'">
              <a:rPr kumimoji="1" lang="zh-CN" altLang="en-US" sz="1200" smtClean="0">
                <a:latin typeface="HarmonyOS Sans SC Light" pitchFamily="2" charset="-122"/>
                <a:ea typeface="HarmonyOS Sans SC Light" pitchFamily="2" charset="-122"/>
              </a:rPr>
              <a:pPr/>
              <a:t>324</a:t>
            </a:fld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graphicFrame>
        <p:nvGraphicFramePr>
          <p:cNvPr id="207" name="Chart 3">
            <a:extLst>
              <a:ext uri="{FF2B5EF4-FFF2-40B4-BE49-F238E27FC236}">
                <a16:creationId xmlns:a16="http://schemas.microsoft.com/office/drawing/2014/main" id="{31E40ACC-D6E6-4F0B-5DB4-A3620A36C092}"/>
              </a:ext>
            </a:extLst>
          </p:cNvPr>
          <p:cNvGraphicFramePr/>
          <p:nvPr>
            <p:custDataLst>
              <p:tags r:id="rId14"/>
            </p:custDataLst>
          </p:nvPr>
        </p:nvGraphicFramePr>
        <p:xfrm>
          <a:off x="7310438" y="3473450"/>
          <a:ext cx="2000250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sp>
        <p:nvSpPr>
          <p:cNvPr id="167" name="矩形 166">
            <a:extLst>
              <a:ext uri="{FF2B5EF4-FFF2-40B4-BE49-F238E27FC236}">
                <a16:creationId xmlns:a16="http://schemas.microsoft.com/office/drawing/2014/main" id="{FB47D79E-675A-A99B-0FD3-69666E12A654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8693150" y="3992563"/>
            <a:ext cx="295275" cy="201613"/>
          </a:xfrm>
          <a:prstGeom prst="rect">
            <a:avLst/>
          </a:prstGeom>
          <a:noFill/>
          <a:ln w="3175" cap="flat" cmpd="sng" algn="ctr">
            <a:solidFill>
              <a:srgbClr val="0352FF"/>
            </a:solidFill>
            <a:prstDash val="lgDash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8" name="文本占位符 2">
            <a:extLst>
              <a:ext uri="{FF2B5EF4-FFF2-40B4-BE49-F238E27FC236}">
                <a16:creationId xmlns:a16="http://schemas.microsoft.com/office/drawing/2014/main" id="{4F9DF8F1-154A-DD21-BD56-74ADC0A635D2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gray">
          <a:xfrm>
            <a:off x="8693150" y="3802063"/>
            <a:ext cx="296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28B832B3-540B-445F-9348-182699A6D162}" type="datetime'''''''''''''''''''''''''1''1''''''''''''8'''''''">
              <a:rPr kumimoji="1" lang="zh-CN" altLang="en-US" sz="1200" smtClean="0">
                <a:latin typeface="HarmonyOS Sans SC Light" pitchFamily="2" charset="-122"/>
                <a:ea typeface="HarmonyOS Sans SC Light" pitchFamily="2" charset="-122"/>
              </a:rPr>
              <a:pPr/>
              <a:t>118</a:t>
            </a:fld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graphicFrame>
        <p:nvGraphicFramePr>
          <p:cNvPr id="221" name="Chart 3">
            <a:extLst>
              <a:ext uri="{FF2B5EF4-FFF2-40B4-BE49-F238E27FC236}">
                <a16:creationId xmlns:a16="http://schemas.microsoft.com/office/drawing/2014/main" id="{579BE9D5-5793-A690-051D-77FB02057A58}"/>
              </a:ext>
            </a:extLst>
          </p:cNvPr>
          <p:cNvGraphicFramePr/>
          <p:nvPr>
            <p:custDataLst>
              <p:tags r:id="rId17"/>
            </p:custDataLst>
          </p:nvPr>
        </p:nvGraphicFramePr>
        <p:xfrm>
          <a:off x="9032875" y="1431925"/>
          <a:ext cx="2000250" cy="3232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8"/>
          </a:graphicData>
        </a:graphic>
      </p:graphicFrame>
      <p:sp>
        <p:nvSpPr>
          <p:cNvPr id="172" name="矩形 171">
            <a:extLst>
              <a:ext uri="{FF2B5EF4-FFF2-40B4-BE49-F238E27FC236}">
                <a16:creationId xmlns:a16="http://schemas.microsoft.com/office/drawing/2014/main" id="{ACF3631F-8A2D-CF29-1DCE-2A110EC8A2B8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10415588" y="2605088"/>
            <a:ext cx="295275" cy="895350"/>
          </a:xfrm>
          <a:prstGeom prst="rect">
            <a:avLst/>
          </a:prstGeom>
          <a:noFill/>
          <a:ln w="3175" cap="flat" cmpd="sng" algn="ctr">
            <a:solidFill>
              <a:srgbClr val="0352FF"/>
            </a:solidFill>
            <a:prstDash val="lgDash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3" name="文本占位符 2">
            <a:extLst>
              <a:ext uri="{FF2B5EF4-FFF2-40B4-BE49-F238E27FC236}">
                <a16:creationId xmlns:a16="http://schemas.microsoft.com/office/drawing/2014/main" id="{26DB056E-64B3-FCDB-8634-049EC587A593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 bwMode="gray">
          <a:xfrm>
            <a:off x="10415588" y="2414588"/>
            <a:ext cx="296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8A47DD3-1ED7-45D3-9A69-2A97AB1E75C5}" type="datetime'''5''''''''''''''''''''''''''''''8''''''''''''''''''''4'''''">
              <a:rPr kumimoji="1" lang="zh-CN" altLang="en-US" sz="1200" smtClean="0">
                <a:latin typeface="HarmonyOS Sans SC Light" pitchFamily="2" charset="-122"/>
                <a:ea typeface="HarmonyOS Sans SC Light" pitchFamily="2" charset="-122"/>
              </a:rPr>
              <a:pPr/>
              <a:t>584</a:t>
            </a:fld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96" name="文本框 195">
            <a:extLst>
              <a:ext uri="{FF2B5EF4-FFF2-40B4-BE49-F238E27FC236}">
                <a16:creationId xmlns:a16="http://schemas.microsoft.com/office/drawing/2014/main" id="{BC4E8FDE-3B6F-2527-057C-A10189AE4884}"/>
              </a:ext>
            </a:extLst>
          </p:cNvPr>
          <p:cNvSpPr txBox="1"/>
          <p:nvPr/>
        </p:nvSpPr>
        <p:spPr>
          <a:xfrm>
            <a:off x="528194" y="6154736"/>
            <a:ext cx="55630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Private alternatives annual fundraising for North America.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Source: McKinsey Performance Lens Global Growth Cube; </a:t>
            </a:r>
            <a:r>
              <a:rPr kumimoji="1" lang="en-US" altLang="zh-CN" sz="1000" dirty="0" err="1">
                <a:latin typeface="HarmonyOS Sans SC Light" pitchFamily="2" charset="-122"/>
                <a:ea typeface="HarmonyOS Sans SC Light" pitchFamily="2" charset="-122"/>
              </a:rPr>
              <a:t>Preqin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09" name="文本框 208">
            <a:extLst>
              <a:ext uri="{FF2B5EF4-FFF2-40B4-BE49-F238E27FC236}">
                <a16:creationId xmlns:a16="http://schemas.microsoft.com/office/drawing/2014/main" id="{29D6EBB3-EBEC-8A53-A744-D81366E269E7}"/>
              </a:ext>
            </a:extLst>
          </p:cNvPr>
          <p:cNvSpPr txBox="1"/>
          <p:nvPr/>
        </p:nvSpPr>
        <p:spPr>
          <a:xfrm>
            <a:off x="4073951" y="1242513"/>
            <a:ext cx="1114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Fixed income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210" name="直线连接符 209">
            <a:extLst>
              <a:ext uri="{FF2B5EF4-FFF2-40B4-BE49-F238E27FC236}">
                <a16:creationId xmlns:a16="http://schemas.microsoft.com/office/drawing/2014/main" id="{D60744D1-EE45-1B7E-AC63-6F4ABFA8E461}"/>
              </a:ext>
            </a:extLst>
          </p:cNvPr>
          <p:cNvCxnSpPr/>
          <p:nvPr/>
        </p:nvCxnSpPr>
        <p:spPr>
          <a:xfrm>
            <a:off x="4147785" y="1526489"/>
            <a:ext cx="304421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文本框 210">
            <a:extLst>
              <a:ext uri="{FF2B5EF4-FFF2-40B4-BE49-F238E27FC236}">
                <a16:creationId xmlns:a16="http://schemas.microsoft.com/office/drawing/2014/main" id="{B2AB3D2F-7ACF-22AC-049F-F01ADE956F8C}"/>
              </a:ext>
            </a:extLst>
          </p:cNvPr>
          <p:cNvSpPr txBox="1"/>
          <p:nvPr/>
        </p:nvSpPr>
        <p:spPr>
          <a:xfrm>
            <a:off x="4073951" y="1533467"/>
            <a:ext cx="6190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Active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12" name="文本框 211">
            <a:extLst>
              <a:ext uri="{FF2B5EF4-FFF2-40B4-BE49-F238E27FC236}">
                <a16:creationId xmlns:a16="http://schemas.microsoft.com/office/drawing/2014/main" id="{13D529D5-CB09-4A04-DCA3-8238BCE28B3B}"/>
              </a:ext>
            </a:extLst>
          </p:cNvPr>
          <p:cNvSpPr txBox="1"/>
          <p:nvPr/>
        </p:nvSpPr>
        <p:spPr>
          <a:xfrm>
            <a:off x="5879787" y="1533467"/>
            <a:ext cx="7008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Passive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214" name="直线连接符 213">
            <a:extLst>
              <a:ext uri="{FF2B5EF4-FFF2-40B4-BE49-F238E27FC236}">
                <a16:creationId xmlns:a16="http://schemas.microsoft.com/office/drawing/2014/main" id="{C68A4B5E-56A6-2ADA-BFAF-0213D2AE0897}"/>
              </a:ext>
            </a:extLst>
          </p:cNvPr>
          <p:cNvCxnSpPr>
            <a:cxnSpLocks/>
          </p:cNvCxnSpPr>
          <p:nvPr/>
        </p:nvCxnSpPr>
        <p:spPr>
          <a:xfrm>
            <a:off x="7453817" y="1519512"/>
            <a:ext cx="171349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文本框 216">
            <a:extLst>
              <a:ext uri="{FF2B5EF4-FFF2-40B4-BE49-F238E27FC236}">
                <a16:creationId xmlns:a16="http://schemas.microsoft.com/office/drawing/2014/main" id="{532AF859-677E-6F15-73B1-0C2EB8659511}"/>
              </a:ext>
            </a:extLst>
          </p:cNvPr>
          <p:cNvSpPr txBox="1"/>
          <p:nvPr/>
        </p:nvSpPr>
        <p:spPr>
          <a:xfrm>
            <a:off x="7380098" y="1238874"/>
            <a:ext cx="9781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Multi-asset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218" name="直线连接符 217">
            <a:extLst>
              <a:ext uri="{FF2B5EF4-FFF2-40B4-BE49-F238E27FC236}">
                <a16:creationId xmlns:a16="http://schemas.microsoft.com/office/drawing/2014/main" id="{1EC57852-B89C-1FD4-FFAF-7EA0A90C3332}"/>
              </a:ext>
            </a:extLst>
          </p:cNvPr>
          <p:cNvCxnSpPr>
            <a:cxnSpLocks/>
          </p:cNvCxnSpPr>
          <p:nvPr/>
        </p:nvCxnSpPr>
        <p:spPr>
          <a:xfrm>
            <a:off x="9319634" y="1521827"/>
            <a:ext cx="171349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文本框 218">
            <a:extLst>
              <a:ext uri="{FF2B5EF4-FFF2-40B4-BE49-F238E27FC236}">
                <a16:creationId xmlns:a16="http://schemas.microsoft.com/office/drawing/2014/main" id="{A32F563F-D39A-FBAA-4008-36D4513610B0}"/>
              </a:ext>
            </a:extLst>
          </p:cNvPr>
          <p:cNvSpPr txBox="1"/>
          <p:nvPr/>
        </p:nvSpPr>
        <p:spPr>
          <a:xfrm>
            <a:off x="9245915" y="1241189"/>
            <a:ext cx="16225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Private alternatives</a:t>
            </a:r>
            <a:r>
              <a:rPr kumimoji="1" lang="en-US" altLang="zh-CN" sz="1200" baseline="30000" dirty="0">
                <a:latin typeface="HarmonyOS Sans SC" pitchFamily="2" charset="-122"/>
                <a:ea typeface="HarmonyOS Sans SC" pitchFamily="2" charset="-122"/>
              </a:rPr>
              <a:t>1</a:t>
            </a:r>
            <a:endParaRPr kumimoji="1" lang="zh-CN" altLang="en-US" sz="1200" baseline="300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22" name="矩形 221">
            <a:extLst>
              <a:ext uri="{FF2B5EF4-FFF2-40B4-BE49-F238E27FC236}">
                <a16:creationId xmlns:a16="http://schemas.microsoft.com/office/drawing/2014/main" id="{1BC5E5C7-7378-9C91-0E85-534CBEBBFC20}"/>
              </a:ext>
            </a:extLst>
          </p:cNvPr>
          <p:cNvSpPr/>
          <p:nvPr/>
        </p:nvSpPr>
        <p:spPr>
          <a:xfrm>
            <a:off x="7024839" y="796130"/>
            <a:ext cx="192186" cy="192186"/>
          </a:xfrm>
          <a:prstGeom prst="rect">
            <a:avLst/>
          </a:prstGeom>
          <a:solidFill>
            <a:srgbClr val="0020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3" name="文本框 222">
            <a:extLst>
              <a:ext uri="{FF2B5EF4-FFF2-40B4-BE49-F238E27FC236}">
                <a16:creationId xmlns:a16="http://schemas.microsoft.com/office/drawing/2014/main" id="{4A4C1653-4CE7-BA54-CB6B-FD3A0DDE904E}"/>
              </a:ext>
            </a:extLst>
          </p:cNvPr>
          <p:cNvSpPr txBox="1"/>
          <p:nvPr/>
        </p:nvSpPr>
        <p:spPr>
          <a:xfrm>
            <a:off x="7206286" y="753723"/>
            <a:ext cx="5245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2021</a:t>
            </a:r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24" name="矩形 223">
            <a:extLst>
              <a:ext uri="{FF2B5EF4-FFF2-40B4-BE49-F238E27FC236}">
                <a16:creationId xmlns:a16="http://schemas.microsoft.com/office/drawing/2014/main" id="{219A381D-23AD-F60C-6438-F6571EA8D97C}"/>
              </a:ext>
            </a:extLst>
          </p:cNvPr>
          <p:cNvSpPr/>
          <p:nvPr/>
        </p:nvSpPr>
        <p:spPr>
          <a:xfrm>
            <a:off x="7783664" y="796130"/>
            <a:ext cx="192186" cy="19218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5" name="文本框 224">
            <a:extLst>
              <a:ext uri="{FF2B5EF4-FFF2-40B4-BE49-F238E27FC236}">
                <a16:creationId xmlns:a16="http://schemas.microsoft.com/office/drawing/2014/main" id="{3140326E-1A03-1414-5F78-19FFA979037B}"/>
              </a:ext>
            </a:extLst>
          </p:cNvPr>
          <p:cNvSpPr txBox="1"/>
          <p:nvPr/>
        </p:nvSpPr>
        <p:spPr>
          <a:xfrm>
            <a:off x="7965111" y="753723"/>
            <a:ext cx="5245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2022</a:t>
            </a:r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26" name="矩形 225">
            <a:extLst>
              <a:ext uri="{FF2B5EF4-FFF2-40B4-BE49-F238E27FC236}">
                <a16:creationId xmlns:a16="http://schemas.microsoft.com/office/drawing/2014/main" id="{4D2AB598-C3B7-01C5-E6B7-E874016769AA}"/>
              </a:ext>
            </a:extLst>
          </p:cNvPr>
          <p:cNvSpPr/>
          <p:nvPr/>
        </p:nvSpPr>
        <p:spPr>
          <a:xfrm>
            <a:off x="8544726" y="796130"/>
            <a:ext cx="192186" cy="192186"/>
          </a:xfrm>
          <a:prstGeom prst="rect">
            <a:avLst/>
          </a:prstGeom>
          <a:solidFill>
            <a:srgbClr val="035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7" name="文本框 226">
            <a:extLst>
              <a:ext uri="{FF2B5EF4-FFF2-40B4-BE49-F238E27FC236}">
                <a16:creationId xmlns:a16="http://schemas.microsoft.com/office/drawing/2014/main" id="{7C6BD0CD-2962-E62B-39C1-01B4D96A32C9}"/>
              </a:ext>
            </a:extLst>
          </p:cNvPr>
          <p:cNvSpPr txBox="1"/>
          <p:nvPr/>
        </p:nvSpPr>
        <p:spPr>
          <a:xfrm>
            <a:off x="8726173" y="753723"/>
            <a:ext cx="7745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H1 2023</a:t>
            </a:r>
          </a:p>
          <a:p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estimate</a:t>
            </a:r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28" name="矩形 227">
            <a:extLst>
              <a:ext uri="{FF2B5EF4-FFF2-40B4-BE49-F238E27FC236}">
                <a16:creationId xmlns:a16="http://schemas.microsoft.com/office/drawing/2014/main" id="{0321859D-B6D7-04EC-353E-0E703A6615D6}"/>
              </a:ext>
            </a:extLst>
          </p:cNvPr>
          <p:cNvSpPr/>
          <p:nvPr/>
        </p:nvSpPr>
        <p:spPr>
          <a:xfrm>
            <a:off x="9553024" y="793485"/>
            <a:ext cx="192186" cy="192186"/>
          </a:xfrm>
          <a:prstGeom prst="rect">
            <a:avLst/>
          </a:prstGeom>
          <a:solidFill>
            <a:schemeClr val="bg1"/>
          </a:solidFill>
          <a:ln w="12700">
            <a:solidFill>
              <a:srgbClr val="0352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9" name="文本框 228">
            <a:extLst>
              <a:ext uri="{FF2B5EF4-FFF2-40B4-BE49-F238E27FC236}">
                <a16:creationId xmlns:a16="http://schemas.microsoft.com/office/drawing/2014/main" id="{FC49097D-9A94-BF04-F03D-11BDD85C6D20}"/>
              </a:ext>
            </a:extLst>
          </p:cNvPr>
          <p:cNvSpPr txBox="1"/>
          <p:nvPr/>
        </p:nvSpPr>
        <p:spPr>
          <a:xfrm>
            <a:off x="9734471" y="751078"/>
            <a:ext cx="12426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H2 2023</a:t>
            </a:r>
          </a:p>
          <a:p>
            <a:r>
              <a:rPr kumimoji="1" lang="zh-CN" altLang="en-US" sz="12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annualized</a:t>
            </a:r>
            <a:r>
              <a:rPr kumimoji="1" lang="zh-CN" altLang="en-US" sz="1200" dirty="0">
                <a:latin typeface="HarmonyOS Sans SC Light" pitchFamily="2" charset="-122"/>
                <a:ea typeface="HarmonyOS Sans SC Light" pitchFamily="2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236392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EB42C-4D11-CBCF-75B1-4882F4C24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E195F0DC-76C0-70F7-40E1-03AD40E06E5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2" imgW="7772400" imgH="10058400" progId="TCLayout.ActiveDocument.1">
                  <p:embed/>
                </p:oleObj>
              </mc:Choice>
              <mc:Fallback>
                <p:oleObj name="think-cell 幻灯片" r:id="rId12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195F0DC-76C0-70F7-40E1-03AD40E06E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AE4033E3-02EB-DCDB-5CF7-65F6AA7F51BE}"/>
              </a:ext>
            </a:extLst>
          </p:cNvPr>
          <p:cNvSpPr txBox="1"/>
          <p:nvPr/>
        </p:nvSpPr>
        <p:spPr>
          <a:xfrm>
            <a:off x="454360" y="238539"/>
            <a:ext cx="11106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Institutional investors expect to allocate more funds to private markets asset classes over the next few years.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771AA32-EC93-9879-C4DC-DAE9C9740320}"/>
              </a:ext>
            </a:extLst>
          </p:cNvPr>
          <p:cNvSpPr txBox="1"/>
          <p:nvPr/>
        </p:nvSpPr>
        <p:spPr>
          <a:xfrm>
            <a:off x="454360" y="892222"/>
            <a:ext cx="6120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Expected change in funding to various asset classes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， </a:t>
            </a:r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% of respondents</a:t>
            </a:r>
            <a:r>
              <a:rPr kumimoji="1" lang="en-US" altLang="zh-CN" sz="14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endParaRPr kumimoji="1" lang="zh-CN" altLang="en-US" sz="1400" baseline="30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96" name="文本框 195">
            <a:extLst>
              <a:ext uri="{FF2B5EF4-FFF2-40B4-BE49-F238E27FC236}">
                <a16:creationId xmlns:a16="http://schemas.microsoft.com/office/drawing/2014/main" id="{35B276BE-7791-EC15-8A2F-E6B53BFD6FC1}"/>
              </a:ext>
            </a:extLst>
          </p:cNvPr>
          <p:cNvSpPr txBox="1"/>
          <p:nvPr/>
        </p:nvSpPr>
        <p:spPr>
          <a:xfrm>
            <a:off x="454360" y="6110897"/>
            <a:ext cx="55630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Excludes respondents who selected "No change" or "Don't know."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Source: McKinsey Limited Partner Survey March 2023 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n = 276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）</a:t>
            </a:r>
          </a:p>
        </p:txBody>
      </p:sp>
      <p:sp>
        <p:nvSpPr>
          <p:cNvPr id="222" name="矩形 221">
            <a:extLst>
              <a:ext uri="{FF2B5EF4-FFF2-40B4-BE49-F238E27FC236}">
                <a16:creationId xmlns:a16="http://schemas.microsoft.com/office/drawing/2014/main" id="{29D3882B-64F2-B41D-97E4-D4E7FD1F7BEC}"/>
              </a:ext>
            </a:extLst>
          </p:cNvPr>
          <p:cNvSpPr/>
          <p:nvPr/>
        </p:nvSpPr>
        <p:spPr>
          <a:xfrm>
            <a:off x="9328651" y="965407"/>
            <a:ext cx="192186" cy="192186"/>
          </a:xfrm>
          <a:prstGeom prst="rect">
            <a:avLst/>
          </a:prstGeom>
          <a:solidFill>
            <a:srgbClr val="0020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3" name="文本框 222">
            <a:extLst>
              <a:ext uri="{FF2B5EF4-FFF2-40B4-BE49-F238E27FC236}">
                <a16:creationId xmlns:a16="http://schemas.microsoft.com/office/drawing/2014/main" id="{AF353999-695C-A1E6-013A-35CE66751BA1}"/>
              </a:ext>
            </a:extLst>
          </p:cNvPr>
          <p:cNvSpPr txBox="1"/>
          <p:nvPr/>
        </p:nvSpPr>
        <p:spPr>
          <a:xfrm>
            <a:off x="9510098" y="923000"/>
            <a:ext cx="8258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Decrease</a:t>
            </a:r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24" name="矩形 223">
            <a:extLst>
              <a:ext uri="{FF2B5EF4-FFF2-40B4-BE49-F238E27FC236}">
                <a16:creationId xmlns:a16="http://schemas.microsoft.com/office/drawing/2014/main" id="{37C0B61E-AEAB-2234-0EBC-CB5CDC31AAAC}"/>
              </a:ext>
            </a:extLst>
          </p:cNvPr>
          <p:cNvSpPr/>
          <p:nvPr/>
        </p:nvSpPr>
        <p:spPr>
          <a:xfrm>
            <a:off x="10414049" y="965407"/>
            <a:ext cx="192186" cy="19218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5" name="文本框 224">
            <a:extLst>
              <a:ext uri="{FF2B5EF4-FFF2-40B4-BE49-F238E27FC236}">
                <a16:creationId xmlns:a16="http://schemas.microsoft.com/office/drawing/2014/main" id="{3472BB22-351C-5826-C220-103B84C414BF}"/>
              </a:ext>
            </a:extLst>
          </p:cNvPr>
          <p:cNvSpPr txBox="1"/>
          <p:nvPr/>
        </p:nvSpPr>
        <p:spPr>
          <a:xfrm>
            <a:off x="10595496" y="923000"/>
            <a:ext cx="7601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Increase</a:t>
            </a:r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109" name="Chart 3">
            <a:extLst>
              <a:ext uri="{FF2B5EF4-FFF2-40B4-BE49-F238E27FC236}">
                <a16:creationId xmlns:a16="http://schemas.microsoft.com/office/drawing/2014/main" id="{34D8FDFB-3092-4144-24A0-C1979E06E813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1744663" y="1584325"/>
          <a:ext cx="4479925" cy="4518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8" name="文本占位符 2">
            <a:extLst>
              <a:ext uri="{FF2B5EF4-FFF2-40B4-BE49-F238E27FC236}">
                <a16:creationId xmlns:a16="http://schemas.microsoft.com/office/drawing/2014/main" id="{394E8BEE-4D30-147A-FCAC-50A05AC4C9C9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619125" y="2620963"/>
            <a:ext cx="51752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584EDD2B-B8A6-4DB2-A268-CC40A4CAA230}" type="datetime'G''''''''r''''''''''''''o''''''''''''''''w''''t''h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Growth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2" name="文本占位符 2">
            <a:extLst>
              <a:ext uri="{FF2B5EF4-FFF2-40B4-BE49-F238E27FC236}">
                <a16:creationId xmlns:a16="http://schemas.microsoft.com/office/drawing/2014/main" id="{2838494E-18FA-2F39-70C2-D6D0610D824D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619125" y="3190875"/>
            <a:ext cx="10604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B05693BC-3637-4E44-BDEE-B75F58B96FEC}" type="datetime'''Ve''n''''''t''''''ur''''e ''c''ap''''''i''''ta''''l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Venture capital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0" name="文本占位符 2">
            <a:extLst>
              <a:ext uri="{FF2B5EF4-FFF2-40B4-BE49-F238E27FC236}">
                <a16:creationId xmlns:a16="http://schemas.microsoft.com/office/drawing/2014/main" id="{F27AE799-F8A2-540E-20EC-9104D40C5DB3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619125" y="3759200"/>
            <a:ext cx="7747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EA06E650-A872-4136-8F43-6C1ABC8C84C8}" type="datetime'Re''''''''''a''l e''''sta''''''''''t''''''''''e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Real estate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32175B77-556F-57C0-7453-443543C5092A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619125" y="2052638"/>
            <a:ext cx="5016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42B2549D-6D05-46CC-AA3B-E37AABDBE0F3}" type="datetime'''''Bu''''''''y''''''''''o''''u''''''''''''''''t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Buyout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7" name="文本占位符 2">
            <a:extLst>
              <a:ext uri="{FF2B5EF4-FFF2-40B4-BE49-F238E27FC236}">
                <a16:creationId xmlns:a16="http://schemas.microsoft.com/office/drawing/2014/main" id="{9ACF9551-2A26-E625-5F32-16D23970F5B9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619125" y="4897438"/>
            <a:ext cx="84931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0FEE6FDA-8536-41AE-A07F-566064693EBF}" type="datetime'''P''r''i''''''v''at''''e'''''' ''d''''''eb''''''''t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Private debt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2" name="文本占位符 2">
            <a:extLst>
              <a:ext uri="{FF2B5EF4-FFF2-40B4-BE49-F238E27FC236}">
                <a16:creationId xmlns:a16="http://schemas.microsoft.com/office/drawing/2014/main" id="{AF51D382-0AF0-5AC7-7C9B-A5423FCD442F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619125" y="5467350"/>
            <a:ext cx="11064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6FC1F318-FD60-42E9-88ED-0D83B15E60A3}" type="datetime'Al''''l'''' ''a''s''s''e''''''t ''''''cla''s''''''s''''''es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All asset classes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4" name="文本占位符 2">
            <a:extLst>
              <a:ext uri="{FF2B5EF4-FFF2-40B4-BE49-F238E27FC236}">
                <a16:creationId xmlns:a16="http://schemas.microsoft.com/office/drawing/2014/main" id="{343DC3B5-0933-B853-E8FE-D0D95F1E160A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619125" y="4329113"/>
            <a:ext cx="9525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63D8A47E-596F-48B6-9909-C439B860CB28}" type="datetime'''''''I''''''n''f''''ra''''st''''''''r''''u''''''ctur''e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algn="l">
                <a:spcBef>
                  <a:spcPct val="0"/>
                </a:spcBef>
                <a:spcAft>
                  <a:spcPct val="0"/>
                </a:spcAft>
              </a:pPr>
              <a:t>Infrastructure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graphicFrame>
        <p:nvGraphicFramePr>
          <p:cNvPr id="146" name="Chart 3">
            <a:extLst>
              <a:ext uri="{FF2B5EF4-FFF2-40B4-BE49-F238E27FC236}">
                <a16:creationId xmlns:a16="http://schemas.microsoft.com/office/drawing/2014/main" id="{0C500F12-8348-ADC2-2263-23942F845991}"/>
              </a:ext>
            </a:extLst>
          </p:cNvPr>
          <p:cNvGraphicFramePr/>
          <p:nvPr>
            <p:custDataLst>
              <p:tags r:id="rId10"/>
            </p:custDataLst>
          </p:nvPr>
        </p:nvGraphicFramePr>
        <p:xfrm>
          <a:off x="6892925" y="1584325"/>
          <a:ext cx="4479925" cy="4518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cxnSp>
        <p:nvCxnSpPr>
          <p:cNvPr id="148" name="直线连接符 147">
            <a:extLst>
              <a:ext uri="{FF2B5EF4-FFF2-40B4-BE49-F238E27FC236}">
                <a16:creationId xmlns:a16="http://schemas.microsoft.com/office/drawing/2014/main" id="{B9404FFF-2DA7-9251-EC3C-F9B5821C5925}"/>
              </a:ext>
            </a:extLst>
          </p:cNvPr>
          <p:cNvCxnSpPr/>
          <p:nvPr/>
        </p:nvCxnSpPr>
        <p:spPr>
          <a:xfrm>
            <a:off x="570015" y="1846613"/>
            <a:ext cx="10931237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直线连接符 150">
            <a:extLst>
              <a:ext uri="{FF2B5EF4-FFF2-40B4-BE49-F238E27FC236}">
                <a16:creationId xmlns:a16="http://schemas.microsoft.com/office/drawing/2014/main" id="{11BFF806-5ACB-885C-3271-40B3D447292B}"/>
              </a:ext>
            </a:extLst>
          </p:cNvPr>
          <p:cNvCxnSpPr/>
          <p:nvPr/>
        </p:nvCxnSpPr>
        <p:spPr>
          <a:xfrm>
            <a:off x="570015" y="2426525"/>
            <a:ext cx="10931237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直线连接符 151">
            <a:extLst>
              <a:ext uri="{FF2B5EF4-FFF2-40B4-BE49-F238E27FC236}">
                <a16:creationId xmlns:a16="http://schemas.microsoft.com/office/drawing/2014/main" id="{48BCBFC8-A967-35E4-3AD3-0446DB0EA0BE}"/>
              </a:ext>
            </a:extLst>
          </p:cNvPr>
          <p:cNvCxnSpPr/>
          <p:nvPr/>
        </p:nvCxnSpPr>
        <p:spPr>
          <a:xfrm>
            <a:off x="570015" y="2984665"/>
            <a:ext cx="10931237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直线连接符 152">
            <a:extLst>
              <a:ext uri="{FF2B5EF4-FFF2-40B4-BE49-F238E27FC236}">
                <a16:creationId xmlns:a16="http://schemas.microsoft.com/office/drawing/2014/main" id="{FDFDA559-BAFD-C015-4BEB-8F3BE7EF05A8}"/>
              </a:ext>
            </a:extLst>
          </p:cNvPr>
          <p:cNvCxnSpPr/>
          <p:nvPr/>
        </p:nvCxnSpPr>
        <p:spPr>
          <a:xfrm>
            <a:off x="570015" y="3564577"/>
            <a:ext cx="10931237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直线连接符 153">
            <a:extLst>
              <a:ext uri="{FF2B5EF4-FFF2-40B4-BE49-F238E27FC236}">
                <a16:creationId xmlns:a16="http://schemas.microsoft.com/office/drawing/2014/main" id="{6BFFEE65-B3C3-5F22-D474-BD0DFD8657DD}"/>
              </a:ext>
            </a:extLst>
          </p:cNvPr>
          <p:cNvCxnSpPr/>
          <p:nvPr/>
        </p:nvCxnSpPr>
        <p:spPr>
          <a:xfrm>
            <a:off x="570015" y="4124696"/>
            <a:ext cx="10931237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直线连接符 154">
            <a:extLst>
              <a:ext uri="{FF2B5EF4-FFF2-40B4-BE49-F238E27FC236}">
                <a16:creationId xmlns:a16="http://schemas.microsoft.com/office/drawing/2014/main" id="{537BBF7A-C481-0140-F44E-F25860550239}"/>
              </a:ext>
            </a:extLst>
          </p:cNvPr>
          <p:cNvCxnSpPr/>
          <p:nvPr/>
        </p:nvCxnSpPr>
        <p:spPr>
          <a:xfrm>
            <a:off x="570015" y="4704608"/>
            <a:ext cx="10931237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直线连接符 155">
            <a:extLst>
              <a:ext uri="{FF2B5EF4-FFF2-40B4-BE49-F238E27FC236}">
                <a16:creationId xmlns:a16="http://schemas.microsoft.com/office/drawing/2014/main" id="{6BF7D33B-24DE-D496-4E16-F787C1B3BE1B}"/>
              </a:ext>
            </a:extLst>
          </p:cNvPr>
          <p:cNvCxnSpPr/>
          <p:nvPr/>
        </p:nvCxnSpPr>
        <p:spPr>
          <a:xfrm>
            <a:off x="570015" y="5262748"/>
            <a:ext cx="10931237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直线连接符 156">
            <a:extLst>
              <a:ext uri="{FF2B5EF4-FFF2-40B4-BE49-F238E27FC236}">
                <a16:creationId xmlns:a16="http://schemas.microsoft.com/office/drawing/2014/main" id="{2433F47A-B228-3577-5DEE-5AFB5F2219E2}"/>
              </a:ext>
            </a:extLst>
          </p:cNvPr>
          <p:cNvCxnSpPr/>
          <p:nvPr/>
        </p:nvCxnSpPr>
        <p:spPr>
          <a:xfrm>
            <a:off x="570015" y="5842660"/>
            <a:ext cx="10931237" cy="0"/>
          </a:xfrm>
          <a:prstGeom prst="line">
            <a:avLst/>
          </a:prstGeom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文本框 157">
            <a:extLst>
              <a:ext uri="{FF2B5EF4-FFF2-40B4-BE49-F238E27FC236}">
                <a16:creationId xmlns:a16="http://schemas.microsoft.com/office/drawing/2014/main" id="{6A0C7E15-A4DB-6381-A5EB-2F1C7C07CB4D}"/>
              </a:ext>
            </a:extLst>
          </p:cNvPr>
          <p:cNvSpPr txBox="1"/>
          <p:nvPr/>
        </p:nvSpPr>
        <p:spPr>
          <a:xfrm>
            <a:off x="2358974" y="1411142"/>
            <a:ext cx="1901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Over next 12 months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814B6CB8-A84F-7157-0962-954E5435C442}"/>
              </a:ext>
            </a:extLst>
          </p:cNvPr>
          <p:cNvSpPr txBox="1"/>
          <p:nvPr/>
        </p:nvSpPr>
        <p:spPr>
          <a:xfrm>
            <a:off x="7291192" y="1407692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Over next 3 years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14770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QQlfFLULBosoJAITawOk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4LIRSNMj3mixuRWvWP3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kfVE9d_5p_mVnLwj1X58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DHkrNfjWQKOVp0Ncxr4j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cBFgenPgyKfnZV8b9oX7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e3FvkL9As7tK7PHO9FNS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rNP8QOxiQWvpLo1hpE9S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_tatTjEGznowjxCgCo1x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x4s6KfLk1KQI.icADDUm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KYAsnXtfzJK6.UsoJ1G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Mc5uuCEqJ0RlaJ6S.a98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4XLRVhtuxQjC6gw6gc_1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pr3dzZYBv4TDXHcIPRuT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b2fhiiOXygSRXZ7ExdVC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ISM6gHPpZI.YuCwtSxq_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8LbbBpUaa5ae3lCckpLWA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MvLEnYgNpJxd8qJyQHI0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5R3W3MQAMzo91D58sNww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l8CD3Ea5Ku65JIpV2NP8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bFwMAAufleBbHHKfBGNy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uuI9qFkrcbh8IcSh6TOV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j.lQugN1x7GTbRtxQIheQ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hytK.tf17g73RruZ2MuV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iVD99aCbTV2C5Re0fHGY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zDf8IyHrTQJgUou2GBZg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6qKj5qu2AkU4J.HhPxviQ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pejJOs6gHltswDlxCf0N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RIlNT8Cz7vCDi6aUgNLng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6X1N09GyrBVF101ZUwPNw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J8Mv4UJnGGmKWUQ29oE.g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xGCb8V1YYlbefNFa4pIh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iFI.Kdl48kaUIA7mo8SIA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..eZsTIMQHDCEbVtt6llw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.L6cSIlgUvEgRziB8RGfw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bGGQamSdpC_s.yicU8Qc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cvG6Ulh3wE6Q0wxudQPjw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6A4xX5GxHtTaD4yM0wO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S2pgF0ETleBvjcesG6eew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kiZHTiGVLVUSESpnoHtpQ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G2.AM6mQNfait7RL61g2Q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e1DRWWdZVEESH2hUYbsc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rFRD41pUuNn2mish_ioXQ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XY8H1iSet4_k6cCQTnLp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3Vcw2NCkqnZTVAYmxhY0A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mourRpyZoJYXnn7noXLxQ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Fm1PY5L6vpWbxr5lbFK0A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jcWHpX3zCLxIxIKI2pX0A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PMeMzsNX7x.Qa2JOIya.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aLxN6kJFS5JyWzm9YdHR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N9jR508KXaSKJtjr_FsM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hAyvhlNHlk.LAH836psCQ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55ZiuQ9RiJVqoLfWSoUQQ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tPucD4IUgDo9BjLW37.6g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gvgVNzHkTS3gNzKeeY8l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_QSp0ExkFBjQvmhv4keIw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SDXj9MSabvE1q6aotHWrA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1.pdlNmXzr3V3R.u1s0Q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OQvt33p3oHHjB.8tCxKAA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h11gHiLvRzPKDANZYLwGQ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X8fEKUBehRJxW8l1y2kOA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b9j6DilntF9kk7qKJfPiA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IfmaAdcOdPy9gUB15EDjw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7XoX6qjtMkixQdt0ELoS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BTnD3MULyDsr5oYT9Xa4Q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6F08yPUKtmGVyMwFcy5O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kO9AqF520BtkWjyH7LN_w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924p9Le88SJvWfeDqcXxw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yfMoZRJIO9K8RXF67IM6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Xm.gZ.GDwnLWPT566USJw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P3grtIWvwY.jFb87j3nJw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5PFctDNSqNHZIrA1viYZw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l12jNBqZC8Ia4EdyktDyQ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uGnNVhqsFZyBmOFgmZirQ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Uk0m4oUZtaU7VhzyLG.Y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NkGpSpZlAXGeePsMvoUSg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dT0L2GoSPo0mz0xxv3XC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KFR9CdfJe.bn_bJcTiMeg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VU7KBi9Mq23Bx06guIkK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9KWAtB.PUS9HEpyCFZISQ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wiEKc2_oMCNypKaSbTFu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dq8fEZXutNYn_6zc2NDTQ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Y6MRmM30MAllF_NGkTDvQ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0VSF2B_U31pLrzEj4Fg8w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Xb3jB10ad80yjADsEdGBw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r6u0yZXDEnGi15d2hufT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clNCN_bkvWZO4wBkiSViA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3waC8NBNf5XfNw6rD_Qng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QpYZH3k6hOr4aPlExdPaQ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WBXVsZhXdL.ZYHrksE8yQ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ufxOXqnJkzz7MFpViYEXw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CSLp6nyIx3u3lOuGltshA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zR8RHwZJ0q7niLTGafHTA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odhW5hOmZfru5wy.919WQ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N7q95j28oSsaP7yckAdRg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Px4isA8Bue0PD9T73C9A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MMSR6TyQZ5hegFcjXG0_Q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chiTz1ZfgPM3.yvnB5LGQ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9otz76GwJ6DUl8PpLbjA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U5n83OiH7h4EebOMOrorA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1M3dj0r6qOYxQj0vrGuQ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zMYAIumvEQTzCOQbJXwIA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dQaI1qF0jcyV4R1fqFkw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mdKNdne12m2Q27jNOb84Q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IMP8ejjaIpog_c7mWkRNw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ZIUT.eXh_QLl87CSUmYSw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1paU0Q8wQzuvDDAEL.wog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D0l7.cqaYiExBg9H5DI_A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yBpSkFblSUIwBo8TaqYmQ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cczSPJPSDmNYvTxz8OrNA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NXP4rWYAhfZsa30p5x04w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XFaMXNAa6L3_Iyciyow8w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jYWArD_j4XM0txdSASidw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el5JLxGIrqu9Kc9.qq.0w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SgXwE6iwD06mGV1oqa_w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RuxcEcm4kjjZesMed72Q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GQyOLLlpHwKqWMBzzDXQ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SAOzpwFYZRNGrk7gzta1Q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TRIfIRaV_Je4vxdRD2JlA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EqE_ryS35ABh3RHibnXwQ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XCmPODPEyMKEDkEfg9Rxw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O2Gt.rjPXDEEyj0JX0C5Q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tY8hkJ9.zq5CJHgD5hgA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7GXoaA9YB1d67OFyt07zA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SKbOKsCzlnIDccbPnvJvQ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DEqWG5aQLEgpAKe0dO.LQ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XwK_0QP1N.D1fgnL9LqLw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a_FOwIEati7IWUsNkiPTw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HizeQUefmG1MxEW3U2Bg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nCvSBQ.FOiKQffOF2nk4w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HlnYsv7W6Q7CY36WtZIUw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2w.YgoD6TlvqWkZBJeEtQ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3b8SrESl1fCZ5dWpMY8DQ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jw09H4H1j.3YaJLyb9C9g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uwl2yavZzFTD5G6xds3ZQ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oGxE5wf2UCAk3EChfVEw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nPF.3xricLPSsU0StPIQw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1407</Words>
  <Application>Microsoft Macintosh PowerPoint</Application>
  <PresentationFormat>宽屏</PresentationFormat>
  <Paragraphs>334</Paragraphs>
  <Slides>11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等线</vt:lpstr>
      <vt:lpstr>等线 Light</vt:lpstr>
      <vt:lpstr>HarmonyOS Sans SC</vt:lpstr>
      <vt:lpstr>HarmonyOS Sans SC Light</vt:lpstr>
      <vt:lpstr>HarmonyOS Sans SC Medium</vt:lpstr>
      <vt:lpstr>Arial</vt:lpstr>
      <vt:lpstr>Office 主题​​</vt:lpstr>
      <vt:lpstr>think-cell 幻灯片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zhangbaoxu</dc:creator>
  <cp:lastModifiedBy>zhangbaoxu</cp:lastModifiedBy>
  <cp:revision>3</cp:revision>
  <dcterms:created xsi:type="dcterms:W3CDTF">2024-11-09T14:56:41Z</dcterms:created>
  <dcterms:modified xsi:type="dcterms:W3CDTF">2024-11-11T07:26:20Z</dcterms:modified>
</cp:coreProperties>
</file>