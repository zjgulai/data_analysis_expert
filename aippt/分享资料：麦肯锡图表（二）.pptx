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1.xml" ContentType="application/vnd.openxmlformats-officedocument.drawingml.chart+xml"/>
  <Override PartName="/ppt/tags/tag10.xml" ContentType="application/vnd.openxmlformats-officedocument.presentationml.tags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8.xml" ContentType="application/vnd.openxmlformats-officedocument.drawingml.chart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charts/chart9.xml" ContentType="application/vnd.openxmlformats-officedocument.drawingml.chart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charts/chart16.xml" ContentType="application/vnd.openxmlformats-officedocument.drawingml.chart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charts/chart17.xml" ContentType="application/vnd.openxmlformats-officedocument.drawingml.chart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charts/chart18.xml" ContentType="application/vnd.openxmlformats-officedocument.drawingml.chart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charts/chart19.xml" ContentType="application/vnd.openxmlformats-officedocument.drawingml.chart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charts/chart2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67"/>
    <p:restoredTop sz="95748"/>
  </p:normalViewPr>
  <p:slideViewPr>
    <p:cSldViewPr snapToGrid="0">
      <p:cViewPr varScale="1">
        <p:scale>
          <a:sx n="224" d="100"/>
          <a:sy n="224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___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___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___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___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___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479645304312777E-2"/>
          <c:y val="6.0496939142960032E-2"/>
          <c:w val="0.97904070939137444"/>
          <c:h val="0.8790061217140799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0803024846957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9DD-5E46-A80D-23F0C279869A}"/>
                </c:ext>
              </c:extLst>
            </c:dLbl>
            <c:dLbl>
              <c:idx val="2"/>
              <c:layout>
                <c:manualLayout>
                  <c:x val="0"/>
                  <c:y val="-1.440403312927619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9DD-5E46-A80D-23F0C27986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26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DD-5E46-A80D-23F0C279869A}"/>
            </c:ext>
          </c:extLst>
        </c:ser>
        <c:ser>
          <c:idx val="1"/>
          <c:order val="1"/>
          <c:spPr>
            <a:solidFill>
              <a:srgbClr val="00ADFF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440403312927619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9DD-5E46-A80D-23F0C279869A}"/>
                </c:ext>
              </c:extLst>
            </c:dLbl>
            <c:dLbl>
              <c:idx val="2"/>
              <c:layout>
                <c:manualLayout>
                  <c:x val="0"/>
                  <c:y val="-1.440403312927619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9DD-5E46-A80D-23F0C27986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37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9DD-5E46-A80D-23F0C279869A}"/>
            </c:ext>
          </c:extLst>
        </c:ser>
        <c:ser>
          <c:idx val="2"/>
          <c:order val="2"/>
          <c:spPr>
            <a:solidFill>
              <a:srgbClr val="75F0E7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0803024846957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9DD-5E46-A80D-23F0C279869A}"/>
                </c:ext>
              </c:extLst>
            </c:dLbl>
            <c:dLbl>
              <c:idx val="2"/>
              <c:layout>
                <c:manualLayout>
                  <c:x val="0"/>
                  <c:y val="-1.0803024846957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9DD-5E46-A80D-23F0C27986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29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9DD-5E46-A80D-23F0C279869A}"/>
            </c:ext>
          </c:extLst>
        </c:ser>
        <c:ser>
          <c:idx val="3"/>
          <c:order val="3"/>
          <c:spPr>
            <a:solidFill>
              <a:srgbClr val="0352FF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0803024846957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9DD-5E46-A80D-23F0C279869A}"/>
                </c:ext>
              </c:extLst>
            </c:dLbl>
            <c:dLbl>
              <c:idx val="2"/>
              <c:layout>
                <c:manualLayout>
                  <c:x val="0"/>
                  <c:y val="-1.0803024846957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9DD-5E46-A80D-23F0C27986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Sheet1!$A$4:$C$4</c:f>
              <c:numCache>
                <c:formatCode>General</c:formatCode>
                <c:ptCount val="3"/>
                <c:pt idx="0">
                  <c:v>9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9DD-5E46-A80D-23F0C2798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492046271"/>
        <c:axId val="1"/>
      </c:barChart>
      <c:catAx>
        <c:axId val="4920462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920462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50</c:v>
                </c:pt>
                <c:pt idx="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1D-CC45-9E0D-40D918A802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50</c:v>
                </c:pt>
                <c:pt idx="1">
                  <c:v>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1D-CC45-9E0D-40D918A802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21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F-C649-981C-8778C94D8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21</c:v>
                </c:pt>
                <c:pt idx="1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CF-C649-981C-8778C94D8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25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7-EA40-93A3-5C3197870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25</c:v>
                </c:pt>
                <c:pt idx="1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067-EA40-93A3-5C3197870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31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7-5E43-A941-9805E2661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31</c:v>
                </c:pt>
                <c:pt idx="1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A7-5E43-A941-9805E2661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32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8-6E45-B8F3-AD594BF12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32</c:v>
                </c:pt>
                <c:pt idx="1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88-6E45-B8F3-AD594BF12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99E6FF"/>
            </a:solidFill>
            <a:ln>
              <a:noFill/>
            </a:ln>
            <a:effectLst/>
          </c:spPr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36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18-534F-A132-DD9306054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Sheet1!$D$6:$D$7</c:f>
              <c:strCache>
                <c:ptCount val="2"/>
                <c:pt idx="0">
                  <c:v>Mar
2024</c:v>
                </c:pt>
                <c:pt idx="1">
                  <c:v>June
2024</c:v>
                </c:pt>
              </c:strCache>
            </c:strRef>
          </c:cat>
          <c:val>
            <c:numRef>
              <c:f>Sheet1!$E$6:$E$7</c:f>
              <c:numCache>
                <c:formatCode>General</c:formatCode>
                <c:ptCount val="2"/>
                <c:pt idx="0">
                  <c:v>36</c:v>
                </c:pt>
                <c:pt idx="1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18-534F-A132-DD9306054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rgbClr val="E8E8E8">
                <a:lumMod val="75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2361419068736143E-2"/>
          <c:y val="2.4401689347724072E-2"/>
          <c:w val="0.87527716186252769"/>
          <c:h val="0.84467386203660255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rgbClr val="0352FF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rgbClr val="0352FF"/>
                </a:solidFill>
                <a:ln w="9525" cmpd="sng" algn="ctr">
                  <a:solidFill>
                    <a:srgbClr val="0352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CE4-234C-8D84-30550177DE95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0352FF"/>
                </a:solidFill>
                <a:ln w="9525" cmpd="sng" algn="ctr">
                  <a:solidFill>
                    <a:srgbClr val="0352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CE4-234C-8D84-30550177DE95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0352FF"/>
                </a:solidFill>
                <a:ln w="9525" cmpd="sng" algn="ctr">
                  <a:solidFill>
                    <a:srgbClr val="0352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E4-234C-8D84-30550177DE95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0352FF"/>
                </a:solidFill>
                <a:ln w="9525" cmpd="sng" algn="ctr">
                  <a:solidFill>
                    <a:srgbClr val="0352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3CE4-234C-8D84-30550177DE95}"/>
              </c:ext>
            </c:extLst>
          </c:dPt>
          <c:xVal>
            <c:numRef>
              <c:f>Sheet1!$A$1:$D$1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xVal>
          <c:yVal>
            <c:numRef>
              <c:f>Sheet1!$A$2:$D$2</c:f>
              <c:numCache>
                <c:formatCode>General</c:formatCode>
                <c:ptCount val="4"/>
                <c:pt idx="0">
                  <c:v>2.1999999999999997</c:v>
                </c:pt>
                <c:pt idx="1">
                  <c:v>1.7000000000000002</c:v>
                </c:pt>
                <c:pt idx="2">
                  <c:v>2.2999999999999998</c:v>
                </c:pt>
                <c:pt idx="3">
                  <c:v>2.9000000000000004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E4-234C-8D84-30550177D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2"/>
          <c:min val="2019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kumimoji="1" sz="1200" kern="1200">
                <a:solidFill>
                  <a:schemeClr val="tx1"/>
                </a:solidFill>
                <a:latin typeface="HarmonyOS Sans SC"/>
                <a:ea typeface="HarmonyOS Sans SC"/>
                <a:cs typeface="HarmonyOS Sans SC"/>
                <a:sym typeface="HarmonyOS Sans SC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2.90000000000000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53944020356234E-2"/>
          <c:y val="1.9854906452844597E-2"/>
          <c:w val="0.9669211195928753"/>
          <c:h val="0.960290187094310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57.999999999999993</c:v>
                </c:pt>
                <c:pt idx="1">
                  <c:v>38</c:v>
                </c:pt>
                <c:pt idx="2">
                  <c:v>11</c:v>
                </c:pt>
                <c:pt idx="3">
                  <c:v>42</c:v>
                </c:pt>
                <c:pt idx="4">
                  <c:v>14.000000000000002</c:v>
                </c:pt>
                <c:pt idx="5">
                  <c:v>25</c:v>
                </c:pt>
                <c:pt idx="6">
                  <c:v>14.000000000000002</c:v>
                </c:pt>
                <c:pt idx="7">
                  <c:v>23</c:v>
                </c:pt>
                <c:pt idx="8">
                  <c:v>35</c:v>
                </c:pt>
                <c:pt idx="9">
                  <c:v>32</c:v>
                </c:pt>
                <c:pt idx="1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0-FB43-B44E-DE290264F7DB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Sheet1!$A$2:$K$2</c:f>
              <c:numCache>
                <c:formatCode>General</c:formatCode>
                <c:ptCount val="11"/>
                <c:pt idx="0">
                  <c:v>5.0000000000000044</c:v>
                </c:pt>
                <c:pt idx="1">
                  <c:v>25</c:v>
                </c:pt>
                <c:pt idx="2">
                  <c:v>51</c:v>
                </c:pt>
                <c:pt idx="3">
                  <c:v>26.999999999999996</c:v>
                </c:pt>
                <c:pt idx="4">
                  <c:v>30</c:v>
                </c:pt>
                <c:pt idx="5">
                  <c:v>27</c:v>
                </c:pt>
                <c:pt idx="6">
                  <c:v>41</c:v>
                </c:pt>
                <c:pt idx="7">
                  <c:v>46.000000000000007</c:v>
                </c:pt>
                <c:pt idx="8">
                  <c:v>34</c:v>
                </c:pt>
                <c:pt idx="9">
                  <c:v>17</c:v>
                </c:pt>
                <c:pt idx="10">
                  <c:v>27.000000000000007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F0-FB43-B44E-DE290264F7DB}"/>
            </c:ext>
          </c:extLst>
        </c:ser>
        <c:ser>
          <c:idx val="2"/>
          <c:order val="2"/>
          <c:spPr>
            <a:solidFill>
              <a:srgbClr val="00EFE0"/>
            </a:solidFill>
            <a:ln>
              <a:noFill/>
            </a:ln>
          </c:spPr>
          <c:invertIfNegative val="0"/>
          <c:val>
            <c:numRef>
              <c:f>Sheet1!$A$3:$K$3</c:f>
              <c:numCache>
                <c:formatCode>General</c:formatCode>
                <c:ptCount val="11"/>
                <c:pt idx="0">
                  <c:v>23</c:v>
                </c:pt>
                <c:pt idx="1">
                  <c:v>4.0000000000000036</c:v>
                </c:pt>
                <c:pt idx="2">
                  <c:v>7.9999999999999964</c:v>
                </c:pt>
                <c:pt idx="3">
                  <c:v>13</c:v>
                </c:pt>
                <c:pt idx="4">
                  <c:v>46.999999999999993</c:v>
                </c:pt>
                <c:pt idx="5">
                  <c:v>24</c:v>
                </c:pt>
                <c:pt idx="6">
                  <c:v>10.999999999999998</c:v>
                </c:pt>
                <c:pt idx="7">
                  <c:v>8.9999999999999964</c:v>
                </c:pt>
                <c:pt idx="8">
                  <c:v>6.0000000000000053</c:v>
                </c:pt>
                <c:pt idx="9">
                  <c:v>15.000000000000002</c:v>
                </c:pt>
                <c:pt idx="10">
                  <c:v>16.000000000000004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F0-FB43-B44E-DE290264F7DB}"/>
            </c:ext>
          </c:extLst>
        </c:ser>
        <c:ser>
          <c:idx val="3"/>
          <c:order val="3"/>
          <c:spPr>
            <a:solidFill>
              <a:srgbClr val="0352FF"/>
            </a:solidFill>
            <a:ln>
              <a:noFill/>
            </a:ln>
          </c:spPr>
          <c:invertIfNegative val="0"/>
          <c:val>
            <c:numRef>
              <c:f>Sheet1!$A$4:$K$4</c:f>
              <c:numCache>
                <c:formatCode>General</c:formatCode>
                <c:ptCount val="11"/>
                <c:pt idx="0">
                  <c:v>14.000000000000002</c:v>
                </c:pt>
                <c:pt idx="1">
                  <c:v>5.9999999999999947</c:v>
                </c:pt>
                <c:pt idx="2">
                  <c:v>23</c:v>
                </c:pt>
                <c:pt idx="3">
                  <c:v>17.000000000000004</c:v>
                </c:pt>
                <c:pt idx="4">
                  <c:v>7.9999999999999964</c:v>
                </c:pt>
                <c:pt idx="5">
                  <c:v>8.9999999999999964</c:v>
                </c:pt>
                <c:pt idx="6">
                  <c:v>20.999999999999996</c:v>
                </c:pt>
                <c:pt idx="7">
                  <c:v>17.000000000000004</c:v>
                </c:pt>
                <c:pt idx="8">
                  <c:v>12</c:v>
                </c:pt>
                <c:pt idx="9">
                  <c:v>20.999999999999996</c:v>
                </c:pt>
                <c:pt idx="10">
                  <c:v>14.000000000000002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F0-FB43-B44E-DE290264F7DB}"/>
            </c:ext>
          </c:extLst>
        </c:ser>
        <c:ser>
          <c:idx val="4"/>
          <c:order val="4"/>
          <c:spPr>
            <a:solidFill>
              <a:srgbClr val="00C0AB"/>
            </a:solidFill>
            <a:ln>
              <a:noFill/>
            </a:ln>
          </c:spPr>
          <c:invertIfNegative val="0"/>
          <c:val>
            <c:numRef>
              <c:f>Sheet1!$A$5:$K$5</c:f>
              <c:numCache>
                <c:formatCode>General</c:formatCode>
                <c:ptCount val="11"/>
                <c:pt idx="0">
                  <c:v>1.0000000000000009</c:v>
                </c:pt>
                <c:pt idx="1">
                  <c:v>26</c:v>
                </c:pt>
                <c:pt idx="2">
                  <c:v>6.0000000000000053</c:v>
                </c:pt>
                <c:pt idx="3">
                  <c:v>1.0000000000000009</c:v>
                </c:pt>
                <c:pt idx="5">
                  <c:v>15.000000000000002</c:v>
                </c:pt>
                <c:pt idx="6">
                  <c:v>13</c:v>
                </c:pt>
                <c:pt idx="7">
                  <c:v>4.9999999999999929</c:v>
                </c:pt>
                <c:pt idx="8">
                  <c:v>14.000000000000002</c:v>
                </c:pt>
                <c:pt idx="9">
                  <c:v>16.000000000000004</c:v>
                </c:pt>
                <c:pt idx="10">
                  <c:v>10.000000000000009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F0-FB43-B44E-DE290264F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6020144"/>
        <c:axId val="1"/>
      </c:barChart>
      <c:catAx>
        <c:axId val="18602014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860201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391583869082407E-2"/>
          <c:y val="0.10903954802259887"/>
          <c:w val="0.86499123319696081"/>
          <c:h val="0.7819209039548022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E7E-C448-A132-D3C681232E09}"/>
              </c:ext>
            </c:extLst>
          </c:dPt>
          <c:dLbls>
            <c:dLbl>
              <c:idx val="0"/>
              <c:layout>
                <c:manualLayout>
                  <c:x val="0.25715955581531269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E7E-C448-A132-D3C681232E09}"/>
                </c:ext>
              </c:extLst>
            </c:dLbl>
            <c:dLbl>
              <c:idx val="1"/>
              <c:layout>
                <c:manualLayout>
                  <c:x val="0.48568088836937462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E7E-C448-A132-D3C681232E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33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7E-C448-A132-D3C681232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4422800"/>
        <c:axId val="1"/>
      </c:barChart>
      <c:catAx>
        <c:axId val="1684422800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844228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391583869082407E-2"/>
          <c:y val="0.10903954802259887"/>
          <c:w val="0.86499123319696081"/>
          <c:h val="0.7819209039548022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0D2-BC40-9FAB-B508561C1A9A}"/>
              </c:ext>
            </c:extLst>
          </c:dPt>
          <c:dLbls>
            <c:dLbl>
              <c:idx val="0"/>
              <c:layout>
                <c:manualLayout>
                  <c:x val="0.29339567504383401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0D2-BC40-9FAB-B508561C1A9A}"/>
                </c:ext>
              </c:extLst>
            </c:dLbl>
            <c:dLbl>
              <c:idx val="1"/>
              <c:layout>
                <c:manualLayout>
                  <c:x val="0.48568088836937462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0D2-BC40-9FAB-B508561C1A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30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D2-BC40-9FAB-B508561C1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4448656"/>
        <c:axId val="1"/>
      </c:barChart>
      <c:catAx>
        <c:axId val="168444865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844486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391583869082407E-2"/>
          <c:y val="0.10903954802259887"/>
          <c:w val="0.86499123319696081"/>
          <c:h val="0.7819209039548022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13B-E149-A404-DB5C272BAF5B}"/>
              </c:ext>
            </c:extLst>
          </c:dPt>
          <c:dLbls>
            <c:dLbl>
              <c:idx val="0"/>
              <c:layout>
                <c:manualLayout>
                  <c:x val="0.21332554061952075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13B-E149-A404-DB5C272BAF5B}"/>
                </c:ext>
              </c:extLst>
            </c:dLbl>
            <c:dLbl>
              <c:idx val="1"/>
              <c:layout>
                <c:manualLayout>
                  <c:x val="0.48568088836937462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13B-E149-A404-DB5C272BAF5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20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3B-E149-A404-DB5C272BA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4536608"/>
        <c:axId val="1"/>
      </c:barChart>
      <c:catAx>
        <c:axId val="16845366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845366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391583869082407E-2"/>
          <c:y val="0.10903954802259887"/>
          <c:w val="0.86499123319696081"/>
          <c:h val="0.7819209039548022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F49-A74B-A2DB-696484F78D87}"/>
              </c:ext>
            </c:extLst>
          </c:dPt>
          <c:dLbls>
            <c:dLbl>
              <c:idx val="0"/>
              <c:layout>
                <c:manualLayout>
                  <c:x val="0.27469316189362947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F49-A74B-A2DB-696484F78D87}"/>
                </c:ext>
              </c:extLst>
            </c:dLbl>
            <c:dLbl>
              <c:idx val="1"/>
              <c:layout>
                <c:manualLayout>
                  <c:x val="0.48568088836937462"/>
                  <c:y val="1.694915254237288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F49-A74B-A2DB-696484F78D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21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49-A74B-A2DB-696484F78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4398400"/>
        <c:axId val="1"/>
      </c:barChart>
      <c:catAx>
        <c:axId val="1684398400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843984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842274186153142E-2"/>
          <c:y val="6.8937217890849403E-2"/>
          <c:w val="0.95231545162769371"/>
          <c:h val="0.8621255642183012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E7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E4E4E4"/>
              </a:solidFill>
              <a:ln w="3175" cmpd="sng" algn="ctr">
                <a:solidFill>
                  <a:srgbClr val="E4E4E4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C0D4-904D-AA4C-81A67E4A4CEC}"/>
              </c:ext>
            </c:extLst>
          </c:dPt>
          <c:dLbls>
            <c:dLbl>
              <c:idx val="0"/>
              <c:layout>
                <c:manualLayout>
                  <c:x val="-4.5850527281063731E-4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0D4-904D-AA4C-81A67E4A4CEC}"/>
                </c:ext>
              </c:extLst>
            </c:dLbl>
            <c:dLbl>
              <c:idx val="1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0D4-904D-AA4C-81A67E4A4CEC}"/>
                </c:ext>
              </c:extLst>
            </c:dLbl>
            <c:dLbl>
              <c:idx val="2"/>
              <c:layout>
                <c:manualLayout>
                  <c:x val="-4.5850527281063731E-4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0D4-904D-AA4C-81A67E4A4CEC}"/>
                </c:ext>
              </c:extLst>
            </c:dLbl>
            <c:dLbl>
              <c:idx val="3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0D4-904D-AA4C-81A67E4A4CEC}"/>
                </c:ext>
              </c:extLst>
            </c:dLbl>
            <c:dLbl>
              <c:idx val="4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0D4-904D-AA4C-81A67E4A4CEC}"/>
                </c:ext>
              </c:extLst>
            </c:dLbl>
            <c:dLbl>
              <c:idx val="5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C0D4-904D-AA4C-81A67E4A4C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6</c:v>
                </c:pt>
                <c:pt idx="1">
                  <c:v>11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D4-904D-AA4C-81A67E4A4CEC}"/>
            </c:ext>
          </c:extLst>
        </c:ser>
        <c:ser>
          <c:idx val="1"/>
          <c:order val="1"/>
          <c:spPr>
            <a:noFill/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4.5850527281063731E-4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C0D4-904D-AA4C-81A67E4A4CEC}"/>
                </c:ext>
              </c:extLst>
            </c:dLbl>
            <c:dLbl>
              <c:idx val="1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C0D4-904D-AA4C-81A67E4A4CEC}"/>
                </c:ext>
              </c:extLst>
            </c:dLbl>
            <c:dLbl>
              <c:idx val="2"/>
              <c:layout>
                <c:manualLayout>
                  <c:x val="-4.5850527281063731E-4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C0D4-904D-AA4C-81A67E4A4CEC}"/>
                </c:ext>
              </c:extLst>
            </c:dLbl>
            <c:dLbl>
              <c:idx val="3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C0D4-904D-AA4C-81A67E4A4CEC}"/>
                </c:ext>
              </c:extLst>
            </c:dLbl>
            <c:dLbl>
              <c:idx val="4"/>
              <c:layout>
                <c:manualLayout>
                  <c:x val="0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C0D4-904D-AA4C-81A67E4A4CEC}"/>
                </c:ext>
              </c:extLst>
            </c:dLbl>
            <c:dLbl>
              <c:idx val="5"/>
              <c:layout>
                <c:manualLayout>
                  <c:x val="-4.5850527281063731E-4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C0D4-904D-AA4C-81A67E4A4C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0D4-904D-AA4C-81A67E4A4C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4101471"/>
        <c:axId val="1"/>
      </c:barChart>
      <c:catAx>
        <c:axId val="170410147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7041014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6.8937217890849403E-2"/>
          <c:w val="0.90382941688424712"/>
          <c:h val="0.8621255642183012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E7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E4E4E4"/>
              </a:solidFill>
              <a:ln w="3175" cmpd="sng" algn="ctr">
                <a:solidFill>
                  <a:srgbClr val="E4E4E4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EFC-9744-ACC4-E0AA2CD8CDC6}"/>
              </c:ext>
            </c:extLst>
          </c:dPt>
          <c:dLbls>
            <c:dLbl>
              <c:idx val="0"/>
              <c:layout>
                <c:manualLayout>
                  <c:x val="0.30635335073977371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EFC-9744-ACC4-E0AA2CD8CDC6}"/>
                </c:ext>
              </c:extLst>
            </c:dLbl>
            <c:dLbl>
              <c:idx val="1"/>
              <c:layout>
                <c:manualLayout>
                  <c:x val="0.29677980852915581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EFC-9744-ACC4-E0AA2CD8CDC6}"/>
                </c:ext>
              </c:extLst>
            </c:dLbl>
            <c:dLbl>
              <c:idx val="2"/>
              <c:layout>
                <c:manualLayout>
                  <c:x val="0.45039164490861616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EFC-9744-ACC4-E0AA2CD8CDC6}"/>
                </c:ext>
              </c:extLst>
            </c:dLbl>
            <c:dLbl>
              <c:idx val="3"/>
              <c:layout>
                <c:manualLayout>
                  <c:x val="0.48912097476066146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EFC-9744-ACC4-E0AA2CD8CDC6}"/>
                </c:ext>
              </c:extLst>
            </c:dLbl>
            <c:dLbl>
              <c:idx val="4"/>
              <c:layout>
                <c:manualLayout>
                  <c:x val="9.2254134029590942E-2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EFC-9744-ACC4-E0AA2CD8CDC6}"/>
                </c:ext>
              </c:extLst>
            </c:dLbl>
            <c:dLbl>
              <c:idx val="5"/>
              <c:layout>
                <c:manualLayout>
                  <c:x val="0.20060922541340295"/>
                  <c:y val="1.23102174805088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EFC-9744-ACC4-E0AA2CD8CD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28</c:v>
                </c:pt>
                <c:pt idx="1">
                  <c:v>27</c:v>
                </c:pt>
                <c:pt idx="2">
                  <c:v>43</c:v>
                </c:pt>
                <c:pt idx="3">
                  <c:v>47</c:v>
                </c:pt>
                <c:pt idx="4">
                  <c:v>7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FC-9744-ACC4-E0AA2CD8C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4748463"/>
        <c:axId val="1"/>
      </c:barChart>
      <c:catAx>
        <c:axId val="170474846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7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704748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402080416083216E-2"/>
          <c:y val="9.3406593406593408E-2"/>
          <c:w val="0.97919583916783359"/>
          <c:h val="0.8406593406593406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48194662480376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C79-B646-8452-479CECB1BD0F}"/>
                </c:ext>
              </c:extLst>
            </c:dLbl>
            <c:dLbl>
              <c:idx val="1"/>
              <c:layout>
                <c:manualLayout>
                  <c:x val="0"/>
                  <c:y val="-0.1087127158555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C79-B646-8452-479CECB1BD0F}"/>
                </c:ext>
              </c:extLst>
            </c:dLbl>
            <c:dLbl>
              <c:idx val="2"/>
              <c:layout>
                <c:manualLayout>
                  <c:x val="0"/>
                  <c:y val="-7.967032967032966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C79-B646-8452-479CECB1BD0F}"/>
                </c:ext>
              </c:extLst>
            </c:dLbl>
            <c:dLbl>
              <c:idx val="3"/>
              <c:layout>
                <c:manualLayout>
                  <c:x val="0"/>
                  <c:y val="-3.649921507064364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C79-B646-8452-479CECB1BD0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73</c:v>
                </c:pt>
                <c:pt idx="1">
                  <c:v>14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79-B646-8452-479CECB1BD0F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2778649921507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C79-B646-8452-479CECB1BD0F}"/>
                </c:ext>
              </c:extLst>
            </c:dLbl>
            <c:dLbl>
              <c:idx val="1"/>
              <c:layout>
                <c:manualLayout>
                  <c:x val="0"/>
                  <c:y val="-0.275510204081632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C79-B646-8452-479CECB1BD0F}"/>
                </c:ext>
              </c:extLst>
            </c:dLbl>
            <c:dLbl>
              <c:idx val="2"/>
              <c:layout>
                <c:manualLayout>
                  <c:x val="0"/>
                  <c:y val="-6.789638932496075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C79-B646-8452-479CECB1BD0F}"/>
                </c:ext>
              </c:extLst>
            </c:dLbl>
            <c:dLbl>
              <c:idx val="3"/>
              <c:layout>
                <c:manualLayout>
                  <c:x val="0"/>
                  <c:y val="-4.827315541601255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C79-B646-8452-479CECB1BD0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46</c:v>
                </c:pt>
                <c:pt idx="1">
                  <c:v>43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C79-B646-8452-479CECB1BD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91084336"/>
        <c:axId val="1"/>
      </c:barChart>
      <c:catAx>
        <c:axId val="1891084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910843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675102477276783E-3"/>
          <c:y val="0.14459295261239369"/>
          <c:w val="0.9814649795045447"/>
          <c:h val="0.753341433778857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46537059538274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F05-7B48-A1D8-985228082888}"/>
                </c:ext>
              </c:extLst>
            </c:dLbl>
            <c:dLbl>
              <c:idx val="1"/>
              <c:layout>
                <c:manualLayout>
                  <c:x val="0"/>
                  <c:y val="-0.419805589307411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F05-7B48-A1D8-985228082888}"/>
                </c:ext>
              </c:extLst>
            </c:dLbl>
            <c:dLbl>
              <c:idx val="2"/>
              <c:layout>
                <c:manualLayout>
                  <c:x val="0"/>
                  <c:y val="-0.2946537059538274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F05-7B48-A1D8-985228082888}"/>
                </c:ext>
              </c:extLst>
            </c:dLbl>
            <c:dLbl>
              <c:idx val="3"/>
              <c:layout>
                <c:manualLayout>
                  <c:x val="0"/>
                  <c:y val="-0.315309842041312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F05-7B48-A1D8-985228082888}"/>
                </c:ext>
              </c:extLst>
            </c:dLbl>
            <c:dLbl>
              <c:idx val="4"/>
              <c:layout>
                <c:manualLayout>
                  <c:x val="0"/>
                  <c:y val="-0.315309842041312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F05-7B48-A1D8-985228082888}"/>
                </c:ext>
              </c:extLst>
            </c:dLbl>
            <c:dLbl>
              <c:idx val="5"/>
              <c:layout>
                <c:manualLayout>
                  <c:x val="0"/>
                  <c:y val="-0.377885783718104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F05-7B48-A1D8-985228082888}"/>
                </c:ext>
              </c:extLst>
            </c:dLbl>
            <c:dLbl>
              <c:idx val="6"/>
              <c:layout>
                <c:manualLayout>
                  <c:x val="0"/>
                  <c:y val="-0.356622114216281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F05-7B48-A1D8-9852280828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13</c:v>
                </c:pt>
                <c:pt idx="5">
                  <c:v>16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F05-7B48-A1D8-985228082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91177504"/>
        <c:axId val="1"/>
      </c:barChart>
      <c:catAx>
        <c:axId val="18911775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911775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252397917237597E-3"/>
          <c:y val="0.10788757932910245"/>
          <c:w val="0.9857495204165525"/>
          <c:h val="0.8159564823209428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70716228467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1A6-594C-B381-F1FF62A8DF1B}"/>
                </c:ext>
              </c:extLst>
            </c:dLbl>
            <c:dLbl>
              <c:idx val="1"/>
              <c:layout>
                <c:manualLayout>
                  <c:x val="0"/>
                  <c:y val="-0.379419764279238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1A6-594C-B381-F1FF62A8DF1B}"/>
                </c:ext>
              </c:extLst>
            </c:dLbl>
            <c:dLbl>
              <c:idx val="2"/>
              <c:layout>
                <c:manualLayout>
                  <c:x val="0"/>
                  <c:y val="-0.2910244786944696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1A6-594C-B381-F1FF62A8DF1B}"/>
                </c:ext>
              </c:extLst>
            </c:dLbl>
            <c:dLbl>
              <c:idx val="3"/>
              <c:layout>
                <c:manualLayout>
                  <c:x val="0"/>
                  <c:y val="-0.208522212148685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1A6-594C-B381-F1FF62A8DF1B}"/>
                </c:ext>
              </c:extLst>
            </c:dLbl>
            <c:dLbl>
              <c:idx val="4"/>
              <c:layout>
                <c:manualLayout>
                  <c:x val="0"/>
                  <c:y val="-0.136899365367180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1A6-594C-B381-F1FF62A8DF1B}"/>
                </c:ext>
              </c:extLst>
            </c:dLbl>
            <c:dLbl>
              <c:idx val="5"/>
              <c:layout>
                <c:manualLayout>
                  <c:x val="0"/>
                  <c:y val="-0.153218495013599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1A6-594C-B381-F1FF62A8DF1B}"/>
                </c:ext>
              </c:extLst>
            </c:dLbl>
            <c:dLbl>
              <c:idx val="6"/>
              <c:layout>
                <c:manualLayout>
                  <c:x val="0"/>
                  <c:y val="-9.83680870353581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1A6-594C-B381-F1FF62A8DF1B}"/>
                </c:ext>
              </c:extLst>
            </c:dLbl>
            <c:dLbl>
              <c:idx val="7"/>
              <c:layout>
                <c:manualLayout>
                  <c:x val="0"/>
                  <c:y val="-0.186310063463281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1A6-594C-B381-F1FF62A8DF1B}"/>
                </c:ext>
              </c:extLst>
            </c:dLbl>
            <c:dLbl>
              <c:idx val="8"/>
              <c:layout>
                <c:manualLayout>
                  <c:x val="0"/>
                  <c:y val="-8.204895738893926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1A6-594C-B381-F1FF62A8DF1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68</c:v>
                </c:pt>
                <c:pt idx="1">
                  <c:v>63</c:v>
                </c:pt>
                <c:pt idx="2">
                  <c:v>47</c:v>
                </c:pt>
                <c:pt idx="3">
                  <c:v>32</c:v>
                </c:pt>
                <c:pt idx="4">
                  <c:v>19</c:v>
                </c:pt>
                <c:pt idx="5">
                  <c:v>22</c:v>
                </c:pt>
                <c:pt idx="6">
                  <c:v>12</c:v>
                </c:pt>
                <c:pt idx="7">
                  <c:v>28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1A6-594C-B381-F1FF62A8DF1B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902991840435176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1A6-594C-B381-F1FF62A8DF1B}"/>
                </c:ext>
              </c:extLst>
            </c:dLbl>
            <c:dLbl>
              <c:idx val="1"/>
              <c:layout>
                <c:manualLayout>
                  <c:x val="0"/>
                  <c:y val="-0.44016319129646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1A6-594C-B381-F1FF62A8DF1B}"/>
                </c:ext>
              </c:extLst>
            </c:dLbl>
            <c:dLbl>
              <c:idx val="2"/>
              <c:layout>
                <c:manualLayout>
                  <c:x val="0"/>
                  <c:y val="-0.269265639165911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41A6-594C-B381-F1FF62A8DF1B}"/>
                </c:ext>
              </c:extLst>
            </c:dLbl>
            <c:dLbl>
              <c:idx val="3"/>
              <c:layout>
                <c:manualLayout>
                  <c:x val="0"/>
                  <c:y val="-0.2860380779691749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41A6-594C-B381-F1FF62A8DF1B}"/>
                </c:ext>
              </c:extLst>
            </c:dLbl>
            <c:dLbl>
              <c:idx val="4"/>
              <c:layout>
                <c:manualLayout>
                  <c:x val="0"/>
                  <c:y val="-9.2928377153218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41A6-594C-B381-F1FF62A8DF1B}"/>
                </c:ext>
              </c:extLst>
            </c:dLbl>
            <c:dLbl>
              <c:idx val="5"/>
              <c:layout>
                <c:manualLayout>
                  <c:x val="0"/>
                  <c:y val="-0.1699909338168630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41A6-594C-B381-F1FF62A8DF1B}"/>
                </c:ext>
              </c:extLst>
            </c:dLbl>
            <c:dLbl>
              <c:idx val="6"/>
              <c:layout>
                <c:manualLayout>
                  <c:x val="0"/>
                  <c:y val="-0.109700815956482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41A6-594C-B381-F1FF62A8DF1B}"/>
                </c:ext>
              </c:extLst>
            </c:dLbl>
            <c:dLbl>
              <c:idx val="7"/>
              <c:layout>
                <c:manualLayout>
                  <c:x val="0"/>
                  <c:y val="-0.1151405258386219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41A6-594C-B381-F1FF62A8DF1B}"/>
                </c:ext>
              </c:extLst>
            </c:dLbl>
            <c:dLbl>
              <c:idx val="8"/>
              <c:layout>
                <c:manualLayout>
                  <c:x val="0"/>
                  <c:y val="-6.618313689936536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41A6-594C-B381-F1FF62A8DF1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65</c:v>
                </c:pt>
                <c:pt idx="1">
                  <c:v>74</c:v>
                </c:pt>
                <c:pt idx="2">
                  <c:v>43</c:v>
                </c:pt>
                <c:pt idx="3">
                  <c:v>46</c:v>
                </c:pt>
                <c:pt idx="4">
                  <c:v>11</c:v>
                </c:pt>
                <c:pt idx="5">
                  <c:v>25</c:v>
                </c:pt>
                <c:pt idx="6">
                  <c:v>14</c:v>
                </c:pt>
                <c:pt idx="7">
                  <c:v>15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41A6-594C-B381-F1FF62A8D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60153200"/>
        <c:axId val="1"/>
      </c:barChart>
      <c:catAx>
        <c:axId val="3601532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601532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5231481481481477E-3"/>
          <c:y val="0.1204766107678729"/>
          <c:w val="0.98495370370370372"/>
          <c:h val="0.7943512797881729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3C8-9844-8944-17956E87FB4C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3C8-9844-8944-17956E87FB4C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3C8-9844-8944-17956E87FB4C}"/>
              </c:ext>
            </c:extLst>
          </c:dPt>
          <c:dLbls>
            <c:dLbl>
              <c:idx val="0"/>
              <c:layout>
                <c:manualLayout>
                  <c:x val="0"/>
                  <c:y val="-0.432480141218005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3C8-9844-8944-17956E87FB4C}"/>
                </c:ext>
              </c:extLst>
            </c:dLbl>
            <c:dLbl>
              <c:idx val="3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3C8-9844-8944-17956E87FB4C}"/>
                </c:ext>
              </c:extLst>
            </c:dLbl>
            <c:dLbl>
              <c:idx val="5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3C8-9844-8944-17956E87FB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100</c:v>
                </c:pt>
                <c:pt idx="1">
                  <c:v>93</c:v>
                </c:pt>
                <c:pt idx="2">
                  <c:v>65</c:v>
                </c:pt>
                <c:pt idx="3">
                  <c:v>50</c:v>
                </c:pt>
                <c:pt idx="4">
                  <c:v>65</c:v>
                </c:pt>
                <c:pt idx="5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C8-9844-8944-17956E87FB4C}"/>
            </c:ext>
          </c:extLst>
        </c:ser>
        <c:ser>
          <c:idx val="1"/>
          <c:order val="1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43C8-9844-8944-17956E87FB4C}"/>
              </c:ext>
            </c:extLst>
          </c:dPt>
          <c:dPt>
            <c:idx val="2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3C8-9844-8944-17956E87FB4C}"/>
              </c:ext>
            </c:extLst>
          </c:dPt>
          <c:dPt>
            <c:idx val="4"/>
            <c:invertIfNegative val="0"/>
            <c:bubble3D val="0"/>
            <c:spPr>
              <a:solidFill>
                <a:srgbClr val="00AD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43C8-9844-8944-17956E87FB4C}"/>
              </c:ext>
            </c:extLst>
          </c:dPt>
          <c:dLbls>
            <c:dLbl>
              <c:idx val="1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3C8-9844-8944-17956E87FB4C}"/>
                </c:ext>
              </c:extLst>
            </c:dLbl>
            <c:dLbl>
              <c:idx val="2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3C8-9844-8944-17956E87FB4C}"/>
                </c:ext>
              </c:extLst>
            </c:dLbl>
            <c:dLbl>
              <c:idx val="3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3C8-9844-8944-17956E87FB4C}"/>
                </c:ext>
              </c:extLst>
            </c:dLbl>
            <c:dLbl>
              <c:idx val="4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3C8-9844-8944-17956E87FB4C}"/>
                </c:ext>
              </c:extLst>
            </c:dLbl>
            <c:dLbl>
              <c:idx val="5"/>
              <c:layout>
                <c:manualLayout>
                  <c:x val="0"/>
                  <c:y val="-1.32391879964695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3C8-9844-8944-17956E87FB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1">
                  <c:v>7</c:v>
                </c:pt>
                <c:pt idx="2">
                  <c:v>28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3C8-9844-8944-17956E87FB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8669984"/>
        <c:axId val="1"/>
      </c:barChart>
      <c:catAx>
        <c:axId val="7186699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86699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239443302229952E-3"/>
          <c:y val="7.8651685393258425E-2"/>
          <c:w val="0.983552111339554"/>
          <c:h val="0.8426966292134830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24F-BE47-A45C-372A98646C57}"/>
                </c:ext>
              </c:extLst>
            </c:dLbl>
            <c:dLbl>
              <c:idx val="1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24F-BE47-A45C-372A98646C57}"/>
                </c:ext>
              </c:extLst>
            </c:dLbl>
            <c:dLbl>
              <c:idx val="2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24F-BE47-A45C-372A98646C57}"/>
                </c:ext>
              </c:extLst>
            </c:dLbl>
            <c:dLbl>
              <c:idx val="3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24F-BE47-A45C-372A98646C57}"/>
                </c:ext>
              </c:extLst>
            </c:dLbl>
            <c:dLbl>
              <c:idx val="5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24F-BE47-A45C-372A98646C57}"/>
                </c:ext>
              </c:extLst>
            </c:dLbl>
            <c:dLbl>
              <c:idx val="6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24F-BE47-A45C-372A98646C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10</c:v>
                </c:pt>
                <c:pt idx="1">
                  <c:v>9</c:v>
                </c:pt>
                <c:pt idx="2">
                  <c:v>11</c:v>
                </c:pt>
                <c:pt idx="3">
                  <c:v>15</c:v>
                </c:pt>
                <c:pt idx="4">
                  <c:v>3</c:v>
                </c:pt>
                <c:pt idx="5">
                  <c:v>15</c:v>
                </c:pt>
                <c:pt idx="6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4F-BE47-A45C-372A98646C57}"/>
            </c:ext>
          </c:extLst>
        </c:ser>
        <c:ser>
          <c:idx val="1"/>
          <c:order val="1"/>
          <c:spPr>
            <a:solidFill>
              <a:srgbClr val="007CB5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24F-BE47-A45C-372A98646C57}"/>
              </c:ext>
            </c:extLst>
          </c:dPt>
          <c:dLbls>
            <c:dLbl>
              <c:idx val="1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24F-BE47-A45C-372A98646C57}"/>
                </c:ext>
              </c:extLst>
            </c:dLbl>
            <c:dLbl>
              <c:idx val="2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524F-BE47-A45C-372A98646C57}"/>
                </c:ext>
              </c:extLst>
            </c:dLbl>
            <c:dLbl>
              <c:idx val="3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24F-BE47-A45C-372A98646C57}"/>
                </c:ext>
              </c:extLst>
            </c:dLbl>
            <c:dLbl>
              <c:idx val="4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24F-BE47-A45C-372A98646C57}"/>
                </c:ext>
              </c:extLst>
            </c:dLbl>
            <c:dLbl>
              <c:idx val="5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24F-BE47-A45C-372A98646C57}"/>
                </c:ext>
              </c:extLst>
            </c:dLbl>
            <c:dLbl>
              <c:idx val="6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24F-BE47-A45C-372A98646C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0</c:v>
                </c:pt>
                <c:pt idx="1">
                  <c:v>9</c:v>
                </c:pt>
                <c:pt idx="2">
                  <c:v>15</c:v>
                </c:pt>
                <c:pt idx="3">
                  <c:v>16</c:v>
                </c:pt>
                <c:pt idx="4">
                  <c:v>28</c:v>
                </c:pt>
                <c:pt idx="5">
                  <c:v>26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24F-BE47-A45C-372A98646C57}"/>
            </c:ext>
          </c:extLst>
        </c:ser>
        <c:ser>
          <c:idx val="2"/>
          <c:order val="2"/>
          <c:spPr>
            <a:solidFill>
              <a:srgbClr val="E5E7E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524F-BE47-A45C-372A98646C57}"/>
                </c:ext>
              </c:extLst>
            </c:dLbl>
            <c:dLbl>
              <c:idx val="1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24F-BE47-A45C-372A98646C57}"/>
                </c:ext>
              </c:extLst>
            </c:dLbl>
            <c:dLbl>
              <c:idx val="2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24F-BE47-A45C-372A98646C57}"/>
                </c:ext>
              </c:extLst>
            </c:dLbl>
            <c:dLbl>
              <c:idx val="3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24F-BE47-A45C-372A98646C57}"/>
                </c:ext>
              </c:extLst>
            </c:dLbl>
            <c:dLbl>
              <c:idx val="4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24F-BE47-A45C-372A98646C57}"/>
                </c:ext>
              </c:extLst>
            </c:dLbl>
            <c:dLbl>
              <c:idx val="5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24F-BE47-A45C-372A98646C57}"/>
                </c:ext>
              </c:extLst>
            </c:dLbl>
            <c:dLbl>
              <c:idx val="6"/>
              <c:layout>
                <c:manualLayout>
                  <c:x val="0"/>
                  <c:y val="-1.40449438202247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24F-BE47-A45C-372A98646C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Sheet1!$A$3:$G$3</c:f>
              <c:numCache>
                <c:formatCode>General</c:formatCode>
                <c:ptCount val="7"/>
                <c:pt idx="0">
                  <c:v>90</c:v>
                </c:pt>
                <c:pt idx="1">
                  <c:v>82</c:v>
                </c:pt>
                <c:pt idx="2">
                  <c:v>74</c:v>
                </c:pt>
                <c:pt idx="3">
                  <c:v>69</c:v>
                </c:pt>
                <c:pt idx="4">
                  <c:v>69</c:v>
                </c:pt>
                <c:pt idx="5">
                  <c:v>59</c:v>
                </c:pt>
                <c:pt idx="6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524F-BE47-A45C-372A98646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7656848"/>
        <c:axId val="1"/>
      </c:barChart>
      <c:catAx>
        <c:axId val="17076568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076568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DD67C-EFDA-B6F4-1684-704A3E2C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BCEA11-6B0F-EC71-1ABA-9B1C7EC80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86F0E6-4E80-B4B6-2023-29489861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86AA66-CFA0-8F62-ECA3-747FD1AC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BF174-D312-8E67-2645-E47ECC2D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761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42454-17C1-1DE4-BB93-6612BF21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D9C8A5-2ADD-D09B-3EFE-3A556D54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DD859-F867-ABB5-6D2A-D5F3720A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AF0CA-3446-F288-2895-3AD05682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86D45-5259-FC67-75DB-9CA2699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403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F835B-5F63-FDE2-CFE4-679A9F22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45BBAC-1491-FCFC-F505-0576EA940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04C274-59D9-C23E-9918-93506541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A5344-7553-CA82-2F0D-26349975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DBE54-8434-0B29-EE0E-AE8928CF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784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C93AF-7C89-C822-660C-47DB57A7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1E414-E76A-0F40-5211-6D8EAD136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9C9C25-3997-C4BB-2473-073548588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3F1CD-728E-F6E8-8CF7-E8434215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8B940-6FD4-CE55-FC40-F4D3ED69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D5CFEB-E1D8-C47D-07A0-6555582C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89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83193-3CFD-AD51-0DCA-614B4C4F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18BCD1-9C57-E7D8-DA97-438E77B2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582089-9D0F-F6A4-BA2E-1EE3874CA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820FD5-95EE-EAD4-A629-58CA9CAB4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84E2D7-A3E4-6AEC-4784-630EFA2C6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6FAEA4-17AC-C425-6BD3-D1476D0E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4DD27E-1CDD-B08A-36D0-A2EE4A69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75A86A-F659-47D0-E697-E2596060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655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6FA5D-6EB7-859D-C18E-92D3ED94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2AF631-AF6F-219E-F730-6D6689D6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26F430-58EA-B54B-29D7-0D0D3F87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0EF71C-F533-A3EB-D32E-84A122F5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774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C914BE-FDE1-82D8-27EF-224FEA40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FE566F-B539-E26C-FC99-678B835A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DE0E7-40DA-5DD0-39A6-D4D65316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162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910BB-AA69-805D-823B-E64C8D81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545E13-6AFF-D763-F611-F9590FCBA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1B8AD4-B558-B5AF-B5FB-E77E8D482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ACCB26-B61E-77DE-7A1E-B704FEEB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6C4716-86DA-BA92-D399-EBB4F01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CD8A1-C02F-4233-9277-7F8B2027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486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4D60-DB12-5DE0-F02D-27E28021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98737E-3793-64F4-7A6C-A0D09044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01CFC3-1317-1423-D9E4-C8FABA6FF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5387B9-16A3-4F7C-0926-72DC5380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4C6B5-9A76-A23A-D8AB-BC2DC4D6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3B3868-0EED-B6E4-AE72-A8A9F0C4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8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9FE30-7DA9-BB16-6C11-2A130C68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B4820-A9BE-B3CE-1DD6-D235743BB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E8D22E-5244-6288-21A0-094C8B82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03C59-D867-5DE1-75D5-44D9D48A9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1B65DC-22C5-CE89-3519-EDF3E1CB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18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C137D-BA1E-488A-444E-963EE9D93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05C08B-A1D0-4777-A7BD-BB4010580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09DBF-A6A8-5B47-1F69-EC95D385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459DC-E13B-219C-6D93-495EA0D5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35862-53C2-8F35-E1DC-A8B02AE4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445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3DC6409-53FB-E992-1065-CB2717B78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3857297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0E8079-B249-C43C-1273-B0383401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CB512-4D27-D78F-093D-11A742768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7FD7E-2E81-A600-9BFB-C9C2E4C8B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8FD37-5AD7-A145-8008-80D58668486B}" type="datetimeFigureOut">
              <a:rPr kumimoji="1" lang="zh-CN" altLang="en-US" smtClean="0"/>
              <a:t>2024/10/22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B13B1-96DC-AE26-51F6-67807CE98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B64028-768C-09C8-86B2-AFF2C8E89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C4CFD-9A72-084E-AAA8-D3E6E8E60B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643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chart" Target="../charts/char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emf"/><Relationship Id="rId5" Type="http://schemas.openxmlformats.org/officeDocument/2006/relationships/tags" Target="../tags/tag6.xml"/><Relationship Id="rId10" Type="http://schemas.openxmlformats.org/officeDocument/2006/relationships/oleObject" Target="../embeddings/oleObject2.bin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oleObject" Target="../embeddings/oleObject3.bin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10" Type="http://schemas.openxmlformats.org/officeDocument/2006/relationships/chart" Target="../charts/chart7.xml"/><Relationship Id="rId4" Type="http://schemas.openxmlformats.org/officeDocument/2006/relationships/image" Target="../media/image2.emf"/><Relationship Id="rId9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chart" Target="../charts/chart8.xml"/><Relationship Id="rId4" Type="http://schemas.openxmlformats.org/officeDocument/2006/relationships/tags" Target="../tags/tag14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42.xml"/><Relationship Id="rId21" Type="http://schemas.openxmlformats.org/officeDocument/2006/relationships/tags" Target="../tags/tag37.xml"/><Relationship Id="rId42" Type="http://schemas.openxmlformats.org/officeDocument/2006/relationships/tags" Target="../tags/tag58.xml"/><Relationship Id="rId47" Type="http://schemas.openxmlformats.org/officeDocument/2006/relationships/tags" Target="../tags/tag63.xml"/><Relationship Id="rId63" Type="http://schemas.openxmlformats.org/officeDocument/2006/relationships/tags" Target="../tags/tag79.xml"/><Relationship Id="rId68" Type="http://schemas.openxmlformats.org/officeDocument/2006/relationships/tags" Target="../tags/tag84.xml"/><Relationship Id="rId84" Type="http://schemas.openxmlformats.org/officeDocument/2006/relationships/chart" Target="../charts/chart9.xml"/><Relationship Id="rId16" Type="http://schemas.openxmlformats.org/officeDocument/2006/relationships/tags" Target="../tags/tag32.xml"/><Relationship Id="rId11" Type="http://schemas.openxmlformats.org/officeDocument/2006/relationships/tags" Target="../tags/tag27.xml"/><Relationship Id="rId32" Type="http://schemas.openxmlformats.org/officeDocument/2006/relationships/tags" Target="../tags/tag48.xml"/><Relationship Id="rId37" Type="http://schemas.openxmlformats.org/officeDocument/2006/relationships/tags" Target="../tags/tag53.xml"/><Relationship Id="rId53" Type="http://schemas.openxmlformats.org/officeDocument/2006/relationships/tags" Target="../tags/tag69.xml"/><Relationship Id="rId58" Type="http://schemas.openxmlformats.org/officeDocument/2006/relationships/tags" Target="../tags/tag74.xml"/><Relationship Id="rId74" Type="http://schemas.openxmlformats.org/officeDocument/2006/relationships/tags" Target="../tags/tag90.xml"/><Relationship Id="rId79" Type="http://schemas.openxmlformats.org/officeDocument/2006/relationships/tags" Target="../tags/tag95.xml"/><Relationship Id="rId5" Type="http://schemas.openxmlformats.org/officeDocument/2006/relationships/tags" Target="../tags/tag21.xml"/><Relationship Id="rId61" Type="http://schemas.openxmlformats.org/officeDocument/2006/relationships/tags" Target="../tags/tag77.xml"/><Relationship Id="rId82" Type="http://schemas.openxmlformats.org/officeDocument/2006/relationships/image" Target="../media/image3.emf"/><Relationship Id="rId19" Type="http://schemas.openxmlformats.org/officeDocument/2006/relationships/tags" Target="../tags/tag3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Relationship Id="rId30" Type="http://schemas.openxmlformats.org/officeDocument/2006/relationships/tags" Target="../tags/tag46.xml"/><Relationship Id="rId35" Type="http://schemas.openxmlformats.org/officeDocument/2006/relationships/tags" Target="../tags/tag51.xml"/><Relationship Id="rId43" Type="http://schemas.openxmlformats.org/officeDocument/2006/relationships/tags" Target="../tags/tag59.xml"/><Relationship Id="rId48" Type="http://schemas.openxmlformats.org/officeDocument/2006/relationships/tags" Target="../tags/tag64.xml"/><Relationship Id="rId56" Type="http://schemas.openxmlformats.org/officeDocument/2006/relationships/tags" Target="../tags/tag72.xml"/><Relationship Id="rId64" Type="http://schemas.openxmlformats.org/officeDocument/2006/relationships/tags" Target="../tags/tag80.xml"/><Relationship Id="rId69" Type="http://schemas.openxmlformats.org/officeDocument/2006/relationships/tags" Target="../tags/tag85.xml"/><Relationship Id="rId77" Type="http://schemas.openxmlformats.org/officeDocument/2006/relationships/tags" Target="../tags/tag93.xml"/><Relationship Id="rId8" Type="http://schemas.openxmlformats.org/officeDocument/2006/relationships/tags" Target="../tags/tag24.xml"/><Relationship Id="rId51" Type="http://schemas.openxmlformats.org/officeDocument/2006/relationships/tags" Target="../tags/tag67.xml"/><Relationship Id="rId72" Type="http://schemas.openxmlformats.org/officeDocument/2006/relationships/tags" Target="../tags/tag88.xml"/><Relationship Id="rId80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33" Type="http://schemas.openxmlformats.org/officeDocument/2006/relationships/tags" Target="../tags/tag49.xml"/><Relationship Id="rId38" Type="http://schemas.openxmlformats.org/officeDocument/2006/relationships/tags" Target="../tags/tag54.xml"/><Relationship Id="rId46" Type="http://schemas.openxmlformats.org/officeDocument/2006/relationships/tags" Target="../tags/tag62.xml"/><Relationship Id="rId59" Type="http://schemas.openxmlformats.org/officeDocument/2006/relationships/tags" Target="../tags/tag75.xml"/><Relationship Id="rId67" Type="http://schemas.openxmlformats.org/officeDocument/2006/relationships/tags" Target="../tags/tag83.xml"/><Relationship Id="rId20" Type="http://schemas.openxmlformats.org/officeDocument/2006/relationships/tags" Target="../tags/tag36.xml"/><Relationship Id="rId41" Type="http://schemas.openxmlformats.org/officeDocument/2006/relationships/tags" Target="../tags/tag57.xml"/><Relationship Id="rId54" Type="http://schemas.openxmlformats.org/officeDocument/2006/relationships/tags" Target="../tags/tag70.xml"/><Relationship Id="rId62" Type="http://schemas.openxmlformats.org/officeDocument/2006/relationships/tags" Target="../tags/tag78.xml"/><Relationship Id="rId70" Type="http://schemas.openxmlformats.org/officeDocument/2006/relationships/tags" Target="../tags/tag86.xml"/><Relationship Id="rId75" Type="http://schemas.openxmlformats.org/officeDocument/2006/relationships/tags" Target="../tags/tag91.xml"/><Relationship Id="rId83" Type="http://schemas.openxmlformats.org/officeDocument/2006/relationships/image" Target="../media/image4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tags" Target="../tags/tag44.xml"/><Relationship Id="rId36" Type="http://schemas.openxmlformats.org/officeDocument/2006/relationships/tags" Target="../tags/tag52.xml"/><Relationship Id="rId49" Type="http://schemas.openxmlformats.org/officeDocument/2006/relationships/tags" Target="../tags/tag65.xml"/><Relationship Id="rId57" Type="http://schemas.openxmlformats.org/officeDocument/2006/relationships/tags" Target="../tags/tag73.xml"/><Relationship Id="rId10" Type="http://schemas.openxmlformats.org/officeDocument/2006/relationships/tags" Target="../tags/tag26.xml"/><Relationship Id="rId31" Type="http://schemas.openxmlformats.org/officeDocument/2006/relationships/tags" Target="../tags/tag47.xml"/><Relationship Id="rId44" Type="http://schemas.openxmlformats.org/officeDocument/2006/relationships/tags" Target="../tags/tag60.xml"/><Relationship Id="rId52" Type="http://schemas.openxmlformats.org/officeDocument/2006/relationships/tags" Target="../tags/tag68.xml"/><Relationship Id="rId60" Type="http://schemas.openxmlformats.org/officeDocument/2006/relationships/tags" Target="../tags/tag76.xml"/><Relationship Id="rId65" Type="http://schemas.openxmlformats.org/officeDocument/2006/relationships/tags" Target="../tags/tag81.xml"/><Relationship Id="rId73" Type="http://schemas.openxmlformats.org/officeDocument/2006/relationships/tags" Target="../tags/tag89.xml"/><Relationship Id="rId78" Type="http://schemas.openxmlformats.org/officeDocument/2006/relationships/tags" Target="../tags/tag94.xml"/><Relationship Id="rId81" Type="http://schemas.openxmlformats.org/officeDocument/2006/relationships/oleObject" Target="../embeddings/oleObject5.bin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9" Type="http://schemas.openxmlformats.org/officeDocument/2006/relationships/tags" Target="../tags/tag55.xml"/><Relationship Id="rId34" Type="http://schemas.openxmlformats.org/officeDocument/2006/relationships/tags" Target="../tags/tag50.xml"/><Relationship Id="rId50" Type="http://schemas.openxmlformats.org/officeDocument/2006/relationships/tags" Target="../tags/tag66.xml"/><Relationship Id="rId55" Type="http://schemas.openxmlformats.org/officeDocument/2006/relationships/tags" Target="../tags/tag71.xml"/><Relationship Id="rId76" Type="http://schemas.openxmlformats.org/officeDocument/2006/relationships/tags" Target="../tags/tag92.xml"/><Relationship Id="rId7" Type="http://schemas.openxmlformats.org/officeDocument/2006/relationships/tags" Target="../tags/tag23.xml"/><Relationship Id="rId71" Type="http://schemas.openxmlformats.org/officeDocument/2006/relationships/tags" Target="../tags/tag87.xml"/><Relationship Id="rId2" Type="http://schemas.openxmlformats.org/officeDocument/2006/relationships/tags" Target="../tags/tag18.xml"/><Relationship Id="rId29" Type="http://schemas.openxmlformats.org/officeDocument/2006/relationships/tags" Target="../tags/tag45.xml"/><Relationship Id="rId24" Type="http://schemas.openxmlformats.org/officeDocument/2006/relationships/tags" Target="../tags/tag40.xml"/><Relationship Id="rId40" Type="http://schemas.openxmlformats.org/officeDocument/2006/relationships/tags" Target="../tags/tag56.xml"/><Relationship Id="rId45" Type="http://schemas.openxmlformats.org/officeDocument/2006/relationships/tags" Target="../tags/tag61.xml"/><Relationship Id="rId66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26" Type="http://schemas.openxmlformats.org/officeDocument/2006/relationships/chart" Target="../charts/chart11.xml"/><Relationship Id="rId3" Type="http://schemas.openxmlformats.org/officeDocument/2006/relationships/tags" Target="../tags/tag98.xml"/><Relationship Id="rId21" Type="http://schemas.openxmlformats.org/officeDocument/2006/relationships/tags" Target="../tags/tag116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chart" Target="../charts/chart10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24" Type="http://schemas.openxmlformats.org/officeDocument/2006/relationships/image" Target="../media/image3.emf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23" Type="http://schemas.openxmlformats.org/officeDocument/2006/relationships/oleObject" Target="../embeddings/oleObject6.bin"/><Relationship Id="rId28" Type="http://schemas.openxmlformats.org/officeDocument/2006/relationships/chart" Target="../charts/chart13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Relationship Id="rId22" Type="http://schemas.openxmlformats.org/officeDocument/2006/relationships/slideLayout" Target="../slideLayouts/slideLayout1.xml"/><Relationship Id="rId27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tags" Target="../tags/tag129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19.xml"/><Relationship Id="rId21" Type="http://schemas.openxmlformats.org/officeDocument/2006/relationships/chart" Target="../charts/chart14.xml"/><Relationship Id="rId7" Type="http://schemas.openxmlformats.org/officeDocument/2006/relationships/tags" Target="../tags/tag123.xml"/><Relationship Id="rId12" Type="http://schemas.openxmlformats.org/officeDocument/2006/relationships/tags" Target="../tags/tag128.xml"/><Relationship Id="rId17" Type="http://schemas.openxmlformats.org/officeDocument/2006/relationships/tags" Target="../tags/tag133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20" Type="http://schemas.openxmlformats.org/officeDocument/2006/relationships/image" Target="../media/image3.emf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10" Type="http://schemas.openxmlformats.org/officeDocument/2006/relationships/tags" Target="../tags/tag126.xml"/><Relationship Id="rId19" Type="http://schemas.openxmlformats.org/officeDocument/2006/relationships/oleObject" Target="../embeddings/oleObject7.bin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Relationship Id="rId22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../media/image5.emf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oleObject" Target="../embeddings/oleObject8.bin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chart" Target="../charts/char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chart" Target="../charts/chart17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5.emf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oleObject" Target="../embeddings/oleObject9.bin"/><Relationship Id="rId5" Type="http://schemas.openxmlformats.org/officeDocument/2006/relationships/tags" Target="../tags/tag148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image" Target="../media/image5.emf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oleObject" Target="../embeddings/oleObject10.bin"/><Relationship Id="rId2" Type="http://schemas.openxmlformats.org/officeDocument/2006/relationships/tags" Target="../tags/tag15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chart" Target="../charts/chart18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13" Type="http://schemas.openxmlformats.org/officeDocument/2006/relationships/tags" Target="../tags/tag180.xml"/><Relationship Id="rId18" Type="http://schemas.openxmlformats.org/officeDocument/2006/relationships/oleObject" Target="../embeddings/oleObject11.bin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12" Type="http://schemas.openxmlformats.org/officeDocument/2006/relationships/tags" Target="../tags/tag179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69.xml"/><Relationship Id="rId16" Type="http://schemas.openxmlformats.org/officeDocument/2006/relationships/tags" Target="../tags/tag183.xml"/><Relationship Id="rId20" Type="http://schemas.openxmlformats.org/officeDocument/2006/relationships/chart" Target="../charts/chart1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tags" Target="../tags/tag178.xml"/><Relationship Id="rId5" Type="http://schemas.openxmlformats.org/officeDocument/2006/relationships/tags" Target="../tags/tag172.xml"/><Relationship Id="rId15" Type="http://schemas.openxmlformats.org/officeDocument/2006/relationships/tags" Target="../tags/tag182.xml"/><Relationship Id="rId10" Type="http://schemas.openxmlformats.org/officeDocument/2006/relationships/tags" Target="../tags/tag177.xml"/><Relationship Id="rId19" Type="http://schemas.openxmlformats.org/officeDocument/2006/relationships/image" Target="../media/image5.emf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tags" Target="../tags/tag18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chart" Target="../charts/chart20.xml"/><Relationship Id="rId2" Type="http://schemas.openxmlformats.org/officeDocument/2006/relationships/tags" Target="../tags/tag185.xml"/><Relationship Id="rId16" Type="http://schemas.openxmlformats.org/officeDocument/2006/relationships/image" Target="../media/image5.emf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oleObject" Target="../embeddings/oleObject12.bin"/><Relationship Id="rId10" Type="http://schemas.openxmlformats.org/officeDocument/2006/relationships/tags" Target="../tags/tag193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FA168E-D3DB-60F6-8CA2-FC886FEB13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7772400" imgH="10058400" progId="TCLayout.ActiveDocument.1">
                  <p:embed/>
                </p:oleObj>
              </mc:Choice>
              <mc:Fallback>
                <p:oleObj name="think-cell 幻灯片" r:id="rId10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FA168E-D3DB-60F6-8CA2-FC886FEB1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EA8C090-034F-920E-C70C-22780CD76A54}"/>
              </a:ext>
            </a:extLst>
          </p:cNvPr>
          <p:cNvSpPr txBox="1"/>
          <p:nvPr/>
        </p:nvSpPr>
        <p:spPr>
          <a:xfrm>
            <a:off x="414603" y="227180"/>
            <a:ext cx="1138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McKinsey Global Survey respondents are much more likely to predict a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near-term recession than they were last quarter.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9B7E2C-8E14-B788-1FAC-958AB038BB38}"/>
              </a:ext>
            </a:extLst>
          </p:cNvPr>
          <p:cNvSpPr txBox="1"/>
          <p:nvPr/>
        </p:nvSpPr>
        <p:spPr>
          <a:xfrm>
            <a:off x="414603" y="931439"/>
            <a:ext cx="783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Share of respondents ranking each global scenario as the most likely to occur in 2024-25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13" name="Chart 3">
            <a:extLst>
              <a:ext uri="{FF2B5EF4-FFF2-40B4-BE49-F238E27FC236}">
                <a16:creationId xmlns:a16="http://schemas.microsoft.com/office/drawing/2014/main" id="{7D7FA222-4432-2D45-8FAC-3C681EFEB9A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043113" y="1403350"/>
          <a:ext cx="7877175" cy="4408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9CCA4F8F-DF8A-E7F8-D270-3800BCEF85D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185150" y="5595938"/>
            <a:ext cx="7350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76236C3-CE2F-4123-A439-6D7D89EC6C2B}" type="datetime'Ju''''''''n''''''''''e ''2''''''''''''''''02''''''4'''''">
              <a:rPr kumimoji="1" lang="en-US" altLang="en-US" sz="1200" smtClean="0">
                <a:solidFill>
                  <a:srgbClr val="969696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June 2024</a:t>
            </a:fld>
            <a:endParaRPr kumimoji="1" lang="zh-CN" altLang="en-US" sz="1200" dirty="0">
              <a:solidFill>
                <a:srgbClr val="969696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AFFCB327-31E5-F862-FAB1-4A07162AE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25463" y="1677988"/>
            <a:ext cx="20462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63BAF40-B1C9-4049-A89C-673C09F3E935}" type="datetime'Recession driv''en by too-hi''gh&#10;interest rates for too long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Recession driven by too-high
interest rates for too long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3C0A234-5051-810D-70B0-D616661053D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3073400" y="5595938"/>
            <a:ext cx="6746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43602B-FD99-4CD3-BE91-0752F1BED712}" type="datetime'M''ar'''' 2''0''''''''''''''2''''''''4'''''''''''">
              <a:rPr kumimoji="1" lang="en-US" altLang="en-US" sz="1200" smtClean="0">
                <a:solidFill>
                  <a:srgbClr val="969696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Mar 2024</a:t>
            </a:fld>
            <a:endParaRPr kumimoji="1" lang="zh-CN" altLang="en-US" sz="1200" dirty="0">
              <a:solidFill>
                <a:srgbClr val="969696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25FB1299-1832-E2DF-5B07-873751BDD4D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25463" y="3589338"/>
            <a:ext cx="23336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8CA0DDC-3E0A-4875-AA7A-92CC69442779}" type="thinkcell&lt;?xml version=&quot;1.0&quot; encoding=&quot;UTF-16&quot; standalone=&quot;yes&quot;?&gt;&lt;root reqver=&quot;28224&quot;&gt;&lt;version val=&quot;35557&quot;/&gt;&lt;PersistentType&gt;&lt;m_guid val=&quot;f7fa0a3b-08f5-478e-8184-11e374393730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Inflation remains high due to
strong demand; interest rates are
high; growth rates slows slightly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91FFD905-6859-ADEA-3957-5EC336E3898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25463" y="4964113"/>
            <a:ext cx="13446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5F31DC4-7AAF-4036-8C9C-AACFD6770CD0}" type="datetime'''''Gr''''''owth'''' ''ac''c''''el''''''''erat''e''''''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Growth accelerates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2B7C8C4-D3B6-7B0F-BAFE-75D292298B7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25463" y="2324100"/>
            <a:ext cx="21320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6B95912-038B-49E3-BB7D-3CBE046F5861}" type="thinkcell&lt;?xml version=&quot;1.0&quot; encoding=&quot;UTF-16&quot; standalone=&quot;yes&quot;?&gt;&lt;root reqver=&quot;28224&quot;&gt;&lt;version val=&quot;35557&quot;/&gt;&lt;PersistentType&gt;&lt;m_guid val=&quot;7bccb6cb-cd2a-45ac-ae70-4b154aa6bb8b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Rising uncertainty causes
consumer sentiment to drop；
economy enters a recession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8391B00-E484-551E-E2C1-C745D09FC648}"/>
              </a:ext>
            </a:extLst>
          </p:cNvPr>
          <p:cNvSpPr txBox="1"/>
          <p:nvPr/>
        </p:nvSpPr>
        <p:spPr>
          <a:xfrm>
            <a:off x="414603" y="6017902"/>
            <a:ext cx="6755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Surveys on economic conditions, 2024; McKinsey's Global Economics Intelligence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953EC580-1D85-A562-FD58-B309B1D40905}"/>
              </a:ext>
            </a:extLst>
          </p:cNvPr>
          <p:cNvCxnSpPr/>
          <p:nvPr/>
        </p:nvCxnSpPr>
        <p:spPr>
          <a:xfrm>
            <a:off x="3864819" y="3123910"/>
            <a:ext cx="155685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806697CC-A15D-B43A-D059-5A600CA98F12}"/>
              </a:ext>
            </a:extLst>
          </p:cNvPr>
          <p:cNvCxnSpPr/>
          <p:nvPr/>
        </p:nvCxnSpPr>
        <p:spPr>
          <a:xfrm>
            <a:off x="3864819" y="1673771"/>
            <a:ext cx="155685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82B9552C-BC22-20F6-24EC-42ECB31736AC}"/>
              </a:ext>
            </a:extLst>
          </p:cNvPr>
          <p:cNvCxnSpPr/>
          <p:nvPr/>
        </p:nvCxnSpPr>
        <p:spPr>
          <a:xfrm>
            <a:off x="5421672" y="1670050"/>
            <a:ext cx="0" cy="145386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5C83AB8A-18D4-9E88-E308-6B9B1AED49F6}"/>
              </a:ext>
            </a:extLst>
          </p:cNvPr>
          <p:cNvCxnSpPr>
            <a:cxnSpLocks/>
          </p:cNvCxnSpPr>
          <p:nvPr/>
        </p:nvCxnSpPr>
        <p:spPr>
          <a:xfrm>
            <a:off x="5421672" y="3123910"/>
            <a:ext cx="0" cy="2414627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D3B7DDEB-A8E9-42B2-8007-ED5B6AA8B1E1}"/>
              </a:ext>
            </a:extLst>
          </p:cNvPr>
          <p:cNvSpPr txBox="1"/>
          <p:nvPr/>
        </p:nvSpPr>
        <p:spPr>
          <a:xfrm>
            <a:off x="5043203" y="2119981"/>
            <a:ext cx="756938" cy="5539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Recession</a:t>
            </a:r>
          </a:p>
          <a:p>
            <a:pPr algn="ctr"/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38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22A0CB9-53C1-2C2A-A73A-5B0ADD8EE426}"/>
              </a:ext>
            </a:extLst>
          </p:cNvPr>
          <p:cNvSpPr txBox="1"/>
          <p:nvPr/>
        </p:nvSpPr>
        <p:spPr>
          <a:xfrm>
            <a:off x="4981488" y="4055520"/>
            <a:ext cx="880369" cy="5539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Soft landing</a:t>
            </a:r>
          </a:p>
          <a:p>
            <a:pPr algn="ctr"/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63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D5627708-3152-776D-E71E-56E3F43DB0FD}"/>
              </a:ext>
            </a:extLst>
          </p:cNvPr>
          <p:cNvCxnSpPr/>
          <p:nvPr/>
        </p:nvCxnSpPr>
        <p:spPr>
          <a:xfrm>
            <a:off x="9001912" y="3744365"/>
            <a:ext cx="155685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205F076B-7216-722B-8C4D-32D7006FDF38}"/>
              </a:ext>
            </a:extLst>
          </p:cNvPr>
          <p:cNvCxnSpPr/>
          <p:nvPr/>
        </p:nvCxnSpPr>
        <p:spPr>
          <a:xfrm>
            <a:off x="9009395" y="1731172"/>
            <a:ext cx="155685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A88504AC-8819-992A-3872-5FF72170712F}"/>
              </a:ext>
            </a:extLst>
          </p:cNvPr>
          <p:cNvCxnSpPr>
            <a:cxnSpLocks/>
          </p:cNvCxnSpPr>
          <p:nvPr/>
        </p:nvCxnSpPr>
        <p:spPr>
          <a:xfrm>
            <a:off x="10566248" y="1727451"/>
            <a:ext cx="0" cy="201691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5839199-9D18-B905-FBD7-800A56CEED6B}"/>
              </a:ext>
            </a:extLst>
          </p:cNvPr>
          <p:cNvCxnSpPr>
            <a:cxnSpLocks/>
          </p:cNvCxnSpPr>
          <p:nvPr/>
        </p:nvCxnSpPr>
        <p:spPr>
          <a:xfrm>
            <a:off x="10566248" y="3744365"/>
            <a:ext cx="0" cy="1794172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CD04342-25DF-5B90-C620-7561B18A259D}"/>
              </a:ext>
            </a:extLst>
          </p:cNvPr>
          <p:cNvSpPr txBox="1"/>
          <p:nvPr/>
        </p:nvSpPr>
        <p:spPr>
          <a:xfrm>
            <a:off x="10187779" y="2458909"/>
            <a:ext cx="756938" cy="5539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Recession</a:t>
            </a:r>
          </a:p>
          <a:p>
            <a:pPr algn="ctr"/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53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DC15904-6AE2-389E-FB82-44E996A2F208}"/>
              </a:ext>
            </a:extLst>
          </p:cNvPr>
          <p:cNvSpPr txBox="1"/>
          <p:nvPr/>
        </p:nvSpPr>
        <p:spPr>
          <a:xfrm>
            <a:off x="10118580" y="4364452"/>
            <a:ext cx="880369" cy="5539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Soft landing</a:t>
            </a:r>
          </a:p>
          <a:p>
            <a:pPr algn="ctr"/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47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EE82114F-3379-7887-A4D4-00B03321FA9B}"/>
              </a:ext>
            </a:extLst>
          </p:cNvPr>
          <p:cNvCxnSpPr/>
          <p:nvPr/>
        </p:nvCxnSpPr>
        <p:spPr>
          <a:xfrm>
            <a:off x="9834483" y="5543041"/>
            <a:ext cx="1556853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02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9F7A-7C42-F40B-927E-B9A9028F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FC4EF69-CD23-DE92-0F51-51AA69C812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4EF69-CD23-DE92-0F51-51AA69C812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01F52B1-3C49-D75F-B4C0-3CFF1BB0F1A3}"/>
              </a:ext>
            </a:extLst>
          </p:cNvPr>
          <p:cNvSpPr txBox="1"/>
          <p:nvPr/>
        </p:nvSpPr>
        <p:spPr>
          <a:xfrm>
            <a:off x="414603" y="227180"/>
            <a:ext cx="1138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 multiple regions, growing shares of respondents believe the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unemployment rates in their countries will increase.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CA4EC5-9757-D781-399E-710C0261C91B}"/>
              </a:ext>
            </a:extLst>
          </p:cNvPr>
          <p:cNvSpPr txBox="1"/>
          <p:nvPr/>
        </p:nvSpPr>
        <p:spPr>
          <a:xfrm>
            <a:off x="414603" y="922478"/>
            <a:ext cx="10456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Share of respondents expecting their countries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’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unemployment rate to increase, next 6 months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zh-CN" altLang="en-US" sz="1400" baseline="300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％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by office location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CFA3BAD-1565-FFA8-5CB5-1327F7B36F8B}"/>
              </a:ext>
            </a:extLst>
          </p:cNvPr>
          <p:cNvSpPr txBox="1"/>
          <p:nvPr/>
        </p:nvSpPr>
        <p:spPr>
          <a:xfrm>
            <a:off x="414603" y="5922934"/>
            <a:ext cx="8185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Respondents who answered “stay the same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"decrease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or "don't know" are not shown. Mar 4-8, 2024, n = 957; June 3-7, 2024, n= 927.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Hong Kong and Taiwan.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Central and South America, Middle East, North Africa, South Asia, and sub-Saharan Africa.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Surveys on economic conditions, Mar 4-8, 2024, and June 3-7,2024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3C54B42-943E-474F-EFB8-933F85AA6FF3}"/>
              </a:ext>
            </a:extLst>
          </p:cNvPr>
          <p:cNvGraphicFramePr>
            <a:graphicFrameLocks/>
          </p:cNvGraphicFramePr>
          <p:nvPr/>
        </p:nvGraphicFramePr>
        <p:xfrm>
          <a:off x="84577" y="1297145"/>
          <a:ext cx="2116290" cy="4480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B99A14C-E050-9293-F6FA-25FCA727695B}"/>
              </a:ext>
            </a:extLst>
          </p:cNvPr>
          <p:cNvGraphicFramePr>
            <a:graphicFrameLocks/>
          </p:cNvGraphicFramePr>
          <p:nvPr/>
        </p:nvGraphicFramePr>
        <p:xfrm>
          <a:off x="1977490" y="2043211"/>
          <a:ext cx="2116290" cy="336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3B09B14C-785E-0E3A-8186-AEBEA0982EF3}"/>
              </a:ext>
            </a:extLst>
          </p:cNvPr>
          <p:cNvGraphicFramePr>
            <a:graphicFrameLocks/>
          </p:cNvGraphicFramePr>
          <p:nvPr/>
        </p:nvGraphicFramePr>
        <p:xfrm>
          <a:off x="3870403" y="2106273"/>
          <a:ext cx="2116290" cy="3306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E945C423-D545-B7DE-EC4C-96C41552A213}"/>
              </a:ext>
            </a:extLst>
          </p:cNvPr>
          <p:cNvGraphicFramePr>
            <a:graphicFrameLocks/>
          </p:cNvGraphicFramePr>
          <p:nvPr/>
        </p:nvGraphicFramePr>
        <p:xfrm>
          <a:off x="5763316" y="2043210"/>
          <a:ext cx="2116290" cy="336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CFCDB502-B661-36E8-0E89-FA80277F90C8}"/>
              </a:ext>
            </a:extLst>
          </p:cNvPr>
          <p:cNvGraphicFramePr>
            <a:graphicFrameLocks/>
          </p:cNvGraphicFramePr>
          <p:nvPr/>
        </p:nvGraphicFramePr>
        <p:xfrm>
          <a:off x="7656229" y="2043209"/>
          <a:ext cx="2116290" cy="336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E4328209-7F9E-E14D-3E1A-549E4E7EDF79}"/>
              </a:ext>
            </a:extLst>
          </p:cNvPr>
          <p:cNvGraphicFramePr>
            <a:graphicFrameLocks/>
          </p:cNvGraphicFramePr>
          <p:nvPr/>
        </p:nvGraphicFramePr>
        <p:xfrm>
          <a:off x="9549142" y="2377440"/>
          <a:ext cx="2116290" cy="3034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E0B6839F-8400-8B38-1034-9B4E2D9F499F}"/>
              </a:ext>
            </a:extLst>
          </p:cNvPr>
          <p:cNvSpPr txBox="1"/>
          <p:nvPr/>
        </p:nvSpPr>
        <p:spPr>
          <a:xfrm>
            <a:off x="784291" y="4622450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Greater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China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61835A-9CB4-45C3-0A29-B4152A81FD93}"/>
              </a:ext>
            </a:extLst>
          </p:cNvPr>
          <p:cNvSpPr txBox="1"/>
          <p:nvPr/>
        </p:nvSpPr>
        <p:spPr>
          <a:xfrm>
            <a:off x="2717278" y="462245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Asia-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Pacific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626DFB-24D1-643C-EF0C-47EAD117F1E6}"/>
              </a:ext>
            </a:extLst>
          </p:cNvPr>
          <p:cNvSpPr txBox="1"/>
          <p:nvPr/>
        </p:nvSpPr>
        <p:spPr>
          <a:xfrm>
            <a:off x="4436265" y="4622449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Developing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markets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3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191F16-FA63-BAD7-AC4E-585A3A46D449}"/>
              </a:ext>
            </a:extLst>
          </p:cNvPr>
          <p:cNvSpPr txBox="1"/>
          <p:nvPr/>
        </p:nvSpPr>
        <p:spPr>
          <a:xfrm>
            <a:off x="6477161" y="4622449"/>
            <a:ext cx="692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Europe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5CB4E0-4ED6-2A4C-08B3-21E0CD027B8A}"/>
              </a:ext>
            </a:extLst>
          </p:cNvPr>
          <p:cNvSpPr txBox="1"/>
          <p:nvPr/>
        </p:nvSpPr>
        <p:spPr>
          <a:xfrm>
            <a:off x="8335905" y="462244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North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America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91D30E-F60F-C4B8-C9D0-4B86A2F411E0}"/>
              </a:ext>
            </a:extLst>
          </p:cNvPr>
          <p:cNvSpPr txBox="1"/>
          <p:nvPr/>
        </p:nvSpPr>
        <p:spPr>
          <a:xfrm>
            <a:off x="10343432" y="4622449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India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71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5CE746C-E4D3-2AB0-0F52-F2C144DA38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7772400" imgH="10058400" progId="TCLayout.ActiveDocument.1">
                  <p:embed/>
                </p:oleObj>
              </mc:Choice>
              <mc:Fallback>
                <p:oleObj name="think-cell 幻灯片" r:id="rId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CE746C-E4D3-2AB0-0F52-F2C144DA3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F447C1A-248B-FEB6-01F3-E71598935B06}"/>
              </a:ext>
            </a:extLst>
          </p:cNvPr>
          <p:cNvSpPr txBox="1"/>
          <p:nvPr/>
        </p:nvSpPr>
        <p:spPr>
          <a:xfrm>
            <a:off x="434340" y="268605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Closing the employment gap facing ethnocultural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minorities would be a triple win.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5FE71B-6264-9C91-4098-8CAA4E360C58}"/>
              </a:ext>
            </a:extLst>
          </p:cNvPr>
          <p:cNvSpPr txBox="1"/>
          <p:nvPr/>
        </p:nvSpPr>
        <p:spPr>
          <a:xfrm>
            <a:off x="434340" y="880110"/>
            <a:ext cx="4051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Job vacancy rates are rising across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Europe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3552CA-CC11-90D2-CCE5-47ED83C78583}"/>
              </a:ext>
            </a:extLst>
          </p:cNvPr>
          <p:cNvSpPr txBox="1"/>
          <p:nvPr/>
        </p:nvSpPr>
        <p:spPr>
          <a:xfrm>
            <a:off x="434340" y="1291560"/>
            <a:ext cx="3846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Vacancy rate development in EU-27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countries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96" name="Chart 3">
            <a:extLst>
              <a:ext uri="{FF2B5EF4-FFF2-40B4-BE49-F238E27FC236}">
                <a16:creationId xmlns:a16="http://schemas.microsoft.com/office/drawing/2014/main" id="{C2C8E518-FC08-C2FF-B76E-86FEDAC4670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36550" y="1928813"/>
          <a:ext cx="5727700" cy="3382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82" name="文本占位符 2">
            <a:extLst>
              <a:ext uri="{FF2B5EF4-FFF2-40B4-BE49-F238E27FC236}">
                <a16:creationId xmlns:a16="http://schemas.microsoft.com/office/drawing/2014/main" id="{4AB1C16E-C1B3-EDF4-B5CC-9F112D41487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508000" y="2436813"/>
            <a:ext cx="3730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F549B6-7BD5-4655-AF20-866912951408}" type="datetime'''''''''''2'''''''',''''2''''%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2,2%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xmlns:a16="http://schemas.microsoft.com/office/drawing/2014/main" id="{13CAA406-5A8A-14F7-24CE-6DF764FEE6E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79638" y="2930525"/>
            <a:ext cx="3730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F917C54-C664-4C13-956B-8AD2EFB01518}" type="datetime'''''''''''''''''1'''''''''''',''''''''''''''''7''%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1,7%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4" name="文本占位符 2">
            <a:extLst>
              <a:ext uri="{FF2B5EF4-FFF2-40B4-BE49-F238E27FC236}">
                <a16:creationId xmlns:a16="http://schemas.microsoft.com/office/drawing/2014/main" id="{A58D3F41-C039-9786-BCEC-23A79D16C6E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849688" y="2338388"/>
            <a:ext cx="3730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A68E23E-CF2A-427F-BADA-D5BBC8B25DFF}" type="datetime'2'''''''''''''''''''''''''''''''''''''',''''''''''3%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2,3%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5" name="文本占位符 2">
            <a:extLst>
              <a:ext uri="{FF2B5EF4-FFF2-40B4-BE49-F238E27FC236}">
                <a16:creationId xmlns:a16="http://schemas.microsoft.com/office/drawing/2014/main" id="{90A8BAFE-FA63-B7A7-3C98-23C1ACA3D96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521325" y="1747838"/>
            <a:ext cx="3730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691E7F-35DB-4BF5-B0CE-62F975268629}" type="datetime'''''''''''2,9''''''''''''%''''''''''''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2,9%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75DF265-5973-F7B0-F24A-4B7E8042D390}"/>
              </a:ext>
            </a:extLst>
          </p:cNvPr>
          <p:cNvCxnSpPr/>
          <p:nvPr/>
        </p:nvCxnSpPr>
        <p:spPr>
          <a:xfrm>
            <a:off x="694531" y="2788920"/>
            <a:ext cx="0" cy="2074545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CE2FF4E0-FF7B-70C0-962B-30D1BA35EA66}"/>
              </a:ext>
            </a:extLst>
          </p:cNvPr>
          <p:cNvCxnSpPr>
            <a:cxnSpLocks/>
          </p:cNvCxnSpPr>
          <p:nvPr/>
        </p:nvCxnSpPr>
        <p:spPr>
          <a:xfrm>
            <a:off x="2363615" y="3281133"/>
            <a:ext cx="2554" cy="1582332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8B555ED3-C506-EC2E-6D9B-BB3F021EA9A2}"/>
              </a:ext>
            </a:extLst>
          </p:cNvPr>
          <p:cNvCxnSpPr>
            <a:cxnSpLocks/>
          </p:cNvCxnSpPr>
          <p:nvPr/>
        </p:nvCxnSpPr>
        <p:spPr>
          <a:xfrm flipH="1">
            <a:off x="4035252" y="2698306"/>
            <a:ext cx="430" cy="2165159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A9340F76-F0DF-8ACE-15BB-3AE48176A952}"/>
              </a:ext>
            </a:extLst>
          </p:cNvPr>
          <p:cNvCxnSpPr>
            <a:cxnSpLocks/>
          </p:cNvCxnSpPr>
          <p:nvPr/>
        </p:nvCxnSpPr>
        <p:spPr>
          <a:xfrm>
            <a:off x="5705195" y="2121234"/>
            <a:ext cx="0" cy="27422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E94C776E-5366-665F-2E46-79FD88D77ED2}"/>
              </a:ext>
            </a:extLst>
          </p:cNvPr>
          <p:cNvCxnSpPr>
            <a:cxnSpLocks/>
          </p:cNvCxnSpPr>
          <p:nvPr/>
        </p:nvCxnSpPr>
        <p:spPr>
          <a:xfrm>
            <a:off x="508000" y="5369011"/>
            <a:ext cx="5386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88C4760-1DC5-7B27-B847-B9C578324C4A}"/>
              </a:ext>
            </a:extLst>
          </p:cNvPr>
          <p:cNvSpPr txBox="1"/>
          <p:nvPr/>
        </p:nvSpPr>
        <p:spPr>
          <a:xfrm>
            <a:off x="1829830" y="5542011"/>
            <a:ext cx="3780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average job vacancy rate for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EU-27 in 2022 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equivalent to~6 million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5E96751-8397-82F3-8AD9-B50E237A4BEF}"/>
              </a:ext>
            </a:extLst>
          </p:cNvPr>
          <p:cNvSpPr txBox="1"/>
          <p:nvPr/>
        </p:nvSpPr>
        <p:spPr>
          <a:xfrm>
            <a:off x="694531" y="5498782"/>
            <a:ext cx="1047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HarmonyOS Sans SC Black" pitchFamily="2" charset="-122"/>
                <a:ea typeface="HarmonyOS Sans SC Black" pitchFamily="2" charset="-122"/>
              </a:rPr>
              <a:t>2.9%</a:t>
            </a:r>
            <a:endParaRPr kumimoji="1" lang="zh-CN" altLang="en-US" sz="28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DBF5486-0E36-2F4B-0DE6-1CECE0EA6F69}"/>
              </a:ext>
            </a:extLst>
          </p:cNvPr>
          <p:cNvSpPr txBox="1"/>
          <p:nvPr/>
        </p:nvSpPr>
        <p:spPr>
          <a:xfrm>
            <a:off x="6345195" y="880110"/>
            <a:ext cx="5504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Ethnocultural minorities are a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meaningful share of the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population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EB73E5B-76E0-BCD2-B89A-4F05DB462800}"/>
              </a:ext>
            </a:extLst>
          </p:cNvPr>
          <p:cNvSpPr txBox="1"/>
          <p:nvPr/>
        </p:nvSpPr>
        <p:spPr>
          <a:xfrm>
            <a:off x="6345195" y="1291559"/>
            <a:ext cx="3846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Size and population share in 11 EU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countries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1E6D6DE-E531-28A4-31D9-FF9225FE8FB7}"/>
              </a:ext>
            </a:extLst>
          </p:cNvPr>
          <p:cNvSpPr txBox="1"/>
          <p:nvPr/>
        </p:nvSpPr>
        <p:spPr>
          <a:xfrm>
            <a:off x="6351031" y="1791344"/>
            <a:ext cx="19656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ACFB"/>
                </a:solidFill>
                <a:latin typeface="HarmonyOS Sans SC Medium" pitchFamily="2" charset="-122"/>
                <a:ea typeface="HarmonyOS Sans SC Medium" pitchFamily="2" charset="-122"/>
              </a:rPr>
              <a:t>44 million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Total ethnocultural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minorities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439EC96C-1C0D-9FBC-A0EE-FBC8701895D6}"/>
              </a:ext>
            </a:extLst>
          </p:cNvPr>
          <p:cNvSpPr txBox="1"/>
          <p:nvPr/>
        </p:nvSpPr>
        <p:spPr>
          <a:xfrm>
            <a:off x="9108238" y="1791344"/>
            <a:ext cx="14606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ACFB"/>
                </a:solidFill>
                <a:latin typeface="HarmonyOS Sans SC Medium" pitchFamily="2" charset="-122"/>
                <a:ea typeface="HarmonyOS Sans SC Medium" pitchFamily="2" charset="-122"/>
              </a:rPr>
              <a:t>10%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Share of total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population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03C6094E-7B73-68E8-71E4-686E5DC8BAB7}"/>
              </a:ext>
            </a:extLst>
          </p:cNvPr>
          <p:cNvGrpSpPr/>
          <p:nvPr/>
        </p:nvGrpSpPr>
        <p:grpSpPr>
          <a:xfrm>
            <a:off x="6462540" y="3515631"/>
            <a:ext cx="2531927" cy="2385022"/>
            <a:chOff x="6462540" y="3515631"/>
            <a:chExt cx="2531927" cy="2385022"/>
          </a:xfrm>
        </p:grpSpPr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0D814244-BB15-4E1C-ED01-E91B86059C29}"/>
                </a:ext>
              </a:extLst>
            </p:cNvPr>
            <p:cNvSpPr/>
            <p:nvPr/>
          </p:nvSpPr>
          <p:spPr>
            <a:xfrm>
              <a:off x="6462540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DC048D0B-1841-41D7-59C2-59FE322CD668}"/>
                </a:ext>
              </a:extLst>
            </p:cNvPr>
            <p:cNvSpPr/>
            <p:nvPr/>
          </p:nvSpPr>
          <p:spPr>
            <a:xfrm>
              <a:off x="6720784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72BCF0FF-AD35-C826-DC95-ECB791B6598F}"/>
                </a:ext>
              </a:extLst>
            </p:cNvPr>
            <p:cNvSpPr/>
            <p:nvPr/>
          </p:nvSpPr>
          <p:spPr>
            <a:xfrm>
              <a:off x="6979028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533A1AC6-A677-2CDB-A515-9D59F5803F9B}"/>
                </a:ext>
              </a:extLst>
            </p:cNvPr>
            <p:cNvSpPr/>
            <p:nvPr/>
          </p:nvSpPr>
          <p:spPr>
            <a:xfrm>
              <a:off x="7237272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50C5B0C1-F1B0-57CC-041C-672910C5D150}"/>
                </a:ext>
              </a:extLst>
            </p:cNvPr>
            <p:cNvSpPr/>
            <p:nvPr/>
          </p:nvSpPr>
          <p:spPr>
            <a:xfrm>
              <a:off x="7495516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9D2E5F3C-42BF-6B9F-5B85-F06BE54803E7}"/>
                </a:ext>
              </a:extLst>
            </p:cNvPr>
            <p:cNvSpPr/>
            <p:nvPr/>
          </p:nvSpPr>
          <p:spPr>
            <a:xfrm>
              <a:off x="7750683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DD745262-F9C0-12A9-60A2-8B95C16F1C9F}"/>
                </a:ext>
              </a:extLst>
            </p:cNvPr>
            <p:cNvSpPr/>
            <p:nvPr/>
          </p:nvSpPr>
          <p:spPr>
            <a:xfrm>
              <a:off x="8008927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6124C007-41EF-8557-4349-7F82A2158635}"/>
                </a:ext>
              </a:extLst>
            </p:cNvPr>
            <p:cNvSpPr/>
            <p:nvPr/>
          </p:nvSpPr>
          <p:spPr>
            <a:xfrm>
              <a:off x="8267171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AE89017D-F2AD-C9D2-59D2-7A59532F465F}"/>
                </a:ext>
              </a:extLst>
            </p:cNvPr>
            <p:cNvSpPr/>
            <p:nvPr/>
          </p:nvSpPr>
          <p:spPr>
            <a:xfrm>
              <a:off x="8525415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AEC9000-7FC8-C400-C703-C1E834927E96}"/>
                </a:ext>
              </a:extLst>
            </p:cNvPr>
            <p:cNvSpPr/>
            <p:nvPr/>
          </p:nvSpPr>
          <p:spPr>
            <a:xfrm>
              <a:off x="8783659" y="3515631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1BE67E88-7DB7-948D-CF43-2CB3539426A6}"/>
                </a:ext>
              </a:extLst>
            </p:cNvPr>
            <p:cNvSpPr/>
            <p:nvPr/>
          </p:nvSpPr>
          <p:spPr>
            <a:xfrm>
              <a:off x="6462540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C0431E4C-778A-A07D-D4AC-2B702CD89161}"/>
                </a:ext>
              </a:extLst>
            </p:cNvPr>
            <p:cNvSpPr/>
            <p:nvPr/>
          </p:nvSpPr>
          <p:spPr>
            <a:xfrm>
              <a:off x="6720784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65DF1FA1-03C6-285F-35A6-4615B9E5196F}"/>
                </a:ext>
              </a:extLst>
            </p:cNvPr>
            <p:cNvSpPr/>
            <p:nvPr/>
          </p:nvSpPr>
          <p:spPr>
            <a:xfrm>
              <a:off x="6979028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B919D649-FE68-98A9-A527-734EC1F205EF}"/>
                </a:ext>
              </a:extLst>
            </p:cNvPr>
            <p:cNvSpPr/>
            <p:nvPr/>
          </p:nvSpPr>
          <p:spPr>
            <a:xfrm>
              <a:off x="7237272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6CD16D76-C754-4CD5-95D6-E67FF63C48E1}"/>
                </a:ext>
              </a:extLst>
            </p:cNvPr>
            <p:cNvSpPr/>
            <p:nvPr/>
          </p:nvSpPr>
          <p:spPr>
            <a:xfrm>
              <a:off x="7495516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DFF2FFB5-A105-0B1A-EB2D-591186A0FCD7}"/>
                </a:ext>
              </a:extLst>
            </p:cNvPr>
            <p:cNvSpPr/>
            <p:nvPr/>
          </p:nvSpPr>
          <p:spPr>
            <a:xfrm>
              <a:off x="7750683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C8B35768-DC25-C96A-1166-8487A7B25184}"/>
                </a:ext>
              </a:extLst>
            </p:cNvPr>
            <p:cNvSpPr/>
            <p:nvPr/>
          </p:nvSpPr>
          <p:spPr>
            <a:xfrm>
              <a:off x="8008927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1D459B8E-F1A3-8803-A294-02A05E95D10B}"/>
                </a:ext>
              </a:extLst>
            </p:cNvPr>
            <p:cNvSpPr/>
            <p:nvPr/>
          </p:nvSpPr>
          <p:spPr>
            <a:xfrm>
              <a:off x="8267171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260FC102-A4BA-8EDF-4259-FD524C1C1512}"/>
                </a:ext>
              </a:extLst>
            </p:cNvPr>
            <p:cNvSpPr/>
            <p:nvPr/>
          </p:nvSpPr>
          <p:spPr>
            <a:xfrm>
              <a:off x="8525415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54737360-F126-CD4E-3154-DA5169AB65F2}"/>
                </a:ext>
              </a:extLst>
            </p:cNvPr>
            <p:cNvSpPr/>
            <p:nvPr/>
          </p:nvSpPr>
          <p:spPr>
            <a:xfrm>
              <a:off x="8783659" y="3761149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19B2CEB3-5D1B-BBC5-6D74-FADD2E3AA052}"/>
                </a:ext>
              </a:extLst>
            </p:cNvPr>
            <p:cNvSpPr/>
            <p:nvPr/>
          </p:nvSpPr>
          <p:spPr>
            <a:xfrm>
              <a:off x="6462540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0105D540-7CD3-3447-F079-38CF9FB051CB}"/>
                </a:ext>
              </a:extLst>
            </p:cNvPr>
            <p:cNvSpPr/>
            <p:nvPr/>
          </p:nvSpPr>
          <p:spPr>
            <a:xfrm>
              <a:off x="6720784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74554D11-0B5E-3FA0-6231-082A4A62C800}"/>
                </a:ext>
              </a:extLst>
            </p:cNvPr>
            <p:cNvSpPr/>
            <p:nvPr/>
          </p:nvSpPr>
          <p:spPr>
            <a:xfrm>
              <a:off x="6979028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347CEE72-5C81-9851-BBDF-8155BCD11BAD}"/>
                </a:ext>
              </a:extLst>
            </p:cNvPr>
            <p:cNvSpPr/>
            <p:nvPr/>
          </p:nvSpPr>
          <p:spPr>
            <a:xfrm>
              <a:off x="7237272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3F23A2A6-6FE5-C0D7-91FD-91177686141E}"/>
                </a:ext>
              </a:extLst>
            </p:cNvPr>
            <p:cNvSpPr/>
            <p:nvPr/>
          </p:nvSpPr>
          <p:spPr>
            <a:xfrm>
              <a:off x="7495516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5651016-0D63-96A2-69B7-7240A028049B}"/>
                </a:ext>
              </a:extLst>
            </p:cNvPr>
            <p:cNvSpPr/>
            <p:nvPr/>
          </p:nvSpPr>
          <p:spPr>
            <a:xfrm>
              <a:off x="7750683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C84A4C62-D9E4-D46C-E59A-788F3351FE60}"/>
                </a:ext>
              </a:extLst>
            </p:cNvPr>
            <p:cNvSpPr/>
            <p:nvPr/>
          </p:nvSpPr>
          <p:spPr>
            <a:xfrm>
              <a:off x="8008927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EB44CEF7-FAAE-4AAC-4B6A-CC5BFF9DB624}"/>
                </a:ext>
              </a:extLst>
            </p:cNvPr>
            <p:cNvSpPr/>
            <p:nvPr/>
          </p:nvSpPr>
          <p:spPr>
            <a:xfrm>
              <a:off x="8267171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FD829DD2-A877-94E1-8FAE-4D84875BB207}"/>
                </a:ext>
              </a:extLst>
            </p:cNvPr>
            <p:cNvSpPr/>
            <p:nvPr/>
          </p:nvSpPr>
          <p:spPr>
            <a:xfrm>
              <a:off x="8525415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9EEBBA74-58AD-E169-8C34-946BD9F729AB}"/>
                </a:ext>
              </a:extLst>
            </p:cNvPr>
            <p:cNvSpPr/>
            <p:nvPr/>
          </p:nvSpPr>
          <p:spPr>
            <a:xfrm>
              <a:off x="8783659" y="3996960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B1A2EB0F-151B-2140-5412-26562312B39F}"/>
                </a:ext>
              </a:extLst>
            </p:cNvPr>
            <p:cNvSpPr/>
            <p:nvPr/>
          </p:nvSpPr>
          <p:spPr>
            <a:xfrm>
              <a:off x="6462540" y="4242478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9DF94C0B-EFB7-AF46-8FBF-94648BD04790}"/>
                </a:ext>
              </a:extLst>
            </p:cNvPr>
            <p:cNvSpPr/>
            <p:nvPr/>
          </p:nvSpPr>
          <p:spPr>
            <a:xfrm>
              <a:off x="6720784" y="4242478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42DE9F76-47A9-4648-2250-D3674A2BF56B}"/>
                </a:ext>
              </a:extLst>
            </p:cNvPr>
            <p:cNvSpPr/>
            <p:nvPr/>
          </p:nvSpPr>
          <p:spPr>
            <a:xfrm>
              <a:off x="6979028" y="4242478"/>
              <a:ext cx="210808" cy="2063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9BD28245-384E-3949-91C6-E86672912F9C}"/>
                </a:ext>
              </a:extLst>
            </p:cNvPr>
            <p:cNvSpPr/>
            <p:nvPr/>
          </p:nvSpPr>
          <p:spPr>
            <a:xfrm>
              <a:off x="7237272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1501015A-5D81-7DF6-9CDB-F2A88BAE2E34}"/>
                </a:ext>
              </a:extLst>
            </p:cNvPr>
            <p:cNvSpPr/>
            <p:nvPr/>
          </p:nvSpPr>
          <p:spPr>
            <a:xfrm>
              <a:off x="7495516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D7D37036-85EC-3D9D-B420-8F7286F406BD}"/>
                </a:ext>
              </a:extLst>
            </p:cNvPr>
            <p:cNvSpPr/>
            <p:nvPr/>
          </p:nvSpPr>
          <p:spPr>
            <a:xfrm>
              <a:off x="7750683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A311FAC5-7486-E6D6-AD36-347E2336A4FB}"/>
                </a:ext>
              </a:extLst>
            </p:cNvPr>
            <p:cNvSpPr/>
            <p:nvPr/>
          </p:nvSpPr>
          <p:spPr>
            <a:xfrm>
              <a:off x="8008927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0842C37E-702E-17C6-0F15-378562A47619}"/>
                </a:ext>
              </a:extLst>
            </p:cNvPr>
            <p:cNvSpPr/>
            <p:nvPr/>
          </p:nvSpPr>
          <p:spPr>
            <a:xfrm>
              <a:off x="8267171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FC87F328-D984-3FDF-653C-BE2403C8D193}"/>
                </a:ext>
              </a:extLst>
            </p:cNvPr>
            <p:cNvSpPr/>
            <p:nvPr/>
          </p:nvSpPr>
          <p:spPr>
            <a:xfrm>
              <a:off x="8525415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A078366A-0095-3A70-FE58-6EE3BB7E99BA}"/>
                </a:ext>
              </a:extLst>
            </p:cNvPr>
            <p:cNvSpPr/>
            <p:nvPr/>
          </p:nvSpPr>
          <p:spPr>
            <a:xfrm>
              <a:off x="8783659" y="4242478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EF131734-B4B2-2D4D-FD41-9189A15F6124}"/>
                </a:ext>
              </a:extLst>
            </p:cNvPr>
            <p:cNvSpPr/>
            <p:nvPr/>
          </p:nvSpPr>
          <p:spPr>
            <a:xfrm>
              <a:off x="6462540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74780E22-77CA-B59B-50E9-BC6D0A1DD2E3}"/>
                </a:ext>
              </a:extLst>
            </p:cNvPr>
            <p:cNvSpPr/>
            <p:nvPr/>
          </p:nvSpPr>
          <p:spPr>
            <a:xfrm>
              <a:off x="6720784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8E9CDFDF-44E8-E560-62AA-09A48C4F476C}"/>
                </a:ext>
              </a:extLst>
            </p:cNvPr>
            <p:cNvSpPr/>
            <p:nvPr/>
          </p:nvSpPr>
          <p:spPr>
            <a:xfrm>
              <a:off x="6979028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6D453D15-4B69-37B5-6320-806F78B67149}"/>
                </a:ext>
              </a:extLst>
            </p:cNvPr>
            <p:cNvSpPr/>
            <p:nvPr/>
          </p:nvSpPr>
          <p:spPr>
            <a:xfrm>
              <a:off x="7237272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1A39904D-CFB3-E474-E5B8-B19AC47D45C0}"/>
                </a:ext>
              </a:extLst>
            </p:cNvPr>
            <p:cNvSpPr/>
            <p:nvPr/>
          </p:nvSpPr>
          <p:spPr>
            <a:xfrm>
              <a:off x="7495516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A8267A09-743F-A395-5F26-5A87D5C080EC}"/>
                </a:ext>
              </a:extLst>
            </p:cNvPr>
            <p:cNvSpPr/>
            <p:nvPr/>
          </p:nvSpPr>
          <p:spPr>
            <a:xfrm>
              <a:off x="7750683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BA0889A5-A1B7-91E4-B91B-AEE30FF2B3D5}"/>
                </a:ext>
              </a:extLst>
            </p:cNvPr>
            <p:cNvSpPr/>
            <p:nvPr/>
          </p:nvSpPr>
          <p:spPr>
            <a:xfrm>
              <a:off x="8008927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5633080F-32DF-5699-6045-2AF23D73B05E}"/>
                </a:ext>
              </a:extLst>
            </p:cNvPr>
            <p:cNvSpPr/>
            <p:nvPr/>
          </p:nvSpPr>
          <p:spPr>
            <a:xfrm>
              <a:off x="8267171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8915D14D-9554-60AC-E2A4-BDB306DD947F}"/>
                </a:ext>
              </a:extLst>
            </p:cNvPr>
            <p:cNvSpPr/>
            <p:nvPr/>
          </p:nvSpPr>
          <p:spPr>
            <a:xfrm>
              <a:off x="8525415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8B09F76D-E2E9-14C6-7AA2-B48D9F9EE03A}"/>
                </a:ext>
              </a:extLst>
            </p:cNvPr>
            <p:cNvSpPr/>
            <p:nvPr/>
          </p:nvSpPr>
          <p:spPr>
            <a:xfrm>
              <a:off x="8783659" y="4487996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BF41378F-F27C-B1D7-FDBC-C5F254675D3A}"/>
                </a:ext>
              </a:extLst>
            </p:cNvPr>
            <p:cNvSpPr/>
            <p:nvPr/>
          </p:nvSpPr>
          <p:spPr>
            <a:xfrm>
              <a:off x="6462540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11910E7B-498E-1261-97D6-41DAABC7BC61}"/>
                </a:ext>
              </a:extLst>
            </p:cNvPr>
            <p:cNvSpPr/>
            <p:nvPr/>
          </p:nvSpPr>
          <p:spPr>
            <a:xfrm>
              <a:off x="6720784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6D96749D-52E0-72D9-D7BC-650ACC415DF7}"/>
                </a:ext>
              </a:extLst>
            </p:cNvPr>
            <p:cNvSpPr/>
            <p:nvPr/>
          </p:nvSpPr>
          <p:spPr>
            <a:xfrm>
              <a:off x="6979028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34A75B50-7E03-74E8-DA8D-6F941C008EF4}"/>
                </a:ext>
              </a:extLst>
            </p:cNvPr>
            <p:cNvSpPr/>
            <p:nvPr/>
          </p:nvSpPr>
          <p:spPr>
            <a:xfrm>
              <a:off x="7237272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09DD5A8E-9810-8582-E818-1F49DC04D034}"/>
                </a:ext>
              </a:extLst>
            </p:cNvPr>
            <p:cNvSpPr/>
            <p:nvPr/>
          </p:nvSpPr>
          <p:spPr>
            <a:xfrm>
              <a:off x="7495516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C47C396F-4B0B-94B1-F0C2-D9BE4F0716E8}"/>
                </a:ext>
              </a:extLst>
            </p:cNvPr>
            <p:cNvSpPr/>
            <p:nvPr/>
          </p:nvSpPr>
          <p:spPr>
            <a:xfrm>
              <a:off x="7750683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245125EE-43DC-87FF-8873-165E47215284}"/>
                </a:ext>
              </a:extLst>
            </p:cNvPr>
            <p:cNvSpPr/>
            <p:nvPr/>
          </p:nvSpPr>
          <p:spPr>
            <a:xfrm>
              <a:off x="8008927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C9CF7737-B173-F9A7-BF4D-91EAC5B9B2EC}"/>
                </a:ext>
              </a:extLst>
            </p:cNvPr>
            <p:cNvSpPr/>
            <p:nvPr/>
          </p:nvSpPr>
          <p:spPr>
            <a:xfrm>
              <a:off x="8267171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9C9ECAA1-89F1-01FD-19C2-747036CDB425}"/>
                </a:ext>
              </a:extLst>
            </p:cNvPr>
            <p:cNvSpPr/>
            <p:nvPr/>
          </p:nvSpPr>
          <p:spPr>
            <a:xfrm>
              <a:off x="8525415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8DE03325-DF15-5E31-42FE-8CF59B4613FA}"/>
                </a:ext>
              </a:extLst>
            </p:cNvPr>
            <p:cNvSpPr/>
            <p:nvPr/>
          </p:nvSpPr>
          <p:spPr>
            <a:xfrm>
              <a:off x="8783659" y="4721941"/>
              <a:ext cx="210808" cy="206346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72F8D1D8-41FF-5C10-29C2-D2EA7A59577E}"/>
                </a:ext>
              </a:extLst>
            </p:cNvPr>
            <p:cNvSpPr/>
            <p:nvPr/>
          </p:nvSpPr>
          <p:spPr>
            <a:xfrm>
              <a:off x="6462540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CF3DD9C4-A83F-BC69-3A1E-7CC54A325FB2}"/>
                </a:ext>
              </a:extLst>
            </p:cNvPr>
            <p:cNvSpPr/>
            <p:nvPr/>
          </p:nvSpPr>
          <p:spPr>
            <a:xfrm>
              <a:off x="6720784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B3D4945C-E703-C069-267F-7801C29467AF}"/>
                </a:ext>
              </a:extLst>
            </p:cNvPr>
            <p:cNvSpPr/>
            <p:nvPr/>
          </p:nvSpPr>
          <p:spPr>
            <a:xfrm>
              <a:off x="6979028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8E7425B9-F299-6A40-D0C0-8B78835B5441}"/>
                </a:ext>
              </a:extLst>
            </p:cNvPr>
            <p:cNvSpPr/>
            <p:nvPr/>
          </p:nvSpPr>
          <p:spPr>
            <a:xfrm>
              <a:off x="7237272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B451715D-4E8D-C789-56A7-0A2999C83682}"/>
                </a:ext>
              </a:extLst>
            </p:cNvPr>
            <p:cNvSpPr/>
            <p:nvPr/>
          </p:nvSpPr>
          <p:spPr>
            <a:xfrm>
              <a:off x="7495516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E6AC53E5-BB07-CFAF-2D10-A51E6052579E}"/>
                </a:ext>
              </a:extLst>
            </p:cNvPr>
            <p:cNvSpPr/>
            <p:nvPr/>
          </p:nvSpPr>
          <p:spPr>
            <a:xfrm>
              <a:off x="7750683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4539B361-8303-04F9-D1D6-13F2D0B2A82D}"/>
                </a:ext>
              </a:extLst>
            </p:cNvPr>
            <p:cNvSpPr/>
            <p:nvPr/>
          </p:nvSpPr>
          <p:spPr>
            <a:xfrm>
              <a:off x="8008927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C763F40A-5231-97B2-9BAE-0A716306A379}"/>
                </a:ext>
              </a:extLst>
            </p:cNvPr>
            <p:cNvSpPr/>
            <p:nvPr/>
          </p:nvSpPr>
          <p:spPr>
            <a:xfrm>
              <a:off x="8267171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A262BCEC-2867-7A6D-1177-8C8889793025}"/>
                </a:ext>
              </a:extLst>
            </p:cNvPr>
            <p:cNvSpPr/>
            <p:nvPr/>
          </p:nvSpPr>
          <p:spPr>
            <a:xfrm>
              <a:off x="8525415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D9C6D470-F9F4-8843-AB62-B1BC507F81C0}"/>
                </a:ext>
              </a:extLst>
            </p:cNvPr>
            <p:cNvSpPr/>
            <p:nvPr/>
          </p:nvSpPr>
          <p:spPr>
            <a:xfrm>
              <a:off x="8783659" y="496746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2CA317B5-2074-68B8-A896-64DE916A8DCB}"/>
                </a:ext>
              </a:extLst>
            </p:cNvPr>
            <p:cNvSpPr/>
            <p:nvPr/>
          </p:nvSpPr>
          <p:spPr>
            <a:xfrm>
              <a:off x="6462540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F8D5E9D8-AD60-DCE8-EFAF-2584A2B1CD72}"/>
                </a:ext>
              </a:extLst>
            </p:cNvPr>
            <p:cNvSpPr/>
            <p:nvPr/>
          </p:nvSpPr>
          <p:spPr>
            <a:xfrm>
              <a:off x="6720784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B05F59A7-E814-A844-4C7B-830D70F3F09B}"/>
                </a:ext>
              </a:extLst>
            </p:cNvPr>
            <p:cNvSpPr/>
            <p:nvPr/>
          </p:nvSpPr>
          <p:spPr>
            <a:xfrm>
              <a:off x="6979028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676494FC-B61A-8CCC-256B-0BB47CC1100B}"/>
                </a:ext>
              </a:extLst>
            </p:cNvPr>
            <p:cNvSpPr/>
            <p:nvPr/>
          </p:nvSpPr>
          <p:spPr>
            <a:xfrm>
              <a:off x="7237272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06D0C0D8-9BBE-6DF9-58A8-79259815A0CE}"/>
                </a:ext>
              </a:extLst>
            </p:cNvPr>
            <p:cNvSpPr/>
            <p:nvPr/>
          </p:nvSpPr>
          <p:spPr>
            <a:xfrm>
              <a:off x="7495516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992D416B-3D21-4883-EDFC-597029DD61D1}"/>
                </a:ext>
              </a:extLst>
            </p:cNvPr>
            <p:cNvSpPr/>
            <p:nvPr/>
          </p:nvSpPr>
          <p:spPr>
            <a:xfrm>
              <a:off x="7750683" y="5203270"/>
              <a:ext cx="210808" cy="206346"/>
            </a:xfrm>
            <a:prstGeom prst="ellipse">
              <a:avLst/>
            </a:prstGeom>
            <a:solidFill>
              <a:srgbClr val="035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626DF26F-6DF6-7E49-1F86-274D050E450E}"/>
                </a:ext>
              </a:extLst>
            </p:cNvPr>
            <p:cNvSpPr/>
            <p:nvPr/>
          </p:nvSpPr>
          <p:spPr>
            <a:xfrm>
              <a:off x="8008927" y="5203270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55325DFD-BAB6-6D4F-C7E1-BD6CF015AD26}"/>
                </a:ext>
              </a:extLst>
            </p:cNvPr>
            <p:cNvSpPr/>
            <p:nvPr/>
          </p:nvSpPr>
          <p:spPr>
            <a:xfrm>
              <a:off x="8267171" y="5203270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CA498D0B-8C5C-E336-1D7F-950B7BBD8C8F}"/>
                </a:ext>
              </a:extLst>
            </p:cNvPr>
            <p:cNvSpPr/>
            <p:nvPr/>
          </p:nvSpPr>
          <p:spPr>
            <a:xfrm>
              <a:off x="8525415" y="5203270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84A56EC1-C75D-E65E-015F-D7C1899777BB}"/>
                </a:ext>
              </a:extLst>
            </p:cNvPr>
            <p:cNvSpPr/>
            <p:nvPr/>
          </p:nvSpPr>
          <p:spPr>
            <a:xfrm>
              <a:off x="8783659" y="5203270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B130F24-A789-FCB9-FA56-3C0245C05011}"/>
                </a:ext>
              </a:extLst>
            </p:cNvPr>
            <p:cNvSpPr/>
            <p:nvPr/>
          </p:nvSpPr>
          <p:spPr>
            <a:xfrm>
              <a:off x="6462540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7D24C950-85EF-C2A8-5BDD-47DC801AF34B}"/>
                </a:ext>
              </a:extLst>
            </p:cNvPr>
            <p:cNvSpPr/>
            <p:nvPr/>
          </p:nvSpPr>
          <p:spPr>
            <a:xfrm>
              <a:off x="6720784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59961B6F-6322-E5D7-F38D-23CF6E6C96B4}"/>
                </a:ext>
              </a:extLst>
            </p:cNvPr>
            <p:cNvSpPr/>
            <p:nvPr/>
          </p:nvSpPr>
          <p:spPr>
            <a:xfrm>
              <a:off x="6979028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82634CB2-FBB3-6DF6-DC8E-9B75303DA7C8}"/>
                </a:ext>
              </a:extLst>
            </p:cNvPr>
            <p:cNvSpPr/>
            <p:nvPr/>
          </p:nvSpPr>
          <p:spPr>
            <a:xfrm>
              <a:off x="7237272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1DE1408D-255A-8B4C-E4D7-C54D4E3B5815}"/>
                </a:ext>
              </a:extLst>
            </p:cNvPr>
            <p:cNvSpPr/>
            <p:nvPr/>
          </p:nvSpPr>
          <p:spPr>
            <a:xfrm>
              <a:off x="7495516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F8BC8CE6-7757-ACA3-6017-49334FF27757}"/>
                </a:ext>
              </a:extLst>
            </p:cNvPr>
            <p:cNvSpPr/>
            <p:nvPr/>
          </p:nvSpPr>
          <p:spPr>
            <a:xfrm>
              <a:off x="7750683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1B030561-39DD-7705-43A6-FA16BBDFF2A8}"/>
                </a:ext>
              </a:extLst>
            </p:cNvPr>
            <p:cNvSpPr/>
            <p:nvPr/>
          </p:nvSpPr>
          <p:spPr>
            <a:xfrm>
              <a:off x="8008927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D20D3665-ECFE-1671-F7D1-95A3E11AD2FB}"/>
                </a:ext>
              </a:extLst>
            </p:cNvPr>
            <p:cNvSpPr/>
            <p:nvPr/>
          </p:nvSpPr>
          <p:spPr>
            <a:xfrm>
              <a:off x="8267171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7D6E942C-E5A2-79A4-13E6-2A771C5772AF}"/>
                </a:ext>
              </a:extLst>
            </p:cNvPr>
            <p:cNvSpPr/>
            <p:nvPr/>
          </p:nvSpPr>
          <p:spPr>
            <a:xfrm>
              <a:off x="8525415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3DEED5E7-717B-6C61-1E99-9D587F52AB6A}"/>
                </a:ext>
              </a:extLst>
            </p:cNvPr>
            <p:cNvSpPr/>
            <p:nvPr/>
          </p:nvSpPr>
          <p:spPr>
            <a:xfrm>
              <a:off x="8783659" y="5448789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218E1EFD-8101-5791-DCC1-AA1F002541F8}"/>
                </a:ext>
              </a:extLst>
            </p:cNvPr>
            <p:cNvSpPr/>
            <p:nvPr/>
          </p:nvSpPr>
          <p:spPr>
            <a:xfrm>
              <a:off x="6462540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F760FDE4-588F-8DCB-A251-541102E6210B}"/>
                </a:ext>
              </a:extLst>
            </p:cNvPr>
            <p:cNvSpPr/>
            <p:nvPr/>
          </p:nvSpPr>
          <p:spPr>
            <a:xfrm>
              <a:off x="6720784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A38859AF-E250-A29B-E659-F357B9C5CE5D}"/>
                </a:ext>
              </a:extLst>
            </p:cNvPr>
            <p:cNvSpPr/>
            <p:nvPr/>
          </p:nvSpPr>
          <p:spPr>
            <a:xfrm>
              <a:off x="6979028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DB7FFDC2-85E6-C733-60D8-C5ED5746522A}"/>
                </a:ext>
              </a:extLst>
            </p:cNvPr>
            <p:cNvSpPr/>
            <p:nvPr/>
          </p:nvSpPr>
          <p:spPr>
            <a:xfrm>
              <a:off x="7237272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2B5248BD-5C65-A2B2-0BD4-22849F66F2BA}"/>
                </a:ext>
              </a:extLst>
            </p:cNvPr>
            <p:cNvSpPr/>
            <p:nvPr/>
          </p:nvSpPr>
          <p:spPr>
            <a:xfrm>
              <a:off x="7495516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F39A064-C876-4B80-1774-8EA4EC86E5D1}"/>
                </a:ext>
              </a:extLst>
            </p:cNvPr>
            <p:cNvSpPr/>
            <p:nvPr/>
          </p:nvSpPr>
          <p:spPr>
            <a:xfrm>
              <a:off x="7750683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47EFA689-C29A-9D3E-BE61-F49BBD1F9AAD}"/>
                </a:ext>
              </a:extLst>
            </p:cNvPr>
            <p:cNvSpPr/>
            <p:nvPr/>
          </p:nvSpPr>
          <p:spPr>
            <a:xfrm>
              <a:off x="8008927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676B48CB-D14E-3486-CACF-6B9AE17590BC}"/>
                </a:ext>
              </a:extLst>
            </p:cNvPr>
            <p:cNvSpPr/>
            <p:nvPr/>
          </p:nvSpPr>
          <p:spPr>
            <a:xfrm>
              <a:off x="8267171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D20E955E-5656-357B-9428-3825F88B92A5}"/>
                </a:ext>
              </a:extLst>
            </p:cNvPr>
            <p:cNvSpPr/>
            <p:nvPr/>
          </p:nvSpPr>
          <p:spPr>
            <a:xfrm>
              <a:off x="8525415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CF780FD9-7973-E258-CFE4-72A1163954CB}"/>
                </a:ext>
              </a:extLst>
            </p:cNvPr>
            <p:cNvSpPr/>
            <p:nvPr/>
          </p:nvSpPr>
          <p:spPr>
            <a:xfrm>
              <a:off x="8783659" y="5694307"/>
              <a:ext cx="210808" cy="20634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7" name="矩形 226">
            <a:extLst>
              <a:ext uri="{FF2B5EF4-FFF2-40B4-BE49-F238E27FC236}">
                <a16:creationId xmlns:a16="http://schemas.microsoft.com/office/drawing/2014/main" id="{D0D98033-8E8D-E441-E0CE-80CF02FE4DB5}"/>
              </a:ext>
            </a:extLst>
          </p:cNvPr>
          <p:cNvSpPr/>
          <p:nvPr/>
        </p:nvSpPr>
        <p:spPr>
          <a:xfrm>
            <a:off x="9228779" y="3746497"/>
            <a:ext cx="60556" cy="660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0C66DB1A-3702-7E4E-2DAD-F5F5498A9D89}"/>
              </a:ext>
            </a:extLst>
          </p:cNvPr>
          <p:cNvSpPr txBox="1"/>
          <p:nvPr/>
        </p:nvSpPr>
        <p:spPr>
          <a:xfrm>
            <a:off x="9289335" y="3669417"/>
            <a:ext cx="1075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HarmonyOS Sans SC" pitchFamily="2" charset="-122"/>
                <a:ea typeface="HarmonyOS Sans SC" pitchFamily="2" charset="-122"/>
              </a:rPr>
              <a:t>33%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from Asia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12B81168-EED2-822B-3AEC-BB1F746DF7D4}"/>
              </a:ext>
            </a:extLst>
          </p:cNvPr>
          <p:cNvSpPr/>
          <p:nvPr/>
        </p:nvSpPr>
        <p:spPr>
          <a:xfrm>
            <a:off x="10468772" y="3747499"/>
            <a:ext cx="60556" cy="660007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41CAF569-4598-9CEF-1425-2AEEFE2980BF}"/>
              </a:ext>
            </a:extLst>
          </p:cNvPr>
          <p:cNvSpPr txBox="1"/>
          <p:nvPr/>
        </p:nvSpPr>
        <p:spPr>
          <a:xfrm>
            <a:off x="10529328" y="3670419"/>
            <a:ext cx="1390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HarmonyOS Sans SC" pitchFamily="2" charset="-122"/>
                <a:ea typeface="HarmonyOS Sans SC" pitchFamily="2" charset="-122"/>
              </a:rPr>
              <a:t>27%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from MENA</a:t>
            </a:r>
            <a:r>
              <a:rPr kumimoji="1" lang="en-US" altLang="zh-CN" sz="16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6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EF3D1E0D-5ECB-B100-AB5C-64A976E75AAE}"/>
              </a:ext>
            </a:extLst>
          </p:cNvPr>
          <p:cNvSpPr/>
          <p:nvPr/>
        </p:nvSpPr>
        <p:spPr>
          <a:xfrm>
            <a:off x="9229861" y="4925800"/>
            <a:ext cx="60556" cy="660007"/>
          </a:xfrm>
          <a:prstGeom prst="rect">
            <a:avLst/>
          </a:prstGeom>
          <a:solidFill>
            <a:srgbClr val="035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032EF277-BE57-57B9-07FE-85A53EF1CD8D}"/>
              </a:ext>
            </a:extLst>
          </p:cNvPr>
          <p:cNvSpPr txBox="1"/>
          <p:nvPr/>
        </p:nvSpPr>
        <p:spPr>
          <a:xfrm>
            <a:off x="9290417" y="4848720"/>
            <a:ext cx="11560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HarmonyOS Sans SC" pitchFamily="2" charset="-122"/>
                <a:ea typeface="HarmonyOS Sans SC" pitchFamily="2" charset="-122"/>
              </a:rPr>
              <a:t>16%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from Latin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America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D913A446-9E1D-9D9C-0150-E0E14E047635}"/>
              </a:ext>
            </a:extLst>
          </p:cNvPr>
          <p:cNvSpPr/>
          <p:nvPr/>
        </p:nvSpPr>
        <p:spPr>
          <a:xfrm>
            <a:off x="10469854" y="4926802"/>
            <a:ext cx="60556" cy="66000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1861784-98D0-CF04-A6BB-F7B052A05CF9}"/>
              </a:ext>
            </a:extLst>
          </p:cNvPr>
          <p:cNvSpPr txBox="1"/>
          <p:nvPr/>
        </p:nvSpPr>
        <p:spPr>
          <a:xfrm>
            <a:off x="10530410" y="4849722"/>
            <a:ext cx="9685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rgbClr val="E5E5E5"/>
                </a:solidFill>
                <a:latin typeface="HarmonyOS Sans SC" pitchFamily="2" charset="-122"/>
                <a:ea typeface="HarmonyOS Sans SC" pitchFamily="2" charset="-122"/>
              </a:rPr>
              <a:t>24%</a:t>
            </a:r>
          </a:p>
          <a:p>
            <a:r>
              <a:rPr kumimoji="1" lang="en-US" altLang="zh-CN" sz="1600" dirty="0">
                <a:solidFill>
                  <a:srgbClr val="E5E5E5"/>
                </a:solidFill>
                <a:latin typeface="HarmonyOS Sans SC" pitchFamily="2" charset="-122"/>
                <a:ea typeface="HarmonyOS Sans SC" pitchFamily="2" charset="-122"/>
              </a:rPr>
              <a:t>Other</a:t>
            </a:r>
            <a:r>
              <a:rPr kumimoji="1" lang="en-US" altLang="zh-CN" sz="1600" baseline="30000" dirty="0">
                <a:solidFill>
                  <a:srgbClr val="E5E5E5"/>
                </a:solidFill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600" baseline="30000" dirty="0">
              <a:solidFill>
                <a:srgbClr val="E5E5E5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8ACA842-6581-E134-F010-FAB875E870DD}"/>
              </a:ext>
            </a:extLst>
          </p:cNvPr>
          <p:cNvSpPr txBox="1"/>
          <p:nvPr/>
        </p:nvSpPr>
        <p:spPr>
          <a:xfrm>
            <a:off x="336550" y="6112708"/>
            <a:ext cx="37577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EME = ethnocultural minority employee.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The Middle East and North Africa.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14% from sub-Saharan Africa and 10% from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Turkiye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142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7E07-FDC2-55B3-9F0A-C955897C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4F6D7D9-B6EE-1C36-E7AF-75611209CF9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1" imgW="7772400" imgH="10058400" progId="TCLayout.ActiveDocument.1">
                  <p:embed/>
                </p:oleObj>
              </mc:Choice>
              <mc:Fallback>
                <p:oleObj name="think-cell 幻灯片" r:id="rId8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F6D7D9-B6EE-1C36-E7AF-75611209C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7E44B31-C24E-1E0E-B926-F392F79329C0}"/>
              </a:ext>
            </a:extLst>
          </p:cNvPr>
          <p:cNvSpPr txBox="1"/>
          <p:nvPr/>
        </p:nvSpPr>
        <p:spPr>
          <a:xfrm>
            <a:off x="434340" y="268605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Closing the employment gap facing ethnocultural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minorities would be a triple win.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6CDD7A3E-2601-C0DB-68C7-0D6CB9EE5041}"/>
              </a:ext>
            </a:extLst>
          </p:cNvPr>
          <p:cNvSpPr txBox="1"/>
          <p:nvPr/>
        </p:nvSpPr>
        <p:spPr>
          <a:xfrm>
            <a:off x="336549" y="6112708"/>
            <a:ext cx="1171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 Most of these figures are underestimates because they include only people with a recent migration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background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1st and 2nd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generation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Breakdown of region of origin excludes a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Portugal as breakdown by country of origin is not possible. and b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Italians who have naturalized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approximately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1.2 million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Excludes Russia.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Analysis is based on national census data and other citizenship- and naturalization-related data; for details, see Exhibit Alin the appendix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F84A289-8E5D-BF94-949D-C51D9E2BE157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169445" y="956042"/>
            <a:ext cx="3535664" cy="515666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2B64E02-A97C-887A-799C-173853B74151}"/>
              </a:ext>
            </a:extLst>
          </p:cNvPr>
          <p:cNvSpPr txBox="1"/>
          <p:nvPr/>
        </p:nvSpPr>
        <p:spPr>
          <a:xfrm>
            <a:off x="434340" y="816016"/>
            <a:ext cx="282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Ethnocultural minority representation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across 11 countries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C05C075-1A70-2483-06B3-5A1D174D12F2}"/>
              </a:ext>
            </a:extLst>
          </p:cNvPr>
          <p:cNvSpPr/>
          <p:nvPr/>
        </p:nvSpPr>
        <p:spPr>
          <a:xfrm>
            <a:off x="3796496" y="1927185"/>
            <a:ext cx="196769" cy="196769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C41A3F-0FA7-73AC-5345-7DB713B76AD0}"/>
              </a:ext>
            </a:extLst>
          </p:cNvPr>
          <p:cNvSpPr txBox="1"/>
          <p:nvPr/>
        </p:nvSpPr>
        <p:spPr>
          <a:xfrm>
            <a:off x="3714382" y="1902458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1.2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AC2708-8073-9B95-2E1C-1C2BD988EB9F}"/>
              </a:ext>
            </a:extLst>
          </p:cNvPr>
          <p:cNvSpPr txBox="1"/>
          <p:nvPr/>
        </p:nvSpPr>
        <p:spPr>
          <a:xfrm>
            <a:off x="3602973" y="2094703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Sweden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11%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1723FA1-08F2-FC89-BC67-FA0E5AAF4F63}"/>
              </a:ext>
            </a:extLst>
          </p:cNvPr>
          <p:cNvSpPr/>
          <p:nvPr/>
        </p:nvSpPr>
        <p:spPr>
          <a:xfrm>
            <a:off x="3437722" y="2973327"/>
            <a:ext cx="98384" cy="98384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C66C54-5441-3D99-C2DC-A0ABC4E52741}"/>
              </a:ext>
            </a:extLst>
          </p:cNvPr>
          <p:cNvSpPr txBox="1"/>
          <p:nvPr/>
        </p:nvSpPr>
        <p:spPr>
          <a:xfrm>
            <a:off x="3306416" y="2751362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0.5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DAA6B6C-7112-8883-D759-7D54DAF026A8}"/>
              </a:ext>
            </a:extLst>
          </p:cNvPr>
          <p:cNvCxnSpPr/>
          <p:nvPr/>
        </p:nvCxnSpPr>
        <p:spPr>
          <a:xfrm>
            <a:off x="3558331" y="3022519"/>
            <a:ext cx="28341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A913D15-949C-6E57-C041-A3593A6F76E5}"/>
              </a:ext>
            </a:extLst>
          </p:cNvPr>
          <p:cNvSpPr txBox="1"/>
          <p:nvPr/>
        </p:nvSpPr>
        <p:spPr>
          <a:xfrm>
            <a:off x="3785659" y="2853242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Denmark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5%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2EFC61C-3BD5-E3CE-7267-BB0091F8113B}"/>
              </a:ext>
            </a:extLst>
          </p:cNvPr>
          <p:cNvSpPr/>
          <p:nvPr/>
        </p:nvSpPr>
        <p:spPr>
          <a:xfrm>
            <a:off x="3040846" y="3529520"/>
            <a:ext cx="194539" cy="194539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C547C2B-3F8E-3C20-9EB3-DA34F850AAD5}"/>
              </a:ext>
            </a:extLst>
          </p:cNvPr>
          <p:cNvSpPr txBox="1"/>
          <p:nvPr/>
        </p:nvSpPr>
        <p:spPr>
          <a:xfrm>
            <a:off x="2954569" y="3506841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3.0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BBFBF6B8-6AF1-3627-F917-48DB1AF459A6}"/>
              </a:ext>
            </a:extLst>
          </p:cNvPr>
          <p:cNvCxnSpPr>
            <a:cxnSpLocks/>
          </p:cNvCxnSpPr>
          <p:nvPr/>
        </p:nvCxnSpPr>
        <p:spPr>
          <a:xfrm>
            <a:off x="3135067" y="2751362"/>
            <a:ext cx="0" cy="77071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FC827C3-371C-4A7D-6F22-2D9D8963181C}"/>
              </a:ext>
            </a:extLst>
          </p:cNvPr>
          <p:cNvSpPr txBox="1"/>
          <p:nvPr/>
        </p:nvSpPr>
        <p:spPr>
          <a:xfrm>
            <a:off x="2755436" y="2431447"/>
            <a:ext cx="742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Netherlands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17%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E4EDF38-D06D-900A-EE63-16C4432B700E}"/>
              </a:ext>
            </a:extLst>
          </p:cNvPr>
          <p:cNvSpPr/>
          <p:nvPr/>
        </p:nvSpPr>
        <p:spPr>
          <a:xfrm>
            <a:off x="2858304" y="3819120"/>
            <a:ext cx="155261" cy="155261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5405B13-C34B-C1EE-CC58-84B22E0FEB88}"/>
              </a:ext>
            </a:extLst>
          </p:cNvPr>
          <p:cNvSpPr txBox="1"/>
          <p:nvPr/>
        </p:nvSpPr>
        <p:spPr>
          <a:xfrm>
            <a:off x="2755436" y="37838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1.7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BF2F27CC-21DA-2B92-A247-4C3A66CD41BA}"/>
              </a:ext>
            </a:extLst>
          </p:cNvPr>
          <p:cNvCxnSpPr>
            <a:cxnSpLocks/>
          </p:cNvCxnSpPr>
          <p:nvPr/>
        </p:nvCxnSpPr>
        <p:spPr>
          <a:xfrm>
            <a:off x="2932269" y="3043642"/>
            <a:ext cx="0" cy="77071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A83220E3-3720-BC54-08A5-A5A83B03C039}"/>
              </a:ext>
            </a:extLst>
          </p:cNvPr>
          <p:cNvSpPr txBox="1"/>
          <p:nvPr/>
        </p:nvSpPr>
        <p:spPr>
          <a:xfrm>
            <a:off x="2641737" y="2746498"/>
            <a:ext cx="57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Belgium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15%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4F85643-9ECA-B07D-70B6-016635720891}"/>
              </a:ext>
            </a:extLst>
          </p:cNvPr>
          <p:cNvSpPr/>
          <p:nvPr/>
        </p:nvSpPr>
        <p:spPr>
          <a:xfrm>
            <a:off x="2132765" y="3071711"/>
            <a:ext cx="549951" cy="549951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E812F4F-02C7-B200-19F4-407A2F541EA2}"/>
              </a:ext>
            </a:extLst>
          </p:cNvPr>
          <p:cNvSpPr txBox="1"/>
          <p:nvPr/>
        </p:nvSpPr>
        <p:spPr>
          <a:xfrm>
            <a:off x="2189919" y="3223575"/>
            <a:ext cx="434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10.9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66AA767-CF3B-07FC-2159-2C953C3F410E}"/>
              </a:ext>
            </a:extLst>
          </p:cNvPr>
          <p:cNvSpPr txBox="1"/>
          <p:nvPr/>
        </p:nvSpPr>
        <p:spPr>
          <a:xfrm>
            <a:off x="1355058" y="2987308"/>
            <a:ext cx="766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England and</a:t>
            </a:r>
          </a:p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Wales 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rest</a:t>
            </a:r>
          </a:p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of UK not</a:t>
            </a:r>
          </a:p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included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18%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F3E3960E-9D8C-387D-3599-4DD8D361762A}"/>
              </a:ext>
            </a:extLst>
          </p:cNvPr>
          <p:cNvSpPr/>
          <p:nvPr/>
        </p:nvSpPr>
        <p:spPr>
          <a:xfrm>
            <a:off x="3413085" y="3665752"/>
            <a:ext cx="427913" cy="427913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C3B52A4-AD35-3D7E-30B0-4E041BBCA8D8}"/>
              </a:ext>
            </a:extLst>
          </p:cNvPr>
          <p:cNvSpPr txBox="1"/>
          <p:nvPr/>
        </p:nvSpPr>
        <p:spPr>
          <a:xfrm>
            <a:off x="3446543" y="3774933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9.3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CF0EE49-47C5-1D65-3411-6BB2A0823614}"/>
              </a:ext>
            </a:extLst>
          </p:cNvPr>
          <p:cNvSpPr txBox="1"/>
          <p:nvPr/>
        </p:nvSpPr>
        <p:spPr>
          <a:xfrm>
            <a:off x="3840997" y="3737672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Germany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11%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B27D9BC5-9102-42D4-0290-CEDC309CE290}"/>
              </a:ext>
            </a:extLst>
          </p:cNvPr>
          <p:cNvSpPr/>
          <p:nvPr/>
        </p:nvSpPr>
        <p:spPr>
          <a:xfrm>
            <a:off x="3363893" y="4464925"/>
            <a:ext cx="98384" cy="98384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35FD8542-EBF4-B4C3-ABB6-85B595CC50E6}"/>
              </a:ext>
            </a:extLst>
          </p:cNvPr>
          <p:cNvCxnSpPr>
            <a:cxnSpLocks/>
          </p:cNvCxnSpPr>
          <p:nvPr/>
        </p:nvCxnSpPr>
        <p:spPr>
          <a:xfrm>
            <a:off x="3414427" y="4563309"/>
            <a:ext cx="0" cy="77071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0AEE941-5E7E-93A2-6612-8B276905D5DB}"/>
              </a:ext>
            </a:extLst>
          </p:cNvPr>
          <p:cNvSpPr txBox="1"/>
          <p:nvPr/>
        </p:nvSpPr>
        <p:spPr>
          <a:xfrm>
            <a:off x="3061658" y="5296977"/>
            <a:ext cx="716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Switzerland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5%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F4BE9E5-75AD-611B-200C-E490C79822CA}"/>
              </a:ext>
            </a:extLst>
          </p:cNvPr>
          <p:cNvSpPr/>
          <p:nvPr/>
        </p:nvSpPr>
        <p:spPr>
          <a:xfrm>
            <a:off x="3755539" y="4975227"/>
            <a:ext cx="299217" cy="299217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1ADE9C9-679D-5EC8-407A-629F18714CF7}"/>
              </a:ext>
            </a:extLst>
          </p:cNvPr>
          <p:cNvSpPr txBox="1"/>
          <p:nvPr/>
        </p:nvSpPr>
        <p:spPr>
          <a:xfrm>
            <a:off x="3723145" y="5001724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3.9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254E4E0-79CF-7F27-060D-298965B58AB6}"/>
              </a:ext>
            </a:extLst>
          </p:cNvPr>
          <p:cNvSpPr txBox="1"/>
          <p:nvPr/>
        </p:nvSpPr>
        <p:spPr>
          <a:xfrm>
            <a:off x="4050847" y="4963825"/>
            <a:ext cx="522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Italy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7%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A88CC01B-041B-4311-9929-210DA754D451}"/>
              </a:ext>
            </a:extLst>
          </p:cNvPr>
          <p:cNvSpPr/>
          <p:nvPr/>
        </p:nvSpPr>
        <p:spPr>
          <a:xfrm>
            <a:off x="1861952" y="5299309"/>
            <a:ext cx="299217" cy="299217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898C146-285B-C4FD-197E-E5C28F4FEE16}"/>
              </a:ext>
            </a:extLst>
          </p:cNvPr>
          <p:cNvSpPr txBox="1"/>
          <p:nvPr/>
        </p:nvSpPr>
        <p:spPr>
          <a:xfrm>
            <a:off x="1829558" y="5325806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3.3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E65643-ECD9-C5A4-9819-482D29D89DF5}"/>
              </a:ext>
            </a:extLst>
          </p:cNvPr>
          <p:cNvSpPr txBox="1"/>
          <p:nvPr/>
        </p:nvSpPr>
        <p:spPr>
          <a:xfrm>
            <a:off x="1748606" y="4958423"/>
            <a:ext cx="522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Spain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7%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4D85D73-25B5-CD60-FE2E-152042161395}"/>
              </a:ext>
            </a:extLst>
          </p:cNvPr>
          <p:cNvSpPr/>
          <p:nvPr/>
        </p:nvSpPr>
        <p:spPr>
          <a:xfrm>
            <a:off x="1297929" y="5522835"/>
            <a:ext cx="98384" cy="98384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980406-AC23-F4F2-C10F-08C7AD659111}"/>
              </a:ext>
            </a:extLst>
          </p:cNvPr>
          <p:cNvSpPr txBox="1"/>
          <p:nvPr/>
        </p:nvSpPr>
        <p:spPr>
          <a:xfrm>
            <a:off x="1162109" y="5297191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0.5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2184170-873E-2C8F-0437-0878AC1F458D}"/>
              </a:ext>
            </a:extLst>
          </p:cNvPr>
          <p:cNvSpPr txBox="1"/>
          <p:nvPr/>
        </p:nvSpPr>
        <p:spPr>
          <a:xfrm>
            <a:off x="1067158" y="5635531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Portugal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8%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3CDD3DD-B524-6D3B-B756-772311499F44}"/>
              </a:ext>
            </a:extLst>
          </p:cNvPr>
          <p:cNvSpPr/>
          <p:nvPr/>
        </p:nvSpPr>
        <p:spPr>
          <a:xfrm>
            <a:off x="2536928" y="4262634"/>
            <a:ext cx="427913" cy="427913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8A3F92A-82E0-BB04-5C10-6AD2DA64001C}"/>
              </a:ext>
            </a:extLst>
          </p:cNvPr>
          <p:cNvSpPr txBox="1"/>
          <p:nvPr/>
        </p:nvSpPr>
        <p:spPr>
          <a:xfrm>
            <a:off x="2570386" y="4371815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9.0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27FBB62-10E2-1097-3AAF-DC1D961A96A5}"/>
              </a:ext>
            </a:extLst>
          </p:cNvPr>
          <p:cNvSpPr txBox="1"/>
          <p:nvPr/>
        </p:nvSpPr>
        <p:spPr>
          <a:xfrm>
            <a:off x="1992816" y="4303296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France</a:t>
            </a:r>
          </a:p>
          <a:p>
            <a:pPr algn="ctr"/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13%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38D95D5-FD9D-5285-EFC8-61C1B5960D7E}"/>
              </a:ext>
            </a:extLst>
          </p:cNvPr>
          <p:cNvSpPr/>
          <p:nvPr/>
        </p:nvSpPr>
        <p:spPr>
          <a:xfrm>
            <a:off x="533413" y="1385123"/>
            <a:ext cx="156294" cy="156294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A6DA84F-DA26-20E0-2F77-8C7A626DC58B}"/>
              </a:ext>
            </a:extLst>
          </p:cNvPr>
          <p:cNvSpPr txBox="1"/>
          <p:nvPr/>
        </p:nvSpPr>
        <p:spPr>
          <a:xfrm>
            <a:off x="697043" y="1319747"/>
            <a:ext cx="21018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Size of ethnocultural minority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population within country, million</a:t>
            </a:r>
          </a:p>
          <a:p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total = 44 million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AE4A90F-4516-4708-9E7A-C353208EEA52}"/>
              </a:ext>
            </a:extLst>
          </p:cNvPr>
          <p:cNvSpPr txBox="1"/>
          <p:nvPr/>
        </p:nvSpPr>
        <p:spPr>
          <a:xfrm>
            <a:off x="351629" y="1843335"/>
            <a:ext cx="2331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xx%</a:t>
            </a:r>
            <a:r>
              <a:rPr lang="zh-CN" altLang="en-US" dirty="0"/>
              <a:t>） </a:t>
            </a:r>
            <a:r>
              <a:rPr lang="en-US" altLang="zh-CN" dirty="0"/>
              <a:t>Share of national population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average share = 10%</a:t>
            </a:r>
            <a:r>
              <a:rPr lang="zh-CN" altLang="en-US" dirty="0"/>
              <a:t>）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7F6A3E8-1CDA-30A6-E8FF-5B781D3B8288}"/>
              </a:ext>
            </a:extLst>
          </p:cNvPr>
          <p:cNvSpPr txBox="1"/>
          <p:nvPr/>
        </p:nvSpPr>
        <p:spPr>
          <a:xfrm>
            <a:off x="5460569" y="815976"/>
            <a:ext cx="2946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Breakdown by country of ethnocultural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minority populations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495" name="Chart 3">
            <a:extLst>
              <a:ext uri="{FF2B5EF4-FFF2-40B4-BE49-F238E27FC236}">
                <a16:creationId xmlns:a16="http://schemas.microsoft.com/office/drawing/2014/main" id="{12BA807F-0752-BF89-056D-2C607DE09E1B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378575" y="1898650"/>
          <a:ext cx="4991100" cy="4157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4"/>
          </a:graphicData>
        </a:graphic>
      </p:graphicFrame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0134117F-756D-8747-6766-8C0B23609700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1239500" y="1787525"/>
            <a:ext cx="0" cy="2032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占位符 2">
            <a:extLst>
              <a:ext uri="{FF2B5EF4-FFF2-40B4-BE49-F238E27FC236}">
                <a16:creationId xmlns:a16="http://schemas.microsoft.com/office/drawing/2014/main" id="{51496E32-646C-36D2-075A-33F09A1F080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591175" y="2813050"/>
            <a:ext cx="433388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E0F2A39-65BD-4AC7-BC43-661CD2720224}" type="datetime'''''''Fr''''''''''''a''''''''''''''''''''n''''''ce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France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918037D8-30B5-8616-4297-3311E8EA8F8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1074400" y="1592263"/>
            <a:ext cx="3317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4C7A313-17DC-46CC-BA3C-7780C22260FE}" type="datetime'''''''''''''''''''''''''''''''''1''''00''%'''''">
              <a:rPr kumimoji="1" lang="en-US" altLang="en-US" sz="105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kumimoji="1" lang="zh-CN" altLang="en-US" sz="105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5" name="文本占位符 2">
            <a:extLst>
              <a:ext uri="{FF2B5EF4-FFF2-40B4-BE49-F238E27FC236}">
                <a16:creationId xmlns:a16="http://schemas.microsoft.com/office/drawing/2014/main" id="{0D6B891C-D9B8-A09B-FC7E-4E69F3D9C43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920288" y="208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374708B-1310-4B12-B9F0-865D7CBFA5F8}" type="datetime'''''2''''''''''''''3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23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6" name="文本占位符 2">
            <a:extLst>
              <a:ext uri="{FF2B5EF4-FFF2-40B4-BE49-F238E27FC236}">
                <a16:creationId xmlns:a16="http://schemas.microsoft.com/office/drawing/2014/main" id="{5E126480-DFC6-C7C3-6BB9-A9487DECF4C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9291638" y="2087563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FAD5C33-06F2-48BA-A2A0-41E82D2DEA0D}" type="datetime'''5'''''''''''''''''''''''''''''''">
              <a:rPr kumimoji="1" lang="en-US" altLang="en-US" sz="11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7" name="文本占位符 2">
            <a:extLst>
              <a:ext uri="{FF2B5EF4-FFF2-40B4-BE49-F238E27FC236}">
                <a16:creationId xmlns:a16="http://schemas.microsoft.com/office/drawing/2014/main" id="{5FF91D63-23C3-419A-2554-E58D2FA57BD8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7747000" y="208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A43E80B-8D99-43B8-BF94-20F20192025A}" type="datetime'5''''''''''''''''8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58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9" name="文本占位符 2">
            <a:extLst>
              <a:ext uri="{FF2B5EF4-FFF2-40B4-BE49-F238E27FC236}">
                <a16:creationId xmlns:a16="http://schemas.microsoft.com/office/drawing/2014/main" id="{C2812C5F-D63B-CB2A-3DF4-33CB9B99D06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9505950" y="2451100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2B61D7-207D-47BD-A9FC-EFE93129F794}" type="datetime'''''''''''''''''''''''''4''''''''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8C428545-41A1-B70F-BB1D-D0BF39EBC68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8774113" y="245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4A04BF-FAD2-49EB-99A0-AC7BA3EFCBF2}" type="datetime'''''''''''''''''''''''''2''''''''''''''''''''''''5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1" name="文本占位符 2">
            <a:extLst>
              <a:ext uri="{FF2B5EF4-FFF2-40B4-BE49-F238E27FC236}">
                <a16:creationId xmlns:a16="http://schemas.microsoft.com/office/drawing/2014/main" id="{FED6A373-2813-7DC1-E6C3-3FF8D78BD64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269163" y="245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CCE7A1-9785-4D73-8293-2265C3D8000B}" type="datetime'''''''''3''8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38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7" name="文本占位符 2">
            <a:extLst>
              <a:ext uri="{FF2B5EF4-FFF2-40B4-BE49-F238E27FC236}">
                <a16:creationId xmlns:a16="http://schemas.microsoft.com/office/drawing/2014/main" id="{5CF92604-3A87-13D8-8776-3A1C22AB16B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9553575" y="2813050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F4B79F-D074-4DD6-AA2F-34A680A31D87}" type="datetime'''''''''''8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8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8" name="文本占位符 2">
            <a:extLst>
              <a:ext uri="{FF2B5EF4-FFF2-40B4-BE49-F238E27FC236}">
                <a16:creationId xmlns:a16="http://schemas.microsoft.com/office/drawing/2014/main" id="{3582A82F-AF4D-EFE2-2C40-64C91F893BE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104188" y="281305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9D069F-2FD9-44E8-BD51-22CD537E873B}" type="datetime'51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51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2965B103-7097-3F03-B495-5F050CADE972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6623050" y="281305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6285FEE-3106-4ECA-B9D1-D79D7664248F}" type="datetime'''''''''''''1''''''''''1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6DE1377C-E21D-4502-3D7C-CA25C1E7085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5591175" y="2451100"/>
            <a:ext cx="5762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5FFA965-A5D5-421E-9167-B6C35AC14FFB}" type="datetime'''''''G''''''''''''''''''''e''''''''''r''''''''m''a''n''''y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Germany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8" name="文本占位符 2">
            <a:extLst>
              <a:ext uri="{FF2B5EF4-FFF2-40B4-BE49-F238E27FC236}">
                <a16:creationId xmlns:a16="http://schemas.microsoft.com/office/drawing/2014/main" id="{BA7BAF92-B941-00EB-BFED-493D270B9C8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0804525" y="208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9C02992-FABF-4D22-BCA8-0017E2B38B08}" type="datetime'''''''''''''''1''''''''''''''''''''''''''''''4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7" name="文本占位符 2">
            <a:extLst>
              <a:ext uri="{FF2B5EF4-FFF2-40B4-BE49-F238E27FC236}">
                <a16:creationId xmlns:a16="http://schemas.microsoft.com/office/drawing/2014/main" id="{D2763601-CD8B-7BCA-1110-1A538792AC34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11202988" y="2087563"/>
            <a:ext cx="120650" cy="150813"/>
          </a:xfrm>
          <a:prstGeom prst="rect">
            <a:avLst/>
          </a:prstGeom>
          <a:solidFill>
            <a:srgbClr val="00C0AB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126FED-2C9E-4D88-92CF-34162F917051}" type="datetime'''''1''''''''''''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3" name="文本占位符 2">
            <a:extLst>
              <a:ext uri="{FF2B5EF4-FFF2-40B4-BE49-F238E27FC236}">
                <a16:creationId xmlns:a16="http://schemas.microsoft.com/office/drawing/2014/main" id="{C0A313B8-B612-6F28-820F-C19CE196B1EE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9745663" y="2451100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D84FFB-E7C9-4283-8633-BAAB31F70C9E}" type="datetime'''''''''''''''''''''''''''''''''''''''''''''''''6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7" name="文本占位符 2">
            <a:extLst>
              <a:ext uri="{FF2B5EF4-FFF2-40B4-BE49-F238E27FC236}">
                <a16:creationId xmlns:a16="http://schemas.microsoft.com/office/drawing/2014/main" id="{2FF90A7F-362B-BE26-2D10-AE9F0DCFA8FB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0469563" y="245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46128E-68C4-4878-9F52-E2224467988B}" type="datetime'''''''''''2''''''''''''''''''''''''''''''''''''''''''6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26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7" name="文本占位符 2">
            <a:extLst>
              <a:ext uri="{FF2B5EF4-FFF2-40B4-BE49-F238E27FC236}">
                <a16:creationId xmlns:a16="http://schemas.microsoft.com/office/drawing/2014/main" id="{F2141B67-1FD3-70D0-9477-6ABE3461AE87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0255250" y="281305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89A430-ADB4-40EC-A926-27FF2C37DB14}" type="datetime'''''''2''''''''''''''''''''''''''''''''''3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23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0" name="文本占位符 2">
            <a:extLst>
              <a:ext uri="{FF2B5EF4-FFF2-40B4-BE49-F238E27FC236}">
                <a16:creationId xmlns:a16="http://schemas.microsoft.com/office/drawing/2014/main" id="{D963C326-0F02-9F47-85CA-281B60F7D553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10987088" y="2813050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5CA46FC-2160-4C3E-9FF5-4C5692322764}" type="datetime'6'''''''''''''''''''''''''''''''''''">
              <a:rPr kumimoji="1" lang="en-US" altLang="en-US" sz="11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6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3" name="文本占位符 2">
            <a:extLst>
              <a:ext uri="{FF2B5EF4-FFF2-40B4-BE49-F238E27FC236}">
                <a16:creationId xmlns:a16="http://schemas.microsoft.com/office/drawing/2014/main" id="{4EA236F4-9BAC-5163-C741-5344CF059D4C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5591175" y="3176588"/>
            <a:ext cx="26987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CF36E91-DEEE-43B9-97EF-AC74581EA3BF}" type="datetime'''I''''''''''''''''''''t''''''''''''''''''''''a''l''''''y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Italy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7" name="文本占位符 2">
            <a:extLst>
              <a:ext uri="{FF2B5EF4-FFF2-40B4-BE49-F238E27FC236}">
                <a16:creationId xmlns:a16="http://schemas.microsoft.com/office/drawing/2014/main" id="{D5BB8305-27AA-E2CF-138E-CBA3FC9D8948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364413" y="317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E7F396A-D341-4F7C-B751-EB90E15E6459}" type="datetime'''''4''''''''''''''''''''''''2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42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8" name="文本占位符 2">
            <a:extLst>
              <a:ext uri="{FF2B5EF4-FFF2-40B4-BE49-F238E27FC236}">
                <a16:creationId xmlns:a16="http://schemas.microsoft.com/office/drawing/2014/main" id="{4393A6E4-1CF0-610B-6A0F-06DB44C030D1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9012238" y="317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7C93F7D-B494-4D76-8220-299C789478B3}" type="datetime'''''2''''7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1" name="文本占位符 2">
            <a:extLst>
              <a:ext uri="{FF2B5EF4-FFF2-40B4-BE49-F238E27FC236}">
                <a16:creationId xmlns:a16="http://schemas.microsoft.com/office/drawing/2014/main" id="{C26FD45F-D82E-2968-5523-FC69ACEB4C99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9967913" y="317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DDF082-56F8-4595-9BE0-7EB7859A63C7}" type="datetime'''''''''''''''''''''''''''''''''''''''''''''1''3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13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4" name="文本占位符 2">
            <a:extLst>
              <a:ext uri="{FF2B5EF4-FFF2-40B4-BE49-F238E27FC236}">
                <a16:creationId xmlns:a16="http://schemas.microsoft.com/office/drawing/2014/main" id="{76367CEE-5592-4EE5-9195-537542149678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10685463" y="317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7CA997-128C-4A81-AD4D-20F8DA0EF8EB}" type="datetime'1''''''7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8" name="文本占位符 2">
            <a:extLst>
              <a:ext uri="{FF2B5EF4-FFF2-40B4-BE49-F238E27FC236}">
                <a16:creationId xmlns:a16="http://schemas.microsoft.com/office/drawing/2014/main" id="{18F07FB4-DC07-8E2B-E2FF-BE5DA6187F14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11155363" y="3176588"/>
            <a:ext cx="120650" cy="150813"/>
          </a:xfrm>
          <a:prstGeom prst="rect">
            <a:avLst/>
          </a:prstGeom>
          <a:solidFill>
            <a:srgbClr val="00C0AB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8023516-2AC4-4A1E-A63A-AA77120811EA}" type="datetime'1'''''''''''''''''''''''''''''''''''''''''''''''''">
              <a:rPr kumimoji="1" lang="en-US" altLang="en-US" sz="11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2" name="文本占位符 2">
            <a:extLst>
              <a:ext uri="{FF2B5EF4-FFF2-40B4-BE49-F238E27FC236}">
                <a16:creationId xmlns:a16="http://schemas.microsoft.com/office/drawing/2014/main" id="{CADFE8CC-DD72-E649-2B6B-F4A5DD937101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5591175" y="3540125"/>
            <a:ext cx="3540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2FD0983-95A0-47CE-921A-7B34E90263EB}" type="datetime'''''''''''''''''S''p''''''''''''a''''''''''''''''''''in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Spain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6" name="文本占位符 2">
            <a:extLst>
              <a:ext uri="{FF2B5EF4-FFF2-40B4-BE49-F238E27FC236}">
                <a16:creationId xmlns:a16="http://schemas.microsoft.com/office/drawing/2014/main" id="{83D0C9BF-DB21-00E7-DD68-D05754DD501E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694488" y="354012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0E432C6-D1FB-436E-B8E1-E0AF349D3A69}" type="datetime'''''1''''''''''''''''''4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7" name="文本占位符 2">
            <a:extLst>
              <a:ext uri="{FF2B5EF4-FFF2-40B4-BE49-F238E27FC236}">
                <a16:creationId xmlns:a16="http://schemas.microsoft.com/office/drawing/2014/main" id="{25602460-EEC2-EABB-AD8E-EF29C2696B0B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7745413" y="354012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FCFA2A2-C622-42E1-AC20-282B0A946E0B}" type="datetime'''''''''''''''''''''''''''''3''''''''''''''''''''''''''0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30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0" name="文本占位符 2">
            <a:extLst>
              <a:ext uri="{FF2B5EF4-FFF2-40B4-BE49-F238E27FC236}">
                <a16:creationId xmlns:a16="http://schemas.microsoft.com/office/drawing/2014/main" id="{1B4F38AE-CB66-06F1-8459-700D275E2B2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9585325" y="354012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B9E239-1BDE-44A0-9F6B-B2F922544943}" type="datetime'4''''''''''''''''''''''''''''7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47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3" name="文本占位符 2">
            <a:extLst>
              <a:ext uri="{FF2B5EF4-FFF2-40B4-BE49-F238E27FC236}">
                <a16:creationId xmlns:a16="http://schemas.microsoft.com/office/drawing/2014/main" id="{2E849536-5C20-76F5-EA21-DD56B52F3B23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939463" y="3540125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70A2CE-7954-4406-AD9B-88C6A2BC5CEC}" type="datetime'''''''''''''''''''''''''''''''''8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8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9" name="文本占位符 2">
            <a:extLst>
              <a:ext uri="{FF2B5EF4-FFF2-40B4-BE49-F238E27FC236}">
                <a16:creationId xmlns:a16="http://schemas.microsoft.com/office/drawing/2014/main" id="{B153A623-A644-C1AB-3216-3530FB711FC7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5591175" y="3902075"/>
            <a:ext cx="77787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DF416BB-490F-469A-8105-8ED6AE714E61}" type="datetime'''Ne''th''''e''''rla''''''n''''d''''''''''''''''''s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Netherlands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0" name="文本占位符 2">
            <a:extLst>
              <a:ext uri="{FF2B5EF4-FFF2-40B4-BE49-F238E27FC236}">
                <a16:creationId xmlns:a16="http://schemas.microsoft.com/office/drawing/2014/main" id="{5F066622-08C0-A76C-0D79-5B4BC489A7FD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6958013" y="390207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6BD22C-EC14-4523-AE54-E369A5672500}" type="datetime'''''''''''''2''''''''''''''''''''''''''''''''''''''5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1" name="文本占位符 2">
            <a:extLst>
              <a:ext uri="{FF2B5EF4-FFF2-40B4-BE49-F238E27FC236}">
                <a16:creationId xmlns:a16="http://schemas.microsoft.com/office/drawing/2014/main" id="{51DF9E3B-17CE-EFA2-9380-BEC1C98B3644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8199438" y="390207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FAF88B9-96ED-4BC6-A3E3-BAF3E68DC04F}" type="datetime'''''''''''27''''''''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" name="文本占位符 2">
            <a:extLst>
              <a:ext uri="{FF2B5EF4-FFF2-40B4-BE49-F238E27FC236}">
                <a16:creationId xmlns:a16="http://schemas.microsoft.com/office/drawing/2014/main" id="{7A58A3AD-8D6F-77C3-6BD0-8C6BCD2DC5DA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5591175" y="2011363"/>
            <a:ext cx="6635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9EFE775-9D2F-4C5C-AC41-924EA65FF8D1}" type="datetime'En''''''gl''''a''nd''''''''''''''''&#10;''''''a''nd'' W''''ales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England
and Wales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7" name="文本占位符 2">
            <a:extLst>
              <a:ext uri="{FF2B5EF4-FFF2-40B4-BE49-F238E27FC236}">
                <a16:creationId xmlns:a16="http://schemas.microsoft.com/office/drawing/2014/main" id="{F8D42D9A-3441-3325-C509-B106E5B8D3F4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10247313" y="3902075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A11D32C-8743-4C7A-A0EE-99D652A434FB}" type="datetime'''9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9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0" name="文本占位符 2">
            <a:extLst>
              <a:ext uri="{FF2B5EF4-FFF2-40B4-BE49-F238E27FC236}">
                <a16:creationId xmlns:a16="http://schemas.microsoft.com/office/drawing/2014/main" id="{A843A6B1-2237-D8B6-6E04-807F769A1784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0780713" y="390207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C8C0B8B-1381-41BA-ACC8-BC608573544B}" type="datetime'''''''''1''''''''''''''''''''''''''5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4" name="文本占位符 2">
            <a:extLst>
              <a:ext uri="{FF2B5EF4-FFF2-40B4-BE49-F238E27FC236}">
                <a16:creationId xmlns:a16="http://schemas.microsoft.com/office/drawing/2014/main" id="{8B51E9F1-1554-F66E-CCD2-C97ED9DCE379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5591175" y="4265613"/>
            <a:ext cx="5175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C977023-F40C-41E3-B20A-EFAA52D06E73}" type="datetime'''''''''''''''''''Belg''i''''''''''''''''''um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Belgium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8" name="文本占位符 2">
            <a:extLst>
              <a:ext uri="{FF2B5EF4-FFF2-40B4-BE49-F238E27FC236}">
                <a16:creationId xmlns:a16="http://schemas.microsoft.com/office/drawing/2014/main" id="{FCFED654-0CA4-24A8-0035-33F43ED4EA9D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6694488" y="426561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517DF95-DA28-4A56-9CBC-394D48A10AB2}" type="datetime'''''''''''''''''''''''''''''''''''''''''''''''''14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9" name="文本占位符 2">
            <a:extLst>
              <a:ext uri="{FF2B5EF4-FFF2-40B4-BE49-F238E27FC236}">
                <a16:creationId xmlns:a16="http://schemas.microsoft.com/office/drawing/2014/main" id="{A8A20E36-0B9C-4B45-6BBF-082E52BE2281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8008938" y="426561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3DED50-7BD8-4FFE-9DAC-ED6256985956}" type="datetime'''''''''''''''''''''41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22" name="文本占位符 2">
            <a:extLst>
              <a:ext uri="{FF2B5EF4-FFF2-40B4-BE49-F238E27FC236}">
                <a16:creationId xmlns:a16="http://schemas.microsoft.com/office/drawing/2014/main" id="{EF881D0D-7AED-373E-7CDE-E6FB8A10A282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9251950" y="426561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4ED3BC-F8EC-4455-9571-8300F39C670F}" type="datetime'''1''''''''''''''''''''''''''''1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11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25" name="文本占位符 2">
            <a:extLst>
              <a:ext uri="{FF2B5EF4-FFF2-40B4-BE49-F238E27FC236}">
                <a16:creationId xmlns:a16="http://schemas.microsoft.com/office/drawing/2014/main" id="{E5AF58BB-B1E5-B79B-FE4F-DCC1AC8DF84D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10017125" y="426561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402A7C-0398-404D-A40D-B3281EE095CA}" type="datetime'''''''''''''''''2''''''''''''''''''''''''''''''1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28" name="文本占位符 2">
            <a:extLst>
              <a:ext uri="{FF2B5EF4-FFF2-40B4-BE49-F238E27FC236}">
                <a16:creationId xmlns:a16="http://schemas.microsoft.com/office/drawing/2014/main" id="{EEF25E62-FB3C-9248-91C5-BC4240A7FA0B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10828338" y="426561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CC19E98-D36D-4DC8-ABD4-82AF3C793F84}" type="datetime'''''''''''''''''''''''''13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13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1" name="文本占位符 2">
            <a:extLst>
              <a:ext uri="{FF2B5EF4-FFF2-40B4-BE49-F238E27FC236}">
                <a16:creationId xmlns:a16="http://schemas.microsoft.com/office/drawing/2014/main" id="{7ADC1419-8780-68E9-F1D0-9438E33677DB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auto">
          <a:xfrm>
            <a:off x="5591175" y="4627563"/>
            <a:ext cx="5064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4DE6798-1E44-4270-9D81-CDB45BC046DD}" type="datetime'''''''''''''S''''w''''''''''''ed''''''''''en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Sweden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5" name="文本占位符 2">
            <a:extLst>
              <a:ext uri="{FF2B5EF4-FFF2-40B4-BE49-F238E27FC236}">
                <a16:creationId xmlns:a16="http://schemas.microsoft.com/office/drawing/2014/main" id="{FF59FCCD-45A4-7900-4DCE-162F7C48C437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6910388" y="462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5527C8-EAA4-4239-BB93-82269A330E5F}" type="datetime'''''''''''''''''''''''''''''''''''23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23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6" name="文本占位符 2">
            <a:extLst>
              <a:ext uri="{FF2B5EF4-FFF2-40B4-BE49-F238E27FC236}">
                <a16:creationId xmlns:a16="http://schemas.microsoft.com/office/drawing/2014/main" id="{FD84BDC0-B528-A412-032E-8812C29AC369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8558213" y="462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2A98F9-92CC-4014-8726-DC35AEA8DA1D}" type="datetime'''''''''''''''''''''''''''46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46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9" name="文本占位符 2">
            <a:extLst>
              <a:ext uri="{FF2B5EF4-FFF2-40B4-BE49-F238E27FC236}">
                <a16:creationId xmlns:a16="http://schemas.microsoft.com/office/drawing/2014/main" id="{69ED41E3-1CCE-B624-FDEB-2B3CE38022C2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9912350" y="4627563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9245C0B-A67D-4421-8BCB-F5EC68A245B3}" type="datetime'''''''''''''''9''''''''''''''''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9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2" name="文本占位符 2">
            <a:extLst>
              <a:ext uri="{FF2B5EF4-FFF2-40B4-BE49-F238E27FC236}">
                <a16:creationId xmlns:a16="http://schemas.microsoft.com/office/drawing/2014/main" id="{20D4ED4C-9F43-E116-2398-AC0D4C4F5869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10493375" y="4627563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50B37D-A2F5-448C-878F-5F6582FC66CE}" type="datetime'''1''''''''7''''''''''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6" name="文本占位符 2">
            <a:extLst>
              <a:ext uri="{FF2B5EF4-FFF2-40B4-BE49-F238E27FC236}">
                <a16:creationId xmlns:a16="http://schemas.microsoft.com/office/drawing/2014/main" id="{7A746984-7A6D-9D6B-34F7-EE909449222E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11058525" y="4627563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955712-46D0-4230-B86E-660D82679DEF}" type="datetime'''''''''''''''''''''5'''''''''''">
              <a:rPr kumimoji="1" lang="en-US" altLang="en-US" sz="11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0" name="文本占位符 2">
            <a:extLst>
              <a:ext uri="{FF2B5EF4-FFF2-40B4-BE49-F238E27FC236}">
                <a16:creationId xmlns:a16="http://schemas.microsoft.com/office/drawing/2014/main" id="{D0F669CC-C542-E9EB-9C9E-68CCAC25EBE8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auto">
          <a:xfrm>
            <a:off x="5591175" y="4991100"/>
            <a:ext cx="5778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DAEE8CD-FC7A-4200-A39F-AF9A0078B51F}" type="datetime'''D''''''''''''''''''''''e''n''''m''a''''''rk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Denmark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4" name="文本占位符 2">
            <a:extLst>
              <a:ext uri="{FF2B5EF4-FFF2-40B4-BE49-F238E27FC236}">
                <a16:creationId xmlns:a16="http://schemas.microsoft.com/office/drawing/2014/main" id="{1034749F-E58B-1EF2-BEFC-7B4ADBE976B9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7196138" y="499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34BF2DE-7C17-4D0C-B881-EB6F36E2EF01}" type="datetime'''''''''''''''''''3''''''''''''''''''''''''''''''5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35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5" name="文本占位符 2">
            <a:extLst>
              <a:ext uri="{FF2B5EF4-FFF2-40B4-BE49-F238E27FC236}">
                <a16:creationId xmlns:a16="http://schemas.microsoft.com/office/drawing/2014/main" id="{5EA1D50F-D433-EB93-F680-5F761EF35AF8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8845550" y="499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BB5EFF9-A121-4551-A81D-3A904DF2B3E0}" type="datetime'''''''''''3''''''''''''4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8" name="文本占位符 2">
            <a:extLst>
              <a:ext uri="{FF2B5EF4-FFF2-40B4-BE49-F238E27FC236}">
                <a16:creationId xmlns:a16="http://schemas.microsoft.com/office/drawing/2014/main" id="{B897F5D8-01B6-6108-8BA5-B8B1B24230ED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9840913" y="4991100"/>
            <a:ext cx="120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0332422-1FF0-4FB9-8E5E-4780F6A751EF}" type="datetime'''''''''''''''''''''''''''''''''6'''''''''''''''''''''''''">
              <a:rPr kumimoji="1" lang="en-US" altLang="en-US" sz="1100" smtClean="0">
                <a:effectLst/>
                <a:latin typeface="HarmonyOS Sans SC" pitchFamily="2" charset="-122"/>
                <a:ea typeface="HarmonyOS Sans SC" pitchFamily="2" charset="-122"/>
              </a:rPr>
              <a:pPr/>
              <a:t>6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61" name="文本占位符 2">
            <a:extLst>
              <a:ext uri="{FF2B5EF4-FFF2-40B4-BE49-F238E27FC236}">
                <a16:creationId xmlns:a16="http://schemas.microsoft.com/office/drawing/2014/main" id="{B3D6A9FD-1B45-7A6D-D7F6-A3C99015E303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10231438" y="499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D38728-B7D8-4945-BFE8-73DCE773CB04}" type="datetime'''''''''''''''''''''''1''''''''2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12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65" name="文本占位符 2">
            <a:extLst>
              <a:ext uri="{FF2B5EF4-FFF2-40B4-BE49-F238E27FC236}">
                <a16:creationId xmlns:a16="http://schemas.microsoft.com/office/drawing/2014/main" id="{7AD0E027-9CAF-B257-35A6-E45FDAE34F1F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52150" y="4991100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BAE0897-BF36-4160-85B5-1014CA35BBD5}" type="datetime'''''1''''''''''''''''''''''''''''4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2" name="文本占位符 2">
            <a:extLst>
              <a:ext uri="{FF2B5EF4-FFF2-40B4-BE49-F238E27FC236}">
                <a16:creationId xmlns:a16="http://schemas.microsoft.com/office/drawing/2014/main" id="{AF98DED0-C167-DDA2-9757-E5452CBA6106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7124700" y="535463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60DD7E-4DE1-43F4-94CD-B238EC5DB2F2}" type="datetime'''''''''''3''2''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32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3" name="文本占位符 2">
            <a:extLst>
              <a:ext uri="{FF2B5EF4-FFF2-40B4-BE49-F238E27FC236}">
                <a16:creationId xmlns:a16="http://schemas.microsoft.com/office/drawing/2014/main" id="{EA8632B0-8650-7755-99F6-7B03E3C4B6DA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8296275" y="535463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FE925A3-818C-472B-B5DD-C9DD746640A4}" type="datetime'''1''''''''''''''''''''''7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6" name="文本占位符 2">
            <a:extLst>
              <a:ext uri="{FF2B5EF4-FFF2-40B4-BE49-F238E27FC236}">
                <a16:creationId xmlns:a16="http://schemas.microsoft.com/office/drawing/2014/main" id="{97F9A518-10D6-D09C-5ED5-58C987719CF9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auto">
          <a:xfrm>
            <a:off x="5591175" y="5354638"/>
            <a:ext cx="7429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90B2EB8-CE8C-446D-96A1-BE561AA9B790}" type="datetime'''''''''''''''Sw''''i''''''''''''''''tz''''erl''''an''''d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Switzerland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7" name="文本占位符 2">
            <a:extLst>
              <a:ext uri="{FF2B5EF4-FFF2-40B4-BE49-F238E27FC236}">
                <a16:creationId xmlns:a16="http://schemas.microsoft.com/office/drawing/2014/main" id="{79B4E662-32FC-A26B-9F6D-7EF5057DA519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9059863" y="535463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FB2516-60B6-47B4-BDE0-4357D006B314}" type="datetime'''''''''''''1''''''''''5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15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0" name="文本占位符 2">
            <a:extLst>
              <a:ext uri="{FF2B5EF4-FFF2-40B4-BE49-F238E27FC236}">
                <a16:creationId xmlns:a16="http://schemas.microsoft.com/office/drawing/2014/main" id="{56417D2F-3489-3221-E223-00433FBE0CFB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9920288" y="535463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2078A56-0615-4D61-A22B-AEEA92F3C971}" type="datetime'''''''''''''''''''''''''''''''''''2''''''1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21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3" name="文本占位符 2">
            <a:extLst>
              <a:ext uri="{FF2B5EF4-FFF2-40B4-BE49-F238E27FC236}">
                <a16:creationId xmlns:a16="http://schemas.microsoft.com/office/drawing/2014/main" id="{ECD96D49-CAE2-858A-E653-E8EE7F52C163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10804525" y="535463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C4D61D-3EEF-463C-B227-1EC671C63F99}" type="datetime'''''''''''''''''''''''''''''''1''''''6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16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8" name="文本占位符 2">
            <a:extLst>
              <a:ext uri="{FF2B5EF4-FFF2-40B4-BE49-F238E27FC236}">
                <a16:creationId xmlns:a16="http://schemas.microsoft.com/office/drawing/2014/main" id="{E20CAEF0-61CE-7A35-0D63-AB795698ED5C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auto">
          <a:xfrm>
            <a:off x="5591175" y="5716588"/>
            <a:ext cx="3222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A24F737-19CC-405A-AE88-BFA22C0723A9}" type="datetime'T''''o''''''''''''''''''''''t''''''''a''''''''''''''''''''l'">
              <a:rPr kumimoji="1" lang="en-US" altLang="en-US" sz="11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Total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9" name="文本占位符 2">
            <a:extLst>
              <a:ext uri="{FF2B5EF4-FFF2-40B4-BE49-F238E27FC236}">
                <a16:creationId xmlns:a16="http://schemas.microsoft.com/office/drawing/2014/main" id="{87888282-9A36-70B0-C1B5-EF76DA49726E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7148513" y="571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5DBA23-006E-45E1-8D43-852F80649D61}" type="datetime'''''''''''''''''''''''''''3''3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33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0" name="文本占位符 2">
            <a:extLst>
              <a:ext uri="{FF2B5EF4-FFF2-40B4-BE49-F238E27FC236}">
                <a16:creationId xmlns:a16="http://schemas.microsoft.com/office/drawing/2014/main" id="{98A922BD-7F61-5AB1-ABCF-B025A8088A82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gray">
          <a:xfrm>
            <a:off x="8582025" y="571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E48D67-C8F8-475C-947F-90915FC7D816}" type="datetime'''''''''''''''''''''''2''''7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27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3" name="文本占位符 2">
            <a:extLst>
              <a:ext uri="{FF2B5EF4-FFF2-40B4-BE49-F238E27FC236}">
                <a16:creationId xmlns:a16="http://schemas.microsoft.com/office/drawing/2014/main" id="{4B7637C6-EC07-F825-F2A3-B7841F1FE5EF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gray">
          <a:xfrm>
            <a:off x="9610725" y="571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EEDF60C-9698-4CD4-B40B-9D1EFBF7450B}" type="datetime'''''''''''''''''''''''''''1''6''''''''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16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6" name="文本占位符 2">
            <a:extLst>
              <a:ext uri="{FF2B5EF4-FFF2-40B4-BE49-F238E27FC236}">
                <a16:creationId xmlns:a16="http://schemas.microsoft.com/office/drawing/2014/main" id="{18778E42-147C-2260-2DA9-204B3A15012A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10326688" y="571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4D8F8E-533A-4FE7-A782-3D14BE3FC56F}" type="datetime'''''''''1''''4''''''''''''''''''''''''''''''''''''''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14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10" name="文本占位符 2">
            <a:extLst>
              <a:ext uri="{FF2B5EF4-FFF2-40B4-BE49-F238E27FC236}">
                <a16:creationId xmlns:a16="http://schemas.microsoft.com/office/drawing/2014/main" id="{017B1878-5C04-8FC2-46DB-8628C52E80F3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gray">
          <a:xfrm>
            <a:off x="10899775" y="5716588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637B8A-3091-42BB-8E9E-80FF7D12517E}" type="datetime'1''''''''''''''''''''0'''''''">
              <a:rPr kumimoji="1" lang="en-US" altLang="en-US" sz="11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10</a:t>
            </a:fld>
            <a:endParaRPr kumimoji="1" lang="zh-CN" altLang="en-US" sz="11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4" name="文本占位符 2">
            <a:extLst>
              <a:ext uri="{FF2B5EF4-FFF2-40B4-BE49-F238E27FC236}">
                <a16:creationId xmlns:a16="http://schemas.microsoft.com/office/drawing/2014/main" id="{20B71494-AAEF-CFDA-7727-980D35F5B0E7}"/>
              </a:ext>
            </a:extLst>
          </p:cNvPr>
          <p:cNvSpPr txBox="1">
            <a:spLocks/>
          </p:cNvSpPr>
          <p:nvPr>
            <p:custDataLst>
              <p:tags r:id="rId69"/>
            </p:custDataLst>
          </p:nvPr>
        </p:nvSpPr>
        <p:spPr bwMode="gray">
          <a:xfrm>
            <a:off x="9418638" y="3902075"/>
            <a:ext cx="2000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20638" tIns="0" rIns="2063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21BBD0C-6583-4D3D-B38D-2D7C96F52EEF}" type="datetime'''''''''''''''''''''''2''''''''4'''''''''''''''''''''''''''''">
              <a:rPr kumimoji="1" lang="en-US" altLang="en-US" sz="1100" smtClean="0">
                <a:latin typeface="HarmonyOS Sans SC" pitchFamily="2" charset="-122"/>
                <a:ea typeface="HarmonyOS Sans SC" pitchFamily="2" charset="-122"/>
              </a:rPr>
              <a:pPr/>
              <a:t>24</a:t>
            </a:fld>
            <a:endParaRPr kumimoji="1" lang="zh-CN" altLang="en-US" sz="11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21346AFC-1428-D801-13A3-4DE0569A193B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5567363" y="1387475"/>
            <a:ext cx="142875" cy="106363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8DCE5E4F-5A68-D39D-8D2B-04EDC88E9CF8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7208838" y="1387475"/>
            <a:ext cx="142875" cy="106363"/>
          </a:xfrm>
          <a:prstGeom prst="rect">
            <a:avLst/>
          </a:prstGeom>
          <a:solidFill>
            <a:srgbClr val="0352F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D367E436-0899-81FF-D830-7828EECCFBEF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5567363" y="1717675"/>
            <a:ext cx="142875" cy="106363"/>
          </a:xfrm>
          <a:prstGeom prst="rect">
            <a:avLst/>
          </a:prstGeom>
          <a:solidFill>
            <a:srgbClr val="00EFE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6" name="矩形 485">
            <a:extLst>
              <a:ext uri="{FF2B5EF4-FFF2-40B4-BE49-F238E27FC236}">
                <a16:creationId xmlns:a16="http://schemas.microsoft.com/office/drawing/2014/main" id="{2E468EAB-B47A-BFF5-2EAC-BD8B78B85605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5567363" y="1552575"/>
            <a:ext cx="142875" cy="106363"/>
          </a:xfrm>
          <a:prstGeom prst="rect">
            <a:avLst/>
          </a:prstGeom>
          <a:solidFill>
            <a:srgbClr val="00ADF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DFE6602F-C2E8-A159-6CCA-D6F82C048F87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7208838" y="1552575"/>
            <a:ext cx="142875" cy="106363"/>
          </a:xfrm>
          <a:prstGeom prst="rect">
            <a:avLst/>
          </a:prstGeom>
          <a:solidFill>
            <a:srgbClr val="00C0A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3" name="文本占位符 2">
            <a:extLst>
              <a:ext uri="{FF2B5EF4-FFF2-40B4-BE49-F238E27FC236}">
                <a16:creationId xmlns:a16="http://schemas.microsoft.com/office/drawing/2014/main" id="{6D989A8D-6C2E-66E9-2859-4DC54568EC8A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auto">
          <a:xfrm>
            <a:off x="7402513" y="1557338"/>
            <a:ext cx="3381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FC5C0BC-E3D0-47E0-9BBF-DF6B1DF31EA0}" type="datetime'''''''''''''Tu''''''''''''rk''''''''i''''''''''''y''''e'''''">
              <a:rPr kumimoji="1" lang="en-US" altLang="en-US" sz="8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Turkiye</a:t>
            </a:fld>
            <a:endParaRPr kumimoji="1" lang="zh-CN" altLang="en-US" sz="8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2" name="文本占位符 2">
            <a:extLst>
              <a:ext uri="{FF2B5EF4-FFF2-40B4-BE49-F238E27FC236}">
                <a16:creationId xmlns:a16="http://schemas.microsoft.com/office/drawing/2014/main" id="{65E93CAC-C41E-562F-4C63-0F78173F89E9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7402513" y="1392238"/>
            <a:ext cx="9207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E455C45-6113-42D6-8C7B-09D0BCEDC7DE}" type="datetime'''''S''''''uD-S''''''''ahar''an'''''' ''''Atr''ic''''a'''">
              <a:rPr kumimoji="1" lang="en-US" altLang="en-US" sz="8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SuD-Saharan Atrica</a:t>
            </a:fld>
            <a:endParaRPr kumimoji="1" lang="zh-CN" altLang="en-US" sz="8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1" name="文本占位符 2">
            <a:extLst>
              <a:ext uri="{FF2B5EF4-FFF2-40B4-BE49-F238E27FC236}">
                <a16:creationId xmlns:a16="http://schemas.microsoft.com/office/drawing/2014/main" id="{EEB0CB05-6499-4CD5-6974-F6C5373164BA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auto">
          <a:xfrm>
            <a:off x="5761038" y="1722438"/>
            <a:ext cx="1346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6372B83-C65A-45F4-8D0D-45112F9FF51A}" type="datetime'Lat''''i''n ''America'' ''''''''and C''''a''''r''i''b''bean'''">
              <a:rPr kumimoji="1" lang="en-US" altLang="en-US" sz="8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Latin America and Caribbean</a:t>
            </a:fld>
            <a:endParaRPr kumimoji="1" lang="zh-CN" altLang="en-US" sz="8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0" name="文本占位符 2">
            <a:extLst>
              <a:ext uri="{FF2B5EF4-FFF2-40B4-BE49-F238E27FC236}">
                <a16:creationId xmlns:a16="http://schemas.microsoft.com/office/drawing/2014/main" id="{FCB2A098-5CC2-7C53-FAEC-531DC474FFF2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5761038" y="1557338"/>
            <a:ext cx="1338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EBC619D-9F12-48BE-92D3-0608C20782E4}" type="datetime'Mid''dl''e'''' East ''and Nor''t''''h'' Afr''''''''''ic''a'">
              <a:rPr kumimoji="1" lang="en-US" altLang="en-US" sz="8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Middle East and North Africa</a:t>
            </a:fld>
            <a:endParaRPr kumimoji="1" lang="zh-CN" altLang="en-US" sz="8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8" name="文本占位符 2">
            <a:extLst>
              <a:ext uri="{FF2B5EF4-FFF2-40B4-BE49-F238E27FC236}">
                <a16:creationId xmlns:a16="http://schemas.microsoft.com/office/drawing/2014/main" id="{B1B7D72C-4244-5F66-B919-AFB0B71D807F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auto">
          <a:xfrm>
            <a:off x="5761038" y="1392238"/>
            <a:ext cx="1920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D060F8F-B961-4349-B56A-DD4596E542B0}" type="datetime'''''''''''As''''''''''i''''''''''''''''a'''''''''''''''''''">
              <a:rPr kumimoji="1" lang="en-US" altLang="en-US" sz="8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Asia</a:t>
            </a:fld>
            <a:endParaRPr kumimoji="1" lang="zh-CN" altLang="en-US" sz="8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92" name="文本框 491">
            <a:extLst>
              <a:ext uri="{FF2B5EF4-FFF2-40B4-BE49-F238E27FC236}">
                <a16:creationId xmlns:a16="http://schemas.microsoft.com/office/drawing/2014/main" id="{300438E7-D79A-C4B1-3EF4-5D88564D6658}"/>
              </a:ext>
            </a:extLst>
          </p:cNvPr>
          <p:cNvSpPr txBox="1"/>
          <p:nvPr/>
        </p:nvSpPr>
        <p:spPr>
          <a:xfrm>
            <a:off x="5866957" y="1345923"/>
            <a:ext cx="223138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8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494" name="直线连接符 493">
            <a:extLst>
              <a:ext uri="{FF2B5EF4-FFF2-40B4-BE49-F238E27FC236}">
                <a16:creationId xmlns:a16="http://schemas.microsoft.com/office/drawing/2014/main" id="{DFF0A2C0-0476-ACD3-F58C-F4F8CC32DB93}"/>
              </a:ext>
            </a:extLst>
          </p:cNvPr>
          <p:cNvCxnSpPr/>
          <p:nvPr/>
        </p:nvCxnSpPr>
        <p:spPr>
          <a:xfrm>
            <a:off x="5087639" y="878214"/>
            <a:ext cx="0" cy="518316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45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DE1B-A104-AA10-3DB0-D1904CE1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57424AC-CB70-F5C3-32C3-576C6F701C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7772400" imgH="10058400" progId="TCLayout.ActiveDocument.1">
                  <p:embed/>
                </p:oleObj>
              </mc:Choice>
              <mc:Fallback>
                <p:oleObj name="think-cell 幻灯片" r:id="rId2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7424AC-CB70-F5C3-32C3-576C6F701C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09BCD93-2470-50AF-C650-D5C0FF9FDA41}"/>
              </a:ext>
            </a:extLst>
          </p:cNvPr>
          <p:cNvSpPr txBox="1"/>
          <p:nvPr/>
        </p:nvSpPr>
        <p:spPr>
          <a:xfrm>
            <a:off x="434340" y="26860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Ethnocultural minority employees report a range of obstacles to finding a job, advancing in their careers, and feeling included in the workplace.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B326113-855C-EA97-A662-93C49715BA53}"/>
              </a:ext>
            </a:extLst>
          </p:cNvPr>
          <p:cNvSpPr txBox="1"/>
          <p:nvPr/>
        </p:nvSpPr>
        <p:spPr>
          <a:xfrm>
            <a:off x="352425" y="4942664"/>
            <a:ext cx="117156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"Have you faced any of the following challenges during your latest job search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？”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Possible answers: language barriers; lack of recognition of international qualifications; limited access to job opportunities; discrimination based on cultural background; other: please specify; none of the above; and prefer not to say.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"In the last year, have you missed out on a raise, promotion, or chance to get ahead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Possible answers: yes, I missed out on a raise; yes, I missed out on a promotion; yes, I missed out on a chance to get ahead; no, I did not miss out on any of these opportunities; and prefer not to say.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"In the last year, over the normal course of business, have you experienced any of the following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Possible answers: hearing or overhearing negative comments about your ethnic background; being confused with someone else of the same ethnicity; having others take or get credit for your ideas; being interrupted or spoken over more than others; being told you need to be "nicer" or less aggressive or angry; hearing others express surprise at your language skills, competence or other technical abilities; having others comment on your appearance in a way that made you feel uncomfortable; having others comment on your family or home life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clothing choice, decor, food choices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 a way that made you feel uncomfortable; none of the above; or prefer not to say.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4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：“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How likely is it that you will leave your company in the next year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Possible answers: very likely, likely, neither likely nor unlikely, unlikely, and very unlikely. The answers considered for the chart are very likely or likely.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2023 employee experience survey of 3,963 respondents in Denmark, France, Germany, Italy, and the Netherlands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FBEFF6-F043-D02E-BBF6-E4B87A73E36A}"/>
              </a:ext>
            </a:extLst>
          </p:cNvPr>
          <p:cNvSpPr txBox="1"/>
          <p:nvPr/>
        </p:nvSpPr>
        <p:spPr>
          <a:xfrm>
            <a:off x="434340" y="976276"/>
            <a:ext cx="8166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Nonminority and ethnocultural minority employee 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EME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survey responses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32A0687C-8C5D-4302-C667-EDB89B070F0C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52425" y="2195513"/>
          <a:ext cx="2716213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455" name="直线连接符 454">
            <a:extLst>
              <a:ext uri="{FF2B5EF4-FFF2-40B4-BE49-F238E27FC236}">
                <a16:creationId xmlns:a16="http://schemas.microsoft.com/office/drawing/2014/main" id="{C0B3AE2C-527F-9C20-FA9D-912F0B37AA2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543050" y="3357563"/>
            <a:ext cx="0" cy="1384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直线连接符 455">
            <a:extLst>
              <a:ext uri="{FF2B5EF4-FFF2-40B4-BE49-F238E27FC236}">
                <a16:creationId xmlns:a16="http://schemas.microsoft.com/office/drawing/2014/main" id="{210E7C17-9923-F3D7-8EBD-9711FADD586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784475" y="4456113"/>
            <a:ext cx="0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7" name="直线连接符 456">
            <a:extLst>
              <a:ext uri="{FF2B5EF4-FFF2-40B4-BE49-F238E27FC236}">
                <a16:creationId xmlns:a16="http://schemas.microsoft.com/office/drawing/2014/main" id="{4320F02D-C478-2455-94F6-A956408882CB}"/>
              </a:ext>
            </a:extLst>
          </p:cNvPr>
          <p:cNvCxnSpPr/>
          <p:nvPr>
            <p:custDataLst>
              <p:tags r:id="rId5"/>
            </p:custDataLst>
          </p:nvPr>
        </p:nvCxnSpPr>
        <p:spPr bwMode="white">
          <a:xfrm>
            <a:off x="1539875" y="4699000"/>
            <a:ext cx="1247775" cy="0"/>
          </a:xfrm>
          <a:prstGeom prst="line">
            <a:avLst/>
          </a:prstGeom>
          <a:ln w="2857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3" name="文本占位符 2">
            <a:extLst>
              <a:ext uri="{FF2B5EF4-FFF2-40B4-BE49-F238E27FC236}">
                <a16:creationId xmlns:a16="http://schemas.microsoft.com/office/drawing/2014/main" id="{B6D6F4B6-B220-6066-F298-1D425FEEA05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689100" y="4505325"/>
            <a:ext cx="865188" cy="388938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bg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ea typeface="等线" panose="02010600030101010101" pitchFamily="2" charset="-122"/>
              </a:rPr>
              <a:t>~</a:t>
            </a:r>
            <a:r>
              <a:rPr kumimoji="1" lang="en-US" altLang="zh-CN" sz="2000" dirty="0">
                <a:latin typeface="HarmonyOS Sans SC Medium" pitchFamily="2" charset="-122"/>
                <a:ea typeface="HarmonyOS Sans SC Medium" pitchFamily="2" charset="-122"/>
              </a:rPr>
              <a:t>2.0x</a:t>
            </a:r>
            <a:endParaRPr kumimoji="1" lang="zh-CN" altLang="en-US" sz="1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205" name="Chart 3">
            <a:extLst>
              <a:ext uri="{FF2B5EF4-FFF2-40B4-BE49-F238E27FC236}">
                <a16:creationId xmlns:a16="http://schemas.microsoft.com/office/drawing/2014/main" id="{C99D51CD-5651-77D0-CFB6-A2D8A1BA6985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3259138" y="2195513"/>
          <a:ext cx="2716212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4621E78-95CB-4DFD-E358-38115AC9C15E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646613" y="3357563"/>
            <a:ext cx="0" cy="1384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41BD39-EE7D-3E3D-C9B3-E830068582F0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5691188" y="4456113"/>
            <a:ext cx="0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81530544-58C7-0C68-4C9A-82902D101393}"/>
              </a:ext>
            </a:extLst>
          </p:cNvPr>
          <p:cNvCxnSpPr/>
          <p:nvPr>
            <p:custDataLst>
              <p:tags r:id="rId10"/>
            </p:custDataLst>
          </p:nvPr>
        </p:nvCxnSpPr>
        <p:spPr bwMode="white">
          <a:xfrm>
            <a:off x="4643438" y="4699000"/>
            <a:ext cx="1050925" cy="0"/>
          </a:xfrm>
          <a:prstGeom prst="line">
            <a:avLst/>
          </a:prstGeom>
          <a:ln w="2857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文本占位符 2">
            <a:extLst>
              <a:ext uri="{FF2B5EF4-FFF2-40B4-BE49-F238E27FC236}">
                <a16:creationId xmlns:a16="http://schemas.microsoft.com/office/drawing/2014/main" id="{6840B73E-7418-0844-098D-85335B00788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694238" y="4505325"/>
            <a:ext cx="865188" cy="388938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bg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ea typeface="等线" panose="02010600030101010101" pitchFamily="2" charset="-122"/>
              </a:rPr>
              <a:t>~</a:t>
            </a:r>
            <a:r>
              <a:rPr kumimoji="1" lang="en-US" altLang="zh-CN" sz="2000" dirty="0">
                <a:latin typeface="HarmonyOS Sans SC Medium" pitchFamily="2" charset="-122"/>
                <a:ea typeface="HarmonyOS Sans SC Medium" pitchFamily="2" charset="-122"/>
              </a:rPr>
              <a:t>2.0x</a:t>
            </a:r>
            <a:endParaRPr kumimoji="1" lang="zh-CN" altLang="en-US" sz="1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206" name="Chart 3">
            <a:extLst>
              <a:ext uri="{FF2B5EF4-FFF2-40B4-BE49-F238E27FC236}">
                <a16:creationId xmlns:a16="http://schemas.microsoft.com/office/drawing/2014/main" id="{20B4D395-A235-E505-8CAE-084F14B70ECA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6237288" y="2195513"/>
          <a:ext cx="2716212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EE2F03D8-F706-9557-A13F-787779456D9F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189788" y="3357563"/>
            <a:ext cx="0" cy="1384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566A984F-9461-63D7-5689-32A8F2663493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8669338" y="4456113"/>
            <a:ext cx="0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D4F0BA95-353E-420A-21DB-EA9039102F3B}"/>
              </a:ext>
            </a:extLst>
          </p:cNvPr>
          <p:cNvCxnSpPr/>
          <p:nvPr>
            <p:custDataLst>
              <p:tags r:id="rId15"/>
            </p:custDataLst>
          </p:nvPr>
        </p:nvCxnSpPr>
        <p:spPr bwMode="white">
          <a:xfrm>
            <a:off x="7186613" y="4699000"/>
            <a:ext cx="1485900" cy="0"/>
          </a:xfrm>
          <a:prstGeom prst="line">
            <a:avLst/>
          </a:prstGeom>
          <a:ln w="2857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890DF3D1-EF52-8933-471F-EE5AEBE17E9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7454900" y="4505325"/>
            <a:ext cx="865188" cy="388938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bg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ea typeface="等线" panose="02010600030101010101" pitchFamily="2" charset="-122"/>
              </a:rPr>
              <a:t>~</a:t>
            </a:r>
            <a:r>
              <a:rPr kumimoji="1" lang="en-US" altLang="zh-CN" sz="2000" dirty="0">
                <a:latin typeface="HarmonyOS Sans SC Medium" pitchFamily="2" charset="-122"/>
                <a:ea typeface="HarmonyOS Sans SC Medium" pitchFamily="2" charset="-122"/>
              </a:rPr>
              <a:t>2.5x</a:t>
            </a:r>
            <a:endParaRPr kumimoji="1" lang="zh-CN" altLang="en-US" sz="1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222A0AD-136D-3D89-CA75-791514603DE7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9117013" y="2195513"/>
          <a:ext cx="2716212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5CF72E3E-3136-ED56-14DE-27F2BF1AF24A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10402888" y="3357563"/>
            <a:ext cx="0" cy="1384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93AD6CEB-352D-4AD8-D0FC-B54AC6C75B8C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1549063" y="4456113"/>
            <a:ext cx="0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2A430C93-05DC-1B6D-399F-7D4AA584C3FF}"/>
              </a:ext>
            </a:extLst>
          </p:cNvPr>
          <p:cNvCxnSpPr/>
          <p:nvPr>
            <p:custDataLst>
              <p:tags r:id="rId20"/>
            </p:custDataLst>
          </p:nvPr>
        </p:nvCxnSpPr>
        <p:spPr bwMode="white">
          <a:xfrm>
            <a:off x="10399714" y="4699000"/>
            <a:ext cx="1152525" cy="0"/>
          </a:xfrm>
          <a:prstGeom prst="line">
            <a:avLst/>
          </a:prstGeom>
          <a:ln w="2857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本占位符 2">
            <a:extLst>
              <a:ext uri="{FF2B5EF4-FFF2-40B4-BE49-F238E27FC236}">
                <a16:creationId xmlns:a16="http://schemas.microsoft.com/office/drawing/2014/main" id="{CDF727AD-8CC3-63A0-2A4F-E7C483EEC10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501313" y="4505325"/>
            <a:ext cx="865188" cy="388938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bg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ea typeface="等线" panose="02010600030101010101" pitchFamily="2" charset="-122"/>
              </a:rPr>
              <a:t>~</a:t>
            </a:r>
            <a:r>
              <a:rPr kumimoji="1" lang="en-US" altLang="zh-CN" sz="2000" dirty="0">
                <a:latin typeface="HarmonyOS Sans SC Medium" pitchFamily="2" charset="-122"/>
                <a:ea typeface="HarmonyOS Sans SC Medium" pitchFamily="2" charset="-122"/>
              </a:rPr>
              <a:t>2.0x</a:t>
            </a:r>
            <a:endParaRPr kumimoji="1" lang="zh-CN" altLang="en-US" sz="1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EEF9576F-2710-C9C3-7CDD-A5612FCD6499}"/>
              </a:ext>
            </a:extLst>
          </p:cNvPr>
          <p:cNvSpPr txBox="1"/>
          <p:nvPr/>
        </p:nvSpPr>
        <p:spPr>
          <a:xfrm>
            <a:off x="434340" y="1612900"/>
            <a:ext cx="2563522" cy="738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EMEs are more likely to</a:t>
            </a:r>
          </a:p>
          <a:p>
            <a:r>
              <a:rPr lang="en-US" altLang="zh-CN" b="1" dirty="0"/>
              <a:t>report experiencing at least</a:t>
            </a:r>
          </a:p>
          <a:p>
            <a:r>
              <a:rPr lang="en-US" altLang="zh-CN" b="1" dirty="0"/>
              <a:t>1 barrier to employment</a:t>
            </a:r>
            <a:r>
              <a:rPr lang="en-US" altLang="zh-CN" b="1" baseline="30000" dirty="0"/>
              <a:t>1</a:t>
            </a:r>
            <a:endParaRPr lang="zh-CN" altLang="en-US" b="1" baseline="300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01F4F01-EB06-9410-CF93-B02BF0445E05}"/>
              </a:ext>
            </a:extLst>
          </p:cNvPr>
          <p:cNvSpPr txBox="1"/>
          <p:nvPr/>
        </p:nvSpPr>
        <p:spPr>
          <a:xfrm>
            <a:off x="3235588" y="1609725"/>
            <a:ext cx="2661306" cy="73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EMEs are more likely to</a:t>
            </a:r>
          </a:p>
          <a:p>
            <a:r>
              <a:rPr lang="en-US" altLang="zh-CN" b="1" dirty="0"/>
              <a:t>report missing out on career</a:t>
            </a:r>
          </a:p>
          <a:p>
            <a:r>
              <a:rPr lang="en-US" altLang="zh-CN" b="1" dirty="0"/>
              <a:t>advancement opportunities</a:t>
            </a:r>
            <a:r>
              <a:rPr lang="en-US" altLang="zh-CN" b="1" baseline="30000" dirty="0"/>
              <a:t>2</a:t>
            </a:r>
            <a:endParaRPr lang="zh-CN" altLang="en-US" b="1" baseline="300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D38FF99-BAB4-687A-9FA2-320BA6BCA0EE}"/>
              </a:ext>
            </a:extLst>
          </p:cNvPr>
          <p:cNvSpPr txBox="1"/>
          <p:nvPr/>
        </p:nvSpPr>
        <p:spPr>
          <a:xfrm>
            <a:off x="6194376" y="1608138"/>
            <a:ext cx="2265364" cy="738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EMEs are more likely to</a:t>
            </a:r>
          </a:p>
          <a:p>
            <a:r>
              <a:rPr lang="en-US" altLang="zh-CN" b="1" dirty="0"/>
              <a:t>report experiencing at</a:t>
            </a:r>
          </a:p>
          <a:p>
            <a:r>
              <a:rPr lang="en-US" altLang="zh-CN" b="1" dirty="0"/>
              <a:t>least 1 biased behavior</a:t>
            </a:r>
            <a:r>
              <a:rPr lang="en-US" altLang="zh-CN" b="1" baseline="30000" dirty="0"/>
              <a:t>3</a:t>
            </a:r>
            <a:endParaRPr lang="zh-CN" altLang="en-US" b="1" baseline="300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8CACB04-53FE-E88D-F6C1-3F05271CBAC2}"/>
              </a:ext>
            </a:extLst>
          </p:cNvPr>
          <p:cNvSpPr txBox="1"/>
          <p:nvPr/>
        </p:nvSpPr>
        <p:spPr>
          <a:xfrm>
            <a:off x="9117013" y="1614488"/>
            <a:ext cx="2629246" cy="954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EMEs are more likely to</a:t>
            </a:r>
          </a:p>
          <a:p>
            <a:r>
              <a:rPr lang="en-US" altLang="zh-CN" b="1" dirty="0"/>
              <a:t>report an intention to resign</a:t>
            </a:r>
          </a:p>
          <a:p>
            <a:r>
              <a:rPr lang="en-US" altLang="zh-CN" b="1" dirty="0"/>
              <a:t>from their current position</a:t>
            </a:r>
          </a:p>
          <a:p>
            <a:r>
              <a:rPr lang="en-US" altLang="zh-CN" b="1" dirty="0"/>
              <a:t>within the year</a:t>
            </a:r>
            <a:r>
              <a:rPr lang="en-US" altLang="zh-CN" b="1" baseline="30000" dirty="0"/>
              <a:t>4</a:t>
            </a:r>
            <a:endParaRPr lang="zh-CN" altLang="en-US" b="1" baseline="30000" dirty="0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76F5433-52D3-C3C5-D069-ECCEF0F62E4C}"/>
              </a:ext>
            </a:extLst>
          </p:cNvPr>
          <p:cNvSpPr/>
          <p:nvPr/>
        </p:nvSpPr>
        <p:spPr>
          <a:xfrm>
            <a:off x="529389" y="1347537"/>
            <a:ext cx="178755" cy="1787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9EB498C0-DCE9-FBE6-FDC7-C48FA0DDDF9C}"/>
              </a:ext>
            </a:extLst>
          </p:cNvPr>
          <p:cNvSpPr txBox="1"/>
          <p:nvPr/>
        </p:nvSpPr>
        <p:spPr>
          <a:xfrm>
            <a:off x="708144" y="1319387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Nonminority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F6F04268-C8D2-8566-5B17-B489833F7A75}"/>
              </a:ext>
            </a:extLst>
          </p:cNvPr>
          <p:cNvSpPr/>
          <p:nvPr/>
        </p:nvSpPr>
        <p:spPr>
          <a:xfrm>
            <a:off x="1752685" y="1347537"/>
            <a:ext cx="178755" cy="178755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43CC5967-EB95-E69E-EA0C-D663B3A8ECD6}"/>
              </a:ext>
            </a:extLst>
          </p:cNvPr>
          <p:cNvSpPr txBox="1"/>
          <p:nvPr/>
        </p:nvSpPr>
        <p:spPr>
          <a:xfrm>
            <a:off x="1931440" y="131938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EME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712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DC8FC-B9F9-7AF0-85EA-92128652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D58F84-6090-8602-2021-7BFFFBB36F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7772400" imgH="10058400" progId="TCLayout.ActiveDocument.1">
                  <p:embed/>
                </p:oleObj>
              </mc:Choice>
              <mc:Fallback>
                <p:oleObj name="think-cell 幻灯片" r:id="rId1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D58F84-6090-8602-2021-7BFFFBB36F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7A9A984-7522-F9A3-3C3D-474C923F28CA}"/>
              </a:ext>
            </a:extLst>
          </p:cNvPr>
          <p:cNvSpPr txBox="1"/>
          <p:nvPr/>
        </p:nvSpPr>
        <p:spPr>
          <a:xfrm>
            <a:off x="434340" y="26860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European employers are incorporating ethnocultural minority employee inclusion in their diversity strategies and executive teams.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41D591F4-462E-F2F7-CC49-89A5BFF2B53D}"/>
              </a:ext>
            </a:extLst>
          </p:cNvPr>
          <p:cNvSpPr txBox="1"/>
          <p:nvPr/>
        </p:nvSpPr>
        <p:spPr>
          <a:xfrm>
            <a:off x="434341" y="5670382"/>
            <a:ext cx="114734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Analysis based on data from 30 of the largest companies by market cap in each country. Companies are allocated to countries based on the location of their headquarters.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Based on public information on region of origin, such as nationality, nationality of parents, or both. Where this information was not available, no region of origin has been inferred.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Ethnocultural minority inclusion is counted as part of a diversity, equity, and inclusion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DEI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strategy if the company has a section dedicated to cultural and ethnical diversity on its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DEl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landing page or in its sustainability, annual, or diversity report.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4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Population analysis using proxy for ethnocultural minority, based on available data from national censuses.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171832-BA6F-18EB-56BD-5DBB174C7223}"/>
              </a:ext>
            </a:extLst>
          </p:cNvPr>
          <p:cNvSpPr txBox="1"/>
          <p:nvPr/>
        </p:nvSpPr>
        <p:spPr>
          <a:xfrm>
            <a:off x="434340" y="908910"/>
            <a:ext cx="4368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Analysis of 150 of the largest companies by market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cap across five countries in Europe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1B34FA-571A-C14F-EE7C-BE1620E0BCBE}"/>
              </a:ext>
            </a:extLst>
          </p:cNvPr>
          <p:cNvSpPr txBox="1"/>
          <p:nvPr/>
        </p:nvSpPr>
        <p:spPr>
          <a:xfrm>
            <a:off x="1397025" y="1453029"/>
            <a:ext cx="2345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Mean share of executives from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diverse regions of origin,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 %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98" name="Chart 3">
            <a:extLst>
              <a:ext uri="{FF2B5EF4-FFF2-40B4-BE49-F238E27FC236}">
                <a16:creationId xmlns:a16="http://schemas.microsoft.com/office/drawing/2014/main" id="{AC2370D7-3AFF-0ECA-1DE2-F7A9D1F1A3A3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422400" y="1895475"/>
          <a:ext cx="3462338" cy="3868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484" name="矩形 483">
            <a:extLst>
              <a:ext uri="{FF2B5EF4-FFF2-40B4-BE49-F238E27FC236}">
                <a16:creationId xmlns:a16="http://schemas.microsoft.com/office/drawing/2014/main" id="{8125B29B-9628-E663-FCCD-44538A2DA5C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892300" y="5064126"/>
            <a:ext cx="969963" cy="309563"/>
          </a:xfrm>
          <a:prstGeom prst="rect">
            <a:avLst/>
          </a:prstGeom>
          <a:noFill/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A31CD69C-E433-7214-A2F7-A5F1E5760B2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087563" y="4508501"/>
            <a:ext cx="968375" cy="309563"/>
          </a:xfrm>
          <a:prstGeom prst="rect">
            <a:avLst/>
          </a:prstGeom>
          <a:noFill/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DD20441E-DB41-3B7F-63B9-EB9E211E2C2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474913" y="3952875"/>
            <a:ext cx="1163638" cy="309563"/>
          </a:xfrm>
          <a:prstGeom prst="rect">
            <a:avLst/>
          </a:prstGeom>
          <a:noFill/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CAA4F131-9DDF-873E-9B66-5CA7FC21F5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668588" y="3397250"/>
            <a:ext cx="1357313" cy="309563"/>
          </a:xfrm>
          <a:prstGeom prst="rect">
            <a:avLst/>
          </a:prstGeom>
          <a:noFill/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DE172D4F-BB26-9053-69B2-5C458FAE7185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638550" y="2840039"/>
            <a:ext cx="1163638" cy="309563"/>
          </a:xfrm>
          <a:prstGeom prst="rect">
            <a:avLst/>
          </a:prstGeom>
          <a:noFill/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72" name="直线连接符 471">
            <a:extLst>
              <a:ext uri="{FF2B5EF4-FFF2-40B4-BE49-F238E27FC236}">
                <a16:creationId xmlns:a16="http://schemas.microsoft.com/office/drawing/2014/main" id="{E5E5DD13-6015-81E8-2407-3DABDE3F3258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638550" y="2284414"/>
            <a:ext cx="0" cy="309563"/>
          </a:xfrm>
          <a:prstGeom prst="line">
            <a:avLst/>
          </a:prstGeom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直线连接符 472">
            <a:extLst>
              <a:ext uri="{FF2B5EF4-FFF2-40B4-BE49-F238E27FC236}">
                <a16:creationId xmlns:a16="http://schemas.microsoft.com/office/drawing/2014/main" id="{64AEA293-27F2-8850-10B2-48710EB35029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2668588" y="2284413"/>
            <a:ext cx="969963" cy="0"/>
          </a:xfrm>
          <a:prstGeom prst="line">
            <a:avLst/>
          </a:prstGeom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" name="直线连接符 473">
            <a:extLst>
              <a:ext uri="{FF2B5EF4-FFF2-40B4-BE49-F238E27FC236}">
                <a16:creationId xmlns:a16="http://schemas.microsoft.com/office/drawing/2014/main" id="{FD7EC0D6-67C6-79CE-A162-5EF1A2D85C3C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2668588" y="2593975"/>
            <a:ext cx="969963" cy="0"/>
          </a:xfrm>
          <a:prstGeom prst="line">
            <a:avLst/>
          </a:prstGeom>
          <a:ln w="3175" cap="flat" cmpd="sng" algn="ctr">
            <a:solidFill>
              <a:srgbClr val="00ADFF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占位符 2">
            <a:extLst>
              <a:ext uri="{FF2B5EF4-FFF2-40B4-BE49-F238E27FC236}">
                <a16:creationId xmlns:a16="http://schemas.microsoft.com/office/drawing/2014/main" id="{8A08B443-E41B-A052-BAF0-11497A5B511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50863" y="5135563"/>
            <a:ext cx="2936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1B051B3-1D54-433E-B716-EF549CF144F8}" type="datetime'''''''''I''''''''''''''''t''''''''a''''''''''''''''l''''y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Italy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6B06E96C-A532-3213-A764-57C8457DCE4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50863" y="4579938"/>
            <a:ext cx="6318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7C5CFFC-7EBB-4AAE-A51D-1F592115A93F}" type="datetime'''''De''''''''''''n''''''''m''''''''''''a''''''r''''''''''k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Denmark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5694C414-B20B-F2D8-D578-0A9E074DF1C0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50863" y="4024313"/>
            <a:ext cx="6286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FB14B3C-94BC-43A2-9B4F-07D60072FE87}" type="datetime'G''e''''''''r''''''''''''ma''n''''''''''''''y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Germany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38BCB908-5A3F-A599-3847-D64BC45EAC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50863" y="3468688"/>
            <a:ext cx="473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A51B81B-A1B8-4EF0-9044-4E7267CBC97B}" type="datetime'Fr''''''''''''''''''''a''n''c''e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France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5C76CDBC-FB37-31A6-301E-F245C260F62B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550863" y="2911475"/>
            <a:ext cx="852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2A9201E-86B6-48A8-88A4-ED3FF5ED86EC}" type="datetime'''''''''''Ne''t''''''her''l''a''''''''''''n''d''''''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Netherlands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CCA6322E-1B88-3ECF-41E3-7862C44108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550863" y="2355850"/>
            <a:ext cx="490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B2913AE-761C-403D-BE1B-CEFE89B9D4A5}" type="datetime'''O''''''''''''''''''''''''''''''v''''''e''''''r''all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Overall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99" name="Chart 3">
            <a:extLst>
              <a:ext uri="{FF2B5EF4-FFF2-40B4-BE49-F238E27FC236}">
                <a16:creationId xmlns:a16="http://schemas.microsoft.com/office/drawing/2014/main" id="{7E70BE48-743E-08C8-CB2B-8E0CBA35D438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5211763" y="1895475"/>
          <a:ext cx="3648075" cy="3868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86" name="文本框 85">
            <a:extLst>
              <a:ext uri="{FF2B5EF4-FFF2-40B4-BE49-F238E27FC236}">
                <a16:creationId xmlns:a16="http://schemas.microsoft.com/office/drawing/2014/main" id="{1D6ED2AF-6FAC-1A55-0C04-C026807A33A5}"/>
              </a:ext>
            </a:extLst>
          </p:cNvPr>
          <p:cNvSpPr txBox="1"/>
          <p:nvPr/>
        </p:nvSpPr>
        <p:spPr>
          <a:xfrm>
            <a:off x="5211763" y="145302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Share of companies stating that they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incorporate ethnocultural minority inclusion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into global diversity strategies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3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ACE55EE-0D67-6B56-78BB-040295DBCC66}"/>
              </a:ext>
            </a:extLst>
          </p:cNvPr>
          <p:cNvSpPr txBox="1"/>
          <p:nvPr/>
        </p:nvSpPr>
        <p:spPr>
          <a:xfrm>
            <a:off x="9731333" y="1453029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Share of ethno-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cultural minorities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 population,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4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8B4C50D-3317-22B7-C3A4-A9F578A9B6FD}"/>
              </a:ext>
            </a:extLst>
          </p:cNvPr>
          <p:cNvSpPr txBox="1"/>
          <p:nvPr/>
        </p:nvSpPr>
        <p:spPr>
          <a:xfrm>
            <a:off x="10258721" y="232967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358A25D-A628-105A-6209-E7E0A40C3C2E}"/>
              </a:ext>
            </a:extLst>
          </p:cNvPr>
          <p:cNvSpPr txBox="1"/>
          <p:nvPr/>
        </p:nvSpPr>
        <p:spPr>
          <a:xfrm>
            <a:off x="10258721" y="284003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4461990-73CA-B353-EB1E-130EED695C20}"/>
              </a:ext>
            </a:extLst>
          </p:cNvPr>
          <p:cNvSpPr txBox="1"/>
          <p:nvPr/>
        </p:nvSpPr>
        <p:spPr>
          <a:xfrm>
            <a:off x="10258721" y="339288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8D7F3FF-22B4-CD71-E7AC-767197F4D59E}"/>
              </a:ext>
            </a:extLst>
          </p:cNvPr>
          <p:cNvSpPr txBox="1"/>
          <p:nvPr/>
        </p:nvSpPr>
        <p:spPr>
          <a:xfrm>
            <a:off x="10258721" y="3952974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0C1389F-D997-160B-3E78-22A12BEBC4C3}"/>
              </a:ext>
            </a:extLst>
          </p:cNvPr>
          <p:cNvSpPr txBox="1"/>
          <p:nvPr/>
        </p:nvSpPr>
        <p:spPr>
          <a:xfrm>
            <a:off x="10310017" y="4510287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07D1B81-44F9-488E-BF91-7CA57ED5349D}"/>
              </a:ext>
            </a:extLst>
          </p:cNvPr>
          <p:cNvSpPr txBox="1"/>
          <p:nvPr/>
        </p:nvSpPr>
        <p:spPr>
          <a:xfrm>
            <a:off x="10310017" y="5065912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FFD81D7-0A74-70F8-277C-DE8A9CDD45FD}"/>
              </a:ext>
            </a:extLst>
          </p:cNvPr>
          <p:cNvSpPr txBox="1"/>
          <p:nvPr/>
        </p:nvSpPr>
        <p:spPr>
          <a:xfrm>
            <a:off x="8474195" y="920045"/>
            <a:ext cx="2728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Gap to parity based on ethnocultural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minority share of population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48979F4-FAD8-CC4C-3831-2102205D125C}"/>
              </a:ext>
            </a:extLst>
          </p:cNvPr>
          <p:cNvSpPr/>
          <p:nvPr/>
        </p:nvSpPr>
        <p:spPr>
          <a:xfrm>
            <a:off x="8210293" y="992607"/>
            <a:ext cx="178755" cy="178755"/>
          </a:xfrm>
          <a:prstGeom prst="rect">
            <a:avLst/>
          </a:prstGeom>
          <a:noFill/>
          <a:ln w="12700">
            <a:solidFill>
              <a:srgbClr val="00ACFB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346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C2F6432-7443-5E58-4D32-A6171A03F2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7772400" imgH="10058400" progId="TCLayout.ActiveDocument.1">
                  <p:embed/>
                </p:oleObj>
              </mc:Choice>
              <mc:Fallback>
                <p:oleObj name="think-cell 幻灯片" r:id="rId12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2F6432-7443-5E58-4D32-A6171A03F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C8194EE-4E2E-4773-DD4D-F2141385B15E}"/>
              </a:ext>
            </a:extLst>
          </p:cNvPr>
          <p:cNvSpPr txBox="1"/>
          <p:nvPr/>
        </p:nvSpPr>
        <p:spPr>
          <a:xfrm>
            <a:off x="337185" y="211455"/>
            <a:ext cx="814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Organizations are preparing for the next wave of SG&amp;A cost management.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E9213D-EED1-9311-3DFA-44E4CDE32794}"/>
              </a:ext>
            </a:extLst>
          </p:cNvPr>
          <p:cNvSpPr txBox="1"/>
          <p:nvPr/>
        </p:nvSpPr>
        <p:spPr>
          <a:xfrm>
            <a:off x="337185" y="737235"/>
            <a:ext cx="3478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But confidence in meeting targets is low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4D1FCE-90DD-6AEE-67D8-25AD90978E38}"/>
              </a:ext>
            </a:extLst>
          </p:cNvPr>
          <p:cNvSpPr txBox="1"/>
          <p:nvPr/>
        </p:nvSpPr>
        <p:spPr>
          <a:xfrm>
            <a:off x="337185" y="1120140"/>
            <a:ext cx="4742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Timeline to launch SG&amp;A improvement program, December 2020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Respondents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 ％</a:t>
            </a:r>
          </a:p>
        </p:txBody>
      </p:sp>
      <p:graphicFrame>
        <p:nvGraphicFramePr>
          <p:cNvPr id="57" name="Chart 3">
            <a:extLst>
              <a:ext uri="{FF2B5EF4-FFF2-40B4-BE49-F238E27FC236}">
                <a16:creationId xmlns:a16="http://schemas.microsoft.com/office/drawing/2014/main" id="{A2DF1D61-3F7E-7921-D4A9-BC371E8D4A5E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12738" y="1562100"/>
          <a:ext cx="7935912" cy="4044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08ACE7E1-7A66-59FD-19F5-4DA9D8DDDEE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82650" y="5391150"/>
            <a:ext cx="965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656240-5CFF-4E92-A3FC-3E08562EFD09}" type="datetime'Com''plet''''''e''d'''' o''''r''&#10;''o''n''g''o''in''g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Completed or
ongoing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2E87A13A-4644-4417-67AE-2380B3C1ACF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2767013" y="5391150"/>
            <a:ext cx="10826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DB114D0-804E-417B-89B9-4B21401AA456}" type="datetime'W''''i''''t''h''in ''''''''''the ''nex''''''t&#10;6 month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Within the next
6 months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A703AF86-35E3-4C8C-0DA0-A1B9736D786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794250" y="5391150"/>
            <a:ext cx="9144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BD84C55-1DF0-4E70-97D3-9D5F8FE3C79D}" type="datetime'7''-''1''2'''''''''''''' m''''o''''n''''''''''t''h''''''''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7-12 months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96E59C86-D3BB-D785-97C0-C3C4A873B02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6754813" y="5391150"/>
            <a:ext cx="8778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D299AE-9387-4385-8225-A36D2CDC606E}" type="datetime'''''''N''o''t'''''''''''' p''''''la''''n''n''''e''''''''''''d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Not planned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A42337-9EA5-1E02-A88F-A3B88F4AC0E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0661650" y="1411288"/>
            <a:ext cx="250825" cy="1873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0D067D-29B0-2158-DF86-2CB7908B6F2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0661650" y="1665288"/>
            <a:ext cx="250825" cy="187325"/>
          </a:xfrm>
          <a:prstGeom prst="rect">
            <a:avLst/>
          </a:prstGeom>
          <a:solidFill>
            <a:srgbClr val="00ADF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7A87C89C-B0D4-B09F-677B-2D04540423B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0963275" y="1422400"/>
            <a:ext cx="228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5E76F8E-E820-4779-9449-D419CEEA6AD0}" type="datetime'''''''Q''''''''''''''''''''3'">
              <a:rPr kumimoji="1" lang="en-US" altLang="en-US" sz="1400" smtClean="0">
                <a:ea typeface="等线" panose="02010600030101010101" pitchFamily="2" charset="-122"/>
              </a:rPr>
              <a:pPr/>
              <a:t>Q3</a:t>
            </a:fld>
            <a:endParaRPr kumimoji="1" lang="zh-CN" altLang="en-US" sz="1400" dirty="0">
              <a:ea typeface="等线" panose="02010600030101010101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75930F4C-C4F0-C487-4854-458554D3A9E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963275" y="1676400"/>
            <a:ext cx="228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7A5E23D-A0E4-4A09-96BD-3AC0C07B3487}" type="datetime'''''''''''''''''''''''''''''''''Q''''''4'''''''''">
              <a:rPr kumimoji="1" lang="en-US" altLang="en-US" sz="1400" smtClean="0">
                <a:ea typeface="等线" panose="02010600030101010101" pitchFamily="2" charset="-122"/>
              </a:rPr>
              <a:pPr/>
              <a:t>Q4</a:t>
            </a:fld>
            <a:endParaRPr kumimoji="1" lang="zh-CN" altLang="en-US" sz="1400" dirty="0">
              <a:ea typeface="等线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9181F25-650E-5EE3-B5DB-57C5D7D00D5D}"/>
              </a:ext>
            </a:extLst>
          </p:cNvPr>
          <p:cNvSpPr txBox="1"/>
          <p:nvPr/>
        </p:nvSpPr>
        <p:spPr>
          <a:xfrm>
            <a:off x="8477555" y="2834640"/>
            <a:ext cx="27863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However...</a:t>
            </a:r>
          </a:p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70%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feel "somewhat unprepared"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or worse when asked about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confidence in meeting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spend-reduction targets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AA10CF2-ABDA-2D6E-535C-A6553E768083}"/>
              </a:ext>
            </a:extLst>
          </p:cNvPr>
          <p:cNvSpPr txBox="1"/>
          <p:nvPr/>
        </p:nvSpPr>
        <p:spPr>
          <a:xfrm>
            <a:off x="337185" y="5997654"/>
            <a:ext cx="34323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Corporate Business Functions Practice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68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176F-9E0F-000A-80F8-C1B28B4E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449223B-7D6A-068D-10BF-FE0DD18F22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7772400" imgH="10058400" progId="TCLayout.ActiveDocument.1">
                  <p:embed/>
                </p:oleObj>
              </mc:Choice>
              <mc:Fallback>
                <p:oleObj name="think-cell 幻灯片" r:id="rId1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49223B-7D6A-068D-10BF-FE0DD18F22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FD507E0-917F-D77A-1A99-DBA602A8022D}"/>
              </a:ext>
            </a:extLst>
          </p:cNvPr>
          <p:cNvSpPr txBox="1"/>
          <p:nvPr/>
        </p:nvSpPr>
        <p:spPr>
          <a:xfrm>
            <a:off x="337185" y="211455"/>
            <a:ext cx="11235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Regardless of goal, automation efforts were more likely to succeed when linked to strategic priorities, not short-term returns.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539F5-4D50-6B74-73FC-11EFEA3F548F}"/>
              </a:ext>
            </a:extLst>
          </p:cNvPr>
          <p:cNvSpPr txBox="1"/>
          <p:nvPr/>
        </p:nvSpPr>
        <p:spPr>
          <a:xfrm>
            <a:off x="2857501" y="1267430"/>
            <a:ext cx="5464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Primary reason for increased automation investments in the last 12 months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Respondents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，％</a:t>
            </a:r>
          </a:p>
        </p:txBody>
      </p:sp>
      <p:graphicFrame>
        <p:nvGraphicFramePr>
          <p:cNvPr id="77" name="Chart 3">
            <a:extLst>
              <a:ext uri="{FF2B5EF4-FFF2-40B4-BE49-F238E27FC236}">
                <a16:creationId xmlns:a16="http://schemas.microsoft.com/office/drawing/2014/main" id="{F76763AE-081B-64A3-741C-F731241FBB0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862263" y="1708150"/>
          <a:ext cx="8907462" cy="2613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695C20AD-2B77-D172-3469-0BB1DDAC04A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4413250" y="4105275"/>
            <a:ext cx="80962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14EC46-FC61-4C85-AE3F-C48B63E80193}" type="datetime'Man''''ag''''e&#10;costs in the&#10;long term'' &#10;（next 2-''3 years）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Manage
costs in the
long term 
（next 2-3 years）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7510952C-134F-A9F5-C1EA-349EBD37C9D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641975" y="4105275"/>
            <a:ext cx="8493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7BD1653-4905-49BC-A9F2-A4E12016C34B}" type="datetime'K''ee''''''p&#10;pace w''it''h&#10;com''''''''p''e''t''itor''''''s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Keep
pace with
competitors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351928A9-05B2-CCAC-386A-372868E5532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51650" y="4105275"/>
            <a:ext cx="9271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26C4D4C-9882-4B02-81EE-2C93F0EE5CB3}" type="datetime'Conce''rns&#10;on b''usin''''''es''s-&#10;pro''c''e''ss&#10;effectiveness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Concerns
on business-
process
effectiveness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EFA3BF80-28F9-250A-921E-E24DC1CACC9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122613" y="4105275"/>
            <a:ext cx="8921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9C1985D-2156-4984-BBA5-B86A6BA90C73}" type="datetime'Aut''''om''a''tion''&#10;is a'' ''''st''rategi''c&#10;priorit''''y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Automation
is a strategic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4FA06D0-2016-9765-0C21-AEAC1C28CB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363075" y="4105275"/>
            <a:ext cx="9017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72A9135-2C30-4131-B540-6CA6B845ED3C}" type="datetime'In''c''re''as''e''''''''&#10;''''remot''''''e'' w''''''o''r''k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Increase
remote work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6799315F-9961-B300-70E6-C0F483E41788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685463" y="4105275"/>
            <a:ext cx="752475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9002195-1FA4-48EE-B64E-DD7581252DD5}" type="datetime'Reduc''e&#10;''''cos''ts i''''n''&#10;the'' next&#10;12 m''o''n''t''hs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Reduce
costs in
the next
12 months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8C02C94A-CCCE-A5BD-A28A-A8F8A426384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48638" y="4105275"/>
            <a:ext cx="8334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5A42F95-6B72-4E1B-9425-21165B3F23E6}" type="datetime'''Auto''mation&#10;is a&#10;pr''''iority f''or&#10;''one of our&#10;''leaders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Automation
is a
priority for
one of our
leaders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2A97A7E-45B9-E9C8-2121-9F72D82A8B1F}"/>
              </a:ext>
            </a:extLst>
          </p:cNvPr>
          <p:cNvSpPr txBox="1"/>
          <p:nvPr/>
        </p:nvSpPr>
        <p:spPr>
          <a:xfrm>
            <a:off x="412627" y="1979860"/>
            <a:ext cx="16722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HarmonyOS Sans SC" pitchFamily="2" charset="-122"/>
                <a:ea typeface="HarmonyOS Sans SC" pitchFamily="2" charset="-122"/>
              </a:rPr>
              <a:t>67%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of organizations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increased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investment in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automation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early in the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pandemic, and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expected to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continue to do so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88B4E371-942B-9274-BB11-B2A40D64422B}"/>
              </a:ext>
            </a:extLst>
          </p:cNvPr>
          <p:cNvCxnSpPr/>
          <p:nvPr/>
        </p:nvCxnSpPr>
        <p:spPr>
          <a:xfrm>
            <a:off x="2406015" y="1020117"/>
            <a:ext cx="0" cy="4677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椭圆 55">
            <a:extLst>
              <a:ext uri="{FF2B5EF4-FFF2-40B4-BE49-F238E27FC236}">
                <a16:creationId xmlns:a16="http://schemas.microsoft.com/office/drawing/2014/main" id="{3F7CA5BE-01C0-63BF-B44D-198F821B3BEA}"/>
              </a:ext>
            </a:extLst>
          </p:cNvPr>
          <p:cNvSpPr/>
          <p:nvPr/>
        </p:nvSpPr>
        <p:spPr>
          <a:xfrm>
            <a:off x="2243137" y="3103245"/>
            <a:ext cx="325755" cy="3257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1" name="图形 60" descr="插入点右移 纯色填充">
            <a:extLst>
              <a:ext uri="{FF2B5EF4-FFF2-40B4-BE49-F238E27FC236}">
                <a16:creationId xmlns:a16="http://schemas.microsoft.com/office/drawing/2014/main" id="{6B573D22-47A0-CCD8-A62F-7B70CA38AB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56662" y="3105203"/>
            <a:ext cx="321838" cy="321838"/>
          </a:xfrm>
          <a:prstGeom prst="rect">
            <a:avLst/>
          </a:prstGeom>
        </p:spPr>
      </p:pic>
      <p:sp>
        <p:nvSpPr>
          <p:cNvPr id="63" name="椭圆 62">
            <a:extLst>
              <a:ext uri="{FF2B5EF4-FFF2-40B4-BE49-F238E27FC236}">
                <a16:creationId xmlns:a16="http://schemas.microsoft.com/office/drawing/2014/main" id="{8DFAB26B-8D0B-9E6B-7BA9-D62B0A12BA76}"/>
              </a:ext>
            </a:extLst>
          </p:cNvPr>
          <p:cNvSpPr/>
          <p:nvPr/>
        </p:nvSpPr>
        <p:spPr>
          <a:xfrm>
            <a:off x="3135405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D48750D6-8F1F-BD61-3870-40BB9E9695E6}"/>
              </a:ext>
            </a:extLst>
          </p:cNvPr>
          <p:cNvSpPr/>
          <p:nvPr/>
        </p:nvSpPr>
        <p:spPr>
          <a:xfrm>
            <a:off x="4384767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28540AF6-6ECB-11B9-CC0A-6EDEF6ECE35E}"/>
              </a:ext>
            </a:extLst>
          </p:cNvPr>
          <p:cNvSpPr/>
          <p:nvPr/>
        </p:nvSpPr>
        <p:spPr>
          <a:xfrm>
            <a:off x="5634129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D1AC15A0-CA1B-D683-0AAB-A3F022993833}"/>
              </a:ext>
            </a:extLst>
          </p:cNvPr>
          <p:cNvSpPr/>
          <p:nvPr/>
        </p:nvSpPr>
        <p:spPr>
          <a:xfrm>
            <a:off x="6883491" y="5153959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9E81341-CD8E-23FA-C8D3-8A04EBDCD2A0}"/>
              </a:ext>
            </a:extLst>
          </p:cNvPr>
          <p:cNvSpPr/>
          <p:nvPr/>
        </p:nvSpPr>
        <p:spPr>
          <a:xfrm>
            <a:off x="8132853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4B99FC1-47AE-731E-1663-1026FAC63653}"/>
              </a:ext>
            </a:extLst>
          </p:cNvPr>
          <p:cNvSpPr/>
          <p:nvPr/>
        </p:nvSpPr>
        <p:spPr>
          <a:xfrm>
            <a:off x="9382215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864DC0B3-0D63-B1E9-B446-E824C952A642}"/>
              </a:ext>
            </a:extLst>
          </p:cNvPr>
          <p:cNvSpPr/>
          <p:nvPr/>
        </p:nvSpPr>
        <p:spPr>
          <a:xfrm>
            <a:off x="10631577" y="5149850"/>
            <a:ext cx="866589" cy="4900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34DB248-7A5F-60D0-6997-EA41AC57ACB0}"/>
              </a:ext>
            </a:extLst>
          </p:cNvPr>
          <p:cNvSpPr txBox="1"/>
          <p:nvPr/>
        </p:nvSpPr>
        <p:spPr>
          <a:xfrm>
            <a:off x="3344921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94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4B2CE3E-976C-89BF-C24F-C6BC7ABCC4C8}"/>
              </a:ext>
            </a:extLst>
          </p:cNvPr>
          <p:cNvSpPr txBox="1"/>
          <p:nvPr/>
        </p:nvSpPr>
        <p:spPr>
          <a:xfrm>
            <a:off x="4598097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81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D88D81D-9376-F7C7-1FDD-7A06E3C6A7DD}"/>
              </a:ext>
            </a:extLst>
          </p:cNvPr>
          <p:cNvSpPr txBox="1"/>
          <p:nvPr/>
        </p:nvSpPr>
        <p:spPr>
          <a:xfrm>
            <a:off x="5847459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76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FC0BD78-D9EA-6A8B-39EE-A8AF37E05427}"/>
              </a:ext>
            </a:extLst>
          </p:cNvPr>
          <p:cNvSpPr txBox="1"/>
          <p:nvPr/>
        </p:nvSpPr>
        <p:spPr>
          <a:xfrm>
            <a:off x="7093006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68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9B47B8B-AFD9-0828-2C13-EF56982E7791}"/>
              </a:ext>
            </a:extLst>
          </p:cNvPr>
          <p:cNvSpPr txBox="1"/>
          <p:nvPr/>
        </p:nvSpPr>
        <p:spPr>
          <a:xfrm>
            <a:off x="8342368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63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840F631-7493-92A4-F7B7-B35C248C18A1}"/>
              </a:ext>
            </a:extLst>
          </p:cNvPr>
          <p:cNvSpPr txBox="1"/>
          <p:nvPr/>
        </p:nvSpPr>
        <p:spPr>
          <a:xfrm>
            <a:off x="9590146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59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0A46001-7FB1-F0F9-0B56-D2B73684E6F7}"/>
              </a:ext>
            </a:extLst>
          </p:cNvPr>
          <p:cNvSpPr txBox="1"/>
          <p:nvPr/>
        </p:nvSpPr>
        <p:spPr>
          <a:xfrm>
            <a:off x="10837921" y="521021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43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0EBCFF02-1F99-E5C4-F022-274E67FB3792}"/>
              </a:ext>
            </a:extLst>
          </p:cNvPr>
          <p:cNvSpPr/>
          <p:nvPr/>
        </p:nvSpPr>
        <p:spPr>
          <a:xfrm>
            <a:off x="8648540" y="1350089"/>
            <a:ext cx="360968" cy="20413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0905F74-2AAA-8D64-6AD0-D86414DC71AA}"/>
              </a:ext>
            </a:extLst>
          </p:cNvPr>
          <p:cNvSpPr txBox="1"/>
          <p:nvPr/>
        </p:nvSpPr>
        <p:spPr>
          <a:xfrm>
            <a:off x="8704631" y="131880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x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A762705-1DEB-A5E5-C4A5-05132008D93B}"/>
              </a:ext>
            </a:extLst>
          </p:cNvPr>
          <p:cNvSpPr txBox="1"/>
          <p:nvPr/>
        </p:nvSpPr>
        <p:spPr>
          <a:xfrm>
            <a:off x="9065599" y="1263650"/>
            <a:ext cx="2512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% of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respondents who say their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automation efforts have been successful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27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07939-6F6E-6C09-B71E-39C4C5BA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488BDC-2464-76DD-584F-EBADEA3515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7772400" imgH="10058400" progId="TCLayout.ActiveDocument.1">
                  <p:embed/>
                </p:oleObj>
              </mc:Choice>
              <mc:Fallback>
                <p:oleObj name="think-cell 幻灯片" r:id="rId1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488BDC-2464-76DD-584F-EBADEA351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B412559-603B-10FC-1D7B-F20ABB66FF46}"/>
              </a:ext>
            </a:extLst>
          </p:cNvPr>
          <p:cNvSpPr txBox="1"/>
          <p:nvPr/>
        </p:nvSpPr>
        <p:spPr>
          <a:xfrm>
            <a:off x="337185" y="211455"/>
            <a:ext cx="11235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Cost management, growth, and digital capabilities are top priorities in both corporate centers and business units.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9ED2A6-F8B5-7EBA-867D-896EAA24DD67}"/>
              </a:ext>
            </a:extLst>
          </p:cNvPr>
          <p:cNvSpPr txBox="1"/>
          <p:nvPr/>
        </p:nvSpPr>
        <p:spPr>
          <a:xfrm>
            <a:off x="337185" y="1005840"/>
            <a:ext cx="5065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Top 3 priorities to tackle economic uncertainty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Frequency of appearing in respondents' top 3 priorities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%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33" name="Chart 3">
            <a:extLst>
              <a:ext uri="{FF2B5EF4-FFF2-40B4-BE49-F238E27FC236}">
                <a16:creationId xmlns:a16="http://schemas.microsoft.com/office/drawing/2014/main" id="{326BD4B5-5105-ADE3-36D3-7C42CB4064CB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54000" y="1838325"/>
          <a:ext cx="11585575" cy="350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D7DC11C9-19B1-FF27-EDD0-09BE80793F8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974850" y="5124450"/>
            <a:ext cx="5302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63C937D-C1B2-44EF-A1B7-055D345F1632}" type="datetime'''''''''''''''''''Gr''''''''''ow''t''h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Growth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2E805F01-3491-040D-253F-51453627A67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113088" y="5124450"/>
            <a:ext cx="7921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626B4D4-FF1A-4EA4-89CA-9484C85D0913}" type="datetime'Di''g''i''''t''''''''''''''al&#10;''''cap''''a''''bil''i''t''ie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Digital
capabilities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2" name="文本占位符 2">
            <a:extLst>
              <a:ext uri="{FF2B5EF4-FFF2-40B4-BE49-F238E27FC236}">
                <a16:creationId xmlns:a16="http://schemas.microsoft.com/office/drawing/2014/main" id="{FE17E43F-F0E7-2827-32A7-CA80048F95E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311650" y="5124450"/>
            <a:ext cx="9318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C66B7E-5B55-4A86-9CC2-F799220C69C0}" type="datetime'Pe''r''''''f''or''''''''m''a''''n''''ce&#10;''ma''''n''a''gemen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Performance
management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5" name="文本占位符 2">
            <a:extLst>
              <a:ext uri="{FF2B5EF4-FFF2-40B4-BE49-F238E27FC236}">
                <a16:creationId xmlns:a16="http://schemas.microsoft.com/office/drawing/2014/main" id="{B397A2BC-D582-84E7-F8E2-ACF2B80C086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711826" y="5124450"/>
            <a:ext cx="671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33A78D8-8168-4B8A-8CFF-031463171B8B}" type="datetime'''R''''''''''''''''''''es''''''''ki''''ll''''i''''''n''''''g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Reskilling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E38ADF7-CC5A-07C4-3CC8-CA1C9F1FE86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04825" y="5124450"/>
            <a:ext cx="9318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04C6E6B-0143-47AC-BF12-608D4CAE1E50}" type="datetime'''Cos''''t''''''''''''&#10;''''m''''''''''''anagemen''''''''''t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Cost
management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1" name="文本占位符 2">
            <a:extLst>
              <a:ext uri="{FF2B5EF4-FFF2-40B4-BE49-F238E27FC236}">
                <a16:creationId xmlns:a16="http://schemas.microsoft.com/office/drawing/2014/main" id="{21E4BC63-2B10-C4DC-890E-4525E902461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8118475" y="5124450"/>
            <a:ext cx="9318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99A937-7B73-4200-AF6A-778CF1587163}" type="datetime'R''''''is''k&#10;m''a''''n''a''g''e''''''''''''me''n''''''''t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Risk
management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4" name="文本占位符 2">
            <a:extLst>
              <a:ext uri="{FF2B5EF4-FFF2-40B4-BE49-F238E27FC236}">
                <a16:creationId xmlns:a16="http://schemas.microsoft.com/office/drawing/2014/main" id="{01901EC9-AE63-F0C4-1C52-B9995126BEE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9261475" y="5124450"/>
            <a:ext cx="1185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FEAFE5B-46C6-4F0C-8DEA-006888D8861E}" type="datetime'''''R''e''''orga''''''''''''-'' ''''nizat''i''''''''''o''''n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Reorga- nization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7" name="文本占位符 2">
            <a:extLst>
              <a:ext uri="{FF2B5EF4-FFF2-40B4-BE49-F238E27FC236}">
                <a16:creationId xmlns:a16="http://schemas.microsoft.com/office/drawing/2014/main" id="{39E6684D-337C-98F6-64FA-5A9D999C257C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945813" y="5124450"/>
            <a:ext cx="3540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A3139D-1B6E-4216-B9C9-951177D5D44C}" type="datetime'''''''''''''''''''M''''''''''''''''&amp;''''''''''''''''''A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M&amp;A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8" name="文本占位符 2">
            <a:extLst>
              <a:ext uri="{FF2B5EF4-FFF2-40B4-BE49-F238E27FC236}">
                <a16:creationId xmlns:a16="http://schemas.microsoft.com/office/drawing/2014/main" id="{F0B828AD-CBCC-B560-2D09-B6E34033CF3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7070725" y="5124450"/>
            <a:ext cx="488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7D42C0E-D7D0-45CA-8AE9-A3A340E42D84}" type="datetime'''''''''Pr''''''''''''''''''i''''''''''''c''''in''g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Pricing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CC4240-9569-34DF-9EA7-4D6262B876E6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978900" y="1071563"/>
            <a:ext cx="214313" cy="160338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A2D237-7026-6E36-58C8-78CF68B34FF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978900" y="1295400"/>
            <a:ext cx="214313" cy="160338"/>
          </a:xfrm>
          <a:prstGeom prst="rect">
            <a:avLst/>
          </a:prstGeom>
          <a:solidFill>
            <a:srgbClr val="00ADF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25C65A-CE61-E7A2-A539-3BC4CE469B4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244013" y="1079500"/>
            <a:ext cx="1235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B9A78EC-243B-4269-BB95-2A0DEF1B84DE}" type="datetime'''''''C''''orp''o''r''ate'''''' cen''''t''e''''r''''''''s''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Corporate centers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656CE334-1118-DCA9-472C-033DF7593BB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9244013" y="1303338"/>
            <a:ext cx="9636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984D1EF-BA63-4F0E-9F84-1A5E4CAD62C9}" type="datetime'B''us''''''ine''''''s''''''s'''' ''''uni''''''t''s''''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Business units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23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2196-C546-1874-CA1B-3BD37900C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DEB89B0-326D-C10B-CA32-F1B12BAE3E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7772400" imgH="10058400" progId="TCLayout.ActiveDocument.1">
                  <p:embed/>
                </p:oleObj>
              </mc:Choice>
              <mc:Fallback>
                <p:oleObj name="think-cell 幻灯片" r:id="rId1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EB89B0-326D-C10B-CA32-F1B12BAE3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CA4884B-8EFF-1DF7-4B66-4CD656E5692C}"/>
              </a:ext>
            </a:extLst>
          </p:cNvPr>
          <p:cNvSpPr txBox="1"/>
          <p:nvPr/>
        </p:nvSpPr>
        <p:spPr>
          <a:xfrm>
            <a:off x="337185" y="211455"/>
            <a:ext cx="11235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Reviewing all sales, general, and administrative investments helps leaders make conscious, strategic choices.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0A3160-3933-04A6-18F7-33C2C1650117}"/>
              </a:ext>
            </a:extLst>
          </p:cNvPr>
          <p:cNvSpPr txBox="1"/>
          <p:nvPr/>
        </p:nvSpPr>
        <p:spPr>
          <a:xfrm>
            <a:off x="337185" y="1005840"/>
            <a:ext cx="6165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Sales, general, and administrative investments, illustrative,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indexed to 100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6F08A7D-EE29-EB09-A8C7-A629A58F54D4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52625" y="3125788"/>
            <a:ext cx="800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A88326EA-7EB4-DF39-9DC2-DFE5745B5CB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9156700" y="3554413"/>
            <a:ext cx="800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29BFF26F-05DE-AA5C-E9E4-B68FB88ED9E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356475" y="4125913"/>
            <a:ext cx="800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A48B6BA-7352-2907-AB7A-6369F7133B4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5554663" y="4125913"/>
            <a:ext cx="800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DA52959-B848-DDA1-3477-5E12817757E8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752850" y="3325813"/>
            <a:ext cx="800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A9446943-52A7-3094-9B75-8196633EC274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468313" y="2692400"/>
          <a:ext cx="10972800" cy="359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EEC47F87-C549-91A0-C220-3027867C8EDC}"/>
              </a:ext>
            </a:extLst>
          </p:cNvPr>
          <p:cNvCxnSpPr/>
          <p:nvPr>
            <p:custDataLst>
              <p:tags r:id="rId8"/>
            </p:custDataLst>
          </p:nvPr>
        </p:nvCxnSpPr>
        <p:spPr bwMode="white">
          <a:xfrm>
            <a:off x="10958513" y="4125913"/>
            <a:ext cx="0" cy="1852612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140EC810-BA5E-4375-A7A2-984480EFB1EB}"/>
              </a:ext>
            </a:extLst>
          </p:cNvPr>
          <p:cNvCxnSpPr/>
          <p:nvPr>
            <p:custDataLst>
              <p:tags r:id="rId9"/>
            </p:custDataLst>
          </p:nvPr>
        </p:nvCxnSpPr>
        <p:spPr bwMode="white">
          <a:xfrm>
            <a:off x="9956800" y="4125913"/>
            <a:ext cx="0" cy="1852612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8C2B113-D923-21F9-8BDB-BDB6481DF027}"/>
              </a:ext>
            </a:extLst>
          </p:cNvPr>
          <p:cNvCxnSpPr/>
          <p:nvPr>
            <p:custDataLst>
              <p:tags r:id="rId10"/>
            </p:custDataLst>
          </p:nvPr>
        </p:nvCxnSpPr>
        <p:spPr bwMode="white">
          <a:xfrm>
            <a:off x="9956800" y="4125913"/>
            <a:ext cx="1001713" cy="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ED6A4523-49E3-F5A1-4A03-97037872949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156575" y="3554413"/>
            <a:ext cx="1000125" cy="5715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8BF16CA-0E7B-CAB0-7C28-E375E594119C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354763" y="4125913"/>
            <a:ext cx="1001712" cy="4286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302708B-14AC-587A-5825-C47B2424900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552950" y="3325813"/>
            <a:ext cx="1001713" cy="8001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D974E89-BE73-2358-D018-B8ED3434117C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2752725" y="3125788"/>
            <a:ext cx="1000125" cy="200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5695C9F0-370B-D4E7-982E-C2FC920BA11B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6735763" y="3908425"/>
            <a:ext cx="2381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415E47-5201-452C-8093-0E5FC879406F}" type="datetime'''6''''''''''''''''5'''''''''''''''''''''''''''''''''">
              <a:rPr kumimoji="1" lang="zh-CN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kumimoji="1" lang="zh-CN" altLang="en-US" sz="1400" dirty="0"/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0996D8A2-E399-51C2-6FC4-37B1B5F45C9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0337800" y="3336925"/>
            <a:ext cx="2381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1ABDD3-2745-4223-AA3B-BF9A19608CCF}" type="datetime'''''''''8''''''''''''''''''''''''''''''''''''''''''''''''''5'">
              <a:rPr kumimoji="1" lang="zh-CN" altLang="en-US" sz="1400" smtClean="0">
                <a:ea typeface="等线" panose="02010600030101010101" pitchFamily="2" charset="-122"/>
              </a:rPr>
              <a:pPr/>
              <a:t>85</a:t>
            </a:fld>
            <a:endParaRPr kumimoji="1" lang="zh-CN" altLang="en-US" sz="1400" dirty="0">
              <a:ea typeface="等线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684DDB1-9CF1-9364-5054-03A92D8336DC}"/>
              </a:ext>
            </a:extLst>
          </p:cNvPr>
          <p:cNvSpPr txBox="1"/>
          <p:nvPr/>
        </p:nvSpPr>
        <p:spPr>
          <a:xfrm>
            <a:off x="1080135" y="6080760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Precrisis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35931056-32FE-C9C2-DEF3-E27C0677ED3A}"/>
              </a:ext>
            </a:extLst>
          </p:cNvPr>
          <p:cNvCxnSpPr/>
          <p:nvPr/>
        </p:nvCxnSpPr>
        <p:spPr>
          <a:xfrm>
            <a:off x="2640330" y="6069330"/>
            <a:ext cx="0" cy="2203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7AB07222-4E00-D63D-BC06-626BBC4F6FB1}"/>
              </a:ext>
            </a:extLst>
          </p:cNvPr>
          <p:cNvCxnSpPr/>
          <p:nvPr/>
        </p:nvCxnSpPr>
        <p:spPr>
          <a:xfrm>
            <a:off x="5554663" y="6069329"/>
            <a:ext cx="0" cy="2203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67DEABD0-5005-CBB6-0FC4-9930B794CF23}"/>
              </a:ext>
            </a:extLst>
          </p:cNvPr>
          <p:cNvCxnSpPr>
            <a:cxnSpLocks/>
          </p:cNvCxnSpPr>
          <p:nvPr/>
        </p:nvCxnSpPr>
        <p:spPr>
          <a:xfrm>
            <a:off x="2640330" y="6289674"/>
            <a:ext cx="291433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34E6F7FD-940C-E7F6-08A6-3578C92035FB}"/>
              </a:ext>
            </a:extLst>
          </p:cNvPr>
          <p:cNvSpPr txBox="1"/>
          <p:nvPr/>
        </p:nvSpPr>
        <p:spPr>
          <a:xfrm>
            <a:off x="3707906" y="6151176"/>
            <a:ext cx="88998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Downturn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8B6058A-B701-CF50-D156-66A2A8B0C7EC}"/>
              </a:ext>
            </a:extLst>
          </p:cNvPr>
          <p:cNvSpPr txBox="1"/>
          <p:nvPr/>
        </p:nvSpPr>
        <p:spPr>
          <a:xfrm>
            <a:off x="6328879" y="6151174"/>
            <a:ext cx="10518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During crisis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3122F3F-06CC-0DDF-FF56-F098C84AE74D}"/>
              </a:ext>
            </a:extLst>
          </p:cNvPr>
          <p:cNvSpPr txBox="1"/>
          <p:nvPr/>
        </p:nvSpPr>
        <p:spPr>
          <a:xfrm>
            <a:off x="8238092" y="6151173"/>
            <a:ext cx="83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Recovery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7B844FC-E35F-D465-96EE-2FA388E5A76F}"/>
              </a:ext>
            </a:extLst>
          </p:cNvPr>
          <p:cNvSpPr txBox="1"/>
          <p:nvPr/>
        </p:nvSpPr>
        <p:spPr>
          <a:xfrm>
            <a:off x="10038317" y="6151173"/>
            <a:ext cx="83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Postcrisis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32541793-32BE-26A9-5DA8-2354DAD37A89}"/>
              </a:ext>
            </a:extLst>
          </p:cNvPr>
          <p:cNvCxnSpPr>
            <a:cxnSpLocks/>
          </p:cNvCxnSpPr>
          <p:nvPr/>
        </p:nvCxnSpPr>
        <p:spPr>
          <a:xfrm>
            <a:off x="3227705" y="2692400"/>
            <a:ext cx="0" cy="3492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5D033911-2357-D45F-2104-73CF561C7E30}"/>
              </a:ext>
            </a:extLst>
          </p:cNvPr>
          <p:cNvSpPr txBox="1"/>
          <p:nvPr/>
        </p:nvSpPr>
        <p:spPr>
          <a:xfrm>
            <a:off x="2525429" y="1535359"/>
            <a:ext cx="1404552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HarmonyOS Sans SC Light" pitchFamily="2" charset="-122"/>
                <a:ea typeface="HarmonyOS Sans SC Light" pitchFamily="2" charset="-122"/>
              </a:rPr>
              <a:t>Resolve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Some spending will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naturally contract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due to changes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in customer and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employee activity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0BBF0F61-2FFE-5CAB-359D-A75BAEFC0BC7}"/>
              </a:ext>
            </a:extLst>
          </p:cNvPr>
          <p:cNvCxnSpPr>
            <a:cxnSpLocks/>
          </p:cNvCxnSpPr>
          <p:nvPr/>
        </p:nvCxnSpPr>
        <p:spPr>
          <a:xfrm flipH="1">
            <a:off x="4545648" y="3125788"/>
            <a:ext cx="283512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8B5E5D5C-6F89-791B-8CCA-76F559D92B3A}"/>
              </a:ext>
            </a:extLst>
          </p:cNvPr>
          <p:cNvCxnSpPr>
            <a:cxnSpLocks/>
          </p:cNvCxnSpPr>
          <p:nvPr/>
        </p:nvCxnSpPr>
        <p:spPr>
          <a:xfrm>
            <a:off x="5963209" y="2776539"/>
            <a:ext cx="0" cy="3492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3AEBB325-E473-CB2D-3BF5-48852CD20684}"/>
              </a:ext>
            </a:extLst>
          </p:cNvPr>
          <p:cNvSpPr txBox="1"/>
          <p:nvPr/>
        </p:nvSpPr>
        <p:spPr>
          <a:xfrm>
            <a:off x="4929327" y="1531900"/>
            <a:ext cx="1907895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HarmonyOS Sans SC Light" pitchFamily="2" charset="-122"/>
                <a:ea typeface="HarmonyOS Sans SC Light" pitchFamily="2" charset="-122"/>
              </a:rPr>
              <a:t>Resilience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Other spend categories will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require choices to manage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spend thoughtfully and to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reallocate as the Crisis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continues to untold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0407334A-B7EA-49C0-9F55-BE5D083A9528}"/>
              </a:ext>
            </a:extLst>
          </p:cNvPr>
          <p:cNvCxnSpPr>
            <a:cxnSpLocks/>
          </p:cNvCxnSpPr>
          <p:nvPr/>
        </p:nvCxnSpPr>
        <p:spPr>
          <a:xfrm>
            <a:off x="8656636" y="2692400"/>
            <a:ext cx="0" cy="77660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09D132E0-62B9-96B1-7270-164EEF9AC5C8}"/>
              </a:ext>
            </a:extLst>
          </p:cNvPr>
          <p:cNvSpPr txBox="1"/>
          <p:nvPr/>
        </p:nvSpPr>
        <p:spPr>
          <a:xfrm>
            <a:off x="7726815" y="1531900"/>
            <a:ext cx="1859641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HarmonyOS Sans SC Light" pitchFamily="2" charset="-122"/>
                <a:ea typeface="HarmonyOS Sans SC Light" pitchFamily="2" charset="-122"/>
              </a:rPr>
              <a:t>Return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Recovery will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present opportunities to reactivate operations, invest</a:t>
            </a:r>
            <a:r>
              <a:rPr kumimoji="1" lang="zh-CN" altLang="en-US" sz="11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and reallocate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resources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7CB329BC-EC9B-D05D-80A8-55B6AD701AE6}"/>
              </a:ext>
            </a:extLst>
          </p:cNvPr>
          <p:cNvCxnSpPr>
            <a:cxnSpLocks/>
          </p:cNvCxnSpPr>
          <p:nvPr/>
        </p:nvCxnSpPr>
        <p:spPr>
          <a:xfrm>
            <a:off x="10451704" y="2951163"/>
            <a:ext cx="0" cy="3492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2508CD98-9CB5-52F2-7FE9-4EEF37013876}"/>
              </a:ext>
            </a:extLst>
          </p:cNvPr>
          <p:cNvSpPr txBox="1"/>
          <p:nvPr/>
        </p:nvSpPr>
        <p:spPr>
          <a:xfrm>
            <a:off x="9521883" y="1525868"/>
            <a:ext cx="18596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HarmonyOS Sans SC Light" pitchFamily="2" charset="-122"/>
                <a:ea typeface="HarmonyOS Sans SC Light" pitchFamily="2" charset="-122"/>
              </a:rPr>
              <a:t>Reimagine</a:t>
            </a:r>
          </a:p>
          <a:p>
            <a:pPr algn="ctr"/>
            <a:r>
              <a:rPr kumimoji="1" lang="en-US" altLang="zh-CN" sz="1200" b="1" dirty="0">
                <a:latin typeface="HarmonyOS Sans SC Light" pitchFamily="2" charset="-122"/>
                <a:ea typeface="HarmonyOS Sans SC Light" pitchFamily="2" charset="-122"/>
              </a:rPr>
              <a:t>and reform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Lessons learned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and new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capabilities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can enable a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healthier future</a:t>
            </a:r>
          </a:p>
          <a:p>
            <a:pPr algn="ctr"/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cost base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174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4601-1D7F-C1A0-4FC1-ACD9194A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524F689-8183-7F4F-1E94-DAA13CCFE1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24F689-8183-7F4F-1E94-DAA13CCFE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B31A9DA-88C6-F909-62A3-856715401390}"/>
              </a:ext>
            </a:extLst>
          </p:cNvPr>
          <p:cNvSpPr txBox="1"/>
          <p:nvPr/>
        </p:nvSpPr>
        <p:spPr>
          <a:xfrm>
            <a:off x="337185" y="211455"/>
            <a:ext cx="11235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Procurement and IT show the most maturity among corporate functions in deploying advanced analytics.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6BB1A5-FA9F-1883-CC14-9F5C342E0ECB}"/>
              </a:ext>
            </a:extLst>
          </p:cNvPr>
          <p:cNvSpPr txBox="1"/>
          <p:nvPr/>
        </p:nvSpPr>
        <p:spPr>
          <a:xfrm>
            <a:off x="337185" y="920115"/>
            <a:ext cx="883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Level of sophistication of advanced analytics currently being deployed within corporate functions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n = 302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167" name="Chart 3">
            <a:extLst>
              <a:ext uri="{FF2B5EF4-FFF2-40B4-BE49-F238E27FC236}">
                <a16:creationId xmlns:a16="http://schemas.microsoft.com/office/drawing/2014/main" id="{83215BD0-AF64-2011-9D8F-0E7B6065A07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54000" y="1627188"/>
          <a:ext cx="10037763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22B39B09-A11B-0514-DCFF-1BD99258333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018713" y="2571750"/>
            <a:ext cx="12795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F971C9B-9FB9-4FCB-87E1-1478AFE6A73E}" type="datetime'Les''''s so''ph''is''tic''ated''&#10;forms'' o''''f an''''alytic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Less sophisticated
forms of analytics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CAA350EE-EC67-67AF-AE51-773B06AD51C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018713" y="3543300"/>
            <a:ext cx="6889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0BCBDD0-E64B-49D3-A8E3-7671BC4D5EA0}" type="datetime'''''P''''re''d''''''''ictive&#10;''a''''n''''''''''a''lyt''ic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Predictive
analytics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4EF15C64-30E1-11BE-C2F8-3323E4B3D4A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0018713" y="4129088"/>
            <a:ext cx="8159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B6F8C1C-6775-40B6-8D97-8993E040EFCB}" type="datetime'P''res''c''''''''ri''ptive''''''&#10;a''''n''alyt''''''''i''''c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Prescriptive
analytics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3C2CE7F8-0EEA-375F-A4E3-1D85CAECF1B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6618288" y="4625975"/>
            <a:ext cx="131763" cy="1651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05731A-CFB6-44E6-B14D-1AA6128B9AF5}" type="datetime'''''''''''''''''''''''''''''''''3''''''''''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4" name="文本占位符 2">
            <a:extLst>
              <a:ext uri="{FF2B5EF4-FFF2-40B4-BE49-F238E27FC236}">
                <a16:creationId xmlns:a16="http://schemas.microsoft.com/office/drawing/2014/main" id="{EF3CB1B0-0030-C59B-5226-78A79DD4217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090738" y="1677988"/>
            <a:ext cx="7207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FD5416-C3F7-4B1C-BA3B-8768A2F34A15}" type="datetime'''''''M''''''''''a''''r''''''''''ke''''t''''''in''''g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Marketing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F79AA2-47E2-6F49-9FCD-7661647B9DD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844550" y="1677988"/>
            <a:ext cx="3937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0CD0FB2-4A5C-4335-9FA8-A0D245C57AB1}" type="datetime'L''''''''''e''''g''''''''''''''''''a''''''''''''''l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Legal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0" name="文本占位符 2">
            <a:extLst>
              <a:ext uri="{FF2B5EF4-FFF2-40B4-BE49-F238E27FC236}">
                <a16:creationId xmlns:a16="http://schemas.microsoft.com/office/drawing/2014/main" id="{86AADDA7-7705-E453-9C0D-5F3FDC6A641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4995863" y="1677988"/>
            <a:ext cx="5540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68A5ACD-A368-4AD4-B25E-C3E6ED0A8672}" type="datetime'''F''i''''n''''''''''''''''''anc''''''''e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Finance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3" name="文本占位符 2">
            <a:extLst>
              <a:ext uri="{FF2B5EF4-FFF2-40B4-BE49-F238E27FC236}">
                <a16:creationId xmlns:a16="http://schemas.microsoft.com/office/drawing/2014/main" id="{47078479-E073-E32C-B70A-4B672285E9A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289675" y="1677988"/>
            <a:ext cx="7874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A9B8742-7FAE-4942-85FE-52275F74F086}" type="datetime'''R''eal'''''''' e''''''''''''st''''''''''a''''t''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Real estate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6" name="文本占位符 2">
            <a:extLst>
              <a:ext uri="{FF2B5EF4-FFF2-40B4-BE49-F238E27FC236}">
                <a16:creationId xmlns:a16="http://schemas.microsoft.com/office/drawing/2014/main" id="{0499FF47-3C2A-9097-A913-3B4869335CC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023225" y="1677988"/>
            <a:ext cx="1397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1E24E43-1E59-4482-B6C0-DD872F2CD117}" type="datetime'''''''''''''''''''I''''''''''''''T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IT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9EFB8C52-732B-F5D6-5F3F-021A483EB3A6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047163" y="1677988"/>
            <a:ext cx="9144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71D39D-64B1-46D8-AC5F-BCAB23C2F669}" type="datetime'''''P''r''''o''''c''''''''''''u''''''re''''m''''e''''n''t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Procurement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7" name="文本占位符 2">
            <a:extLst>
              <a:ext uri="{FF2B5EF4-FFF2-40B4-BE49-F238E27FC236}">
                <a16:creationId xmlns:a16="http://schemas.microsoft.com/office/drawing/2014/main" id="{5FCFD9D0-A6C0-F93C-415B-83C24632E49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3749675" y="1677988"/>
            <a:ext cx="2254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802120-EDDA-4CC3-8B0D-1292B18EBB51}" type="datetime'''''''''''HR''''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HR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332CE807-041C-3B62-4BCE-7FF36E0B2DA8}"/>
              </a:ext>
            </a:extLst>
          </p:cNvPr>
          <p:cNvCxnSpPr/>
          <p:nvPr/>
        </p:nvCxnSpPr>
        <p:spPr>
          <a:xfrm>
            <a:off x="622935" y="5181600"/>
            <a:ext cx="9252585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E2A762CA-4A60-CAF5-CA9D-411D3EDFD228}"/>
              </a:ext>
            </a:extLst>
          </p:cNvPr>
          <p:cNvSpPr txBox="1"/>
          <p:nvPr/>
        </p:nvSpPr>
        <p:spPr>
          <a:xfrm>
            <a:off x="4323243" y="5027613"/>
            <a:ext cx="1345240" cy="3079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Sophistication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EA9CD95A-E444-924F-CE45-5DCF99589EFB}"/>
              </a:ext>
            </a:extLst>
          </p:cNvPr>
          <p:cNvSpPr txBox="1"/>
          <p:nvPr/>
        </p:nvSpPr>
        <p:spPr>
          <a:xfrm>
            <a:off x="551040" y="5335588"/>
            <a:ext cx="587020" cy="306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LESS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D9504223-3145-75FA-85F2-AEBFA3993326}"/>
              </a:ext>
            </a:extLst>
          </p:cNvPr>
          <p:cNvSpPr txBox="1"/>
          <p:nvPr/>
        </p:nvSpPr>
        <p:spPr>
          <a:xfrm>
            <a:off x="9305335" y="5335588"/>
            <a:ext cx="684803" cy="306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MORE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B7C7138-D3D3-0445-8058-FDB1615C93AF}"/>
              </a:ext>
            </a:extLst>
          </p:cNvPr>
          <p:cNvSpPr txBox="1"/>
          <p:nvPr/>
        </p:nvSpPr>
        <p:spPr>
          <a:xfrm>
            <a:off x="337185" y="5784771"/>
            <a:ext cx="11235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Question: Respondents were asked to rate the sophistication of analytics they were able to deploy in their function on a scale of 1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least mature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 5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most mature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where level 1= basic reporting of data only; 2 = reporting with the ability to drill down into data; 3 = trend analytics; 4 = predictive analytics to inform decision making; and 5 = more advanced prescriptive analytics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Including basic reporting, reporting with drill-down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capability,trend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analyses,etc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Mckinsey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Corporate &amp; Business Functions Survey of 302 s6nar ' executives globally across industries, May 2022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6043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gJHlh4BxDq4ASR.j91Q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1VLMVE.bQz4IAbY2_GJo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953iFVJMwzJUxSyNftw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XJ9Dj46mzTRPObI_x6g1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q7OCNki.i3UN6VKYLF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6BnsJxOXOS_mwTD8l_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2MUJFgZ.p1JRGwfrY9v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jdmSgK7QL_0jmBhVD5Q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3yXFRddGHVGeZDX_yni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QcnwTp7bkHzfFEBBODr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vI54N2QF1ufNlQNtnVN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eY0y1Mov1PUwmxHZXGv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E84Zbj0HrUN1CMKjpv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pi0IdmL53mTVhku2r9L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iw492YADSi_JRT_QO00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5NCIg9fr5zP7MESpxgb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iQu7dkppN_TWTQJgRqk_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ngd2VS4egaMbu8sB8t7w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Tv45saXnrZ3yL8FWpbu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unan47s1I6CWvFbER3E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tIwdJk1a49YLqWg_KsSg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eTPhNTGxhSJlxZNiAuC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0zp_6C3mcgYVNkMgd8B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AcY_O6THIHoCsOvjTv3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F54XLQXBYuKXLlZx3yi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wh_ZX_sIpMcwjrzexvba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w7Ha8o190NY4.gWg6DB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WgaaZYb06xbU.Km4yDT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ELzN8u7SOw1ISuPsQ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Mjo8cyIfm4fw.bxmtWB_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q_LWp6NjnuYlBH2AhOh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C4yM.ogR1qyyILkNrtZ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YaPZNjNG5oqiDbfK4F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EB0LflHxZVtRkDlTDeP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tJus9vsJ9BZcg.ntN3N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oCPdcctRDSj1L24lDwm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5sQDn0hCBqqJcX0A5Ny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K.1HGgkA7sxMyCQ5AaM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wQRcN5nSDZE6EaCA9.X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n5mc_y8cIO7fAyQseA9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5ynU.rcB.jFifNq8JKT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_mf3RztaLVGgpuQjQGBk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9hJpyh_c_NC7YPQ7ssW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cIqedi0GJ.tSObone3p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HP.21wE7ExqkCT9EyQ4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v1nIovXLf6ONjdMk0v5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3iwKcyMyyh5vaYXGERl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3p.G.64ZmyKwz.sAWbf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CcR67WwZlvwWhB1ZrkM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p8o9pM_Ri6UhrYLBEzO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.LoGP3yBZwSgaRip0K0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_0ePyZTwZ4bSQvApsCI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8k0H3rg3U6Stde5Z5wV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9xwg1YvKs_P21PJ9GMr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TFlCflMWvsP69OPS4lZ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lkDYyq5lLqdBXnpCTbK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LhyRghYDz4lYdFw7p4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XLP4wBIinEJ3B13qbTQ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o9Z_NxrsB_Kpbb1Kj65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LVEqQ3x3_huaA7n1t47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9gqhJxUEtNlfnCzAaWX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2Imxu6tO2ReVWnuIycB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Piy6RFUGM9EVHVc9ExR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cm9Pnn3RIDsxDNIRbNq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_GLrawEnOinCzpYun3G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Syd8GTGnkjiFG_w5EHc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3.MzB7O.MhrWC9B4YaZ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sg6W6_LW4.vnBk3nEKu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qthx7XCmLrMF_m6TohT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mZn3fWWevKY.ZRIqrML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eukQc7N7w4J_n49XLbG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DrwQdxUn9siCrJP1Blk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eRkEIce1kCP2Ogs9uDjG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aCZVujkC3UwDD6p7Qwx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NIGQbI0WmsDTD8yShHu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K53XcEYogcGHcabTIP4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aBuhueyWFDxp6hD6IWQ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E6xx4KHOI3HRCXh7q.1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4u5bguSzyD8l18KLkuw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7kgWTI8XqZsoIB97T2H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5U0rQ.x_GJFOS2m6ECU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7QrAwisx_612gcspHCM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JrLTde9Rl7rXuX15VLP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ZlXR44thtp2LQsT9ZhC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8QcVRIofpClpidy.zB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0UJwG6YzcY4eL8sgnnX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XqPlOg.I5RzbYVrhNVH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uG3r2gx10xjc1uSCDPs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J9ix4wPs9AJLdNNAg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WbEsRZHmxQaeqzyG9GV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7yu3jC10GUKmfB4.dWVe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bydvXHWxsNjSu27IGxY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9OlWYCkh0Wu15hyqadJt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B7FxcZB38GbpxrBuVCq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PoOXLCKmPTfNM_ytR2L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a.etqEF1i3g1p.PqTS6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sN6epNLdMWrizi8WC.j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XysD5WVH6NN6QTKo_BNJ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9fzSXwMZ5XTji1ZPyUL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Sdp3TbFZr15AVmiNKwE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CKtCMWWOUJpnz8wL6gL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FYv.9yvw79IEbmEm2Ob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WjzmkiRWAFJAgf4ozUU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G.2.39gKjBn0eXt7B9CP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7JqzaX1EvqOOht1GCSNX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plAxYhB5PrH4Zz5SJX6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h604l7m26hzoNhE02tJ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XJ1Ju19Cj2DvRSqLg8g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ahgA92_1XY6LDr.33Ch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BwUaOjXObdp3Rpivd8h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DlJMDJoC04Dn6aEJwLa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RwEwosY_Jp0KHFg5S5N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Ai1m8LEGypYqoqHcOJu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A_YMtSLIgxpFyipLyFC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GunSuKcorlqWCzEITqB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CTjgNjcS1YElE5IBnW7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ThF2E7IRaey5GUDE.k1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fmbl6XdHCcg9HSntbCB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I69DY1jrvIdwg3MzjzH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ibn8xZ6nukEqnbvxzRQ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mwy3YXKe8Ntrk4xzKmK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4r_tnq1GiqdCx0a9.9S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jGMhAfMevUnsDEdvWGR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RSXkz1ORQLMKXKBTKR7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A9GpYXGvfOnY8ipTosO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Nv4tU0Y3LxveT8DaydH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.KaNsrcSBSosjSpJDnd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sg5rhNmPbZt0CVHjdLs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pouN7rBpo7ydGh4YLUl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ea09RH84j2QvgZYjmcQ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Qta00b_EtB.cpMEE_r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4ShXmYishzeC92iki51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O_1R7str7VfQ94O.95A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GGF5XCKABRK7CpNWs.F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3eXEq63wN.toNjZn6Rz8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.KaNsrcSBSosjSpJDnd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pouN7rBpo7ydGh4YLUl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ea09RH84j2QvgZYjmcQ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Qta00b_EtB.cpMEE_r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sg5rhNmPbZt0CVHjdLs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8F1otxxdQwlPxRIhDxb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I0VP1YjlGtR7UV9jqf5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yBnAV4wH_A0VZSNBRuU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3cxPfTC04Oyfec9eZU3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DHFCy7yI1stT7kXAKO.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lBp6vK2OzsUhiJHCvGP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YlmqnC3ihfEPT8VZ8PL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JfY_XavorH1DksLDf61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ltskCL2srOJdZujOmt.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9BMBHphhBhCdC6P3w3e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oQXxhLOdkHwNPukEItgH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P1mdsTVkkalOak00pzx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DmOG0o8MISxaxiLv4bQ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npkzbAiJ2L0JXYi8Qhb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cVZiGucw3Amn9xu9PXb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mqCEy6ek8_Kvsfq_b3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Ha8yXkP8_6hfuppYqmI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qzbYJ312lv_Vk9ZPtMs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_wCs74A2nvkSptUfTp9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t.swsMcelk3i1mB0NJY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.vWrZqPoiY2kYc0k7III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0GP1oDZSNJY2mPJQsjq5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xeuFwc5T0bEtSJxRsL9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3VQf9J3KAt0LSVZZ1eK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7Q.GC3q9WSuACitpYEq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6dPSy1Y.z4yHMsw1jWR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Uk14te_83thpbz7E2qh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JI4ISp3enw3OLwMquq5g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OTHH1AWvqtT1jIM1fo2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Uga4f8D4d2OYwm6Q2vq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GmIvP_LLA8DP3U2I_T3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eV1_6ExzqlnOrZcX8UT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jeFx.mavedxzXh6lMKP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Q.YFOF5.rkAYy6Pu.zk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7yHV.3emiYSPyao308G9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WIMm6L98w3flg_CiRn.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QYxci9mlj_877MTiSG0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rVyoJ3hcBKc4.f_0rbL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5ncAN4CfWkgDyLliai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8IzdC3dnHL..YNI6Nvbi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ISX3eIA4QEVMJ4Ezag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QxUHtyqTdPm7Bm3Zcwp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U5bfuCfYULpsX0Mlqan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Ss9kkUXkfd0eFaVV.Bw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1785</Words>
  <Application>Microsoft Macintosh PowerPoint</Application>
  <PresentationFormat>宽屏</PresentationFormat>
  <Paragraphs>360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HarmonyOS Sans SC</vt:lpstr>
      <vt:lpstr>HarmonyOS Sans SC Black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2</cp:revision>
  <dcterms:created xsi:type="dcterms:W3CDTF">2024-10-22T02:31:07Z</dcterms:created>
  <dcterms:modified xsi:type="dcterms:W3CDTF">2024-10-22T03:13:44Z</dcterms:modified>
</cp:coreProperties>
</file>