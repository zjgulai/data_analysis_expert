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rts/chart1.xml" ContentType="application/vnd.openxmlformats-officedocument.drawingml.chart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5.xml" ContentType="application/vnd.openxmlformats-officedocument.presentationml.tags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7.xml" ContentType="application/vnd.openxmlformats-officedocument.drawingml.chart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charts/chart16.xml" ContentType="application/vnd.openxmlformats-officedocument.drawingml.chart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charts/chart20.xml" ContentType="application/vnd.openxmlformats-officedocument.drawingml.chart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tags/tag123.xml" ContentType="application/vnd.openxmlformats-officedocument.presentationml.tags+xml"/>
  <Override PartName="/ppt/charts/chart2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C2C"/>
    <a:srgbClr val="00ACFB"/>
    <a:srgbClr val="104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3294"/>
    <p:restoredTop sz="95748"/>
  </p:normalViewPr>
  <p:slideViewPr>
    <p:cSldViewPr snapToGrid="0">
      <p:cViewPr varScale="1">
        <p:scale>
          <a:sx n="223" d="100"/>
          <a:sy n="223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0.xlsb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611309949892626E-2"/>
          <c:y val="2.1541010770505385E-2"/>
          <c:w val="0.96277738010021474"/>
          <c:h val="0.95691797845898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val>
            <c:numRef>
              <c:f>Sheet1!$A$1:$D$1</c:f>
              <c:numCache>
                <c:formatCode>General</c:formatCode>
                <c:ptCount val="4"/>
                <c:pt idx="0">
                  <c:v>334</c:v>
                </c:pt>
                <c:pt idx="1">
                  <c:v>770</c:v>
                </c:pt>
                <c:pt idx="2">
                  <c:v>921</c:v>
                </c:pt>
                <c:pt idx="3">
                  <c:v>1227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B4-5440-8DCD-D6B619118405}"/>
            </c:ext>
          </c:extLst>
        </c:ser>
        <c:ser>
          <c:idx val="1"/>
          <c:order val="1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1445</c:v>
                </c:pt>
                <c:pt idx="1">
                  <c:v>1636</c:v>
                </c:pt>
                <c:pt idx="2">
                  <c:v>1688</c:v>
                </c:pt>
                <c:pt idx="3">
                  <c:v>1890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B4-5440-8DCD-D6B619118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33901744"/>
        <c:axId val="1"/>
      </c:barChart>
      <c:catAx>
        <c:axId val="733901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11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33901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386786401539442E-3"/>
          <c:y val="4.3046357615894038E-2"/>
          <c:w val="0.98332264271969216"/>
          <c:h val="0.9139072847682119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EC-774E-B760-AE8E6512C572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10.199999999999999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EC-774E-B760-AE8E6512C572}"/>
            </c:ext>
          </c:extLst>
        </c:ser>
        <c:ser>
          <c:idx val="2"/>
          <c:order val="2"/>
          <c:spPr>
            <a:solidFill>
              <a:srgbClr val="1041EF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6.6999999999999993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EC-774E-B760-AE8E6512C5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1936848"/>
        <c:axId val="1"/>
      </c:barChart>
      <c:catAx>
        <c:axId val="29193684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.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919368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386786401539442E-3"/>
          <c:y val="4.4635193133047209E-2"/>
          <c:w val="0.98332264271969216"/>
          <c:h val="0.910729613733905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934C-90FD-6A7F1E349273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17-934C-90FD-6A7F1E349273}"/>
            </c:ext>
          </c:extLst>
        </c:ser>
        <c:ser>
          <c:idx val="2"/>
          <c:order val="2"/>
          <c:spPr>
            <a:solidFill>
              <a:srgbClr val="1041EF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17-934C-90FD-6A7F1E3492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1876464"/>
        <c:axId val="1"/>
      </c:barChart>
      <c:catAx>
        <c:axId val="2918764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7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918764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5B-7A43-A898-054D52473CA2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5B-7A43-A898-054D52473CA2}"/>
              </c:ext>
            </c:extLst>
          </c:dPt>
          <c:dPt>
            <c:idx val="2"/>
            <c:bubble3D val="0"/>
            <c:spPr>
              <a:solidFill>
                <a:srgbClr val="1041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5B-7A43-A898-054D52473CA2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0.5</c:v>
                </c:pt>
                <c:pt idx="2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5B-7A43-A898-054D52473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6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bg1"/>
          </a:solidFill>
          <a:latin typeface="Source Han Serif CN Medium" panose="02020400000000000000" pitchFamily="18" charset="-128"/>
          <a:ea typeface="Source Han Serif CN Medium" panose="02020400000000000000" pitchFamily="18" charset="-128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BA-FF4D-9A26-6B381B3578EF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BA-FF4D-9A26-6B381B3578EF}"/>
              </c:ext>
            </c:extLst>
          </c:dPt>
          <c:dPt>
            <c:idx val="2"/>
            <c:bubble3D val="0"/>
            <c:spPr>
              <a:solidFill>
                <a:srgbClr val="1041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A-FF4D-9A26-6B381B3578EF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0.28999999999999998</c:v>
                </c:pt>
                <c:pt idx="1">
                  <c:v>0.31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CBA-FF4D-9A26-6B381B357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55"/>
        <c:holeSize val="62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bg1"/>
          </a:solidFill>
          <a:latin typeface="Source Han Serif CN Medium" panose="02020400000000000000" pitchFamily="18" charset="-128"/>
          <a:ea typeface="Source Han Serif CN Medium" panose="02020400000000000000" pitchFamily="18" charset="-128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6C-134C-BE34-D0AE6FA14460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86C-134C-BE34-D0AE6FA14460}"/>
              </c:ext>
            </c:extLst>
          </c:dPt>
          <c:dPt>
            <c:idx val="2"/>
            <c:bubble3D val="0"/>
            <c:spPr>
              <a:solidFill>
                <a:srgbClr val="1041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86C-134C-BE34-D0AE6FA14460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0.14000000000000001</c:v>
                </c:pt>
                <c:pt idx="2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6C-134C-BE34-D0AE6FA144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8"/>
        <c:holeSize val="62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bg1"/>
          </a:solidFill>
          <a:latin typeface="Source Han Serif CN Medium" panose="02020400000000000000" pitchFamily="18" charset="-128"/>
          <a:ea typeface="Source Han Serif CN Medium" panose="02020400000000000000" pitchFamily="18" charset="-128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812156482379565E-2"/>
          <c:y val="6.0781476121562955E-2"/>
          <c:w val="0.9663756870352409"/>
          <c:h val="0.878437047756874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9FD-BC47-8E8B-DEA713D11C84}"/>
                </c:ext>
              </c:extLst>
            </c:dLbl>
            <c:dLbl>
              <c:idx val="1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9FD-BC47-8E8B-DEA713D11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FD-BC47-8E8B-DEA713D11C84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47178002894355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9FD-BC47-8E8B-DEA713D11C84}"/>
                </c:ext>
              </c:extLst>
            </c:dLbl>
            <c:dLbl>
              <c:idx val="1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9FD-BC47-8E8B-DEA713D11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8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FD-BC47-8E8B-DEA713D11C84}"/>
            </c:ext>
          </c:extLst>
        </c:ser>
        <c:ser>
          <c:idx val="2"/>
          <c:order val="2"/>
          <c:spPr>
            <a:solidFill>
              <a:srgbClr val="1041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9FD-BC47-8E8B-DEA713D11C84}"/>
                </c:ext>
              </c:extLst>
            </c:dLbl>
            <c:dLbl>
              <c:idx val="1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9FD-BC47-8E8B-DEA713D11C84}"/>
                </c:ext>
              </c:extLst>
            </c:dLbl>
            <c:dLbl>
              <c:idx val="2"/>
              <c:layout>
                <c:manualLayout>
                  <c:x val="0.1066925315227934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9FD-BC47-8E8B-DEA713D11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9FD-BC47-8E8B-DEA713D11C84}"/>
            </c:ext>
          </c:extLst>
        </c:ser>
        <c:ser>
          <c:idx val="3"/>
          <c:order val="3"/>
          <c:spPr>
            <a:solidFill>
              <a:srgbClr val="98E8F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9FD-BC47-8E8B-DEA713D11C84}"/>
                </c:ext>
              </c:extLst>
            </c:dLbl>
            <c:dLbl>
              <c:idx val="1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9FD-BC47-8E8B-DEA713D11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Sheet1!$A$4:$C$4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9FD-BC47-8E8B-DEA713D11C84}"/>
            </c:ext>
          </c:extLst>
        </c:ser>
        <c:ser>
          <c:idx val="4"/>
          <c:order val="4"/>
          <c:spPr>
            <a:solidFill>
              <a:srgbClr val="0098B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49FD-BC47-8E8B-DEA713D11C84}"/>
                </c:ext>
              </c:extLst>
            </c:dLbl>
            <c:dLbl>
              <c:idx val="1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49FD-BC47-8E8B-DEA713D11C84}"/>
                </c:ext>
              </c:extLst>
            </c:dLbl>
            <c:dLbl>
              <c:idx val="2"/>
              <c:layout>
                <c:manualLayout>
                  <c:x val="0"/>
                  <c:y val="-1.085383502170767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49FD-BC47-8E8B-DEA713D11C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Sheet1!$A$5:$C$5</c:f>
              <c:numCache>
                <c:formatCode>General</c:formatCode>
                <c:ptCount val="3"/>
                <c:pt idx="0">
                  <c:v>68</c:v>
                </c:pt>
                <c:pt idx="1">
                  <c:v>72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9FD-BC47-8E8B-DEA713D11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7346399"/>
        <c:axId val="1"/>
      </c:barChart>
      <c:catAx>
        <c:axId val="6773463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773463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2.7310924369747899E-2"/>
          <c:w val="0.85926928281461434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B-2948-9C66-0DCF869321B6}"/>
            </c:ext>
          </c:extLst>
        </c:ser>
        <c:ser>
          <c:idx val="1"/>
          <c:order val="1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B-2948-9C66-0DCF86932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4338015"/>
        <c:axId val="1"/>
      </c:barChart>
      <c:catAx>
        <c:axId val="464338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4338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2.7310924369747899E-2"/>
          <c:w val="0.85926928281461434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C7-564A-B036-8C088D1AB971}"/>
            </c:ext>
          </c:extLst>
        </c:ser>
        <c:ser>
          <c:idx val="1"/>
          <c:order val="1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C7-564A-B036-8C088D1AB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4127983"/>
        <c:axId val="1"/>
      </c:barChart>
      <c:catAx>
        <c:axId val="4641279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41279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270270270270274E-2"/>
          <c:y val="2.7310924369747899E-2"/>
          <c:w val="0.85945945945945945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3A-574B-95AC-1E9AEDA09D24}"/>
            </c:ext>
          </c:extLst>
        </c:ser>
        <c:ser>
          <c:idx val="1"/>
          <c:order val="1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3A-574B-95AC-1E9AEDA09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4191071"/>
        <c:axId val="1"/>
      </c:barChart>
      <c:catAx>
        <c:axId val="4641910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41910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2.7310924369747899E-2"/>
          <c:w val="0.85926928281461434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99-5844-AD3C-408A210CEA27}"/>
            </c:ext>
          </c:extLst>
        </c:ser>
        <c:ser>
          <c:idx val="1"/>
          <c:order val="1"/>
          <c:spPr>
            <a:solidFill>
              <a:srgbClr val="1041EF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99-5844-AD3C-408A210CEA27}"/>
            </c:ext>
          </c:extLst>
        </c:ser>
        <c:ser>
          <c:idx val="2"/>
          <c:order val="2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99-5844-AD3C-408A210CE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2711823"/>
        <c:axId val="1"/>
      </c:barChart>
      <c:catAx>
        <c:axId val="4627118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27118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2.7310924369747899E-2"/>
          <c:w val="0.85926928281461434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19-964B-8FC8-753894E6AEB3}"/>
            </c:ext>
          </c:extLst>
        </c:ser>
        <c:ser>
          <c:idx val="1"/>
          <c:order val="1"/>
          <c:spPr>
            <a:solidFill>
              <a:srgbClr val="1041EF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19-964B-8FC8-753894E6AEB3}"/>
            </c:ext>
          </c:extLst>
        </c:ser>
        <c:ser>
          <c:idx val="2"/>
          <c:order val="2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19-964B-8FC8-753894E6A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2856143"/>
        <c:axId val="1"/>
      </c:barChart>
      <c:catAx>
        <c:axId val="4628561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28561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2.7310924369747899E-2"/>
          <c:w val="0.85926928281461434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3-B847-9320-4B1BCB19CD5B}"/>
            </c:ext>
          </c:extLst>
        </c:ser>
        <c:ser>
          <c:idx val="1"/>
          <c:order val="1"/>
          <c:spPr>
            <a:solidFill>
              <a:srgbClr val="1041EF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03-B847-9320-4B1BCB19CD5B}"/>
            </c:ext>
          </c:extLst>
        </c:ser>
        <c:ser>
          <c:idx val="2"/>
          <c:order val="2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03-B847-9320-4B1BCB19CD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3048815"/>
        <c:axId val="1"/>
      </c:barChart>
      <c:catAx>
        <c:axId val="4630488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630488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6.6897746967071056E-2"/>
          <c:w val="0.94537815126050417"/>
          <c:h val="0.8662045060658578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1041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6D3-244A-90DF-21E46561C830}"/>
                </c:ext>
              </c:extLst>
            </c:dLbl>
            <c:dLbl>
              <c:idx val="1"/>
              <c:layout>
                <c:manualLayout>
                  <c:x val="0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6D3-244A-90DF-21E46561C830}"/>
                </c:ext>
              </c:extLst>
            </c:dLbl>
            <c:dLbl>
              <c:idx val="2"/>
              <c:layout>
                <c:manualLayout>
                  <c:x val="0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6D3-244A-90DF-21E46561C83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29</c:v>
                </c:pt>
                <c:pt idx="1">
                  <c:v>19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D3-244A-90DF-21E46561C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600843744"/>
        <c:axId val="1"/>
      </c:barChart>
      <c:catAx>
        <c:axId val="160084374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00843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6.6897746967071056E-2"/>
          <c:w val="0.94537815126050417"/>
          <c:h val="0.8662045060658578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80D-DE45-8618-45F31FAAD65B}"/>
                </c:ext>
              </c:extLst>
            </c:dLbl>
            <c:dLbl>
              <c:idx val="1"/>
              <c:layout>
                <c:manualLayout>
                  <c:x val="-5.2521008403361342E-4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80D-DE45-8618-45F31FAAD65B}"/>
                </c:ext>
              </c:extLst>
            </c:dLbl>
            <c:dLbl>
              <c:idx val="2"/>
              <c:layout>
                <c:manualLayout>
                  <c:x val="0"/>
                  <c:y val="1.039861351819757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80D-DE45-8618-45F31FAAD65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54</c:v>
                </c:pt>
                <c:pt idx="1">
                  <c:v>16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0D-DE45-8618-45F31FAAD6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600225312"/>
        <c:axId val="1"/>
      </c:barChart>
      <c:catAx>
        <c:axId val="16002253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002253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696969696969695E-2"/>
          <c:y val="6.2153163152053277E-2"/>
          <c:w val="0.96060606060606057"/>
          <c:h val="0.8756936736958934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041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895-1A42-ADE9-615F492788C5}"/>
              </c:ext>
            </c:extLst>
          </c:dPt>
          <c:dLbls>
            <c:dLbl>
              <c:idx val="0"/>
              <c:layout>
                <c:manualLayout>
                  <c:x val="0"/>
                  <c:y val="-1.47983721790603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895-1A42-ADE9-615F492788C5}"/>
                </c:ext>
              </c:extLst>
            </c:dLbl>
            <c:dLbl>
              <c:idx val="1"/>
              <c:layout>
                <c:manualLayout>
                  <c:x val="0"/>
                  <c:y val="-1.109877913429522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895-1A42-ADE9-615F492788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100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95-1A42-ADE9-615F492788C5}"/>
            </c:ext>
          </c:extLst>
        </c:ser>
        <c:ser>
          <c:idx val="1"/>
          <c:order val="1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895-1A42-ADE9-615F492788C5}"/>
              </c:ext>
            </c:extLst>
          </c:dPt>
          <c:dLbls>
            <c:dLbl>
              <c:idx val="1"/>
              <c:layout>
                <c:manualLayout>
                  <c:x val="0"/>
                  <c:y val="-1.47983721790603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895-1A42-ADE9-615F492788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5-1A42-ADE9-615F492788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85649711"/>
        <c:axId val="1"/>
      </c:barChart>
      <c:catAx>
        <c:axId val="4856497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856497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597106174852253E-2"/>
          <c:y val="0.18064516129032257"/>
          <c:w val="0.95496229875687788"/>
          <c:h val="0.638709677419354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9480334216425514"/>
                  <c:y val="3.225806451612903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BA-FE47-BECA-AFDA2D91DC68}"/>
                </c:ext>
              </c:extLst>
            </c:dLbl>
            <c:dLbl>
              <c:idx val="1"/>
              <c:layout>
                <c:manualLayout>
                  <c:x val="0.48481760749949054"/>
                  <c:y val="3.225806451612903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BA-FE47-BECA-AFDA2D91DC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96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BA-FE47-BECA-AFDA2D91D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640984559"/>
        <c:axId val="1"/>
      </c:barChart>
      <c:catAx>
        <c:axId val="64098455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6409845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597106174852253E-2"/>
          <c:y val="9.2206366630076836E-2"/>
          <c:w val="0.95496229875687788"/>
          <c:h val="0.8155872667398462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5017322192785814"/>
                  <c:y val="1.64654226125137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381-4C45-9845-AE54443D286A}"/>
                </c:ext>
              </c:extLst>
            </c:dLbl>
            <c:dLbl>
              <c:idx val="1"/>
              <c:layout>
                <c:manualLayout>
                  <c:x val="0.43509272467902993"/>
                  <c:y val="1.64654226125137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381-4C45-9845-AE54443D286A}"/>
                </c:ext>
              </c:extLst>
            </c:dLbl>
            <c:dLbl>
              <c:idx val="2"/>
              <c:layout>
                <c:manualLayout>
                  <c:x val="0.42531078051762788"/>
                  <c:y val="1.64654226125137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381-4C45-9845-AE54443D286A}"/>
                </c:ext>
              </c:extLst>
            </c:dLbl>
            <c:dLbl>
              <c:idx val="3"/>
              <c:layout>
                <c:manualLayout>
                  <c:x val="0.21133075198695742"/>
                  <c:y val="1.64654226125137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381-4C45-9845-AE54443D286A}"/>
                </c:ext>
              </c:extLst>
            </c:dLbl>
            <c:dLbl>
              <c:idx val="4"/>
              <c:layout>
                <c:manualLayout>
                  <c:x val="0.49480334216425514"/>
                  <c:y val="1.64654226125137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381-4C45-9845-AE54443D28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87</c:v>
                </c:pt>
                <c:pt idx="1">
                  <c:v>84</c:v>
                </c:pt>
                <c:pt idx="2">
                  <c:v>82</c:v>
                </c:pt>
                <c:pt idx="3">
                  <c:v>39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81-4C45-9845-AE54443D2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55386319"/>
        <c:axId val="1"/>
      </c:barChart>
      <c:catAx>
        <c:axId val="1553863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53863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597106174852253E-2"/>
          <c:y val="0.18064516129032257"/>
          <c:w val="0.95496229875687788"/>
          <c:h val="0.638709677419354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9480334216425514"/>
                  <c:y val="3.225806451612903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CBC-6447-BDE6-365AE1B0EB34}"/>
                </c:ext>
              </c:extLst>
            </c:dLbl>
            <c:dLbl>
              <c:idx val="1"/>
              <c:layout>
                <c:manualLayout>
                  <c:x val="0.43692683920929287"/>
                  <c:y val="3.225806451612903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CBC-6447-BDE6-365AE1B0EB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99</c:v>
                </c:pt>
                <c:pt idx="1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BC-6447-BDE6-365AE1B0EB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63144367"/>
        <c:axId val="1"/>
      </c:barChart>
      <c:catAx>
        <c:axId val="463144367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631443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800738007380072E-3"/>
          <c:y val="6.8908941755537328E-2"/>
          <c:w val="0.98523985239852396"/>
          <c:h val="0.86218211648892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041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E18-A043-BEFC-B22486B5B0B8}"/>
              </c:ext>
            </c:extLst>
          </c:dPt>
          <c:dPt>
            <c:idx val="1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E18-A043-BEFC-B22486B5B0B8}"/>
              </c:ext>
            </c:extLst>
          </c:dPt>
          <c:dPt>
            <c:idx val="2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E18-A043-BEFC-B22486B5B0B8}"/>
              </c:ext>
            </c:extLst>
          </c:dPt>
          <c:dPt>
            <c:idx val="4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E18-A043-BEFC-B22486B5B0B8}"/>
              </c:ext>
            </c:extLst>
          </c:dPt>
          <c:dLbls>
            <c:dLbl>
              <c:idx val="1"/>
              <c:layout>
                <c:manualLayout>
                  <c:x val="0"/>
                  <c:y val="-0.244872846595570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E18-A043-BEFC-B22486B5B0B8}"/>
                </c:ext>
              </c:extLst>
            </c:dLbl>
            <c:dLbl>
              <c:idx val="2"/>
              <c:layout>
                <c:manualLayout>
                  <c:x val="0"/>
                  <c:y val="-0.163248564397046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E18-A043-BEFC-B22486B5B0B8}"/>
                </c:ext>
              </c:extLst>
            </c:dLbl>
            <c:dLbl>
              <c:idx val="3"/>
              <c:layout>
                <c:manualLayout>
                  <c:x val="0"/>
                  <c:y val="-0.163248564397046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E18-A043-BEFC-B22486B5B0B8}"/>
                </c:ext>
              </c:extLst>
            </c:dLbl>
            <c:dLbl>
              <c:idx val="4"/>
              <c:layout>
                <c:manualLayout>
                  <c:x val="0"/>
                  <c:y val="-0.105824446267432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E18-A043-BEFC-B22486B5B0B8}"/>
                </c:ext>
              </c:extLst>
            </c:dLbl>
            <c:dLbl>
              <c:idx val="5"/>
              <c:layout>
                <c:manualLayout>
                  <c:x val="0"/>
                  <c:y val="-8.654634946677604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E18-A043-BEFC-B22486B5B0B8}"/>
                </c:ext>
              </c:extLst>
            </c:dLbl>
            <c:dLbl>
              <c:idx val="6"/>
              <c:layout>
                <c:manualLayout>
                  <c:x val="0"/>
                  <c:y val="-6.76784249384741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E18-A043-BEFC-B22486B5B0B8}"/>
                </c:ext>
              </c:extLst>
            </c:dLbl>
            <c:dLbl>
              <c:idx val="7"/>
              <c:layout>
                <c:manualLayout>
                  <c:x val="0"/>
                  <c:y val="-6.23461853978671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E18-A043-BEFC-B22486B5B0B8}"/>
                </c:ext>
              </c:extLst>
            </c:dLbl>
            <c:dLbl>
              <c:idx val="8"/>
              <c:layout>
                <c:manualLayout>
                  <c:x val="0"/>
                  <c:y val="-5.332239540607054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E18-A043-BEFC-B22486B5B0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90</c:v>
                </c:pt>
                <c:pt idx="1">
                  <c:v>45</c:v>
                </c:pt>
                <c:pt idx="2">
                  <c:v>28</c:v>
                </c:pt>
                <c:pt idx="3">
                  <c:v>28</c:v>
                </c:pt>
                <c:pt idx="4">
                  <c:v>16</c:v>
                </c:pt>
                <c:pt idx="5">
                  <c:v>12</c:v>
                </c:pt>
                <c:pt idx="6">
                  <c:v>8</c:v>
                </c:pt>
                <c:pt idx="7">
                  <c:v>7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E18-A043-BEFC-B22486B5B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39350079"/>
        <c:axId val="1"/>
      </c:barChart>
      <c:catAx>
        <c:axId val="1393500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93500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922428330522766E-2"/>
          <c:y val="6.178742184626701E-2"/>
          <c:w val="0.90682967959527827"/>
          <c:h val="0.8764251563074659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A27-0B4C-9012-79F621C54B15}"/>
              </c:ext>
            </c:extLst>
          </c:dPt>
          <c:dPt>
            <c:idx val="2"/>
            <c:invertIfNegative val="0"/>
            <c:bubble3D val="0"/>
            <c:spPr>
              <a:solidFill>
                <a:srgbClr val="1041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A27-0B4C-9012-79F621C54B15}"/>
              </c:ext>
            </c:extLst>
          </c:dPt>
          <c:dLbls>
            <c:dLbl>
              <c:idx val="0"/>
              <c:layout>
                <c:manualLayout>
                  <c:x val="0.48903878583473864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A27-0B4C-9012-79F621C54B15}"/>
                </c:ext>
              </c:extLst>
            </c:dLbl>
            <c:dLbl>
              <c:idx val="1"/>
              <c:layout>
                <c:manualLayout>
                  <c:x val="0.46838111298482293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A27-0B4C-9012-79F621C54B15}"/>
                </c:ext>
              </c:extLst>
            </c:dLbl>
            <c:dLbl>
              <c:idx val="2"/>
              <c:layout>
                <c:manualLayout>
                  <c:x val="0.3996627318718381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A27-0B4C-9012-79F621C54B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86</c:v>
                </c:pt>
                <c:pt idx="1">
                  <c:v>82</c:v>
                </c:pt>
                <c:pt idx="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27-0B4C-9012-79F621C54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267109887"/>
        <c:axId val="1"/>
      </c:barChart>
      <c:catAx>
        <c:axId val="267109887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671098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155038759689922E-2"/>
          <c:y val="6.178742184626701E-2"/>
          <c:w val="0.91434108527131785"/>
          <c:h val="0.8764251563074659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410852713178293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41-5544-8167-DB6FC08A4FA9}"/>
                </c:ext>
              </c:extLst>
            </c:dLbl>
            <c:dLbl>
              <c:idx val="1"/>
              <c:layout>
                <c:manualLayout>
                  <c:x val="0.3806201550387596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41-5544-8167-DB6FC08A4FA9}"/>
                </c:ext>
              </c:extLst>
            </c:dLbl>
            <c:dLbl>
              <c:idx val="2"/>
              <c:layout>
                <c:manualLayout>
                  <c:x val="0.25232558139534883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641-5544-8167-DB6FC08A4FA9}"/>
                </c:ext>
              </c:extLst>
            </c:dLbl>
            <c:dLbl>
              <c:idx val="3"/>
              <c:layout>
                <c:manualLayout>
                  <c:x val="0.1670542635658914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641-5544-8167-DB6FC08A4FA9}"/>
                </c:ext>
              </c:extLst>
            </c:dLbl>
            <c:dLbl>
              <c:idx val="4"/>
              <c:layout>
                <c:manualLayout>
                  <c:x val="0.1546511627906976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641-5544-8167-DB6FC08A4FA9}"/>
                </c:ext>
              </c:extLst>
            </c:dLbl>
            <c:dLbl>
              <c:idx val="5"/>
              <c:layout>
                <c:manualLayout>
                  <c:x val="0.1368217054263565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641-5544-8167-DB6FC08A4FA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74</c:v>
                </c:pt>
                <c:pt idx="1">
                  <c:v>57</c:v>
                </c:pt>
                <c:pt idx="2">
                  <c:v>36</c:v>
                </c:pt>
                <c:pt idx="3">
                  <c:v>22</c:v>
                </c:pt>
                <c:pt idx="4">
                  <c:v>20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41-5544-8167-DB6FC08A4FA9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992248062015503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641-5544-8167-DB6FC08A4FA9}"/>
                </c:ext>
              </c:extLst>
            </c:dLbl>
            <c:dLbl>
              <c:idx val="1"/>
              <c:layout>
                <c:manualLayout>
                  <c:x val="0.4108527131782945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641-5544-8167-DB6FC08A4FA9}"/>
                </c:ext>
              </c:extLst>
            </c:dLbl>
            <c:dLbl>
              <c:idx val="2"/>
              <c:layout>
                <c:manualLayout>
                  <c:x val="0.22829457364341085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641-5544-8167-DB6FC08A4FA9}"/>
                </c:ext>
              </c:extLst>
            </c:dLbl>
            <c:dLbl>
              <c:idx val="3"/>
              <c:layout>
                <c:manualLayout>
                  <c:x val="0.23410852713178296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641-5544-8167-DB6FC08A4FA9}"/>
                </c:ext>
              </c:extLst>
            </c:dLbl>
            <c:dLbl>
              <c:idx val="4"/>
              <c:layout>
                <c:manualLayout>
                  <c:x val="0.17945736434108528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641-5544-8167-DB6FC08A4FA9}"/>
                </c:ext>
              </c:extLst>
            </c:dLbl>
            <c:dLbl>
              <c:idx val="5"/>
              <c:layout>
                <c:manualLayout>
                  <c:x val="0.11821705426356589"/>
                  <c:y val="1.103346818683339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4641-5544-8167-DB6FC08A4FA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Sheet1!$A$2:$F$2</c:f>
              <c:numCache>
                <c:formatCode>General</c:formatCode>
                <c:ptCount val="6"/>
                <c:pt idx="0">
                  <c:v>75</c:v>
                </c:pt>
                <c:pt idx="1">
                  <c:v>62</c:v>
                </c:pt>
                <c:pt idx="2">
                  <c:v>32</c:v>
                </c:pt>
                <c:pt idx="3">
                  <c:v>33</c:v>
                </c:pt>
                <c:pt idx="4">
                  <c:v>24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641-5544-8167-DB6FC08A4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39910464"/>
        <c:axId val="1"/>
      </c:barChart>
      <c:catAx>
        <c:axId val="4399104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399104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937212015067546E-2"/>
          <c:y val="9.6325165919986758E-2"/>
          <c:w val="0.97412557596986493"/>
          <c:h val="0.722183096784930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Post-'80s/90s</c:v>
                </c:pt>
              </c:strCache>
            </c:strRef>
          </c:tx>
          <c:spPr>
            <a:solidFill>
              <a:srgbClr val="00ACF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Within 1 day</c:v>
                </c:pt>
                <c:pt idx="1">
                  <c:v>2-3 days</c:v>
                </c:pt>
                <c:pt idx="2">
                  <c:v>4-6 days</c:v>
                </c:pt>
                <c:pt idx="3">
                  <c:v>1-2 weeks</c:v>
                </c:pt>
                <c:pt idx="4">
                  <c:v>2-4 weeks</c:v>
                </c:pt>
                <c:pt idx="5">
                  <c:v>1-2months</c:v>
                </c:pt>
                <c:pt idx="6">
                  <c:v>＞2months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27</c:v>
                </c:pt>
                <c:pt idx="2">
                  <c:v>25</c:v>
                </c:pt>
                <c:pt idx="3">
                  <c:v>15</c:v>
                </c:pt>
                <c:pt idx="4">
                  <c:v>5</c:v>
                </c:pt>
                <c:pt idx="5">
                  <c:v>13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2-B342-B640-40C024ED2D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Post-65s/70s</c:v>
                </c:pt>
              </c:strCache>
            </c:strRef>
          </c:tx>
          <c:spPr>
            <a:solidFill>
              <a:srgbClr val="001C2C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C82-B342-B640-40C024ED2D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Within 1 day</c:v>
                </c:pt>
                <c:pt idx="1">
                  <c:v>2-3 days</c:v>
                </c:pt>
                <c:pt idx="2">
                  <c:v>4-6 days</c:v>
                </c:pt>
                <c:pt idx="3">
                  <c:v>1-2 weeks</c:v>
                </c:pt>
                <c:pt idx="4">
                  <c:v>2-4 weeks</c:v>
                </c:pt>
                <c:pt idx="5">
                  <c:v>1-2months</c:v>
                </c:pt>
                <c:pt idx="6">
                  <c:v>＞2months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31</c:v>
                </c:pt>
                <c:pt idx="3">
                  <c:v>57</c:v>
                </c:pt>
                <c:pt idx="4">
                  <c:v>1</c:v>
                </c:pt>
                <c:pt idx="5">
                  <c:v>1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2-B342-B640-40C024ED2D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axId val="1762184255"/>
        <c:axId val="1762193823"/>
      </c:barChart>
      <c:catAx>
        <c:axId val="176218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762193823"/>
        <c:crosses val="autoZero"/>
        <c:auto val="1"/>
        <c:lblAlgn val="ctr"/>
        <c:lblOffset val="100"/>
        <c:noMultiLvlLbl val="0"/>
      </c:catAx>
      <c:valAx>
        <c:axId val="17621938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62184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2323152849502E-3"/>
          <c:y val="3.6887188503496524E-2"/>
          <c:w val="0.24733800888065055"/>
          <c:h val="6.52262804855876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armonyOS Sans SC" pitchFamily="2" charset="-122"/>
              <a:ea typeface="HarmonyOS Sans SC" pitchFamily="2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0.0277</cdr:x>
      <cdr:y>0.30055</cdr:y>
    </cdr:from>
    <cdr:to>
      <cdr:x>0.36078</cdr:x>
      <cdr:y>0.73531</cdr:y>
    </cdr:to>
    <cdr:grpSp>
      <cdr:nvGrpSpPr>
        <cdr:cNvPr id="11" name="组合 10">
          <a:extLst xmlns:a="http://schemas.openxmlformats.org/drawingml/2006/main">
            <a:ext uri="{FF2B5EF4-FFF2-40B4-BE49-F238E27FC236}">
              <a16:creationId xmlns:a16="http://schemas.microsoft.com/office/drawing/2014/main" id="{786DF571-B4F2-2A5C-B5CA-A5D5316D71DA}"/>
            </a:ext>
          </a:extLst>
        </cdr:cNvPr>
        <cdr:cNvGrpSpPr/>
      </cdr:nvGrpSpPr>
      <cdr:grpSpPr>
        <a:xfrm xmlns:a="http://schemas.openxmlformats.org/drawingml/2006/main">
          <a:off x="299113" y="1306341"/>
          <a:ext cx="3596701" cy="1889684"/>
          <a:chOff x="320937" y="1448940"/>
          <a:chExt cx="3596640" cy="1948912"/>
        </a:xfrm>
      </cdr:grpSpPr>
      <cdr:cxnSp macro="">
        <cdr:nvCxnSpPr>
          <cdr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9ADDAF8F-1C46-4E8E-AF4D-8449BE1A1626}"/>
              </a:ext>
            </a:extLst>
          </cdr:cNvPr>
          <cdr:cNvCxnSpPr/>
        </cdr:nvCxnSpPr>
        <cdr:spPr>
          <a:xfrm xmlns:a="http://schemas.openxmlformats.org/drawingml/2006/main" flipV="1">
            <a:off x="321454" y="1448940"/>
            <a:ext cx="0" cy="1948912"/>
          </a:xfrm>
          <a:prstGeom xmlns:a="http://schemas.openxmlformats.org/drawingml/2006/main" prst="line">
            <a:avLst/>
          </a:prstGeom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cxnSp macro="">
        <cdr:nvCxnSpPr>
          <cdr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0799F82A-7D21-78F2-E7A1-22FCA9B4C345}"/>
              </a:ext>
            </a:extLst>
          </cdr:cNvPr>
          <cdr:cNvCxnSpPr/>
        </cdr:nvCxnSpPr>
        <cdr:spPr>
          <a:xfrm xmlns:a="http://schemas.openxmlformats.org/drawingml/2006/main" flipV="1">
            <a:off x="3902590" y="1448940"/>
            <a:ext cx="0" cy="620629"/>
          </a:xfrm>
          <a:prstGeom xmlns:a="http://schemas.openxmlformats.org/drawingml/2006/main" prst="line">
            <a:avLst/>
          </a:prstGeom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cxnSp macro="">
        <cdr:nvCxnSpPr>
          <cdr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ED31EE3E-754A-97C7-D9AB-E17E39C3DC8D}"/>
              </a:ext>
            </a:extLst>
          </cdr:cNvPr>
          <cdr:cNvCxnSpPr/>
        </cdr:nvCxnSpPr>
        <cdr:spPr>
          <a:xfrm xmlns:a="http://schemas.openxmlformats.org/drawingml/2006/main">
            <a:off x="320937" y="1448940"/>
            <a:ext cx="3596640" cy="0"/>
          </a:xfrm>
          <a:prstGeom xmlns:a="http://schemas.openxmlformats.org/drawingml/2006/main" prst="line">
            <a:avLst/>
          </a:prstGeom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</cdr:grp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2DF69-8E8F-B691-C37F-300F1E332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7D8EDB-5FC8-CC08-CBD6-7956C7AAA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409D8-2648-9FFF-5B84-CD41BF00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92A175-AA83-25AF-E906-F15CA9E5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2A3F5-4321-D76F-557C-E2D0C16D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840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601C5-ADB4-D3A9-0788-4421FB65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821F9-6948-F30E-9762-1E9F66F1E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222B5C-091C-5315-A27F-F287FD05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73076-8252-AAFE-1E58-30EE5AED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6BE23-5E04-F872-41CE-464FB422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2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AA655-E13D-C5A9-33D7-E37ED137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A170A5-A638-309B-3AA6-D8942FA15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4513C-6AE9-55C5-1204-B531D5C0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176C3-4FDC-F798-D310-5A315A2B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D2FCD-F35F-E873-CE38-12B5048E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743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ED22A-E41E-CF44-0205-ED1B2689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01894-A209-869D-5828-4FB7434D8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359D9B-B93F-97A3-8609-EF9D6798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D4C083-2B71-5844-1623-5051D2CB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DBCFE-74F8-CFCD-5705-307BF6D4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0084D5-B762-D50F-D0B5-D101A6FE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27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40069-8310-4590-F096-EC737F3E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D2778-CF0F-DFB8-D3D9-BEFB2C65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7AB0EB-D8D3-B093-9551-30DD8762E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BE0D47-B79E-D267-1738-0811B3433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519A2D-E2CB-539F-BDFF-776ED5BB1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79BBE0-C347-E919-526A-C24D5CA6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CAD2F8-D8CB-CDB5-9108-62BCCEE4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F93134-9164-F2BD-EB4B-73FDF471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78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CCA7D-5100-62E5-8284-DFE352AC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B3A3FD-7AEA-A3BA-8D56-34476E6C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168BDF-F75B-6546-5F68-64446340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78624D-0BB3-F871-DE24-02B47DED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0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3DD38B-6227-82AE-C433-CCF73527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98B6A7-FB80-3962-9679-32C792F6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5470BD-F66A-B71B-6665-C7850310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166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CC73A-FB49-AB27-8035-4CAEA895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0C4F4-008B-4718-80B8-C54B39DE5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B0A9FE-1624-BBE7-6D64-CA8F5AC03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9FB247-AE86-0C2A-6FEF-A4C46C6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18A66-467F-51A9-FA55-2103B689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74CF13-A30F-83FA-82FD-0D68EDE7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154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CF874-9B1A-F326-964E-88451C63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9F7872-9603-8DC1-4BE9-0D29C95FD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A426DB-AA73-1F32-9772-70AECB624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E7A7B-FFA4-2946-EDC4-04C7086F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BF2AD-971A-776B-43A4-35D5B19C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3E4170-3941-5D14-F317-07F3EA0D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958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5DB32-7477-125B-F028-C94ACE6D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85E7BD-27D8-4847-82BD-C858D9F3C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EC0B9-2DE3-0C04-3CCE-74C948DD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2D380-2848-36B0-9C4F-C28F1408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EDB76-CCC9-0D74-1F4C-AE326F9B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522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A635F0-35A1-C727-6047-F74ACC32F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658CC8-97FA-0207-630B-B4A554150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40DD8-6328-C17A-CBCC-1ACA6841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4E1086-2E68-686F-83FA-CCBAC636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F3CD6-CB07-2F21-BFCA-E3E563B9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093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3DC806-A345-2690-4EC8-AC75478C20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042027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CC958C-B993-49CE-89E5-10ED74EF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989932-8C0F-6B8D-3BC9-935E2E053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D9267-37C9-E48C-9561-15EB41CD5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E4B37-F07E-664A-8853-83904AA63796}" type="datetimeFigureOut">
              <a:rPr kumimoji="1" lang="zh-CN" altLang="en-US" smtClean="0"/>
              <a:t>2024/11/15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377D3-F9B9-C7F2-8C0C-A02946CC9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29734-CCB5-3678-9BFD-92A15C953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38749-2C0C-A747-8110-2FAFE953AF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64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oleObject" Target="../embeddings/oleObject2.bin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chart" Target="../charts/chart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2.emf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oleObject" Target="../embeddings/oleObject3.bin"/><Relationship Id="rId3" Type="http://schemas.openxmlformats.org/officeDocument/2006/relationships/tags" Target="../tags/tag21.xml"/><Relationship Id="rId21" Type="http://schemas.openxmlformats.org/officeDocument/2006/relationships/chart" Target="../charts/chart3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chart" Target="../charts/chart2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2.emf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chart" Target="../charts/chart7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image" Target="../media/image2.emf"/><Relationship Id="rId2" Type="http://schemas.openxmlformats.org/officeDocument/2006/relationships/tags" Target="../tags/tag37.xml"/><Relationship Id="rId16" Type="http://schemas.openxmlformats.org/officeDocument/2006/relationships/oleObject" Target="../embeddings/oleObject5.bin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oleObject" Target="../embeddings/oleObject6.bin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42" Type="http://schemas.openxmlformats.org/officeDocument/2006/relationships/chart" Target="../charts/chart9.xml"/><Relationship Id="rId47" Type="http://schemas.openxmlformats.org/officeDocument/2006/relationships/image" Target="../media/image3.png"/><Relationship Id="rId50" Type="http://schemas.openxmlformats.org/officeDocument/2006/relationships/image" Target="../media/image6.png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9" Type="http://schemas.openxmlformats.org/officeDocument/2006/relationships/tags" Target="../tags/tag78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image" Target="../media/image2.emf"/><Relationship Id="rId45" Type="http://schemas.openxmlformats.org/officeDocument/2006/relationships/chart" Target="../charts/chart12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image" Target="../media/image5.png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4" Type="http://schemas.openxmlformats.org/officeDocument/2006/relationships/chart" Target="../charts/chart11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chart" Target="../charts/chart10.xml"/><Relationship Id="rId48" Type="http://schemas.openxmlformats.org/officeDocument/2006/relationships/image" Target="../media/image4.png"/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slideLayout" Target="../slideLayouts/slideLayout1.xml"/><Relationship Id="rId46" Type="http://schemas.openxmlformats.org/officeDocument/2006/relationships/chart" Target="../charts/chart13.xml"/><Relationship Id="rId20" Type="http://schemas.openxmlformats.org/officeDocument/2006/relationships/tags" Target="../tags/tag69.xml"/><Relationship Id="rId41" Type="http://schemas.openxmlformats.org/officeDocument/2006/relationships/chart" Target="../charts/chart8.xml"/><Relationship Id="rId1" Type="http://schemas.openxmlformats.org/officeDocument/2006/relationships/tags" Target="../tags/tag50.xml"/><Relationship Id="rId6" Type="http://schemas.openxmlformats.org/officeDocument/2006/relationships/tags" Target="../tags/tag5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tags" Target="../tags/tag89.xml"/><Relationship Id="rId7" Type="http://schemas.openxmlformats.org/officeDocument/2006/relationships/chart" Target="../charts/chart14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92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10" Type="http://schemas.openxmlformats.org/officeDocument/2006/relationships/chart" Target="../charts/chart16.xml"/><Relationship Id="rId4" Type="http://schemas.openxmlformats.org/officeDocument/2006/relationships/tags" Target="../tags/tag93.xml"/><Relationship Id="rId9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openxmlformats.org/officeDocument/2006/relationships/tags" Target="../tags/tag98.xml"/><Relationship Id="rId7" Type="http://schemas.openxmlformats.org/officeDocument/2006/relationships/image" Target="../media/image2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oleObject" Target="../embeddings/oleObject9.bin"/><Relationship Id="rId5" Type="http://schemas.openxmlformats.org/officeDocument/2006/relationships/slideLayout" Target="../slideLayouts/slideLayout1.xml"/><Relationship Id="rId10" Type="http://schemas.openxmlformats.org/officeDocument/2006/relationships/chart" Target="../charts/chart19.xml"/><Relationship Id="rId4" Type="http://schemas.openxmlformats.org/officeDocument/2006/relationships/tags" Target="../tags/tag99.xml"/><Relationship Id="rId9" Type="http://schemas.openxmlformats.org/officeDocument/2006/relationships/chart" Target="../charts/char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oleObject" Target="../embeddings/oleObject10.bin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chart" Target="../charts/chart20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chart" Target="../charts/chart22.xml"/><Relationship Id="rId2" Type="http://schemas.openxmlformats.org/officeDocument/2006/relationships/tags" Target="../tags/tag112.xml"/><Relationship Id="rId16" Type="http://schemas.openxmlformats.org/officeDocument/2006/relationships/chart" Target="../charts/chart21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5" Type="http://schemas.openxmlformats.org/officeDocument/2006/relationships/image" Target="../media/image2.emf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Relationship Id="rId5" Type="http://schemas.openxmlformats.org/officeDocument/2006/relationships/chart" Target="../charts/chart23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64569BB-EC93-ABF6-FC03-5D2F869F1C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270639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7772400" imgH="10058400" progId="TCLayout.ActiveDocument.1">
                  <p:embed/>
                </p:oleObj>
              </mc:Choice>
              <mc:Fallback>
                <p:oleObj name="think-cell 幻灯片" r:id="rId1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F63D057-B61B-3CC4-57CA-3873564542E4}"/>
              </a:ext>
            </a:extLst>
          </p:cNvPr>
          <p:cNvSpPr txBox="1"/>
          <p:nvPr/>
        </p:nvSpPr>
        <p:spPr>
          <a:xfrm>
            <a:off x="508635" y="262890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China is winning half of the luxury world.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82EB17-2957-A06D-54A6-743AE6130841}"/>
              </a:ext>
            </a:extLst>
          </p:cNvPr>
          <p:cNvSpPr txBox="1"/>
          <p:nvPr/>
        </p:nvSpPr>
        <p:spPr>
          <a:xfrm>
            <a:off x="508635" y="937260"/>
            <a:ext cx="3666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Global personal luxury goods' market evolution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RMB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 billion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7" name="Chart 3">
            <a:extLst>
              <a:ext uri="{FF2B5EF4-FFF2-40B4-BE49-F238E27FC236}">
                <a16:creationId xmlns:a16="http://schemas.microsoft.com/office/drawing/2014/main" id="{1854F061-2141-C979-6E7B-2176A840B3A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83763885"/>
              </p:ext>
            </p:extLst>
          </p:nvPr>
        </p:nvGraphicFramePr>
        <p:xfrm>
          <a:off x="1244600" y="1725613"/>
          <a:ext cx="4435475" cy="38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5789692-5EFE-864A-8816-6ABC159EBBC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679575" y="5526088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20F4BBC-81D8-467F-9348-10405E7D7B42}" type="datetime'''''''''''''''''''2''''''0''12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1" name="文本占位符 2">
            <a:extLst>
              <a:ext uri="{FF2B5EF4-FFF2-40B4-BE49-F238E27FC236}">
                <a16:creationId xmlns:a16="http://schemas.microsoft.com/office/drawing/2014/main" id="{557BFF85-095E-4F2D-4942-02EEA11B8E8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708275" y="4856163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054EB3-B637-4641-8B21-E1A5DAB5704C}" type="datetime'''''''''''''''''''''''''''''''''''''''''''7''''''7''0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770</a:t>
            </a:fld>
            <a:br>
              <a:rPr kumimoji="1" lang="en-US" altLang="en-US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r>
              <a:rPr kumimoji="1" lang="en-US" altLang="zh-CN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32%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20559BB-F0A7-EE5E-A162-F684A14ED32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2747963" y="5526088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2A10F5-32B2-487E-9528-AB20FAAD428F}" type="datetime'''''''''2''''''''''0''''''''''''1''''''''''''''''8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2" name="文本占位符 2">
            <a:extLst>
              <a:ext uri="{FF2B5EF4-FFF2-40B4-BE49-F238E27FC236}">
                <a16:creationId xmlns:a16="http://schemas.microsoft.com/office/drawing/2014/main" id="{3352864D-E3CB-7B93-25EE-F4EC2A70625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3775075" y="4767263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90EA21-A3B5-4C9F-8612-2B36394135EE}" type="datetime'''''''''''''''''''92''''''1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921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2A5858C0-4F5A-41CC-9B35-7FAB0362F788}" type="datetime'''3''5''''''''''''''%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35%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3030C908-3E35-D0EF-8F81-42D002986B7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3814763" y="5526088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F88CC08-56B4-4122-9B20-05D18EFDA061}" type="datetime'''''''''''''''''''''''''''2''''0''''''''''''2''''''''0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3" name="文本占位符 2">
            <a:extLst>
              <a:ext uri="{FF2B5EF4-FFF2-40B4-BE49-F238E27FC236}">
                <a16:creationId xmlns:a16="http://schemas.microsoft.com/office/drawing/2014/main" id="{D90C2622-26FF-FEB0-3547-533A2F1BCAF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4843463" y="4587875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908A45D-D6FE-4061-9A61-F5446BF7CA94}" type="datetime'''1'''',2''''''''''2''''''''''''7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1,227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D8F5092E-034C-43A9-B080-20DE9A1758C9}" type="datetime'''''''39''''''''''''''''''''''''''''%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39%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0" name="文本占位符 2">
            <a:extLst>
              <a:ext uri="{FF2B5EF4-FFF2-40B4-BE49-F238E27FC236}">
                <a16:creationId xmlns:a16="http://schemas.microsoft.com/office/drawing/2014/main" id="{39202EEE-8795-B7C1-CBB4-C28DCD6E41E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639888" y="5113338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B24E941-27E4-4448-99DC-D4BAD9AA5972}" type="datetime'''''''''''''''''''3''3''''4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334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85516A6B-1BAD-4D14-B3F4-B6F7F5994876}" type="datetime'''''''''''''''''''1''''9''''''''%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19%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5A690FC0-DA36-A0EC-D7A7-1A3F5CD7E846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87388" y="3984625"/>
            <a:ext cx="7540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320644D-DE02-41CA-A40E-8AB0884BDA45}" type="datetime'Ot''h''er''&#10;worl''awide''&#10;co''''''ns''''''u''''''''m''er''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Other
worlawide
consumers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5D35F906-5C52-E79F-FA21-3D3FAC8C47F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87388" y="5113338"/>
            <a:ext cx="7540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448DBB3-F095-4EDE-98E3-59DA88B72464}" type="datetime'''Chi''''n''es''e''&#10;''''''cons''u''m''er''s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Chinese
consumers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3A3B3D3-B192-E1A9-7CAC-042CDAB2711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646238" y="3192463"/>
            <a:ext cx="430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5A27DDA-EDB2-4192-A896-603395BEF3A5}" type="datetime'''''''1'''''''''''',''7''''''''7''''''''''9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1,779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9926E232-F764-ED89-7F1E-5441B80E9FA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2714625" y="2454275"/>
            <a:ext cx="430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9AD148E-2E0F-480F-8C26-74DDF62FBF82}" type="datetime'2'''',40''''''''''''''''''''''''''''''''''''''''''''''''6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2,406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F1BE88D4-A3B2-0AF0-E448-24AF790CFF43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781425" y="2214563"/>
            <a:ext cx="430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693FABA-65C4-4895-B596-07E233CF5559}" type="datetime'''2'''''',''''6''''0''''''''''''''''''''''''''''''''''''9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2,609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6314AC17-A51D-779E-006E-B870121AF260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849813" y="1617663"/>
            <a:ext cx="430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56D7CB-C94E-43DE-A2D5-95D121C8A3FC}" type="datetime'''''''''3'''''''''''',''''''''''1''''''1''''''''''''''''7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3,117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5E518616-6F1A-832B-F763-85C92DD3CC3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883150" y="5526088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70CDFB-3672-4966-A3EB-01D698DDA014}" type="datetime'''''''''''''''''''2''''''''0''''2''''''''5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DF28EAB5-CAB2-9327-688B-3D6B2AEBD027}"/>
              </a:ext>
            </a:extLst>
          </p:cNvPr>
          <p:cNvCxnSpPr>
            <a:cxnSpLocks/>
          </p:cNvCxnSpPr>
          <p:nvPr/>
        </p:nvCxnSpPr>
        <p:spPr>
          <a:xfrm>
            <a:off x="612883" y="1469177"/>
            <a:ext cx="47876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椭圆 113">
            <a:extLst>
              <a:ext uri="{FF2B5EF4-FFF2-40B4-BE49-F238E27FC236}">
                <a16:creationId xmlns:a16="http://schemas.microsoft.com/office/drawing/2014/main" id="{BFDE77B1-11E1-1DF6-8A63-C99D85BF4A9E}"/>
              </a:ext>
            </a:extLst>
          </p:cNvPr>
          <p:cNvSpPr/>
          <p:nvPr/>
        </p:nvSpPr>
        <p:spPr>
          <a:xfrm>
            <a:off x="6219109" y="2600192"/>
            <a:ext cx="619829" cy="619829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6D4D6AC-C65B-957D-15E6-C7AA5D7D657B}"/>
              </a:ext>
            </a:extLst>
          </p:cNvPr>
          <p:cNvSpPr/>
          <p:nvPr/>
        </p:nvSpPr>
        <p:spPr>
          <a:xfrm>
            <a:off x="6007212" y="4206687"/>
            <a:ext cx="1090964" cy="1090964"/>
          </a:xfrm>
          <a:prstGeom prst="ellipse">
            <a:avLst/>
          </a:prstGeom>
          <a:solidFill>
            <a:srgbClr val="001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677852F-7D13-E9B7-3971-4F099CF568EA}"/>
              </a:ext>
            </a:extLst>
          </p:cNvPr>
          <p:cNvSpPr txBox="1"/>
          <p:nvPr/>
        </p:nvSpPr>
        <p:spPr>
          <a:xfrm>
            <a:off x="6219109" y="4522480"/>
            <a:ext cx="667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6%</a:t>
            </a:r>
            <a:endParaRPr kumimoji="1" lang="zh-CN" altLang="en-US" sz="28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F787469-2707-EA05-4570-15FCB4CE8A6F}"/>
              </a:ext>
            </a:extLst>
          </p:cNvPr>
          <p:cNvSpPr txBox="1"/>
          <p:nvPr/>
        </p:nvSpPr>
        <p:spPr>
          <a:xfrm>
            <a:off x="6265168" y="2710051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2%</a:t>
            </a:r>
            <a:endParaRPr kumimoji="1" lang="zh-CN" altLang="en-US" sz="20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5334556E-DCD8-DE0B-80DE-D33700949624}"/>
              </a:ext>
            </a:extLst>
          </p:cNvPr>
          <p:cNvCxnSpPr>
            <a:cxnSpLocks/>
          </p:cNvCxnSpPr>
          <p:nvPr/>
        </p:nvCxnSpPr>
        <p:spPr>
          <a:xfrm>
            <a:off x="7735510" y="1004306"/>
            <a:ext cx="0" cy="462224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3108179-0CC4-1662-F846-6A540BC2E0E9}"/>
              </a:ext>
            </a:extLst>
          </p:cNvPr>
          <p:cNvSpPr txBox="1"/>
          <p:nvPr/>
        </p:nvSpPr>
        <p:spPr>
          <a:xfrm>
            <a:off x="8093752" y="1808797"/>
            <a:ext cx="188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China luxury is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45F3B384-63DD-C7E3-B2EF-DAA8EBA14CDF}"/>
              </a:ext>
            </a:extLst>
          </p:cNvPr>
          <p:cNvSpPr txBox="1"/>
          <p:nvPr/>
        </p:nvSpPr>
        <p:spPr>
          <a:xfrm>
            <a:off x="8093752" y="2199309"/>
            <a:ext cx="33025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770 </a:t>
            </a:r>
            <a:r>
              <a:rPr kumimoji="1" lang="en-US" altLang="zh-CN" sz="32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billion</a:t>
            </a:r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 </a:t>
            </a:r>
            <a:r>
              <a:rPr kumimoji="1" lang="en-US" altLang="zh-CN" sz="2400" dirty="0">
                <a:latin typeface="HarmonyOS Sans SC Medium" pitchFamily="2" charset="-122"/>
                <a:ea typeface="HarmonyOS Sans SC Medium" pitchFamily="2" charset="-122"/>
              </a:rPr>
              <a:t>RMB</a:t>
            </a:r>
            <a:endParaRPr kumimoji="1" lang="zh-CN" altLang="en-US" sz="2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3B097F9-CBB7-5366-97C7-EAAB4D1F57CF}"/>
              </a:ext>
            </a:extLst>
          </p:cNvPr>
          <p:cNvSpPr txBox="1"/>
          <p:nvPr/>
        </p:nvSpPr>
        <p:spPr>
          <a:xfrm>
            <a:off x="8093752" y="2897597"/>
            <a:ext cx="3025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today and will double to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0F4C632F-C688-2EB8-DEB2-8F1B81CA513A}"/>
              </a:ext>
            </a:extLst>
          </p:cNvPr>
          <p:cNvSpPr txBox="1"/>
          <p:nvPr/>
        </p:nvSpPr>
        <p:spPr>
          <a:xfrm>
            <a:off x="8093752" y="3288109"/>
            <a:ext cx="3239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1.2 </a:t>
            </a:r>
            <a:r>
              <a:rPr kumimoji="1" lang="en-US" altLang="zh-CN" sz="32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trillion</a:t>
            </a:r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 </a:t>
            </a:r>
            <a:r>
              <a:rPr kumimoji="1" lang="en-US" altLang="zh-CN" sz="2400" dirty="0">
                <a:latin typeface="HarmonyOS Sans SC Medium" pitchFamily="2" charset="-122"/>
                <a:ea typeface="HarmonyOS Sans SC Medium" pitchFamily="2" charset="-122"/>
              </a:rPr>
              <a:t>RMB</a:t>
            </a:r>
            <a:endParaRPr kumimoji="1" lang="zh-CN" altLang="en-US" sz="2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5D70CF6-64B9-FB8B-AEEB-E8456F778C67}"/>
              </a:ext>
            </a:extLst>
          </p:cNvPr>
          <p:cNvSpPr txBox="1"/>
          <p:nvPr/>
        </p:nvSpPr>
        <p:spPr>
          <a:xfrm>
            <a:off x="8119667" y="3986397"/>
            <a:ext cx="32896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2025.delveing </a:t>
            </a:r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65%</a:t>
            </a:r>
            <a:r>
              <a:rPr kumimoji="1" lang="en-US" altLang="zh-CN" sz="2000" b="1" dirty="0">
                <a:latin typeface="HarmonyOS Sans SC Black" pitchFamily="2" charset="-122"/>
                <a:ea typeface="HarmonyOS Sans SC Black" pitchFamily="2" charset="-122"/>
              </a:rPr>
              <a:t> </a:t>
            </a:r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of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4F8CAC2-F940-8917-B04A-CFAE675A5282}"/>
              </a:ext>
            </a:extLst>
          </p:cNvPr>
          <p:cNvSpPr txBox="1"/>
          <p:nvPr/>
        </p:nvSpPr>
        <p:spPr>
          <a:xfrm>
            <a:off x="8119667" y="4684683"/>
            <a:ext cx="2895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2018-25 global growth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86E1FC42-88BE-BE36-982E-10C0B3058613}"/>
              </a:ext>
            </a:extLst>
          </p:cNvPr>
          <p:cNvSpPr txBox="1"/>
          <p:nvPr/>
        </p:nvSpPr>
        <p:spPr>
          <a:xfrm>
            <a:off x="5677138" y="885939"/>
            <a:ext cx="16562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2020-25</a:t>
            </a:r>
            <a:r>
              <a:rPr kumimoji="1" lang="en-US" altLang="zh-CN" dirty="0"/>
              <a:t> 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compound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annual growth rate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30" name="直线连接符 129">
            <a:extLst>
              <a:ext uri="{FF2B5EF4-FFF2-40B4-BE49-F238E27FC236}">
                <a16:creationId xmlns:a16="http://schemas.microsoft.com/office/drawing/2014/main" id="{43CBBD8F-81A4-C1C6-AD19-B2404423416F}"/>
              </a:ext>
            </a:extLst>
          </p:cNvPr>
          <p:cNvCxnSpPr>
            <a:cxnSpLocks/>
          </p:cNvCxnSpPr>
          <p:nvPr/>
        </p:nvCxnSpPr>
        <p:spPr>
          <a:xfrm>
            <a:off x="5746100" y="1476746"/>
            <a:ext cx="15183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814B932-CBE7-6428-1AB8-A69405387CD7}"/>
              </a:ext>
            </a:extLst>
          </p:cNvPr>
          <p:cNvSpPr txBox="1"/>
          <p:nvPr/>
        </p:nvSpPr>
        <p:spPr>
          <a:xfrm>
            <a:off x="612884" y="5809389"/>
            <a:ext cx="3754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b="0" baseline="30000" dirty="0"/>
              <a:t>1</a:t>
            </a:r>
            <a:r>
              <a:rPr lang="en-US" altLang="zh-CN" sz="1000" b="0" dirty="0"/>
              <a:t>Ready to wear, accessories, watches and jewelry, and beauty.</a:t>
            </a:r>
            <a:endParaRPr lang="zh-CN" altLang="en-US" sz="1000" b="0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855EBFB-7B0A-12EA-B2CB-9A28A720956D}"/>
              </a:ext>
            </a:extLst>
          </p:cNvPr>
          <p:cNvSpPr txBox="1"/>
          <p:nvPr/>
        </p:nvSpPr>
        <p:spPr>
          <a:xfrm>
            <a:off x="612884" y="6005430"/>
            <a:ext cx="2361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b="0" baseline="30000" dirty="0"/>
              <a:t>2</a:t>
            </a:r>
            <a:r>
              <a:rPr lang="en-US" altLang="zh-CN" sz="1000" b="0" dirty="0"/>
              <a:t>Fixed exchange rate of €1 = 7.3 RMB.</a:t>
            </a:r>
            <a:endParaRPr lang="zh-CN" altLang="en-US" sz="1000" b="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A0F5DA0-A7BD-9589-31D2-4690624E3DF6}"/>
              </a:ext>
            </a:extLst>
          </p:cNvPr>
          <p:cNvSpPr txBox="1"/>
          <p:nvPr/>
        </p:nvSpPr>
        <p:spPr>
          <a:xfrm>
            <a:off x="612884" y="6201471"/>
            <a:ext cx="2457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b="0" baseline="30000" dirty="0"/>
              <a:t>3</a:t>
            </a:r>
            <a:r>
              <a:rPr lang="en-US" altLang="zh-CN" sz="1000" b="0" dirty="0"/>
              <a:t>Both domestic and overseas spending.</a:t>
            </a:r>
            <a:endParaRPr lang="zh-CN" altLang="en-US" sz="1000" b="0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31A65C8-6458-06FC-A7DC-2A60A04C051D}"/>
              </a:ext>
            </a:extLst>
          </p:cNvPr>
          <p:cNvSpPr txBox="1"/>
          <p:nvPr/>
        </p:nvSpPr>
        <p:spPr>
          <a:xfrm>
            <a:off x="612883" y="6397512"/>
            <a:ext cx="3794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2019; China Luxury Report 2017</a:t>
            </a:r>
            <a:endParaRPr lang="zh-CN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52546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187A6-652E-CE90-3CED-21314F2A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8180AC0-39E3-D374-515F-EFACBBE555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32022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7772400" imgH="10058400" progId="TCLayout.ActiveDocument.1">
                  <p:embed/>
                </p:oleObj>
              </mc:Choice>
              <mc:Fallback>
                <p:oleObj name="think-cell 幻灯片" r:id="rId1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4569BB-EC93-ABF6-FC03-5D2F869F1C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1F0576A-BB88-CFA6-6EEE-3FB58EA7E76E}"/>
              </a:ext>
            </a:extLst>
          </p:cNvPr>
          <p:cNvSpPr txBox="1"/>
          <p:nvPr/>
        </p:nvSpPr>
        <p:spPr>
          <a:xfrm>
            <a:off x="508635" y="262890"/>
            <a:ext cx="11149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Post-80s consumers are still the largest luxury spending group in terms of both consumer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numbers and total spending.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99C20F-6316-8286-1DF8-A3F1E85E08A3}"/>
              </a:ext>
            </a:extLst>
          </p:cNvPr>
          <p:cNvSpPr txBox="1"/>
          <p:nvPr/>
        </p:nvSpPr>
        <p:spPr>
          <a:xfrm>
            <a:off x="508635" y="1112249"/>
            <a:ext cx="3238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Total no. luxury consumers by generation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Million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5E84167-E85E-08CA-8905-6DA336E6E299}"/>
              </a:ext>
            </a:extLst>
          </p:cNvPr>
          <p:cNvSpPr txBox="1"/>
          <p:nvPr/>
        </p:nvSpPr>
        <p:spPr>
          <a:xfrm>
            <a:off x="507999" y="6253163"/>
            <a:ext cx="3794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2019; China Luxury Report 2017</a:t>
            </a:r>
            <a:endParaRPr lang="zh-CN" altLang="en-US" sz="1000" b="0" dirty="0"/>
          </a:p>
        </p:txBody>
      </p: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E21BC8CE-5C18-C693-4C01-734828F95BEE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5285299"/>
              </p:ext>
            </p:extLst>
          </p:nvPr>
        </p:nvGraphicFramePr>
        <p:xfrm>
          <a:off x="998538" y="1625600"/>
          <a:ext cx="9899650" cy="191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79075C4D-6E0D-3E28-426E-957E30ECF9E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5618163" y="2501900"/>
            <a:ext cx="7810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771B96E-A60E-4E57-98EE-4C705C4F1C4D}" type="datetime'''1''''0,''''''''''''''''''''''2''''''''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10,2</a:t>
            </a:fld>
            <a:r>
              <a:rPr kumimoji="1" lang="zh-CN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86E0D262-F518-4682-86E3-3A0784E8BB9B}" type="datetime'''''''43''''''''''''''''''%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43%</a:t>
            </a:fld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F37E07D5-AF98-E6F3-2401-8F2064FECEA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60588" y="2501900"/>
            <a:ext cx="6937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AD38983-4447-47D1-B6E3-3E97E93490D1}" type="datetime'''''''''7'''''''''''''',''''0''''''''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7,0</a:t>
            </a:fld>
            <a:r>
              <a:rPr kumimoji="1" lang="zh-CN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55F636F7-0DD3-4770-8A61-94CE9C9A8070}" type="datetime'''2''''''''''''''''''''''''''''''''9''''''''''%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29%</a:t>
            </a:fld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03F022EB-BABD-3C4F-659F-7BC833B3C37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30238" y="2501900"/>
            <a:ext cx="3492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7542C65-CBA4-4791-A380-5693F3353C47}" type="datetime'''''''''''20''''''''''''''''''''''''''''1''''''''''''''8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9E227D4B-7C90-D9E2-08EE-50716567ECC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104313" y="2501900"/>
            <a:ext cx="6937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0C8DBA-92EA-49AE-B998-82FF0CE8D631}" type="datetime'''''6'''''''',7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6,7</a:t>
            </a:fld>
            <a:r>
              <a:rPr kumimoji="1" lang="zh-CN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CF4C7721-66B3-4062-8DF2-9664D1BEAD8C}" type="datetime'''''''''''2''8''''''%''''''''''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28%</a:t>
            </a:fld>
            <a:r>
              <a:rPr kumimoji="1" lang="en-US" altLang="zh-CN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A0FEF253-6D5B-E5C2-48E6-DC5EF4C9AAF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673725" y="1809750"/>
            <a:ext cx="671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96ECF56-72F5-4D8B-B7DE-223FD8D96D81}" type="datetime'''''''P''o''''''s''''''''''t-’80''''''''''s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Post-’80s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51804F72-6E84-CD5A-C1AB-0C146CF9D89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043113" y="1809750"/>
            <a:ext cx="9286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B8446D-91DD-4289-A096-F39766CDDFBC}" type="datetime'''''P''os''''''''''''''''''''''t-''''65''s''/''7''0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Post-65s/70s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EFB770B1-CD41-5853-104C-0696C4A3FD4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0841038" y="25019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53F4EC1-2B71-40E1-986A-E47EBB02186E}" type="datetime'''''''''''2''''''''''3,''''''''''9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23,9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82491557-BB7E-EE9C-CB63-FE5021095B7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5425" y="1809750"/>
            <a:ext cx="671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3F40FDA-CE6F-461E-948F-CB6290C179AE}" type="datetime'''Pos''t''''''-''''''''''''''''’9''''0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Post-’90s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41D8CA4-4F80-CC45-32B2-6A24B3F57EFD}"/>
              </a:ext>
            </a:extLst>
          </p:cNvPr>
          <p:cNvSpPr txBox="1"/>
          <p:nvPr/>
        </p:nvSpPr>
        <p:spPr>
          <a:xfrm>
            <a:off x="507999" y="3460750"/>
            <a:ext cx="2996333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Annual luxury spending by generation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Billion RMB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4" name="Chart 3">
            <a:extLst>
              <a:ext uri="{FF2B5EF4-FFF2-40B4-BE49-F238E27FC236}">
                <a16:creationId xmlns:a16="http://schemas.microsoft.com/office/drawing/2014/main" id="{BB9C31C6-1545-A10C-C4E0-B51DF661E2B2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918508779"/>
              </p:ext>
            </p:extLst>
          </p:nvPr>
        </p:nvGraphicFramePr>
        <p:xfrm>
          <a:off x="998538" y="3973513"/>
          <a:ext cx="9899650" cy="184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04" name="文本占位符 2">
            <a:extLst>
              <a:ext uri="{FF2B5EF4-FFF2-40B4-BE49-F238E27FC236}">
                <a16:creationId xmlns:a16="http://schemas.microsoft.com/office/drawing/2014/main" id="{52DD2BBD-439C-9267-A68A-4F101CAD2185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9369424" y="4814888"/>
            <a:ext cx="744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5AC845-81CE-44C9-BA11-F245C775DA4E}" type="datetime'''''''''''''''''''1''''''''''''''''''''''7''0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170</a:t>
            </a:fld>
            <a:r>
              <a:rPr kumimoji="1" lang="en-US" altLang="en-US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r>
              <a:rPr kumimoji="1" lang="en-US" altLang="zh-CN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23%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5" name="文本占位符 2">
            <a:extLst>
              <a:ext uri="{FF2B5EF4-FFF2-40B4-BE49-F238E27FC236}">
                <a16:creationId xmlns:a16="http://schemas.microsoft.com/office/drawing/2014/main" id="{E816E0D1-A88A-921A-B924-6F7420E527C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5670550" y="4814888"/>
            <a:ext cx="744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6FE5BD-9755-4B13-BDB1-65B227D2F80D}" type="datetime'4''''1''''''''''''''''''''''''''''''''''''''''''''''5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415</a:t>
            </a:fld>
            <a:r>
              <a:rPr kumimoji="1" lang="en-US" altLang="en-US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r>
              <a:rPr kumimoji="1" lang="en-US" altLang="zh-CN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56%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6" name="文本占位符 2">
            <a:extLst>
              <a:ext uri="{FF2B5EF4-FFF2-40B4-BE49-F238E27FC236}">
                <a16:creationId xmlns:a16="http://schemas.microsoft.com/office/drawing/2014/main" id="{FE4632CE-D02C-FF3A-65E1-0F76A671ADF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878012" y="4814888"/>
            <a:ext cx="7445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71D7B2B-27A7-46DC-8767-02812D7F1BD6}" type="datetime'''''''18''''''''''''''''''''''''''''''''''5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185</a:t>
            </a:fld>
            <a:r>
              <a:rPr kumimoji="1" lang="en-US" altLang="en-US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r>
              <a:rPr kumimoji="1" lang="en-US" altLang="zh-CN" sz="1200" dirty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22%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6" name="文本占位符 2">
            <a:extLst>
              <a:ext uri="{FF2B5EF4-FFF2-40B4-BE49-F238E27FC236}">
                <a16:creationId xmlns:a16="http://schemas.microsoft.com/office/drawing/2014/main" id="{A823C926-7FF5-FA20-3B65-CCE98EA8EC3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630238" y="4814888"/>
            <a:ext cx="3492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8774F29-4338-4E36-A83F-EC40159B1DAA}" type="datetime'''2''''''''''''''''''''0''18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555C7977-2E9D-1DFC-EBE2-00A3B307E150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0841038" y="4814888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F788CB9-0DC2-49FD-B301-2EA3194BCFA5}" type="datetime'''''''''''''7''''7''''''''''''''''''''0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770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9E87444F-E6F2-7827-11A5-EF70ACE12C83}"/>
              </a:ext>
            </a:extLst>
          </p:cNvPr>
          <p:cNvSpPr txBox="1"/>
          <p:nvPr/>
        </p:nvSpPr>
        <p:spPr>
          <a:xfrm>
            <a:off x="507999" y="6006942"/>
            <a:ext cx="36134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Note: </a:t>
            </a:r>
            <a:r>
              <a:rPr lang="en-US" altLang="zh-CN" sz="1000" b="0" dirty="0"/>
              <a:t>Figures may not sum to 100%</a:t>
            </a:r>
            <a:r>
              <a:rPr lang="zh-CN" altLang="en-US" sz="1000" b="0" dirty="0"/>
              <a:t>， </a:t>
            </a:r>
            <a:r>
              <a:rPr lang="en-US" altLang="zh-CN" sz="1000" b="0" dirty="0"/>
              <a:t>because of rounding.</a:t>
            </a:r>
            <a:endParaRPr lang="zh-CN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97267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36B4-5DEA-DBFF-A862-0CA4D871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24065D5-5940-7A64-2F5A-402A0E450D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1294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180AC0-39E3-D374-515F-EFACBBE555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6BDD935B-2189-E3BA-DF4D-0D51A29B5503}"/>
              </a:ext>
            </a:extLst>
          </p:cNvPr>
          <p:cNvSpPr txBox="1"/>
          <p:nvPr/>
        </p:nvSpPr>
        <p:spPr>
          <a:xfrm>
            <a:off x="475792" y="6217237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FF5BD1-5339-461A-C01C-56110B9F698A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Young consumers are new to luxury: Half of post-’90s consumers only started last year.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8" name="终止符 11">
            <a:extLst>
              <a:ext uri="{FF2B5EF4-FFF2-40B4-BE49-F238E27FC236}">
                <a16:creationId xmlns:a16="http://schemas.microsoft.com/office/drawing/2014/main" id="{92A12DBF-8A3E-9AC8-791E-79F53FB5C1AB}"/>
              </a:ext>
            </a:extLst>
          </p:cNvPr>
          <p:cNvSpPr/>
          <p:nvPr/>
        </p:nvSpPr>
        <p:spPr>
          <a:xfrm>
            <a:off x="475792" y="983992"/>
            <a:ext cx="2308504" cy="154112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162"/>
              <a:gd name="connsiteY0" fmla="*/ 0 h 21600"/>
              <a:gd name="connsiteX1" fmla="*/ 18125 w 20162"/>
              <a:gd name="connsiteY1" fmla="*/ 0 h 21600"/>
              <a:gd name="connsiteX2" fmla="*/ 20162 w 20162"/>
              <a:gd name="connsiteY2" fmla="*/ 10800 h 21600"/>
              <a:gd name="connsiteX3" fmla="*/ 18125 w 20162"/>
              <a:gd name="connsiteY3" fmla="*/ 21600 h 21600"/>
              <a:gd name="connsiteX4" fmla="*/ 3475 w 20162"/>
              <a:gd name="connsiteY4" fmla="*/ 21600 h 21600"/>
              <a:gd name="connsiteX5" fmla="*/ 0 w 20162"/>
              <a:gd name="connsiteY5" fmla="*/ 10800 h 21600"/>
              <a:gd name="connsiteX6" fmla="*/ 3475 w 20162"/>
              <a:gd name="connsiteY6" fmla="*/ 0 h 21600"/>
              <a:gd name="connsiteX0" fmla="*/ 1915 w 18602"/>
              <a:gd name="connsiteY0" fmla="*/ 0 h 21600"/>
              <a:gd name="connsiteX1" fmla="*/ 16565 w 18602"/>
              <a:gd name="connsiteY1" fmla="*/ 0 h 21600"/>
              <a:gd name="connsiteX2" fmla="*/ 18602 w 18602"/>
              <a:gd name="connsiteY2" fmla="*/ 10800 h 21600"/>
              <a:gd name="connsiteX3" fmla="*/ 16565 w 18602"/>
              <a:gd name="connsiteY3" fmla="*/ 21600 h 21600"/>
              <a:gd name="connsiteX4" fmla="*/ 1915 w 18602"/>
              <a:gd name="connsiteY4" fmla="*/ 21600 h 21600"/>
              <a:gd name="connsiteX5" fmla="*/ 1 w 18602"/>
              <a:gd name="connsiteY5" fmla="*/ 10202 h 21600"/>
              <a:gd name="connsiteX6" fmla="*/ 1915 w 18602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602" h="21600">
                <a:moveTo>
                  <a:pt x="1915" y="0"/>
                </a:moveTo>
                <a:lnTo>
                  <a:pt x="16565" y="0"/>
                </a:lnTo>
                <a:cubicBezTo>
                  <a:pt x="18484" y="0"/>
                  <a:pt x="18602" y="4835"/>
                  <a:pt x="18602" y="10800"/>
                </a:cubicBezTo>
                <a:cubicBezTo>
                  <a:pt x="18602" y="16765"/>
                  <a:pt x="18484" y="21600"/>
                  <a:pt x="16565" y="21600"/>
                </a:cubicBezTo>
                <a:lnTo>
                  <a:pt x="1915" y="21600"/>
                </a:lnTo>
                <a:cubicBezTo>
                  <a:pt x="-4" y="21600"/>
                  <a:pt x="1" y="16167"/>
                  <a:pt x="1" y="10202"/>
                </a:cubicBezTo>
                <a:cubicBezTo>
                  <a:pt x="1" y="4237"/>
                  <a:pt x="-4" y="0"/>
                  <a:pt x="1915" y="0"/>
                </a:cubicBezTo>
                <a:close/>
              </a:path>
            </a:pathLst>
          </a:cu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终止符 11">
            <a:extLst>
              <a:ext uri="{FF2B5EF4-FFF2-40B4-BE49-F238E27FC236}">
                <a16:creationId xmlns:a16="http://schemas.microsoft.com/office/drawing/2014/main" id="{BB4C55B2-4FB3-0025-7804-D3531561E37D}"/>
              </a:ext>
            </a:extLst>
          </p:cNvPr>
          <p:cNvSpPr/>
          <p:nvPr/>
        </p:nvSpPr>
        <p:spPr>
          <a:xfrm>
            <a:off x="3460602" y="983992"/>
            <a:ext cx="2308504" cy="154112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162"/>
              <a:gd name="connsiteY0" fmla="*/ 0 h 21600"/>
              <a:gd name="connsiteX1" fmla="*/ 18125 w 20162"/>
              <a:gd name="connsiteY1" fmla="*/ 0 h 21600"/>
              <a:gd name="connsiteX2" fmla="*/ 20162 w 20162"/>
              <a:gd name="connsiteY2" fmla="*/ 10800 h 21600"/>
              <a:gd name="connsiteX3" fmla="*/ 18125 w 20162"/>
              <a:gd name="connsiteY3" fmla="*/ 21600 h 21600"/>
              <a:gd name="connsiteX4" fmla="*/ 3475 w 20162"/>
              <a:gd name="connsiteY4" fmla="*/ 21600 h 21600"/>
              <a:gd name="connsiteX5" fmla="*/ 0 w 20162"/>
              <a:gd name="connsiteY5" fmla="*/ 10800 h 21600"/>
              <a:gd name="connsiteX6" fmla="*/ 3475 w 20162"/>
              <a:gd name="connsiteY6" fmla="*/ 0 h 21600"/>
              <a:gd name="connsiteX0" fmla="*/ 1915 w 18602"/>
              <a:gd name="connsiteY0" fmla="*/ 0 h 21600"/>
              <a:gd name="connsiteX1" fmla="*/ 16565 w 18602"/>
              <a:gd name="connsiteY1" fmla="*/ 0 h 21600"/>
              <a:gd name="connsiteX2" fmla="*/ 18602 w 18602"/>
              <a:gd name="connsiteY2" fmla="*/ 10800 h 21600"/>
              <a:gd name="connsiteX3" fmla="*/ 16565 w 18602"/>
              <a:gd name="connsiteY3" fmla="*/ 21600 h 21600"/>
              <a:gd name="connsiteX4" fmla="*/ 1915 w 18602"/>
              <a:gd name="connsiteY4" fmla="*/ 21600 h 21600"/>
              <a:gd name="connsiteX5" fmla="*/ 1 w 18602"/>
              <a:gd name="connsiteY5" fmla="*/ 10202 h 21600"/>
              <a:gd name="connsiteX6" fmla="*/ 1915 w 18602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602" h="21600">
                <a:moveTo>
                  <a:pt x="1915" y="0"/>
                </a:moveTo>
                <a:lnTo>
                  <a:pt x="16565" y="0"/>
                </a:lnTo>
                <a:cubicBezTo>
                  <a:pt x="18484" y="0"/>
                  <a:pt x="18602" y="4835"/>
                  <a:pt x="18602" y="10800"/>
                </a:cubicBezTo>
                <a:cubicBezTo>
                  <a:pt x="18602" y="16765"/>
                  <a:pt x="18484" y="21600"/>
                  <a:pt x="16565" y="21600"/>
                </a:cubicBezTo>
                <a:lnTo>
                  <a:pt x="1915" y="21600"/>
                </a:lnTo>
                <a:cubicBezTo>
                  <a:pt x="-4" y="21600"/>
                  <a:pt x="1" y="16167"/>
                  <a:pt x="1" y="10202"/>
                </a:cubicBezTo>
                <a:cubicBezTo>
                  <a:pt x="1" y="4237"/>
                  <a:pt x="-4" y="0"/>
                  <a:pt x="1915" y="0"/>
                </a:cubicBezTo>
                <a:close/>
              </a:path>
            </a:pathLst>
          </a:custGeom>
          <a:solidFill>
            <a:srgbClr val="21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终止符 11">
            <a:extLst>
              <a:ext uri="{FF2B5EF4-FFF2-40B4-BE49-F238E27FC236}">
                <a16:creationId xmlns:a16="http://schemas.microsoft.com/office/drawing/2014/main" id="{FC45813B-5DA3-77ED-E5BB-8A24CDD1F71A}"/>
              </a:ext>
            </a:extLst>
          </p:cNvPr>
          <p:cNvSpPr/>
          <p:nvPr/>
        </p:nvSpPr>
        <p:spPr>
          <a:xfrm>
            <a:off x="6445412" y="983992"/>
            <a:ext cx="2308504" cy="154112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162"/>
              <a:gd name="connsiteY0" fmla="*/ 0 h 21600"/>
              <a:gd name="connsiteX1" fmla="*/ 18125 w 20162"/>
              <a:gd name="connsiteY1" fmla="*/ 0 h 21600"/>
              <a:gd name="connsiteX2" fmla="*/ 20162 w 20162"/>
              <a:gd name="connsiteY2" fmla="*/ 10800 h 21600"/>
              <a:gd name="connsiteX3" fmla="*/ 18125 w 20162"/>
              <a:gd name="connsiteY3" fmla="*/ 21600 h 21600"/>
              <a:gd name="connsiteX4" fmla="*/ 3475 w 20162"/>
              <a:gd name="connsiteY4" fmla="*/ 21600 h 21600"/>
              <a:gd name="connsiteX5" fmla="*/ 0 w 20162"/>
              <a:gd name="connsiteY5" fmla="*/ 10800 h 21600"/>
              <a:gd name="connsiteX6" fmla="*/ 3475 w 20162"/>
              <a:gd name="connsiteY6" fmla="*/ 0 h 21600"/>
              <a:gd name="connsiteX0" fmla="*/ 1915 w 18602"/>
              <a:gd name="connsiteY0" fmla="*/ 0 h 21600"/>
              <a:gd name="connsiteX1" fmla="*/ 16565 w 18602"/>
              <a:gd name="connsiteY1" fmla="*/ 0 h 21600"/>
              <a:gd name="connsiteX2" fmla="*/ 18602 w 18602"/>
              <a:gd name="connsiteY2" fmla="*/ 10800 h 21600"/>
              <a:gd name="connsiteX3" fmla="*/ 16565 w 18602"/>
              <a:gd name="connsiteY3" fmla="*/ 21600 h 21600"/>
              <a:gd name="connsiteX4" fmla="*/ 1915 w 18602"/>
              <a:gd name="connsiteY4" fmla="*/ 21600 h 21600"/>
              <a:gd name="connsiteX5" fmla="*/ 1 w 18602"/>
              <a:gd name="connsiteY5" fmla="*/ 10202 h 21600"/>
              <a:gd name="connsiteX6" fmla="*/ 1915 w 18602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602" h="21600">
                <a:moveTo>
                  <a:pt x="1915" y="0"/>
                </a:moveTo>
                <a:lnTo>
                  <a:pt x="16565" y="0"/>
                </a:lnTo>
                <a:cubicBezTo>
                  <a:pt x="18484" y="0"/>
                  <a:pt x="18602" y="4835"/>
                  <a:pt x="18602" y="10800"/>
                </a:cubicBezTo>
                <a:cubicBezTo>
                  <a:pt x="18602" y="16765"/>
                  <a:pt x="18484" y="21600"/>
                  <a:pt x="16565" y="21600"/>
                </a:cubicBezTo>
                <a:lnTo>
                  <a:pt x="1915" y="21600"/>
                </a:lnTo>
                <a:cubicBezTo>
                  <a:pt x="-4" y="21600"/>
                  <a:pt x="1" y="16167"/>
                  <a:pt x="1" y="10202"/>
                </a:cubicBezTo>
                <a:cubicBezTo>
                  <a:pt x="1" y="4237"/>
                  <a:pt x="-4" y="0"/>
                  <a:pt x="19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190DB5-224E-1405-F259-18131F4359E9}"/>
              </a:ext>
            </a:extLst>
          </p:cNvPr>
          <p:cNvSpPr txBox="1"/>
          <p:nvPr/>
        </p:nvSpPr>
        <p:spPr>
          <a:xfrm>
            <a:off x="383619" y="1150464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Started buying luxury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last year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E1FD3B-D23F-3415-6523-5813298CD583}"/>
              </a:ext>
            </a:extLst>
          </p:cNvPr>
          <p:cNvSpPr txBox="1"/>
          <p:nvPr/>
        </p:nvSpPr>
        <p:spPr>
          <a:xfrm>
            <a:off x="3417937" y="115351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Started buying luxury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2-3 years ago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FF7BFE-93B3-E9E0-28F9-80AA99474EF9}"/>
              </a:ext>
            </a:extLst>
          </p:cNvPr>
          <p:cNvSpPr txBox="1"/>
          <p:nvPr/>
        </p:nvSpPr>
        <p:spPr>
          <a:xfrm>
            <a:off x="6422896" y="1138104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Started buying luxury</a:t>
            </a:r>
          </a:p>
          <a:p>
            <a:r>
              <a:rPr kumimoji="1" lang="zh-CN" altLang="en-US" sz="1200" b="1" dirty="0">
                <a:latin typeface="HarmonyOS Sans SC" pitchFamily="2" charset="-122"/>
                <a:ea typeface="HarmonyOS Sans SC" pitchFamily="2" charset="-122"/>
              </a:rPr>
              <a:t>＞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3 years ago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05B0F229-2669-ED74-936C-25D49C8C6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126402"/>
              </p:ext>
            </p:extLst>
          </p:nvPr>
        </p:nvGraphicFramePr>
        <p:xfrm>
          <a:off x="590586" y="1955866"/>
          <a:ext cx="3280475" cy="3275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3090BB14-0530-63F6-BD14-B4073B863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8639598"/>
              </p:ext>
            </p:extLst>
          </p:nvPr>
        </p:nvGraphicFramePr>
        <p:xfrm>
          <a:off x="4149266" y="1955866"/>
          <a:ext cx="3239680" cy="3234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7B2A858C-2AFF-124C-4270-9804C4EF57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826138"/>
              </p:ext>
            </p:extLst>
          </p:nvPr>
        </p:nvGraphicFramePr>
        <p:xfrm>
          <a:off x="7682661" y="1922108"/>
          <a:ext cx="3321406" cy="3316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8C50909E-D8DD-7B57-B7BE-F0AF72EBEC43}"/>
              </a:ext>
            </a:extLst>
          </p:cNvPr>
          <p:cNvSpPr txBox="1"/>
          <p:nvPr/>
        </p:nvSpPr>
        <p:spPr>
          <a:xfrm>
            <a:off x="7397191" y="5231397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only </a:t>
            </a:r>
            <a:r>
              <a:rPr kumimoji="1" lang="en-US" altLang="zh-CN" sz="3200" b="1" dirty="0">
                <a:solidFill>
                  <a:srgbClr val="2151FF"/>
                </a:solidFill>
                <a:latin typeface="HarmonyOS Sans SC Black" pitchFamily="2" charset="-122"/>
                <a:ea typeface="HarmonyOS Sans SC Black" pitchFamily="2" charset="-122"/>
              </a:rPr>
              <a:t>1.3-%</a:t>
            </a:r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 of post-80s and</a:t>
            </a:r>
            <a:r>
              <a:rPr kumimoji="1" lang="zh-CN" altLang="en-US" sz="1600" dirty="0">
                <a:latin typeface="HarmonyOS Sans SC" pitchFamily="2" charset="-122"/>
                <a:ea typeface="HarmonyOS Sans SC" pitchFamily="2" charset="-122"/>
              </a:rPr>
              <a:t> </a:t>
            </a:r>
            <a:endParaRPr kumimoji="1" lang="en-US" altLang="zh-CN" sz="1600" dirty="0">
              <a:latin typeface="HarmonyOS Sans SC" pitchFamily="2" charset="-122"/>
              <a:ea typeface="HarmonyOS Sans SC" pitchFamily="2" charset="-122"/>
            </a:endParaRPr>
          </a:p>
          <a:p>
            <a:pPr algn="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’90s surveyed grew up with luxury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61263E-3174-AB2D-0C62-231F417A3A49}"/>
              </a:ext>
            </a:extLst>
          </p:cNvPr>
          <p:cNvSpPr txBox="1"/>
          <p:nvPr/>
        </p:nvSpPr>
        <p:spPr>
          <a:xfrm>
            <a:off x="1633288" y="338860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Post-'90s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63D004-D89B-1FD3-3689-EB78B239FABF}"/>
              </a:ext>
            </a:extLst>
          </p:cNvPr>
          <p:cNvSpPr txBox="1"/>
          <p:nvPr/>
        </p:nvSpPr>
        <p:spPr>
          <a:xfrm>
            <a:off x="5197406" y="338860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Post-'80s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704879-298C-363A-5E11-F3276A1BE373}"/>
              </a:ext>
            </a:extLst>
          </p:cNvPr>
          <p:cNvSpPr txBox="1"/>
          <p:nvPr/>
        </p:nvSpPr>
        <p:spPr>
          <a:xfrm>
            <a:off x="8846681" y="3282237"/>
            <a:ext cx="1194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Post-'65s</a:t>
            </a:r>
          </a:p>
          <a:p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＆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'70s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9218FA-CBEC-4218-2CA6-AEABAB58C9E2}"/>
              </a:ext>
            </a:extLst>
          </p:cNvPr>
          <p:cNvSpPr txBox="1"/>
          <p:nvPr/>
        </p:nvSpPr>
        <p:spPr>
          <a:xfrm>
            <a:off x="1199001" y="192210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8%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44BF59-DCE3-DD2A-DBDB-349F2ACF1A52}"/>
              </a:ext>
            </a:extLst>
          </p:cNvPr>
          <p:cNvSpPr txBox="1"/>
          <p:nvPr/>
        </p:nvSpPr>
        <p:spPr>
          <a:xfrm>
            <a:off x="3022438" y="1955866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50%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4CE139-05DA-A19A-BE10-30295AA24C53}"/>
              </a:ext>
            </a:extLst>
          </p:cNvPr>
          <p:cNvSpPr txBox="1"/>
          <p:nvPr/>
        </p:nvSpPr>
        <p:spPr>
          <a:xfrm>
            <a:off x="1040095" y="486917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42%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6EE278D-9FE2-3797-7969-EA0ACEAC1092}"/>
              </a:ext>
            </a:extLst>
          </p:cNvPr>
          <p:cNvSpPr txBox="1"/>
          <p:nvPr/>
        </p:nvSpPr>
        <p:spPr>
          <a:xfrm>
            <a:off x="4610092" y="192210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29%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9E7FA6D-4454-D84C-E74F-8223EAC55106}"/>
              </a:ext>
            </a:extLst>
          </p:cNvPr>
          <p:cNvSpPr txBox="1"/>
          <p:nvPr/>
        </p:nvSpPr>
        <p:spPr>
          <a:xfrm>
            <a:off x="6496937" y="198376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31%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A317450-86D5-103A-0113-D9ACC3CCE254}"/>
              </a:ext>
            </a:extLst>
          </p:cNvPr>
          <p:cNvSpPr txBox="1"/>
          <p:nvPr/>
        </p:nvSpPr>
        <p:spPr>
          <a:xfrm>
            <a:off x="4602452" y="486917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40%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CF54853-659F-3AD9-8CBA-9A10250B0F8F}"/>
              </a:ext>
            </a:extLst>
          </p:cNvPr>
          <p:cNvSpPr txBox="1"/>
          <p:nvPr/>
        </p:nvSpPr>
        <p:spPr>
          <a:xfrm>
            <a:off x="8071036" y="192210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52%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A52F85-1D6C-EFC0-8089-04CA7F7E2ACF}"/>
              </a:ext>
            </a:extLst>
          </p:cNvPr>
          <p:cNvSpPr txBox="1"/>
          <p:nvPr/>
        </p:nvSpPr>
        <p:spPr>
          <a:xfrm>
            <a:off x="9971436" y="192210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14%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8AF55B3-443B-099C-808E-AD698F5F35B0}"/>
              </a:ext>
            </a:extLst>
          </p:cNvPr>
          <p:cNvSpPr txBox="1"/>
          <p:nvPr/>
        </p:nvSpPr>
        <p:spPr>
          <a:xfrm>
            <a:off x="9971436" y="486917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34%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69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33E3-D6E8-F16F-796D-08003087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1BB4F7-99E6-8239-6526-C3BA707459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3028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4065D5-5940-7A64-2F5A-402A0E450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A3E0F383-B454-04ED-B34A-61A65D09C2F4}"/>
              </a:ext>
            </a:extLst>
          </p:cNvPr>
          <p:cNvSpPr txBox="1"/>
          <p:nvPr/>
        </p:nvSpPr>
        <p:spPr>
          <a:xfrm>
            <a:off x="383619" y="6397960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226287-0615-A284-AA62-09FEA78AACE1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Brand is important, but relatively less so among young consumers.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684A93-7B77-E556-C67E-F42145ECEC7C}"/>
              </a:ext>
            </a:extLst>
          </p:cNvPr>
          <p:cNvSpPr txBox="1"/>
          <p:nvPr/>
        </p:nvSpPr>
        <p:spPr>
          <a:xfrm>
            <a:off x="383619" y="762000"/>
            <a:ext cx="485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Top reason for last luxury purchase by generation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respondents who selected reason as no. 1 contributing factor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D701F5D2-F049-5437-5F75-6FDDE011F6D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0370874"/>
              </p:ext>
            </p:extLst>
          </p:nvPr>
        </p:nvGraphicFramePr>
        <p:xfrm>
          <a:off x="1562100" y="1320800"/>
          <a:ext cx="4910138" cy="438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70E6C858-6C69-BF04-87E9-8AA263E3A3A2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5962650" y="5308600"/>
            <a:ext cx="952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文本占位符 2">
            <a:extLst>
              <a:ext uri="{FF2B5EF4-FFF2-40B4-BE49-F238E27FC236}">
                <a16:creationId xmlns:a16="http://schemas.microsoft.com/office/drawing/2014/main" id="{ED78690C-6FE9-73B0-77B3-24F7EDC166B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5314950" y="5149850"/>
            <a:ext cx="131763" cy="165100"/>
          </a:xfrm>
          <a:prstGeom prst="rect">
            <a:avLst/>
          </a:prstGeom>
          <a:solidFill>
            <a:srgbClr val="98E8F2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0F135A-D79C-46A5-86E9-5DCC2FC39318}" type="datetime'''''''''''''''3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8" name="文本占位符 2">
            <a:extLst>
              <a:ext uri="{FF2B5EF4-FFF2-40B4-BE49-F238E27FC236}">
                <a16:creationId xmlns:a16="http://schemas.microsoft.com/office/drawing/2014/main" id="{D5DF6093-5520-7B2D-9EA5-591F1341059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3675063" y="5537200"/>
            <a:ext cx="684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77B75BF-C71C-4564-9930-637D1F8D3D0F}" type="datetime'P''''o''''''''''s''''''t''''-''''''''''''’80s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Post-’80s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9" name="文本占位符 2">
            <a:extLst>
              <a:ext uri="{FF2B5EF4-FFF2-40B4-BE49-F238E27FC236}">
                <a16:creationId xmlns:a16="http://schemas.microsoft.com/office/drawing/2014/main" id="{5C394CBD-6070-DB8A-D3FC-0F49D298554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754688" y="5264150"/>
            <a:ext cx="131763" cy="165100"/>
          </a:xfrm>
          <a:prstGeom prst="rect">
            <a:avLst/>
          </a:prstGeom>
          <a:solidFill>
            <a:srgbClr val="00ACFB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128BDE-2D02-4EE1-BDA2-55CC92DEFD0D}" type="datetime'''''''''''''''''''1''''''''''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1" name="文本占位符 2">
            <a:extLst>
              <a:ext uri="{FF2B5EF4-FFF2-40B4-BE49-F238E27FC236}">
                <a16:creationId xmlns:a16="http://schemas.microsoft.com/office/drawing/2014/main" id="{5E0BE268-B9A9-098A-DC75-57E60244802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314950" y="5321300"/>
            <a:ext cx="131763" cy="165100"/>
          </a:xfrm>
          <a:prstGeom prst="rect">
            <a:avLst/>
          </a:prstGeom>
          <a:solidFill>
            <a:srgbClr val="001D2D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DC386F-2480-41DC-8D40-99A508A3D9A5}" type="datetime'''''''''''''''''''''''''''''''''''''''''''''''''''''''2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27183-D9E0-49FC-520F-BF7BE142647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093913" y="5537200"/>
            <a:ext cx="6842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406608-42D3-4287-97AE-34827ECA56DE}" type="datetime'''''P''o''''''''''''s''''''t''-’''''''''''''9''''''0''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Post-’90s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FA959EFD-32BD-B6B2-96CC-2D5494A2101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28638" y="2840038"/>
            <a:ext cx="419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611704E-85D0-45B8-91DD-48AC8BDE4416}" type="datetime'''''Br''a''n''''''''''d''''''''''''''''''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Brand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9B3F7DDA-F46D-FD6C-CE71-ECC0516EAB4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28638" y="4348163"/>
            <a:ext cx="8651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2ABD7B3-50FD-4AA4-AD17-E145A5005A78}" type="datetime'''''''''De''''sig''''''''''n''''''/''s''t''y''l''''e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Design/style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24813FB5-6B49-A513-87A2-33BCB586BBB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28638" y="4672013"/>
            <a:ext cx="1052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18AF5F4-DE25-4F0A-86E3-10C4B40F7681}" type="datetime'F''''''a''b''r''ic''/''m''a''''t''''er''''i''''a''l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Fabric/material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B376EFC4-48A2-D7A5-844B-56999B070FC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28638" y="4938713"/>
            <a:ext cx="13446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A157DC3-0911-4EC6-BB3C-C0A854D826F6}" type="datetime'''P''''ro''du''ct''i''''on'''' ''''p''ro''ce''''''''ss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Production process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xmlns:a16="http://schemas.microsoft.com/office/drawing/2014/main" id="{3BAC5669-5100-56D1-9A4B-C614D372F1A3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28638" y="522605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8F40885-45E0-4211-95BC-76CD238868D3}" type="datetime'''''''P''''''''''''''''''''''''''''''''''''r''i''c''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Price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1" name="文本占位符 2">
            <a:extLst>
              <a:ext uri="{FF2B5EF4-FFF2-40B4-BE49-F238E27FC236}">
                <a16:creationId xmlns:a16="http://schemas.microsoft.com/office/drawing/2014/main" id="{1B85655D-D434-5407-A4F5-E615A0E4595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105400" y="5537200"/>
            <a:ext cx="9874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95F0777-DB28-4A33-97C7-F109C5575EBE}" type="datetime'''''P''o''''''''s''''''t-’65s/7''''''0''''s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Post-’65s/70s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833A9063-77EC-0501-9135-9F54002C820C}"/>
              </a:ext>
            </a:extLst>
          </p:cNvPr>
          <p:cNvSpPr txBox="1"/>
          <p:nvPr/>
        </p:nvSpPr>
        <p:spPr>
          <a:xfrm>
            <a:off x="383619" y="5958206"/>
            <a:ext cx="5386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b="0" dirty="0"/>
              <a:t>Participants ranked these 5 reasons as a contributing factor for their most recent purchase</a:t>
            </a:r>
            <a:endParaRPr lang="zh-CN" altLang="en-US" sz="1000" b="0" dirty="0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EAB391A6-A50F-9287-2F23-1B688F794703}"/>
              </a:ext>
            </a:extLst>
          </p:cNvPr>
          <p:cNvSpPr txBox="1"/>
          <p:nvPr/>
        </p:nvSpPr>
        <p:spPr>
          <a:xfrm>
            <a:off x="383619" y="6178083"/>
            <a:ext cx="36134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Note: </a:t>
            </a:r>
            <a:r>
              <a:rPr lang="en-US" altLang="zh-CN" sz="1000" b="0" dirty="0"/>
              <a:t>Figures may not sum to 100%</a:t>
            </a:r>
            <a:r>
              <a:rPr lang="zh-CN" altLang="en-US" sz="1000" b="0" dirty="0"/>
              <a:t>， </a:t>
            </a:r>
            <a:r>
              <a:rPr lang="en-US" altLang="zh-CN" sz="1000" b="0" dirty="0"/>
              <a:t>because of rounding.</a:t>
            </a:r>
            <a:endParaRPr lang="zh-CN" altLang="en-US" sz="1000" b="0" dirty="0"/>
          </a:p>
        </p:txBody>
      </p:sp>
      <p:cxnSp>
        <p:nvCxnSpPr>
          <p:cNvPr id="187" name="直线连接符 186">
            <a:extLst>
              <a:ext uri="{FF2B5EF4-FFF2-40B4-BE49-F238E27FC236}">
                <a16:creationId xmlns:a16="http://schemas.microsoft.com/office/drawing/2014/main" id="{8760E56A-922A-44B7-2841-5001E7C34FB7}"/>
              </a:ext>
            </a:extLst>
          </p:cNvPr>
          <p:cNvCxnSpPr>
            <a:cxnSpLocks/>
          </p:cNvCxnSpPr>
          <p:nvPr/>
        </p:nvCxnSpPr>
        <p:spPr>
          <a:xfrm>
            <a:off x="6910754" y="1606062"/>
            <a:ext cx="0" cy="4102588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77A7500A-ADFD-F15A-BEFA-2B72AF64C440}"/>
              </a:ext>
            </a:extLst>
          </p:cNvPr>
          <p:cNvSpPr txBox="1"/>
          <p:nvPr/>
        </p:nvSpPr>
        <p:spPr>
          <a:xfrm>
            <a:off x="7288921" y="1606062"/>
            <a:ext cx="3316934" cy="1158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Brand is </a:t>
            </a: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still the most important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factor but relatively less so vs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the older generation</a:t>
            </a:r>
            <a:endParaRPr kumimoji="1" lang="zh-CN" altLang="en-US" sz="16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95722D05-4A81-2E23-D642-E5147376018D}"/>
              </a:ext>
            </a:extLst>
          </p:cNvPr>
          <p:cNvSpPr txBox="1"/>
          <p:nvPr/>
        </p:nvSpPr>
        <p:spPr>
          <a:xfrm>
            <a:off x="7288921" y="2767654"/>
            <a:ext cx="3478715" cy="167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Social influence accelerates sophistication: consumers start to appreciate more nuanced elements such as design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fabric, and manufacturing process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47CEE15A-0670-84C8-14FF-DA7D2B40B08C}"/>
              </a:ext>
            </a:extLst>
          </p:cNvPr>
          <p:cNvSpPr txBox="1"/>
          <p:nvPr/>
        </p:nvSpPr>
        <p:spPr>
          <a:xfrm>
            <a:off x="7288921" y="4429718"/>
            <a:ext cx="3478715" cy="134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Commanding knowledge beyond simply brand is another form of social capital to be demonstrated among peers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688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5784-0B2D-D16D-DF67-30B7F416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B31F732-7415-66ED-E1F6-76A74FF35D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790677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9" imgW="7772400" imgH="10058400" progId="TCLayout.ActiveDocument.1">
                  <p:embed/>
                </p:oleObj>
              </mc:Choice>
              <mc:Fallback>
                <p:oleObj name="think-cell 幻灯片" r:id="rId3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1BB4F7-99E6-8239-6526-C3BA70745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2522A226-026A-1A55-482E-0287C639E0A0}"/>
              </a:ext>
            </a:extLst>
          </p:cNvPr>
          <p:cNvSpPr txBox="1"/>
          <p:nvPr/>
        </p:nvSpPr>
        <p:spPr>
          <a:xfrm>
            <a:off x="383618" y="6239588"/>
            <a:ext cx="23102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DC3E38-F0E1-7A11-715C-41D3613B87A4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The origin of North American brands is typically not well known.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416B3C-9C3E-B162-8F6A-BBF7382D6D5E}"/>
              </a:ext>
            </a:extLst>
          </p:cNvPr>
          <p:cNvSpPr txBox="1"/>
          <p:nvPr/>
        </p:nvSpPr>
        <p:spPr>
          <a:xfrm>
            <a:off x="383619" y="762000"/>
            <a:ext cx="4164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Perceived country of origin vs actual country of origin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125E668-C4C4-7D10-E0FB-FBFE21EC13CB}"/>
              </a:ext>
            </a:extLst>
          </p:cNvPr>
          <p:cNvSpPr txBox="1"/>
          <p:nvPr/>
        </p:nvSpPr>
        <p:spPr>
          <a:xfrm>
            <a:off x="383618" y="6022975"/>
            <a:ext cx="3736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Note: </a:t>
            </a:r>
            <a:r>
              <a:rPr lang="en-US" altLang="zh-CN" sz="1000" b="0" dirty="0"/>
              <a:t>Figures may not sum to 100%</a:t>
            </a:r>
            <a:r>
              <a:rPr lang="zh-CN" altLang="en-US" sz="1000" b="0" dirty="0"/>
              <a:t>， </a:t>
            </a:r>
            <a:r>
              <a:rPr lang="en-US" altLang="zh-CN" sz="1000" b="0" dirty="0"/>
              <a:t>because of rounding.</a:t>
            </a:r>
            <a:endParaRPr lang="zh-CN" altLang="en-US" sz="10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14DE24-CAD1-5B29-9501-FEFD193D0D1F}"/>
              </a:ext>
            </a:extLst>
          </p:cNvPr>
          <p:cNvSpPr txBox="1"/>
          <p:nvPr/>
        </p:nvSpPr>
        <p:spPr>
          <a:xfrm>
            <a:off x="3675063" y="1187450"/>
            <a:ext cx="1441450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European brands</a:t>
            </a:r>
            <a:endParaRPr lang="zh-CN" altLang="en-US" dirty="0"/>
          </a:p>
        </p:txBody>
      </p:sp>
      <p:graphicFrame>
        <p:nvGraphicFramePr>
          <p:cNvPr id="247" name="Chart 3">
            <a:extLst>
              <a:ext uri="{FF2B5EF4-FFF2-40B4-BE49-F238E27FC236}">
                <a16:creationId xmlns:a16="http://schemas.microsoft.com/office/drawing/2014/main" id="{69499C44-67ED-C0D7-5149-5C894A99D45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7536669"/>
              </p:ext>
            </p:extLst>
          </p:nvPr>
        </p:nvGraphicFramePr>
        <p:xfrm>
          <a:off x="2368550" y="1800225"/>
          <a:ext cx="1173163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B21F2819-DCB0-CF18-3BCC-EDC6D8DF035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079625" y="3086100"/>
            <a:ext cx="473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D88E757-FEA7-4FCB-852D-90225D77E8C6}" type="datetime'''''''''''Fr''''''''''''a''''''''n''''c''e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France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B58F3FA1-259C-D9B5-A3A1-7A3FEB4F3F8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2081213" y="4514850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DCB16A9-4518-4D1F-9994-E626230FF8FA}" type="datetime'''''''O''t''''''''''''he''''''''''r''''''''''''''s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6" name="文本占位符 2">
            <a:extLst>
              <a:ext uri="{FF2B5EF4-FFF2-40B4-BE49-F238E27FC236}">
                <a16:creationId xmlns:a16="http://schemas.microsoft.com/office/drawing/2014/main" id="{CB157885-D046-E563-B33D-FAF9884F466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786063" y="3086100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7461B08-3C18-4648-9B47-5A2FC934B59B}" type="datetime'''''''''''''9''''''''''''''''''''''''0''''''''''''''%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90%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7" name="文本占位符 2">
            <a:extLst>
              <a:ext uri="{FF2B5EF4-FFF2-40B4-BE49-F238E27FC236}">
                <a16:creationId xmlns:a16="http://schemas.microsoft.com/office/drawing/2014/main" id="{0C465569-4B6C-831A-E716-AA23B1642D7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2786063" y="4514850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B3E10AE-AFD2-4D36-836C-DAC8C86655D7}" type="datetime'''''''''''''''''''''''''''''''''1''''''''''''''''0%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48" name="Chart 3">
            <a:extLst>
              <a:ext uri="{FF2B5EF4-FFF2-40B4-BE49-F238E27FC236}">
                <a16:creationId xmlns:a16="http://schemas.microsoft.com/office/drawing/2014/main" id="{3609BCE4-FD94-29A2-FFBF-827AD41FCDFE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104145122"/>
              </p:ext>
            </p:extLst>
          </p:nvPr>
        </p:nvGraphicFramePr>
        <p:xfrm>
          <a:off x="3810000" y="1800225"/>
          <a:ext cx="1173163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FFF56B93-933F-98FF-F7EE-23F014D32BC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538538" y="2814638"/>
            <a:ext cx="4556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18FEE95-2E10-40EF-A60F-7D8C216EB455}" type="datetime'''Gr''''eat&#10;''B''''''r''''i''''''''tai''n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Great
Britain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DA8AE552-4E60-2ACD-85BB-EA741393321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3522663" y="4325938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1922545-8ACF-4F50-B885-8418BD433574}" type="datetime'''Ot''''''''''''''''h''''''''e''r''''''''''''''''''s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5E1FEC45-1F14-F3DA-F659-9BCEDB2B173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4227513" y="2897188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8519F9-C4BC-47D5-9840-90E686AAD898}" type="datetime'''''''''''''''''''''''7''''''''''''6''%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6" name="文本占位符 2">
            <a:extLst>
              <a:ext uri="{FF2B5EF4-FFF2-40B4-BE49-F238E27FC236}">
                <a16:creationId xmlns:a16="http://schemas.microsoft.com/office/drawing/2014/main" id="{19836FFC-AEF4-2AEF-F981-564A7F8B472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227513" y="4325938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71254A-9ED0-468F-B1D4-E367709E0378}" type="datetime'''''2''''''''''''''''''''3%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23%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49" name="Chart 3">
            <a:extLst>
              <a:ext uri="{FF2B5EF4-FFF2-40B4-BE49-F238E27FC236}">
                <a16:creationId xmlns:a16="http://schemas.microsoft.com/office/drawing/2014/main" id="{6A2298DB-F6FF-3A53-8A8E-36E7E8C266B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797800466"/>
              </p:ext>
            </p:extLst>
          </p:nvPr>
        </p:nvGraphicFramePr>
        <p:xfrm>
          <a:off x="5280025" y="1800225"/>
          <a:ext cx="117475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sp>
        <p:nvSpPr>
          <p:cNvPr id="152" name="文本占位符 2">
            <a:extLst>
              <a:ext uri="{FF2B5EF4-FFF2-40B4-BE49-F238E27FC236}">
                <a16:creationId xmlns:a16="http://schemas.microsoft.com/office/drawing/2014/main" id="{96EF6373-3CFA-0067-D08C-B07D5A22D8E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5699125" y="284321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567627E-F7BC-40DB-832E-AF3B2FE751A5}" type="datetime'''''''''''''''7''''3''''%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73%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3" name="文本占位符 2">
            <a:extLst>
              <a:ext uri="{FF2B5EF4-FFF2-40B4-BE49-F238E27FC236}">
                <a16:creationId xmlns:a16="http://schemas.microsoft.com/office/drawing/2014/main" id="{B125F872-3D53-EEAA-970C-16E7E9AC66F9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5699125" y="427196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D8105A0-118D-438B-B2DA-A1DE26E35A3D}" type="datetime'''''''''''2''''''''''''7''''''''''''''''''''''%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27%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0" name="文本占位符 2">
            <a:extLst>
              <a:ext uri="{FF2B5EF4-FFF2-40B4-BE49-F238E27FC236}">
                <a16:creationId xmlns:a16="http://schemas.microsoft.com/office/drawing/2014/main" id="{5BDDAFAB-7254-57BA-80B2-FB9A23D4C970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5008563" y="2760663"/>
            <a:ext cx="4556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F67D3AE-01F6-4DB2-A247-F1924FCABD29}" type="datetime'''G''re''at''''''&#10;B''r''''''i''''''''''ta''''''i''n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Great
Britain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1" name="文本占位符 2">
            <a:extLst>
              <a:ext uri="{FF2B5EF4-FFF2-40B4-BE49-F238E27FC236}">
                <a16:creationId xmlns:a16="http://schemas.microsoft.com/office/drawing/2014/main" id="{2E533C2C-0AD5-AE7A-A8FA-AF27BD107FE5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992688" y="4271963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A32559C-E6C2-4B6E-AEC1-7B81D9631048}" type="datetime'O''''th''e''''''''''''''''''''''r''''''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50" name="Chart 3">
            <a:extLst>
              <a:ext uri="{FF2B5EF4-FFF2-40B4-BE49-F238E27FC236}">
                <a16:creationId xmlns:a16="http://schemas.microsoft.com/office/drawing/2014/main" id="{21A83D11-4416-70A1-6038-C0328E3F5F78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383871158"/>
              </p:ext>
            </p:extLst>
          </p:nvPr>
        </p:nvGraphicFramePr>
        <p:xfrm>
          <a:off x="7456488" y="1800225"/>
          <a:ext cx="1173162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70" name="文本占位符 2">
            <a:extLst>
              <a:ext uri="{FF2B5EF4-FFF2-40B4-BE49-F238E27FC236}">
                <a16:creationId xmlns:a16="http://schemas.microsoft.com/office/drawing/2014/main" id="{F7353141-E0DF-5356-4BAD-5BC327281CF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7874000" y="3514725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6003BF2-752E-460E-8475-2E9857B6DB82}" type="datetime'''''3''''''''''''0''''''''''''''''''''%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1" name="文本占位符 2">
            <a:extLst>
              <a:ext uri="{FF2B5EF4-FFF2-40B4-BE49-F238E27FC236}">
                <a16:creationId xmlns:a16="http://schemas.microsoft.com/office/drawing/2014/main" id="{F55B9607-4D00-A240-1D68-E5D161EE369D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7113588" y="2443163"/>
            <a:ext cx="5270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9622E20-3757-4029-8EF0-A6F0A9EAA4BC}" type="datetime'''''C''''''a''''''''''''''''''''''''''''n''''''a''da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Canada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9" name="文本占位符 2">
            <a:extLst>
              <a:ext uri="{FF2B5EF4-FFF2-40B4-BE49-F238E27FC236}">
                <a16:creationId xmlns:a16="http://schemas.microsoft.com/office/drawing/2014/main" id="{0C7F45B9-98FE-DD48-0274-5E92F3AFCB37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7874000" y="244316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F5F151-0AA9-4996-BFC5-FC5BA267F480}" type="datetime'''''''''''''''''''4''''''''''''5''''''%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45%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0" name="文本占位符 2">
            <a:extLst>
              <a:ext uri="{FF2B5EF4-FFF2-40B4-BE49-F238E27FC236}">
                <a16:creationId xmlns:a16="http://schemas.microsoft.com/office/drawing/2014/main" id="{F848D094-2C95-F214-85F5-6FACB04DF2D5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7169150" y="4300538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B3D2D25-7B96-4A94-A5EF-D8D61C9174FD}" type="datetime'''Oth''''''''er''''''''''''''''''s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2" name="文本占位符 2">
            <a:extLst>
              <a:ext uri="{FF2B5EF4-FFF2-40B4-BE49-F238E27FC236}">
                <a16:creationId xmlns:a16="http://schemas.microsoft.com/office/drawing/2014/main" id="{60F54B42-DF85-CE2C-8249-D09CCE3C8254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874000" y="4300538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7E5E576-B163-46DB-B77D-1C5CDCC2AC9C}" type="datetime'''''''''''''''2''''''''''''''5''''''''%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25%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2" name="文本占位符 2">
            <a:extLst>
              <a:ext uri="{FF2B5EF4-FFF2-40B4-BE49-F238E27FC236}">
                <a16:creationId xmlns:a16="http://schemas.microsoft.com/office/drawing/2014/main" id="{D2541544-87F5-1A62-5398-EDBE434D3507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7137400" y="3514725"/>
            <a:ext cx="5032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44AECCA-CB55-40F1-926B-274697998FF5}" type="datetime'''''''E''''''''u''''''''r''o''''''p''''''e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Europe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51" name="Chart 3">
            <a:extLst>
              <a:ext uri="{FF2B5EF4-FFF2-40B4-BE49-F238E27FC236}">
                <a16:creationId xmlns:a16="http://schemas.microsoft.com/office/drawing/2014/main" id="{39C85E8B-4BFC-C80D-4542-9AA55EEF37B5}"/>
              </a:ext>
            </a:extLst>
          </p:cNvPr>
          <p:cNvGraphicFramePr/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609324866"/>
              </p:ext>
            </p:extLst>
          </p:nvPr>
        </p:nvGraphicFramePr>
        <p:xfrm>
          <a:off x="8928100" y="1800225"/>
          <a:ext cx="1173163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99" name="文本占位符 2">
            <a:extLst>
              <a:ext uri="{FF2B5EF4-FFF2-40B4-BE49-F238E27FC236}">
                <a16:creationId xmlns:a16="http://schemas.microsoft.com/office/drawing/2014/main" id="{3C64BF24-E4BE-0BD8-1FD1-A53C101E4A2C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9345613" y="3514725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4D6C66-58C0-44B5-AD3C-1E4C3F3725E7}" type="datetime'4''''0''''''''''''''''''''''''''''''''''''''%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3" name="文本占位符 2">
            <a:extLst>
              <a:ext uri="{FF2B5EF4-FFF2-40B4-BE49-F238E27FC236}">
                <a16:creationId xmlns:a16="http://schemas.microsoft.com/office/drawing/2014/main" id="{4C586978-1E04-72CD-A8A4-5DEECB7F4A18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9345613" y="4371975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6CB3F9A-8D22-423C-A3BF-E42B7E4C32EB}" type="datetime'''''''''''''''''''''''''''''''''''2''''''0''''''''''''%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1" name="文本占位符 2">
            <a:extLst>
              <a:ext uri="{FF2B5EF4-FFF2-40B4-BE49-F238E27FC236}">
                <a16:creationId xmlns:a16="http://schemas.microsoft.com/office/drawing/2014/main" id="{47183711-DC82-5F8F-CF23-C8D8C11D156C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9345613" y="2371725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C1B9EAD-28E2-44E5-81E4-CE468FCDB594}" type="datetime'''''''''''''''''4''''''''''''''''''''''''''''''''0''''''%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4" name="文本占位符 2">
            <a:extLst>
              <a:ext uri="{FF2B5EF4-FFF2-40B4-BE49-F238E27FC236}">
                <a16:creationId xmlns:a16="http://schemas.microsoft.com/office/drawing/2014/main" id="{D98CC9B6-751D-B261-F746-AEB8A8B4CB14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8609013" y="3514725"/>
            <a:ext cx="5032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996C8C7-9207-4923-B7C1-A2ECA637D17C}" type="datetime'E''''''''''u''''''r''''o''''''''''''''''''''''''''p''''''''e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Europe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2" name="文本占位符 2">
            <a:extLst>
              <a:ext uri="{FF2B5EF4-FFF2-40B4-BE49-F238E27FC236}">
                <a16:creationId xmlns:a16="http://schemas.microsoft.com/office/drawing/2014/main" id="{8B2B7D6C-9884-97CF-10CB-42876E030019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8640763" y="4371975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C803A8F-C3BA-4163-A65A-7F7DDA31E018}" type="datetime'''''O''''''''''t''h''''''''''er''''''s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0" name="文本占位符 2">
            <a:extLst>
              <a:ext uri="{FF2B5EF4-FFF2-40B4-BE49-F238E27FC236}">
                <a16:creationId xmlns:a16="http://schemas.microsoft.com/office/drawing/2014/main" id="{077CAE38-E625-B411-609C-91358A8FD956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8812213" y="2371725"/>
            <a:ext cx="3000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407DBC4-096F-4514-AE79-A0056D0EE9DF}" type="datetime'''''''''''''''''''''''''''U''''''''''''S''A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USA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52" name="Chart 3">
            <a:extLst>
              <a:ext uri="{FF2B5EF4-FFF2-40B4-BE49-F238E27FC236}">
                <a16:creationId xmlns:a16="http://schemas.microsoft.com/office/drawing/2014/main" id="{351EA6BA-0DAB-E8EF-79F6-4E4B4FDE6EF3}"/>
              </a:ext>
            </a:extLst>
          </p:cNvPr>
          <p:cNvGraphicFramePr/>
          <p:nvPr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67845820"/>
              </p:ext>
            </p:extLst>
          </p:nvPr>
        </p:nvGraphicFramePr>
        <p:xfrm>
          <a:off x="10385425" y="1800225"/>
          <a:ext cx="1173163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208" name="文本占位符 2">
            <a:extLst>
              <a:ext uri="{FF2B5EF4-FFF2-40B4-BE49-F238E27FC236}">
                <a16:creationId xmlns:a16="http://schemas.microsoft.com/office/drawing/2014/main" id="{5BF781C1-319B-8124-36D9-15BD576D4200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10802938" y="3557588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16BD2EC-ABAB-4214-8F31-0C3332FCD6BC}" type="datetime'3''''''''''''3''''''''''''''''''''''''''''''''''''''''''''%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33%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9" name="文本占位符 2">
            <a:extLst>
              <a:ext uri="{FF2B5EF4-FFF2-40B4-BE49-F238E27FC236}">
                <a16:creationId xmlns:a16="http://schemas.microsoft.com/office/drawing/2014/main" id="{F7165B1F-04A0-40FE-FB6D-917E1D6415B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10802938" y="4343400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C751A4F-4DB5-4D3E-9960-A1A847CA96E9}" type="datetime'2''''2''''''''''''%''''''''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22%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0" name="文本占位符 2">
            <a:extLst>
              <a:ext uri="{FF2B5EF4-FFF2-40B4-BE49-F238E27FC236}">
                <a16:creationId xmlns:a16="http://schemas.microsoft.com/office/drawing/2014/main" id="{E5071F21-A528-164E-ADD0-18A7448D21C1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10802938" y="244316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392FDA-F3FE-4901-9242-8B5F1129DC51}" type="datetime'4''''''''''''''''''''5''''''''''''''''%''''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45%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1" name="文本占位符 2">
            <a:extLst>
              <a:ext uri="{FF2B5EF4-FFF2-40B4-BE49-F238E27FC236}">
                <a16:creationId xmlns:a16="http://schemas.microsoft.com/office/drawing/2014/main" id="{70DD377B-2C37-3C32-9ABC-727CB95E37AF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10066338" y="3557588"/>
            <a:ext cx="5032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3E6EC36-AEB2-43E2-8566-75F03DB7A7A3}" type="datetime'''''''E''''''u''r''''''''''o''''''''p''''''e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Europe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2" name="文本占位符 2">
            <a:extLst>
              <a:ext uri="{FF2B5EF4-FFF2-40B4-BE49-F238E27FC236}">
                <a16:creationId xmlns:a16="http://schemas.microsoft.com/office/drawing/2014/main" id="{3C2853DD-B38F-2EF0-DD05-F7569674B6DE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0098088" y="4343400"/>
            <a:ext cx="471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5FDB737-B5DC-4B22-A55C-4993CF6C89EB}" type="datetime'O''''t''''''''''''he''''''r''''s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Others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3" name="文本占位符 2">
            <a:extLst>
              <a:ext uri="{FF2B5EF4-FFF2-40B4-BE49-F238E27FC236}">
                <a16:creationId xmlns:a16="http://schemas.microsoft.com/office/drawing/2014/main" id="{6E57491C-43A2-4D65-B6FB-845BE4C07149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auto">
          <a:xfrm>
            <a:off x="10269538" y="2443163"/>
            <a:ext cx="3000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3B1ECC3-286D-4930-98C8-943664C48B36}" type="datetime'U''''''''''''S''''A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USA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A34F4FC0-CF83-7E41-F178-FF4737099CE8}"/>
              </a:ext>
            </a:extLst>
          </p:cNvPr>
          <p:cNvSpPr txBox="1"/>
          <p:nvPr/>
        </p:nvSpPr>
        <p:spPr>
          <a:xfrm>
            <a:off x="2622550" y="1581150"/>
            <a:ext cx="668338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Chanel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712BF16F-732F-5CEB-3B61-25C7CD155603}"/>
              </a:ext>
            </a:extLst>
          </p:cNvPr>
          <p:cNvSpPr txBox="1"/>
          <p:nvPr/>
        </p:nvSpPr>
        <p:spPr>
          <a:xfrm>
            <a:off x="3998913" y="1584325"/>
            <a:ext cx="804863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Burberry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9F697007-0562-8CAF-18E0-B157A4B40A2A}"/>
              </a:ext>
            </a:extLst>
          </p:cNvPr>
          <p:cNvSpPr txBox="1"/>
          <p:nvPr/>
        </p:nvSpPr>
        <p:spPr>
          <a:xfrm>
            <a:off x="5302250" y="1579563"/>
            <a:ext cx="1122363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Louis Vuitton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F89772A7-3BE7-C533-B7EA-CE84041CE1AD}"/>
              </a:ext>
            </a:extLst>
          </p:cNvPr>
          <p:cNvSpPr txBox="1"/>
          <p:nvPr/>
        </p:nvSpPr>
        <p:spPr>
          <a:xfrm>
            <a:off x="7389813" y="1574800"/>
            <a:ext cx="1204913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Canada Goose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7DE559D1-2B7B-D95C-F381-CBDB5DDD2F9C}"/>
              </a:ext>
            </a:extLst>
          </p:cNvPr>
          <p:cNvSpPr txBox="1"/>
          <p:nvPr/>
        </p:nvSpPr>
        <p:spPr>
          <a:xfrm>
            <a:off x="8861426" y="1581150"/>
            <a:ext cx="1323975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Brooks Brothers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F1BC9BE5-1FFC-9B2C-52AD-C449EA5AC409}"/>
              </a:ext>
            </a:extLst>
          </p:cNvPr>
          <p:cNvSpPr txBox="1"/>
          <p:nvPr/>
        </p:nvSpPr>
        <p:spPr>
          <a:xfrm>
            <a:off x="10633076" y="1574800"/>
            <a:ext cx="676275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Theory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47AF62CD-6220-5A1E-ECEA-B82DE89BF90E}"/>
              </a:ext>
            </a:extLst>
          </p:cNvPr>
          <p:cNvCxnSpPr>
            <a:cxnSpLocks/>
          </p:cNvCxnSpPr>
          <p:nvPr/>
        </p:nvCxnSpPr>
        <p:spPr>
          <a:xfrm flipV="1">
            <a:off x="2079625" y="1519238"/>
            <a:ext cx="43735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文本框 238">
            <a:extLst>
              <a:ext uri="{FF2B5EF4-FFF2-40B4-BE49-F238E27FC236}">
                <a16:creationId xmlns:a16="http://schemas.microsoft.com/office/drawing/2014/main" id="{FEA20BCA-524E-9FEF-168F-AD40A8EFA490}"/>
              </a:ext>
            </a:extLst>
          </p:cNvPr>
          <p:cNvSpPr txBox="1"/>
          <p:nvPr/>
        </p:nvSpPr>
        <p:spPr>
          <a:xfrm>
            <a:off x="8291017" y="1187144"/>
            <a:ext cx="2316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American &amp; Canadian brands</a:t>
            </a:r>
            <a:endParaRPr lang="zh-CN" altLang="en-US" dirty="0"/>
          </a:p>
        </p:txBody>
      </p: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2F27CD56-31D7-A6B8-C895-BAEBE5D51A19}"/>
              </a:ext>
            </a:extLst>
          </p:cNvPr>
          <p:cNvCxnSpPr>
            <a:cxnSpLocks/>
          </p:cNvCxnSpPr>
          <p:nvPr/>
        </p:nvCxnSpPr>
        <p:spPr>
          <a:xfrm flipV="1">
            <a:off x="7135813" y="1519238"/>
            <a:ext cx="4173538" cy="1428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370366C7-885F-733A-6224-12D66CA87B88}"/>
              </a:ext>
            </a:extLst>
          </p:cNvPr>
          <p:cNvCxnSpPr>
            <a:cxnSpLocks/>
          </p:cNvCxnSpPr>
          <p:nvPr/>
        </p:nvCxnSpPr>
        <p:spPr>
          <a:xfrm>
            <a:off x="1944688" y="1519238"/>
            <a:ext cx="0" cy="32512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文本框 245">
            <a:extLst>
              <a:ext uri="{FF2B5EF4-FFF2-40B4-BE49-F238E27FC236}">
                <a16:creationId xmlns:a16="http://schemas.microsoft.com/office/drawing/2014/main" id="{6A6C686D-36C5-58CC-2D2E-EA46BBCB11A0}"/>
              </a:ext>
            </a:extLst>
          </p:cNvPr>
          <p:cNvSpPr txBox="1"/>
          <p:nvPr/>
        </p:nvSpPr>
        <p:spPr>
          <a:xfrm>
            <a:off x="943434" y="2873890"/>
            <a:ext cx="904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pPr algn="r"/>
            <a:r>
              <a:rPr lang="en-US" altLang="zh-CN" dirty="0"/>
              <a:t>Perceived</a:t>
            </a:r>
          </a:p>
          <a:p>
            <a:pPr algn="r"/>
            <a:r>
              <a:rPr lang="en-US" altLang="zh-CN" dirty="0"/>
              <a:t>brand</a:t>
            </a:r>
          </a:p>
          <a:p>
            <a:pPr algn="r"/>
            <a:r>
              <a:rPr lang="en-US" altLang="zh-CN" dirty="0"/>
              <a:t>origin</a:t>
            </a:r>
            <a:endParaRPr lang="zh-CN" altLang="en-US" dirty="0"/>
          </a:p>
        </p:txBody>
      </p: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D8F86659-20D8-34E3-95A5-1D8941DFB4F8}"/>
              </a:ext>
            </a:extLst>
          </p:cNvPr>
          <p:cNvCxnSpPr>
            <a:cxnSpLocks/>
          </p:cNvCxnSpPr>
          <p:nvPr/>
        </p:nvCxnSpPr>
        <p:spPr>
          <a:xfrm>
            <a:off x="1944688" y="4911970"/>
            <a:ext cx="0" cy="75528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文本框 254">
            <a:extLst>
              <a:ext uri="{FF2B5EF4-FFF2-40B4-BE49-F238E27FC236}">
                <a16:creationId xmlns:a16="http://schemas.microsoft.com/office/drawing/2014/main" id="{8E6DED99-3B49-CB11-E5AF-F0164D944A23}"/>
              </a:ext>
            </a:extLst>
          </p:cNvPr>
          <p:cNvSpPr txBox="1"/>
          <p:nvPr/>
        </p:nvSpPr>
        <p:spPr>
          <a:xfrm>
            <a:off x="1190404" y="4972541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pPr algn="r"/>
            <a:r>
              <a:rPr lang="en-US" altLang="zh-CN" dirty="0"/>
              <a:t>Actual</a:t>
            </a:r>
          </a:p>
          <a:p>
            <a:pPr algn="r"/>
            <a:r>
              <a:rPr lang="en-US" altLang="zh-CN" dirty="0"/>
              <a:t>brand</a:t>
            </a:r>
          </a:p>
          <a:p>
            <a:pPr algn="r"/>
            <a:r>
              <a:rPr lang="en-US" altLang="zh-CN" dirty="0"/>
              <a:t>origin</a:t>
            </a:r>
            <a:endParaRPr lang="zh-CN" altLang="en-US" dirty="0"/>
          </a:p>
        </p:txBody>
      </p:sp>
      <p:pic>
        <p:nvPicPr>
          <p:cNvPr id="257" name="图片 256">
            <a:extLst>
              <a:ext uri="{FF2B5EF4-FFF2-40B4-BE49-F238E27FC236}">
                <a16:creationId xmlns:a16="http://schemas.microsoft.com/office/drawing/2014/main" id="{C421574E-0282-12CA-1D98-48BEC8229F2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52700" y="4971787"/>
            <a:ext cx="781050" cy="647700"/>
          </a:xfrm>
          <a:prstGeom prst="rect">
            <a:avLst/>
          </a:prstGeom>
        </p:spPr>
      </p:pic>
      <p:pic>
        <p:nvPicPr>
          <p:cNvPr id="258" name="图片 257">
            <a:extLst>
              <a:ext uri="{FF2B5EF4-FFF2-40B4-BE49-F238E27FC236}">
                <a16:creationId xmlns:a16="http://schemas.microsoft.com/office/drawing/2014/main" id="{7D0B626A-A10A-BCF4-42A8-97EE3E378C73}"/>
              </a:ext>
            </a:extLst>
          </p:cNvPr>
          <p:cNvPicPr>
            <a:picLocks noChangeAspect="1"/>
          </p:cNvPicPr>
          <p:nvPr/>
        </p:nvPicPr>
        <p:blipFill>
          <a:blip r:embed="rId48"/>
          <a:srcRect/>
          <a:stretch/>
        </p:blipFill>
        <p:spPr>
          <a:xfrm>
            <a:off x="4021764" y="4971172"/>
            <a:ext cx="748047" cy="647700"/>
          </a:xfrm>
          <a:prstGeom prst="rect">
            <a:avLst/>
          </a:prstGeom>
        </p:spPr>
      </p:pic>
      <p:pic>
        <p:nvPicPr>
          <p:cNvPr id="259" name="图片 258">
            <a:extLst>
              <a:ext uri="{FF2B5EF4-FFF2-40B4-BE49-F238E27FC236}">
                <a16:creationId xmlns:a16="http://schemas.microsoft.com/office/drawing/2014/main" id="{00218B8C-B6BE-6B94-6559-EE9FA6A93D8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457826" y="4971172"/>
            <a:ext cx="781050" cy="647700"/>
          </a:xfrm>
          <a:prstGeom prst="rect">
            <a:avLst/>
          </a:prstGeom>
        </p:spPr>
      </p:pic>
      <p:pic>
        <p:nvPicPr>
          <p:cNvPr id="260" name="图片 259">
            <a:extLst>
              <a:ext uri="{FF2B5EF4-FFF2-40B4-BE49-F238E27FC236}">
                <a16:creationId xmlns:a16="http://schemas.microsoft.com/office/drawing/2014/main" id="{251577B6-951F-4927-77A5-29BA18A14324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/>
          <a:stretch/>
        </p:blipFill>
        <p:spPr>
          <a:xfrm>
            <a:off x="7655159" y="4963879"/>
            <a:ext cx="770769" cy="669130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F7C5D781-4FE8-6A43-3409-BBF80B438E09}"/>
              </a:ext>
            </a:extLst>
          </p:cNvPr>
          <p:cNvPicPr>
            <a:picLocks noChangeAspect="1"/>
          </p:cNvPicPr>
          <p:nvPr/>
        </p:nvPicPr>
        <p:blipFill>
          <a:blip r:embed="rId50"/>
          <a:srcRect/>
          <a:stretch/>
        </p:blipFill>
        <p:spPr>
          <a:xfrm>
            <a:off x="9086010" y="4978016"/>
            <a:ext cx="886665" cy="640856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:a16="http://schemas.microsoft.com/office/drawing/2014/main" id="{DFB2F635-AF03-F7E6-DCC6-5C942EF1D902}"/>
              </a:ext>
            </a:extLst>
          </p:cNvPr>
          <p:cNvPicPr>
            <a:picLocks noChangeAspect="1"/>
          </p:cNvPicPr>
          <p:nvPr/>
        </p:nvPicPr>
        <p:blipFill>
          <a:blip r:embed="rId50"/>
          <a:srcRect/>
          <a:stretch/>
        </p:blipFill>
        <p:spPr>
          <a:xfrm>
            <a:off x="10522071" y="4966089"/>
            <a:ext cx="925783" cy="66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3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C5DE-B2A9-9F83-00F2-90F3644E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7E1586B-17DE-7EEB-0E08-C1DC9F2AA5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8656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7772400" imgH="10058400" progId="TCLayout.ActiveDocument.1">
                  <p:embed/>
                </p:oleObj>
              </mc:Choice>
              <mc:Fallback>
                <p:oleObj name="think-cell 幻灯片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31F732-7415-66ED-E1F6-76A74FF35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FEB008BB-4B88-B2DB-AFA6-5C0A742F0518}"/>
              </a:ext>
            </a:extLst>
          </p:cNvPr>
          <p:cNvSpPr txBox="1"/>
          <p:nvPr/>
        </p:nvSpPr>
        <p:spPr>
          <a:xfrm>
            <a:off x="383619" y="6159358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063F3A-7AB0-7630-D46D-DD4C10DAA256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Trying new brands is a consistent theme across generations.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45E293-239A-A4B6-9FD5-1C0F4E625004}"/>
              </a:ext>
            </a:extLst>
          </p:cNvPr>
          <p:cNvSpPr txBox="1"/>
          <p:nvPr/>
        </p:nvSpPr>
        <p:spPr>
          <a:xfrm>
            <a:off x="383619" y="762000"/>
            <a:ext cx="6742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Brand basket and loyalty of consumers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respondents purchased no. of brands and whether they buy outside of preferred brands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05A115-9EA2-5663-05A1-F85D9451096A}"/>
              </a:ext>
            </a:extLst>
          </p:cNvPr>
          <p:cNvSpPr txBox="1"/>
          <p:nvPr/>
        </p:nvSpPr>
        <p:spPr>
          <a:xfrm>
            <a:off x="458875" y="3003550"/>
            <a:ext cx="782587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" pitchFamily="2" charset="-122"/>
                <a:ea typeface="HarmonyOS Sans SC" pitchFamily="2" charset="-122"/>
              </a:rPr>
              <a:t>Loyal</a:t>
            </a:r>
            <a:endParaRPr kumimoji="1" lang="zh-CN" altLang="en-US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36E28E-FECE-C650-1C54-E4473CC08A45}"/>
              </a:ext>
            </a:extLst>
          </p:cNvPr>
          <p:cNvSpPr txBox="1"/>
          <p:nvPr/>
        </p:nvSpPr>
        <p:spPr>
          <a:xfrm>
            <a:off x="433754" y="5033963"/>
            <a:ext cx="16466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" pitchFamily="2" charset="-122"/>
                <a:ea typeface="HarmonyOS Sans SC" pitchFamily="2" charset="-122"/>
              </a:rPr>
              <a:t>Experimental</a:t>
            </a:r>
            <a:endParaRPr kumimoji="1" lang="zh-CN" altLang="en-US" b="1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F59BFD4-4CA7-3510-0C1E-1830B0E381C1}"/>
              </a:ext>
            </a:extLst>
          </p:cNvPr>
          <p:cNvCxnSpPr>
            <a:cxnSpLocks/>
          </p:cNvCxnSpPr>
          <p:nvPr/>
        </p:nvCxnSpPr>
        <p:spPr>
          <a:xfrm>
            <a:off x="2265866" y="2054225"/>
            <a:ext cx="0" cy="226695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53B2D87-A9EF-169F-E3E9-F19702F773D1}"/>
              </a:ext>
            </a:extLst>
          </p:cNvPr>
          <p:cNvCxnSpPr>
            <a:cxnSpLocks/>
          </p:cNvCxnSpPr>
          <p:nvPr/>
        </p:nvCxnSpPr>
        <p:spPr>
          <a:xfrm>
            <a:off x="2265866" y="4652963"/>
            <a:ext cx="0" cy="11303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309A0FC-4D2C-4F4A-A19C-4F4EF7E88A72}"/>
              </a:ext>
            </a:extLst>
          </p:cNvPr>
          <p:cNvSpPr txBox="1"/>
          <p:nvPr/>
        </p:nvSpPr>
        <p:spPr>
          <a:xfrm>
            <a:off x="2379783" y="2278063"/>
            <a:ext cx="1941557" cy="523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Buys exclusively from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&lt;5 preferred brands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A53BBF-6AB3-615B-D57C-CF4B43C56991}"/>
              </a:ext>
            </a:extLst>
          </p:cNvPr>
          <p:cNvSpPr txBox="1"/>
          <p:nvPr/>
        </p:nvSpPr>
        <p:spPr>
          <a:xfrm>
            <a:off x="2379783" y="3654425"/>
            <a:ext cx="1941557" cy="522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Buys exclusively from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&gt;5 preferred brands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6" name="Chart 3">
            <a:extLst>
              <a:ext uri="{FF2B5EF4-FFF2-40B4-BE49-F238E27FC236}">
                <a16:creationId xmlns:a16="http://schemas.microsoft.com/office/drawing/2014/main" id="{EEA2AC3B-AD44-44ED-186D-42F306F587A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1368722"/>
              </p:ext>
            </p:extLst>
          </p:nvPr>
        </p:nvGraphicFramePr>
        <p:xfrm>
          <a:off x="4602163" y="1625600"/>
          <a:ext cx="3022600" cy="4579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496B882B-EB7B-BC7C-FB06-F51A847F1ADC}"/>
              </a:ext>
            </a:extLst>
          </p:cNvPr>
          <p:cNvSpPr txBox="1"/>
          <p:nvPr/>
        </p:nvSpPr>
        <p:spPr>
          <a:xfrm>
            <a:off x="2379783" y="4902200"/>
            <a:ext cx="1832553" cy="738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Occasionally buys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outside of preferred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brands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D12D94E3-F9F1-7DF6-8A6B-2CEACF79753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96688790"/>
              </p:ext>
            </p:extLst>
          </p:nvPr>
        </p:nvGraphicFramePr>
        <p:xfrm>
          <a:off x="8231188" y="1625600"/>
          <a:ext cx="3022600" cy="4579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3" name="文本框 62">
            <a:extLst>
              <a:ext uri="{FF2B5EF4-FFF2-40B4-BE49-F238E27FC236}">
                <a16:creationId xmlns:a16="http://schemas.microsoft.com/office/drawing/2014/main" id="{0EA6566B-C1E0-171D-CB61-3B3A5D47DB85}"/>
              </a:ext>
            </a:extLst>
          </p:cNvPr>
          <p:cNvSpPr txBox="1"/>
          <p:nvPr/>
        </p:nvSpPr>
        <p:spPr>
          <a:xfrm>
            <a:off x="4602163" y="1508125"/>
            <a:ext cx="1229824" cy="369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Post-'90s</a:t>
            </a:r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CB61BE2-0742-A8E6-81D1-9E1B967FB04C}"/>
              </a:ext>
            </a:extLst>
          </p:cNvPr>
          <p:cNvSpPr txBox="1"/>
          <p:nvPr/>
        </p:nvSpPr>
        <p:spPr>
          <a:xfrm>
            <a:off x="8209451" y="1508125"/>
            <a:ext cx="1255472" cy="369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b="1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Post-’80s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70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A974-4A7C-14AD-C8FE-00155686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25495CE-DD96-9126-B9C2-C4C60A31C1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2404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7772400" imgH="10058400" progId="TCLayout.ActiveDocument.1">
                  <p:embed/>
                </p:oleObj>
              </mc:Choice>
              <mc:Fallback>
                <p:oleObj name="think-cell 幻灯片" r:id="rId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E1586B-17DE-7EEB-0E08-C1DC9F2AA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43FCE707-6C22-01B2-5958-160EF274612F}"/>
              </a:ext>
            </a:extLst>
          </p:cNvPr>
          <p:cNvSpPr txBox="1"/>
          <p:nvPr/>
        </p:nvSpPr>
        <p:spPr>
          <a:xfrm>
            <a:off x="383619" y="6159358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24A465-C9D6-AE1C-FE0E-98E643F3932D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All Chinese luxury consumers are influenced by both online and </a:t>
            </a:r>
            <a:r>
              <a:rPr lang="en-US" altLang="zh-CN" dirty="0" err="1">
                <a:effectLst/>
                <a:latin typeface="HarmonyOS Sans SC Medium" pitchFamily="2" charset="-122"/>
                <a:ea typeface="HarmonyOS Sans SC Medium" pitchFamily="2" charset="-122"/>
              </a:rPr>
              <a:t>ofline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 touchpoints.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4554EB-FB77-4C12-B7CA-03FF00E2A3AA}"/>
              </a:ext>
            </a:extLst>
          </p:cNvPr>
          <p:cNvSpPr txBox="1"/>
          <p:nvPr/>
        </p:nvSpPr>
        <p:spPr>
          <a:xfrm>
            <a:off x="383619" y="762000"/>
            <a:ext cx="4966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Information and channel preference of Chinese luxury consumers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Sources consulted and channel of last purchase experience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51" name="Chart 3">
            <a:extLst>
              <a:ext uri="{FF2B5EF4-FFF2-40B4-BE49-F238E27FC236}">
                <a16:creationId xmlns:a16="http://schemas.microsoft.com/office/drawing/2014/main" id="{5FDDF3AD-6858-BF5C-E3F2-B0DAFF5DBAF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2396504"/>
              </p:ext>
            </p:extLst>
          </p:nvPr>
        </p:nvGraphicFramePr>
        <p:xfrm>
          <a:off x="1042988" y="1457325"/>
          <a:ext cx="4191000" cy="4291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文本占位符 2">
            <a:extLst>
              <a:ext uri="{FF2B5EF4-FFF2-40B4-BE49-F238E27FC236}">
                <a16:creationId xmlns:a16="http://schemas.microsoft.com/office/drawing/2014/main" id="{DE2C14E5-956B-A5FC-DCC5-4C6B69858F1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719263" y="5532438"/>
            <a:ext cx="822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D1D889-4CB7-4661-B844-F68E62189E87}" type="datetime'''G''at''h''e''r&#10;''''i''nform''''''at''io''''''''''n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Gather
information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" name="文本占位符 2">
            <a:extLst>
              <a:ext uri="{FF2B5EF4-FFF2-40B4-BE49-F238E27FC236}">
                <a16:creationId xmlns:a16="http://schemas.microsoft.com/office/drawing/2014/main" id="{8D5C8C2D-0DDA-FD49-A5D2-4A831086DF7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826000" y="3587750"/>
            <a:ext cx="8159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65C51B7-E22A-44EB-B13D-06BD46C092C4}" type="datetime'B''ot''''h'''' ''of''fl''''ine''&#10;''a''''n''d ''on''lin''''''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Both offline
and online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xmlns:a16="http://schemas.microsoft.com/office/drawing/2014/main" id="{D9870AC1-17DE-2656-FA1A-1985E54363A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826000" y="1724025"/>
            <a:ext cx="6365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C1469188-0E0A-4F74-815F-099FCA03C02B}" type="datetime'P''''u''''''r''''c''''h''ase&#10;''''on''''''''li''''ne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Purchase
online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0" name="文本占位符 2">
            <a:extLst>
              <a:ext uri="{FF2B5EF4-FFF2-40B4-BE49-F238E27FC236}">
                <a16:creationId xmlns:a16="http://schemas.microsoft.com/office/drawing/2014/main" id="{2B134663-77D2-A707-27BF-30A395A9269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819525" y="5532438"/>
            <a:ext cx="6492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9EB5F6D-028F-46B4-BD78-4B7AD9184BAA}" type="datetime'P''''''ur''chase''''''''&#10;''''''p''''r''o''''du''ct''''''s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Purchase
products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F86856D-15A1-37CF-4D87-783777C79087}"/>
              </a:ext>
            </a:extLst>
          </p:cNvPr>
          <p:cNvSpPr txBox="1"/>
          <p:nvPr/>
        </p:nvSpPr>
        <p:spPr>
          <a:xfrm>
            <a:off x="445477" y="3371998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Both offline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and online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CDDB73E1-A0CC-CAE7-59AA-65CC65561CE8}"/>
              </a:ext>
            </a:extLst>
          </p:cNvPr>
          <p:cNvCxnSpPr>
            <a:cxnSpLocks/>
          </p:cNvCxnSpPr>
          <p:nvPr/>
        </p:nvCxnSpPr>
        <p:spPr>
          <a:xfrm>
            <a:off x="6518031" y="1457325"/>
            <a:ext cx="0" cy="4102588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ACC7307-0AC5-1693-39D8-C36A0597141F}"/>
              </a:ext>
            </a:extLst>
          </p:cNvPr>
          <p:cNvSpPr txBox="1"/>
          <p:nvPr/>
        </p:nvSpPr>
        <p:spPr>
          <a:xfrm>
            <a:off x="7303476" y="1815299"/>
            <a:ext cx="31245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All respondents have consulted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both </a:t>
            </a: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online and offline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sources at least </a:t>
            </a: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once per week</a:t>
            </a:r>
            <a:endParaRPr kumimoji="1" lang="zh-CN" altLang="en-US" sz="16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11C2DF2B-78A5-AA52-D01A-38E5DB360B52}"/>
              </a:ext>
            </a:extLst>
          </p:cNvPr>
          <p:cNvSpPr txBox="1"/>
          <p:nvPr/>
        </p:nvSpPr>
        <p:spPr>
          <a:xfrm>
            <a:off x="7302523" y="2908454"/>
            <a:ext cx="32624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~16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average number of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information sources on luxury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accessed regularly per consumer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0FCD9F74-D435-5FD3-006F-16DF3F31425F}"/>
              </a:ext>
            </a:extLst>
          </p:cNvPr>
          <p:cNvSpPr txBox="1"/>
          <p:nvPr/>
        </p:nvSpPr>
        <p:spPr>
          <a:xfrm>
            <a:off x="7302523" y="4617162"/>
            <a:ext cx="35525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rgbClr val="1041F0"/>
                </a:solidFill>
                <a:latin typeface="HarmonyOS Sans SC Black" pitchFamily="2" charset="-122"/>
                <a:ea typeface="HarmonyOS Sans SC Black" pitchFamily="2" charset="-122"/>
              </a:rPr>
              <a:t>~3-5 </a:t>
            </a:r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hours spent on luxury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and fashion information per week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200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0947-99D3-B9D3-D032-56BEA2EF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E6C3F46-55B3-C61F-ABBD-90B00A5EA1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14594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7772400" imgH="10058400" progId="TCLayout.ActiveDocument.1">
                  <p:embed/>
                </p:oleObj>
              </mc:Choice>
              <mc:Fallback>
                <p:oleObj name="think-cell 幻灯片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5495CE-DD96-9126-B9C2-C4C60A31C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2A3D9BAA-9B6F-AC98-C8CE-482102810E99}"/>
              </a:ext>
            </a:extLst>
          </p:cNvPr>
          <p:cNvSpPr txBox="1"/>
          <p:nvPr/>
        </p:nvSpPr>
        <p:spPr>
          <a:xfrm>
            <a:off x="383618" y="6350881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7E4C85-A188-6375-DC76-F7B5C86C25E3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All channels except for traditional ads command high engagement.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8BDE3E-B493-2F47-0973-30631B85E0AB}"/>
              </a:ext>
            </a:extLst>
          </p:cNvPr>
          <p:cNvSpPr txBox="1"/>
          <p:nvPr/>
        </p:nvSpPr>
        <p:spPr>
          <a:xfrm>
            <a:off x="383619" y="762000"/>
            <a:ext cx="4301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How do you get information about new luxury brands</a:t>
            </a:r>
            <a:r>
              <a:rPr kumimoji="1" lang="zh-CN" altLang="en-US" sz="1200" b="1" dirty="0">
                <a:latin typeface="HarmonyOS Sans SC" pitchFamily="2" charset="-122"/>
                <a:ea typeface="HarmonyOS Sans SC" pitchFamily="2" charset="-122"/>
              </a:rPr>
              <a:t>？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respondents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61" name="Chart 3">
            <a:extLst>
              <a:ext uri="{FF2B5EF4-FFF2-40B4-BE49-F238E27FC236}">
                <a16:creationId xmlns:a16="http://schemas.microsoft.com/office/drawing/2014/main" id="{6F65EB79-E243-2035-875A-C8130BBD8DB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5485692"/>
              </p:ext>
            </p:extLst>
          </p:nvPr>
        </p:nvGraphicFramePr>
        <p:xfrm>
          <a:off x="3371850" y="1143000"/>
          <a:ext cx="7789863" cy="147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60" name="Chart 3">
            <a:extLst>
              <a:ext uri="{FF2B5EF4-FFF2-40B4-BE49-F238E27FC236}">
                <a16:creationId xmlns:a16="http://schemas.microsoft.com/office/drawing/2014/main" id="{E3131D70-F4AD-07BB-E6EA-E2D4659AC37D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15792776"/>
              </p:ext>
            </p:extLst>
          </p:nvPr>
        </p:nvGraphicFramePr>
        <p:xfrm>
          <a:off x="3371850" y="2181225"/>
          <a:ext cx="7789863" cy="2892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9" name="Chart 3">
            <a:extLst>
              <a:ext uri="{FF2B5EF4-FFF2-40B4-BE49-F238E27FC236}">
                <a16:creationId xmlns:a16="http://schemas.microsoft.com/office/drawing/2014/main" id="{F7064991-B3D4-2948-CE9B-55426A37A6A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33190775"/>
              </p:ext>
            </p:extLst>
          </p:nvPr>
        </p:nvGraphicFramePr>
        <p:xfrm>
          <a:off x="3371850" y="4708525"/>
          <a:ext cx="7789863" cy="147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62" name="文本框 161">
            <a:extLst>
              <a:ext uri="{FF2B5EF4-FFF2-40B4-BE49-F238E27FC236}">
                <a16:creationId xmlns:a16="http://schemas.microsoft.com/office/drawing/2014/main" id="{06D70084-64C6-85E0-F55E-43D605E4B25D}"/>
              </a:ext>
            </a:extLst>
          </p:cNvPr>
          <p:cNvSpPr txBox="1"/>
          <p:nvPr/>
        </p:nvSpPr>
        <p:spPr>
          <a:xfrm>
            <a:off x="1455387" y="1496291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Word of mouth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14847B8-281B-BCBA-C097-8443189B8AB5}"/>
              </a:ext>
            </a:extLst>
          </p:cNvPr>
          <p:cNvSpPr txBox="1"/>
          <p:nvPr/>
        </p:nvSpPr>
        <p:spPr>
          <a:xfrm>
            <a:off x="1455387" y="1962985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Key opinion leaders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83F69F91-837C-343D-2B87-E8F445D9C3ED}"/>
              </a:ext>
            </a:extLst>
          </p:cNvPr>
          <p:cNvSpPr txBox="1"/>
          <p:nvPr/>
        </p:nvSpPr>
        <p:spPr>
          <a:xfrm>
            <a:off x="1455387" y="2529805"/>
            <a:ext cx="1983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Celebrity/sponsorship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6276704A-33DA-995A-9A0A-74DD67C23C3A}"/>
              </a:ext>
            </a:extLst>
          </p:cNvPr>
          <p:cNvSpPr txBox="1"/>
          <p:nvPr/>
        </p:nvSpPr>
        <p:spPr>
          <a:xfrm>
            <a:off x="1455387" y="2996499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Digital ads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B26901C9-E2F1-1289-8D91-187DD250FF18}"/>
              </a:ext>
            </a:extLst>
          </p:cNvPr>
          <p:cNvSpPr txBox="1"/>
          <p:nvPr/>
        </p:nvSpPr>
        <p:spPr>
          <a:xfrm>
            <a:off x="1455387" y="3458164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Media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3D4709D5-B60D-5963-2187-CF4DF6BE0721}"/>
              </a:ext>
            </a:extLst>
          </p:cNvPr>
          <p:cNvSpPr txBox="1"/>
          <p:nvPr/>
        </p:nvSpPr>
        <p:spPr>
          <a:xfrm>
            <a:off x="1455387" y="3924858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Traditional ads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8EB6FF99-14D9-56B9-D7CD-6A167E98875D}"/>
              </a:ext>
            </a:extLst>
          </p:cNvPr>
          <p:cNvSpPr txBox="1"/>
          <p:nvPr/>
        </p:nvSpPr>
        <p:spPr>
          <a:xfrm>
            <a:off x="1455387" y="4392945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E-commerce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A573DE2A-5A3E-309A-7C54-9B8AD91459D2}"/>
              </a:ext>
            </a:extLst>
          </p:cNvPr>
          <p:cNvSpPr txBox="1"/>
          <p:nvPr/>
        </p:nvSpPr>
        <p:spPr>
          <a:xfrm>
            <a:off x="1455387" y="4958897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Official brand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channels offline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1380FB3-8A52-89CA-CB0B-D1BA2C7C864D}"/>
              </a:ext>
            </a:extLst>
          </p:cNvPr>
          <p:cNvSpPr txBox="1"/>
          <p:nvPr/>
        </p:nvSpPr>
        <p:spPr>
          <a:xfrm>
            <a:off x="1455387" y="5478682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Official brand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channels online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8280341C-8ED4-DFE0-1E58-8861822BEFB5}"/>
              </a:ext>
            </a:extLst>
          </p:cNvPr>
          <p:cNvGrpSpPr/>
          <p:nvPr/>
        </p:nvGrpSpPr>
        <p:grpSpPr>
          <a:xfrm>
            <a:off x="1178510" y="1562760"/>
            <a:ext cx="240189" cy="1056603"/>
            <a:chOff x="1178510" y="1562761"/>
            <a:chExt cx="240189" cy="618464"/>
          </a:xfrm>
        </p:grpSpPr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508D94E4-6EAA-8B41-7747-5998659C7E8D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1573151"/>
              <a:ext cx="2401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线连接符 174">
              <a:extLst>
                <a:ext uri="{FF2B5EF4-FFF2-40B4-BE49-F238E27FC236}">
                  <a16:creationId xmlns:a16="http://schemas.microsoft.com/office/drawing/2014/main" id="{740264E7-09A4-EDC3-6C5E-5B9A9A4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2181225"/>
              <a:ext cx="2401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线连接符 175">
              <a:extLst>
                <a:ext uri="{FF2B5EF4-FFF2-40B4-BE49-F238E27FC236}">
                  <a16:creationId xmlns:a16="http://schemas.microsoft.com/office/drawing/2014/main" id="{418A03CB-9718-073C-0D7A-44DA0062C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10" y="1562761"/>
              <a:ext cx="0" cy="618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522BB78B-3A28-1248-397D-EF8E665FD37E}"/>
              </a:ext>
            </a:extLst>
          </p:cNvPr>
          <p:cNvGrpSpPr/>
          <p:nvPr/>
        </p:nvGrpSpPr>
        <p:grpSpPr>
          <a:xfrm>
            <a:off x="1178510" y="2740843"/>
            <a:ext cx="240189" cy="1694747"/>
            <a:chOff x="1178510" y="2628661"/>
            <a:chExt cx="240189" cy="608074"/>
          </a:xfrm>
        </p:grpSpPr>
        <p:cxnSp>
          <p:nvCxnSpPr>
            <p:cNvPr id="180" name="直线连接符 179">
              <a:extLst>
                <a:ext uri="{FF2B5EF4-FFF2-40B4-BE49-F238E27FC236}">
                  <a16:creationId xmlns:a16="http://schemas.microsoft.com/office/drawing/2014/main" id="{62538A60-27B6-6D91-CB55-55BDE7C253E0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2628661"/>
              <a:ext cx="240189" cy="0"/>
            </a:xfrm>
            <a:prstGeom prst="line">
              <a:avLst/>
            </a:prstGeom>
            <a:ln>
              <a:solidFill>
                <a:srgbClr val="00AC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线连接符 180">
              <a:extLst>
                <a:ext uri="{FF2B5EF4-FFF2-40B4-BE49-F238E27FC236}">
                  <a16:creationId xmlns:a16="http://schemas.microsoft.com/office/drawing/2014/main" id="{D04EFAE1-14ED-F3A2-1BC3-6D7263DD2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3236735"/>
              <a:ext cx="240189" cy="0"/>
            </a:xfrm>
            <a:prstGeom prst="line">
              <a:avLst/>
            </a:prstGeom>
            <a:ln>
              <a:solidFill>
                <a:srgbClr val="00AC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线连接符 181">
              <a:extLst>
                <a:ext uri="{FF2B5EF4-FFF2-40B4-BE49-F238E27FC236}">
                  <a16:creationId xmlns:a16="http://schemas.microsoft.com/office/drawing/2014/main" id="{4B5DC4F7-AC81-EAF7-18AF-44E045E07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10" y="2628661"/>
              <a:ext cx="0" cy="608074"/>
            </a:xfrm>
            <a:prstGeom prst="line">
              <a:avLst/>
            </a:prstGeom>
            <a:ln>
              <a:solidFill>
                <a:srgbClr val="00AC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0B35E2E9-9674-98B5-C1A4-C00A70B6AC9B}"/>
              </a:ext>
            </a:extLst>
          </p:cNvPr>
          <p:cNvGrpSpPr/>
          <p:nvPr/>
        </p:nvGrpSpPr>
        <p:grpSpPr>
          <a:xfrm>
            <a:off x="1178509" y="4614908"/>
            <a:ext cx="240189" cy="1279319"/>
            <a:chOff x="1178510" y="1573151"/>
            <a:chExt cx="240189" cy="608074"/>
          </a:xfrm>
        </p:grpSpPr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2AACB9F-3C53-C76E-F529-473EA190A8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1573151"/>
              <a:ext cx="240189" cy="0"/>
            </a:xfrm>
            <a:prstGeom prst="line">
              <a:avLst/>
            </a:prstGeom>
            <a:ln>
              <a:solidFill>
                <a:srgbClr val="1041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DC92C09-8E69-D39D-7E67-D199D4CBA542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10" y="2181225"/>
              <a:ext cx="240189" cy="0"/>
            </a:xfrm>
            <a:prstGeom prst="line">
              <a:avLst/>
            </a:prstGeom>
            <a:ln>
              <a:solidFill>
                <a:srgbClr val="1041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255FE5BA-8C29-0718-2A2B-AF346098F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10" y="1573151"/>
              <a:ext cx="0" cy="608074"/>
            </a:xfrm>
            <a:prstGeom prst="line">
              <a:avLst/>
            </a:prstGeom>
            <a:ln>
              <a:solidFill>
                <a:srgbClr val="1041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EFA341A-B1FB-A958-D71E-9E8FB6B8B7A5}"/>
              </a:ext>
            </a:extLst>
          </p:cNvPr>
          <p:cNvSpPr txBox="1"/>
          <p:nvPr/>
        </p:nvSpPr>
        <p:spPr>
          <a:xfrm>
            <a:off x="383619" y="1937172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Earned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6FFE9D2C-D6F5-2BE3-2AEB-913D7E60F276}"/>
              </a:ext>
            </a:extLst>
          </p:cNvPr>
          <p:cNvSpPr txBox="1"/>
          <p:nvPr/>
        </p:nvSpPr>
        <p:spPr>
          <a:xfrm>
            <a:off x="383618" y="3458164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Paid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6D6724B0-4459-BAF3-5DB2-D93BF1B173D8}"/>
              </a:ext>
            </a:extLst>
          </p:cNvPr>
          <p:cNvSpPr txBox="1"/>
          <p:nvPr/>
        </p:nvSpPr>
        <p:spPr>
          <a:xfrm>
            <a:off x="383618" y="5272007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Owned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BF121BEE-8300-05A1-4DB5-27E3A963E3E2}"/>
              </a:ext>
            </a:extLst>
          </p:cNvPr>
          <p:cNvSpPr txBox="1"/>
          <p:nvPr/>
        </p:nvSpPr>
        <p:spPr>
          <a:xfrm>
            <a:off x="383618" y="6147926"/>
            <a:ext cx="46313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b="0" baseline="30000" dirty="0"/>
              <a:t>1</a:t>
            </a:r>
            <a:r>
              <a:rPr lang="en-US" altLang="zh-CN" sz="1000" b="0" dirty="0"/>
              <a:t>KOLs can be either paid or earned; Ecommerce can be either paid or owned.</a:t>
            </a:r>
            <a:endParaRPr lang="zh-CN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77403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0FB69-9696-526F-2815-23CE6599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CCC1D74-48B5-C3F3-B9E8-F470C5A0E4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10069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7772400" imgH="10058400" progId="TCLayout.ActiveDocument.1">
                  <p:embed/>
                </p:oleObj>
              </mc:Choice>
              <mc:Fallback>
                <p:oleObj name="think-cell 幻灯片" r:id="rId1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6C3F46-55B3-C61F-ABBD-90B00A5EA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3134DC7E-3FE0-B540-FE53-638CB4CC02D5}"/>
              </a:ext>
            </a:extLst>
          </p:cNvPr>
          <p:cNvSpPr txBox="1"/>
          <p:nvPr/>
        </p:nvSpPr>
        <p:spPr>
          <a:xfrm>
            <a:off x="383618" y="6341461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FE80B3-D90D-1EE3-C9A4-B2977A7DD75E}"/>
              </a:ext>
            </a:extLst>
          </p:cNvPr>
          <p:cNvSpPr txBox="1"/>
          <p:nvPr/>
        </p:nvSpPr>
        <p:spPr>
          <a:xfrm>
            <a:off x="383619" y="312889"/>
            <a:ext cx="110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Among all engagement channels, the most impactful are in-person and in-store.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EA0012-3B21-D58C-F07F-DE40B8AF6A65}"/>
              </a:ext>
            </a:extLst>
          </p:cNvPr>
          <p:cNvSpPr txBox="1"/>
          <p:nvPr/>
        </p:nvSpPr>
        <p:spPr>
          <a:xfrm>
            <a:off x="383619" y="762000"/>
            <a:ext cx="776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What are the most impactful sources of information that influence your purchase </a:t>
            </a:r>
            <a:r>
              <a:rPr kumimoji="1" lang="zh-CN" altLang="en-US" sz="1200" b="1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top 3 mentions</a:t>
            </a:r>
            <a:r>
              <a:rPr kumimoji="1" lang="zh-CN" altLang="en-US" sz="1200" b="1" dirty="0">
                <a:latin typeface="HarmonyOS Sans SC" pitchFamily="2" charset="-122"/>
                <a:ea typeface="HarmonyOS Sans SC" pitchFamily="2" charset="-122"/>
              </a:rPr>
              <a:t>）？</a:t>
            </a:r>
            <a:endParaRPr kumimoji="1" lang="en-US" altLang="zh-CN" sz="1200" b="1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Survey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respondents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00" name="Chart 3">
            <a:extLst>
              <a:ext uri="{FF2B5EF4-FFF2-40B4-BE49-F238E27FC236}">
                <a16:creationId xmlns:a16="http://schemas.microsoft.com/office/drawing/2014/main" id="{CB17D4B4-58E0-1484-4AD6-92DCAFF8359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12061213"/>
              </p:ext>
            </p:extLst>
          </p:nvPr>
        </p:nvGraphicFramePr>
        <p:xfrm>
          <a:off x="373063" y="1763713"/>
          <a:ext cx="11185525" cy="387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8ABF0BDB-A83A-3D3D-9AB0-2E1B8AF216C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841500" y="5418138"/>
            <a:ext cx="9032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EE7EBBB-8EEC-4E20-8ED1-43BB5A5C1E82}" type="datetime'''''''''''''''E''''''''''''''-''''''c''om''me''rc''e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E-commerce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" name="文本占位符 2">
            <a:extLst>
              <a:ext uri="{FF2B5EF4-FFF2-40B4-BE49-F238E27FC236}">
                <a16:creationId xmlns:a16="http://schemas.microsoft.com/office/drawing/2014/main" id="{680787B4-A165-6A61-61AD-2EE983DBB63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190875" y="5418138"/>
            <a:ext cx="650875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B91C8C0-DE51-4201-9E0D-B622256B0A20}" type="datetime'O''f''fici''al&#10;b''''''r''and''&#10;online&#10;C''ha''''n''n''e''l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Official
brand
online
Channels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ACFC8550-5065-791E-BD4C-04D076FA03F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414838" y="5418138"/>
            <a:ext cx="6508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6BAF88-2AAA-4642-A666-DA37BD3FDC6B}" type="datetime'W''''''o''''r''d&#10;''''''o''''f'''''' m''''''o''''''u''th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Word
of mouth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3" name="文本占位符 2">
            <a:extLst>
              <a:ext uri="{FF2B5EF4-FFF2-40B4-BE49-F238E27FC236}">
                <a16:creationId xmlns:a16="http://schemas.microsoft.com/office/drawing/2014/main" id="{F584392F-3A3D-0CCE-2B17-5D9667E6061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543550" y="5418138"/>
            <a:ext cx="8445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C6883E-BC41-47D4-905C-B5A2C7A60E9F}" type="datetime'''Ke''y'''' op''''i''''nio''''''n''&#10;l''ea''d''er''''''''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Key opinion
leaders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13FF3C-1D4E-F66A-270B-94FD841E93E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644525" y="5418138"/>
            <a:ext cx="84455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E52157-717C-4579-8F43-CC390A56EE63}" type="datetime'In''''-pers''on''&#10;ex''per''i''ences&#10;''a''t bran''d&#10;s''tore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In-person
experiences
at brand
stores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D0313007-DB58-BCEF-0949-B737CA4AEB4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985125" y="5418138"/>
            <a:ext cx="8588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5E7BAE2-4011-4DD9-8B50-B3718F57D8D4}" type="datetime'''''''''''''Cele''b''ri''ty/''''''&#10;''''''sponsor''s''''hip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Celebrity/
sponsorship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1CFA3596-C7F4-D894-01CE-A8686E1396E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9266238" y="5418138"/>
            <a:ext cx="7477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53C1E4-9182-4397-B0B7-07DB9A3579F5}" type="datetime'''''Di''''g''i''ta''''''''''''l'''' ''''''''''ads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Digital ads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9" name="文本占位符 2">
            <a:extLst>
              <a:ext uri="{FF2B5EF4-FFF2-40B4-BE49-F238E27FC236}">
                <a16:creationId xmlns:a16="http://schemas.microsoft.com/office/drawing/2014/main" id="{757B6043-91DC-99AB-CDE9-9EF584A02A7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483850" y="5418138"/>
            <a:ext cx="7588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7639C83-4871-4A85-A779-B7C31CA54C04}" type="datetime'''''''''T''r''a''dit''i''''''on''a''l''''''''&#10;ad''''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Traditional
ads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112007A1-94A1-3FE3-CA26-CED36AC829E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970713" y="5418138"/>
            <a:ext cx="4397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DCF5C36-F73B-40DC-8D22-F3F63124F67E}" type="datetime'''''M''''''''''''''e''d''''ia''''''''''''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Media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5C5A77D-FEF7-BBFD-F112-CCFEA1549315}"/>
              </a:ext>
            </a:extLst>
          </p:cNvPr>
          <p:cNvSpPr txBox="1"/>
          <p:nvPr/>
        </p:nvSpPr>
        <p:spPr>
          <a:xfrm>
            <a:off x="796533" y="1570178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1041F0"/>
                </a:solidFill>
                <a:latin typeface="HarmonyOS Sans SC Medium" pitchFamily="2" charset="-122"/>
                <a:ea typeface="HarmonyOS Sans SC Medium" pitchFamily="2" charset="-122"/>
              </a:rPr>
              <a:t>90</a:t>
            </a:r>
            <a:endParaRPr kumimoji="1" lang="zh-CN" altLang="en-US" sz="2400" dirty="0">
              <a:solidFill>
                <a:srgbClr val="1041F0"/>
              </a:solidFill>
              <a:latin typeface="HarmonyOS Sans SC Medium" pitchFamily="2" charset="-122"/>
              <a:ea typeface="HarmonyOS Sans SC Medium" pitchFamily="2" charset="-122"/>
            </a:endParaRPr>
          </a:p>
        </p:txBody>
      </p: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FAB70738-8F1E-4E64-DAFA-CBFACF3C2E6A}"/>
              </a:ext>
            </a:extLst>
          </p:cNvPr>
          <p:cNvCxnSpPr>
            <a:cxnSpLocks/>
          </p:cNvCxnSpPr>
          <p:nvPr/>
        </p:nvCxnSpPr>
        <p:spPr>
          <a:xfrm>
            <a:off x="1908810" y="2434590"/>
            <a:ext cx="458343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B4A038A5-F375-0461-B190-F99EF338F930}"/>
              </a:ext>
            </a:extLst>
          </p:cNvPr>
          <p:cNvGrpSpPr/>
          <p:nvPr/>
        </p:nvGrpSpPr>
        <p:grpSpPr>
          <a:xfrm>
            <a:off x="2248377" y="2434590"/>
            <a:ext cx="86360" cy="907761"/>
            <a:chOff x="2248377" y="2434590"/>
            <a:chExt cx="86360" cy="907761"/>
          </a:xfrm>
        </p:grpSpPr>
        <p:cxnSp>
          <p:nvCxnSpPr>
            <p:cNvPr id="154" name="直线连接符 153">
              <a:extLst>
                <a:ext uri="{FF2B5EF4-FFF2-40B4-BE49-F238E27FC236}">
                  <a16:creationId xmlns:a16="http://schemas.microsoft.com/office/drawing/2014/main" id="{65213A90-A9DA-FC5E-E5DD-0026C2A04F0E}"/>
                </a:ext>
              </a:extLst>
            </p:cNvPr>
            <p:cNvCxnSpPr/>
            <p:nvPr/>
          </p:nvCxnSpPr>
          <p:spPr>
            <a:xfrm>
              <a:off x="2291557" y="2434590"/>
              <a:ext cx="0" cy="85153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26DD4670-9D98-3EE6-4DCE-38B41A9A4195}"/>
                </a:ext>
              </a:extLst>
            </p:cNvPr>
            <p:cNvSpPr/>
            <p:nvPr/>
          </p:nvSpPr>
          <p:spPr>
            <a:xfrm>
              <a:off x="2248377" y="3255991"/>
              <a:ext cx="86360" cy="8636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1541A383-7059-DB33-20BF-7A1A4B8B6396}"/>
              </a:ext>
            </a:extLst>
          </p:cNvPr>
          <p:cNvGrpSpPr/>
          <p:nvPr/>
        </p:nvGrpSpPr>
        <p:grpSpPr>
          <a:xfrm>
            <a:off x="3473132" y="2434590"/>
            <a:ext cx="86360" cy="1556544"/>
            <a:chOff x="2248377" y="2434590"/>
            <a:chExt cx="86360" cy="1556544"/>
          </a:xfrm>
        </p:grpSpPr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9D864983-8ECB-799D-270D-AA4069868A70}"/>
                </a:ext>
              </a:extLst>
            </p:cNvPr>
            <p:cNvCxnSpPr>
              <a:cxnSpLocks/>
              <a:endCxn id="163" idx="0"/>
            </p:cNvCxnSpPr>
            <p:nvPr/>
          </p:nvCxnSpPr>
          <p:spPr>
            <a:xfrm>
              <a:off x="2291557" y="2434590"/>
              <a:ext cx="0" cy="147018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F2B4673D-A426-8591-3189-FAFB63B5114C}"/>
                </a:ext>
              </a:extLst>
            </p:cNvPr>
            <p:cNvSpPr/>
            <p:nvPr/>
          </p:nvSpPr>
          <p:spPr>
            <a:xfrm>
              <a:off x="2248377" y="3904774"/>
              <a:ext cx="86360" cy="8636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CC77D441-9BE3-D27A-363F-A082A357706F}"/>
              </a:ext>
            </a:extLst>
          </p:cNvPr>
          <p:cNvGrpSpPr/>
          <p:nvPr/>
        </p:nvGrpSpPr>
        <p:grpSpPr>
          <a:xfrm>
            <a:off x="5932647" y="2434590"/>
            <a:ext cx="86360" cy="1988820"/>
            <a:chOff x="5932647" y="2434590"/>
            <a:chExt cx="86360" cy="1988820"/>
          </a:xfrm>
        </p:grpSpPr>
        <p:cxnSp>
          <p:nvCxnSpPr>
            <p:cNvPr id="177" name="直线连接符 176">
              <a:extLst>
                <a:ext uri="{FF2B5EF4-FFF2-40B4-BE49-F238E27FC236}">
                  <a16:creationId xmlns:a16="http://schemas.microsoft.com/office/drawing/2014/main" id="{18090454-498B-352B-9E78-8773ABCB8D9A}"/>
                </a:ext>
              </a:extLst>
            </p:cNvPr>
            <p:cNvCxnSpPr>
              <a:cxnSpLocks/>
            </p:cNvCxnSpPr>
            <p:nvPr/>
          </p:nvCxnSpPr>
          <p:spPr>
            <a:xfrm>
              <a:off x="5975827" y="2434590"/>
              <a:ext cx="0" cy="19024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4AFB98D5-80BF-F737-492B-130D118A3CE8}"/>
                </a:ext>
              </a:extLst>
            </p:cNvPr>
            <p:cNvSpPr/>
            <p:nvPr/>
          </p:nvSpPr>
          <p:spPr>
            <a:xfrm>
              <a:off x="5932647" y="4337050"/>
              <a:ext cx="86360" cy="8636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0E9AA6AF-2DD4-50F7-5958-EFF386DB60F5}"/>
              </a:ext>
            </a:extLst>
          </p:cNvPr>
          <p:cNvSpPr txBox="1"/>
          <p:nvPr/>
        </p:nvSpPr>
        <p:spPr>
          <a:xfrm>
            <a:off x="2291557" y="189454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Besides offline experiences, digital channels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are the most impactful sources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25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F2FD-954F-BB32-D052-B7AFE565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2B18189-06DB-72A4-1122-FE4DAA9EF8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67962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CC1D74-48B5-C3F3-B9E8-F470C5A0E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3C79CDFC-911F-23BA-9001-BA373359D45E}"/>
              </a:ext>
            </a:extLst>
          </p:cNvPr>
          <p:cNvSpPr txBox="1"/>
          <p:nvPr/>
        </p:nvSpPr>
        <p:spPr>
          <a:xfrm>
            <a:off x="383618" y="6341461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A9E036-F407-7D45-7992-B686879B5F35}"/>
              </a:ext>
            </a:extLst>
          </p:cNvPr>
          <p:cNvSpPr txBox="1"/>
          <p:nvPr/>
        </p:nvSpPr>
        <p:spPr>
          <a:xfrm>
            <a:off x="383619" y="312889"/>
            <a:ext cx="1109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Younger generations have a stronger preference for fashion and art events where they can</a:t>
            </a:r>
            <a:r>
              <a:rPr lang="zh-CN" altLang="en-US" dirty="0">
                <a:effectLst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highlight their sophisticated tastes.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1B0FAB-0EF1-DC0E-FD92-2409EC0E359C}"/>
              </a:ext>
            </a:extLst>
          </p:cNvPr>
          <p:cNvSpPr txBox="1"/>
          <p:nvPr/>
        </p:nvSpPr>
        <p:spPr>
          <a:xfrm>
            <a:off x="383618" y="1151951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 of respondents attracted by more than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1 type of event hosted by luxury brands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99" name="Chart 3">
            <a:extLst>
              <a:ext uri="{FF2B5EF4-FFF2-40B4-BE49-F238E27FC236}">
                <a16:creationId xmlns:a16="http://schemas.microsoft.com/office/drawing/2014/main" id="{299B583F-38C6-6D4E-36BB-9A9EB4914AE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3364711"/>
              </p:ext>
            </p:extLst>
          </p:nvPr>
        </p:nvGraphicFramePr>
        <p:xfrm>
          <a:off x="1530350" y="1944688"/>
          <a:ext cx="3765550" cy="431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" name="文本占位符 2">
            <a:extLst>
              <a:ext uri="{FF2B5EF4-FFF2-40B4-BE49-F238E27FC236}">
                <a16:creationId xmlns:a16="http://schemas.microsoft.com/office/drawing/2014/main" id="{F413E978-1527-698F-04C3-22C8EC437E5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484188" y="2757488"/>
            <a:ext cx="671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A9C482F-7241-4536-BF34-235A24D8087D}" type="datetime'Pos''t-''''''''’''''''9''''''''''0''''''''''''s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Post-’90s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A6913097-DF1F-748D-BC0C-8C0D816679F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84188" y="4019550"/>
            <a:ext cx="6715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D5D8E00-BA6F-453A-9E23-5BEE7E08CDA6}" type="datetime'''P''''o''''s''''''''''''t''''''''''-’''''''8''''0''''''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Post-’80s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EFED0507-DA2B-337D-6404-E12FF48C12A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84188" y="5280025"/>
            <a:ext cx="10271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F076E9A-67C6-42FF-B847-C9C0106E629F}" type="datetime'P''''''ost''-''''''''''’''''''''''6''''''5s/&quot;''''''''''7''0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Post-’65s/"70s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40F8ABC-0C90-1BB1-0631-1B3F81302AC7}"/>
              </a:ext>
            </a:extLst>
          </p:cNvPr>
          <p:cNvSpPr txBox="1"/>
          <p:nvPr/>
        </p:nvSpPr>
        <p:spPr>
          <a:xfrm>
            <a:off x="6229247" y="1151951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Preferred events hosted by luxury brands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survey respondents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98" name="Chart 3">
            <a:extLst>
              <a:ext uri="{FF2B5EF4-FFF2-40B4-BE49-F238E27FC236}">
                <a16:creationId xmlns:a16="http://schemas.microsoft.com/office/drawing/2014/main" id="{FA15B76E-D8E2-EE71-5106-4E3552969EB4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839603156"/>
              </p:ext>
            </p:extLst>
          </p:nvPr>
        </p:nvGraphicFramePr>
        <p:xfrm>
          <a:off x="7294563" y="1944688"/>
          <a:ext cx="4095750" cy="431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77E01E1C-90EC-8096-7740-980BB478EE6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6340475" y="2990850"/>
            <a:ext cx="3683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3E161CF-1FC9-4945-AAD7-C57A7A514C48}" type="datetime'''''''''''Ar''''t''''''&#10;s''''''''''''h''''''''''''''ow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Art
show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7" name="文本占位符 2">
            <a:extLst>
              <a:ext uri="{FF2B5EF4-FFF2-40B4-BE49-F238E27FC236}">
                <a16:creationId xmlns:a16="http://schemas.microsoft.com/office/drawing/2014/main" id="{F0AC4AD2-1B01-5F09-A0D0-5B6E5839766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340475" y="3703638"/>
            <a:ext cx="6238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DEFC00A-6F4A-41CD-802D-B900A87EF931}" type="datetime'C''o''''c''''''''kt''a''''''''''''''''''''i''''''l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Cocktails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2" name="文本占位符 2">
            <a:extLst>
              <a:ext uri="{FF2B5EF4-FFF2-40B4-BE49-F238E27FC236}">
                <a16:creationId xmlns:a16="http://schemas.microsoft.com/office/drawing/2014/main" id="{C57C2A7F-84C8-0FA0-1C89-D65B599F1A1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340475" y="2360613"/>
            <a:ext cx="5429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409F8F2-18DF-4F5E-BD50-45A4398D0CDD}" type="datetime'''''''F''a''''''''s''''h''ion''''''''&#10;''''''''''sh''''''o''w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Fashion
show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3FD5FEBE-0343-905C-51FD-70702AADC8A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340475" y="4883150"/>
            <a:ext cx="9350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0E35DA3-736E-4CAA-9379-DC26AC4C5AA4}" type="datetime'C''ultu''r''e o''''''r&#10;b''''rand'' ''''le''''''c''tu''''''r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Culture or
brand lecture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3" name="文本占位符 2">
            <a:extLst>
              <a:ext uri="{FF2B5EF4-FFF2-40B4-BE49-F238E27FC236}">
                <a16:creationId xmlns:a16="http://schemas.microsoft.com/office/drawing/2014/main" id="{C66D4A9C-EB27-45CC-39EA-E8CDEE21189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340475" y="5595938"/>
            <a:ext cx="3651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549F283-01BA-4615-9D02-E59C49BFA800}" type="datetime'''''''''''P''''''''a''''''''r''''''''''''t''''''''''''y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Party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657FF17A-C058-8AA7-9A13-C16AB4834C2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340475" y="4252913"/>
            <a:ext cx="7096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191562B-2628-44DD-9712-F59A235A7260}" type="datetime'A''''''f''te''''''''''''rno''''''on''&#10;''''t''''e''''''''''''a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Afternoon
tea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CBA45648-FE03-25FD-C4DE-EE0CE0B95C6E}"/>
              </a:ext>
            </a:extLst>
          </p:cNvPr>
          <p:cNvSpPr/>
          <p:nvPr/>
        </p:nvSpPr>
        <p:spPr>
          <a:xfrm>
            <a:off x="6340475" y="1828800"/>
            <a:ext cx="147411" cy="147411"/>
          </a:xfrm>
          <a:prstGeom prst="rect">
            <a:avLst/>
          </a:prstGeom>
          <a:solidFill>
            <a:srgbClr val="001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249B405-34FE-D167-B840-269601331A76}"/>
              </a:ext>
            </a:extLst>
          </p:cNvPr>
          <p:cNvSpPr txBox="1"/>
          <p:nvPr/>
        </p:nvSpPr>
        <p:spPr>
          <a:xfrm>
            <a:off x="6487886" y="1764005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Post-'90s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72624CE1-457B-8076-B5D9-596DB6CC60C8}"/>
              </a:ext>
            </a:extLst>
          </p:cNvPr>
          <p:cNvSpPr/>
          <p:nvPr/>
        </p:nvSpPr>
        <p:spPr>
          <a:xfrm>
            <a:off x="7489294" y="1831295"/>
            <a:ext cx="147411" cy="147411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49C14620-5AE9-E485-B690-0B6C09C00A91}"/>
              </a:ext>
            </a:extLst>
          </p:cNvPr>
          <p:cNvSpPr txBox="1"/>
          <p:nvPr/>
        </p:nvSpPr>
        <p:spPr>
          <a:xfrm>
            <a:off x="7636705" y="1766500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Post-’80s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858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E412A71-4548-8A64-DB46-4C60B7021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37532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2CE2A92B-01EA-162B-AC82-8825642A3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669655"/>
              </p:ext>
            </p:extLst>
          </p:nvPr>
        </p:nvGraphicFramePr>
        <p:xfrm>
          <a:off x="525972" y="1352172"/>
          <a:ext cx="10798308" cy="43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25E030E-C1E0-7230-F2D8-E98254D5C6D4}"/>
              </a:ext>
            </a:extLst>
          </p:cNvPr>
          <p:cNvSpPr txBox="1"/>
          <p:nvPr/>
        </p:nvSpPr>
        <p:spPr>
          <a:xfrm>
            <a:off x="428000" y="270705"/>
            <a:ext cx="1109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Thanks to social-media engagement and cultivation, younger consumers make faster</a:t>
            </a:r>
            <a:r>
              <a:rPr lang="zh-CN" altLang="en-US" dirty="0">
                <a:effectLst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purchasing decisions.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65C600-933D-DC66-E016-6E6CB42C9B1B}"/>
              </a:ext>
            </a:extLst>
          </p:cNvPr>
          <p:cNvSpPr txBox="1"/>
          <p:nvPr/>
        </p:nvSpPr>
        <p:spPr>
          <a:xfrm>
            <a:off x="428000" y="1004807"/>
            <a:ext cx="7081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How long did you consider before making the purchase decision?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consumers surveyed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74CA12-3070-3313-166B-09BB8C88849E}"/>
              </a:ext>
            </a:extLst>
          </p:cNvPr>
          <p:cNvSpPr txBox="1"/>
          <p:nvPr/>
        </p:nvSpPr>
        <p:spPr>
          <a:xfrm>
            <a:off x="1513499" y="1711208"/>
            <a:ext cx="2182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rgbClr val="2151FF"/>
                </a:solidFill>
                <a:latin typeface="HarmonyOS Sans SC Medium" pitchFamily="2" charset="-122"/>
                <a:ea typeface="HarmonyOS Sans SC Medium" pitchFamily="2" charset="-122"/>
              </a:rPr>
              <a:t>60%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of post-'80s/90s make their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decision in &lt;1 week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A6F02B2-E3C7-98FE-EA07-4C1DB0D8E347}"/>
              </a:ext>
            </a:extLst>
          </p:cNvPr>
          <p:cNvGrpSpPr/>
          <p:nvPr/>
        </p:nvGrpSpPr>
        <p:grpSpPr>
          <a:xfrm>
            <a:off x="1371917" y="5289438"/>
            <a:ext cx="3613230" cy="409234"/>
            <a:chOff x="1469888" y="6053559"/>
            <a:chExt cx="3613230" cy="409234"/>
          </a:xfrm>
        </p:grpSpPr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4462727D-B81A-F5A5-FC65-8075EA64450A}"/>
                </a:ext>
              </a:extLst>
            </p:cNvPr>
            <p:cNvCxnSpPr/>
            <p:nvPr/>
          </p:nvCxnSpPr>
          <p:spPr>
            <a:xfrm>
              <a:off x="1469888" y="6053559"/>
              <a:ext cx="0" cy="4092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0183EF02-4DE2-E489-86CD-D79A8FC2F2DA}"/>
                </a:ext>
              </a:extLst>
            </p:cNvPr>
            <p:cNvCxnSpPr/>
            <p:nvPr/>
          </p:nvCxnSpPr>
          <p:spPr>
            <a:xfrm>
              <a:off x="5083118" y="6053559"/>
              <a:ext cx="0" cy="4092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A286F0A7-CB5F-B131-3375-B09D07B8FF9D}"/>
                </a:ext>
              </a:extLst>
            </p:cNvPr>
            <p:cNvCxnSpPr>
              <a:cxnSpLocks/>
            </p:cNvCxnSpPr>
            <p:nvPr/>
          </p:nvCxnSpPr>
          <p:spPr>
            <a:xfrm>
              <a:off x="1469888" y="6462793"/>
              <a:ext cx="36132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538036B-83D2-FE1F-3C40-9F41D9FAA13A}"/>
              </a:ext>
            </a:extLst>
          </p:cNvPr>
          <p:cNvSpPr txBox="1"/>
          <p:nvPr/>
        </p:nvSpPr>
        <p:spPr>
          <a:xfrm>
            <a:off x="2724220" y="5698672"/>
            <a:ext cx="22044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rgbClr val="2151FF"/>
                </a:solidFill>
                <a:latin typeface="HarmonyOS Sans SC Medium" pitchFamily="2" charset="-122"/>
                <a:ea typeface="HarmonyOS Sans SC Medium" pitchFamily="2" charset="-122"/>
              </a:rPr>
              <a:t>33%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of post-65s/70s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BE46E8-B2C5-8930-3D87-BEBEE06FE3D4}"/>
              </a:ext>
            </a:extLst>
          </p:cNvPr>
          <p:cNvSpPr txBox="1"/>
          <p:nvPr/>
        </p:nvSpPr>
        <p:spPr>
          <a:xfrm>
            <a:off x="3540522" y="5352255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compared</a:t>
            </a:r>
            <a:r>
              <a:rPr kumimoji="1" lang="en-US" altLang="zh-CN" dirty="0"/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to only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A4778E-9F5F-D6CA-4E88-AF767FF088B1}"/>
              </a:ext>
            </a:extLst>
          </p:cNvPr>
          <p:cNvSpPr txBox="1"/>
          <p:nvPr/>
        </p:nvSpPr>
        <p:spPr>
          <a:xfrm>
            <a:off x="428000" y="6287062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800" b="1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sz="1000" dirty="0"/>
              <a:t>SOURCE: </a:t>
            </a:r>
            <a:r>
              <a:rPr lang="en-US" altLang="zh-CN" sz="1000" b="0" dirty="0"/>
              <a:t>China Luxury Report 2019</a:t>
            </a:r>
            <a:endParaRPr lang="zh-CN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3181896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557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4.41807944913102446094E+00&quot;&gt;&lt;m_msothmcolidx val=&quot;0&quot;/&gt;&lt;m_rgb r=&quot;00&quot; g=&quot;AC&quot; b=&quot;FB&quot;/&gt;&lt;/elem&gt;&lt;elem m_fUsage=&quot;3.39228187737855790829E+00&quot;&gt;&lt;m_msothmcolidx val=&quot;0&quot;/&gt;&lt;m_rgb r=&quot;00&quot; g=&quot;1D&quot; b=&quot;2D&quot;/&gt;&lt;/elem&gt;&lt;elem m_fUsage=&quot;1.75784657376878650226E+00&quot;&gt;&lt;m_msothmcolidx val=&quot;0&quot;/&gt;&lt;m_rgb r=&quot;10&quot; g=&quot;41&quot; b=&quot;EF&quot;/&gt;&lt;/elem&gt;&lt;elem m_fUsage=&quot;6.46108188922667886489E-02&quot;&gt;&lt;m_msothmcolidx val=&quot;0&quot;/&gt;&lt;m_rgb r=&quot;98&quot; g=&quot;E8&quot; b=&quot;F2&quot;/&gt;&lt;/elem&gt;&lt;elem m_fUsage=&quot;5.81497370030401097840E-02&quot;&gt;&lt;m_msothmcolidx val=&quot;0&quot;/&gt;&lt;m_rgb r=&quot;00&quot; g=&quot;98&quot; b=&quot;B7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QQ1hbnW91ciwdiPg3Hh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0iYnd9LvOZrCR4eGJj.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xx5eoLutJK4Z1ko.qqL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8SDm78Q08E1UynxPGsLo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bwOQqIMmkkW2e.Y2JTK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.eo0pLhy124IMiPZbvu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2Kh0rYpSggDfidKVJNey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6MB5RS0KvnZfORBi_lCF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XyaLa43Ev93a7i0PpY5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F3cF8GHu.Qt9VO9pAF0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P945VTDdWDm3sWZp1Dh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vc7NgBPxyA4yYBCViZns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4D1J8tkHQNNMr88YkzZ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7js0YOtpBl7ZXbI5Mnl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wuGDeU6tCEmbH7MkjUr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mXcNc9WOf5bHQDCYNDq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tGbsszjfFWi8KaR_Lvz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EqcBbLpRbtJpl9..k1Q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Paghep.QvA0Fiq3WoRzm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CrjL0BZ3z6L7TWmVSR2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A5_KlUlQ7zbnAYrKyqF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7D1FN73FWNKp5dPET3Jj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uxsCWrcAMsA0qh.dNXE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zcNF48xoS9fHwBz6sT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WxWrUtCxVfd0KwFzOAH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bpcT9ty.ehtrUn6RO1e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7HoumrtFQIJEdl8v5P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cvsjGGEsDrilsnDtH0f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ebZpLNhJuOL5TGca68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nuD4HPLdwM3RuaHZ7Kz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DNWmgwweTELgVMJ2Z2D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zo6INDR8vOGjMx5Hk_J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iTcgu2ApPCJ4JovLVaKI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4WxiK2l5VN1MHBgj_tK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w1dyIvNj8nqlbVioOIj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6lIknqnb.Ya1pkMiXwL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7qHyEw2cwNWA5eZ_DSj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_pM6AyBhRunS6p5V8MUw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IuQViWFdA_V.K68iZHp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qPb_I5jr2J9eLTqxv5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PvDy6gHnTB8adV1KKkq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QvAEpKZb31l8pXh58ex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r0FxSPMj.9X94NjE4sl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oC0nK0t16HgGioIHPC3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nhlVtbhschEzr4Okhr2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xKTDZfpgq9D059Qe_di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rg4yfzZ_ZaKXcTv4Hwe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iWCtOEoPr7wGRhgpD.a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DxsCN3nu52y9wBrMHJh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t9y2LzgGfLi0T81N_Fko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AUkMyrCPWCr.gwCmgIX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RrsOWa8BKFEnaL1WStn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AC_AURx7lsi3O5.K6yO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oHgRVHOv8RPL13GtynH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n98bsrVXUnzgyIy.nLS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WPMOVOuaU3wPsRqiihR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.H1L5zhhw2MW2x8Vxrv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0db0MUtcWK55Db5azRV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OCVTHeNNxMvLPE70R6r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ElEBldgK_qqnu.HNAJXK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MfVmfXh7m3iVjsBXEMT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m2jhBwuLKisJ3ORMnZI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dJS6UggQkxqerhFGUWZ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cYtjdnt3A5sYHY3tsNn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hYbcdU.DUdpNw56g88A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qmCHvHIpTLEdrXWPO6.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plLtzTJq8NNtBP0.Nm6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iDRNJxN8ZfWu4c9N8Du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3d.ETv_ySWBwMDe3Jy5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i2PGgty5LAgJhDvrxIs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sJj8rKYZ4pXd71ed407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VuapML4c_nI4WHVdskr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R2bq3i07ifUyB87h6V5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0i25J_WdlmmxIYkFef1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wqcQeCSifllakXNEhU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DUQ9Z..irZk1_XqQyO.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4m70f.m9woYGNI1To3.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LcKZCeVVf53yhdmALXQ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XaCJ6sccVdxCSsIgJG6F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sgZ4NEXF8Tur36MUxCw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oqyu52ABeIpTv1_scY4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0CHUp3ZeT3H753x9fUF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aHROJZ0jpFGIRMjTNug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nToGJjrGITQudgbgA81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ZxnBCnS7tgFCPIyPpQL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EW_hNNnTigJbLkGvn2y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FgUQ4mSzx3Y2XJNEcC.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jZCnguRtMS17CAixgL.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RLyoZ0JxI3PC2VxuLrf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60GZ23A2pAbVQ_zaHX2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7r5Xktzq1YZ4kRbYnAA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gEif2ddwl7bITEdWIZM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1ALTGjee2Anc7RWifGk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2lSTcc5iHadPuCfOQ86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1uzMfQTvJSQFM1qRTccz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_3EUAdwXOAM9k.iGNtq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EeAaAIQ.gI4l2U.GZ9B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6v.2ckRDhAUp8KaL3Ax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QI6NUljdBSzIqwBAIh2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nWypEfqGt5YysW327AN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4pYp42vCHaYvWis3D.FP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Mk75Q8WHPitwG8xZD7Y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gDK03wSZ2H.hT3Z_GmW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LT23mLZOiNKGZtJHlSH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A5ylA46pyJLhTZFF1CC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rhg2lGNCBCJkgesl04M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q8HMrDNACvYMx1x1sMn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FVvGH9CaLE4b_CWFRI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pk.yLXyFmxcYeuMjzFT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0lEisWTidQt_ySas6xs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957</Words>
  <Application>Microsoft Macintosh PowerPoint</Application>
  <PresentationFormat>宽屏</PresentationFormat>
  <Paragraphs>292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HarmonyOS Sans SC</vt:lpstr>
      <vt:lpstr>HarmonyOS Sans SC Black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3</cp:revision>
  <dcterms:created xsi:type="dcterms:W3CDTF">2024-09-23T12:10:59Z</dcterms:created>
  <dcterms:modified xsi:type="dcterms:W3CDTF">2024-11-15T04:30:32Z</dcterms:modified>
</cp:coreProperties>
</file>