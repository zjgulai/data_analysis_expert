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docx" ContentType="application/vnd.openxmlformats-officedocument.wordprocessingml.document"/>
  <Default Extension="ppt" ContentType="application/vnd.ms-powerpoint"/>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3" r:id="rId4"/>
    <p:sldId id="258" r:id="rId5"/>
    <p:sldId id="259" r:id="rId6"/>
    <p:sldId id="260" r:id="rId7"/>
    <p:sldId id="261" r:id="rId8"/>
    <p:sldId id="262" r:id="rId9"/>
    <p:sldId id="265" r:id="rId10"/>
    <p:sldId id="264" r:id="rId11"/>
    <p:sldId id="266" r:id="rId12"/>
    <p:sldId id="267" r:id="rId13"/>
    <p:sldId id="268" r:id="rId14"/>
    <p:sldId id="269" r:id="rId15"/>
    <p:sldId id="270" r:id="rId16"/>
    <p:sldId id="271" r:id="rId17"/>
    <p:sldId id="272" r:id="rId18"/>
    <p:sldId id="275" r:id="rId19"/>
    <p:sldId id="273" r:id="rId20"/>
    <p:sldId id="276" r:id="rId21"/>
    <p:sldId id="274" r:id="rId22"/>
    <p:sldId id="277" r:id="rId23"/>
    <p:sldId id="279" r:id="rId24"/>
    <p:sldId id="278" r:id="rId25"/>
    <p:sldId id="280" r:id="rId26"/>
    <p:sldId id="281" r:id="rId27"/>
    <p:sldId id="282" r:id="rId28"/>
    <p:sldId id="283" r:id="rId29"/>
    <p:sldId id="289" r:id="rId30"/>
    <p:sldId id="284" r:id="rId31"/>
    <p:sldId id="285" r:id="rId32"/>
    <p:sldId id="286" r:id="rId33"/>
    <p:sldId id="287" r:id="rId34"/>
    <p:sldId id="288"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1" d="100"/>
          <a:sy n="101" d="100"/>
        </p:scale>
        <p:origin x="-264"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8072CD-20D5-455B-8A71-748292C8EE2F}"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zh-CN" altLang="en-US"/>
        </a:p>
      </dgm:t>
    </dgm:pt>
    <dgm:pt modelId="{06B89794-7AD2-4F4B-9500-5565EAA4B0CD}">
      <dgm:prSet phldrT="[文本]"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a:latin typeface="微软雅黑" pitchFamily="34" charset="-122"/>
              <a:ea typeface="微软雅黑" pitchFamily="34" charset="-122"/>
            </a:rPr>
            <a:t>商品部经理</a:t>
          </a:r>
        </a:p>
      </dgm:t>
    </dgm:pt>
    <dgm:pt modelId="{17A6E945-4C8D-49BB-8545-41D462901AB6}" type="parTrans" cxnId="{333997DA-1AA2-4D79-A90F-82282DB5C431}">
      <dgm:prSet/>
      <dgm:spPr/>
      <dgm:t>
        <a:bodyPr/>
        <a:lstStyle/>
        <a:p>
          <a:endParaRPr lang="zh-CN" altLang="en-US" sz="1400">
            <a:latin typeface="微软雅黑" pitchFamily="34" charset="-122"/>
            <a:ea typeface="微软雅黑" pitchFamily="34" charset="-122"/>
          </a:endParaRPr>
        </a:p>
      </dgm:t>
    </dgm:pt>
    <dgm:pt modelId="{6D832C55-8589-4C8F-B9B6-9C69767D337B}" type="sibTrans" cxnId="{333997DA-1AA2-4D79-A90F-82282DB5C431}">
      <dgm:prSet custT="1"/>
      <dgm:spPr/>
      <dgm:t>
        <a:bodyPr/>
        <a:lstStyle/>
        <a:p>
          <a:endParaRPr lang="zh-CN" altLang="en-US" sz="1400">
            <a:latin typeface="微软雅黑" pitchFamily="34" charset="-122"/>
            <a:ea typeface="微软雅黑" pitchFamily="34" charset="-122"/>
          </a:endParaRPr>
        </a:p>
      </dgm:t>
    </dgm:pt>
    <dgm:pt modelId="{C72AF209-9451-495D-8EDD-4266666BF004}" type="asst">
      <dgm:prSet phldrT="[文本]"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a:latin typeface="微软雅黑" pitchFamily="34" charset="-122"/>
              <a:ea typeface="微软雅黑" pitchFamily="34" charset="-122"/>
            </a:rPr>
            <a:t>商品部主管</a:t>
          </a:r>
        </a:p>
      </dgm:t>
    </dgm:pt>
    <dgm:pt modelId="{00B31FD2-1D7A-42C4-BEC7-85D44DFA053D}" type="parTrans" cxnId="{B32725E0-D4B1-42CD-9146-049149F8E69C}">
      <dgm:prSet/>
      <dgm:spPr/>
      <dgm:t>
        <a:bodyPr/>
        <a:lstStyle/>
        <a:p>
          <a:endParaRPr lang="zh-CN" altLang="en-US" sz="1400">
            <a:latin typeface="微软雅黑" pitchFamily="34" charset="-122"/>
            <a:ea typeface="微软雅黑" pitchFamily="34" charset="-122"/>
          </a:endParaRPr>
        </a:p>
      </dgm:t>
    </dgm:pt>
    <dgm:pt modelId="{949F3632-7FB3-4776-AF2F-D551BEFE8E6E}" type="sibTrans" cxnId="{B32725E0-D4B1-42CD-9146-049149F8E69C}">
      <dgm:prSet custT="1"/>
      <dgm:spPr/>
      <dgm:t>
        <a:bodyPr/>
        <a:lstStyle/>
        <a:p>
          <a:endParaRPr lang="zh-CN" altLang="en-US" sz="1400">
            <a:latin typeface="微软雅黑" pitchFamily="34" charset="-122"/>
            <a:ea typeface="微软雅黑" pitchFamily="34" charset="-122"/>
          </a:endParaRPr>
        </a:p>
      </dgm:t>
    </dgm:pt>
    <dgm:pt modelId="{1348C430-9185-41F2-A02D-776B4B7A12FC}">
      <dgm:prSet phldrT="[文本]"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a:latin typeface="微软雅黑" pitchFamily="34" charset="-122"/>
              <a:ea typeface="微软雅黑" pitchFamily="34" charset="-122"/>
            </a:rPr>
            <a:t>售后组</a:t>
          </a:r>
        </a:p>
      </dgm:t>
    </dgm:pt>
    <dgm:pt modelId="{195B6DE7-64B5-4226-9A5B-E8B9DD5AF7B4}" type="parTrans" cxnId="{29C2CB65-818F-42F6-8EC5-0433D2EBF311}">
      <dgm:prSet/>
      <dgm:spPr/>
      <dgm:t>
        <a:bodyPr/>
        <a:lstStyle/>
        <a:p>
          <a:endParaRPr lang="zh-CN" altLang="en-US" sz="1400">
            <a:latin typeface="微软雅黑" pitchFamily="34" charset="-122"/>
            <a:ea typeface="微软雅黑" pitchFamily="34" charset="-122"/>
          </a:endParaRPr>
        </a:p>
      </dgm:t>
    </dgm:pt>
    <dgm:pt modelId="{09882DE9-AC2C-4721-85B7-BDBC7CAC5BA5}" type="sibTrans" cxnId="{29C2CB65-818F-42F6-8EC5-0433D2EBF311}">
      <dgm:prSet custT="1"/>
      <dgm:spPr/>
      <dgm:t>
        <a:bodyPr/>
        <a:lstStyle/>
        <a:p>
          <a:endParaRPr lang="zh-CN" altLang="en-US" sz="1400">
            <a:latin typeface="微软雅黑" pitchFamily="34" charset="-122"/>
            <a:ea typeface="微软雅黑" pitchFamily="34" charset="-122"/>
          </a:endParaRPr>
        </a:p>
      </dgm:t>
    </dgm:pt>
    <dgm:pt modelId="{DECE0C0F-83C6-4DE5-AE59-849CD8F258E2}">
      <dgm:prSet phldrT="[文本]"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dirty="0">
              <a:latin typeface="微软雅黑" pitchFamily="34" charset="-122"/>
              <a:ea typeface="微软雅黑" pitchFamily="34" charset="-122"/>
            </a:rPr>
            <a:t>直</a:t>
          </a:r>
          <a:r>
            <a:rPr lang="zh-CN" altLang="en-US" sz="1400" dirty="0" smtClean="0">
              <a:latin typeface="微软雅黑" pitchFamily="34" charset="-122"/>
              <a:ea typeface="微软雅黑" pitchFamily="34" charset="-122"/>
            </a:rPr>
            <a:t>营商品组</a:t>
          </a:r>
          <a:endParaRPr lang="zh-CN" altLang="en-US" sz="1400" dirty="0">
            <a:latin typeface="微软雅黑" pitchFamily="34" charset="-122"/>
            <a:ea typeface="微软雅黑" pitchFamily="34" charset="-122"/>
          </a:endParaRPr>
        </a:p>
      </dgm:t>
    </dgm:pt>
    <dgm:pt modelId="{082B9BB3-DEA1-4FDA-AB02-DF2FA4C525DA}" type="parTrans" cxnId="{E6F2299E-D493-490C-AA66-677873D3A963}">
      <dgm:prSet/>
      <dgm:spPr/>
      <dgm:t>
        <a:bodyPr/>
        <a:lstStyle/>
        <a:p>
          <a:endParaRPr lang="zh-CN" altLang="en-US" sz="1400">
            <a:latin typeface="微软雅黑" pitchFamily="34" charset="-122"/>
            <a:ea typeface="微软雅黑" pitchFamily="34" charset="-122"/>
          </a:endParaRPr>
        </a:p>
      </dgm:t>
    </dgm:pt>
    <dgm:pt modelId="{B99AD95F-0687-44FD-9F9E-B84BB4C01DA5}" type="sibTrans" cxnId="{E6F2299E-D493-490C-AA66-677873D3A963}">
      <dgm:prSet custT="1"/>
      <dgm:spPr/>
      <dgm:t>
        <a:bodyPr/>
        <a:lstStyle/>
        <a:p>
          <a:endParaRPr lang="zh-CN" altLang="en-US" sz="1400">
            <a:latin typeface="微软雅黑" pitchFamily="34" charset="-122"/>
            <a:ea typeface="微软雅黑" pitchFamily="34" charset="-122"/>
          </a:endParaRPr>
        </a:p>
      </dgm:t>
    </dgm:pt>
    <dgm:pt modelId="{B03C9FDF-8597-4768-B927-5DCAE011CDCC}">
      <dgm:prSet phldrT="[文本]"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a:latin typeface="微软雅黑" pitchFamily="34" charset="-122"/>
              <a:ea typeface="微软雅黑" pitchFamily="34" charset="-122"/>
            </a:rPr>
            <a:t>信息组</a:t>
          </a:r>
        </a:p>
      </dgm:t>
    </dgm:pt>
    <dgm:pt modelId="{3FA11EFC-BEDF-4F83-B808-EAC2EA5EA8B6}" type="parTrans" cxnId="{037A30D0-9621-470C-9151-69D58EED34C4}">
      <dgm:prSet/>
      <dgm:spPr/>
      <dgm:t>
        <a:bodyPr/>
        <a:lstStyle/>
        <a:p>
          <a:endParaRPr lang="zh-CN" altLang="en-US" sz="1400">
            <a:latin typeface="微软雅黑" pitchFamily="34" charset="-122"/>
            <a:ea typeface="微软雅黑" pitchFamily="34" charset="-122"/>
          </a:endParaRPr>
        </a:p>
      </dgm:t>
    </dgm:pt>
    <dgm:pt modelId="{8B335AD7-B80D-43DF-AC95-D48C2479A3EC}" type="sibTrans" cxnId="{037A30D0-9621-470C-9151-69D58EED34C4}">
      <dgm:prSet custT="1"/>
      <dgm:spPr/>
      <dgm:t>
        <a:bodyPr/>
        <a:lstStyle/>
        <a:p>
          <a:endParaRPr lang="zh-CN" altLang="en-US" sz="1400">
            <a:latin typeface="微软雅黑" pitchFamily="34" charset="-122"/>
            <a:ea typeface="微软雅黑" pitchFamily="34" charset="-122"/>
          </a:endParaRPr>
        </a:p>
      </dgm:t>
    </dgm:pt>
    <dgm:pt modelId="{FFF76826-B9FA-4C12-A94B-B9172B8B16A4}">
      <dgm:prSet phldrT="[文本]"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dirty="0">
              <a:latin typeface="微软雅黑" pitchFamily="34" charset="-122"/>
              <a:ea typeface="微软雅黑" pitchFamily="34" charset="-122"/>
            </a:rPr>
            <a:t>督导组</a:t>
          </a:r>
        </a:p>
      </dgm:t>
    </dgm:pt>
    <dgm:pt modelId="{60B7BAF3-177D-4F3E-980B-C63605D6B132}" type="parTrans" cxnId="{3193085D-0B72-46C9-94EF-73E57BE66A92}">
      <dgm:prSet/>
      <dgm:spPr/>
      <dgm:t>
        <a:bodyPr/>
        <a:lstStyle/>
        <a:p>
          <a:endParaRPr lang="zh-CN" altLang="en-US" sz="1400">
            <a:latin typeface="微软雅黑" pitchFamily="34" charset="-122"/>
            <a:ea typeface="微软雅黑" pitchFamily="34" charset="-122"/>
          </a:endParaRPr>
        </a:p>
      </dgm:t>
    </dgm:pt>
    <dgm:pt modelId="{4478A05B-14ED-42D8-9A48-E58D15A1A8CA}" type="sibTrans" cxnId="{3193085D-0B72-46C9-94EF-73E57BE66A92}">
      <dgm:prSet custT="1"/>
      <dgm:spPr/>
      <dgm:t>
        <a:bodyPr/>
        <a:lstStyle/>
        <a:p>
          <a:endParaRPr lang="zh-CN" altLang="en-US" sz="1400">
            <a:latin typeface="微软雅黑" pitchFamily="34" charset="-122"/>
            <a:ea typeface="微软雅黑" pitchFamily="34" charset="-122"/>
          </a:endParaRPr>
        </a:p>
      </dgm:t>
    </dgm:pt>
    <dgm:pt modelId="{FB468D49-0B0D-4209-BCE5-A5896D94894E}">
      <dgm:prSet phldrT="[文本]"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a:latin typeface="微软雅黑" pitchFamily="34" charset="-122"/>
              <a:ea typeface="微软雅黑" pitchFamily="34" charset="-122"/>
            </a:rPr>
            <a:t>市场组</a:t>
          </a:r>
        </a:p>
      </dgm:t>
    </dgm:pt>
    <dgm:pt modelId="{3838BC76-0F80-4E93-93C0-29F308C57478}" type="parTrans" cxnId="{84591368-F90A-460D-90A0-0AC470F81D8F}">
      <dgm:prSet/>
      <dgm:spPr/>
      <dgm:t>
        <a:bodyPr/>
        <a:lstStyle/>
        <a:p>
          <a:endParaRPr lang="zh-CN" altLang="en-US" sz="1400">
            <a:latin typeface="微软雅黑" pitchFamily="34" charset="-122"/>
            <a:ea typeface="微软雅黑" pitchFamily="34" charset="-122"/>
          </a:endParaRPr>
        </a:p>
      </dgm:t>
    </dgm:pt>
    <dgm:pt modelId="{AE76DAD4-51C8-40D2-9440-1DFE9E0310BE}" type="sibTrans" cxnId="{84591368-F90A-460D-90A0-0AC470F81D8F}">
      <dgm:prSet custT="1"/>
      <dgm:spPr/>
      <dgm:t>
        <a:bodyPr/>
        <a:lstStyle/>
        <a:p>
          <a:endParaRPr lang="zh-CN" altLang="en-US" sz="1400">
            <a:latin typeface="微软雅黑" pitchFamily="34" charset="-122"/>
            <a:ea typeface="微软雅黑" pitchFamily="34" charset="-122"/>
          </a:endParaRPr>
        </a:p>
      </dgm:t>
    </dgm:pt>
    <dgm:pt modelId="{E0F68176-3645-4A55-85A4-FB3F55A786EE}">
      <dgm:prSet phldrT="[文本]"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a:latin typeface="微软雅黑" pitchFamily="34" charset="-122"/>
              <a:ea typeface="微软雅黑" pitchFamily="34" charset="-122"/>
            </a:rPr>
            <a:t>采购组</a:t>
          </a:r>
        </a:p>
      </dgm:t>
    </dgm:pt>
    <dgm:pt modelId="{C2DBCA0C-B9B4-4B31-BFC2-6CC7113CD0D9}" type="parTrans" cxnId="{A8ABE4A0-EF5F-4FC7-895C-3AC11C424189}">
      <dgm:prSet/>
      <dgm:spPr/>
      <dgm:t>
        <a:bodyPr/>
        <a:lstStyle/>
        <a:p>
          <a:endParaRPr lang="zh-CN" altLang="en-US" sz="1400">
            <a:latin typeface="微软雅黑" pitchFamily="34" charset="-122"/>
            <a:ea typeface="微软雅黑" pitchFamily="34" charset="-122"/>
          </a:endParaRPr>
        </a:p>
      </dgm:t>
    </dgm:pt>
    <dgm:pt modelId="{BADBDAF0-4FC7-4CD9-84E6-279BC629DC7C}" type="sibTrans" cxnId="{A8ABE4A0-EF5F-4FC7-895C-3AC11C424189}">
      <dgm:prSet custT="1"/>
      <dgm:spPr/>
      <dgm:t>
        <a:bodyPr/>
        <a:lstStyle/>
        <a:p>
          <a:endParaRPr lang="zh-CN" altLang="en-US" sz="1400">
            <a:latin typeface="微软雅黑" pitchFamily="34" charset="-122"/>
            <a:ea typeface="微软雅黑" pitchFamily="34" charset="-122"/>
          </a:endParaRPr>
        </a:p>
      </dgm:t>
    </dgm:pt>
    <dgm:pt modelId="{BCAE57C2-F2B2-4030-8D64-AD1CCB5C43C7}">
      <dgm:prSet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a:latin typeface="微软雅黑" pitchFamily="34" charset="-122"/>
              <a:ea typeface="微软雅黑" pitchFamily="34" charset="-122"/>
            </a:rPr>
            <a:t>售后专员</a:t>
          </a:r>
        </a:p>
      </dgm:t>
    </dgm:pt>
    <dgm:pt modelId="{F23F647D-83C2-46E4-9698-BAEDE095DA27}" type="parTrans" cxnId="{331A9881-4D58-4830-9BE9-911BA95EEDC2}">
      <dgm:prSet/>
      <dgm:spPr/>
      <dgm:t>
        <a:bodyPr/>
        <a:lstStyle/>
        <a:p>
          <a:endParaRPr lang="zh-CN" altLang="en-US" sz="1400">
            <a:latin typeface="微软雅黑" pitchFamily="34" charset="-122"/>
            <a:ea typeface="微软雅黑" pitchFamily="34" charset="-122"/>
          </a:endParaRPr>
        </a:p>
      </dgm:t>
    </dgm:pt>
    <dgm:pt modelId="{AD276006-AC20-45BF-A96B-33F77E43969F}" type="sibTrans" cxnId="{331A9881-4D58-4830-9BE9-911BA95EEDC2}">
      <dgm:prSet custT="1"/>
      <dgm:spPr/>
      <dgm:t>
        <a:bodyPr/>
        <a:lstStyle/>
        <a:p>
          <a:endParaRPr lang="zh-CN" altLang="en-US" sz="1400">
            <a:latin typeface="微软雅黑" pitchFamily="34" charset="-122"/>
            <a:ea typeface="微软雅黑" pitchFamily="34" charset="-122"/>
          </a:endParaRPr>
        </a:p>
      </dgm:t>
    </dgm:pt>
    <dgm:pt modelId="{1F1F2AB8-DB5F-457D-B4A8-85609509245C}">
      <dgm:prSet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a:latin typeface="微软雅黑" pitchFamily="34" charset="-122"/>
              <a:ea typeface="微软雅黑" pitchFamily="34" charset="-122"/>
            </a:rPr>
            <a:t>商品专员</a:t>
          </a:r>
        </a:p>
      </dgm:t>
    </dgm:pt>
    <dgm:pt modelId="{2DD1B46A-BBC8-4164-9F22-10041A2E0EF3}" type="parTrans" cxnId="{0EA7B441-2264-458C-9B61-0AA95E4798BF}">
      <dgm:prSet/>
      <dgm:spPr/>
      <dgm:t>
        <a:bodyPr/>
        <a:lstStyle/>
        <a:p>
          <a:endParaRPr lang="zh-CN" altLang="en-US" sz="1400">
            <a:latin typeface="微软雅黑" pitchFamily="34" charset="-122"/>
            <a:ea typeface="微软雅黑" pitchFamily="34" charset="-122"/>
          </a:endParaRPr>
        </a:p>
      </dgm:t>
    </dgm:pt>
    <dgm:pt modelId="{FCF7C20A-6CB0-4EB6-A190-6FCDA627F2D3}" type="sibTrans" cxnId="{0EA7B441-2264-458C-9B61-0AA95E4798BF}">
      <dgm:prSet custT="1"/>
      <dgm:spPr/>
      <dgm:t>
        <a:bodyPr/>
        <a:lstStyle/>
        <a:p>
          <a:endParaRPr lang="zh-CN" altLang="en-US" sz="1400">
            <a:latin typeface="微软雅黑" pitchFamily="34" charset="-122"/>
            <a:ea typeface="微软雅黑" pitchFamily="34" charset="-122"/>
          </a:endParaRPr>
        </a:p>
      </dgm:t>
    </dgm:pt>
    <dgm:pt modelId="{86EF535E-BA60-4CAE-9C99-D503DF447184}">
      <dgm:prSet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a:latin typeface="微软雅黑" pitchFamily="34" charset="-122"/>
              <a:ea typeface="微软雅黑" pitchFamily="34" charset="-122"/>
            </a:rPr>
            <a:t>商品专员</a:t>
          </a:r>
        </a:p>
      </dgm:t>
    </dgm:pt>
    <dgm:pt modelId="{4D262509-5170-442B-9691-04E26EC4C870}" type="parTrans" cxnId="{1927525B-4099-4F68-974A-299F9EC36702}">
      <dgm:prSet/>
      <dgm:spPr/>
      <dgm:t>
        <a:bodyPr/>
        <a:lstStyle/>
        <a:p>
          <a:endParaRPr lang="zh-CN" altLang="en-US" sz="1400">
            <a:latin typeface="微软雅黑" pitchFamily="34" charset="-122"/>
            <a:ea typeface="微软雅黑" pitchFamily="34" charset="-122"/>
          </a:endParaRPr>
        </a:p>
      </dgm:t>
    </dgm:pt>
    <dgm:pt modelId="{26B92A9D-8409-4026-A799-762DF7D47CEC}" type="sibTrans" cxnId="{1927525B-4099-4F68-974A-299F9EC36702}">
      <dgm:prSet custT="1"/>
      <dgm:spPr/>
      <dgm:t>
        <a:bodyPr/>
        <a:lstStyle/>
        <a:p>
          <a:endParaRPr lang="zh-CN" altLang="en-US" sz="1400">
            <a:latin typeface="微软雅黑" pitchFamily="34" charset="-122"/>
            <a:ea typeface="微软雅黑" pitchFamily="34" charset="-122"/>
          </a:endParaRPr>
        </a:p>
      </dgm:t>
    </dgm:pt>
    <dgm:pt modelId="{470220BE-5EE5-4845-8CB6-CF40F744E0C6}">
      <dgm:prSet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a:latin typeface="微软雅黑" pitchFamily="34" charset="-122"/>
              <a:ea typeface="微软雅黑" pitchFamily="34" charset="-122"/>
            </a:rPr>
            <a:t>商品专员</a:t>
          </a:r>
        </a:p>
      </dgm:t>
    </dgm:pt>
    <dgm:pt modelId="{C2D54CEE-2E2E-49E2-9D49-EEEF1F3C9482}" type="parTrans" cxnId="{6EB982CC-B923-457B-BFD9-6E12470DE9BF}">
      <dgm:prSet/>
      <dgm:spPr/>
      <dgm:t>
        <a:bodyPr/>
        <a:lstStyle/>
        <a:p>
          <a:endParaRPr lang="zh-CN" altLang="en-US" sz="1400">
            <a:latin typeface="微软雅黑" pitchFamily="34" charset="-122"/>
            <a:ea typeface="微软雅黑" pitchFamily="34" charset="-122"/>
          </a:endParaRPr>
        </a:p>
      </dgm:t>
    </dgm:pt>
    <dgm:pt modelId="{6C741FC9-D8FC-4418-8AD5-664B649A7CC5}" type="sibTrans" cxnId="{6EB982CC-B923-457B-BFD9-6E12470DE9BF}">
      <dgm:prSet custT="1"/>
      <dgm:spPr/>
      <dgm:t>
        <a:bodyPr/>
        <a:lstStyle/>
        <a:p>
          <a:endParaRPr lang="zh-CN" altLang="en-US" sz="1400">
            <a:latin typeface="微软雅黑" pitchFamily="34" charset="-122"/>
            <a:ea typeface="微软雅黑" pitchFamily="34" charset="-122"/>
          </a:endParaRPr>
        </a:p>
      </dgm:t>
    </dgm:pt>
    <dgm:pt modelId="{731AAB42-E75E-4F5B-9836-39294AF49A24}">
      <dgm:prSet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a:latin typeface="微软雅黑" pitchFamily="34" charset="-122"/>
              <a:ea typeface="微软雅黑" pitchFamily="34" charset="-122"/>
            </a:rPr>
            <a:t>商品专员</a:t>
          </a:r>
        </a:p>
      </dgm:t>
    </dgm:pt>
    <dgm:pt modelId="{8B2FFA06-879A-4D53-BAE6-95F1DFCF8C53}" type="parTrans" cxnId="{CACC81DA-2CA5-40BD-8E91-E376EA6DB42C}">
      <dgm:prSet/>
      <dgm:spPr/>
      <dgm:t>
        <a:bodyPr/>
        <a:lstStyle/>
        <a:p>
          <a:endParaRPr lang="zh-CN" altLang="en-US" sz="1400">
            <a:latin typeface="微软雅黑" pitchFamily="34" charset="-122"/>
            <a:ea typeface="微软雅黑" pitchFamily="34" charset="-122"/>
          </a:endParaRPr>
        </a:p>
      </dgm:t>
    </dgm:pt>
    <dgm:pt modelId="{5DD61715-5050-4733-BBB6-46A54688CEEB}" type="sibTrans" cxnId="{CACC81DA-2CA5-40BD-8E91-E376EA6DB42C}">
      <dgm:prSet custT="1"/>
      <dgm:spPr/>
      <dgm:t>
        <a:bodyPr/>
        <a:lstStyle/>
        <a:p>
          <a:endParaRPr lang="zh-CN" altLang="en-US" sz="1400">
            <a:latin typeface="微软雅黑" pitchFamily="34" charset="-122"/>
            <a:ea typeface="微软雅黑" pitchFamily="34" charset="-122"/>
          </a:endParaRPr>
        </a:p>
      </dgm:t>
    </dgm:pt>
    <dgm:pt modelId="{7B67AB4D-C2BF-43E2-9A1B-426B78ED9D19}">
      <dgm:prSet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dirty="0">
              <a:latin typeface="微软雅黑" pitchFamily="34" charset="-122"/>
              <a:ea typeface="微软雅黑" pitchFamily="34" charset="-122"/>
            </a:rPr>
            <a:t>商品督导</a:t>
          </a:r>
        </a:p>
      </dgm:t>
    </dgm:pt>
    <dgm:pt modelId="{3E93A887-BB52-49BF-9498-1B24876D941F}" type="parTrans" cxnId="{8E6A2928-38CF-410A-9706-7A0D2D7501D0}">
      <dgm:prSet/>
      <dgm:spPr/>
      <dgm:t>
        <a:bodyPr/>
        <a:lstStyle/>
        <a:p>
          <a:endParaRPr lang="zh-CN" altLang="en-US" sz="1400">
            <a:latin typeface="微软雅黑" pitchFamily="34" charset="-122"/>
            <a:ea typeface="微软雅黑" pitchFamily="34" charset="-122"/>
          </a:endParaRPr>
        </a:p>
      </dgm:t>
    </dgm:pt>
    <dgm:pt modelId="{559AC46D-8607-47E3-8CAF-4D2F72797BC6}" type="sibTrans" cxnId="{8E6A2928-38CF-410A-9706-7A0D2D7501D0}">
      <dgm:prSet custT="1"/>
      <dgm:spPr/>
      <dgm:t>
        <a:bodyPr/>
        <a:lstStyle/>
        <a:p>
          <a:endParaRPr lang="zh-CN" altLang="en-US" sz="1400">
            <a:latin typeface="微软雅黑" pitchFamily="34" charset="-122"/>
            <a:ea typeface="微软雅黑" pitchFamily="34" charset="-122"/>
          </a:endParaRPr>
        </a:p>
      </dgm:t>
    </dgm:pt>
    <dgm:pt modelId="{5BBBE13A-18D8-4041-8A59-84546C35E918}">
      <dgm:prSet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dirty="0">
              <a:latin typeface="微软雅黑" pitchFamily="34" charset="-122"/>
              <a:ea typeface="微软雅黑" pitchFamily="34" charset="-122"/>
            </a:rPr>
            <a:t>商品督导</a:t>
          </a:r>
        </a:p>
      </dgm:t>
    </dgm:pt>
    <dgm:pt modelId="{7FC33BF0-2B8A-44BC-83E2-63EE94983F5B}" type="parTrans" cxnId="{1D04DF71-FC92-4F1F-8CB1-F7275155C7BB}">
      <dgm:prSet/>
      <dgm:spPr/>
      <dgm:t>
        <a:bodyPr/>
        <a:lstStyle/>
        <a:p>
          <a:endParaRPr lang="zh-CN" altLang="en-US" sz="1400">
            <a:latin typeface="微软雅黑" pitchFamily="34" charset="-122"/>
            <a:ea typeface="微软雅黑" pitchFamily="34" charset="-122"/>
          </a:endParaRPr>
        </a:p>
      </dgm:t>
    </dgm:pt>
    <dgm:pt modelId="{A2359A73-BAAA-418F-9976-96E2FFF604D6}" type="sibTrans" cxnId="{1D04DF71-FC92-4F1F-8CB1-F7275155C7BB}">
      <dgm:prSet custT="1"/>
      <dgm:spPr/>
      <dgm:t>
        <a:bodyPr/>
        <a:lstStyle/>
        <a:p>
          <a:endParaRPr lang="zh-CN" altLang="en-US" sz="1400">
            <a:latin typeface="微软雅黑" pitchFamily="34" charset="-122"/>
            <a:ea typeface="微软雅黑" pitchFamily="34" charset="-122"/>
          </a:endParaRPr>
        </a:p>
      </dgm:t>
    </dgm:pt>
    <dgm:pt modelId="{BB7597EA-16DB-4BEF-BB24-04D117BB3F4E}">
      <dgm:prSet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a:latin typeface="微软雅黑" pitchFamily="34" charset="-122"/>
              <a:ea typeface="微软雅黑" pitchFamily="34" charset="-122"/>
            </a:rPr>
            <a:t>买手</a:t>
          </a:r>
        </a:p>
      </dgm:t>
    </dgm:pt>
    <dgm:pt modelId="{73CF244B-0401-4FC6-9803-5E8DCF487A29}" type="sibTrans" cxnId="{7EC7DF64-1F8C-4CE3-A9DC-021BD7CD2D47}">
      <dgm:prSet custT="1"/>
      <dgm:spPr/>
      <dgm:t>
        <a:bodyPr/>
        <a:lstStyle/>
        <a:p>
          <a:endParaRPr lang="zh-CN" altLang="en-US" sz="1400">
            <a:latin typeface="微软雅黑" pitchFamily="34" charset="-122"/>
            <a:ea typeface="微软雅黑" pitchFamily="34" charset="-122"/>
          </a:endParaRPr>
        </a:p>
      </dgm:t>
    </dgm:pt>
    <dgm:pt modelId="{3F871631-8B37-44C0-A169-EE6156C4C35B}" type="parTrans" cxnId="{7EC7DF64-1F8C-4CE3-A9DC-021BD7CD2D47}">
      <dgm:prSet/>
      <dgm:spPr/>
      <dgm:t>
        <a:bodyPr/>
        <a:lstStyle/>
        <a:p>
          <a:endParaRPr lang="zh-CN" altLang="en-US" sz="1400">
            <a:latin typeface="微软雅黑" pitchFamily="34" charset="-122"/>
            <a:ea typeface="微软雅黑" pitchFamily="34" charset="-122"/>
          </a:endParaRPr>
        </a:p>
      </dgm:t>
    </dgm:pt>
    <dgm:pt modelId="{F44BF435-A88C-421E-AB17-1EEC927D1F81}">
      <dgm:prSet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a:latin typeface="微软雅黑" pitchFamily="34" charset="-122"/>
              <a:ea typeface="微软雅黑" pitchFamily="34" charset="-122"/>
            </a:rPr>
            <a:t>买手</a:t>
          </a:r>
        </a:p>
      </dgm:t>
    </dgm:pt>
    <dgm:pt modelId="{4B294025-82D7-4FD3-AE0A-38106015B4DC}" type="sibTrans" cxnId="{7FFF8F70-1BA4-40A8-AE4A-7241075CE95E}">
      <dgm:prSet custT="1"/>
      <dgm:spPr/>
      <dgm:t>
        <a:bodyPr/>
        <a:lstStyle/>
        <a:p>
          <a:endParaRPr lang="zh-CN" altLang="en-US" sz="1400">
            <a:latin typeface="微软雅黑" pitchFamily="34" charset="-122"/>
            <a:ea typeface="微软雅黑" pitchFamily="34" charset="-122"/>
          </a:endParaRPr>
        </a:p>
      </dgm:t>
    </dgm:pt>
    <dgm:pt modelId="{97C71065-FAEF-425C-9047-A2BC51372C71}" type="parTrans" cxnId="{7FFF8F70-1BA4-40A8-AE4A-7241075CE95E}">
      <dgm:prSet/>
      <dgm:spPr/>
      <dgm:t>
        <a:bodyPr/>
        <a:lstStyle/>
        <a:p>
          <a:endParaRPr lang="zh-CN" altLang="en-US" sz="1400">
            <a:latin typeface="微软雅黑" pitchFamily="34" charset="-122"/>
            <a:ea typeface="微软雅黑" pitchFamily="34" charset="-122"/>
          </a:endParaRPr>
        </a:p>
      </dgm:t>
    </dgm:pt>
    <dgm:pt modelId="{9360712D-4E4D-49A6-B2C0-2CD9B2399407}">
      <dgm:prSet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dirty="0" smtClean="0">
              <a:latin typeface="微软雅黑" pitchFamily="34" charset="-122"/>
              <a:ea typeface="微软雅黑" pitchFamily="34" charset="-122"/>
            </a:rPr>
            <a:t>跟单员</a:t>
          </a:r>
          <a:endParaRPr lang="zh-CN" altLang="en-US" sz="1400" dirty="0">
            <a:latin typeface="微软雅黑" pitchFamily="34" charset="-122"/>
            <a:ea typeface="微软雅黑" pitchFamily="34" charset="-122"/>
          </a:endParaRPr>
        </a:p>
      </dgm:t>
    </dgm:pt>
    <dgm:pt modelId="{C776B403-E8D1-4216-9F5A-469FA0D67135}" type="sibTrans" cxnId="{19B22F86-88A6-4E2E-9BC1-528CEC306DEF}">
      <dgm:prSet custT="1"/>
      <dgm:spPr/>
      <dgm:t>
        <a:bodyPr/>
        <a:lstStyle/>
        <a:p>
          <a:endParaRPr lang="zh-CN" altLang="en-US" sz="1400">
            <a:latin typeface="微软雅黑" pitchFamily="34" charset="-122"/>
            <a:ea typeface="微软雅黑" pitchFamily="34" charset="-122"/>
          </a:endParaRPr>
        </a:p>
      </dgm:t>
    </dgm:pt>
    <dgm:pt modelId="{64D60130-223C-4273-A2CF-F9267A898143}" type="parTrans" cxnId="{19B22F86-88A6-4E2E-9BC1-528CEC306DEF}">
      <dgm:prSet/>
      <dgm:spPr/>
      <dgm:t>
        <a:bodyPr/>
        <a:lstStyle/>
        <a:p>
          <a:endParaRPr lang="zh-CN" altLang="en-US" sz="1400">
            <a:latin typeface="微软雅黑" pitchFamily="34" charset="-122"/>
            <a:ea typeface="微软雅黑" pitchFamily="34" charset="-122"/>
          </a:endParaRPr>
        </a:p>
      </dgm:t>
    </dgm:pt>
    <dgm:pt modelId="{3DAF4082-C6B1-46A5-BACD-0986046E5B54}">
      <dgm:prSet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a:latin typeface="微软雅黑" pitchFamily="34" charset="-122"/>
              <a:ea typeface="微软雅黑" pitchFamily="34" charset="-122"/>
            </a:rPr>
            <a:t>商品专员</a:t>
          </a:r>
        </a:p>
      </dgm:t>
    </dgm:pt>
    <dgm:pt modelId="{73F26962-3CA3-4CA3-9826-D706489BC2C9}" type="parTrans" cxnId="{90FE6526-CBC2-49EC-B1FA-D534ADC3B010}">
      <dgm:prSet/>
      <dgm:spPr/>
      <dgm:t>
        <a:bodyPr/>
        <a:lstStyle/>
        <a:p>
          <a:endParaRPr lang="zh-CN" altLang="en-US" sz="1400">
            <a:latin typeface="微软雅黑" pitchFamily="34" charset="-122"/>
            <a:ea typeface="微软雅黑" pitchFamily="34" charset="-122"/>
          </a:endParaRPr>
        </a:p>
      </dgm:t>
    </dgm:pt>
    <dgm:pt modelId="{C7FEC994-0F33-44B9-87B9-FD33F55D5F70}" type="sibTrans" cxnId="{90FE6526-CBC2-49EC-B1FA-D534ADC3B010}">
      <dgm:prSet custT="1"/>
      <dgm:spPr/>
      <dgm:t>
        <a:bodyPr/>
        <a:lstStyle/>
        <a:p>
          <a:endParaRPr lang="zh-CN" altLang="en-US" sz="1400">
            <a:latin typeface="微软雅黑" pitchFamily="34" charset="-122"/>
            <a:ea typeface="微软雅黑" pitchFamily="34" charset="-122"/>
          </a:endParaRPr>
        </a:p>
      </dgm:t>
    </dgm:pt>
    <dgm:pt modelId="{8126C948-0D22-4FCF-8944-736BB8F8B14C}">
      <dgm:prSet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a:latin typeface="微软雅黑" pitchFamily="34" charset="-122"/>
              <a:ea typeface="微软雅黑" pitchFamily="34" charset="-122"/>
            </a:rPr>
            <a:t>直营数据</a:t>
          </a:r>
        </a:p>
      </dgm:t>
    </dgm:pt>
    <dgm:pt modelId="{F5996FF6-CA00-4201-AB42-4BCC4EA92AF6}" type="parTrans" cxnId="{6F6DE2A9-1B5E-4851-9B85-453A5B41F887}">
      <dgm:prSet/>
      <dgm:spPr/>
      <dgm:t>
        <a:bodyPr/>
        <a:lstStyle/>
        <a:p>
          <a:endParaRPr lang="zh-CN" altLang="en-US" sz="1400">
            <a:latin typeface="微软雅黑" pitchFamily="34" charset="-122"/>
            <a:ea typeface="微软雅黑" pitchFamily="34" charset="-122"/>
          </a:endParaRPr>
        </a:p>
      </dgm:t>
    </dgm:pt>
    <dgm:pt modelId="{CC79C120-A704-49E0-8BE2-5E936302AD4A}" type="sibTrans" cxnId="{6F6DE2A9-1B5E-4851-9B85-453A5B41F887}">
      <dgm:prSet custT="1"/>
      <dgm:spPr/>
      <dgm:t>
        <a:bodyPr/>
        <a:lstStyle/>
        <a:p>
          <a:endParaRPr lang="zh-CN" altLang="en-US" sz="1400">
            <a:latin typeface="微软雅黑" pitchFamily="34" charset="-122"/>
            <a:ea typeface="微软雅黑" pitchFamily="34" charset="-122"/>
          </a:endParaRPr>
        </a:p>
      </dgm:t>
    </dgm:pt>
    <dgm:pt modelId="{48CC43D7-56E4-4C78-BFD2-BBC851927463}">
      <dgm:prSet custT="1">
        <dgm:style>
          <a:lnRef idx="2">
            <a:schemeClr val="accent1"/>
          </a:lnRef>
          <a:fillRef idx="1">
            <a:schemeClr val="lt1"/>
          </a:fillRef>
          <a:effectRef idx="0">
            <a:schemeClr val="accent1"/>
          </a:effectRef>
          <a:fontRef idx="minor">
            <a:schemeClr val="dk1"/>
          </a:fontRef>
        </dgm:style>
      </dgm:prSet>
      <dgm:spPr/>
      <dgm:t>
        <a:bodyPr/>
        <a:lstStyle/>
        <a:p>
          <a:r>
            <a:rPr lang="zh-CN" altLang="en-US" sz="1400">
              <a:latin typeface="微软雅黑" pitchFamily="34" charset="-122"/>
              <a:ea typeface="微软雅黑" pitchFamily="34" charset="-122"/>
            </a:rPr>
            <a:t>市场数据</a:t>
          </a:r>
        </a:p>
      </dgm:t>
    </dgm:pt>
    <dgm:pt modelId="{DF496AFD-D7F8-432B-9425-F9050C166957}" type="parTrans" cxnId="{79AE5807-9708-437C-92F8-7F099A658EEC}">
      <dgm:prSet/>
      <dgm:spPr/>
      <dgm:t>
        <a:bodyPr/>
        <a:lstStyle/>
        <a:p>
          <a:endParaRPr lang="zh-CN" altLang="en-US" sz="1400">
            <a:latin typeface="微软雅黑" pitchFamily="34" charset="-122"/>
            <a:ea typeface="微软雅黑" pitchFamily="34" charset="-122"/>
          </a:endParaRPr>
        </a:p>
      </dgm:t>
    </dgm:pt>
    <dgm:pt modelId="{8AFEF1DE-C60B-4AA5-BA67-BD8DD3C7D932}" type="sibTrans" cxnId="{79AE5807-9708-437C-92F8-7F099A658EEC}">
      <dgm:prSet custT="1"/>
      <dgm:spPr/>
      <dgm:t>
        <a:bodyPr/>
        <a:lstStyle/>
        <a:p>
          <a:endParaRPr lang="zh-CN" altLang="en-US" sz="1400">
            <a:latin typeface="微软雅黑" pitchFamily="34" charset="-122"/>
            <a:ea typeface="微软雅黑" pitchFamily="34" charset="-122"/>
          </a:endParaRPr>
        </a:p>
      </dgm:t>
    </dgm:pt>
    <dgm:pt modelId="{2B2CF425-5B03-45AE-902D-4DD2BBD6AD90}">
      <dgm:prSet custT="1">
        <dgm:style>
          <a:lnRef idx="2">
            <a:schemeClr val="accent1"/>
          </a:lnRef>
          <a:fillRef idx="1">
            <a:schemeClr val="lt1"/>
          </a:fillRef>
          <a:effectRef idx="0">
            <a:schemeClr val="accent1"/>
          </a:effectRef>
          <a:fontRef idx="minor">
            <a:schemeClr val="dk1"/>
          </a:fontRef>
        </dgm:style>
      </dgm:prSet>
      <dgm:spPr/>
      <dgm:t>
        <a:bodyPr/>
        <a:lstStyle/>
        <a:p>
          <a:r>
            <a:rPr lang="en-US" altLang="zh-CN" sz="1400" dirty="0" smtClean="0">
              <a:latin typeface="微软雅黑" pitchFamily="34" charset="-122"/>
              <a:ea typeface="微软雅黑" pitchFamily="34" charset="-122"/>
            </a:rPr>
            <a:t>…...</a:t>
          </a:r>
          <a:endParaRPr lang="zh-CN" altLang="en-US" sz="1400" dirty="0">
            <a:latin typeface="微软雅黑" pitchFamily="34" charset="-122"/>
            <a:ea typeface="微软雅黑" pitchFamily="34" charset="-122"/>
          </a:endParaRPr>
        </a:p>
      </dgm:t>
    </dgm:pt>
    <dgm:pt modelId="{1E98369A-ABAB-4642-8EEA-3434949C085A}" type="parTrans" cxnId="{6194AC0E-96FD-4972-99AE-0FC6696E246E}">
      <dgm:prSet/>
      <dgm:spPr/>
      <dgm:t>
        <a:bodyPr/>
        <a:lstStyle/>
        <a:p>
          <a:endParaRPr lang="zh-CN" altLang="en-US" sz="1400">
            <a:latin typeface="微软雅黑" pitchFamily="34" charset="-122"/>
            <a:ea typeface="微软雅黑" pitchFamily="34" charset="-122"/>
          </a:endParaRPr>
        </a:p>
      </dgm:t>
    </dgm:pt>
    <dgm:pt modelId="{72859740-B157-47C5-948A-59CBAC6591A7}" type="sibTrans" cxnId="{6194AC0E-96FD-4972-99AE-0FC6696E246E}">
      <dgm:prSet/>
      <dgm:spPr/>
      <dgm:t>
        <a:bodyPr/>
        <a:lstStyle/>
        <a:p>
          <a:endParaRPr lang="zh-CN" altLang="en-US" sz="1400">
            <a:latin typeface="微软雅黑" pitchFamily="34" charset="-122"/>
            <a:ea typeface="微软雅黑" pitchFamily="34" charset="-122"/>
          </a:endParaRPr>
        </a:p>
      </dgm:t>
    </dgm:pt>
    <dgm:pt modelId="{A1BF548B-43F1-4231-AC0D-64C2AD89968F}">
      <dgm:prSet custT="1">
        <dgm:style>
          <a:lnRef idx="2">
            <a:schemeClr val="accent1"/>
          </a:lnRef>
          <a:fillRef idx="1">
            <a:schemeClr val="lt1"/>
          </a:fillRef>
          <a:effectRef idx="0">
            <a:schemeClr val="accent1"/>
          </a:effectRef>
          <a:fontRef idx="minor">
            <a:schemeClr val="dk1"/>
          </a:fontRef>
        </dgm:style>
      </dgm:prSet>
      <dgm:spPr/>
      <dgm:t>
        <a:bodyPr/>
        <a:lstStyle/>
        <a:p>
          <a:r>
            <a:rPr lang="en-US" altLang="zh-CN" sz="1400" dirty="0" smtClean="0">
              <a:latin typeface="微软雅黑" pitchFamily="34" charset="-122"/>
              <a:ea typeface="微软雅黑" pitchFamily="34" charset="-122"/>
            </a:rPr>
            <a:t>…...</a:t>
          </a:r>
          <a:endParaRPr lang="zh-CN" altLang="en-US" sz="1400" dirty="0">
            <a:latin typeface="微软雅黑" pitchFamily="34" charset="-122"/>
            <a:ea typeface="微软雅黑" pitchFamily="34" charset="-122"/>
          </a:endParaRPr>
        </a:p>
      </dgm:t>
    </dgm:pt>
    <dgm:pt modelId="{10B170E3-558A-4992-AB23-DC69C30B8F50}" type="parTrans" cxnId="{008C1293-D53F-49F1-9CA8-311C6E448629}">
      <dgm:prSet/>
      <dgm:spPr/>
      <dgm:t>
        <a:bodyPr/>
        <a:lstStyle/>
        <a:p>
          <a:endParaRPr lang="zh-CN" altLang="en-US" sz="1400">
            <a:latin typeface="微软雅黑" pitchFamily="34" charset="-122"/>
            <a:ea typeface="微软雅黑" pitchFamily="34" charset="-122"/>
          </a:endParaRPr>
        </a:p>
      </dgm:t>
    </dgm:pt>
    <dgm:pt modelId="{136048D4-4B2D-46E3-9BC4-CE3FE0262A36}" type="sibTrans" cxnId="{008C1293-D53F-49F1-9CA8-311C6E448629}">
      <dgm:prSet/>
      <dgm:spPr/>
      <dgm:t>
        <a:bodyPr/>
        <a:lstStyle/>
        <a:p>
          <a:endParaRPr lang="zh-CN" altLang="en-US" sz="1400">
            <a:latin typeface="微软雅黑" pitchFamily="34" charset="-122"/>
            <a:ea typeface="微软雅黑" pitchFamily="34" charset="-122"/>
          </a:endParaRPr>
        </a:p>
      </dgm:t>
    </dgm:pt>
    <dgm:pt modelId="{1F745881-3C99-4875-BBB4-C83F7FB1B87C}">
      <dgm:prSet custT="1">
        <dgm:style>
          <a:lnRef idx="2">
            <a:schemeClr val="accent1"/>
          </a:lnRef>
          <a:fillRef idx="1">
            <a:schemeClr val="lt1"/>
          </a:fillRef>
          <a:effectRef idx="0">
            <a:schemeClr val="accent1"/>
          </a:effectRef>
          <a:fontRef idx="minor">
            <a:schemeClr val="dk1"/>
          </a:fontRef>
        </dgm:style>
      </dgm:prSet>
      <dgm:spPr/>
      <dgm:t>
        <a:bodyPr/>
        <a:lstStyle/>
        <a:p>
          <a:r>
            <a:rPr lang="en-US" altLang="zh-CN" sz="1400" dirty="0" smtClean="0">
              <a:latin typeface="微软雅黑" pitchFamily="34" charset="-122"/>
              <a:ea typeface="微软雅黑" pitchFamily="34" charset="-122"/>
            </a:rPr>
            <a:t>……</a:t>
          </a:r>
          <a:endParaRPr lang="zh-CN" altLang="en-US" sz="1400" dirty="0">
            <a:latin typeface="微软雅黑" pitchFamily="34" charset="-122"/>
            <a:ea typeface="微软雅黑" pitchFamily="34" charset="-122"/>
          </a:endParaRPr>
        </a:p>
      </dgm:t>
    </dgm:pt>
    <dgm:pt modelId="{E27EF942-A4F1-4B7A-A576-88EE914E5811}" type="parTrans" cxnId="{F865AE24-C158-4A41-9A1D-47F0887B07B9}">
      <dgm:prSet/>
      <dgm:spPr/>
      <dgm:t>
        <a:bodyPr/>
        <a:lstStyle/>
        <a:p>
          <a:endParaRPr lang="zh-CN" altLang="en-US" sz="1400">
            <a:latin typeface="微软雅黑" pitchFamily="34" charset="-122"/>
            <a:ea typeface="微软雅黑" pitchFamily="34" charset="-122"/>
          </a:endParaRPr>
        </a:p>
      </dgm:t>
    </dgm:pt>
    <dgm:pt modelId="{935045AA-E255-42BC-9604-D4E6CD5D6E1F}" type="sibTrans" cxnId="{F865AE24-C158-4A41-9A1D-47F0887B07B9}">
      <dgm:prSet/>
      <dgm:spPr/>
      <dgm:t>
        <a:bodyPr/>
        <a:lstStyle/>
        <a:p>
          <a:endParaRPr lang="zh-CN" altLang="en-US" sz="1400">
            <a:latin typeface="微软雅黑" pitchFamily="34" charset="-122"/>
            <a:ea typeface="微软雅黑" pitchFamily="34" charset="-122"/>
          </a:endParaRPr>
        </a:p>
      </dgm:t>
    </dgm:pt>
    <dgm:pt modelId="{957EF0D3-E419-493B-A95C-5B62D0E88EBF}" type="pres">
      <dgm:prSet presAssocID="{F38072CD-20D5-455B-8A71-748292C8EE2F}" presName="hierChild1" presStyleCnt="0">
        <dgm:presLayoutVars>
          <dgm:orgChart val="1"/>
          <dgm:chPref val="1"/>
          <dgm:dir/>
          <dgm:animOne val="branch"/>
          <dgm:animLvl val="lvl"/>
          <dgm:resizeHandles/>
        </dgm:presLayoutVars>
      </dgm:prSet>
      <dgm:spPr/>
      <dgm:t>
        <a:bodyPr/>
        <a:lstStyle/>
        <a:p>
          <a:endParaRPr lang="zh-CN" altLang="en-US"/>
        </a:p>
      </dgm:t>
    </dgm:pt>
    <dgm:pt modelId="{6F05D41D-F854-4403-973E-032D8F8C1E40}" type="pres">
      <dgm:prSet presAssocID="{06B89794-7AD2-4F4B-9500-5565EAA4B0CD}" presName="hierRoot1" presStyleCnt="0">
        <dgm:presLayoutVars>
          <dgm:hierBranch val="init"/>
        </dgm:presLayoutVars>
      </dgm:prSet>
      <dgm:spPr/>
    </dgm:pt>
    <dgm:pt modelId="{14131206-54C2-4E33-A1FD-8A9CE773D1E7}" type="pres">
      <dgm:prSet presAssocID="{06B89794-7AD2-4F4B-9500-5565EAA4B0CD}" presName="rootComposite1" presStyleCnt="0"/>
      <dgm:spPr/>
    </dgm:pt>
    <dgm:pt modelId="{464A532C-6854-42B6-96FD-9F4B37264B04}" type="pres">
      <dgm:prSet presAssocID="{06B89794-7AD2-4F4B-9500-5565EAA4B0CD}" presName="rootText1" presStyleLbl="node0" presStyleIdx="0" presStyleCnt="1">
        <dgm:presLayoutVars>
          <dgm:chPref val="3"/>
        </dgm:presLayoutVars>
      </dgm:prSet>
      <dgm:spPr/>
      <dgm:t>
        <a:bodyPr/>
        <a:lstStyle/>
        <a:p>
          <a:endParaRPr lang="zh-CN" altLang="en-US"/>
        </a:p>
      </dgm:t>
    </dgm:pt>
    <dgm:pt modelId="{90332E0C-79C6-4D96-8A55-2A3A49C2AA95}" type="pres">
      <dgm:prSet presAssocID="{06B89794-7AD2-4F4B-9500-5565EAA4B0CD}" presName="rootConnector1" presStyleLbl="node1" presStyleIdx="0" presStyleCnt="0"/>
      <dgm:spPr/>
      <dgm:t>
        <a:bodyPr/>
        <a:lstStyle/>
        <a:p>
          <a:endParaRPr lang="zh-CN" altLang="en-US"/>
        </a:p>
      </dgm:t>
    </dgm:pt>
    <dgm:pt modelId="{C3C95A5F-F698-49EA-AE02-2BC8B4F5AC64}" type="pres">
      <dgm:prSet presAssocID="{06B89794-7AD2-4F4B-9500-5565EAA4B0CD}" presName="hierChild2" presStyleCnt="0"/>
      <dgm:spPr/>
    </dgm:pt>
    <dgm:pt modelId="{1203D55F-375E-4B4B-8D8F-D5C9736A271B}" type="pres">
      <dgm:prSet presAssocID="{195B6DE7-64B5-4226-9A5B-E8B9DD5AF7B4}" presName="Name37" presStyleLbl="parChTrans1D2" presStyleIdx="0" presStyleCnt="7"/>
      <dgm:spPr/>
      <dgm:t>
        <a:bodyPr/>
        <a:lstStyle/>
        <a:p>
          <a:endParaRPr lang="zh-CN" altLang="en-US"/>
        </a:p>
      </dgm:t>
    </dgm:pt>
    <dgm:pt modelId="{18BF2827-2D44-452F-8141-83E887726163}" type="pres">
      <dgm:prSet presAssocID="{1348C430-9185-41F2-A02D-776B4B7A12FC}" presName="hierRoot2" presStyleCnt="0">
        <dgm:presLayoutVars>
          <dgm:hierBranch val="l"/>
        </dgm:presLayoutVars>
      </dgm:prSet>
      <dgm:spPr/>
    </dgm:pt>
    <dgm:pt modelId="{41EA6F6F-A091-415E-B8F3-17A91FA618BD}" type="pres">
      <dgm:prSet presAssocID="{1348C430-9185-41F2-A02D-776B4B7A12FC}" presName="rootComposite" presStyleCnt="0"/>
      <dgm:spPr/>
    </dgm:pt>
    <dgm:pt modelId="{AEF867E8-4CC3-4C94-9277-2A62D63F7BB5}" type="pres">
      <dgm:prSet presAssocID="{1348C430-9185-41F2-A02D-776B4B7A12FC}" presName="rootText" presStyleLbl="node2" presStyleIdx="0" presStyleCnt="6">
        <dgm:presLayoutVars>
          <dgm:chPref val="3"/>
        </dgm:presLayoutVars>
      </dgm:prSet>
      <dgm:spPr/>
      <dgm:t>
        <a:bodyPr/>
        <a:lstStyle/>
        <a:p>
          <a:endParaRPr lang="zh-CN" altLang="en-US"/>
        </a:p>
      </dgm:t>
    </dgm:pt>
    <dgm:pt modelId="{93EFEA6D-DFED-46A5-B6A5-8F46E13E69D6}" type="pres">
      <dgm:prSet presAssocID="{1348C430-9185-41F2-A02D-776B4B7A12FC}" presName="rootConnector" presStyleLbl="node2" presStyleIdx="0" presStyleCnt="6"/>
      <dgm:spPr/>
      <dgm:t>
        <a:bodyPr/>
        <a:lstStyle/>
        <a:p>
          <a:endParaRPr lang="zh-CN" altLang="en-US"/>
        </a:p>
      </dgm:t>
    </dgm:pt>
    <dgm:pt modelId="{81825AED-BDAA-4853-A16A-C63944878EF8}" type="pres">
      <dgm:prSet presAssocID="{1348C430-9185-41F2-A02D-776B4B7A12FC}" presName="hierChild4" presStyleCnt="0"/>
      <dgm:spPr/>
    </dgm:pt>
    <dgm:pt modelId="{3C3E0EC0-D75F-4C08-B878-6F8DED4DCB1F}" type="pres">
      <dgm:prSet presAssocID="{F23F647D-83C2-46E4-9698-BAEDE095DA27}" presName="Name50" presStyleLbl="parChTrans1D3" presStyleIdx="0" presStyleCnt="16"/>
      <dgm:spPr/>
      <dgm:t>
        <a:bodyPr/>
        <a:lstStyle/>
        <a:p>
          <a:endParaRPr lang="zh-CN" altLang="en-US"/>
        </a:p>
      </dgm:t>
    </dgm:pt>
    <dgm:pt modelId="{A88BEA01-8D99-456F-95B5-BE1AC1911913}" type="pres">
      <dgm:prSet presAssocID="{BCAE57C2-F2B2-4030-8D64-AD1CCB5C43C7}" presName="hierRoot2" presStyleCnt="0">
        <dgm:presLayoutVars>
          <dgm:hierBranch val="init"/>
        </dgm:presLayoutVars>
      </dgm:prSet>
      <dgm:spPr/>
    </dgm:pt>
    <dgm:pt modelId="{476E68BF-CA99-4A10-8799-8CADB49C3878}" type="pres">
      <dgm:prSet presAssocID="{BCAE57C2-F2B2-4030-8D64-AD1CCB5C43C7}" presName="rootComposite" presStyleCnt="0"/>
      <dgm:spPr/>
    </dgm:pt>
    <dgm:pt modelId="{219AA03F-549D-4C52-BC33-28A622895AC9}" type="pres">
      <dgm:prSet presAssocID="{BCAE57C2-F2B2-4030-8D64-AD1CCB5C43C7}" presName="rootText" presStyleLbl="node3" presStyleIdx="0" presStyleCnt="16" custLinFactNeighborX="-307" custLinFactNeighborY="25604">
        <dgm:presLayoutVars>
          <dgm:chPref val="3"/>
        </dgm:presLayoutVars>
      </dgm:prSet>
      <dgm:spPr/>
      <dgm:t>
        <a:bodyPr/>
        <a:lstStyle/>
        <a:p>
          <a:endParaRPr lang="zh-CN" altLang="en-US"/>
        </a:p>
      </dgm:t>
    </dgm:pt>
    <dgm:pt modelId="{2D002C43-D0D8-4C4F-A705-B60CD5FECCF1}" type="pres">
      <dgm:prSet presAssocID="{BCAE57C2-F2B2-4030-8D64-AD1CCB5C43C7}" presName="rootConnector" presStyleLbl="node3" presStyleIdx="0" presStyleCnt="16"/>
      <dgm:spPr/>
      <dgm:t>
        <a:bodyPr/>
        <a:lstStyle/>
        <a:p>
          <a:endParaRPr lang="zh-CN" altLang="en-US"/>
        </a:p>
      </dgm:t>
    </dgm:pt>
    <dgm:pt modelId="{90E39853-4559-45CD-A248-55301AAAD8D2}" type="pres">
      <dgm:prSet presAssocID="{BCAE57C2-F2B2-4030-8D64-AD1CCB5C43C7}" presName="hierChild4" presStyleCnt="0"/>
      <dgm:spPr/>
    </dgm:pt>
    <dgm:pt modelId="{12860FB2-0B70-48AE-94F9-257836BA1D4E}" type="pres">
      <dgm:prSet presAssocID="{BCAE57C2-F2B2-4030-8D64-AD1CCB5C43C7}" presName="hierChild5" presStyleCnt="0"/>
      <dgm:spPr/>
    </dgm:pt>
    <dgm:pt modelId="{D80E876C-F854-441D-9165-4D638724F0ED}" type="pres">
      <dgm:prSet presAssocID="{1348C430-9185-41F2-A02D-776B4B7A12FC}" presName="hierChild5" presStyleCnt="0"/>
      <dgm:spPr/>
    </dgm:pt>
    <dgm:pt modelId="{4AB337A2-A5FA-40EF-B8A4-BBC0EEA65125}" type="pres">
      <dgm:prSet presAssocID="{082B9BB3-DEA1-4FDA-AB02-DF2FA4C525DA}" presName="Name37" presStyleLbl="parChTrans1D2" presStyleIdx="1" presStyleCnt="7"/>
      <dgm:spPr/>
      <dgm:t>
        <a:bodyPr/>
        <a:lstStyle/>
        <a:p>
          <a:endParaRPr lang="zh-CN" altLang="en-US"/>
        </a:p>
      </dgm:t>
    </dgm:pt>
    <dgm:pt modelId="{B6D0F031-097B-4755-A327-5138D651296F}" type="pres">
      <dgm:prSet presAssocID="{DECE0C0F-83C6-4DE5-AE59-849CD8F258E2}" presName="hierRoot2" presStyleCnt="0">
        <dgm:presLayoutVars>
          <dgm:hierBranch val="init"/>
        </dgm:presLayoutVars>
      </dgm:prSet>
      <dgm:spPr/>
    </dgm:pt>
    <dgm:pt modelId="{E128C83D-5DA0-46F8-83DC-B9F110AF6FA4}" type="pres">
      <dgm:prSet presAssocID="{DECE0C0F-83C6-4DE5-AE59-849CD8F258E2}" presName="rootComposite" presStyleCnt="0"/>
      <dgm:spPr/>
    </dgm:pt>
    <dgm:pt modelId="{599D457B-B396-4454-8206-5AD57EBB0C62}" type="pres">
      <dgm:prSet presAssocID="{DECE0C0F-83C6-4DE5-AE59-849CD8F258E2}" presName="rootText" presStyleLbl="node2" presStyleIdx="1" presStyleCnt="6">
        <dgm:presLayoutVars>
          <dgm:chPref val="3"/>
        </dgm:presLayoutVars>
      </dgm:prSet>
      <dgm:spPr/>
      <dgm:t>
        <a:bodyPr/>
        <a:lstStyle/>
        <a:p>
          <a:endParaRPr lang="zh-CN" altLang="en-US"/>
        </a:p>
      </dgm:t>
    </dgm:pt>
    <dgm:pt modelId="{81BF50FC-F96B-4545-B690-03E1EE9178D4}" type="pres">
      <dgm:prSet presAssocID="{DECE0C0F-83C6-4DE5-AE59-849CD8F258E2}" presName="rootConnector" presStyleLbl="node2" presStyleIdx="1" presStyleCnt="6"/>
      <dgm:spPr/>
      <dgm:t>
        <a:bodyPr/>
        <a:lstStyle/>
        <a:p>
          <a:endParaRPr lang="zh-CN" altLang="en-US"/>
        </a:p>
      </dgm:t>
    </dgm:pt>
    <dgm:pt modelId="{CA5B0CF2-DB2E-4D4D-92AE-F860FF0A33AB}" type="pres">
      <dgm:prSet presAssocID="{DECE0C0F-83C6-4DE5-AE59-849CD8F258E2}" presName="hierChild4" presStyleCnt="0"/>
      <dgm:spPr/>
    </dgm:pt>
    <dgm:pt modelId="{B55DBEAF-1CA7-4ACC-9484-ED7F7BDAEC8B}" type="pres">
      <dgm:prSet presAssocID="{2DD1B46A-BBC8-4164-9F22-10041A2E0EF3}" presName="Name37" presStyleLbl="parChTrans1D3" presStyleIdx="1" presStyleCnt="16"/>
      <dgm:spPr/>
      <dgm:t>
        <a:bodyPr/>
        <a:lstStyle/>
        <a:p>
          <a:endParaRPr lang="zh-CN" altLang="en-US"/>
        </a:p>
      </dgm:t>
    </dgm:pt>
    <dgm:pt modelId="{BEA0D807-931A-430F-98EF-A5E1F2A03F43}" type="pres">
      <dgm:prSet presAssocID="{1F1F2AB8-DB5F-457D-B4A8-85609509245C}" presName="hierRoot2" presStyleCnt="0">
        <dgm:presLayoutVars>
          <dgm:hierBranch val="init"/>
        </dgm:presLayoutVars>
      </dgm:prSet>
      <dgm:spPr/>
    </dgm:pt>
    <dgm:pt modelId="{3C154330-FBE8-4690-9AE2-1D5C570E396F}" type="pres">
      <dgm:prSet presAssocID="{1F1F2AB8-DB5F-457D-B4A8-85609509245C}" presName="rootComposite" presStyleCnt="0"/>
      <dgm:spPr/>
    </dgm:pt>
    <dgm:pt modelId="{5EC59B34-DCB2-45B6-9D97-5BF0579362F4}" type="pres">
      <dgm:prSet presAssocID="{1F1F2AB8-DB5F-457D-B4A8-85609509245C}" presName="rootText" presStyleLbl="node3" presStyleIdx="1" presStyleCnt="16">
        <dgm:presLayoutVars>
          <dgm:chPref val="3"/>
        </dgm:presLayoutVars>
      </dgm:prSet>
      <dgm:spPr/>
      <dgm:t>
        <a:bodyPr/>
        <a:lstStyle/>
        <a:p>
          <a:endParaRPr lang="zh-CN" altLang="en-US"/>
        </a:p>
      </dgm:t>
    </dgm:pt>
    <dgm:pt modelId="{7AC55F76-1653-482D-90D9-5D31A416B6FC}" type="pres">
      <dgm:prSet presAssocID="{1F1F2AB8-DB5F-457D-B4A8-85609509245C}" presName="rootConnector" presStyleLbl="node3" presStyleIdx="1" presStyleCnt="16"/>
      <dgm:spPr/>
      <dgm:t>
        <a:bodyPr/>
        <a:lstStyle/>
        <a:p>
          <a:endParaRPr lang="zh-CN" altLang="en-US"/>
        </a:p>
      </dgm:t>
    </dgm:pt>
    <dgm:pt modelId="{D72C210C-B08F-46F2-BA3B-20B54A52E3DA}" type="pres">
      <dgm:prSet presAssocID="{1F1F2AB8-DB5F-457D-B4A8-85609509245C}" presName="hierChild4" presStyleCnt="0"/>
      <dgm:spPr/>
    </dgm:pt>
    <dgm:pt modelId="{EB4BDF33-9D7F-4407-A7BB-8792BE7D4AAB}" type="pres">
      <dgm:prSet presAssocID="{1F1F2AB8-DB5F-457D-B4A8-85609509245C}" presName="hierChild5" presStyleCnt="0"/>
      <dgm:spPr/>
    </dgm:pt>
    <dgm:pt modelId="{A6119B02-6F74-4B31-BBD1-BC46060E5BC0}" type="pres">
      <dgm:prSet presAssocID="{4D262509-5170-442B-9691-04E26EC4C870}" presName="Name37" presStyleLbl="parChTrans1D3" presStyleIdx="2" presStyleCnt="16"/>
      <dgm:spPr/>
      <dgm:t>
        <a:bodyPr/>
        <a:lstStyle/>
        <a:p>
          <a:endParaRPr lang="zh-CN" altLang="en-US"/>
        </a:p>
      </dgm:t>
    </dgm:pt>
    <dgm:pt modelId="{2BD62704-45D5-4FEE-960A-9F04C5E34ED3}" type="pres">
      <dgm:prSet presAssocID="{86EF535E-BA60-4CAE-9C99-D503DF447184}" presName="hierRoot2" presStyleCnt="0">
        <dgm:presLayoutVars>
          <dgm:hierBranch val="init"/>
        </dgm:presLayoutVars>
      </dgm:prSet>
      <dgm:spPr/>
    </dgm:pt>
    <dgm:pt modelId="{391CB7A0-89DD-446B-81D4-E9531A5A861A}" type="pres">
      <dgm:prSet presAssocID="{86EF535E-BA60-4CAE-9C99-D503DF447184}" presName="rootComposite" presStyleCnt="0"/>
      <dgm:spPr/>
    </dgm:pt>
    <dgm:pt modelId="{C5144B14-77DB-4127-9098-D417581087A3}" type="pres">
      <dgm:prSet presAssocID="{86EF535E-BA60-4CAE-9C99-D503DF447184}" presName="rootText" presStyleLbl="node3" presStyleIdx="2" presStyleCnt="16">
        <dgm:presLayoutVars>
          <dgm:chPref val="3"/>
        </dgm:presLayoutVars>
      </dgm:prSet>
      <dgm:spPr/>
      <dgm:t>
        <a:bodyPr/>
        <a:lstStyle/>
        <a:p>
          <a:endParaRPr lang="zh-CN" altLang="en-US"/>
        </a:p>
      </dgm:t>
    </dgm:pt>
    <dgm:pt modelId="{57D81606-C6F8-4834-9A5F-6CC2DFE9A49B}" type="pres">
      <dgm:prSet presAssocID="{86EF535E-BA60-4CAE-9C99-D503DF447184}" presName="rootConnector" presStyleLbl="node3" presStyleIdx="2" presStyleCnt="16"/>
      <dgm:spPr/>
      <dgm:t>
        <a:bodyPr/>
        <a:lstStyle/>
        <a:p>
          <a:endParaRPr lang="zh-CN" altLang="en-US"/>
        </a:p>
      </dgm:t>
    </dgm:pt>
    <dgm:pt modelId="{E3FF0C28-668C-4282-8D8F-63E14F666BAC}" type="pres">
      <dgm:prSet presAssocID="{86EF535E-BA60-4CAE-9C99-D503DF447184}" presName="hierChild4" presStyleCnt="0"/>
      <dgm:spPr/>
    </dgm:pt>
    <dgm:pt modelId="{EAE16785-C6C0-45A6-83FB-E74D0AC3006E}" type="pres">
      <dgm:prSet presAssocID="{86EF535E-BA60-4CAE-9C99-D503DF447184}" presName="hierChild5" presStyleCnt="0"/>
      <dgm:spPr/>
    </dgm:pt>
    <dgm:pt modelId="{3B9CDD9F-97E3-454E-BC98-E3882AA7F517}" type="pres">
      <dgm:prSet presAssocID="{C2D54CEE-2E2E-49E2-9D49-EEEF1F3C9482}" presName="Name37" presStyleLbl="parChTrans1D3" presStyleIdx="3" presStyleCnt="16"/>
      <dgm:spPr/>
      <dgm:t>
        <a:bodyPr/>
        <a:lstStyle/>
        <a:p>
          <a:endParaRPr lang="zh-CN" altLang="en-US"/>
        </a:p>
      </dgm:t>
    </dgm:pt>
    <dgm:pt modelId="{B7319E10-A128-485F-BE1A-17848B90D60A}" type="pres">
      <dgm:prSet presAssocID="{470220BE-5EE5-4845-8CB6-CF40F744E0C6}" presName="hierRoot2" presStyleCnt="0">
        <dgm:presLayoutVars>
          <dgm:hierBranch val="init"/>
        </dgm:presLayoutVars>
      </dgm:prSet>
      <dgm:spPr/>
    </dgm:pt>
    <dgm:pt modelId="{3933C413-9E58-400D-85B4-9D9BD621A57F}" type="pres">
      <dgm:prSet presAssocID="{470220BE-5EE5-4845-8CB6-CF40F744E0C6}" presName="rootComposite" presStyleCnt="0"/>
      <dgm:spPr/>
    </dgm:pt>
    <dgm:pt modelId="{5D7417F9-C603-4FE9-8B43-E93F9A111E08}" type="pres">
      <dgm:prSet presAssocID="{470220BE-5EE5-4845-8CB6-CF40F744E0C6}" presName="rootText" presStyleLbl="node3" presStyleIdx="3" presStyleCnt="16">
        <dgm:presLayoutVars>
          <dgm:chPref val="3"/>
        </dgm:presLayoutVars>
      </dgm:prSet>
      <dgm:spPr/>
      <dgm:t>
        <a:bodyPr/>
        <a:lstStyle/>
        <a:p>
          <a:endParaRPr lang="zh-CN" altLang="en-US"/>
        </a:p>
      </dgm:t>
    </dgm:pt>
    <dgm:pt modelId="{F9D4E311-6DC4-42E1-B54D-6CD444AEFDD9}" type="pres">
      <dgm:prSet presAssocID="{470220BE-5EE5-4845-8CB6-CF40F744E0C6}" presName="rootConnector" presStyleLbl="node3" presStyleIdx="3" presStyleCnt="16"/>
      <dgm:spPr/>
      <dgm:t>
        <a:bodyPr/>
        <a:lstStyle/>
        <a:p>
          <a:endParaRPr lang="zh-CN" altLang="en-US"/>
        </a:p>
      </dgm:t>
    </dgm:pt>
    <dgm:pt modelId="{98B4D038-E790-4309-B5CF-F6F8607346D2}" type="pres">
      <dgm:prSet presAssocID="{470220BE-5EE5-4845-8CB6-CF40F744E0C6}" presName="hierChild4" presStyleCnt="0"/>
      <dgm:spPr/>
    </dgm:pt>
    <dgm:pt modelId="{413DD22A-5FAF-4042-8CF9-77FFF20AA8C0}" type="pres">
      <dgm:prSet presAssocID="{470220BE-5EE5-4845-8CB6-CF40F744E0C6}" presName="hierChild5" presStyleCnt="0"/>
      <dgm:spPr/>
    </dgm:pt>
    <dgm:pt modelId="{21AD8B0B-A706-46FE-AAFC-1AE852852834}" type="pres">
      <dgm:prSet presAssocID="{8B2FFA06-879A-4D53-BAE6-95F1DFCF8C53}" presName="Name37" presStyleLbl="parChTrans1D3" presStyleIdx="4" presStyleCnt="16"/>
      <dgm:spPr/>
      <dgm:t>
        <a:bodyPr/>
        <a:lstStyle/>
        <a:p>
          <a:endParaRPr lang="zh-CN" altLang="en-US"/>
        </a:p>
      </dgm:t>
    </dgm:pt>
    <dgm:pt modelId="{77B0DE8C-D4FB-44B5-BC99-2F4353A3E79A}" type="pres">
      <dgm:prSet presAssocID="{731AAB42-E75E-4F5B-9836-39294AF49A24}" presName="hierRoot2" presStyleCnt="0">
        <dgm:presLayoutVars>
          <dgm:hierBranch val="init"/>
        </dgm:presLayoutVars>
      </dgm:prSet>
      <dgm:spPr/>
    </dgm:pt>
    <dgm:pt modelId="{AB564900-08FB-4C9F-BB8F-A031B485847E}" type="pres">
      <dgm:prSet presAssocID="{731AAB42-E75E-4F5B-9836-39294AF49A24}" presName="rootComposite" presStyleCnt="0"/>
      <dgm:spPr/>
    </dgm:pt>
    <dgm:pt modelId="{7758349B-B657-426A-9F18-B300B632D8BE}" type="pres">
      <dgm:prSet presAssocID="{731AAB42-E75E-4F5B-9836-39294AF49A24}" presName="rootText" presStyleLbl="node3" presStyleIdx="4" presStyleCnt="16">
        <dgm:presLayoutVars>
          <dgm:chPref val="3"/>
        </dgm:presLayoutVars>
      </dgm:prSet>
      <dgm:spPr/>
      <dgm:t>
        <a:bodyPr/>
        <a:lstStyle/>
        <a:p>
          <a:endParaRPr lang="zh-CN" altLang="en-US"/>
        </a:p>
      </dgm:t>
    </dgm:pt>
    <dgm:pt modelId="{77071DD8-8699-4AF7-A8C1-40F391A8DDAB}" type="pres">
      <dgm:prSet presAssocID="{731AAB42-E75E-4F5B-9836-39294AF49A24}" presName="rootConnector" presStyleLbl="node3" presStyleIdx="4" presStyleCnt="16"/>
      <dgm:spPr/>
      <dgm:t>
        <a:bodyPr/>
        <a:lstStyle/>
        <a:p>
          <a:endParaRPr lang="zh-CN" altLang="en-US"/>
        </a:p>
      </dgm:t>
    </dgm:pt>
    <dgm:pt modelId="{54FFDB60-C1D9-4768-8CC3-5A524EFE9AD2}" type="pres">
      <dgm:prSet presAssocID="{731AAB42-E75E-4F5B-9836-39294AF49A24}" presName="hierChild4" presStyleCnt="0"/>
      <dgm:spPr/>
    </dgm:pt>
    <dgm:pt modelId="{B5624ACE-23BD-4225-B30E-347A13BA80AB}" type="pres">
      <dgm:prSet presAssocID="{731AAB42-E75E-4F5B-9836-39294AF49A24}" presName="hierChild5" presStyleCnt="0"/>
      <dgm:spPr/>
    </dgm:pt>
    <dgm:pt modelId="{8C79D73D-40FA-4788-AE02-E089F9798A23}" type="pres">
      <dgm:prSet presAssocID="{10B170E3-558A-4992-AB23-DC69C30B8F50}" presName="Name37" presStyleLbl="parChTrans1D3" presStyleIdx="5" presStyleCnt="16"/>
      <dgm:spPr/>
      <dgm:t>
        <a:bodyPr/>
        <a:lstStyle/>
        <a:p>
          <a:endParaRPr lang="zh-CN" altLang="en-US"/>
        </a:p>
      </dgm:t>
    </dgm:pt>
    <dgm:pt modelId="{3988CF62-A49F-41C7-88DA-34F34B191BC0}" type="pres">
      <dgm:prSet presAssocID="{A1BF548B-43F1-4231-AC0D-64C2AD89968F}" presName="hierRoot2" presStyleCnt="0">
        <dgm:presLayoutVars>
          <dgm:hierBranch val="init"/>
        </dgm:presLayoutVars>
      </dgm:prSet>
      <dgm:spPr/>
    </dgm:pt>
    <dgm:pt modelId="{968ED0C6-CA18-4740-8521-B112DE6BD3DA}" type="pres">
      <dgm:prSet presAssocID="{A1BF548B-43F1-4231-AC0D-64C2AD89968F}" presName="rootComposite" presStyleCnt="0"/>
      <dgm:spPr/>
    </dgm:pt>
    <dgm:pt modelId="{92DE0C78-D7C9-469F-963D-13BB598F318F}" type="pres">
      <dgm:prSet presAssocID="{A1BF548B-43F1-4231-AC0D-64C2AD89968F}" presName="rootText" presStyleLbl="node3" presStyleIdx="5" presStyleCnt="16">
        <dgm:presLayoutVars>
          <dgm:chPref val="3"/>
        </dgm:presLayoutVars>
      </dgm:prSet>
      <dgm:spPr/>
      <dgm:t>
        <a:bodyPr/>
        <a:lstStyle/>
        <a:p>
          <a:endParaRPr lang="zh-CN" altLang="en-US"/>
        </a:p>
      </dgm:t>
    </dgm:pt>
    <dgm:pt modelId="{ADD1FA98-D0B1-45DF-93EF-2FC0F1774E53}" type="pres">
      <dgm:prSet presAssocID="{A1BF548B-43F1-4231-AC0D-64C2AD89968F}" presName="rootConnector" presStyleLbl="node3" presStyleIdx="5" presStyleCnt="16"/>
      <dgm:spPr/>
      <dgm:t>
        <a:bodyPr/>
        <a:lstStyle/>
        <a:p>
          <a:endParaRPr lang="zh-CN" altLang="en-US"/>
        </a:p>
      </dgm:t>
    </dgm:pt>
    <dgm:pt modelId="{662F30F6-B2C4-4F6E-860F-061ABABD8548}" type="pres">
      <dgm:prSet presAssocID="{A1BF548B-43F1-4231-AC0D-64C2AD89968F}" presName="hierChild4" presStyleCnt="0"/>
      <dgm:spPr/>
    </dgm:pt>
    <dgm:pt modelId="{9EA14892-D2F2-4E50-ACD5-1F7ACB61AD09}" type="pres">
      <dgm:prSet presAssocID="{A1BF548B-43F1-4231-AC0D-64C2AD89968F}" presName="hierChild5" presStyleCnt="0"/>
      <dgm:spPr/>
    </dgm:pt>
    <dgm:pt modelId="{598C3502-CCF3-499A-A6C0-B3A4FD426772}" type="pres">
      <dgm:prSet presAssocID="{DECE0C0F-83C6-4DE5-AE59-849CD8F258E2}" presName="hierChild5" presStyleCnt="0"/>
      <dgm:spPr/>
    </dgm:pt>
    <dgm:pt modelId="{895C39EC-4712-4FE3-8840-B4DEB7D2EBED}" type="pres">
      <dgm:prSet presAssocID="{60B7BAF3-177D-4F3E-980B-C63605D6B132}" presName="Name37" presStyleLbl="parChTrans1D2" presStyleIdx="2" presStyleCnt="7"/>
      <dgm:spPr/>
      <dgm:t>
        <a:bodyPr/>
        <a:lstStyle/>
        <a:p>
          <a:endParaRPr lang="zh-CN" altLang="en-US"/>
        </a:p>
      </dgm:t>
    </dgm:pt>
    <dgm:pt modelId="{FAABA0C6-04D0-4F66-B57F-EBCF18FF254F}" type="pres">
      <dgm:prSet presAssocID="{FFF76826-B9FA-4C12-A94B-B9172B8B16A4}" presName="hierRoot2" presStyleCnt="0">
        <dgm:presLayoutVars>
          <dgm:hierBranch val="init"/>
        </dgm:presLayoutVars>
      </dgm:prSet>
      <dgm:spPr/>
    </dgm:pt>
    <dgm:pt modelId="{F41E272C-C64E-4C80-A336-1BF9C51914B0}" type="pres">
      <dgm:prSet presAssocID="{FFF76826-B9FA-4C12-A94B-B9172B8B16A4}" presName="rootComposite" presStyleCnt="0"/>
      <dgm:spPr/>
    </dgm:pt>
    <dgm:pt modelId="{06A3F84C-891B-4518-9E0B-4118FB513955}" type="pres">
      <dgm:prSet presAssocID="{FFF76826-B9FA-4C12-A94B-B9172B8B16A4}" presName="rootText" presStyleLbl="node2" presStyleIdx="2" presStyleCnt="6">
        <dgm:presLayoutVars>
          <dgm:chPref val="3"/>
        </dgm:presLayoutVars>
      </dgm:prSet>
      <dgm:spPr/>
      <dgm:t>
        <a:bodyPr/>
        <a:lstStyle/>
        <a:p>
          <a:endParaRPr lang="zh-CN" altLang="en-US"/>
        </a:p>
      </dgm:t>
    </dgm:pt>
    <dgm:pt modelId="{750DD900-6801-4407-A63E-E6BA4B9528B3}" type="pres">
      <dgm:prSet presAssocID="{FFF76826-B9FA-4C12-A94B-B9172B8B16A4}" presName="rootConnector" presStyleLbl="node2" presStyleIdx="2" presStyleCnt="6"/>
      <dgm:spPr/>
      <dgm:t>
        <a:bodyPr/>
        <a:lstStyle/>
        <a:p>
          <a:endParaRPr lang="zh-CN" altLang="en-US"/>
        </a:p>
      </dgm:t>
    </dgm:pt>
    <dgm:pt modelId="{56AD49B5-CF13-4902-A437-CF6150663823}" type="pres">
      <dgm:prSet presAssocID="{FFF76826-B9FA-4C12-A94B-B9172B8B16A4}" presName="hierChild4" presStyleCnt="0"/>
      <dgm:spPr/>
    </dgm:pt>
    <dgm:pt modelId="{367DF239-712E-46E2-A503-8D8FD66C05CF}" type="pres">
      <dgm:prSet presAssocID="{3E93A887-BB52-49BF-9498-1B24876D941F}" presName="Name37" presStyleLbl="parChTrans1D3" presStyleIdx="6" presStyleCnt="16"/>
      <dgm:spPr/>
      <dgm:t>
        <a:bodyPr/>
        <a:lstStyle/>
        <a:p>
          <a:endParaRPr lang="zh-CN" altLang="en-US"/>
        </a:p>
      </dgm:t>
    </dgm:pt>
    <dgm:pt modelId="{00D878DC-2D51-4BB6-9F5B-B127CBA8E34C}" type="pres">
      <dgm:prSet presAssocID="{7B67AB4D-C2BF-43E2-9A1B-426B78ED9D19}" presName="hierRoot2" presStyleCnt="0">
        <dgm:presLayoutVars>
          <dgm:hierBranch val="init"/>
        </dgm:presLayoutVars>
      </dgm:prSet>
      <dgm:spPr/>
    </dgm:pt>
    <dgm:pt modelId="{13514CF6-5567-4B93-8FD7-393FBA46D538}" type="pres">
      <dgm:prSet presAssocID="{7B67AB4D-C2BF-43E2-9A1B-426B78ED9D19}" presName="rootComposite" presStyleCnt="0"/>
      <dgm:spPr/>
    </dgm:pt>
    <dgm:pt modelId="{BE55854F-5760-4859-B8D7-9FC9F396E531}" type="pres">
      <dgm:prSet presAssocID="{7B67AB4D-C2BF-43E2-9A1B-426B78ED9D19}" presName="rootText" presStyleLbl="node3" presStyleIdx="6" presStyleCnt="16">
        <dgm:presLayoutVars>
          <dgm:chPref val="3"/>
        </dgm:presLayoutVars>
      </dgm:prSet>
      <dgm:spPr/>
      <dgm:t>
        <a:bodyPr/>
        <a:lstStyle/>
        <a:p>
          <a:endParaRPr lang="zh-CN" altLang="en-US"/>
        </a:p>
      </dgm:t>
    </dgm:pt>
    <dgm:pt modelId="{DBDB0B5F-F0E7-42D5-BAC2-0AD4AB8B8936}" type="pres">
      <dgm:prSet presAssocID="{7B67AB4D-C2BF-43E2-9A1B-426B78ED9D19}" presName="rootConnector" presStyleLbl="node3" presStyleIdx="6" presStyleCnt="16"/>
      <dgm:spPr/>
      <dgm:t>
        <a:bodyPr/>
        <a:lstStyle/>
        <a:p>
          <a:endParaRPr lang="zh-CN" altLang="en-US"/>
        </a:p>
      </dgm:t>
    </dgm:pt>
    <dgm:pt modelId="{E4F62ADF-93F9-40EA-A61B-6E2337587EDF}" type="pres">
      <dgm:prSet presAssocID="{7B67AB4D-C2BF-43E2-9A1B-426B78ED9D19}" presName="hierChild4" presStyleCnt="0"/>
      <dgm:spPr/>
    </dgm:pt>
    <dgm:pt modelId="{738599D4-8D85-4C9C-9411-3133853D6DAA}" type="pres">
      <dgm:prSet presAssocID="{7B67AB4D-C2BF-43E2-9A1B-426B78ED9D19}" presName="hierChild5" presStyleCnt="0"/>
      <dgm:spPr/>
    </dgm:pt>
    <dgm:pt modelId="{1DB88209-53E0-4BA2-AD34-A3429B457BA5}" type="pres">
      <dgm:prSet presAssocID="{7FC33BF0-2B8A-44BC-83E2-63EE94983F5B}" presName="Name37" presStyleLbl="parChTrans1D3" presStyleIdx="7" presStyleCnt="16"/>
      <dgm:spPr/>
      <dgm:t>
        <a:bodyPr/>
        <a:lstStyle/>
        <a:p>
          <a:endParaRPr lang="zh-CN" altLang="en-US"/>
        </a:p>
      </dgm:t>
    </dgm:pt>
    <dgm:pt modelId="{3EB0DCF1-466F-4E6E-903A-DD0EB0816FFE}" type="pres">
      <dgm:prSet presAssocID="{5BBBE13A-18D8-4041-8A59-84546C35E918}" presName="hierRoot2" presStyleCnt="0">
        <dgm:presLayoutVars>
          <dgm:hierBranch val="init"/>
        </dgm:presLayoutVars>
      </dgm:prSet>
      <dgm:spPr/>
    </dgm:pt>
    <dgm:pt modelId="{A1071C82-3F33-49E8-BA8E-5ABA614A87BF}" type="pres">
      <dgm:prSet presAssocID="{5BBBE13A-18D8-4041-8A59-84546C35E918}" presName="rootComposite" presStyleCnt="0"/>
      <dgm:spPr/>
    </dgm:pt>
    <dgm:pt modelId="{1423FBC7-65AF-4ABC-AC77-CFCF5D9E09E1}" type="pres">
      <dgm:prSet presAssocID="{5BBBE13A-18D8-4041-8A59-84546C35E918}" presName="rootText" presStyleLbl="node3" presStyleIdx="7" presStyleCnt="16">
        <dgm:presLayoutVars>
          <dgm:chPref val="3"/>
        </dgm:presLayoutVars>
      </dgm:prSet>
      <dgm:spPr/>
      <dgm:t>
        <a:bodyPr/>
        <a:lstStyle/>
        <a:p>
          <a:endParaRPr lang="zh-CN" altLang="en-US"/>
        </a:p>
      </dgm:t>
    </dgm:pt>
    <dgm:pt modelId="{A05449AD-20DB-4CDC-B099-441697591C78}" type="pres">
      <dgm:prSet presAssocID="{5BBBE13A-18D8-4041-8A59-84546C35E918}" presName="rootConnector" presStyleLbl="node3" presStyleIdx="7" presStyleCnt="16"/>
      <dgm:spPr/>
      <dgm:t>
        <a:bodyPr/>
        <a:lstStyle/>
        <a:p>
          <a:endParaRPr lang="zh-CN" altLang="en-US"/>
        </a:p>
      </dgm:t>
    </dgm:pt>
    <dgm:pt modelId="{D2D62ACA-BF03-4828-93E3-BF75CA887A2A}" type="pres">
      <dgm:prSet presAssocID="{5BBBE13A-18D8-4041-8A59-84546C35E918}" presName="hierChild4" presStyleCnt="0"/>
      <dgm:spPr/>
    </dgm:pt>
    <dgm:pt modelId="{E3D314A8-BBE8-424B-8C6C-3EC0DC49B131}" type="pres">
      <dgm:prSet presAssocID="{5BBBE13A-18D8-4041-8A59-84546C35E918}" presName="hierChild5" presStyleCnt="0"/>
      <dgm:spPr/>
    </dgm:pt>
    <dgm:pt modelId="{99CABB44-2F8C-46D8-A4A2-232301D99C43}" type="pres">
      <dgm:prSet presAssocID="{E27EF942-A4F1-4B7A-A576-88EE914E5811}" presName="Name37" presStyleLbl="parChTrans1D3" presStyleIdx="8" presStyleCnt="16"/>
      <dgm:spPr/>
      <dgm:t>
        <a:bodyPr/>
        <a:lstStyle/>
        <a:p>
          <a:endParaRPr lang="zh-CN" altLang="en-US"/>
        </a:p>
      </dgm:t>
    </dgm:pt>
    <dgm:pt modelId="{1661A5A5-B226-4917-BFB2-1CE017D194AA}" type="pres">
      <dgm:prSet presAssocID="{1F745881-3C99-4875-BBB4-C83F7FB1B87C}" presName="hierRoot2" presStyleCnt="0">
        <dgm:presLayoutVars>
          <dgm:hierBranch val="init"/>
        </dgm:presLayoutVars>
      </dgm:prSet>
      <dgm:spPr/>
    </dgm:pt>
    <dgm:pt modelId="{E6D6FAE7-89E8-423F-B7A3-69B7D46CFA55}" type="pres">
      <dgm:prSet presAssocID="{1F745881-3C99-4875-BBB4-C83F7FB1B87C}" presName="rootComposite" presStyleCnt="0"/>
      <dgm:spPr/>
    </dgm:pt>
    <dgm:pt modelId="{381540DE-FD89-41E4-B004-4140D5BEB0D8}" type="pres">
      <dgm:prSet presAssocID="{1F745881-3C99-4875-BBB4-C83F7FB1B87C}" presName="rootText" presStyleLbl="node3" presStyleIdx="8" presStyleCnt="16">
        <dgm:presLayoutVars>
          <dgm:chPref val="3"/>
        </dgm:presLayoutVars>
      </dgm:prSet>
      <dgm:spPr/>
      <dgm:t>
        <a:bodyPr/>
        <a:lstStyle/>
        <a:p>
          <a:endParaRPr lang="zh-CN" altLang="en-US"/>
        </a:p>
      </dgm:t>
    </dgm:pt>
    <dgm:pt modelId="{516C6DC0-A2BC-468E-B750-64556D4CB57F}" type="pres">
      <dgm:prSet presAssocID="{1F745881-3C99-4875-BBB4-C83F7FB1B87C}" presName="rootConnector" presStyleLbl="node3" presStyleIdx="8" presStyleCnt="16"/>
      <dgm:spPr/>
      <dgm:t>
        <a:bodyPr/>
        <a:lstStyle/>
        <a:p>
          <a:endParaRPr lang="zh-CN" altLang="en-US"/>
        </a:p>
      </dgm:t>
    </dgm:pt>
    <dgm:pt modelId="{5B1C4D34-1B5E-4EED-B311-74AD42C15A9E}" type="pres">
      <dgm:prSet presAssocID="{1F745881-3C99-4875-BBB4-C83F7FB1B87C}" presName="hierChild4" presStyleCnt="0"/>
      <dgm:spPr/>
    </dgm:pt>
    <dgm:pt modelId="{850E411E-5E64-432B-A83D-4A79C6D1CF1A}" type="pres">
      <dgm:prSet presAssocID="{1F745881-3C99-4875-BBB4-C83F7FB1B87C}" presName="hierChild5" presStyleCnt="0"/>
      <dgm:spPr/>
    </dgm:pt>
    <dgm:pt modelId="{0343B03B-EDFB-42E7-86E8-ABD56B4788B4}" type="pres">
      <dgm:prSet presAssocID="{FFF76826-B9FA-4C12-A94B-B9172B8B16A4}" presName="hierChild5" presStyleCnt="0"/>
      <dgm:spPr/>
    </dgm:pt>
    <dgm:pt modelId="{3856F5E3-2F31-4B9B-8712-43E46500BE6F}" type="pres">
      <dgm:prSet presAssocID="{C2DBCA0C-B9B4-4B31-BFC2-6CC7113CD0D9}" presName="Name37" presStyleLbl="parChTrans1D2" presStyleIdx="3" presStyleCnt="7"/>
      <dgm:spPr/>
      <dgm:t>
        <a:bodyPr/>
        <a:lstStyle/>
        <a:p>
          <a:endParaRPr lang="zh-CN" altLang="en-US"/>
        </a:p>
      </dgm:t>
    </dgm:pt>
    <dgm:pt modelId="{A158CDD3-4A1C-4E2A-80C7-B53857F0CB97}" type="pres">
      <dgm:prSet presAssocID="{E0F68176-3645-4A55-85A4-FB3F55A786EE}" presName="hierRoot2" presStyleCnt="0">
        <dgm:presLayoutVars>
          <dgm:hierBranch val="init"/>
        </dgm:presLayoutVars>
      </dgm:prSet>
      <dgm:spPr/>
    </dgm:pt>
    <dgm:pt modelId="{232D3943-9F08-4AE6-A4CB-0183738BA95F}" type="pres">
      <dgm:prSet presAssocID="{E0F68176-3645-4A55-85A4-FB3F55A786EE}" presName="rootComposite" presStyleCnt="0"/>
      <dgm:spPr/>
    </dgm:pt>
    <dgm:pt modelId="{AC5D702E-D598-4FA2-A8AB-677F8BFF1F2A}" type="pres">
      <dgm:prSet presAssocID="{E0F68176-3645-4A55-85A4-FB3F55A786EE}" presName="rootText" presStyleLbl="node2" presStyleIdx="3" presStyleCnt="6">
        <dgm:presLayoutVars>
          <dgm:chPref val="3"/>
        </dgm:presLayoutVars>
      </dgm:prSet>
      <dgm:spPr/>
      <dgm:t>
        <a:bodyPr/>
        <a:lstStyle/>
        <a:p>
          <a:endParaRPr lang="zh-CN" altLang="en-US"/>
        </a:p>
      </dgm:t>
    </dgm:pt>
    <dgm:pt modelId="{B628994A-B676-4399-9E79-31A7723A2E01}" type="pres">
      <dgm:prSet presAssocID="{E0F68176-3645-4A55-85A4-FB3F55A786EE}" presName="rootConnector" presStyleLbl="node2" presStyleIdx="3" presStyleCnt="6"/>
      <dgm:spPr/>
      <dgm:t>
        <a:bodyPr/>
        <a:lstStyle/>
        <a:p>
          <a:endParaRPr lang="zh-CN" altLang="en-US"/>
        </a:p>
      </dgm:t>
    </dgm:pt>
    <dgm:pt modelId="{F1916BCF-8FB1-4EBD-83DC-F2A2F67486A2}" type="pres">
      <dgm:prSet presAssocID="{E0F68176-3645-4A55-85A4-FB3F55A786EE}" presName="hierChild4" presStyleCnt="0"/>
      <dgm:spPr/>
    </dgm:pt>
    <dgm:pt modelId="{99F2DC45-8B36-4EB0-B41A-C32D5831C937}" type="pres">
      <dgm:prSet presAssocID="{64D60130-223C-4273-A2CF-F9267A898143}" presName="Name37" presStyleLbl="parChTrans1D3" presStyleIdx="9" presStyleCnt="16"/>
      <dgm:spPr/>
      <dgm:t>
        <a:bodyPr/>
        <a:lstStyle/>
        <a:p>
          <a:endParaRPr lang="zh-CN" altLang="en-US"/>
        </a:p>
      </dgm:t>
    </dgm:pt>
    <dgm:pt modelId="{9C6FDBFA-C2C7-4460-82D0-6C96E022AE56}" type="pres">
      <dgm:prSet presAssocID="{9360712D-4E4D-49A6-B2C0-2CD9B2399407}" presName="hierRoot2" presStyleCnt="0">
        <dgm:presLayoutVars>
          <dgm:hierBranch val="init"/>
        </dgm:presLayoutVars>
      </dgm:prSet>
      <dgm:spPr/>
    </dgm:pt>
    <dgm:pt modelId="{ADEB3FDC-3C5E-4BC5-AED6-CCDCF01E9D62}" type="pres">
      <dgm:prSet presAssocID="{9360712D-4E4D-49A6-B2C0-2CD9B2399407}" presName="rootComposite" presStyleCnt="0"/>
      <dgm:spPr/>
    </dgm:pt>
    <dgm:pt modelId="{241F682E-586D-4120-9535-E43457931D51}" type="pres">
      <dgm:prSet presAssocID="{9360712D-4E4D-49A6-B2C0-2CD9B2399407}" presName="rootText" presStyleLbl="node3" presStyleIdx="9" presStyleCnt="16">
        <dgm:presLayoutVars>
          <dgm:chPref val="3"/>
        </dgm:presLayoutVars>
      </dgm:prSet>
      <dgm:spPr/>
      <dgm:t>
        <a:bodyPr/>
        <a:lstStyle/>
        <a:p>
          <a:endParaRPr lang="zh-CN" altLang="en-US"/>
        </a:p>
      </dgm:t>
    </dgm:pt>
    <dgm:pt modelId="{BE22CA6C-866F-468F-B1C8-E2022ACDA2C8}" type="pres">
      <dgm:prSet presAssocID="{9360712D-4E4D-49A6-B2C0-2CD9B2399407}" presName="rootConnector" presStyleLbl="node3" presStyleIdx="9" presStyleCnt="16"/>
      <dgm:spPr/>
      <dgm:t>
        <a:bodyPr/>
        <a:lstStyle/>
        <a:p>
          <a:endParaRPr lang="zh-CN" altLang="en-US"/>
        </a:p>
      </dgm:t>
    </dgm:pt>
    <dgm:pt modelId="{A9AACEBE-B07D-4A10-AC31-454EF6304834}" type="pres">
      <dgm:prSet presAssocID="{9360712D-4E4D-49A6-B2C0-2CD9B2399407}" presName="hierChild4" presStyleCnt="0"/>
      <dgm:spPr/>
    </dgm:pt>
    <dgm:pt modelId="{6310293D-E041-49C0-B0A4-21DF9B3D9DA5}" type="pres">
      <dgm:prSet presAssocID="{9360712D-4E4D-49A6-B2C0-2CD9B2399407}" presName="hierChild5" presStyleCnt="0"/>
      <dgm:spPr/>
    </dgm:pt>
    <dgm:pt modelId="{D5995645-5D70-4869-9FC2-DA2C1454A188}" type="pres">
      <dgm:prSet presAssocID="{97C71065-FAEF-425C-9047-A2BC51372C71}" presName="Name37" presStyleLbl="parChTrans1D3" presStyleIdx="10" presStyleCnt="16"/>
      <dgm:spPr/>
      <dgm:t>
        <a:bodyPr/>
        <a:lstStyle/>
        <a:p>
          <a:endParaRPr lang="zh-CN" altLang="en-US"/>
        </a:p>
      </dgm:t>
    </dgm:pt>
    <dgm:pt modelId="{79404F51-6F48-4B17-A55B-CD183B750091}" type="pres">
      <dgm:prSet presAssocID="{F44BF435-A88C-421E-AB17-1EEC927D1F81}" presName="hierRoot2" presStyleCnt="0">
        <dgm:presLayoutVars>
          <dgm:hierBranch val="init"/>
        </dgm:presLayoutVars>
      </dgm:prSet>
      <dgm:spPr/>
    </dgm:pt>
    <dgm:pt modelId="{A0D3CD51-2489-434A-A5E5-0BC1DDA7EDEB}" type="pres">
      <dgm:prSet presAssocID="{F44BF435-A88C-421E-AB17-1EEC927D1F81}" presName="rootComposite" presStyleCnt="0"/>
      <dgm:spPr/>
    </dgm:pt>
    <dgm:pt modelId="{60ECE4D8-273E-4AD4-BFCA-50809AB69E39}" type="pres">
      <dgm:prSet presAssocID="{F44BF435-A88C-421E-AB17-1EEC927D1F81}" presName="rootText" presStyleLbl="node3" presStyleIdx="10" presStyleCnt="16">
        <dgm:presLayoutVars>
          <dgm:chPref val="3"/>
        </dgm:presLayoutVars>
      </dgm:prSet>
      <dgm:spPr/>
      <dgm:t>
        <a:bodyPr/>
        <a:lstStyle/>
        <a:p>
          <a:endParaRPr lang="zh-CN" altLang="en-US"/>
        </a:p>
      </dgm:t>
    </dgm:pt>
    <dgm:pt modelId="{B2C069D9-85DB-4958-9213-D1A168C07340}" type="pres">
      <dgm:prSet presAssocID="{F44BF435-A88C-421E-AB17-1EEC927D1F81}" presName="rootConnector" presStyleLbl="node3" presStyleIdx="10" presStyleCnt="16"/>
      <dgm:spPr/>
      <dgm:t>
        <a:bodyPr/>
        <a:lstStyle/>
        <a:p>
          <a:endParaRPr lang="zh-CN" altLang="en-US"/>
        </a:p>
      </dgm:t>
    </dgm:pt>
    <dgm:pt modelId="{2751EB53-0A6E-4A45-BD11-7128D427BCB4}" type="pres">
      <dgm:prSet presAssocID="{F44BF435-A88C-421E-AB17-1EEC927D1F81}" presName="hierChild4" presStyleCnt="0"/>
      <dgm:spPr/>
    </dgm:pt>
    <dgm:pt modelId="{BAA87A77-BADC-4A39-9366-47E642AB29C0}" type="pres">
      <dgm:prSet presAssocID="{F44BF435-A88C-421E-AB17-1EEC927D1F81}" presName="hierChild5" presStyleCnt="0"/>
      <dgm:spPr/>
    </dgm:pt>
    <dgm:pt modelId="{4ECD5F8E-07AA-4E58-A10F-38ABEA822050}" type="pres">
      <dgm:prSet presAssocID="{3F871631-8B37-44C0-A169-EE6156C4C35B}" presName="Name37" presStyleLbl="parChTrans1D3" presStyleIdx="11" presStyleCnt="16"/>
      <dgm:spPr/>
      <dgm:t>
        <a:bodyPr/>
        <a:lstStyle/>
        <a:p>
          <a:endParaRPr lang="zh-CN" altLang="en-US"/>
        </a:p>
      </dgm:t>
    </dgm:pt>
    <dgm:pt modelId="{A373DA93-09F2-4262-A021-D65A4BC6DFAC}" type="pres">
      <dgm:prSet presAssocID="{BB7597EA-16DB-4BEF-BB24-04D117BB3F4E}" presName="hierRoot2" presStyleCnt="0">
        <dgm:presLayoutVars>
          <dgm:hierBranch val="init"/>
        </dgm:presLayoutVars>
      </dgm:prSet>
      <dgm:spPr/>
    </dgm:pt>
    <dgm:pt modelId="{89B71743-2496-4003-8841-65F08418DA75}" type="pres">
      <dgm:prSet presAssocID="{BB7597EA-16DB-4BEF-BB24-04D117BB3F4E}" presName="rootComposite" presStyleCnt="0"/>
      <dgm:spPr/>
    </dgm:pt>
    <dgm:pt modelId="{05E333A4-FA62-4CE2-9CEE-C06154D4C1A5}" type="pres">
      <dgm:prSet presAssocID="{BB7597EA-16DB-4BEF-BB24-04D117BB3F4E}" presName="rootText" presStyleLbl="node3" presStyleIdx="11" presStyleCnt="16">
        <dgm:presLayoutVars>
          <dgm:chPref val="3"/>
        </dgm:presLayoutVars>
      </dgm:prSet>
      <dgm:spPr/>
      <dgm:t>
        <a:bodyPr/>
        <a:lstStyle/>
        <a:p>
          <a:endParaRPr lang="zh-CN" altLang="en-US"/>
        </a:p>
      </dgm:t>
    </dgm:pt>
    <dgm:pt modelId="{2C8E36A8-EABF-499C-94EC-9A60057FD33A}" type="pres">
      <dgm:prSet presAssocID="{BB7597EA-16DB-4BEF-BB24-04D117BB3F4E}" presName="rootConnector" presStyleLbl="node3" presStyleIdx="11" presStyleCnt="16"/>
      <dgm:spPr/>
      <dgm:t>
        <a:bodyPr/>
        <a:lstStyle/>
        <a:p>
          <a:endParaRPr lang="zh-CN" altLang="en-US"/>
        </a:p>
      </dgm:t>
    </dgm:pt>
    <dgm:pt modelId="{1FBA95B5-6384-4BE4-8A37-23173DECB084}" type="pres">
      <dgm:prSet presAssocID="{BB7597EA-16DB-4BEF-BB24-04D117BB3F4E}" presName="hierChild4" presStyleCnt="0"/>
      <dgm:spPr/>
    </dgm:pt>
    <dgm:pt modelId="{90AE90D3-E196-4D5D-B87B-D0D6E2D6638D}" type="pres">
      <dgm:prSet presAssocID="{BB7597EA-16DB-4BEF-BB24-04D117BB3F4E}" presName="hierChild5" presStyleCnt="0"/>
      <dgm:spPr/>
    </dgm:pt>
    <dgm:pt modelId="{B7B632DE-E9DC-4AA4-B1E5-50C90540F8DE}" type="pres">
      <dgm:prSet presAssocID="{1E98369A-ABAB-4642-8EEA-3434949C085A}" presName="Name37" presStyleLbl="parChTrans1D3" presStyleIdx="12" presStyleCnt="16"/>
      <dgm:spPr/>
      <dgm:t>
        <a:bodyPr/>
        <a:lstStyle/>
        <a:p>
          <a:endParaRPr lang="zh-CN" altLang="en-US"/>
        </a:p>
      </dgm:t>
    </dgm:pt>
    <dgm:pt modelId="{76976823-A3DE-44A4-9F29-4A6BBDCC689B}" type="pres">
      <dgm:prSet presAssocID="{2B2CF425-5B03-45AE-902D-4DD2BBD6AD90}" presName="hierRoot2" presStyleCnt="0">
        <dgm:presLayoutVars>
          <dgm:hierBranch val="init"/>
        </dgm:presLayoutVars>
      </dgm:prSet>
      <dgm:spPr/>
    </dgm:pt>
    <dgm:pt modelId="{058F3CA3-C7BB-4C76-A641-1BAD5D118475}" type="pres">
      <dgm:prSet presAssocID="{2B2CF425-5B03-45AE-902D-4DD2BBD6AD90}" presName="rootComposite" presStyleCnt="0"/>
      <dgm:spPr/>
    </dgm:pt>
    <dgm:pt modelId="{692EB222-5F67-4EF0-9676-1D2597533B68}" type="pres">
      <dgm:prSet presAssocID="{2B2CF425-5B03-45AE-902D-4DD2BBD6AD90}" presName="rootText" presStyleLbl="node3" presStyleIdx="12" presStyleCnt="16">
        <dgm:presLayoutVars>
          <dgm:chPref val="3"/>
        </dgm:presLayoutVars>
      </dgm:prSet>
      <dgm:spPr/>
      <dgm:t>
        <a:bodyPr/>
        <a:lstStyle/>
        <a:p>
          <a:endParaRPr lang="zh-CN" altLang="en-US"/>
        </a:p>
      </dgm:t>
    </dgm:pt>
    <dgm:pt modelId="{94EBD6FF-9643-452F-8953-56470C9149CE}" type="pres">
      <dgm:prSet presAssocID="{2B2CF425-5B03-45AE-902D-4DD2BBD6AD90}" presName="rootConnector" presStyleLbl="node3" presStyleIdx="12" presStyleCnt="16"/>
      <dgm:spPr/>
      <dgm:t>
        <a:bodyPr/>
        <a:lstStyle/>
        <a:p>
          <a:endParaRPr lang="zh-CN" altLang="en-US"/>
        </a:p>
      </dgm:t>
    </dgm:pt>
    <dgm:pt modelId="{0318FEA8-A646-49D0-A074-94EF45A0F36E}" type="pres">
      <dgm:prSet presAssocID="{2B2CF425-5B03-45AE-902D-4DD2BBD6AD90}" presName="hierChild4" presStyleCnt="0"/>
      <dgm:spPr/>
    </dgm:pt>
    <dgm:pt modelId="{2360C5E8-B56C-4980-84BF-301A99CAA719}" type="pres">
      <dgm:prSet presAssocID="{2B2CF425-5B03-45AE-902D-4DD2BBD6AD90}" presName="hierChild5" presStyleCnt="0"/>
      <dgm:spPr/>
    </dgm:pt>
    <dgm:pt modelId="{53FCAB47-9D01-4550-95E2-E942A308472F}" type="pres">
      <dgm:prSet presAssocID="{E0F68176-3645-4A55-85A4-FB3F55A786EE}" presName="hierChild5" presStyleCnt="0"/>
      <dgm:spPr/>
    </dgm:pt>
    <dgm:pt modelId="{27AF5E57-41FC-4632-889C-4440AFABD073}" type="pres">
      <dgm:prSet presAssocID="{3838BC76-0F80-4E93-93C0-29F308C57478}" presName="Name37" presStyleLbl="parChTrans1D2" presStyleIdx="4" presStyleCnt="7"/>
      <dgm:spPr/>
      <dgm:t>
        <a:bodyPr/>
        <a:lstStyle/>
        <a:p>
          <a:endParaRPr lang="zh-CN" altLang="en-US"/>
        </a:p>
      </dgm:t>
    </dgm:pt>
    <dgm:pt modelId="{3A796FA0-176F-4C5D-A919-564D9C89311D}" type="pres">
      <dgm:prSet presAssocID="{FB468D49-0B0D-4209-BCE5-A5896D94894E}" presName="hierRoot2" presStyleCnt="0">
        <dgm:presLayoutVars>
          <dgm:hierBranch val="init"/>
        </dgm:presLayoutVars>
      </dgm:prSet>
      <dgm:spPr/>
    </dgm:pt>
    <dgm:pt modelId="{FBA26154-960C-4F99-8E3A-6388B4B111B8}" type="pres">
      <dgm:prSet presAssocID="{FB468D49-0B0D-4209-BCE5-A5896D94894E}" presName="rootComposite" presStyleCnt="0"/>
      <dgm:spPr/>
    </dgm:pt>
    <dgm:pt modelId="{B6B560B6-5EC0-42BF-8B5A-A174E31DE4B4}" type="pres">
      <dgm:prSet presAssocID="{FB468D49-0B0D-4209-BCE5-A5896D94894E}" presName="rootText" presStyleLbl="node2" presStyleIdx="4" presStyleCnt="6">
        <dgm:presLayoutVars>
          <dgm:chPref val="3"/>
        </dgm:presLayoutVars>
      </dgm:prSet>
      <dgm:spPr/>
      <dgm:t>
        <a:bodyPr/>
        <a:lstStyle/>
        <a:p>
          <a:endParaRPr lang="zh-CN" altLang="en-US"/>
        </a:p>
      </dgm:t>
    </dgm:pt>
    <dgm:pt modelId="{7FFAC2F7-2808-485F-A0F2-C0F2EBC59B70}" type="pres">
      <dgm:prSet presAssocID="{FB468D49-0B0D-4209-BCE5-A5896D94894E}" presName="rootConnector" presStyleLbl="node2" presStyleIdx="4" presStyleCnt="6"/>
      <dgm:spPr/>
      <dgm:t>
        <a:bodyPr/>
        <a:lstStyle/>
        <a:p>
          <a:endParaRPr lang="zh-CN" altLang="en-US"/>
        </a:p>
      </dgm:t>
    </dgm:pt>
    <dgm:pt modelId="{73623B15-DDCF-4B51-99E8-E7B362B1A2B2}" type="pres">
      <dgm:prSet presAssocID="{FB468D49-0B0D-4209-BCE5-A5896D94894E}" presName="hierChild4" presStyleCnt="0"/>
      <dgm:spPr/>
    </dgm:pt>
    <dgm:pt modelId="{B237821F-C7C8-4621-961A-679FC90A73B2}" type="pres">
      <dgm:prSet presAssocID="{73F26962-3CA3-4CA3-9826-D706489BC2C9}" presName="Name37" presStyleLbl="parChTrans1D3" presStyleIdx="13" presStyleCnt="16"/>
      <dgm:spPr/>
      <dgm:t>
        <a:bodyPr/>
        <a:lstStyle/>
        <a:p>
          <a:endParaRPr lang="zh-CN" altLang="en-US"/>
        </a:p>
      </dgm:t>
    </dgm:pt>
    <dgm:pt modelId="{9B1E8E2B-E52F-45F5-A5AD-CEF12CB29755}" type="pres">
      <dgm:prSet presAssocID="{3DAF4082-C6B1-46A5-BACD-0986046E5B54}" presName="hierRoot2" presStyleCnt="0">
        <dgm:presLayoutVars>
          <dgm:hierBranch val="init"/>
        </dgm:presLayoutVars>
      </dgm:prSet>
      <dgm:spPr/>
    </dgm:pt>
    <dgm:pt modelId="{F5854458-BB53-42FE-890C-2022FCB3C628}" type="pres">
      <dgm:prSet presAssocID="{3DAF4082-C6B1-46A5-BACD-0986046E5B54}" presName="rootComposite" presStyleCnt="0"/>
      <dgm:spPr/>
    </dgm:pt>
    <dgm:pt modelId="{B20A4089-FFC4-4293-9F88-800ED7634A6B}" type="pres">
      <dgm:prSet presAssocID="{3DAF4082-C6B1-46A5-BACD-0986046E5B54}" presName="rootText" presStyleLbl="node3" presStyleIdx="13" presStyleCnt="16">
        <dgm:presLayoutVars>
          <dgm:chPref val="3"/>
        </dgm:presLayoutVars>
      </dgm:prSet>
      <dgm:spPr/>
      <dgm:t>
        <a:bodyPr/>
        <a:lstStyle/>
        <a:p>
          <a:endParaRPr lang="zh-CN" altLang="en-US"/>
        </a:p>
      </dgm:t>
    </dgm:pt>
    <dgm:pt modelId="{E0911F42-3FE7-4712-93DB-CCF9CA1BF7F9}" type="pres">
      <dgm:prSet presAssocID="{3DAF4082-C6B1-46A5-BACD-0986046E5B54}" presName="rootConnector" presStyleLbl="node3" presStyleIdx="13" presStyleCnt="16"/>
      <dgm:spPr/>
      <dgm:t>
        <a:bodyPr/>
        <a:lstStyle/>
        <a:p>
          <a:endParaRPr lang="zh-CN" altLang="en-US"/>
        </a:p>
      </dgm:t>
    </dgm:pt>
    <dgm:pt modelId="{916B1AE0-6050-4863-8FFE-62B9CD56EC86}" type="pres">
      <dgm:prSet presAssocID="{3DAF4082-C6B1-46A5-BACD-0986046E5B54}" presName="hierChild4" presStyleCnt="0"/>
      <dgm:spPr/>
    </dgm:pt>
    <dgm:pt modelId="{BDDFA6C9-C6DF-4CB5-9550-CE0830C44C7E}" type="pres">
      <dgm:prSet presAssocID="{3DAF4082-C6B1-46A5-BACD-0986046E5B54}" presName="hierChild5" presStyleCnt="0"/>
      <dgm:spPr/>
    </dgm:pt>
    <dgm:pt modelId="{0D56B85C-DBAF-4940-B22B-6090EA43B1C8}" type="pres">
      <dgm:prSet presAssocID="{FB468D49-0B0D-4209-BCE5-A5896D94894E}" presName="hierChild5" presStyleCnt="0"/>
      <dgm:spPr/>
    </dgm:pt>
    <dgm:pt modelId="{2B55BA6C-E7B9-4F3D-9B53-E9F986E34379}" type="pres">
      <dgm:prSet presAssocID="{3FA11EFC-BEDF-4F83-B808-EAC2EA5EA8B6}" presName="Name37" presStyleLbl="parChTrans1D2" presStyleIdx="5" presStyleCnt="7"/>
      <dgm:spPr/>
      <dgm:t>
        <a:bodyPr/>
        <a:lstStyle/>
        <a:p>
          <a:endParaRPr lang="zh-CN" altLang="en-US"/>
        </a:p>
      </dgm:t>
    </dgm:pt>
    <dgm:pt modelId="{0E64E889-C45E-47FD-A971-AEE589762F95}" type="pres">
      <dgm:prSet presAssocID="{B03C9FDF-8597-4768-B927-5DCAE011CDCC}" presName="hierRoot2" presStyleCnt="0">
        <dgm:presLayoutVars>
          <dgm:hierBranch val="init"/>
        </dgm:presLayoutVars>
      </dgm:prSet>
      <dgm:spPr/>
    </dgm:pt>
    <dgm:pt modelId="{EF8318B9-40EC-402D-9FD4-D7DC4D279C2D}" type="pres">
      <dgm:prSet presAssocID="{B03C9FDF-8597-4768-B927-5DCAE011CDCC}" presName="rootComposite" presStyleCnt="0"/>
      <dgm:spPr/>
    </dgm:pt>
    <dgm:pt modelId="{3D7EB78F-F05F-411A-A995-460123444B7B}" type="pres">
      <dgm:prSet presAssocID="{B03C9FDF-8597-4768-B927-5DCAE011CDCC}" presName="rootText" presStyleLbl="node2" presStyleIdx="5" presStyleCnt="6">
        <dgm:presLayoutVars>
          <dgm:chPref val="3"/>
        </dgm:presLayoutVars>
      </dgm:prSet>
      <dgm:spPr/>
      <dgm:t>
        <a:bodyPr/>
        <a:lstStyle/>
        <a:p>
          <a:endParaRPr lang="zh-CN" altLang="en-US"/>
        </a:p>
      </dgm:t>
    </dgm:pt>
    <dgm:pt modelId="{105C6712-5D00-4929-B0AA-D75ACF08DBD4}" type="pres">
      <dgm:prSet presAssocID="{B03C9FDF-8597-4768-B927-5DCAE011CDCC}" presName="rootConnector" presStyleLbl="node2" presStyleIdx="5" presStyleCnt="6"/>
      <dgm:spPr/>
      <dgm:t>
        <a:bodyPr/>
        <a:lstStyle/>
        <a:p>
          <a:endParaRPr lang="zh-CN" altLang="en-US"/>
        </a:p>
      </dgm:t>
    </dgm:pt>
    <dgm:pt modelId="{0B1457F9-B601-44A0-A47A-B827D6CBD0AC}" type="pres">
      <dgm:prSet presAssocID="{B03C9FDF-8597-4768-B927-5DCAE011CDCC}" presName="hierChild4" presStyleCnt="0"/>
      <dgm:spPr/>
    </dgm:pt>
    <dgm:pt modelId="{80FA3DB0-D8AA-41DB-9CE7-532ECAA72155}" type="pres">
      <dgm:prSet presAssocID="{F5996FF6-CA00-4201-AB42-4BCC4EA92AF6}" presName="Name37" presStyleLbl="parChTrans1D3" presStyleIdx="14" presStyleCnt="16"/>
      <dgm:spPr/>
      <dgm:t>
        <a:bodyPr/>
        <a:lstStyle/>
        <a:p>
          <a:endParaRPr lang="zh-CN" altLang="en-US"/>
        </a:p>
      </dgm:t>
    </dgm:pt>
    <dgm:pt modelId="{634F4DBE-48C7-4E3C-8ABB-7FB539F6F256}" type="pres">
      <dgm:prSet presAssocID="{8126C948-0D22-4FCF-8944-736BB8F8B14C}" presName="hierRoot2" presStyleCnt="0">
        <dgm:presLayoutVars>
          <dgm:hierBranch val="init"/>
        </dgm:presLayoutVars>
      </dgm:prSet>
      <dgm:spPr/>
    </dgm:pt>
    <dgm:pt modelId="{FEE3AD58-D656-414F-AFD1-288D04E3B831}" type="pres">
      <dgm:prSet presAssocID="{8126C948-0D22-4FCF-8944-736BB8F8B14C}" presName="rootComposite" presStyleCnt="0"/>
      <dgm:spPr/>
    </dgm:pt>
    <dgm:pt modelId="{376EF23C-590D-4D71-9DDB-406440306492}" type="pres">
      <dgm:prSet presAssocID="{8126C948-0D22-4FCF-8944-736BB8F8B14C}" presName="rootText" presStyleLbl="node3" presStyleIdx="14" presStyleCnt="16">
        <dgm:presLayoutVars>
          <dgm:chPref val="3"/>
        </dgm:presLayoutVars>
      </dgm:prSet>
      <dgm:spPr/>
      <dgm:t>
        <a:bodyPr/>
        <a:lstStyle/>
        <a:p>
          <a:endParaRPr lang="zh-CN" altLang="en-US"/>
        </a:p>
      </dgm:t>
    </dgm:pt>
    <dgm:pt modelId="{3BF00363-22C9-47E3-ADEA-C4010D1B0240}" type="pres">
      <dgm:prSet presAssocID="{8126C948-0D22-4FCF-8944-736BB8F8B14C}" presName="rootConnector" presStyleLbl="node3" presStyleIdx="14" presStyleCnt="16"/>
      <dgm:spPr/>
      <dgm:t>
        <a:bodyPr/>
        <a:lstStyle/>
        <a:p>
          <a:endParaRPr lang="zh-CN" altLang="en-US"/>
        </a:p>
      </dgm:t>
    </dgm:pt>
    <dgm:pt modelId="{D506CD01-7D74-492D-9ABF-1F91B8A0C0B2}" type="pres">
      <dgm:prSet presAssocID="{8126C948-0D22-4FCF-8944-736BB8F8B14C}" presName="hierChild4" presStyleCnt="0"/>
      <dgm:spPr/>
    </dgm:pt>
    <dgm:pt modelId="{012DD858-ECDE-4743-AE68-18D18D828CC1}" type="pres">
      <dgm:prSet presAssocID="{8126C948-0D22-4FCF-8944-736BB8F8B14C}" presName="hierChild5" presStyleCnt="0"/>
      <dgm:spPr/>
    </dgm:pt>
    <dgm:pt modelId="{193F2591-89D4-4DD1-A3A8-1FA0B7081DA3}" type="pres">
      <dgm:prSet presAssocID="{DF496AFD-D7F8-432B-9425-F9050C166957}" presName="Name37" presStyleLbl="parChTrans1D3" presStyleIdx="15" presStyleCnt="16"/>
      <dgm:spPr/>
      <dgm:t>
        <a:bodyPr/>
        <a:lstStyle/>
        <a:p>
          <a:endParaRPr lang="zh-CN" altLang="en-US"/>
        </a:p>
      </dgm:t>
    </dgm:pt>
    <dgm:pt modelId="{FB915E25-5E21-4193-B19E-EC72171DD3C7}" type="pres">
      <dgm:prSet presAssocID="{48CC43D7-56E4-4C78-BFD2-BBC851927463}" presName="hierRoot2" presStyleCnt="0">
        <dgm:presLayoutVars>
          <dgm:hierBranch val="init"/>
        </dgm:presLayoutVars>
      </dgm:prSet>
      <dgm:spPr/>
    </dgm:pt>
    <dgm:pt modelId="{542E6A31-106D-4E05-8040-4C086A1DF52D}" type="pres">
      <dgm:prSet presAssocID="{48CC43D7-56E4-4C78-BFD2-BBC851927463}" presName="rootComposite" presStyleCnt="0"/>
      <dgm:spPr/>
    </dgm:pt>
    <dgm:pt modelId="{B02CDEA7-2177-4B9A-AD2B-A125969A07F8}" type="pres">
      <dgm:prSet presAssocID="{48CC43D7-56E4-4C78-BFD2-BBC851927463}" presName="rootText" presStyleLbl="node3" presStyleIdx="15" presStyleCnt="16">
        <dgm:presLayoutVars>
          <dgm:chPref val="3"/>
        </dgm:presLayoutVars>
      </dgm:prSet>
      <dgm:spPr/>
      <dgm:t>
        <a:bodyPr/>
        <a:lstStyle/>
        <a:p>
          <a:endParaRPr lang="zh-CN" altLang="en-US"/>
        </a:p>
      </dgm:t>
    </dgm:pt>
    <dgm:pt modelId="{B31797F2-32C9-46F5-855B-3C92370EA1FA}" type="pres">
      <dgm:prSet presAssocID="{48CC43D7-56E4-4C78-BFD2-BBC851927463}" presName="rootConnector" presStyleLbl="node3" presStyleIdx="15" presStyleCnt="16"/>
      <dgm:spPr/>
      <dgm:t>
        <a:bodyPr/>
        <a:lstStyle/>
        <a:p>
          <a:endParaRPr lang="zh-CN" altLang="en-US"/>
        </a:p>
      </dgm:t>
    </dgm:pt>
    <dgm:pt modelId="{2C564DC0-3C89-4880-8AF6-C1056266F7F5}" type="pres">
      <dgm:prSet presAssocID="{48CC43D7-56E4-4C78-BFD2-BBC851927463}" presName="hierChild4" presStyleCnt="0"/>
      <dgm:spPr/>
    </dgm:pt>
    <dgm:pt modelId="{0A2A4A1B-07BD-467C-8E52-581868F5AC30}" type="pres">
      <dgm:prSet presAssocID="{48CC43D7-56E4-4C78-BFD2-BBC851927463}" presName="hierChild5" presStyleCnt="0"/>
      <dgm:spPr/>
    </dgm:pt>
    <dgm:pt modelId="{00617EB8-CC37-4916-B150-81595D52CE75}" type="pres">
      <dgm:prSet presAssocID="{B03C9FDF-8597-4768-B927-5DCAE011CDCC}" presName="hierChild5" presStyleCnt="0"/>
      <dgm:spPr/>
    </dgm:pt>
    <dgm:pt modelId="{061B1A59-38E6-41EE-862C-706DD28A6731}" type="pres">
      <dgm:prSet presAssocID="{06B89794-7AD2-4F4B-9500-5565EAA4B0CD}" presName="hierChild3" presStyleCnt="0"/>
      <dgm:spPr/>
    </dgm:pt>
    <dgm:pt modelId="{832149EF-45B1-492A-9285-F8B216A782A9}" type="pres">
      <dgm:prSet presAssocID="{00B31FD2-1D7A-42C4-BEC7-85D44DFA053D}" presName="Name111" presStyleLbl="parChTrans1D2" presStyleIdx="6" presStyleCnt="7"/>
      <dgm:spPr/>
      <dgm:t>
        <a:bodyPr/>
        <a:lstStyle/>
        <a:p>
          <a:endParaRPr lang="zh-CN" altLang="en-US"/>
        </a:p>
      </dgm:t>
    </dgm:pt>
    <dgm:pt modelId="{F8A4E051-811B-418E-9091-FC1A5DCCB9C9}" type="pres">
      <dgm:prSet presAssocID="{C72AF209-9451-495D-8EDD-4266666BF004}" presName="hierRoot3" presStyleCnt="0">
        <dgm:presLayoutVars>
          <dgm:hierBranch val="init"/>
        </dgm:presLayoutVars>
      </dgm:prSet>
      <dgm:spPr/>
    </dgm:pt>
    <dgm:pt modelId="{21CB8B3F-33E3-437B-8203-78192FE50F8A}" type="pres">
      <dgm:prSet presAssocID="{C72AF209-9451-495D-8EDD-4266666BF004}" presName="rootComposite3" presStyleCnt="0"/>
      <dgm:spPr/>
    </dgm:pt>
    <dgm:pt modelId="{4284709F-09C3-4185-BE39-0DDA8826D1B8}" type="pres">
      <dgm:prSet presAssocID="{C72AF209-9451-495D-8EDD-4266666BF004}" presName="rootText3" presStyleLbl="asst1" presStyleIdx="0" presStyleCnt="1">
        <dgm:presLayoutVars>
          <dgm:chPref val="3"/>
        </dgm:presLayoutVars>
      </dgm:prSet>
      <dgm:spPr/>
      <dgm:t>
        <a:bodyPr/>
        <a:lstStyle/>
        <a:p>
          <a:endParaRPr lang="zh-CN" altLang="en-US"/>
        </a:p>
      </dgm:t>
    </dgm:pt>
    <dgm:pt modelId="{59ADAAC0-991D-4ED7-BAA8-1ECB69EF23A8}" type="pres">
      <dgm:prSet presAssocID="{C72AF209-9451-495D-8EDD-4266666BF004}" presName="rootConnector3" presStyleLbl="asst1" presStyleIdx="0" presStyleCnt="1"/>
      <dgm:spPr/>
      <dgm:t>
        <a:bodyPr/>
        <a:lstStyle/>
        <a:p>
          <a:endParaRPr lang="zh-CN" altLang="en-US"/>
        </a:p>
      </dgm:t>
    </dgm:pt>
    <dgm:pt modelId="{130AFE1C-F0BA-4AC1-A038-E2E76E9F0986}" type="pres">
      <dgm:prSet presAssocID="{C72AF209-9451-495D-8EDD-4266666BF004}" presName="hierChild6" presStyleCnt="0"/>
      <dgm:spPr/>
    </dgm:pt>
    <dgm:pt modelId="{875D26DE-4F61-43BE-8CBA-748BCF15156C}" type="pres">
      <dgm:prSet presAssocID="{C72AF209-9451-495D-8EDD-4266666BF004}" presName="hierChild7" presStyleCnt="0"/>
      <dgm:spPr/>
    </dgm:pt>
  </dgm:ptLst>
  <dgm:cxnLst>
    <dgm:cxn modelId="{86DF97A9-A857-4E1E-97B4-ED9E17701B48}" type="presOf" srcId="{06B89794-7AD2-4F4B-9500-5565EAA4B0CD}" destId="{90332E0C-79C6-4D96-8A55-2A3A49C2AA95}" srcOrd="1" destOrd="0" presId="urn:microsoft.com/office/officeart/2005/8/layout/orgChart1"/>
    <dgm:cxn modelId="{FC5DC9C5-DEE7-4D53-A803-EAE9166EF18A}" type="presOf" srcId="{64D60130-223C-4273-A2CF-F9267A898143}" destId="{99F2DC45-8B36-4EB0-B41A-C32D5831C937}" srcOrd="0" destOrd="0" presId="urn:microsoft.com/office/officeart/2005/8/layout/orgChart1"/>
    <dgm:cxn modelId="{EFBC0B18-6CAA-42BB-9312-F64F783620E2}" type="presOf" srcId="{3F871631-8B37-44C0-A169-EE6156C4C35B}" destId="{4ECD5F8E-07AA-4E58-A10F-38ABEA822050}" srcOrd="0" destOrd="0" presId="urn:microsoft.com/office/officeart/2005/8/layout/orgChart1"/>
    <dgm:cxn modelId="{D16693CA-20B2-4791-AC99-BFFF9A678193}" type="presOf" srcId="{731AAB42-E75E-4F5B-9836-39294AF49A24}" destId="{77071DD8-8699-4AF7-A8C1-40F391A8DDAB}" srcOrd="1" destOrd="0" presId="urn:microsoft.com/office/officeart/2005/8/layout/orgChart1"/>
    <dgm:cxn modelId="{6CB97A86-BD4D-45E0-A5F1-232208FA8E42}" type="presOf" srcId="{7B67AB4D-C2BF-43E2-9A1B-426B78ED9D19}" destId="{BE55854F-5760-4859-B8D7-9FC9F396E531}" srcOrd="0" destOrd="0" presId="urn:microsoft.com/office/officeart/2005/8/layout/orgChart1"/>
    <dgm:cxn modelId="{037A30D0-9621-470C-9151-69D58EED34C4}" srcId="{06B89794-7AD2-4F4B-9500-5565EAA4B0CD}" destId="{B03C9FDF-8597-4768-B927-5DCAE011CDCC}" srcOrd="6" destOrd="0" parTransId="{3FA11EFC-BEDF-4F83-B808-EAC2EA5EA8B6}" sibTransId="{8B335AD7-B80D-43DF-AC95-D48C2479A3EC}"/>
    <dgm:cxn modelId="{333997DA-1AA2-4D79-A90F-82282DB5C431}" srcId="{F38072CD-20D5-455B-8A71-748292C8EE2F}" destId="{06B89794-7AD2-4F4B-9500-5565EAA4B0CD}" srcOrd="0" destOrd="0" parTransId="{17A6E945-4C8D-49BB-8545-41D462901AB6}" sibTransId="{6D832C55-8589-4C8F-B9B6-9C69767D337B}"/>
    <dgm:cxn modelId="{A8B005A7-C561-4F28-A1DD-F7522BE2EA8B}" type="presOf" srcId="{3DAF4082-C6B1-46A5-BACD-0986046E5B54}" destId="{E0911F42-3FE7-4712-93DB-CCF9CA1BF7F9}" srcOrd="1" destOrd="0" presId="urn:microsoft.com/office/officeart/2005/8/layout/orgChart1"/>
    <dgm:cxn modelId="{5F340D0A-BB41-4E52-9929-67F69B5AB0D2}" type="presOf" srcId="{73F26962-3CA3-4CA3-9826-D706489BC2C9}" destId="{B237821F-C7C8-4621-961A-679FC90A73B2}" srcOrd="0" destOrd="0" presId="urn:microsoft.com/office/officeart/2005/8/layout/orgChart1"/>
    <dgm:cxn modelId="{3193085D-0B72-46C9-94EF-73E57BE66A92}" srcId="{06B89794-7AD2-4F4B-9500-5565EAA4B0CD}" destId="{FFF76826-B9FA-4C12-A94B-B9172B8B16A4}" srcOrd="3" destOrd="0" parTransId="{60B7BAF3-177D-4F3E-980B-C63605D6B132}" sibTransId="{4478A05B-14ED-42D8-9A48-E58D15A1A8CA}"/>
    <dgm:cxn modelId="{44EC55E2-76F1-4033-ACF6-665C25A96CAC}" type="presOf" srcId="{3838BC76-0F80-4E93-93C0-29F308C57478}" destId="{27AF5E57-41FC-4632-889C-4440AFABD073}" srcOrd="0" destOrd="0" presId="urn:microsoft.com/office/officeart/2005/8/layout/orgChart1"/>
    <dgm:cxn modelId="{AB80AEB6-8559-45D7-AF79-BA9D19781934}" type="presOf" srcId="{082B9BB3-DEA1-4FDA-AB02-DF2FA4C525DA}" destId="{4AB337A2-A5FA-40EF-B8A4-BBC0EEA65125}" srcOrd="0" destOrd="0" presId="urn:microsoft.com/office/officeart/2005/8/layout/orgChart1"/>
    <dgm:cxn modelId="{F865AE24-C158-4A41-9A1D-47F0887B07B9}" srcId="{FFF76826-B9FA-4C12-A94B-B9172B8B16A4}" destId="{1F745881-3C99-4875-BBB4-C83F7FB1B87C}" srcOrd="2" destOrd="0" parTransId="{E27EF942-A4F1-4B7A-A576-88EE914E5811}" sibTransId="{935045AA-E255-42BC-9604-D4E6CD5D6E1F}"/>
    <dgm:cxn modelId="{B96186FF-7943-4EEB-8771-424E66EA2480}" type="presOf" srcId="{1F745881-3C99-4875-BBB4-C83F7FB1B87C}" destId="{516C6DC0-A2BC-468E-B750-64556D4CB57F}" srcOrd="1" destOrd="0" presId="urn:microsoft.com/office/officeart/2005/8/layout/orgChart1"/>
    <dgm:cxn modelId="{7C1BAA9E-1E8F-428F-8318-2875001BDAED}" type="presOf" srcId="{C2DBCA0C-B9B4-4B31-BFC2-6CC7113CD0D9}" destId="{3856F5E3-2F31-4B9B-8712-43E46500BE6F}" srcOrd="0" destOrd="0" presId="urn:microsoft.com/office/officeart/2005/8/layout/orgChart1"/>
    <dgm:cxn modelId="{87634377-3586-4971-AE93-DE93098A05B1}" type="presOf" srcId="{F23F647D-83C2-46E4-9698-BAEDE095DA27}" destId="{3C3E0EC0-D75F-4C08-B878-6F8DED4DCB1F}" srcOrd="0" destOrd="0" presId="urn:microsoft.com/office/officeart/2005/8/layout/orgChart1"/>
    <dgm:cxn modelId="{19BB5792-E270-48B7-AD1B-3E18FEAFA438}" type="presOf" srcId="{470220BE-5EE5-4845-8CB6-CF40F744E0C6}" destId="{5D7417F9-C603-4FE9-8B43-E93F9A111E08}" srcOrd="0" destOrd="0" presId="urn:microsoft.com/office/officeart/2005/8/layout/orgChart1"/>
    <dgm:cxn modelId="{C378764A-9BB7-4332-B4B4-65A2FF56AEE4}" type="presOf" srcId="{1F1F2AB8-DB5F-457D-B4A8-85609509245C}" destId="{5EC59B34-DCB2-45B6-9D97-5BF0579362F4}" srcOrd="0" destOrd="0" presId="urn:microsoft.com/office/officeart/2005/8/layout/orgChart1"/>
    <dgm:cxn modelId="{9F18CE0B-1739-4A54-A47B-C0E56378E741}" type="presOf" srcId="{1F1F2AB8-DB5F-457D-B4A8-85609509245C}" destId="{7AC55F76-1653-482D-90D9-5D31A416B6FC}" srcOrd="1" destOrd="0" presId="urn:microsoft.com/office/officeart/2005/8/layout/orgChart1"/>
    <dgm:cxn modelId="{2F3109C8-D656-4898-A374-6FAA9E2F17BF}" type="presOf" srcId="{F44BF435-A88C-421E-AB17-1EEC927D1F81}" destId="{B2C069D9-85DB-4958-9213-D1A168C07340}" srcOrd="1" destOrd="0" presId="urn:microsoft.com/office/officeart/2005/8/layout/orgChart1"/>
    <dgm:cxn modelId="{932F8B00-1E7D-4248-8D3F-FB960F467767}" type="presOf" srcId="{FFF76826-B9FA-4C12-A94B-B9172B8B16A4}" destId="{06A3F84C-891B-4518-9E0B-4118FB513955}" srcOrd="0" destOrd="0" presId="urn:microsoft.com/office/officeart/2005/8/layout/orgChart1"/>
    <dgm:cxn modelId="{7EC7DF64-1F8C-4CE3-A9DC-021BD7CD2D47}" srcId="{E0F68176-3645-4A55-85A4-FB3F55A786EE}" destId="{BB7597EA-16DB-4BEF-BB24-04D117BB3F4E}" srcOrd="2" destOrd="0" parTransId="{3F871631-8B37-44C0-A169-EE6156C4C35B}" sibTransId="{73CF244B-0401-4FC6-9803-5E8DCF487A29}"/>
    <dgm:cxn modelId="{4115CE42-78FC-4DFD-8D30-FC58866D5A13}" type="presOf" srcId="{60B7BAF3-177D-4F3E-980B-C63605D6B132}" destId="{895C39EC-4712-4FE3-8840-B4DEB7D2EBED}" srcOrd="0" destOrd="0" presId="urn:microsoft.com/office/officeart/2005/8/layout/orgChart1"/>
    <dgm:cxn modelId="{B32725E0-D4B1-42CD-9146-049149F8E69C}" srcId="{06B89794-7AD2-4F4B-9500-5565EAA4B0CD}" destId="{C72AF209-9451-495D-8EDD-4266666BF004}" srcOrd="0" destOrd="0" parTransId="{00B31FD2-1D7A-42C4-BEC7-85D44DFA053D}" sibTransId="{949F3632-7FB3-4776-AF2F-D551BEFE8E6E}"/>
    <dgm:cxn modelId="{5E334FAF-72E8-47E5-B4F8-657B7AB49677}" type="presOf" srcId="{3E93A887-BB52-49BF-9498-1B24876D941F}" destId="{367DF239-712E-46E2-A503-8D8FD66C05CF}" srcOrd="0" destOrd="0" presId="urn:microsoft.com/office/officeart/2005/8/layout/orgChart1"/>
    <dgm:cxn modelId="{99930660-E8CC-43EB-8B63-D7EB65D9F651}" type="presOf" srcId="{F38072CD-20D5-455B-8A71-748292C8EE2F}" destId="{957EF0D3-E419-493B-A95C-5B62D0E88EBF}" srcOrd="0" destOrd="0" presId="urn:microsoft.com/office/officeart/2005/8/layout/orgChart1"/>
    <dgm:cxn modelId="{543B6357-B04D-4E65-8E79-C6AD85CA7A81}" type="presOf" srcId="{B03C9FDF-8597-4768-B927-5DCAE011CDCC}" destId="{105C6712-5D00-4929-B0AA-D75ACF08DBD4}" srcOrd="1" destOrd="0" presId="urn:microsoft.com/office/officeart/2005/8/layout/orgChart1"/>
    <dgm:cxn modelId="{302F86BD-3216-479C-91A3-DDF453FB5634}" type="presOf" srcId="{1348C430-9185-41F2-A02D-776B4B7A12FC}" destId="{AEF867E8-4CC3-4C94-9277-2A62D63F7BB5}" srcOrd="0" destOrd="0" presId="urn:microsoft.com/office/officeart/2005/8/layout/orgChart1"/>
    <dgm:cxn modelId="{D3D2A9F6-35A2-4C98-964E-2AAF6A7CB012}" type="presOf" srcId="{48CC43D7-56E4-4C78-BFD2-BBC851927463}" destId="{B31797F2-32C9-46F5-855B-3C92370EA1FA}" srcOrd="1" destOrd="0" presId="urn:microsoft.com/office/officeart/2005/8/layout/orgChart1"/>
    <dgm:cxn modelId="{0D61EF7D-6060-4D26-BD14-6C120E6E197F}" type="presOf" srcId="{C2D54CEE-2E2E-49E2-9D49-EEEF1F3C9482}" destId="{3B9CDD9F-97E3-454E-BC98-E3882AA7F517}" srcOrd="0" destOrd="0" presId="urn:microsoft.com/office/officeart/2005/8/layout/orgChart1"/>
    <dgm:cxn modelId="{7B776E58-43B0-4893-BF14-6B7325C0F72E}" type="presOf" srcId="{86EF535E-BA60-4CAE-9C99-D503DF447184}" destId="{57D81606-C6F8-4834-9A5F-6CC2DFE9A49B}" srcOrd="1" destOrd="0" presId="urn:microsoft.com/office/officeart/2005/8/layout/orgChart1"/>
    <dgm:cxn modelId="{594AF161-E4F5-4269-8D9D-C3FEF233545A}" type="presOf" srcId="{B03C9FDF-8597-4768-B927-5DCAE011CDCC}" destId="{3D7EB78F-F05F-411A-A995-460123444B7B}" srcOrd="0" destOrd="0" presId="urn:microsoft.com/office/officeart/2005/8/layout/orgChart1"/>
    <dgm:cxn modelId="{7D3AB3E5-D8E5-41F8-94EE-E6572091EB91}" type="presOf" srcId="{2DD1B46A-BBC8-4164-9F22-10041A2E0EF3}" destId="{B55DBEAF-1CA7-4ACC-9484-ED7F7BDAEC8B}" srcOrd="0" destOrd="0" presId="urn:microsoft.com/office/officeart/2005/8/layout/orgChart1"/>
    <dgm:cxn modelId="{5B435282-A9D8-4A29-A7E4-3CFD0D17FC53}" type="presOf" srcId="{9360712D-4E4D-49A6-B2C0-2CD9B2399407}" destId="{BE22CA6C-866F-468F-B1C8-E2022ACDA2C8}" srcOrd="1" destOrd="0" presId="urn:microsoft.com/office/officeart/2005/8/layout/orgChart1"/>
    <dgm:cxn modelId="{E4313065-D26A-40CE-A14D-533F097151D4}" type="presOf" srcId="{BCAE57C2-F2B2-4030-8D64-AD1CCB5C43C7}" destId="{219AA03F-549D-4C52-BC33-28A622895AC9}" srcOrd="0" destOrd="0" presId="urn:microsoft.com/office/officeart/2005/8/layout/orgChart1"/>
    <dgm:cxn modelId="{0E2F941D-50EB-45D6-80EE-78CCEA0A63F8}" type="presOf" srcId="{00B31FD2-1D7A-42C4-BEC7-85D44DFA053D}" destId="{832149EF-45B1-492A-9285-F8B216A782A9}" srcOrd="0" destOrd="0" presId="urn:microsoft.com/office/officeart/2005/8/layout/orgChart1"/>
    <dgm:cxn modelId="{19B22F86-88A6-4E2E-9BC1-528CEC306DEF}" srcId="{E0F68176-3645-4A55-85A4-FB3F55A786EE}" destId="{9360712D-4E4D-49A6-B2C0-2CD9B2399407}" srcOrd="0" destOrd="0" parTransId="{64D60130-223C-4273-A2CF-F9267A898143}" sibTransId="{C776B403-E8D1-4216-9F5A-469FA0D67135}"/>
    <dgm:cxn modelId="{FA1B30DE-6797-4E57-8F90-E988DE9BBE78}" type="presOf" srcId="{2B2CF425-5B03-45AE-902D-4DD2BBD6AD90}" destId="{692EB222-5F67-4EF0-9676-1D2597533B68}" srcOrd="0" destOrd="0" presId="urn:microsoft.com/office/officeart/2005/8/layout/orgChart1"/>
    <dgm:cxn modelId="{9F8C25B1-65C3-4C86-B6C0-53938AADC04F}" type="presOf" srcId="{3DAF4082-C6B1-46A5-BACD-0986046E5B54}" destId="{B20A4089-FFC4-4293-9F88-800ED7634A6B}" srcOrd="0" destOrd="0" presId="urn:microsoft.com/office/officeart/2005/8/layout/orgChart1"/>
    <dgm:cxn modelId="{7A0C212B-98A7-46A9-A1E1-9ABF31AE398C}" type="presOf" srcId="{C72AF209-9451-495D-8EDD-4266666BF004}" destId="{59ADAAC0-991D-4ED7-BAA8-1ECB69EF23A8}" srcOrd="1" destOrd="0" presId="urn:microsoft.com/office/officeart/2005/8/layout/orgChart1"/>
    <dgm:cxn modelId="{B4331BFF-4DB2-4E30-AE42-FB0F75AC6266}" type="presOf" srcId="{06B89794-7AD2-4F4B-9500-5565EAA4B0CD}" destId="{464A532C-6854-42B6-96FD-9F4B37264B04}" srcOrd="0" destOrd="0" presId="urn:microsoft.com/office/officeart/2005/8/layout/orgChart1"/>
    <dgm:cxn modelId="{A57498B2-6914-4F2D-AC52-76F15ECCC155}" type="presOf" srcId="{97C71065-FAEF-425C-9047-A2BC51372C71}" destId="{D5995645-5D70-4869-9FC2-DA2C1454A188}" srcOrd="0" destOrd="0" presId="urn:microsoft.com/office/officeart/2005/8/layout/orgChart1"/>
    <dgm:cxn modelId="{84591368-F90A-460D-90A0-0AC470F81D8F}" srcId="{06B89794-7AD2-4F4B-9500-5565EAA4B0CD}" destId="{FB468D49-0B0D-4209-BCE5-A5896D94894E}" srcOrd="5" destOrd="0" parTransId="{3838BC76-0F80-4E93-93C0-29F308C57478}" sibTransId="{AE76DAD4-51C8-40D2-9440-1DFE9E0310BE}"/>
    <dgm:cxn modelId="{008C1293-D53F-49F1-9CA8-311C6E448629}" srcId="{DECE0C0F-83C6-4DE5-AE59-849CD8F258E2}" destId="{A1BF548B-43F1-4231-AC0D-64C2AD89968F}" srcOrd="4" destOrd="0" parTransId="{10B170E3-558A-4992-AB23-DC69C30B8F50}" sibTransId="{136048D4-4B2D-46E3-9BC4-CE3FE0262A36}"/>
    <dgm:cxn modelId="{6C849BA1-BCD2-4779-8BC4-2563D85F77AB}" type="presOf" srcId="{2B2CF425-5B03-45AE-902D-4DD2BBD6AD90}" destId="{94EBD6FF-9643-452F-8953-56470C9149CE}" srcOrd="1" destOrd="0" presId="urn:microsoft.com/office/officeart/2005/8/layout/orgChart1"/>
    <dgm:cxn modelId="{29761FC7-41FE-4CBE-A468-36CDBDDB95AC}" type="presOf" srcId="{1F745881-3C99-4875-BBB4-C83F7FB1B87C}" destId="{381540DE-FD89-41E4-B004-4140D5BEB0D8}" srcOrd="0" destOrd="0" presId="urn:microsoft.com/office/officeart/2005/8/layout/orgChart1"/>
    <dgm:cxn modelId="{29C2CB65-818F-42F6-8EC5-0433D2EBF311}" srcId="{06B89794-7AD2-4F4B-9500-5565EAA4B0CD}" destId="{1348C430-9185-41F2-A02D-776B4B7A12FC}" srcOrd="1" destOrd="0" parTransId="{195B6DE7-64B5-4226-9A5B-E8B9DD5AF7B4}" sibTransId="{09882DE9-AC2C-4721-85B7-BDBC7CAC5BA5}"/>
    <dgm:cxn modelId="{A8ABE4A0-EF5F-4FC7-895C-3AC11C424189}" srcId="{06B89794-7AD2-4F4B-9500-5565EAA4B0CD}" destId="{E0F68176-3645-4A55-85A4-FB3F55A786EE}" srcOrd="4" destOrd="0" parTransId="{C2DBCA0C-B9B4-4B31-BFC2-6CC7113CD0D9}" sibTransId="{BADBDAF0-4FC7-4CD9-84E6-279BC629DC7C}"/>
    <dgm:cxn modelId="{12522E2C-08C9-45C6-8F17-E80F6408407A}" type="presOf" srcId="{E0F68176-3645-4A55-85A4-FB3F55A786EE}" destId="{B628994A-B676-4399-9E79-31A7723A2E01}" srcOrd="1" destOrd="0" presId="urn:microsoft.com/office/officeart/2005/8/layout/orgChart1"/>
    <dgm:cxn modelId="{90FE6526-CBC2-49EC-B1FA-D534ADC3B010}" srcId="{FB468D49-0B0D-4209-BCE5-A5896D94894E}" destId="{3DAF4082-C6B1-46A5-BACD-0986046E5B54}" srcOrd="0" destOrd="0" parTransId="{73F26962-3CA3-4CA3-9826-D706489BC2C9}" sibTransId="{C7FEC994-0F33-44B9-87B9-FD33F55D5F70}"/>
    <dgm:cxn modelId="{8802871F-A8BC-42E2-A08B-56B4AAA1B73B}" type="presOf" srcId="{7B67AB4D-C2BF-43E2-9A1B-426B78ED9D19}" destId="{DBDB0B5F-F0E7-42D5-BAC2-0AD4AB8B8936}" srcOrd="1" destOrd="0" presId="urn:microsoft.com/office/officeart/2005/8/layout/orgChart1"/>
    <dgm:cxn modelId="{1D04DF71-FC92-4F1F-8CB1-F7275155C7BB}" srcId="{FFF76826-B9FA-4C12-A94B-B9172B8B16A4}" destId="{5BBBE13A-18D8-4041-8A59-84546C35E918}" srcOrd="1" destOrd="0" parTransId="{7FC33BF0-2B8A-44BC-83E2-63EE94983F5B}" sibTransId="{A2359A73-BAAA-418F-9976-96E2FFF604D6}"/>
    <dgm:cxn modelId="{4F407F9A-21E7-4CE0-B76C-BF5C6C43267C}" type="presOf" srcId="{BB7597EA-16DB-4BEF-BB24-04D117BB3F4E}" destId="{2C8E36A8-EABF-499C-94EC-9A60057FD33A}" srcOrd="1" destOrd="0" presId="urn:microsoft.com/office/officeart/2005/8/layout/orgChart1"/>
    <dgm:cxn modelId="{DE29F0E4-A457-4022-953B-70516F0A3F75}" type="presOf" srcId="{195B6DE7-64B5-4226-9A5B-E8B9DD5AF7B4}" destId="{1203D55F-375E-4B4B-8D8F-D5C9736A271B}" srcOrd="0" destOrd="0" presId="urn:microsoft.com/office/officeart/2005/8/layout/orgChart1"/>
    <dgm:cxn modelId="{6F6DE2A9-1B5E-4851-9B85-453A5B41F887}" srcId="{B03C9FDF-8597-4768-B927-5DCAE011CDCC}" destId="{8126C948-0D22-4FCF-8944-736BB8F8B14C}" srcOrd="0" destOrd="0" parTransId="{F5996FF6-CA00-4201-AB42-4BCC4EA92AF6}" sibTransId="{CC79C120-A704-49E0-8BE2-5E936302AD4A}"/>
    <dgm:cxn modelId="{7DE9E5DB-3C5A-4FE0-9036-6D0F68EA0ED0}" type="presOf" srcId="{BCAE57C2-F2B2-4030-8D64-AD1CCB5C43C7}" destId="{2D002C43-D0D8-4C4F-A705-B60CD5FECCF1}" srcOrd="1" destOrd="0" presId="urn:microsoft.com/office/officeart/2005/8/layout/orgChart1"/>
    <dgm:cxn modelId="{B3595E10-3E9D-491D-9CC5-A4455524BEDA}" type="presOf" srcId="{F5996FF6-CA00-4201-AB42-4BCC4EA92AF6}" destId="{80FA3DB0-D8AA-41DB-9CE7-532ECAA72155}" srcOrd="0" destOrd="0" presId="urn:microsoft.com/office/officeart/2005/8/layout/orgChart1"/>
    <dgm:cxn modelId="{FB2A158D-8DA3-4649-A150-93A830061D9A}" type="presOf" srcId="{BB7597EA-16DB-4BEF-BB24-04D117BB3F4E}" destId="{05E333A4-FA62-4CE2-9CEE-C06154D4C1A5}" srcOrd="0" destOrd="0" presId="urn:microsoft.com/office/officeart/2005/8/layout/orgChart1"/>
    <dgm:cxn modelId="{FE597F29-9AEB-4CD6-90FC-4083E187448E}" type="presOf" srcId="{FB468D49-0B0D-4209-BCE5-A5896D94894E}" destId="{B6B560B6-5EC0-42BF-8B5A-A174E31DE4B4}" srcOrd="0" destOrd="0" presId="urn:microsoft.com/office/officeart/2005/8/layout/orgChart1"/>
    <dgm:cxn modelId="{95220E25-EF93-422F-8481-D1BF2A3F22E5}" type="presOf" srcId="{C72AF209-9451-495D-8EDD-4266666BF004}" destId="{4284709F-09C3-4185-BE39-0DDA8826D1B8}" srcOrd="0" destOrd="0" presId="urn:microsoft.com/office/officeart/2005/8/layout/orgChart1"/>
    <dgm:cxn modelId="{873996BF-4EA2-47D8-93C8-D9E29E8C562D}" type="presOf" srcId="{E0F68176-3645-4A55-85A4-FB3F55A786EE}" destId="{AC5D702E-D598-4FA2-A8AB-677F8BFF1F2A}" srcOrd="0" destOrd="0" presId="urn:microsoft.com/office/officeart/2005/8/layout/orgChart1"/>
    <dgm:cxn modelId="{C7F34AEF-F299-4884-ABB3-99CB7ED8089D}" type="presOf" srcId="{FB468D49-0B0D-4209-BCE5-A5896D94894E}" destId="{7FFAC2F7-2808-485F-A0F2-C0F2EBC59B70}" srcOrd="1" destOrd="0" presId="urn:microsoft.com/office/officeart/2005/8/layout/orgChart1"/>
    <dgm:cxn modelId="{6EB982CC-B923-457B-BFD9-6E12470DE9BF}" srcId="{DECE0C0F-83C6-4DE5-AE59-849CD8F258E2}" destId="{470220BE-5EE5-4845-8CB6-CF40F744E0C6}" srcOrd="2" destOrd="0" parTransId="{C2D54CEE-2E2E-49E2-9D49-EEEF1F3C9482}" sibTransId="{6C741FC9-D8FC-4418-8AD5-664B649A7CC5}"/>
    <dgm:cxn modelId="{E6F2299E-D493-490C-AA66-677873D3A963}" srcId="{06B89794-7AD2-4F4B-9500-5565EAA4B0CD}" destId="{DECE0C0F-83C6-4DE5-AE59-849CD8F258E2}" srcOrd="2" destOrd="0" parTransId="{082B9BB3-DEA1-4FDA-AB02-DF2FA4C525DA}" sibTransId="{B99AD95F-0687-44FD-9F9E-B84BB4C01DA5}"/>
    <dgm:cxn modelId="{800B8884-4D75-41CE-B9D0-6D1AF983D0CD}" type="presOf" srcId="{DECE0C0F-83C6-4DE5-AE59-849CD8F258E2}" destId="{599D457B-B396-4454-8206-5AD57EBB0C62}" srcOrd="0" destOrd="0" presId="urn:microsoft.com/office/officeart/2005/8/layout/orgChart1"/>
    <dgm:cxn modelId="{653640F5-9B16-4EE0-BFEC-6F30FEBA2969}" type="presOf" srcId="{8126C948-0D22-4FCF-8944-736BB8F8B14C}" destId="{3BF00363-22C9-47E3-ADEA-C4010D1B0240}" srcOrd="1" destOrd="0" presId="urn:microsoft.com/office/officeart/2005/8/layout/orgChart1"/>
    <dgm:cxn modelId="{C7790E93-BB44-4431-B21F-90FDA548CF99}" type="presOf" srcId="{86EF535E-BA60-4CAE-9C99-D503DF447184}" destId="{C5144B14-77DB-4127-9098-D417581087A3}" srcOrd="0" destOrd="0" presId="urn:microsoft.com/office/officeart/2005/8/layout/orgChart1"/>
    <dgm:cxn modelId="{43F9A469-BC18-47B9-9DD1-8D1EF7B4EB2A}" type="presOf" srcId="{7FC33BF0-2B8A-44BC-83E2-63EE94983F5B}" destId="{1DB88209-53E0-4BA2-AD34-A3429B457BA5}" srcOrd="0" destOrd="0" presId="urn:microsoft.com/office/officeart/2005/8/layout/orgChart1"/>
    <dgm:cxn modelId="{C8E5D95C-0CD6-4F94-836F-14B2C843BC7B}" type="presOf" srcId="{4D262509-5170-442B-9691-04E26EC4C870}" destId="{A6119B02-6F74-4B31-BBD1-BC46060E5BC0}" srcOrd="0" destOrd="0" presId="urn:microsoft.com/office/officeart/2005/8/layout/orgChart1"/>
    <dgm:cxn modelId="{6194AC0E-96FD-4972-99AE-0FC6696E246E}" srcId="{E0F68176-3645-4A55-85A4-FB3F55A786EE}" destId="{2B2CF425-5B03-45AE-902D-4DD2BBD6AD90}" srcOrd="3" destOrd="0" parTransId="{1E98369A-ABAB-4642-8EEA-3434949C085A}" sibTransId="{72859740-B157-47C5-948A-59CBAC6591A7}"/>
    <dgm:cxn modelId="{0078BEE2-E1ED-464A-926D-CD415FD0D329}" type="presOf" srcId="{FFF76826-B9FA-4C12-A94B-B9172B8B16A4}" destId="{750DD900-6801-4407-A63E-E6BA4B9528B3}" srcOrd="1" destOrd="0" presId="urn:microsoft.com/office/officeart/2005/8/layout/orgChart1"/>
    <dgm:cxn modelId="{502D73E2-2E93-43A9-9951-CE8578DF9986}" type="presOf" srcId="{1E98369A-ABAB-4642-8EEA-3434949C085A}" destId="{B7B632DE-E9DC-4AA4-B1E5-50C90540F8DE}" srcOrd="0" destOrd="0" presId="urn:microsoft.com/office/officeart/2005/8/layout/orgChart1"/>
    <dgm:cxn modelId="{5BE15E40-7F71-4BF3-820A-A0966C6B3DA7}" type="presOf" srcId="{3FA11EFC-BEDF-4F83-B808-EAC2EA5EA8B6}" destId="{2B55BA6C-E7B9-4F3D-9B53-E9F986E34379}" srcOrd="0" destOrd="0" presId="urn:microsoft.com/office/officeart/2005/8/layout/orgChart1"/>
    <dgm:cxn modelId="{CACC81DA-2CA5-40BD-8E91-E376EA6DB42C}" srcId="{DECE0C0F-83C6-4DE5-AE59-849CD8F258E2}" destId="{731AAB42-E75E-4F5B-9836-39294AF49A24}" srcOrd="3" destOrd="0" parTransId="{8B2FFA06-879A-4D53-BAE6-95F1DFCF8C53}" sibTransId="{5DD61715-5050-4733-BBB6-46A54688CEEB}"/>
    <dgm:cxn modelId="{7FFF8F70-1BA4-40A8-AE4A-7241075CE95E}" srcId="{E0F68176-3645-4A55-85A4-FB3F55A786EE}" destId="{F44BF435-A88C-421E-AB17-1EEC927D1F81}" srcOrd="1" destOrd="0" parTransId="{97C71065-FAEF-425C-9047-A2BC51372C71}" sibTransId="{4B294025-82D7-4FD3-AE0A-38106015B4DC}"/>
    <dgm:cxn modelId="{8489B39F-E43A-49ED-86A2-7EFECF5D5333}" type="presOf" srcId="{E27EF942-A4F1-4B7A-A576-88EE914E5811}" destId="{99CABB44-2F8C-46D8-A4A2-232301D99C43}" srcOrd="0" destOrd="0" presId="urn:microsoft.com/office/officeart/2005/8/layout/orgChart1"/>
    <dgm:cxn modelId="{F0E093C0-291B-45F6-A85F-F2768D6494B0}" type="presOf" srcId="{DECE0C0F-83C6-4DE5-AE59-849CD8F258E2}" destId="{81BF50FC-F96B-4545-B690-03E1EE9178D4}" srcOrd="1" destOrd="0" presId="urn:microsoft.com/office/officeart/2005/8/layout/orgChart1"/>
    <dgm:cxn modelId="{9E2FB498-886C-460D-BE8A-D2403C75FEED}" type="presOf" srcId="{5BBBE13A-18D8-4041-8A59-84546C35E918}" destId="{A05449AD-20DB-4CDC-B099-441697591C78}" srcOrd="1" destOrd="0" presId="urn:microsoft.com/office/officeart/2005/8/layout/orgChart1"/>
    <dgm:cxn modelId="{1927525B-4099-4F68-974A-299F9EC36702}" srcId="{DECE0C0F-83C6-4DE5-AE59-849CD8F258E2}" destId="{86EF535E-BA60-4CAE-9C99-D503DF447184}" srcOrd="1" destOrd="0" parTransId="{4D262509-5170-442B-9691-04E26EC4C870}" sibTransId="{26B92A9D-8409-4026-A799-762DF7D47CEC}"/>
    <dgm:cxn modelId="{8E6A2928-38CF-410A-9706-7A0D2D7501D0}" srcId="{FFF76826-B9FA-4C12-A94B-B9172B8B16A4}" destId="{7B67AB4D-C2BF-43E2-9A1B-426B78ED9D19}" srcOrd="0" destOrd="0" parTransId="{3E93A887-BB52-49BF-9498-1B24876D941F}" sibTransId="{559AC46D-8607-47E3-8CAF-4D2F72797BC6}"/>
    <dgm:cxn modelId="{293D06D4-0F42-412E-AF39-C5F5E3D5EF1E}" type="presOf" srcId="{5BBBE13A-18D8-4041-8A59-84546C35E918}" destId="{1423FBC7-65AF-4ABC-AC77-CFCF5D9E09E1}" srcOrd="0" destOrd="0" presId="urn:microsoft.com/office/officeart/2005/8/layout/orgChart1"/>
    <dgm:cxn modelId="{EEE86511-0D58-497F-9CD0-BBC0B96AB93E}" type="presOf" srcId="{DF496AFD-D7F8-432B-9425-F9050C166957}" destId="{193F2591-89D4-4DD1-A3A8-1FA0B7081DA3}" srcOrd="0" destOrd="0" presId="urn:microsoft.com/office/officeart/2005/8/layout/orgChart1"/>
    <dgm:cxn modelId="{CCA4859A-3EC6-42F6-918C-4AFC0368393D}" type="presOf" srcId="{1348C430-9185-41F2-A02D-776B4B7A12FC}" destId="{93EFEA6D-DFED-46A5-B6A5-8F46E13E69D6}" srcOrd="1" destOrd="0" presId="urn:microsoft.com/office/officeart/2005/8/layout/orgChart1"/>
    <dgm:cxn modelId="{A42C044A-1330-424C-A9AE-16D72E56EFF3}" type="presOf" srcId="{A1BF548B-43F1-4231-AC0D-64C2AD89968F}" destId="{ADD1FA98-D0B1-45DF-93EF-2FC0F1774E53}" srcOrd="1" destOrd="0" presId="urn:microsoft.com/office/officeart/2005/8/layout/orgChart1"/>
    <dgm:cxn modelId="{61EBA3AA-2649-4917-B81E-E2B641FFCEEC}" type="presOf" srcId="{F44BF435-A88C-421E-AB17-1EEC927D1F81}" destId="{60ECE4D8-273E-4AD4-BFCA-50809AB69E39}" srcOrd="0" destOrd="0" presId="urn:microsoft.com/office/officeart/2005/8/layout/orgChart1"/>
    <dgm:cxn modelId="{769A19E1-984B-4C62-9126-34C91B524713}" type="presOf" srcId="{A1BF548B-43F1-4231-AC0D-64C2AD89968F}" destId="{92DE0C78-D7C9-469F-963D-13BB598F318F}" srcOrd="0" destOrd="0" presId="urn:microsoft.com/office/officeart/2005/8/layout/orgChart1"/>
    <dgm:cxn modelId="{79AE5807-9708-437C-92F8-7F099A658EEC}" srcId="{B03C9FDF-8597-4768-B927-5DCAE011CDCC}" destId="{48CC43D7-56E4-4C78-BFD2-BBC851927463}" srcOrd="1" destOrd="0" parTransId="{DF496AFD-D7F8-432B-9425-F9050C166957}" sibTransId="{8AFEF1DE-C60B-4AA5-BA67-BD8DD3C7D932}"/>
    <dgm:cxn modelId="{0646187A-E97A-4E46-97BE-48F20C1EFAA4}" type="presOf" srcId="{8B2FFA06-879A-4D53-BAE6-95F1DFCF8C53}" destId="{21AD8B0B-A706-46FE-AAFC-1AE852852834}" srcOrd="0" destOrd="0" presId="urn:microsoft.com/office/officeart/2005/8/layout/orgChart1"/>
    <dgm:cxn modelId="{72742EFE-79D3-4B6C-8958-3002911073DA}" type="presOf" srcId="{470220BE-5EE5-4845-8CB6-CF40F744E0C6}" destId="{F9D4E311-6DC4-42E1-B54D-6CD444AEFDD9}" srcOrd="1" destOrd="0" presId="urn:microsoft.com/office/officeart/2005/8/layout/orgChart1"/>
    <dgm:cxn modelId="{0EA7B441-2264-458C-9B61-0AA95E4798BF}" srcId="{DECE0C0F-83C6-4DE5-AE59-849CD8F258E2}" destId="{1F1F2AB8-DB5F-457D-B4A8-85609509245C}" srcOrd="0" destOrd="0" parTransId="{2DD1B46A-BBC8-4164-9F22-10041A2E0EF3}" sibTransId="{FCF7C20A-6CB0-4EB6-A190-6FCDA627F2D3}"/>
    <dgm:cxn modelId="{331A9881-4D58-4830-9BE9-911BA95EEDC2}" srcId="{1348C430-9185-41F2-A02D-776B4B7A12FC}" destId="{BCAE57C2-F2B2-4030-8D64-AD1CCB5C43C7}" srcOrd="0" destOrd="0" parTransId="{F23F647D-83C2-46E4-9698-BAEDE095DA27}" sibTransId="{AD276006-AC20-45BF-A96B-33F77E43969F}"/>
    <dgm:cxn modelId="{9FE0D80B-C72F-4478-85CB-487637E9A2C3}" type="presOf" srcId="{48CC43D7-56E4-4C78-BFD2-BBC851927463}" destId="{B02CDEA7-2177-4B9A-AD2B-A125969A07F8}" srcOrd="0" destOrd="0" presId="urn:microsoft.com/office/officeart/2005/8/layout/orgChart1"/>
    <dgm:cxn modelId="{64637321-3354-4480-A807-43BEDD68D01D}" type="presOf" srcId="{10B170E3-558A-4992-AB23-DC69C30B8F50}" destId="{8C79D73D-40FA-4788-AE02-E089F9798A23}" srcOrd="0" destOrd="0" presId="urn:microsoft.com/office/officeart/2005/8/layout/orgChart1"/>
    <dgm:cxn modelId="{F1F34008-4D8A-47D4-91FE-2301A51BF35A}" type="presOf" srcId="{9360712D-4E4D-49A6-B2C0-2CD9B2399407}" destId="{241F682E-586D-4120-9535-E43457931D51}" srcOrd="0" destOrd="0" presId="urn:microsoft.com/office/officeart/2005/8/layout/orgChart1"/>
    <dgm:cxn modelId="{5D1B13AB-A6CE-4BB6-B5F5-BF3C601FF75B}" type="presOf" srcId="{8126C948-0D22-4FCF-8944-736BB8F8B14C}" destId="{376EF23C-590D-4D71-9DDB-406440306492}" srcOrd="0" destOrd="0" presId="urn:microsoft.com/office/officeart/2005/8/layout/orgChart1"/>
    <dgm:cxn modelId="{4F94ACBA-356B-45BB-87BD-AAE8A6E56D4D}" type="presOf" srcId="{731AAB42-E75E-4F5B-9836-39294AF49A24}" destId="{7758349B-B657-426A-9F18-B300B632D8BE}" srcOrd="0" destOrd="0" presId="urn:microsoft.com/office/officeart/2005/8/layout/orgChart1"/>
    <dgm:cxn modelId="{7A90D94D-01C9-4444-BC03-56F4060CB002}" type="presParOf" srcId="{957EF0D3-E419-493B-A95C-5B62D0E88EBF}" destId="{6F05D41D-F854-4403-973E-032D8F8C1E40}" srcOrd="0" destOrd="0" presId="urn:microsoft.com/office/officeart/2005/8/layout/orgChart1"/>
    <dgm:cxn modelId="{58436777-C793-4D9F-9A29-EBC35CFB28E3}" type="presParOf" srcId="{6F05D41D-F854-4403-973E-032D8F8C1E40}" destId="{14131206-54C2-4E33-A1FD-8A9CE773D1E7}" srcOrd="0" destOrd="0" presId="urn:microsoft.com/office/officeart/2005/8/layout/orgChart1"/>
    <dgm:cxn modelId="{426A0815-880D-4177-B63A-89DC18B9DDAF}" type="presParOf" srcId="{14131206-54C2-4E33-A1FD-8A9CE773D1E7}" destId="{464A532C-6854-42B6-96FD-9F4B37264B04}" srcOrd="0" destOrd="0" presId="urn:microsoft.com/office/officeart/2005/8/layout/orgChart1"/>
    <dgm:cxn modelId="{A0CFA9E2-C64F-40B3-8911-3AF92E18E36F}" type="presParOf" srcId="{14131206-54C2-4E33-A1FD-8A9CE773D1E7}" destId="{90332E0C-79C6-4D96-8A55-2A3A49C2AA95}" srcOrd="1" destOrd="0" presId="urn:microsoft.com/office/officeart/2005/8/layout/orgChart1"/>
    <dgm:cxn modelId="{ACDCE51C-B040-4AD8-BAA6-118B2E8160B7}" type="presParOf" srcId="{6F05D41D-F854-4403-973E-032D8F8C1E40}" destId="{C3C95A5F-F698-49EA-AE02-2BC8B4F5AC64}" srcOrd="1" destOrd="0" presId="urn:microsoft.com/office/officeart/2005/8/layout/orgChart1"/>
    <dgm:cxn modelId="{C2EA284F-ABEF-4D3A-9652-C9D013DB15D0}" type="presParOf" srcId="{C3C95A5F-F698-49EA-AE02-2BC8B4F5AC64}" destId="{1203D55F-375E-4B4B-8D8F-D5C9736A271B}" srcOrd="0" destOrd="0" presId="urn:microsoft.com/office/officeart/2005/8/layout/orgChart1"/>
    <dgm:cxn modelId="{84525E72-138A-4BB0-B8BA-83E359A59434}" type="presParOf" srcId="{C3C95A5F-F698-49EA-AE02-2BC8B4F5AC64}" destId="{18BF2827-2D44-452F-8141-83E887726163}" srcOrd="1" destOrd="0" presId="urn:microsoft.com/office/officeart/2005/8/layout/orgChart1"/>
    <dgm:cxn modelId="{8EE57C47-DD14-40FF-803A-83A23BF16CEC}" type="presParOf" srcId="{18BF2827-2D44-452F-8141-83E887726163}" destId="{41EA6F6F-A091-415E-B8F3-17A91FA618BD}" srcOrd="0" destOrd="0" presId="urn:microsoft.com/office/officeart/2005/8/layout/orgChart1"/>
    <dgm:cxn modelId="{BD5427DD-A6D9-4BC6-B394-1EF2E93F8B14}" type="presParOf" srcId="{41EA6F6F-A091-415E-B8F3-17A91FA618BD}" destId="{AEF867E8-4CC3-4C94-9277-2A62D63F7BB5}" srcOrd="0" destOrd="0" presId="urn:microsoft.com/office/officeart/2005/8/layout/orgChart1"/>
    <dgm:cxn modelId="{0A4D6F33-0F36-431B-8CAA-B13FD5316896}" type="presParOf" srcId="{41EA6F6F-A091-415E-B8F3-17A91FA618BD}" destId="{93EFEA6D-DFED-46A5-B6A5-8F46E13E69D6}" srcOrd="1" destOrd="0" presId="urn:microsoft.com/office/officeart/2005/8/layout/orgChart1"/>
    <dgm:cxn modelId="{B968489C-BE68-43C9-AAB4-B8705FC1868F}" type="presParOf" srcId="{18BF2827-2D44-452F-8141-83E887726163}" destId="{81825AED-BDAA-4853-A16A-C63944878EF8}" srcOrd="1" destOrd="0" presId="urn:microsoft.com/office/officeart/2005/8/layout/orgChart1"/>
    <dgm:cxn modelId="{0ADC8075-FB1D-4FC5-8850-F07E3280A030}" type="presParOf" srcId="{81825AED-BDAA-4853-A16A-C63944878EF8}" destId="{3C3E0EC0-D75F-4C08-B878-6F8DED4DCB1F}" srcOrd="0" destOrd="0" presId="urn:microsoft.com/office/officeart/2005/8/layout/orgChart1"/>
    <dgm:cxn modelId="{6078F11D-AC15-48E5-B47C-85653A7EA87D}" type="presParOf" srcId="{81825AED-BDAA-4853-A16A-C63944878EF8}" destId="{A88BEA01-8D99-456F-95B5-BE1AC1911913}" srcOrd="1" destOrd="0" presId="urn:microsoft.com/office/officeart/2005/8/layout/orgChart1"/>
    <dgm:cxn modelId="{CC1D739C-DA6A-4E3E-90EA-2C6201E3F24C}" type="presParOf" srcId="{A88BEA01-8D99-456F-95B5-BE1AC1911913}" destId="{476E68BF-CA99-4A10-8799-8CADB49C3878}" srcOrd="0" destOrd="0" presId="urn:microsoft.com/office/officeart/2005/8/layout/orgChart1"/>
    <dgm:cxn modelId="{D822FA35-A902-4420-889C-583EF8D4B6F6}" type="presParOf" srcId="{476E68BF-CA99-4A10-8799-8CADB49C3878}" destId="{219AA03F-549D-4C52-BC33-28A622895AC9}" srcOrd="0" destOrd="0" presId="urn:microsoft.com/office/officeart/2005/8/layout/orgChart1"/>
    <dgm:cxn modelId="{E5127BA9-3DBC-45CD-89F2-B60C3F013D58}" type="presParOf" srcId="{476E68BF-CA99-4A10-8799-8CADB49C3878}" destId="{2D002C43-D0D8-4C4F-A705-B60CD5FECCF1}" srcOrd="1" destOrd="0" presId="urn:microsoft.com/office/officeart/2005/8/layout/orgChart1"/>
    <dgm:cxn modelId="{357DC462-A45A-442D-9860-7E21840EB9B5}" type="presParOf" srcId="{A88BEA01-8D99-456F-95B5-BE1AC1911913}" destId="{90E39853-4559-45CD-A248-55301AAAD8D2}" srcOrd="1" destOrd="0" presId="urn:microsoft.com/office/officeart/2005/8/layout/orgChart1"/>
    <dgm:cxn modelId="{96BD2075-FA74-45E1-836C-7222471D9DFE}" type="presParOf" srcId="{A88BEA01-8D99-456F-95B5-BE1AC1911913}" destId="{12860FB2-0B70-48AE-94F9-257836BA1D4E}" srcOrd="2" destOrd="0" presId="urn:microsoft.com/office/officeart/2005/8/layout/orgChart1"/>
    <dgm:cxn modelId="{31CEB22A-A079-4145-A01C-4C93F603498D}" type="presParOf" srcId="{18BF2827-2D44-452F-8141-83E887726163}" destId="{D80E876C-F854-441D-9165-4D638724F0ED}" srcOrd="2" destOrd="0" presId="urn:microsoft.com/office/officeart/2005/8/layout/orgChart1"/>
    <dgm:cxn modelId="{BDB4D55A-418B-4EA6-8669-AEDF7157D397}" type="presParOf" srcId="{C3C95A5F-F698-49EA-AE02-2BC8B4F5AC64}" destId="{4AB337A2-A5FA-40EF-B8A4-BBC0EEA65125}" srcOrd="2" destOrd="0" presId="urn:microsoft.com/office/officeart/2005/8/layout/orgChart1"/>
    <dgm:cxn modelId="{F202D80B-AB8F-4239-8FD5-34C371A08CEF}" type="presParOf" srcId="{C3C95A5F-F698-49EA-AE02-2BC8B4F5AC64}" destId="{B6D0F031-097B-4755-A327-5138D651296F}" srcOrd="3" destOrd="0" presId="urn:microsoft.com/office/officeart/2005/8/layout/orgChart1"/>
    <dgm:cxn modelId="{0F775047-8265-4557-AEAE-F3C3933CD558}" type="presParOf" srcId="{B6D0F031-097B-4755-A327-5138D651296F}" destId="{E128C83D-5DA0-46F8-83DC-B9F110AF6FA4}" srcOrd="0" destOrd="0" presId="urn:microsoft.com/office/officeart/2005/8/layout/orgChart1"/>
    <dgm:cxn modelId="{AB777E09-0C94-4ABA-8EDD-86D1E1F81310}" type="presParOf" srcId="{E128C83D-5DA0-46F8-83DC-B9F110AF6FA4}" destId="{599D457B-B396-4454-8206-5AD57EBB0C62}" srcOrd="0" destOrd="0" presId="urn:microsoft.com/office/officeart/2005/8/layout/orgChart1"/>
    <dgm:cxn modelId="{FBC55C14-2893-401D-92CD-C01B7FA0A9EE}" type="presParOf" srcId="{E128C83D-5DA0-46F8-83DC-B9F110AF6FA4}" destId="{81BF50FC-F96B-4545-B690-03E1EE9178D4}" srcOrd="1" destOrd="0" presId="urn:microsoft.com/office/officeart/2005/8/layout/orgChart1"/>
    <dgm:cxn modelId="{600C6570-ED69-4632-AA9F-3EF72FAC0631}" type="presParOf" srcId="{B6D0F031-097B-4755-A327-5138D651296F}" destId="{CA5B0CF2-DB2E-4D4D-92AE-F860FF0A33AB}" srcOrd="1" destOrd="0" presId="urn:microsoft.com/office/officeart/2005/8/layout/orgChart1"/>
    <dgm:cxn modelId="{B13B8A35-4EB6-46A5-9C38-1EBA3188D5E2}" type="presParOf" srcId="{CA5B0CF2-DB2E-4D4D-92AE-F860FF0A33AB}" destId="{B55DBEAF-1CA7-4ACC-9484-ED7F7BDAEC8B}" srcOrd="0" destOrd="0" presId="urn:microsoft.com/office/officeart/2005/8/layout/orgChart1"/>
    <dgm:cxn modelId="{7870E88D-701B-4EC7-96A5-6549779E1744}" type="presParOf" srcId="{CA5B0CF2-DB2E-4D4D-92AE-F860FF0A33AB}" destId="{BEA0D807-931A-430F-98EF-A5E1F2A03F43}" srcOrd="1" destOrd="0" presId="urn:microsoft.com/office/officeart/2005/8/layout/orgChart1"/>
    <dgm:cxn modelId="{3BAFDD56-A7F0-45AE-B880-E105FBF037CB}" type="presParOf" srcId="{BEA0D807-931A-430F-98EF-A5E1F2A03F43}" destId="{3C154330-FBE8-4690-9AE2-1D5C570E396F}" srcOrd="0" destOrd="0" presId="urn:microsoft.com/office/officeart/2005/8/layout/orgChart1"/>
    <dgm:cxn modelId="{F8AF1CA9-5AC3-4324-A89A-968DB968B517}" type="presParOf" srcId="{3C154330-FBE8-4690-9AE2-1D5C570E396F}" destId="{5EC59B34-DCB2-45B6-9D97-5BF0579362F4}" srcOrd="0" destOrd="0" presId="urn:microsoft.com/office/officeart/2005/8/layout/orgChart1"/>
    <dgm:cxn modelId="{287ED8AD-A858-4E2C-8276-21B6340C020A}" type="presParOf" srcId="{3C154330-FBE8-4690-9AE2-1D5C570E396F}" destId="{7AC55F76-1653-482D-90D9-5D31A416B6FC}" srcOrd="1" destOrd="0" presId="urn:microsoft.com/office/officeart/2005/8/layout/orgChart1"/>
    <dgm:cxn modelId="{FBBCAC4E-75EF-4577-8CFB-78F0D2227F70}" type="presParOf" srcId="{BEA0D807-931A-430F-98EF-A5E1F2A03F43}" destId="{D72C210C-B08F-46F2-BA3B-20B54A52E3DA}" srcOrd="1" destOrd="0" presId="urn:microsoft.com/office/officeart/2005/8/layout/orgChart1"/>
    <dgm:cxn modelId="{02FF6E72-F351-4369-8DC9-56CD29E4C0CB}" type="presParOf" srcId="{BEA0D807-931A-430F-98EF-A5E1F2A03F43}" destId="{EB4BDF33-9D7F-4407-A7BB-8792BE7D4AAB}" srcOrd="2" destOrd="0" presId="urn:microsoft.com/office/officeart/2005/8/layout/orgChart1"/>
    <dgm:cxn modelId="{39901AEC-25D6-4AEA-B04E-3AC15340FC36}" type="presParOf" srcId="{CA5B0CF2-DB2E-4D4D-92AE-F860FF0A33AB}" destId="{A6119B02-6F74-4B31-BBD1-BC46060E5BC0}" srcOrd="2" destOrd="0" presId="urn:microsoft.com/office/officeart/2005/8/layout/orgChart1"/>
    <dgm:cxn modelId="{A22E6FCD-A1CE-4E9D-8BD2-CD8EA1E78208}" type="presParOf" srcId="{CA5B0CF2-DB2E-4D4D-92AE-F860FF0A33AB}" destId="{2BD62704-45D5-4FEE-960A-9F04C5E34ED3}" srcOrd="3" destOrd="0" presId="urn:microsoft.com/office/officeart/2005/8/layout/orgChart1"/>
    <dgm:cxn modelId="{BE8DA8A5-E05E-4795-8543-F8C31687828C}" type="presParOf" srcId="{2BD62704-45D5-4FEE-960A-9F04C5E34ED3}" destId="{391CB7A0-89DD-446B-81D4-E9531A5A861A}" srcOrd="0" destOrd="0" presId="urn:microsoft.com/office/officeart/2005/8/layout/orgChart1"/>
    <dgm:cxn modelId="{02A06D0A-5FCA-49DF-85E7-469F42D93512}" type="presParOf" srcId="{391CB7A0-89DD-446B-81D4-E9531A5A861A}" destId="{C5144B14-77DB-4127-9098-D417581087A3}" srcOrd="0" destOrd="0" presId="urn:microsoft.com/office/officeart/2005/8/layout/orgChart1"/>
    <dgm:cxn modelId="{FEC22D39-3F20-42D4-8F77-EACCDC5C28EC}" type="presParOf" srcId="{391CB7A0-89DD-446B-81D4-E9531A5A861A}" destId="{57D81606-C6F8-4834-9A5F-6CC2DFE9A49B}" srcOrd="1" destOrd="0" presId="urn:microsoft.com/office/officeart/2005/8/layout/orgChart1"/>
    <dgm:cxn modelId="{4B6FD93B-388E-47E6-9151-81D0EBF1F3B6}" type="presParOf" srcId="{2BD62704-45D5-4FEE-960A-9F04C5E34ED3}" destId="{E3FF0C28-668C-4282-8D8F-63E14F666BAC}" srcOrd="1" destOrd="0" presId="urn:microsoft.com/office/officeart/2005/8/layout/orgChart1"/>
    <dgm:cxn modelId="{0D6E2262-0CC4-463E-B200-3BE484FB2375}" type="presParOf" srcId="{2BD62704-45D5-4FEE-960A-9F04C5E34ED3}" destId="{EAE16785-C6C0-45A6-83FB-E74D0AC3006E}" srcOrd="2" destOrd="0" presId="urn:microsoft.com/office/officeart/2005/8/layout/orgChart1"/>
    <dgm:cxn modelId="{B755D88C-C4E5-4912-93C5-D1DCBBB9A984}" type="presParOf" srcId="{CA5B0CF2-DB2E-4D4D-92AE-F860FF0A33AB}" destId="{3B9CDD9F-97E3-454E-BC98-E3882AA7F517}" srcOrd="4" destOrd="0" presId="urn:microsoft.com/office/officeart/2005/8/layout/orgChart1"/>
    <dgm:cxn modelId="{5681C469-C1D0-4353-ABBD-898C58F448E4}" type="presParOf" srcId="{CA5B0CF2-DB2E-4D4D-92AE-F860FF0A33AB}" destId="{B7319E10-A128-485F-BE1A-17848B90D60A}" srcOrd="5" destOrd="0" presId="urn:microsoft.com/office/officeart/2005/8/layout/orgChart1"/>
    <dgm:cxn modelId="{C691A491-822E-4272-95D8-AE6E25687430}" type="presParOf" srcId="{B7319E10-A128-485F-BE1A-17848B90D60A}" destId="{3933C413-9E58-400D-85B4-9D9BD621A57F}" srcOrd="0" destOrd="0" presId="urn:microsoft.com/office/officeart/2005/8/layout/orgChart1"/>
    <dgm:cxn modelId="{35DC6924-CD13-47FD-844F-92BC727B8358}" type="presParOf" srcId="{3933C413-9E58-400D-85B4-9D9BD621A57F}" destId="{5D7417F9-C603-4FE9-8B43-E93F9A111E08}" srcOrd="0" destOrd="0" presId="urn:microsoft.com/office/officeart/2005/8/layout/orgChart1"/>
    <dgm:cxn modelId="{358A8443-A3A4-4621-A713-DB3EF8AC9B26}" type="presParOf" srcId="{3933C413-9E58-400D-85B4-9D9BD621A57F}" destId="{F9D4E311-6DC4-42E1-B54D-6CD444AEFDD9}" srcOrd="1" destOrd="0" presId="urn:microsoft.com/office/officeart/2005/8/layout/orgChart1"/>
    <dgm:cxn modelId="{11916335-3C88-4212-AEB8-D47953E45D2A}" type="presParOf" srcId="{B7319E10-A128-485F-BE1A-17848B90D60A}" destId="{98B4D038-E790-4309-B5CF-F6F8607346D2}" srcOrd="1" destOrd="0" presId="urn:microsoft.com/office/officeart/2005/8/layout/orgChart1"/>
    <dgm:cxn modelId="{D71C712B-0102-499B-9EC1-0D847059E103}" type="presParOf" srcId="{B7319E10-A128-485F-BE1A-17848B90D60A}" destId="{413DD22A-5FAF-4042-8CF9-77FFF20AA8C0}" srcOrd="2" destOrd="0" presId="urn:microsoft.com/office/officeart/2005/8/layout/orgChart1"/>
    <dgm:cxn modelId="{0E0BFF51-EE30-425A-8963-3E299CA0AD42}" type="presParOf" srcId="{CA5B0CF2-DB2E-4D4D-92AE-F860FF0A33AB}" destId="{21AD8B0B-A706-46FE-AAFC-1AE852852834}" srcOrd="6" destOrd="0" presId="urn:microsoft.com/office/officeart/2005/8/layout/orgChart1"/>
    <dgm:cxn modelId="{B50797D3-481A-4D3F-83C3-58D243E6F37D}" type="presParOf" srcId="{CA5B0CF2-DB2E-4D4D-92AE-F860FF0A33AB}" destId="{77B0DE8C-D4FB-44B5-BC99-2F4353A3E79A}" srcOrd="7" destOrd="0" presId="urn:microsoft.com/office/officeart/2005/8/layout/orgChart1"/>
    <dgm:cxn modelId="{0FFAD077-4C28-48D4-A7CA-7E7D4E399728}" type="presParOf" srcId="{77B0DE8C-D4FB-44B5-BC99-2F4353A3E79A}" destId="{AB564900-08FB-4C9F-BB8F-A031B485847E}" srcOrd="0" destOrd="0" presId="urn:microsoft.com/office/officeart/2005/8/layout/orgChart1"/>
    <dgm:cxn modelId="{5BA421EE-223F-4080-A071-DF0D06DE4998}" type="presParOf" srcId="{AB564900-08FB-4C9F-BB8F-A031B485847E}" destId="{7758349B-B657-426A-9F18-B300B632D8BE}" srcOrd="0" destOrd="0" presId="urn:microsoft.com/office/officeart/2005/8/layout/orgChart1"/>
    <dgm:cxn modelId="{980D0BE7-6548-4B80-930A-389D8003F79B}" type="presParOf" srcId="{AB564900-08FB-4C9F-BB8F-A031B485847E}" destId="{77071DD8-8699-4AF7-A8C1-40F391A8DDAB}" srcOrd="1" destOrd="0" presId="urn:microsoft.com/office/officeart/2005/8/layout/orgChart1"/>
    <dgm:cxn modelId="{43FCFC83-B38C-46EB-8F46-FE65F0A216C3}" type="presParOf" srcId="{77B0DE8C-D4FB-44B5-BC99-2F4353A3E79A}" destId="{54FFDB60-C1D9-4768-8CC3-5A524EFE9AD2}" srcOrd="1" destOrd="0" presId="urn:microsoft.com/office/officeart/2005/8/layout/orgChart1"/>
    <dgm:cxn modelId="{8192F1E2-D4DA-42F5-AA4E-3F902E1E6938}" type="presParOf" srcId="{77B0DE8C-D4FB-44B5-BC99-2F4353A3E79A}" destId="{B5624ACE-23BD-4225-B30E-347A13BA80AB}" srcOrd="2" destOrd="0" presId="urn:microsoft.com/office/officeart/2005/8/layout/orgChart1"/>
    <dgm:cxn modelId="{D69802FC-C7CA-4530-BB6A-9511F665AFE4}" type="presParOf" srcId="{CA5B0CF2-DB2E-4D4D-92AE-F860FF0A33AB}" destId="{8C79D73D-40FA-4788-AE02-E089F9798A23}" srcOrd="8" destOrd="0" presId="urn:microsoft.com/office/officeart/2005/8/layout/orgChart1"/>
    <dgm:cxn modelId="{5C8A1701-D7A1-441F-B4B0-4755B89E1264}" type="presParOf" srcId="{CA5B0CF2-DB2E-4D4D-92AE-F860FF0A33AB}" destId="{3988CF62-A49F-41C7-88DA-34F34B191BC0}" srcOrd="9" destOrd="0" presId="urn:microsoft.com/office/officeart/2005/8/layout/orgChart1"/>
    <dgm:cxn modelId="{8B4FC551-D836-4A5E-BE5F-71DA3A5232DC}" type="presParOf" srcId="{3988CF62-A49F-41C7-88DA-34F34B191BC0}" destId="{968ED0C6-CA18-4740-8521-B112DE6BD3DA}" srcOrd="0" destOrd="0" presId="urn:microsoft.com/office/officeart/2005/8/layout/orgChart1"/>
    <dgm:cxn modelId="{0DA5FB80-91F4-4850-8DA5-405519702048}" type="presParOf" srcId="{968ED0C6-CA18-4740-8521-B112DE6BD3DA}" destId="{92DE0C78-D7C9-469F-963D-13BB598F318F}" srcOrd="0" destOrd="0" presId="urn:microsoft.com/office/officeart/2005/8/layout/orgChart1"/>
    <dgm:cxn modelId="{D1F6AA9B-7B24-4C1E-8143-880C26FECF72}" type="presParOf" srcId="{968ED0C6-CA18-4740-8521-B112DE6BD3DA}" destId="{ADD1FA98-D0B1-45DF-93EF-2FC0F1774E53}" srcOrd="1" destOrd="0" presId="urn:microsoft.com/office/officeart/2005/8/layout/orgChart1"/>
    <dgm:cxn modelId="{0BC0512D-3DC2-400D-8DD4-C718CEF791AE}" type="presParOf" srcId="{3988CF62-A49F-41C7-88DA-34F34B191BC0}" destId="{662F30F6-B2C4-4F6E-860F-061ABABD8548}" srcOrd="1" destOrd="0" presId="urn:microsoft.com/office/officeart/2005/8/layout/orgChart1"/>
    <dgm:cxn modelId="{2F81D7A9-59A7-4700-8A57-CF1296731CFA}" type="presParOf" srcId="{3988CF62-A49F-41C7-88DA-34F34B191BC0}" destId="{9EA14892-D2F2-4E50-ACD5-1F7ACB61AD09}" srcOrd="2" destOrd="0" presId="urn:microsoft.com/office/officeart/2005/8/layout/orgChart1"/>
    <dgm:cxn modelId="{33D1594B-D7B7-457E-9294-0211DBFCE410}" type="presParOf" srcId="{B6D0F031-097B-4755-A327-5138D651296F}" destId="{598C3502-CCF3-499A-A6C0-B3A4FD426772}" srcOrd="2" destOrd="0" presId="urn:microsoft.com/office/officeart/2005/8/layout/orgChart1"/>
    <dgm:cxn modelId="{3AFBAD6D-9316-457A-953D-732E32F41EB2}" type="presParOf" srcId="{C3C95A5F-F698-49EA-AE02-2BC8B4F5AC64}" destId="{895C39EC-4712-4FE3-8840-B4DEB7D2EBED}" srcOrd="4" destOrd="0" presId="urn:microsoft.com/office/officeart/2005/8/layout/orgChart1"/>
    <dgm:cxn modelId="{C9DE8E39-83E3-446F-949F-B43E22D66526}" type="presParOf" srcId="{C3C95A5F-F698-49EA-AE02-2BC8B4F5AC64}" destId="{FAABA0C6-04D0-4F66-B57F-EBCF18FF254F}" srcOrd="5" destOrd="0" presId="urn:microsoft.com/office/officeart/2005/8/layout/orgChart1"/>
    <dgm:cxn modelId="{8FE18EB0-F7A8-496A-9F69-706A6228E120}" type="presParOf" srcId="{FAABA0C6-04D0-4F66-B57F-EBCF18FF254F}" destId="{F41E272C-C64E-4C80-A336-1BF9C51914B0}" srcOrd="0" destOrd="0" presId="urn:microsoft.com/office/officeart/2005/8/layout/orgChart1"/>
    <dgm:cxn modelId="{4330230A-CF07-4FDE-903C-7B30158901DB}" type="presParOf" srcId="{F41E272C-C64E-4C80-A336-1BF9C51914B0}" destId="{06A3F84C-891B-4518-9E0B-4118FB513955}" srcOrd="0" destOrd="0" presId="urn:microsoft.com/office/officeart/2005/8/layout/orgChart1"/>
    <dgm:cxn modelId="{C0B0EBF4-DB4D-480F-95F6-D68E77306376}" type="presParOf" srcId="{F41E272C-C64E-4C80-A336-1BF9C51914B0}" destId="{750DD900-6801-4407-A63E-E6BA4B9528B3}" srcOrd="1" destOrd="0" presId="urn:microsoft.com/office/officeart/2005/8/layout/orgChart1"/>
    <dgm:cxn modelId="{79FCB5DF-E19D-45DA-A23C-F104DC1B3CB6}" type="presParOf" srcId="{FAABA0C6-04D0-4F66-B57F-EBCF18FF254F}" destId="{56AD49B5-CF13-4902-A437-CF6150663823}" srcOrd="1" destOrd="0" presId="urn:microsoft.com/office/officeart/2005/8/layout/orgChart1"/>
    <dgm:cxn modelId="{5215C9A9-A7E2-4575-814D-119AD683626F}" type="presParOf" srcId="{56AD49B5-CF13-4902-A437-CF6150663823}" destId="{367DF239-712E-46E2-A503-8D8FD66C05CF}" srcOrd="0" destOrd="0" presId="urn:microsoft.com/office/officeart/2005/8/layout/orgChart1"/>
    <dgm:cxn modelId="{DA2F42E7-E31A-4F3C-8E64-ED15146FB124}" type="presParOf" srcId="{56AD49B5-CF13-4902-A437-CF6150663823}" destId="{00D878DC-2D51-4BB6-9F5B-B127CBA8E34C}" srcOrd="1" destOrd="0" presId="urn:microsoft.com/office/officeart/2005/8/layout/orgChart1"/>
    <dgm:cxn modelId="{1D2A4398-B57C-4FD8-82C8-835711C1D4FC}" type="presParOf" srcId="{00D878DC-2D51-4BB6-9F5B-B127CBA8E34C}" destId="{13514CF6-5567-4B93-8FD7-393FBA46D538}" srcOrd="0" destOrd="0" presId="urn:microsoft.com/office/officeart/2005/8/layout/orgChart1"/>
    <dgm:cxn modelId="{812E7CE3-0394-4056-B3AE-79469481E412}" type="presParOf" srcId="{13514CF6-5567-4B93-8FD7-393FBA46D538}" destId="{BE55854F-5760-4859-B8D7-9FC9F396E531}" srcOrd="0" destOrd="0" presId="urn:microsoft.com/office/officeart/2005/8/layout/orgChart1"/>
    <dgm:cxn modelId="{554D1E77-3898-4BC0-A5F3-ADF258DD0068}" type="presParOf" srcId="{13514CF6-5567-4B93-8FD7-393FBA46D538}" destId="{DBDB0B5F-F0E7-42D5-BAC2-0AD4AB8B8936}" srcOrd="1" destOrd="0" presId="urn:microsoft.com/office/officeart/2005/8/layout/orgChart1"/>
    <dgm:cxn modelId="{6A5B9B29-892B-4101-AB5E-4FBE53717D6F}" type="presParOf" srcId="{00D878DC-2D51-4BB6-9F5B-B127CBA8E34C}" destId="{E4F62ADF-93F9-40EA-A61B-6E2337587EDF}" srcOrd="1" destOrd="0" presId="urn:microsoft.com/office/officeart/2005/8/layout/orgChart1"/>
    <dgm:cxn modelId="{BFE3A1EF-281F-4EA0-88B6-41492468A605}" type="presParOf" srcId="{00D878DC-2D51-4BB6-9F5B-B127CBA8E34C}" destId="{738599D4-8D85-4C9C-9411-3133853D6DAA}" srcOrd="2" destOrd="0" presId="urn:microsoft.com/office/officeart/2005/8/layout/orgChart1"/>
    <dgm:cxn modelId="{29E7F22A-6C98-4AD2-B1A8-7C23CE8785B2}" type="presParOf" srcId="{56AD49B5-CF13-4902-A437-CF6150663823}" destId="{1DB88209-53E0-4BA2-AD34-A3429B457BA5}" srcOrd="2" destOrd="0" presId="urn:microsoft.com/office/officeart/2005/8/layout/orgChart1"/>
    <dgm:cxn modelId="{F7804493-12EA-4AE6-96E0-6E34FA7F8FB1}" type="presParOf" srcId="{56AD49B5-CF13-4902-A437-CF6150663823}" destId="{3EB0DCF1-466F-4E6E-903A-DD0EB0816FFE}" srcOrd="3" destOrd="0" presId="urn:microsoft.com/office/officeart/2005/8/layout/orgChart1"/>
    <dgm:cxn modelId="{755EFF31-4EBC-4CF8-86F8-7C720F68363C}" type="presParOf" srcId="{3EB0DCF1-466F-4E6E-903A-DD0EB0816FFE}" destId="{A1071C82-3F33-49E8-BA8E-5ABA614A87BF}" srcOrd="0" destOrd="0" presId="urn:microsoft.com/office/officeart/2005/8/layout/orgChart1"/>
    <dgm:cxn modelId="{4FF0960E-0EDF-4EC9-BAFB-78E4FE2259EF}" type="presParOf" srcId="{A1071C82-3F33-49E8-BA8E-5ABA614A87BF}" destId="{1423FBC7-65AF-4ABC-AC77-CFCF5D9E09E1}" srcOrd="0" destOrd="0" presId="urn:microsoft.com/office/officeart/2005/8/layout/orgChart1"/>
    <dgm:cxn modelId="{71CE4B56-520D-49F2-9727-D6914F1F0B5F}" type="presParOf" srcId="{A1071C82-3F33-49E8-BA8E-5ABA614A87BF}" destId="{A05449AD-20DB-4CDC-B099-441697591C78}" srcOrd="1" destOrd="0" presId="urn:microsoft.com/office/officeart/2005/8/layout/orgChart1"/>
    <dgm:cxn modelId="{B03A7267-0ACC-4E35-8F91-F07271E6BAD0}" type="presParOf" srcId="{3EB0DCF1-466F-4E6E-903A-DD0EB0816FFE}" destId="{D2D62ACA-BF03-4828-93E3-BF75CA887A2A}" srcOrd="1" destOrd="0" presId="urn:microsoft.com/office/officeart/2005/8/layout/orgChart1"/>
    <dgm:cxn modelId="{15C1B17D-B509-4C89-8D05-8A634D42B2EE}" type="presParOf" srcId="{3EB0DCF1-466F-4E6E-903A-DD0EB0816FFE}" destId="{E3D314A8-BBE8-424B-8C6C-3EC0DC49B131}" srcOrd="2" destOrd="0" presId="urn:microsoft.com/office/officeart/2005/8/layout/orgChart1"/>
    <dgm:cxn modelId="{032728E0-3B62-4CB4-9C52-C33459438681}" type="presParOf" srcId="{56AD49B5-CF13-4902-A437-CF6150663823}" destId="{99CABB44-2F8C-46D8-A4A2-232301D99C43}" srcOrd="4" destOrd="0" presId="urn:microsoft.com/office/officeart/2005/8/layout/orgChart1"/>
    <dgm:cxn modelId="{4DC55A59-B46A-4A9A-B32A-B29DCDAF5576}" type="presParOf" srcId="{56AD49B5-CF13-4902-A437-CF6150663823}" destId="{1661A5A5-B226-4917-BFB2-1CE017D194AA}" srcOrd="5" destOrd="0" presId="urn:microsoft.com/office/officeart/2005/8/layout/orgChart1"/>
    <dgm:cxn modelId="{7A740BAD-0B17-4E91-8EC9-BF1152E98F0C}" type="presParOf" srcId="{1661A5A5-B226-4917-BFB2-1CE017D194AA}" destId="{E6D6FAE7-89E8-423F-B7A3-69B7D46CFA55}" srcOrd="0" destOrd="0" presId="urn:microsoft.com/office/officeart/2005/8/layout/orgChart1"/>
    <dgm:cxn modelId="{426F68D6-457F-4138-8C79-76A622A60002}" type="presParOf" srcId="{E6D6FAE7-89E8-423F-B7A3-69B7D46CFA55}" destId="{381540DE-FD89-41E4-B004-4140D5BEB0D8}" srcOrd="0" destOrd="0" presId="urn:microsoft.com/office/officeart/2005/8/layout/orgChart1"/>
    <dgm:cxn modelId="{A43CB9FA-A4FC-4A91-8DB8-6E88E123119A}" type="presParOf" srcId="{E6D6FAE7-89E8-423F-B7A3-69B7D46CFA55}" destId="{516C6DC0-A2BC-468E-B750-64556D4CB57F}" srcOrd="1" destOrd="0" presId="urn:microsoft.com/office/officeart/2005/8/layout/orgChart1"/>
    <dgm:cxn modelId="{95344284-B34C-4D8E-B70D-4D8AB852A9F9}" type="presParOf" srcId="{1661A5A5-B226-4917-BFB2-1CE017D194AA}" destId="{5B1C4D34-1B5E-4EED-B311-74AD42C15A9E}" srcOrd="1" destOrd="0" presId="urn:microsoft.com/office/officeart/2005/8/layout/orgChart1"/>
    <dgm:cxn modelId="{2EAF8AC9-6506-4597-BCFB-0A4B0C07A40E}" type="presParOf" srcId="{1661A5A5-B226-4917-BFB2-1CE017D194AA}" destId="{850E411E-5E64-432B-A83D-4A79C6D1CF1A}" srcOrd="2" destOrd="0" presId="urn:microsoft.com/office/officeart/2005/8/layout/orgChart1"/>
    <dgm:cxn modelId="{7C5576A3-F4BF-41FA-9C80-F5E813249CAD}" type="presParOf" srcId="{FAABA0C6-04D0-4F66-B57F-EBCF18FF254F}" destId="{0343B03B-EDFB-42E7-86E8-ABD56B4788B4}" srcOrd="2" destOrd="0" presId="urn:microsoft.com/office/officeart/2005/8/layout/orgChart1"/>
    <dgm:cxn modelId="{C8F8C768-4B1E-4963-A609-F0EB14692BD3}" type="presParOf" srcId="{C3C95A5F-F698-49EA-AE02-2BC8B4F5AC64}" destId="{3856F5E3-2F31-4B9B-8712-43E46500BE6F}" srcOrd="6" destOrd="0" presId="urn:microsoft.com/office/officeart/2005/8/layout/orgChart1"/>
    <dgm:cxn modelId="{BDF40FF9-E943-4569-9D68-1135BFA60A2D}" type="presParOf" srcId="{C3C95A5F-F698-49EA-AE02-2BC8B4F5AC64}" destId="{A158CDD3-4A1C-4E2A-80C7-B53857F0CB97}" srcOrd="7" destOrd="0" presId="urn:microsoft.com/office/officeart/2005/8/layout/orgChart1"/>
    <dgm:cxn modelId="{28D6E176-FE30-46A0-A6EE-14ADC3F0BF6E}" type="presParOf" srcId="{A158CDD3-4A1C-4E2A-80C7-B53857F0CB97}" destId="{232D3943-9F08-4AE6-A4CB-0183738BA95F}" srcOrd="0" destOrd="0" presId="urn:microsoft.com/office/officeart/2005/8/layout/orgChart1"/>
    <dgm:cxn modelId="{2DB8E9A8-29D7-4A88-8595-AE17A6B22F51}" type="presParOf" srcId="{232D3943-9F08-4AE6-A4CB-0183738BA95F}" destId="{AC5D702E-D598-4FA2-A8AB-677F8BFF1F2A}" srcOrd="0" destOrd="0" presId="urn:microsoft.com/office/officeart/2005/8/layout/orgChart1"/>
    <dgm:cxn modelId="{7E81C5A5-91F7-4BE7-B322-069541449A5E}" type="presParOf" srcId="{232D3943-9F08-4AE6-A4CB-0183738BA95F}" destId="{B628994A-B676-4399-9E79-31A7723A2E01}" srcOrd="1" destOrd="0" presId="urn:microsoft.com/office/officeart/2005/8/layout/orgChart1"/>
    <dgm:cxn modelId="{B6902B85-C5A7-484F-9C91-E9BE4A2F9B73}" type="presParOf" srcId="{A158CDD3-4A1C-4E2A-80C7-B53857F0CB97}" destId="{F1916BCF-8FB1-4EBD-83DC-F2A2F67486A2}" srcOrd="1" destOrd="0" presId="urn:microsoft.com/office/officeart/2005/8/layout/orgChart1"/>
    <dgm:cxn modelId="{220C6F2C-8660-4C1B-8F4C-4FE200407540}" type="presParOf" srcId="{F1916BCF-8FB1-4EBD-83DC-F2A2F67486A2}" destId="{99F2DC45-8B36-4EB0-B41A-C32D5831C937}" srcOrd="0" destOrd="0" presId="urn:microsoft.com/office/officeart/2005/8/layout/orgChart1"/>
    <dgm:cxn modelId="{F2401A22-A547-4266-8AD9-7F22074534A3}" type="presParOf" srcId="{F1916BCF-8FB1-4EBD-83DC-F2A2F67486A2}" destId="{9C6FDBFA-C2C7-4460-82D0-6C96E022AE56}" srcOrd="1" destOrd="0" presId="urn:microsoft.com/office/officeart/2005/8/layout/orgChart1"/>
    <dgm:cxn modelId="{6570AE2B-8C5E-484C-A1FB-9ED3E35FB7A8}" type="presParOf" srcId="{9C6FDBFA-C2C7-4460-82D0-6C96E022AE56}" destId="{ADEB3FDC-3C5E-4BC5-AED6-CCDCF01E9D62}" srcOrd="0" destOrd="0" presId="urn:microsoft.com/office/officeart/2005/8/layout/orgChart1"/>
    <dgm:cxn modelId="{03A0B882-C268-4C7F-B72D-0D9392E28692}" type="presParOf" srcId="{ADEB3FDC-3C5E-4BC5-AED6-CCDCF01E9D62}" destId="{241F682E-586D-4120-9535-E43457931D51}" srcOrd="0" destOrd="0" presId="urn:microsoft.com/office/officeart/2005/8/layout/orgChart1"/>
    <dgm:cxn modelId="{1F0B49FB-2340-44F5-BDEA-4C66800D6450}" type="presParOf" srcId="{ADEB3FDC-3C5E-4BC5-AED6-CCDCF01E9D62}" destId="{BE22CA6C-866F-468F-B1C8-E2022ACDA2C8}" srcOrd="1" destOrd="0" presId="urn:microsoft.com/office/officeart/2005/8/layout/orgChart1"/>
    <dgm:cxn modelId="{2FD95986-5BD8-4527-8B5F-3AC89192178A}" type="presParOf" srcId="{9C6FDBFA-C2C7-4460-82D0-6C96E022AE56}" destId="{A9AACEBE-B07D-4A10-AC31-454EF6304834}" srcOrd="1" destOrd="0" presId="urn:microsoft.com/office/officeart/2005/8/layout/orgChart1"/>
    <dgm:cxn modelId="{4BB9A0F5-68E7-4E6A-8801-D898BC13AD0D}" type="presParOf" srcId="{9C6FDBFA-C2C7-4460-82D0-6C96E022AE56}" destId="{6310293D-E041-49C0-B0A4-21DF9B3D9DA5}" srcOrd="2" destOrd="0" presId="urn:microsoft.com/office/officeart/2005/8/layout/orgChart1"/>
    <dgm:cxn modelId="{BD8BD9D7-D3B4-4E5A-B98F-66006922CF11}" type="presParOf" srcId="{F1916BCF-8FB1-4EBD-83DC-F2A2F67486A2}" destId="{D5995645-5D70-4869-9FC2-DA2C1454A188}" srcOrd="2" destOrd="0" presId="urn:microsoft.com/office/officeart/2005/8/layout/orgChart1"/>
    <dgm:cxn modelId="{A4750C6F-78FA-4EF6-842D-5371E0DC97C6}" type="presParOf" srcId="{F1916BCF-8FB1-4EBD-83DC-F2A2F67486A2}" destId="{79404F51-6F48-4B17-A55B-CD183B750091}" srcOrd="3" destOrd="0" presId="urn:microsoft.com/office/officeart/2005/8/layout/orgChart1"/>
    <dgm:cxn modelId="{F144E61E-8B91-4840-9CE3-7094E0066F7C}" type="presParOf" srcId="{79404F51-6F48-4B17-A55B-CD183B750091}" destId="{A0D3CD51-2489-434A-A5E5-0BC1DDA7EDEB}" srcOrd="0" destOrd="0" presId="urn:microsoft.com/office/officeart/2005/8/layout/orgChart1"/>
    <dgm:cxn modelId="{8FA59F71-CFCE-4EB6-8ACF-26C221E3719A}" type="presParOf" srcId="{A0D3CD51-2489-434A-A5E5-0BC1DDA7EDEB}" destId="{60ECE4D8-273E-4AD4-BFCA-50809AB69E39}" srcOrd="0" destOrd="0" presId="urn:microsoft.com/office/officeart/2005/8/layout/orgChart1"/>
    <dgm:cxn modelId="{12DE50DF-D9C1-4843-B2DE-23DC1CC744C7}" type="presParOf" srcId="{A0D3CD51-2489-434A-A5E5-0BC1DDA7EDEB}" destId="{B2C069D9-85DB-4958-9213-D1A168C07340}" srcOrd="1" destOrd="0" presId="urn:microsoft.com/office/officeart/2005/8/layout/orgChart1"/>
    <dgm:cxn modelId="{25701300-74C2-4130-9416-587F9BA6F59E}" type="presParOf" srcId="{79404F51-6F48-4B17-A55B-CD183B750091}" destId="{2751EB53-0A6E-4A45-BD11-7128D427BCB4}" srcOrd="1" destOrd="0" presId="urn:microsoft.com/office/officeart/2005/8/layout/orgChart1"/>
    <dgm:cxn modelId="{23ACAFAE-B3DA-4F9C-A924-3E0E2E3F50AF}" type="presParOf" srcId="{79404F51-6F48-4B17-A55B-CD183B750091}" destId="{BAA87A77-BADC-4A39-9366-47E642AB29C0}" srcOrd="2" destOrd="0" presId="urn:microsoft.com/office/officeart/2005/8/layout/orgChart1"/>
    <dgm:cxn modelId="{380388B0-F1C6-4D93-9826-9DB7FDD9E978}" type="presParOf" srcId="{F1916BCF-8FB1-4EBD-83DC-F2A2F67486A2}" destId="{4ECD5F8E-07AA-4E58-A10F-38ABEA822050}" srcOrd="4" destOrd="0" presId="urn:microsoft.com/office/officeart/2005/8/layout/orgChart1"/>
    <dgm:cxn modelId="{3C0CFA91-8BCA-4A67-AFAA-5B5EB7F167E5}" type="presParOf" srcId="{F1916BCF-8FB1-4EBD-83DC-F2A2F67486A2}" destId="{A373DA93-09F2-4262-A021-D65A4BC6DFAC}" srcOrd="5" destOrd="0" presId="urn:microsoft.com/office/officeart/2005/8/layout/orgChart1"/>
    <dgm:cxn modelId="{420FDEB1-9069-4E6B-A78A-33E4111D23B3}" type="presParOf" srcId="{A373DA93-09F2-4262-A021-D65A4BC6DFAC}" destId="{89B71743-2496-4003-8841-65F08418DA75}" srcOrd="0" destOrd="0" presId="urn:microsoft.com/office/officeart/2005/8/layout/orgChart1"/>
    <dgm:cxn modelId="{794F40D8-1132-4501-AFAD-5370B5803C40}" type="presParOf" srcId="{89B71743-2496-4003-8841-65F08418DA75}" destId="{05E333A4-FA62-4CE2-9CEE-C06154D4C1A5}" srcOrd="0" destOrd="0" presId="urn:microsoft.com/office/officeart/2005/8/layout/orgChart1"/>
    <dgm:cxn modelId="{E247C574-A57D-4B35-81F5-C5C271A2D0E7}" type="presParOf" srcId="{89B71743-2496-4003-8841-65F08418DA75}" destId="{2C8E36A8-EABF-499C-94EC-9A60057FD33A}" srcOrd="1" destOrd="0" presId="urn:microsoft.com/office/officeart/2005/8/layout/orgChart1"/>
    <dgm:cxn modelId="{B06FB3D5-2023-4951-8C70-46E0D18960BB}" type="presParOf" srcId="{A373DA93-09F2-4262-A021-D65A4BC6DFAC}" destId="{1FBA95B5-6384-4BE4-8A37-23173DECB084}" srcOrd="1" destOrd="0" presId="urn:microsoft.com/office/officeart/2005/8/layout/orgChart1"/>
    <dgm:cxn modelId="{1AE624E7-E2E0-41C8-B434-54F134754BD3}" type="presParOf" srcId="{A373DA93-09F2-4262-A021-D65A4BC6DFAC}" destId="{90AE90D3-E196-4D5D-B87B-D0D6E2D6638D}" srcOrd="2" destOrd="0" presId="urn:microsoft.com/office/officeart/2005/8/layout/orgChart1"/>
    <dgm:cxn modelId="{974F4874-616D-4CD3-AA33-26F09F2C298A}" type="presParOf" srcId="{F1916BCF-8FB1-4EBD-83DC-F2A2F67486A2}" destId="{B7B632DE-E9DC-4AA4-B1E5-50C90540F8DE}" srcOrd="6" destOrd="0" presId="urn:microsoft.com/office/officeart/2005/8/layout/orgChart1"/>
    <dgm:cxn modelId="{5B53C99A-D1F5-42DF-A73E-C9A5B65DDA4E}" type="presParOf" srcId="{F1916BCF-8FB1-4EBD-83DC-F2A2F67486A2}" destId="{76976823-A3DE-44A4-9F29-4A6BBDCC689B}" srcOrd="7" destOrd="0" presId="urn:microsoft.com/office/officeart/2005/8/layout/orgChart1"/>
    <dgm:cxn modelId="{211E1289-89A7-4DB7-B29F-B3BE158146A1}" type="presParOf" srcId="{76976823-A3DE-44A4-9F29-4A6BBDCC689B}" destId="{058F3CA3-C7BB-4C76-A641-1BAD5D118475}" srcOrd="0" destOrd="0" presId="urn:microsoft.com/office/officeart/2005/8/layout/orgChart1"/>
    <dgm:cxn modelId="{4EBFCB64-1332-4608-95EB-17BD2B2BFAE8}" type="presParOf" srcId="{058F3CA3-C7BB-4C76-A641-1BAD5D118475}" destId="{692EB222-5F67-4EF0-9676-1D2597533B68}" srcOrd="0" destOrd="0" presId="urn:microsoft.com/office/officeart/2005/8/layout/orgChart1"/>
    <dgm:cxn modelId="{4A550010-20D0-4ED3-817D-CDD465546328}" type="presParOf" srcId="{058F3CA3-C7BB-4C76-A641-1BAD5D118475}" destId="{94EBD6FF-9643-452F-8953-56470C9149CE}" srcOrd="1" destOrd="0" presId="urn:microsoft.com/office/officeart/2005/8/layout/orgChart1"/>
    <dgm:cxn modelId="{72A41FEE-0C55-49D5-BF80-06943F3F65CF}" type="presParOf" srcId="{76976823-A3DE-44A4-9F29-4A6BBDCC689B}" destId="{0318FEA8-A646-49D0-A074-94EF45A0F36E}" srcOrd="1" destOrd="0" presId="urn:microsoft.com/office/officeart/2005/8/layout/orgChart1"/>
    <dgm:cxn modelId="{74C1042A-8E12-4245-A4A5-C2AFFD4F785A}" type="presParOf" srcId="{76976823-A3DE-44A4-9F29-4A6BBDCC689B}" destId="{2360C5E8-B56C-4980-84BF-301A99CAA719}" srcOrd="2" destOrd="0" presId="urn:microsoft.com/office/officeart/2005/8/layout/orgChart1"/>
    <dgm:cxn modelId="{87D56AD0-44A7-445A-98B3-E2683A4A4837}" type="presParOf" srcId="{A158CDD3-4A1C-4E2A-80C7-B53857F0CB97}" destId="{53FCAB47-9D01-4550-95E2-E942A308472F}" srcOrd="2" destOrd="0" presId="urn:microsoft.com/office/officeart/2005/8/layout/orgChart1"/>
    <dgm:cxn modelId="{20C017F8-D89A-4BB2-99B4-E7CDFA0A4571}" type="presParOf" srcId="{C3C95A5F-F698-49EA-AE02-2BC8B4F5AC64}" destId="{27AF5E57-41FC-4632-889C-4440AFABD073}" srcOrd="8" destOrd="0" presId="urn:microsoft.com/office/officeart/2005/8/layout/orgChart1"/>
    <dgm:cxn modelId="{33A3510C-380B-4624-A29E-1DED517FB814}" type="presParOf" srcId="{C3C95A5F-F698-49EA-AE02-2BC8B4F5AC64}" destId="{3A796FA0-176F-4C5D-A919-564D9C89311D}" srcOrd="9" destOrd="0" presId="urn:microsoft.com/office/officeart/2005/8/layout/orgChart1"/>
    <dgm:cxn modelId="{443A492F-BDEC-4D72-B599-5FD1C837BAD3}" type="presParOf" srcId="{3A796FA0-176F-4C5D-A919-564D9C89311D}" destId="{FBA26154-960C-4F99-8E3A-6388B4B111B8}" srcOrd="0" destOrd="0" presId="urn:microsoft.com/office/officeart/2005/8/layout/orgChart1"/>
    <dgm:cxn modelId="{83E096FA-EBA8-43DE-BB06-DAD273AFD105}" type="presParOf" srcId="{FBA26154-960C-4F99-8E3A-6388B4B111B8}" destId="{B6B560B6-5EC0-42BF-8B5A-A174E31DE4B4}" srcOrd="0" destOrd="0" presId="urn:microsoft.com/office/officeart/2005/8/layout/orgChart1"/>
    <dgm:cxn modelId="{34FA1FE4-4052-4B5D-92DB-C74F91D73D75}" type="presParOf" srcId="{FBA26154-960C-4F99-8E3A-6388B4B111B8}" destId="{7FFAC2F7-2808-485F-A0F2-C0F2EBC59B70}" srcOrd="1" destOrd="0" presId="urn:microsoft.com/office/officeart/2005/8/layout/orgChart1"/>
    <dgm:cxn modelId="{72FABA05-DB88-4BED-B37B-9A22D251750A}" type="presParOf" srcId="{3A796FA0-176F-4C5D-A919-564D9C89311D}" destId="{73623B15-DDCF-4B51-99E8-E7B362B1A2B2}" srcOrd="1" destOrd="0" presId="urn:microsoft.com/office/officeart/2005/8/layout/orgChart1"/>
    <dgm:cxn modelId="{B684D911-268B-431D-8F2E-25BD66FB23A5}" type="presParOf" srcId="{73623B15-DDCF-4B51-99E8-E7B362B1A2B2}" destId="{B237821F-C7C8-4621-961A-679FC90A73B2}" srcOrd="0" destOrd="0" presId="urn:microsoft.com/office/officeart/2005/8/layout/orgChart1"/>
    <dgm:cxn modelId="{C33680BB-E999-43CE-B998-5BFBB5B0297D}" type="presParOf" srcId="{73623B15-DDCF-4B51-99E8-E7B362B1A2B2}" destId="{9B1E8E2B-E52F-45F5-A5AD-CEF12CB29755}" srcOrd="1" destOrd="0" presId="urn:microsoft.com/office/officeart/2005/8/layout/orgChart1"/>
    <dgm:cxn modelId="{3C199BA8-DD2A-44BB-B871-CA62D3B9DAD7}" type="presParOf" srcId="{9B1E8E2B-E52F-45F5-A5AD-CEF12CB29755}" destId="{F5854458-BB53-42FE-890C-2022FCB3C628}" srcOrd="0" destOrd="0" presId="urn:microsoft.com/office/officeart/2005/8/layout/orgChart1"/>
    <dgm:cxn modelId="{84C90100-0D80-49AB-9853-0674A7C4E611}" type="presParOf" srcId="{F5854458-BB53-42FE-890C-2022FCB3C628}" destId="{B20A4089-FFC4-4293-9F88-800ED7634A6B}" srcOrd="0" destOrd="0" presId="urn:microsoft.com/office/officeart/2005/8/layout/orgChart1"/>
    <dgm:cxn modelId="{33151A67-5039-463B-99CD-1473D1D354C0}" type="presParOf" srcId="{F5854458-BB53-42FE-890C-2022FCB3C628}" destId="{E0911F42-3FE7-4712-93DB-CCF9CA1BF7F9}" srcOrd="1" destOrd="0" presId="urn:microsoft.com/office/officeart/2005/8/layout/orgChart1"/>
    <dgm:cxn modelId="{EE989836-1A94-40FF-B24F-92B9E2F48D73}" type="presParOf" srcId="{9B1E8E2B-E52F-45F5-A5AD-CEF12CB29755}" destId="{916B1AE0-6050-4863-8FFE-62B9CD56EC86}" srcOrd="1" destOrd="0" presId="urn:microsoft.com/office/officeart/2005/8/layout/orgChart1"/>
    <dgm:cxn modelId="{BB855F38-C95E-4465-BC71-CCD39357A6D3}" type="presParOf" srcId="{9B1E8E2B-E52F-45F5-A5AD-CEF12CB29755}" destId="{BDDFA6C9-C6DF-4CB5-9550-CE0830C44C7E}" srcOrd="2" destOrd="0" presId="urn:microsoft.com/office/officeart/2005/8/layout/orgChart1"/>
    <dgm:cxn modelId="{CDE16941-6D1B-4F94-B4A2-CB42D7061035}" type="presParOf" srcId="{3A796FA0-176F-4C5D-A919-564D9C89311D}" destId="{0D56B85C-DBAF-4940-B22B-6090EA43B1C8}" srcOrd="2" destOrd="0" presId="urn:microsoft.com/office/officeart/2005/8/layout/orgChart1"/>
    <dgm:cxn modelId="{D9568637-3422-4A96-83CA-28AF9E16F068}" type="presParOf" srcId="{C3C95A5F-F698-49EA-AE02-2BC8B4F5AC64}" destId="{2B55BA6C-E7B9-4F3D-9B53-E9F986E34379}" srcOrd="10" destOrd="0" presId="urn:microsoft.com/office/officeart/2005/8/layout/orgChart1"/>
    <dgm:cxn modelId="{CAEBDF8F-1C6D-4CBC-9F30-0935222B2FEC}" type="presParOf" srcId="{C3C95A5F-F698-49EA-AE02-2BC8B4F5AC64}" destId="{0E64E889-C45E-47FD-A971-AEE589762F95}" srcOrd="11" destOrd="0" presId="urn:microsoft.com/office/officeart/2005/8/layout/orgChart1"/>
    <dgm:cxn modelId="{CB9B179D-5ED6-4D7C-9783-194A2C8BA734}" type="presParOf" srcId="{0E64E889-C45E-47FD-A971-AEE589762F95}" destId="{EF8318B9-40EC-402D-9FD4-D7DC4D279C2D}" srcOrd="0" destOrd="0" presId="urn:microsoft.com/office/officeart/2005/8/layout/orgChart1"/>
    <dgm:cxn modelId="{FBE73515-6BA7-47BD-8387-50D86CFC8F5D}" type="presParOf" srcId="{EF8318B9-40EC-402D-9FD4-D7DC4D279C2D}" destId="{3D7EB78F-F05F-411A-A995-460123444B7B}" srcOrd="0" destOrd="0" presId="urn:microsoft.com/office/officeart/2005/8/layout/orgChart1"/>
    <dgm:cxn modelId="{372A43C3-E182-4103-AFE9-C8E67371D043}" type="presParOf" srcId="{EF8318B9-40EC-402D-9FD4-D7DC4D279C2D}" destId="{105C6712-5D00-4929-B0AA-D75ACF08DBD4}" srcOrd="1" destOrd="0" presId="urn:microsoft.com/office/officeart/2005/8/layout/orgChart1"/>
    <dgm:cxn modelId="{0C0C0A8E-8173-4C6B-B0DF-4DC20E53845F}" type="presParOf" srcId="{0E64E889-C45E-47FD-A971-AEE589762F95}" destId="{0B1457F9-B601-44A0-A47A-B827D6CBD0AC}" srcOrd="1" destOrd="0" presId="urn:microsoft.com/office/officeart/2005/8/layout/orgChart1"/>
    <dgm:cxn modelId="{90C3829B-4443-4F7B-9D0F-EC5F5067476B}" type="presParOf" srcId="{0B1457F9-B601-44A0-A47A-B827D6CBD0AC}" destId="{80FA3DB0-D8AA-41DB-9CE7-532ECAA72155}" srcOrd="0" destOrd="0" presId="urn:microsoft.com/office/officeart/2005/8/layout/orgChart1"/>
    <dgm:cxn modelId="{AAC12EE7-A97B-4E68-9001-E30CE8ACC783}" type="presParOf" srcId="{0B1457F9-B601-44A0-A47A-B827D6CBD0AC}" destId="{634F4DBE-48C7-4E3C-8ABB-7FB539F6F256}" srcOrd="1" destOrd="0" presId="urn:microsoft.com/office/officeart/2005/8/layout/orgChart1"/>
    <dgm:cxn modelId="{A9E6E90C-BD66-4857-853E-A8B274E9D6A4}" type="presParOf" srcId="{634F4DBE-48C7-4E3C-8ABB-7FB539F6F256}" destId="{FEE3AD58-D656-414F-AFD1-288D04E3B831}" srcOrd="0" destOrd="0" presId="urn:microsoft.com/office/officeart/2005/8/layout/orgChart1"/>
    <dgm:cxn modelId="{05BC1AF2-C45B-499A-AFD4-A309C50C0D3F}" type="presParOf" srcId="{FEE3AD58-D656-414F-AFD1-288D04E3B831}" destId="{376EF23C-590D-4D71-9DDB-406440306492}" srcOrd="0" destOrd="0" presId="urn:microsoft.com/office/officeart/2005/8/layout/orgChart1"/>
    <dgm:cxn modelId="{2D84838E-0191-4C89-B86A-61DB9D9387EC}" type="presParOf" srcId="{FEE3AD58-D656-414F-AFD1-288D04E3B831}" destId="{3BF00363-22C9-47E3-ADEA-C4010D1B0240}" srcOrd="1" destOrd="0" presId="urn:microsoft.com/office/officeart/2005/8/layout/orgChart1"/>
    <dgm:cxn modelId="{917DC7EF-3730-49EF-8B28-402E4594E5E6}" type="presParOf" srcId="{634F4DBE-48C7-4E3C-8ABB-7FB539F6F256}" destId="{D506CD01-7D74-492D-9ABF-1F91B8A0C0B2}" srcOrd="1" destOrd="0" presId="urn:microsoft.com/office/officeart/2005/8/layout/orgChart1"/>
    <dgm:cxn modelId="{647CCC2F-1A98-4F92-AFCF-FDC6C57B489B}" type="presParOf" srcId="{634F4DBE-48C7-4E3C-8ABB-7FB539F6F256}" destId="{012DD858-ECDE-4743-AE68-18D18D828CC1}" srcOrd="2" destOrd="0" presId="urn:microsoft.com/office/officeart/2005/8/layout/orgChart1"/>
    <dgm:cxn modelId="{6EFA3BD9-4984-482D-9F4A-6AB2463A0FD3}" type="presParOf" srcId="{0B1457F9-B601-44A0-A47A-B827D6CBD0AC}" destId="{193F2591-89D4-4DD1-A3A8-1FA0B7081DA3}" srcOrd="2" destOrd="0" presId="urn:microsoft.com/office/officeart/2005/8/layout/orgChart1"/>
    <dgm:cxn modelId="{52C670CD-523E-4412-BF0D-AE968CEA7C07}" type="presParOf" srcId="{0B1457F9-B601-44A0-A47A-B827D6CBD0AC}" destId="{FB915E25-5E21-4193-B19E-EC72171DD3C7}" srcOrd="3" destOrd="0" presId="urn:microsoft.com/office/officeart/2005/8/layout/orgChart1"/>
    <dgm:cxn modelId="{D6D2BE89-ED5B-4505-95C1-FCEC5682A6B6}" type="presParOf" srcId="{FB915E25-5E21-4193-B19E-EC72171DD3C7}" destId="{542E6A31-106D-4E05-8040-4C086A1DF52D}" srcOrd="0" destOrd="0" presId="urn:microsoft.com/office/officeart/2005/8/layout/orgChart1"/>
    <dgm:cxn modelId="{5B410F4D-C894-440B-B425-2F3053D11207}" type="presParOf" srcId="{542E6A31-106D-4E05-8040-4C086A1DF52D}" destId="{B02CDEA7-2177-4B9A-AD2B-A125969A07F8}" srcOrd="0" destOrd="0" presId="urn:microsoft.com/office/officeart/2005/8/layout/orgChart1"/>
    <dgm:cxn modelId="{D6E40719-3853-4CD9-9D91-AF454FB38708}" type="presParOf" srcId="{542E6A31-106D-4E05-8040-4C086A1DF52D}" destId="{B31797F2-32C9-46F5-855B-3C92370EA1FA}" srcOrd="1" destOrd="0" presId="urn:microsoft.com/office/officeart/2005/8/layout/orgChart1"/>
    <dgm:cxn modelId="{EC0380DE-41FF-40ED-8947-A48040220B61}" type="presParOf" srcId="{FB915E25-5E21-4193-B19E-EC72171DD3C7}" destId="{2C564DC0-3C89-4880-8AF6-C1056266F7F5}" srcOrd="1" destOrd="0" presId="urn:microsoft.com/office/officeart/2005/8/layout/orgChart1"/>
    <dgm:cxn modelId="{D1E51433-C7BC-4260-832A-662BAB0F2226}" type="presParOf" srcId="{FB915E25-5E21-4193-B19E-EC72171DD3C7}" destId="{0A2A4A1B-07BD-467C-8E52-581868F5AC30}" srcOrd="2" destOrd="0" presId="urn:microsoft.com/office/officeart/2005/8/layout/orgChart1"/>
    <dgm:cxn modelId="{F903D2B9-0ECA-444F-9F24-10F4B83FC007}" type="presParOf" srcId="{0E64E889-C45E-47FD-A971-AEE589762F95}" destId="{00617EB8-CC37-4916-B150-81595D52CE75}" srcOrd="2" destOrd="0" presId="urn:microsoft.com/office/officeart/2005/8/layout/orgChart1"/>
    <dgm:cxn modelId="{E681CEC2-7E5D-4792-9D22-37D4BF0EDF3B}" type="presParOf" srcId="{6F05D41D-F854-4403-973E-032D8F8C1E40}" destId="{061B1A59-38E6-41EE-862C-706DD28A6731}" srcOrd="2" destOrd="0" presId="urn:microsoft.com/office/officeart/2005/8/layout/orgChart1"/>
    <dgm:cxn modelId="{32671557-B095-4267-8942-0C6D6B65AB19}" type="presParOf" srcId="{061B1A59-38E6-41EE-862C-706DD28A6731}" destId="{832149EF-45B1-492A-9285-F8B216A782A9}" srcOrd="0" destOrd="0" presId="urn:microsoft.com/office/officeart/2005/8/layout/orgChart1"/>
    <dgm:cxn modelId="{08E06854-3103-49B7-ADF7-8610BC369155}" type="presParOf" srcId="{061B1A59-38E6-41EE-862C-706DD28A6731}" destId="{F8A4E051-811B-418E-9091-FC1A5DCCB9C9}" srcOrd="1" destOrd="0" presId="urn:microsoft.com/office/officeart/2005/8/layout/orgChart1"/>
    <dgm:cxn modelId="{81A70D94-1F5E-488A-B8C7-235BAEB8FA81}" type="presParOf" srcId="{F8A4E051-811B-418E-9091-FC1A5DCCB9C9}" destId="{21CB8B3F-33E3-437B-8203-78192FE50F8A}" srcOrd="0" destOrd="0" presId="urn:microsoft.com/office/officeart/2005/8/layout/orgChart1"/>
    <dgm:cxn modelId="{6F2132E0-8F44-4538-8A40-2E87D88A674E}" type="presParOf" srcId="{21CB8B3F-33E3-437B-8203-78192FE50F8A}" destId="{4284709F-09C3-4185-BE39-0DDA8826D1B8}" srcOrd="0" destOrd="0" presId="urn:microsoft.com/office/officeart/2005/8/layout/orgChart1"/>
    <dgm:cxn modelId="{A6E885CC-EFD2-4870-9C6E-B702F870AE19}" type="presParOf" srcId="{21CB8B3F-33E3-437B-8203-78192FE50F8A}" destId="{59ADAAC0-991D-4ED7-BAA8-1ECB69EF23A8}" srcOrd="1" destOrd="0" presId="urn:microsoft.com/office/officeart/2005/8/layout/orgChart1"/>
    <dgm:cxn modelId="{3FDB43B0-1C7A-4C73-AB8E-C82D8E3CA738}" type="presParOf" srcId="{F8A4E051-811B-418E-9091-FC1A5DCCB9C9}" destId="{130AFE1C-F0BA-4AC1-A038-E2E76E9F0986}" srcOrd="1" destOrd="0" presId="urn:microsoft.com/office/officeart/2005/8/layout/orgChart1"/>
    <dgm:cxn modelId="{AF84797A-3480-4966-8F59-563E91C28A49}" type="presParOf" srcId="{F8A4E051-811B-418E-9091-FC1A5DCCB9C9}" destId="{875D26DE-4F61-43BE-8CBA-748BCF15156C}"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2149EF-45B1-492A-9285-F8B216A782A9}">
      <dsp:nvSpPr>
        <dsp:cNvPr id="0" name=""/>
        <dsp:cNvSpPr/>
      </dsp:nvSpPr>
      <dsp:spPr>
        <a:xfrm>
          <a:off x="4031268" y="520102"/>
          <a:ext cx="109191" cy="478361"/>
        </a:xfrm>
        <a:custGeom>
          <a:avLst/>
          <a:gdLst/>
          <a:ahLst/>
          <a:cxnLst/>
          <a:rect l="0" t="0" r="0" b="0"/>
          <a:pathLst>
            <a:path>
              <a:moveTo>
                <a:pt x="109191" y="0"/>
              </a:moveTo>
              <a:lnTo>
                <a:pt x="109191" y="478361"/>
              </a:lnTo>
              <a:lnTo>
                <a:pt x="0" y="47836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3F2591-89D4-4DD1-A3A8-1FA0B7081DA3}">
      <dsp:nvSpPr>
        <dsp:cNvPr id="0" name=""/>
        <dsp:cNvSpPr/>
      </dsp:nvSpPr>
      <dsp:spPr>
        <a:xfrm>
          <a:off x="6870240" y="1996783"/>
          <a:ext cx="155987" cy="1216702"/>
        </a:xfrm>
        <a:custGeom>
          <a:avLst/>
          <a:gdLst/>
          <a:ahLst/>
          <a:cxnLst/>
          <a:rect l="0" t="0" r="0" b="0"/>
          <a:pathLst>
            <a:path>
              <a:moveTo>
                <a:pt x="0" y="0"/>
              </a:moveTo>
              <a:lnTo>
                <a:pt x="0" y="1216702"/>
              </a:lnTo>
              <a:lnTo>
                <a:pt x="155987" y="12167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0FA3DB0-D8AA-41DB-9CE7-532ECAA72155}">
      <dsp:nvSpPr>
        <dsp:cNvPr id="0" name=""/>
        <dsp:cNvSpPr/>
      </dsp:nvSpPr>
      <dsp:spPr>
        <a:xfrm>
          <a:off x="6870240" y="1996783"/>
          <a:ext cx="155987" cy="478361"/>
        </a:xfrm>
        <a:custGeom>
          <a:avLst/>
          <a:gdLst/>
          <a:ahLst/>
          <a:cxnLst/>
          <a:rect l="0" t="0" r="0" b="0"/>
          <a:pathLst>
            <a:path>
              <a:moveTo>
                <a:pt x="0" y="0"/>
              </a:moveTo>
              <a:lnTo>
                <a:pt x="0" y="478361"/>
              </a:lnTo>
              <a:lnTo>
                <a:pt x="155987" y="47836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B55BA6C-E7B9-4F3D-9B53-E9F986E34379}">
      <dsp:nvSpPr>
        <dsp:cNvPr id="0" name=""/>
        <dsp:cNvSpPr/>
      </dsp:nvSpPr>
      <dsp:spPr>
        <a:xfrm>
          <a:off x="4140459" y="520102"/>
          <a:ext cx="3145747" cy="956723"/>
        </a:xfrm>
        <a:custGeom>
          <a:avLst/>
          <a:gdLst/>
          <a:ahLst/>
          <a:cxnLst/>
          <a:rect l="0" t="0" r="0" b="0"/>
          <a:pathLst>
            <a:path>
              <a:moveTo>
                <a:pt x="0" y="0"/>
              </a:moveTo>
              <a:lnTo>
                <a:pt x="0" y="847531"/>
              </a:lnTo>
              <a:lnTo>
                <a:pt x="3145747" y="847531"/>
              </a:lnTo>
              <a:lnTo>
                <a:pt x="3145747" y="95672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37821F-C7C8-4621-961A-679FC90A73B2}">
      <dsp:nvSpPr>
        <dsp:cNvPr id="0" name=""/>
        <dsp:cNvSpPr/>
      </dsp:nvSpPr>
      <dsp:spPr>
        <a:xfrm>
          <a:off x="5611941" y="1996783"/>
          <a:ext cx="155987" cy="478361"/>
        </a:xfrm>
        <a:custGeom>
          <a:avLst/>
          <a:gdLst/>
          <a:ahLst/>
          <a:cxnLst/>
          <a:rect l="0" t="0" r="0" b="0"/>
          <a:pathLst>
            <a:path>
              <a:moveTo>
                <a:pt x="0" y="0"/>
              </a:moveTo>
              <a:lnTo>
                <a:pt x="0" y="478361"/>
              </a:lnTo>
              <a:lnTo>
                <a:pt x="155987" y="47836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AF5E57-41FC-4632-889C-4440AFABD073}">
      <dsp:nvSpPr>
        <dsp:cNvPr id="0" name=""/>
        <dsp:cNvSpPr/>
      </dsp:nvSpPr>
      <dsp:spPr>
        <a:xfrm>
          <a:off x="4140459" y="520102"/>
          <a:ext cx="1887448" cy="956723"/>
        </a:xfrm>
        <a:custGeom>
          <a:avLst/>
          <a:gdLst/>
          <a:ahLst/>
          <a:cxnLst/>
          <a:rect l="0" t="0" r="0" b="0"/>
          <a:pathLst>
            <a:path>
              <a:moveTo>
                <a:pt x="0" y="0"/>
              </a:moveTo>
              <a:lnTo>
                <a:pt x="0" y="847531"/>
              </a:lnTo>
              <a:lnTo>
                <a:pt x="1887448" y="847531"/>
              </a:lnTo>
              <a:lnTo>
                <a:pt x="1887448" y="95672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B632DE-E9DC-4AA4-B1E5-50C90540F8DE}">
      <dsp:nvSpPr>
        <dsp:cNvPr id="0" name=""/>
        <dsp:cNvSpPr/>
      </dsp:nvSpPr>
      <dsp:spPr>
        <a:xfrm>
          <a:off x="4353642" y="1996783"/>
          <a:ext cx="155987" cy="2693383"/>
        </a:xfrm>
        <a:custGeom>
          <a:avLst/>
          <a:gdLst/>
          <a:ahLst/>
          <a:cxnLst/>
          <a:rect l="0" t="0" r="0" b="0"/>
          <a:pathLst>
            <a:path>
              <a:moveTo>
                <a:pt x="0" y="0"/>
              </a:moveTo>
              <a:lnTo>
                <a:pt x="0" y="2693383"/>
              </a:lnTo>
              <a:lnTo>
                <a:pt x="155987" y="269338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ECD5F8E-07AA-4E58-A10F-38ABEA822050}">
      <dsp:nvSpPr>
        <dsp:cNvPr id="0" name=""/>
        <dsp:cNvSpPr/>
      </dsp:nvSpPr>
      <dsp:spPr>
        <a:xfrm>
          <a:off x="4353642" y="1996783"/>
          <a:ext cx="155987" cy="1955042"/>
        </a:xfrm>
        <a:custGeom>
          <a:avLst/>
          <a:gdLst/>
          <a:ahLst/>
          <a:cxnLst/>
          <a:rect l="0" t="0" r="0" b="0"/>
          <a:pathLst>
            <a:path>
              <a:moveTo>
                <a:pt x="0" y="0"/>
              </a:moveTo>
              <a:lnTo>
                <a:pt x="0" y="1955042"/>
              </a:lnTo>
              <a:lnTo>
                <a:pt x="155987" y="195504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995645-5D70-4869-9FC2-DA2C1454A188}">
      <dsp:nvSpPr>
        <dsp:cNvPr id="0" name=""/>
        <dsp:cNvSpPr/>
      </dsp:nvSpPr>
      <dsp:spPr>
        <a:xfrm>
          <a:off x="4353642" y="1996783"/>
          <a:ext cx="155987" cy="1216702"/>
        </a:xfrm>
        <a:custGeom>
          <a:avLst/>
          <a:gdLst/>
          <a:ahLst/>
          <a:cxnLst/>
          <a:rect l="0" t="0" r="0" b="0"/>
          <a:pathLst>
            <a:path>
              <a:moveTo>
                <a:pt x="0" y="0"/>
              </a:moveTo>
              <a:lnTo>
                <a:pt x="0" y="1216702"/>
              </a:lnTo>
              <a:lnTo>
                <a:pt x="155987" y="12167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F2DC45-8B36-4EB0-B41A-C32D5831C937}">
      <dsp:nvSpPr>
        <dsp:cNvPr id="0" name=""/>
        <dsp:cNvSpPr/>
      </dsp:nvSpPr>
      <dsp:spPr>
        <a:xfrm>
          <a:off x="4353642" y="1996783"/>
          <a:ext cx="155987" cy="478361"/>
        </a:xfrm>
        <a:custGeom>
          <a:avLst/>
          <a:gdLst/>
          <a:ahLst/>
          <a:cxnLst/>
          <a:rect l="0" t="0" r="0" b="0"/>
          <a:pathLst>
            <a:path>
              <a:moveTo>
                <a:pt x="0" y="0"/>
              </a:moveTo>
              <a:lnTo>
                <a:pt x="0" y="478361"/>
              </a:lnTo>
              <a:lnTo>
                <a:pt x="155987" y="47836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856F5E3-2F31-4B9B-8712-43E46500BE6F}">
      <dsp:nvSpPr>
        <dsp:cNvPr id="0" name=""/>
        <dsp:cNvSpPr/>
      </dsp:nvSpPr>
      <dsp:spPr>
        <a:xfrm>
          <a:off x="4140459" y="520102"/>
          <a:ext cx="629149" cy="956723"/>
        </a:xfrm>
        <a:custGeom>
          <a:avLst/>
          <a:gdLst/>
          <a:ahLst/>
          <a:cxnLst/>
          <a:rect l="0" t="0" r="0" b="0"/>
          <a:pathLst>
            <a:path>
              <a:moveTo>
                <a:pt x="0" y="0"/>
              </a:moveTo>
              <a:lnTo>
                <a:pt x="0" y="847531"/>
              </a:lnTo>
              <a:lnTo>
                <a:pt x="629149" y="847531"/>
              </a:lnTo>
              <a:lnTo>
                <a:pt x="629149" y="95672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CABB44-2F8C-46D8-A4A2-232301D99C43}">
      <dsp:nvSpPr>
        <dsp:cNvPr id="0" name=""/>
        <dsp:cNvSpPr/>
      </dsp:nvSpPr>
      <dsp:spPr>
        <a:xfrm>
          <a:off x="3095343" y="1996783"/>
          <a:ext cx="155987" cy="1955042"/>
        </a:xfrm>
        <a:custGeom>
          <a:avLst/>
          <a:gdLst/>
          <a:ahLst/>
          <a:cxnLst/>
          <a:rect l="0" t="0" r="0" b="0"/>
          <a:pathLst>
            <a:path>
              <a:moveTo>
                <a:pt x="0" y="0"/>
              </a:moveTo>
              <a:lnTo>
                <a:pt x="0" y="1955042"/>
              </a:lnTo>
              <a:lnTo>
                <a:pt x="155987" y="195504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B88209-53E0-4BA2-AD34-A3429B457BA5}">
      <dsp:nvSpPr>
        <dsp:cNvPr id="0" name=""/>
        <dsp:cNvSpPr/>
      </dsp:nvSpPr>
      <dsp:spPr>
        <a:xfrm>
          <a:off x="3095343" y="1996783"/>
          <a:ext cx="155987" cy="1216702"/>
        </a:xfrm>
        <a:custGeom>
          <a:avLst/>
          <a:gdLst/>
          <a:ahLst/>
          <a:cxnLst/>
          <a:rect l="0" t="0" r="0" b="0"/>
          <a:pathLst>
            <a:path>
              <a:moveTo>
                <a:pt x="0" y="0"/>
              </a:moveTo>
              <a:lnTo>
                <a:pt x="0" y="1216702"/>
              </a:lnTo>
              <a:lnTo>
                <a:pt x="155987" y="12167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7DF239-712E-46E2-A503-8D8FD66C05CF}">
      <dsp:nvSpPr>
        <dsp:cNvPr id="0" name=""/>
        <dsp:cNvSpPr/>
      </dsp:nvSpPr>
      <dsp:spPr>
        <a:xfrm>
          <a:off x="3095343" y="1996783"/>
          <a:ext cx="155987" cy="478361"/>
        </a:xfrm>
        <a:custGeom>
          <a:avLst/>
          <a:gdLst/>
          <a:ahLst/>
          <a:cxnLst/>
          <a:rect l="0" t="0" r="0" b="0"/>
          <a:pathLst>
            <a:path>
              <a:moveTo>
                <a:pt x="0" y="0"/>
              </a:moveTo>
              <a:lnTo>
                <a:pt x="0" y="478361"/>
              </a:lnTo>
              <a:lnTo>
                <a:pt x="155987" y="47836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95C39EC-4712-4FE3-8840-B4DEB7D2EBED}">
      <dsp:nvSpPr>
        <dsp:cNvPr id="0" name=""/>
        <dsp:cNvSpPr/>
      </dsp:nvSpPr>
      <dsp:spPr>
        <a:xfrm>
          <a:off x="3511310" y="520102"/>
          <a:ext cx="629149" cy="956723"/>
        </a:xfrm>
        <a:custGeom>
          <a:avLst/>
          <a:gdLst/>
          <a:ahLst/>
          <a:cxnLst/>
          <a:rect l="0" t="0" r="0" b="0"/>
          <a:pathLst>
            <a:path>
              <a:moveTo>
                <a:pt x="629149" y="0"/>
              </a:moveTo>
              <a:lnTo>
                <a:pt x="629149" y="847531"/>
              </a:lnTo>
              <a:lnTo>
                <a:pt x="0" y="847531"/>
              </a:lnTo>
              <a:lnTo>
                <a:pt x="0" y="95672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79D73D-40FA-4788-AE02-E089F9798A23}">
      <dsp:nvSpPr>
        <dsp:cNvPr id="0" name=""/>
        <dsp:cNvSpPr/>
      </dsp:nvSpPr>
      <dsp:spPr>
        <a:xfrm>
          <a:off x="1837044" y="1996783"/>
          <a:ext cx="155987" cy="3431724"/>
        </a:xfrm>
        <a:custGeom>
          <a:avLst/>
          <a:gdLst/>
          <a:ahLst/>
          <a:cxnLst/>
          <a:rect l="0" t="0" r="0" b="0"/>
          <a:pathLst>
            <a:path>
              <a:moveTo>
                <a:pt x="0" y="0"/>
              </a:moveTo>
              <a:lnTo>
                <a:pt x="0" y="3431724"/>
              </a:lnTo>
              <a:lnTo>
                <a:pt x="155987" y="343172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1AD8B0B-A706-46FE-AAFC-1AE852852834}">
      <dsp:nvSpPr>
        <dsp:cNvPr id="0" name=""/>
        <dsp:cNvSpPr/>
      </dsp:nvSpPr>
      <dsp:spPr>
        <a:xfrm>
          <a:off x="1837044" y="1996783"/>
          <a:ext cx="155987" cy="2693383"/>
        </a:xfrm>
        <a:custGeom>
          <a:avLst/>
          <a:gdLst/>
          <a:ahLst/>
          <a:cxnLst/>
          <a:rect l="0" t="0" r="0" b="0"/>
          <a:pathLst>
            <a:path>
              <a:moveTo>
                <a:pt x="0" y="0"/>
              </a:moveTo>
              <a:lnTo>
                <a:pt x="0" y="2693383"/>
              </a:lnTo>
              <a:lnTo>
                <a:pt x="155987" y="269338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9CDD9F-97E3-454E-BC98-E3882AA7F517}">
      <dsp:nvSpPr>
        <dsp:cNvPr id="0" name=""/>
        <dsp:cNvSpPr/>
      </dsp:nvSpPr>
      <dsp:spPr>
        <a:xfrm>
          <a:off x="1837044" y="1996783"/>
          <a:ext cx="155987" cy="1955042"/>
        </a:xfrm>
        <a:custGeom>
          <a:avLst/>
          <a:gdLst/>
          <a:ahLst/>
          <a:cxnLst/>
          <a:rect l="0" t="0" r="0" b="0"/>
          <a:pathLst>
            <a:path>
              <a:moveTo>
                <a:pt x="0" y="0"/>
              </a:moveTo>
              <a:lnTo>
                <a:pt x="0" y="1955042"/>
              </a:lnTo>
              <a:lnTo>
                <a:pt x="155987" y="195504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6119B02-6F74-4B31-BBD1-BC46060E5BC0}">
      <dsp:nvSpPr>
        <dsp:cNvPr id="0" name=""/>
        <dsp:cNvSpPr/>
      </dsp:nvSpPr>
      <dsp:spPr>
        <a:xfrm>
          <a:off x="1837044" y="1996783"/>
          <a:ext cx="155987" cy="1216702"/>
        </a:xfrm>
        <a:custGeom>
          <a:avLst/>
          <a:gdLst/>
          <a:ahLst/>
          <a:cxnLst/>
          <a:rect l="0" t="0" r="0" b="0"/>
          <a:pathLst>
            <a:path>
              <a:moveTo>
                <a:pt x="0" y="0"/>
              </a:moveTo>
              <a:lnTo>
                <a:pt x="0" y="1216702"/>
              </a:lnTo>
              <a:lnTo>
                <a:pt x="155987" y="12167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55DBEAF-1CA7-4ACC-9484-ED7F7BDAEC8B}">
      <dsp:nvSpPr>
        <dsp:cNvPr id="0" name=""/>
        <dsp:cNvSpPr/>
      </dsp:nvSpPr>
      <dsp:spPr>
        <a:xfrm>
          <a:off x="1837044" y="1996783"/>
          <a:ext cx="155987" cy="478361"/>
        </a:xfrm>
        <a:custGeom>
          <a:avLst/>
          <a:gdLst/>
          <a:ahLst/>
          <a:cxnLst/>
          <a:rect l="0" t="0" r="0" b="0"/>
          <a:pathLst>
            <a:path>
              <a:moveTo>
                <a:pt x="0" y="0"/>
              </a:moveTo>
              <a:lnTo>
                <a:pt x="0" y="478361"/>
              </a:lnTo>
              <a:lnTo>
                <a:pt x="155987" y="47836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AB337A2-A5FA-40EF-B8A4-BBC0EEA65125}">
      <dsp:nvSpPr>
        <dsp:cNvPr id="0" name=""/>
        <dsp:cNvSpPr/>
      </dsp:nvSpPr>
      <dsp:spPr>
        <a:xfrm>
          <a:off x="2253011" y="520102"/>
          <a:ext cx="1887448" cy="956723"/>
        </a:xfrm>
        <a:custGeom>
          <a:avLst/>
          <a:gdLst/>
          <a:ahLst/>
          <a:cxnLst/>
          <a:rect l="0" t="0" r="0" b="0"/>
          <a:pathLst>
            <a:path>
              <a:moveTo>
                <a:pt x="1887448" y="0"/>
              </a:moveTo>
              <a:lnTo>
                <a:pt x="1887448" y="847531"/>
              </a:lnTo>
              <a:lnTo>
                <a:pt x="0" y="847531"/>
              </a:lnTo>
              <a:lnTo>
                <a:pt x="0" y="95672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3E0EC0-D75F-4C08-B878-6F8DED4DCB1F}">
      <dsp:nvSpPr>
        <dsp:cNvPr id="0" name=""/>
        <dsp:cNvSpPr/>
      </dsp:nvSpPr>
      <dsp:spPr>
        <a:xfrm>
          <a:off x="1251498" y="1996783"/>
          <a:ext cx="159180" cy="611491"/>
        </a:xfrm>
        <a:custGeom>
          <a:avLst/>
          <a:gdLst/>
          <a:ahLst/>
          <a:cxnLst/>
          <a:rect l="0" t="0" r="0" b="0"/>
          <a:pathLst>
            <a:path>
              <a:moveTo>
                <a:pt x="159180" y="0"/>
              </a:moveTo>
              <a:lnTo>
                <a:pt x="159180" y="611491"/>
              </a:lnTo>
              <a:lnTo>
                <a:pt x="0" y="61149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03D55F-375E-4B4B-8D8F-D5C9736A271B}">
      <dsp:nvSpPr>
        <dsp:cNvPr id="0" name=""/>
        <dsp:cNvSpPr/>
      </dsp:nvSpPr>
      <dsp:spPr>
        <a:xfrm>
          <a:off x="994712" y="520102"/>
          <a:ext cx="3145747" cy="956723"/>
        </a:xfrm>
        <a:custGeom>
          <a:avLst/>
          <a:gdLst/>
          <a:ahLst/>
          <a:cxnLst/>
          <a:rect l="0" t="0" r="0" b="0"/>
          <a:pathLst>
            <a:path>
              <a:moveTo>
                <a:pt x="3145747" y="0"/>
              </a:moveTo>
              <a:lnTo>
                <a:pt x="3145747" y="847531"/>
              </a:lnTo>
              <a:lnTo>
                <a:pt x="0" y="847531"/>
              </a:lnTo>
              <a:lnTo>
                <a:pt x="0" y="95672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64A532C-6854-42B6-96FD-9F4B37264B04}">
      <dsp:nvSpPr>
        <dsp:cNvPr id="0" name=""/>
        <dsp:cNvSpPr/>
      </dsp:nvSpPr>
      <dsp:spPr>
        <a:xfrm>
          <a:off x="3620501" y="144"/>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a:latin typeface="微软雅黑" pitchFamily="34" charset="-122"/>
              <a:ea typeface="微软雅黑" pitchFamily="34" charset="-122"/>
            </a:rPr>
            <a:t>商品部经理</a:t>
          </a:r>
        </a:p>
      </dsp:txBody>
      <dsp:txXfrm>
        <a:off x="3620501" y="144"/>
        <a:ext cx="1039916" cy="519958"/>
      </dsp:txXfrm>
    </dsp:sp>
    <dsp:sp modelId="{AEF867E8-4CC3-4C94-9277-2A62D63F7BB5}">
      <dsp:nvSpPr>
        <dsp:cNvPr id="0" name=""/>
        <dsp:cNvSpPr/>
      </dsp:nvSpPr>
      <dsp:spPr>
        <a:xfrm>
          <a:off x="474754" y="1476825"/>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a:latin typeface="微软雅黑" pitchFamily="34" charset="-122"/>
              <a:ea typeface="微软雅黑" pitchFamily="34" charset="-122"/>
            </a:rPr>
            <a:t>售后组</a:t>
          </a:r>
        </a:p>
      </dsp:txBody>
      <dsp:txXfrm>
        <a:off x="474754" y="1476825"/>
        <a:ext cx="1039916" cy="519958"/>
      </dsp:txXfrm>
    </dsp:sp>
    <dsp:sp modelId="{219AA03F-549D-4C52-BC33-28A622895AC9}">
      <dsp:nvSpPr>
        <dsp:cNvPr id="0" name=""/>
        <dsp:cNvSpPr/>
      </dsp:nvSpPr>
      <dsp:spPr>
        <a:xfrm>
          <a:off x="211582" y="2348296"/>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a:latin typeface="微软雅黑" pitchFamily="34" charset="-122"/>
              <a:ea typeface="微软雅黑" pitchFamily="34" charset="-122"/>
            </a:rPr>
            <a:t>售后专员</a:t>
          </a:r>
        </a:p>
      </dsp:txBody>
      <dsp:txXfrm>
        <a:off x="211582" y="2348296"/>
        <a:ext cx="1039916" cy="519958"/>
      </dsp:txXfrm>
    </dsp:sp>
    <dsp:sp modelId="{599D457B-B396-4454-8206-5AD57EBB0C62}">
      <dsp:nvSpPr>
        <dsp:cNvPr id="0" name=""/>
        <dsp:cNvSpPr/>
      </dsp:nvSpPr>
      <dsp:spPr>
        <a:xfrm>
          <a:off x="1733052" y="1476825"/>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dirty="0">
              <a:latin typeface="微软雅黑" pitchFamily="34" charset="-122"/>
              <a:ea typeface="微软雅黑" pitchFamily="34" charset="-122"/>
            </a:rPr>
            <a:t>直</a:t>
          </a:r>
          <a:r>
            <a:rPr lang="zh-CN" altLang="en-US" sz="1400" kern="1200" dirty="0" smtClean="0">
              <a:latin typeface="微软雅黑" pitchFamily="34" charset="-122"/>
              <a:ea typeface="微软雅黑" pitchFamily="34" charset="-122"/>
            </a:rPr>
            <a:t>营商品组</a:t>
          </a:r>
          <a:endParaRPr lang="zh-CN" altLang="en-US" sz="1400" kern="1200" dirty="0">
            <a:latin typeface="微软雅黑" pitchFamily="34" charset="-122"/>
            <a:ea typeface="微软雅黑" pitchFamily="34" charset="-122"/>
          </a:endParaRPr>
        </a:p>
      </dsp:txBody>
      <dsp:txXfrm>
        <a:off x="1733052" y="1476825"/>
        <a:ext cx="1039916" cy="519958"/>
      </dsp:txXfrm>
    </dsp:sp>
    <dsp:sp modelId="{5EC59B34-DCB2-45B6-9D97-5BF0579362F4}">
      <dsp:nvSpPr>
        <dsp:cNvPr id="0" name=""/>
        <dsp:cNvSpPr/>
      </dsp:nvSpPr>
      <dsp:spPr>
        <a:xfrm>
          <a:off x="1993032" y="2215166"/>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a:latin typeface="微软雅黑" pitchFamily="34" charset="-122"/>
              <a:ea typeface="微软雅黑" pitchFamily="34" charset="-122"/>
            </a:rPr>
            <a:t>商品专员</a:t>
          </a:r>
        </a:p>
      </dsp:txBody>
      <dsp:txXfrm>
        <a:off x="1993032" y="2215166"/>
        <a:ext cx="1039916" cy="519958"/>
      </dsp:txXfrm>
    </dsp:sp>
    <dsp:sp modelId="{C5144B14-77DB-4127-9098-D417581087A3}">
      <dsp:nvSpPr>
        <dsp:cNvPr id="0" name=""/>
        <dsp:cNvSpPr/>
      </dsp:nvSpPr>
      <dsp:spPr>
        <a:xfrm>
          <a:off x="1993032" y="2953506"/>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a:latin typeface="微软雅黑" pitchFamily="34" charset="-122"/>
              <a:ea typeface="微软雅黑" pitchFamily="34" charset="-122"/>
            </a:rPr>
            <a:t>商品专员</a:t>
          </a:r>
        </a:p>
      </dsp:txBody>
      <dsp:txXfrm>
        <a:off x="1993032" y="2953506"/>
        <a:ext cx="1039916" cy="519958"/>
      </dsp:txXfrm>
    </dsp:sp>
    <dsp:sp modelId="{5D7417F9-C603-4FE9-8B43-E93F9A111E08}">
      <dsp:nvSpPr>
        <dsp:cNvPr id="0" name=""/>
        <dsp:cNvSpPr/>
      </dsp:nvSpPr>
      <dsp:spPr>
        <a:xfrm>
          <a:off x="1993032" y="3691847"/>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a:latin typeface="微软雅黑" pitchFamily="34" charset="-122"/>
              <a:ea typeface="微软雅黑" pitchFamily="34" charset="-122"/>
            </a:rPr>
            <a:t>商品专员</a:t>
          </a:r>
        </a:p>
      </dsp:txBody>
      <dsp:txXfrm>
        <a:off x="1993032" y="3691847"/>
        <a:ext cx="1039916" cy="519958"/>
      </dsp:txXfrm>
    </dsp:sp>
    <dsp:sp modelId="{7758349B-B657-426A-9F18-B300B632D8BE}">
      <dsp:nvSpPr>
        <dsp:cNvPr id="0" name=""/>
        <dsp:cNvSpPr/>
      </dsp:nvSpPr>
      <dsp:spPr>
        <a:xfrm>
          <a:off x="1993032" y="4430188"/>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a:latin typeface="微软雅黑" pitchFamily="34" charset="-122"/>
              <a:ea typeface="微软雅黑" pitchFamily="34" charset="-122"/>
            </a:rPr>
            <a:t>商品专员</a:t>
          </a:r>
        </a:p>
      </dsp:txBody>
      <dsp:txXfrm>
        <a:off x="1993032" y="4430188"/>
        <a:ext cx="1039916" cy="519958"/>
      </dsp:txXfrm>
    </dsp:sp>
    <dsp:sp modelId="{92DE0C78-D7C9-469F-963D-13BB598F318F}">
      <dsp:nvSpPr>
        <dsp:cNvPr id="0" name=""/>
        <dsp:cNvSpPr/>
      </dsp:nvSpPr>
      <dsp:spPr>
        <a:xfrm>
          <a:off x="1993032" y="5168528"/>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altLang="zh-CN" sz="1400" kern="1200" dirty="0" smtClean="0">
              <a:latin typeface="微软雅黑" pitchFamily="34" charset="-122"/>
              <a:ea typeface="微软雅黑" pitchFamily="34" charset="-122"/>
            </a:rPr>
            <a:t>…...</a:t>
          </a:r>
          <a:endParaRPr lang="zh-CN" altLang="en-US" sz="1400" kern="1200" dirty="0">
            <a:latin typeface="微软雅黑" pitchFamily="34" charset="-122"/>
            <a:ea typeface="微软雅黑" pitchFamily="34" charset="-122"/>
          </a:endParaRPr>
        </a:p>
      </dsp:txBody>
      <dsp:txXfrm>
        <a:off x="1993032" y="5168528"/>
        <a:ext cx="1039916" cy="519958"/>
      </dsp:txXfrm>
    </dsp:sp>
    <dsp:sp modelId="{06A3F84C-891B-4518-9E0B-4118FB513955}">
      <dsp:nvSpPr>
        <dsp:cNvPr id="0" name=""/>
        <dsp:cNvSpPr/>
      </dsp:nvSpPr>
      <dsp:spPr>
        <a:xfrm>
          <a:off x="2991351" y="1476825"/>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dirty="0">
              <a:latin typeface="微软雅黑" pitchFamily="34" charset="-122"/>
              <a:ea typeface="微软雅黑" pitchFamily="34" charset="-122"/>
            </a:rPr>
            <a:t>督导组</a:t>
          </a:r>
        </a:p>
      </dsp:txBody>
      <dsp:txXfrm>
        <a:off x="2991351" y="1476825"/>
        <a:ext cx="1039916" cy="519958"/>
      </dsp:txXfrm>
    </dsp:sp>
    <dsp:sp modelId="{BE55854F-5760-4859-B8D7-9FC9F396E531}">
      <dsp:nvSpPr>
        <dsp:cNvPr id="0" name=""/>
        <dsp:cNvSpPr/>
      </dsp:nvSpPr>
      <dsp:spPr>
        <a:xfrm>
          <a:off x="3251330" y="2215166"/>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dirty="0">
              <a:latin typeface="微软雅黑" pitchFamily="34" charset="-122"/>
              <a:ea typeface="微软雅黑" pitchFamily="34" charset="-122"/>
            </a:rPr>
            <a:t>商品督导</a:t>
          </a:r>
        </a:p>
      </dsp:txBody>
      <dsp:txXfrm>
        <a:off x="3251330" y="2215166"/>
        <a:ext cx="1039916" cy="519958"/>
      </dsp:txXfrm>
    </dsp:sp>
    <dsp:sp modelId="{1423FBC7-65AF-4ABC-AC77-CFCF5D9E09E1}">
      <dsp:nvSpPr>
        <dsp:cNvPr id="0" name=""/>
        <dsp:cNvSpPr/>
      </dsp:nvSpPr>
      <dsp:spPr>
        <a:xfrm>
          <a:off x="3251330" y="2953506"/>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dirty="0">
              <a:latin typeface="微软雅黑" pitchFamily="34" charset="-122"/>
              <a:ea typeface="微软雅黑" pitchFamily="34" charset="-122"/>
            </a:rPr>
            <a:t>商品督导</a:t>
          </a:r>
        </a:p>
      </dsp:txBody>
      <dsp:txXfrm>
        <a:off x="3251330" y="2953506"/>
        <a:ext cx="1039916" cy="519958"/>
      </dsp:txXfrm>
    </dsp:sp>
    <dsp:sp modelId="{381540DE-FD89-41E4-B004-4140D5BEB0D8}">
      <dsp:nvSpPr>
        <dsp:cNvPr id="0" name=""/>
        <dsp:cNvSpPr/>
      </dsp:nvSpPr>
      <dsp:spPr>
        <a:xfrm>
          <a:off x="3251330" y="3691847"/>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altLang="zh-CN" sz="1400" kern="1200" dirty="0" smtClean="0">
              <a:latin typeface="微软雅黑" pitchFamily="34" charset="-122"/>
              <a:ea typeface="微软雅黑" pitchFamily="34" charset="-122"/>
            </a:rPr>
            <a:t>……</a:t>
          </a:r>
          <a:endParaRPr lang="zh-CN" altLang="en-US" sz="1400" kern="1200" dirty="0">
            <a:latin typeface="微软雅黑" pitchFamily="34" charset="-122"/>
            <a:ea typeface="微软雅黑" pitchFamily="34" charset="-122"/>
          </a:endParaRPr>
        </a:p>
      </dsp:txBody>
      <dsp:txXfrm>
        <a:off x="3251330" y="3691847"/>
        <a:ext cx="1039916" cy="519958"/>
      </dsp:txXfrm>
    </dsp:sp>
    <dsp:sp modelId="{AC5D702E-D598-4FA2-A8AB-677F8BFF1F2A}">
      <dsp:nvSpPr>
        <dsp:cNvPr id="0" name=""/>
        <dsp:cNvSpPr/>
      </dsp:nvSpPr>
      <dsp:spPr>
        <a:xfrm>
          <a:off x="4249650" y="1476825"/>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a:latin typeface="微软雅黑" pitchFamily="34" charset="-122"/>
              <a:ea typeface="微软雅黑" pitchFamily="34" charset="-122"/>
            </a:rPr>
            <a:t>采购组</a:t>
          </a:r>
        </a:p>
      </dsp:txBody>
      <dsp:txXfrm>
        <a:off x="4249650" y="1476825"/>
        <a:ext cx="1039916" cy="519958"/>
      </dsp:txXfrm>
    </dsp:sp>
    <dsp:sp modelId="{241F682E-586D-4120-9535-E43457931D51}">
      <dsp:nvSpPr>
        <dsp:cNvPr id="0" name=""/>
        <dsp:cNvSpPr/>
      </dsp:nvSpPr>
      <dsp:spPr>
        <a:xfrm>
          <a:off x="4509629" y="2215166"/>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dirty="0" smtClean="0">
              <a:latin typeface="微软雅黑" pitchFamily="34" charset="-122"/>
              <a:ea typeface="微软雅黑" pitchFamily="34" charset="-122"/>
            </a:rPr>
            <a:t>跟单员</a:t>
          </a:r>
          <a:endParaRPr lang="zh-CN" altLang="en-US" sz="1400" kern="1200" dirty="0">
            <a:latin typeface="微软雅黑" pitchFamily="34" charset="-122"/>
            <a:ea typeface="微软雅黑" pitchFamily="34" charset="-122"/>
          </a:endParaRPr>
        </a:p>
      </dsp:txBody>
      <dsp:txXfrm>
        <a:off x="4509629" y="2215166"/>
        <a:ext cx="1039916" cy="519958"/>
      </dsp:txXfrm>
    </dsp:sp>
    <dsp:sp modelId="{60ECE4D8-273E-4AD4-BFCA-50809AB69E39}">
      <dsp:nvSpPr>
        <dsp:cNvPr id="0" name=""/>
        <dsp:cNvSpPr/>
      </dsp:nvSpPr>
      <dsp:spPr>
        <a:xfrm>
          <a:off x="4509629" y="2953506"/>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a:latin typeface="微软雅黑" pitchFamily="34" charset="-122"/>
              <a:ea typeface="微软雅黑" pitchFamily="34" charset="-122"/>
            </a:rPr>
            <a:t>买手</a:t>
          </a:r>
        </a:p>
      </dsp:txBody>
      <dsp:txXfrm>
        <a:off x="4509629" y="2953506"/>
        <a:ext cx="1039916" cy="519958"/>
      </dsp:txXfrm>
    </dsp:sp>
    <dsp:sp modelId="{05E333A4-FA62-4CE2-9CEE-C06154D4C1A5}">
      <dsp:nvSpPr>
        <dsp:cNvPr id="0" name=""/>
        <dsp:cNvSpPr/>
      </dsp:nvSpPr>
      <dsp:spPr>
        <a:xfrm>
          <a:off x="4509629" y="3691847"/>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a:latin typeface="微软雅黑" pitchFamily="34" charset="-122"/>
              <a:ea typeface="微软雅黑" pitchFamily="34" charset="-122"/>
            </a:rPr>
            <a:t>买手</a:t>
          </a:r>
        </a:p>
      </dsp:txBody>
      <dsp:txXfrm>
        <a:off x="4509629" y="3691847"/>
        <a:ext cx="1039916" cy="519958"/>
      </dsp:txXfrm>
    </dsp:sp>
    <dsp:sp modelId="{692EB222-5F67-4EF0-9676-1D2597533B68}">
      <dsp:nvSpPr>
        <dsp:cNvPr id="0" name=""/>
        <dsp:cNvSpPr/>
      </dsp:nvSpPr>
      <dsp:spPr>
        <a:xfrm>
          <a:off x="4509629" y="4430188"/>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altLang="zh-CN" sz="1400" kern="1200" dirty="0" smtClean="0">
              <a:latin typeface="微软雅黑" pitchFamily="34" charset="-122"/>
              <a:ea typeface="微软雅黑" pitchFamily="34" charset="-122"/>
            </a:rPr>
            <a:t>…...</a:t>
          </a:r>
          <a:endParaRPr lang="zh-CN" altLang="en-US" sz="1400" kern="1200" dirty="0">
            <a:latin typeface="微软雅黑" pitchFamily="34" charset="-122"/>
            <a:ea typeface="微软雅黑" pitchFamily="34" charset="-122"/>
          </a:endParaRPr>
        </a:p>
      </dsp:txBody>
      <dsp:txXfrm>
        <a:off x="4509629" y="4430188"/>
        <a:ext cx="1039916" cy="519958"/>
      </dsp:txXfrm>
    </dsp:sp>
    <dsp:sp modelId="{B6B560B6-5EC0-42BF-8B5A-A174E31DE4B4}">
      <dsp:nvSpPr>
        <dsp:cNvPr id="0" name=""/>
        <dsp:cNvSpPr/>
      </dsp:nvSpPr>
      <dsp:spPr>
        <a:xfrm>
          <a:off x="5507949" y="1476825"/>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a:latin typeface="微软雅黑" pitchFamily="34" charset="-122"/>
              <a:ea typeface="微软雅黑" pitchFamily="34" charset="-122"/>
            </a:rPr>
            <a:t>市场组</a:t>
          </a:r>
        </a:p>
      </dsp:txBody>
      <dsp:txXfrm>
        <a:off x="5507949" y="1476825"/>
        <a:ext cx="1039916" cy="519958"/>
      </dsp:txXfrm>
    </dsp:sp>
    <dsp:sp modelId="{B20A4089-FFC4-4293-9F88-800ED7634A6B}">
      <dsp:nvSpPr>
        <dsp:cNvPr id="0" name=""/>
        <dsp:cNvSpPr/>
      </dsp:nvSpPr>
      <dsp:spPr>
        <a:xfrm>
          <a:off x="5767928" y="2215166"/>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a:latin typeface="微软雅黑" pitchFamily="34" charset="-122"/>
              <a:ea typeface="微软雅黑" pitchFamily="34" charset="-122"/>
            </a:rPr>
            <a:t>商品专员</a:t>
          </a:r>
        </a:p>
      </dsp:txBody>
      <dsp:txXfrm>
        <a:off x="5767928" y="2215166"/>
        <a:ext cx="1039916" cy="519958"/>
      </dsp:txXfrm>
    </dsp:sp>
    <dsp:sp modelId="{3D7EB78F-F05F-411A-A995-460123444B7B}">
      <dsp:nvSpPr>
        <dsp:cNvPr id="0" name=""/>
        <dsp:cNvSpPr/>
      </dsp:nvSpPr>
      <dsp:spPr>
        <a:xfrm>
          <a:off x="6766248" y="1476825"/>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a:latin typeface="微软雅黑" pitchFamily="34" charset="-122"/>
              <a:ea typeface="微软雅黑" pitchFamily="34" charset="-122"/>
            </a:rPr>
            <a:t>信息组</a:t>
          </a:r>
        </a:p>
      </dsp:txBody>
      <dsp:txXfrm>
        <a:off x="6766248" y="1476825"/>
        <a:ext cx="1039916" cy="519958"/>
      </dsp:txXfrm>
    </dsp:sp>
    <dsp:sp modelId="{376EF23C-590D-4D71-9DDB-406440306492}">
      <dsp:nvSpPr>
        <dsp:cNvPr id="0" name=""/>
        <dsp:cNvSpPr/>
      </dsp:nvSpPr>
      <dsp:spPr>
        <a:xfrm>
          <a:off x="7026227" y="2215166"/>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a:latin typeface="微软雅黑" pitchFamily="34" charset="-122"/>
              <a:ea typeface="微软雅黑" pitchFamily="34" charset="-122"/>
            </a:rPr>
            <a:t>直营数据</a:t>
          </a:r>
        </a:p>
      </dsp:txBody>
      <dsp:txXfrm>
        <a:off x="7026227" y="2215166"/>
        <a:ext cx="1039916" cy="519958"/>
      </dsp:txXfrm>
    </dsp:sp>
    <dsp:sp modelId="{B02CDEA7-2177-4B9A-AD2B-A125969A07F8}">
      <dsp:nvSpPr>
        <dsp:cNvPr id="0" name=""/>
        <dsp:cNvSpPr/>
      </dsp:nvSpPr>
      <dsp:spPr>
        <a:xfrm>
          <a:off x="7026227" y="2953506"/>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a:latin typeface="微软雅黑" pitchFamily="34" charset="-122"/>
              <a:ea typeface="微软雅黑" pitchFamily="34" charset="-122"/>
            </a:rPr>
            <a:t>市场数据</a:t>
          </a:r>
        </a:p>
      </dsp:txBody>
      <dsp:txXfrm>
        <a:off x="7026227" y="2953506"/>
        <a:ext cx="1039916" cy="519958"/>
      </dsp:txXfrm>
    </dsp:sp>
    <dsp:sp modelId="{4284709F-09C3-4185-BE39-0DDA8826D1B8}">
      <dsp:nvSpPr>
        <dsp:cNvPr id="0" name=""/>
        <dsp:cNvSpPr/>
      </dsp:nvSpPr>
      <dsp:spPr>
        <a:xfrm>
          <a:off x="2991351" y="738484"/>
          <a:ext cx="1039916" cy="519958"/>
        </a:xfrm>
        <a:prstGeom prst="rect">
          <a:avLst/>
        </a:prstGeom>
        <a:solidFill>
          <a:schemeClr val="lt1"/>
        </a:solidFill>
        <a:ln w="25400" cap="flat"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400" kern="1200">
              <a:latin typeface="微软雅黑" pitchFamily="34" charset="-122"/>
              <a:ea typeface="微软雅黑" pitchFamily="34" charset="-122"/>
            </a:rPr>
            <a:t>商品部主管</a:t>
          </a:r>
        </a:p>
      </dsp:txBody>
      <dsp:txXfrm>
        <a:off x="2991351" y="738484"/>
        <a:ext cx="1039916" cy="51995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6C0B3B-97F8-449B-8AB8-08AB27881A10}" type="slidenum">
              <a:rPr lang="zh-CN" altLang="en-US" smtClean="0"/>
              <a:t>‹#›</a:t>
            </a:fld>
            <a:endParaRPr lang="zh-CN" altLang="en-US"/>
          </a:p>
        </p:txBody>
      </p:sp>
      <p:pic>
        <p:nvPicPr>
          <p:cNvPr id="1026" name="Picture 2" descr="意尔康LOGO"/>
          <p:cNvPicPr>
            <a:picLocks noChangeAspect="1" noChangeArrowheads="1"/>
          </p:cNvPicPr>
          <p:nvPr/>
        </p:nvPicPr>
        <p:blipFill>
          <a:blip r:embed="rId2" cstate="print"/>
          <a:srcRect/>
          <a:stretch>
            <a:fillRect/>
          </a:stretch>
        </p:blipFill>
        <p:spPr bwMode="auto">
          <a:xfrm>
            <a:off x="7858148" y="142852"/>
            <a:ext cx="1000126" cy="266700"/>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D9EA10D-1D15-416A-ABBF-9AE12B21935D}" type="datetimeFigureOut">
              <a:rPr lang="zh-CN" altLang="en-US" smtClean="0"/>
              <a:t>2014-06-14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6C0B3B-97F8-449B-8AB8-08AB27881A10}"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CD9EA10D-1D15-416A-ABBF-9AE12B21935D}" type="datetimeFigureOut">
              <a:rPr lang="zh-CN" altLang="en-US" smtClean="0"/>
              <a:t>2014-06-14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6C0B3B-97F8-449B-8AB8-08AB27881A10}"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CD9EA10D-1D15-416A-ABBF-9AE12B21935D}" type="datetimeFigureOut">
              <a:rPr lang="zh-CN" altLang="en-US" smtClean="0"/>
              <a:t>2014-06-14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A6C0B3B-97F8-449B-8AB8-08AB27881A10}"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D9EA10D-1D15-416A-ABBF-9AE12B21935D}" type="datetimeFigureOut">
              <a:rPr lang="zh-CN" altLang="en-US" smtClean="0"/>
              <a:t>2014-06-14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A6C0B3B-97F8-449B-8AB8-08AB27881A10}"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CD9EA10D-1D15-416A-ABBF-9AE12B21935D}" type="datetimeFigureOut">
              <a:rPr lang="zh-CN" altLang="en-US" smtClean="0"/>
              <a:t>2014-06-14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A6C0B3B-97F8-449B-8AB8-08AB27881A1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D9EA10D-1D15-416A-ABBF-9AE12B21935D}" type="datetimeFigureOut">
              <a:rPr lang="zh-CN" altLang="en-US" smtClean="0"/>
              <a:t>2014-06-14</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D9EA10D-1D15-416A-ABBF-9AE12B21935D}" type="datetimeFigureOut">
              <a:rPr lang="zh-CN" altLang="en-US" smtClean="0"/>
              <a:t>2014-06-14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A6C0B3B-97F8-449B-8AB8-08AB27881A1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D9EA10D-1D15-416A-ABBF-9AE12B21935D}" type="datetimeFigureOut">
              <a:rPr lang="zh-CN" altLang="en-US" smtClean="0"/>
              <a:t>2014-06-14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A6C0B3B-97F8-449B-8AB8-08AB27881A1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D9EA10D-1D15-416A-ABBF-9AE12B21935D}" type="datetimeFigureOut">
              <a:rPr lang="zh-CN" altLang="en-US" smtClean="0"/>
              <a:t>2014-06-14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6C0B3B-97F8-449B-8AB8-08AB27881A1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D9EA10D-1D15-416A-ABBF-9AE12B21935D}" type="datetimeFigureOut">
              <a:rPr lang="zh-CN" altLang="en-US" smtClean="0"/>
              <a:t>2014-06-14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6C0B3B-97F8-449B-8AB8-08AB27881A10}"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9EA10D-1D15-416A-ABBF-9AE12B21935D}" type="datetimeFigureOut">
              <a:rPr lang="zh-CN" altLang="en-US" smtClean="0"/>
              <a:t>2014-06-14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6C0B3B-97F8-449B-8AB8-08AB27881A10}" type="slidenum">
              <a:rPr lang="zh-CN" altLang="en-US" smtClean="0"/>
              <a:t>‹#›</a:t>
            </a:fld>
            <a:endParaRPr lang="zh-CN" altLang="en-US"/>
          </a:p>
        </p:txBody>
      </p:sp>
      <p:sp>
        <p:nvSpPr>
          <p:cNvPr id="7" name="日期占位符 3"/>
          <p:cNvSpPr txBox="1">
            <a:spLocks/>
          </p:cNvSpPr>
          <p:nvPr/>
        </p:nvSpPr>
        <p:spPr>
          <a:xfrm>
            <a:off x="142844" y="6494507"/>
            <a:ext cx="2257412" cy="292079"/>
          </a:xfrm>
          <a:prstGeom prst="rect">
            <a:avLst/>
          </a:prstGeom>
        </p:spPr>
        <p:txBody>
          <a:bodyPr/>
          <a:lstStyle>
            <a:lvl1pPr>
              <a:defRPr b="1" i="1">
                <a:latin typeface="微软雅黑" pitchFamily="34" charset="-122"/>
                <a:ea typeface="微软雅黑"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1" u="none" strike="noStrike" kern="1200" cap="none" spc="0" normalizeH="0" baseline="0" noProof="0" dirty="0" smtClean="0">
                <a:ln>
                  <a:noFill/>
                </a:ln>
                <a:solidFill>
                  <a:schemeClr val="tx1"/>
                </a:solidFill>
                <a:effectLst/>
                <a:uLnTx/>
                <a:uFillTx/>
                <a:latin typeface="微软雅黑" pitchFamily="34" charset="-122"/>
                <a:ea typeface="微软雅黑" pitchFamily="34" charset="-122"/>
                <a:cs typeface="+mn-cs"/>
              </a:rPr>
              <a:t>倾心所在   足有最爱</a:t>
            </a:r>
          </a:p>
        </p:txBody>
      </p:sp>
      <p:pic>
        <p:nvPicPr>
          <p:cNvPr id="8" name="Picture 2" descr="意尔康LOGO"/>
          <p:cNvPicPr>
            <a:picLocks noChangeAspect="1" noChangeArrowheads="1"/>
          </p:cNvPicPr>
          <p:nvPr/>
        </p:nvPicPr>
        <p:blipFill>
          <a:blip r:embed="rId13" cstate="print"/>
          <a:srcRect/>
          <a:stretch>
            <a:fillRect/>
          </a:stretch>
        </p:blipFill>
        <p:spPr bwMode="auto">
          <a:xfrm>
            <a:off x="7858147" y="142852"/>
            <a:ext cx="1058163" cy="2667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Word___1.docx"/><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Word___2.docx"/><Relationship Id="rId2" Type="http://schemas.openxmlformats.org/officeDocument/2006/relationships/slideLayout" Target="../slideLayouts/slideLayout1.xml"/><Relationship Id="rId1" Type="http://schemas.openxmlformats.org/officeDocument/2006/relationships/vmlDrawing" Target="../drawings/vmlDrawing2.vml"/><Relationship Id="rId4" Type="http://schemas.openxmlformats.org/officeDocument/2006/relationships/image" Target="../media/image4.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Word___3.docx"/><Relationship Id="rId2" Type="http://schemas.openxmlformats.org/officeDocument/2006/relationships/slideLayout" Target="../slideLayouts/slideLayout1.xml"/><Relationship Id="rId1" Type="http://schemas.openxmlformats.org/officeDocument/2006/relationships/vmlDrawing" Target="../drawings/vmlDrawing3.vml"/><Relationship Id="rId4" Type="http://schemas.openxmlformats.org/officeDocument/2006/relationships/image" Target="../media/image5.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Word___4.docx"/><Relationship Id="rId2" Type="http://schemas.openxmlformats.org/officeDocument/2006/relationships/slideLayout" Target="../slideLayouts/slideLayout1.xml"/><Relationship Id="rId1" Type="http://schemas.openxmlformats.org/officeDocument/2006/relationships/vmlDrawing" Target="../drawings/vmlDrawing4.vml"/><Relationship Id="rId4" Type="http://schemas.openxmlformats.org/officeDocument/2006/relationships/image" Target="../media/image6.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package" Target="../embeddings/Microsoft_Word___5.docx"/><Relationship Id="rId2" Type="http://schemas.openxmlformats.org/officeDocument/2006/relationships/slideLayout" Target="../slideLayouts/slideLayout1.xml"/><Relationship Id="rId1" Type="http://schemas.openxmlformats.org/officeDocument/2006/relationships/vmlDrawing" Target="../drawings/vmlDrawing5.vml"/><Relationship Id="rId4" Type="http://schemas.openxmlformats.org/officeDocument/2006/relationships/image" Target="../media/image7.wmf"/></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package" Target="../embeddings/Microsoft_Excel____6.xlsx"/><Relationship Id="rId2" Type="http://schemas.openxmlformats.org/officeDocument/2006/relationships/slideLayout" Target="../slideLayouts/slideLayout1.xml"/><Relationship Id="rId1" Type="http://schemas.openxmlformats.org/officeDocument/2006/relationships/vmlDrawing" Target="../drawings/vmlDrawing6.vml"/><Relationship Id="rId4" Type="http://schemas.openxmlformats.org/officeDocument/2006/relationships/image" Target="../media/image9.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Microsoft_PowerPoint_97-2003_____1.ppt"/><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image" Target="../media/image11.wmf"/><Relationship Id="rId5" Type="http://schemas.openxmlformats.org/officeDocument/2006/relationships/package" Target="../embeddings/Microsoft_Word___7.docx"/><Relationship Id="rId4" Type="http://schemas.openxmlformats.org/officeDocument/2006/relationships/image" Target="../media/image10.wmf"/></Relationships>
</file>

<file path=ppt/slides/_rels/slide29.xml.rels><?xml version="1.0" encoding="UTF-8" standalone="yes"?>
<Relationships xmlns="http://schemas.openxmlformats.org/package/2006/relationships"><Relationship Id="rId3" Type="http://schemas.openxmlformats.org/officeDocument/2006/relationships/package" Target="../embeddings/Microsoft_Excel____8.xlsx"/><Relationship Id="rId2" Type="http://schemas.openxmlformats.org/officeDocument/2006/relationships/slideLayout" Target="../slideLayouts/slideLayout1.xml"/><Relationship Id="rId1" Type="http://schemas.openxmlformats.org/officeDocument/2006/relationships/vmlDrawing" Target="../drawings/vmlDrawing8.vml"/><Relationship Id="rId4" Type="http://schemas.openxmlformats.org/officeDocument/2006/relationships/image" Target="../media/image12.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Word___9.docx"/><Relationship Id="rId2" Type="http://schemas.openxmlformats.org/officeDocument/2006/relationships/slideLayout" Target="../slideLayouts/slideLayout1.xml"/><Relationship Id="rId1" Type="http://schemas.openxmlformats.org/officeDocument/2006/relationships/vmlDrawing" Target="../drawings/vmlDrawing9.vml"/><Relationship Id="rId6" Type="http://schemas.openxmlformats.org/officeDocument/2006/relationships/image" Target="../media/image14.wmf"/><Relationship Id="rId5" Type="http://schemas.openxmlformats.org/officeDocument/2006/relationships/package" Target="../embeddings/Microsoft_Excel____10.xlsx"/><Relationship Id="rId4" Type="http://schemas.openxmlformats.org/officeDocument/2006/relationships/image" Target="../media/image13.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package" Target="../embeddings/Microsoft_Excel____11.xlsx"/><Relationship Id="rId2" Type="http://schemas.openxmlformats.org/officeDocument/2006/relationships/slideLayout" Target="../slideLayouts/slideLayout1.xml"/><Relationship Id="rId1" Type="http://schemas.openxmlformats.org/officeDocument/2006/relationships/vmlDrawing" Target="../drawings/vmlDrawing10.vml"/><Relationship Id="rId6" Type="http://schemas.openxmlformats.org/officeDocument/2006/relationships/image" Target="../media/image16.wmf"/><Relationship Id="rId5" Type="http://schemas.openxmlformats.org/officeDocument/2006/relationships/package" Target="../embeddings/Microsoft_Excel____12.xlsx"/><Relationship Id="rId4" Type="http://schemas.openxmlformats.org/officeDocument/2006/relationships/image" Target="../media/image15.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package" Target="../embeddings/Microsoft_Excel____13.xlsx"/><Relationship Id="rId2" Type="http://schemas.openxmlformats.org/officeDocument/2006/relationships/slideLayout" Target="../slideLayouts/slideLayout1.xml"/><Relationship Id="rId1" Type="http://schemas.openxmlformats.org/officeDocument/2006/relationships/vmlDrawing" Target="../drawings/vmlDrawing11.vml"/><Relationship Id="rId4" Type="http://schemas.openxmlformats.org/officeDocument/2006/relationships/image" Target="../media/image17.wmf"/></Relationships>
</file>

<file path=ppt/slides/_rels/slide47.xml.rels><?xml version="1.0" encoding="UTF-8" standalone="yes"?>
<Relationships xmlns="http://schemas.openxmlformats.org/package/2006/relationships"><Relationship Id="rId3" Type="http://schemas.openxmlformats.org/officeDocument/2006/relationships/package" Target="../embeddings/Microsoft_Excel____14.xlsx"/><Relationship Id="rId2" Type="http://schemas.openxmlformats.org/officeDocument/2006/relationships/slideLayout" Target="../slideLayouts/slideLayout1.xml"/><Relationship Id="rId1" Type="http://schemas.openxmlformats.org/officeDocument/2006/relationships/vmlDrawing" Target="../drawings/vmlDrawing12.vml"/><Relationship Id="rId6" Type="http://schemas.openxmlformats.org/officeDocument/2006/relationships/image" Target="../media/image18.wmf"/><Relationship Id="rId5" Type="http://schemas.openxmlformats.org/officeDocument/2006/relationships/package" Target="../embeddings/Microsoft_Excel____15.xlsx"/><Relationship Id="rId4" Type="http://schemas.openxmlformats.org/officeDocument/2006/relationships/image" Target="../media/image17.wmf"/></Relationships>
</file>

<file path=ppt/slides/_rels/slide48.xml.rels><?xml version="1.0" encoding="UTF-8" standalone="yes"?>
<Relationships xmlns="http://schemas.openxmlformats.org/package/2006/relationships"><Relationship Id="rId3" Type="http://schemas.openxmlformats.org/officeDocument/2006/relationships/package" Target="../embeddings/Microsoft_Word___16.docx"/><Relationship Id="rId2" Type="http://schemas.openxmlformats.org/officeDocument/2006/relationships/slideLayout" Target="../slideLayouts/slideLayout1.xml"/><Relationship Id="rId1" Type="http://schemas.openxmlformats.org/officeDocument/2006/relationships/vmlDrawing" Target="../drawings/vmlDrawing13.vml"/><Relationship Id="rId6" Type="http://schemas.openxmlformats.org/officeDocument/2006/relationships/image" Target="../media/image20.wmf"/><Relationship Id="rId5" Type="http://schemas.openxmlformats.org/officeDocument/2006/relationships/package" Target="../embeddings/Microsoft_Excel____17.xlsx"/><Relationship Id="rId4" Type="http://schemas.openxmlformats.org/officeDocument/2006/relationships/image" Target="../media/image19.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36850" y="1844824"/>
            <a:ext cx="5256584" cy="769441"/>
          </a:xfrm>
          <a:prstGeom prst="rect">
            <a:avLst/>
          </a:prstGeom>
          <a:noFill/>
        </p:spPr>
        <p:txBody>
          <a:bodyPr wrap="square" rtlCol="0">
            <a:spAutoFit/>
          </a:bodyPr>
          <a:lstStyle/>
          <a:p>
            <a:pPr algn="ctr"/>
            <a:r>
              <a:rPr lang="zh-CN" altLang="en-US" sz="4400" b="1" dirty="0" smtClean="0">
                <a:latin typeface="微软雅黑" pitchFamily="34" charset="-122"/>
                <a:ea typeface="微软雅黑" pitchFamily="34" charset="-122"/>
              </a:rPr>
              <a:t>商品运营体系</a:t>
            </a:r>
            <a:endParaRPr lang="zh-CN" altLang="en-US" sz="4400" b="1" dirty="0">
              <a:latin typeface="微软雅黑" pitchFamily="34" charset="-122"/>
              <a:ea typeface="微软雅黑" pitchFamily="34" charset="-122"/>
            </a:endParaRPr>
          </a:p>
        </p:txBody>
      </p:sp>
    </p:spTree>
    <p:extLst>
      <p:ext uri="{BB962C8B-B14F-4D97-AF65-F5344CB8AC3E}">
        <p14:creationId xmlns:p14="http://schemas.microsoft.com/office/powerpoint/2010/main" val="767027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99592" y="1556792"/>
            <a:ext cx="1015663" cy="2880320"/>
          </a:xfrm>
          <a:prstGeom prst="rect">
            <a:avLst/>
          </a:prstGeom>
          <a:noFill/>
        </p:spPr>
        <p:txBody>
          <a:bodyPr vert="eaVert" wrap="square" rtlCol="0">
            <a:spAutoFit/>
          </a:bodyPr>
          <a:lstStyle/>
          <a:p>
            <a:pPr algn="ctr"/>
            <a:r>
              <a:rPr lang="zh-CN" altLang="en-US" sz="5400" dirty="0" smtClean="0">
                <a:latin typeface="微软雅黑" pitchFamily="34" charset="-122"/>
                <a:ea typeface="微软雅黑" pitchFamily="34" charset="-122"/>
              </a:rPr>
              <a:t>目      录</a:t>
            </a:r>
            <a:endParaRPr lang="zh-CN" altLang="en-US" sz="5400" dirty="0">
              <a:latin typeface="微软雅黑" pitchFamily="34" charset="-122"/>
              <a:ea typeface="微软雅黑" pitchFamily="34" charset="-122"/>
            </a:endParaRPr>
          </a:p>
        </p:txBody>
      </p:sp>
      <p:sp>
        <p:nvSpPr>
          <p:cNvPr id="5" name="TextBox 4"/>
          <p:cNvSpPr txBox="1"/>
          <p:nvPr/>
        </p:nvSpPr>
        <p:spPr>
          <a:xfrm>
            <a:off x="2527496" y="1556792"/>
            <a:ext cx="4032448" cy="461665"/>
          </a:xfrm>
          <a:prstGeom prst="rect">
            <a:avLst/>
          </a:prstGeom>
          <a:noFill/>
        </p:spPr>
        <p:txBody>
          <a:bodyPr wrap="square" rtlCol="0">
            <a:spAutoFit/>
          </a:bodyPr>
          <a:lstStyle/>
          <a:p>
            <a:r>
              <a:rPr lang="zh-CN" altLang="en-US" sz="2400" dirty="0" smtClean="0">
                <a:latin typeface="微软雅黑" pitchFamily="34" charset="-122"/>
                <a:ea typeface="微软雅黑" pitchFamily="34" charset="-122"/>
              </a:rPr>
              <a:t>第一篇  商品部的构架与职责</a:t>
            </a:r>
            <a:endParaRPr lang="zh-CN" altLang="en-US" sz="2400" dirty="0">
              <a:latin typeface="微软雅黑" pitchFamily="34" charset="-122"/>
              <a:ea typeface="微软雅黑" pitchFamily="34" charset="-122"/>
            </a:endParaRPr>
          </a:p>
        </p:txBody>
      </p:sp>
      <p:sp>
        <p:nvSpPr>
          <p:cNvPr id="6" name="TextBox 5"/>
          <p:cNvSpPr txBox="1"/>
          <p:nvPr/>
        </p:nvSpPr>
        <p:spPr>
          <a:xfrm>
            <a:off x="2527496" y="3028310"/>
            <a:ext cx="4032448" cy="461665"/>
          </a:xfrm>
          <a:prstGeom prst="rect">
            <a:avLst/>
          </a:prstGeom>
          <a:noFill/>
        </p:spPr>
        <p:txBody>
          <a:bodyPr wrap="square" rtlCol="0">
            <a:spAutoFit/>
          </a:bodyPr>
          <a:lstStyle/>
          <a:p>
            <a:r>
              <a:rPr lang="zh-CN" altLang="en-US" sz="2400" dirty="0" smtClean="0">
                <a:latin typeface="微软雅黑" pitchFamily="34" charset="-122"/>
                <a:ea typeface="微软雅黑" pitchFamily="34" charset="-122"/>
              </a:rPr>
              <a:t>第二篇  分销货品管理体系</a:t>
            </a:r>
            <a:endParaRPr lang="zh-CN" altLang="en-US" sz="2400" dirty="0">
              <a:latin typeface="微软雅黑" pitchFamily="34" charset="-122"/>
              <a:ea typeface="微软雅黑" pitchFamily="34" charset="-122"/>
            </a:endParaRPr>
          </a:p>
        </p:txBody>
      </p:sp>
      <p:sp>
        <p:nvSpPr>
          <p:cNvPr id="7" name="TextBox 6"/>
          <p:cNvSpPr txBox="1"/>
          <p:nvPr/>
        </p:nvSpPr>
        <p:spPr>
          <a:xfrm>
            <a:off x="2555776" y="4468470"/>
            <a:ext cx="4032448" cy="461665"/>
          </a:xfrm>
          <a:prstGeom prst="rect">
            <a:avLst/>
          </a:prstGeom>
          <a:noFill/>
        </p:spPr>
        <p:txBody>
          <a:bodyPr wrap="square" rtlCol="0">
            <a:spAutoFit/>
          </a:bodyPr>
          <a:lstStyle/>
          <a:p>
            <a:r>
              <a:rPr lang="zh-CN" altLang="en-US" sz="2400" dirty="0" smtClean="0">
                <a:latin typeface="微软雅黑" pitchFamily="34" charset="-122"/>
                <a:ea typeface="微软雅黑" pitchFamily="34" charset="-122"/>
              </a:rPr>
              <a:t>第三篇  直营货品管理体系</a:t>
            </a:r>
            <a:endParaRPr lang="zh-CN" altLang="en-US" sz="2400" dirty="0">
              <a:latin typeface="微软雅黑" pitchFamily="34" charset="-122"/>
              <a:ea typeface="微软雅黑" pitchFamily="34" charset="-122"/>
            </a:endParaRPr>
          </a:p>
        </p:txBody>
      </p:sp>
    </p:spTree>
    <p:extLst>
      <p:ext uri="{BB962C8B-B14F-4D97-AF65-F5344CB8AC3E}">
        <p14:creationId xmlns:p14="http://schemas.microsoft.com/office/powerpoint/2010/main" val="1841280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59632" y="1484784"/>
            <a:ext cx="6336704" cy="584775"/>
          </a:xfrm>
          <a:prstGeom prst="rect">
            <a:avLst/>
          </a:prstGeom>
          <a:noFill/>
        </p:spPr>
        <p:txBody>
          <a:bodyPr wrap="square" rtlCol="0">
            <a:spAutoFit/>
          </a:bodyPr>
          <a:lstStyle/>
          <a:p>
            <a:pPr algn="ctr"/>
            <a:r>
              <a:rPr lang="zh-CN" altLang="en-US" sz="3200" dirty="0" smtClean="0">
                <a:latin typeface="微软雅黑" pitchFamily="34" charset="-122"/>
                <a:ea typeface="微软雅黑" pitchFamily="34" charset="-122"/>
              </a:rPr>
              <a:t>第一篇  商品部的构架与职责</a:t>
            </a:r>
            <a:endParaRPr lang="zh-CN" altLang="en-US" sz="3200" dirty="0">
              <a:latin typeface="微软雅黑" pitchFamily="34" charset="-122"/>
              <a:ea typeface="微软雅黑" pitchFamily="34" charset="-122"/>
            </a:endParaRPr>
          </a:p>
        </p:txBody>
      </p:sp>
      <p:sp>
        <p:nvSpPr>
          <p:cNvPr id="4" name="TextBox 3"/>
          <p:cNvSpPr txBox="1"/>
          <p:nvPr/>
        </p:nvSpPr>
        <p:spPr>
          <a:xfrm>
            <a:off x="3389722" y="3264714"/>
            <a:ext cx="2478422" cy="523220"/>
          </a:xfrm>
          <a:prstGeom prst="rect">
            <a:avLst/>
          </a:prstGeom>
          <a:noFill/>
        </p:spPr>
        <p:txBody>
          <a:bodyPr wrap="square" rtlCol="0">
            <a:spAutoFit/>
          </a:bodyPr>
          <a:lstStyle/>
          <a:p>
            <a:r>
              <a:rPr lang="zh-CN" altLang="en-US" sz="2800" dirty="0" smtClean="0">
                <a:latin typeface="微软雅黑" pitchFamily="34" charset="-122"/>
                <a:ea typeface="微软雅黑" pitchFamily="34" charset="-122"/>
              </a:rPr>
              <a:t>商品部构架</a:t>
            </a:r>
            <a:endParaRPr lang="zh-CN" altLang="en-US" sz="2800" dirty="0">
              <a:latin typeface="微软雅黑" pitchFamily="34" charset="-122"/>
              <a:ea typeface="微软雅黑" pitchFamily="34" charset="-122"/>
            </a:endParaRPr>
          </a:p>
        </p:txBody>
      </p:sp>
      <p:sp>
        <p:nvSpPr>
          <p:cNvPr id="5" name="TextBox 4"/>
          <p:cNvSpPr txBox="1"/>
          <p:nvPr/>
        </p:nvSpPr>
        <p:spPr>
          <a:xfrm>
            <a:off x="3389722" y="4337272"/>
            <a:ext cx="2190390" cy="523220"/>
          </a:xfrm>
          <a:prstGeom prst="rect">
            <a:avLst/>
          </a:prstGeom>
          <a:noFill/>
        </p:spPr>
        <p:txBody>
          <a:bodyPr wrap="square" rtlCol="0">
            <a:spAutoFit/>
          </a:bodyPr>
          <a:lstStyle/>
          <a:p>
            <a:r>
              <a:rPr lang="zh-CN" altLang="en-US" sz="2800" dirty="0" smtClean="0">
                <a:latin typeface="微软雅黑" pitchFamily="34" charset="-122"/>
                <a:ea typeface="微软雅黑" pitchFamily="34" charset="-122"/>
              </a:rPr>
              <a:t>商品部职责</a:t>
            </a:r>
            <a:endParaRPr lang="zh-CN" altLang="en-US" sz="2800" dirty="0">
              <a:latin typeface="微软雅黑" pitchFamily="34" charset="-122"/>
              <a:ea typeface="微软雅黑" pitchFamily="34" charset="-122"/>
            </a:endParaRPr>
          </a:p>
        </p:txBody>
      </p:sp>
      <p:grpSp>
        <p:nvGrpSpPr>
          <p:cNvPr id="14" name="Group 42"/>
          <p:cNvGrpSpPr>
            <a:grpSpLocks/>
          </p:cNvGrpSpPr>
          <p:nvPr/>
        </p:nvGrpSpPr>
        <p:grpSpPr bwMode="auto">
          <a:xfrm>
            <a:off x="2814464" y="3244444"/>
            <a:ext cx="533400" cy="609600"/>
            <a:chOff x="982" y="214"/>
            <a:chExt cx="759" cy="872"/>
          </a:xfrm>
        </p:grpSpPr>
        <p:sp>
          <p:nvSpPr>
            <p:cNvPr id="15" name="Freeform 43"/>
            <p:cNvSpPr>
              <a:spLocks/>
            </p:cNvSpPr>
            <p:nvPr/>
          </p:nvSpPr>
          <p:spPr bwMode="auto">
            <a:xfrm>
              <a:off x="1214" y="214"/>
              <a:ext cx="299" cy="434"/>
            </a:xfrm>
            <a:custGeom>
              <a:avLst/>
              <a:gdLst>
                <a:gd name="T0" fmla="*/ 174 w 299"/>
                <a:gd name="T1" fmla="*/ 121 h 434"/>
                <a:gd name="T2" fmla="*/ 174 w 299"/>
                <a:gd name="T3" fmla="*/ 23 h 434"/>
                <a:gd name="T4" fmla="*/ 170 w 299"/>
                <a:gd name="T5" fmla="*/ 9 h 434"/>
                <a:gd name="T6" fmla="*/ 165 w 299"/>
                <a:gd name="T7" fmla="*/ 5 h 434"/>
                <a:gd name="T8" fmla="*/ 156 w 299"/>
                <a:gd name="T9" fmla="*/ 0 h 434"/>
                <a:gd name="T10" fmla="*/ 152 w 299"/>
                <a:gd name="T11" fmla="*/ 0 h 434"/>
                <a:gd name="T12" fmla="*/ 143 w 299"/>
                <a:gd name="T13" fmla="*/ 0 h 434"/>
                <a:gd name="T14" fmla="*/ 134 w 299"/>
                <a:gd name="T15" fmla="*/ 5 h 434"/>
                <a:gd name="T16" fmla="*/ 125 w 299"/>
                <a:gd name="T17" fmla="*/ 9 h 434"/>
                <a:gd name="T18" fmla="*/ 125 w 299"/>
                <a:gd name="T19" fmla="*/ 23 h 434"/>
                <a:gd name="T20" fmla="*/ 125 w 299"/>
                <a:gd name="T21" fmla="*/ 126 h 434"/>
                <a:gd name="T22" fmla="*/ 76 w 299"/>
                <a:gd name="T23" fmla="*/ 99 h 434"/>
                <a:gd name="T24" fmla="*/ 67 w 299"/>
                <a:gd name="T25" fmla="*/ 94 h 434"/>
                <a:gd name="T26" fmla="*/ 58 w 299"/>
                <a:gd name="T27" fmla="*/ 94 h 434"/>
                <a:gd name="T28" fmla="*/ 49 w 299"/>
                <a:gd name="T29" fmla="*/ 99 h 434"/>
                <a:gd name="T30" fmla="*/ 45 w 299"/>
                <a:gd name="T31" fmla="*/ 103 h 434"/>
                <a:gd name="T32" fmla="*/ 40 w 299"/>
                <a:gd name="T33" fmla="*/ 112 h 434"/>
                <a:gd name="T34" fmla="*/ 45 w 299"/>
                <a:gd name="T35" fmla="*/ 117 h 434"/>
                <a:gd name="T36" fmla="*/ 45 w 299"/>
                <a:gd name="T37" fmla="*/ 126 h 434"/>
                <a:gd name="T38" fmla="*/ 54 w 299"/>
                <a:gd name="T39" fmla="*/ 134 h 434"/>
                <a:gd name="T40" fmla="*/ 121 w 299"/>
                <a:gd name="T41" fmla="*/ 170 h 434"/>
                <a:gd name="T42" fmla="*/ 121 w 299"/>
                <a:gd name="T43" fmla="*/ 242 h 434"/>
                <a:gd name="T44" fmla="*/ 36 w 299"/>
                <a:gd name="T45" fmla="*/ 188 h 434"/>
                <a:gd name="T46" fmla="*/ 27 w 299"/>
                <a:gd name="T47" fmla="*/ 184 h 434"/>
                <a:gd name="T48" fmla="*/ 18 w 299"/>
                <a:gd name="T49" fmla="*/ 184 h 434"/>
                <a:gd name="T50" fmla="*/ 9 w 299"/>
                <a:gd name="T51" fmla="*/ 188 h 434"/>
                <a:gd name="T52" fmla="*/ 5 w 299"/>
                <a:gd name="T53" fmla="*/ 193 h 434"/>
                <a:gd name="T54" fmla="*/ 0 w 299"/>
                <a:gd name="T55" fmla="*/ 202 h 434"/>
                <a:gd name="T56" fmla="*/ 0 w 299"/>
                <a:gd name="T57" fmla="*/ 210 h 434"/>
                <a:gd name="T58" fmla="*/ 5 w 299"/>
                <a:gd name="T59" fmla="*/ 219 h 434"/>
                <a:gd name="T60" fmla="*/ 14 w 299"/>
                <a:gd name="T61" fmla="*/ 224 h 434"/>
                <a:gd name="T62" fmla="*/ 121 w 299"/>
                <a:gd name="T63" fmla="*/ 291 h 434"/>
                <a:gd name="T64" fmla="*/ 121 w 299"/>
                <a:gd name="T65" fmla="*/ 434 h 434"/>
                <a:gd name="T66" fmla="*/ 174 w 299"/>
                <a:gd name="T67" fmla="*/ 434 h 434"/>
                <a:gd name="T68" fmla="*/ 174 w 299"/>
                <a:gd name="T69" fmla="*/ 291 h 434"/>
                <a:gd name="T70" fmla="*/ 290 w 299"/>
                <a:gd name="T71" fmla="*/ 224 h 434"/>
                <a:gd name="T72" fmla="*/ 295 w 299"/>
                <a:gd name="T73" fmla="*/ 219 h 434"/>
                <a:gd name="T74" fmla="*/ 299 w 299"/>
                <a:gd name="T75" fmla="*/ 210 h 434"/>
                <a:gd name="T76" fmla="*/ 299 w 299"/>
                <a:gd name="T77" fmla="*/ 202 h 434"/>
                <a:gd name="T78" fmla="*/ 299 w 299"/>
                <a:gd name="T79" fmla="*/ 197 h 434"/>
                <a:gd name="T80" fmla="*/ 295 w 299"/>
                <a:gd name="T81" fmla="*/ 188 h 434"/>
                <a:gd name="T82" fmla="*/ 286 w 299"/>
                <a:gd name="T83" fmla="*/ 184 h 434"/>
                <a:gd name="T84" fmla="*/ 277 w 299"/>
                <a:gd name="T85" fmla="*/ 184 h 434"/>
                <a:gd name="T86" fmla="*/ 268 w 299"/>
                <a:gd name="T87" fmla="*/ 188 h 434"/>
                <a:gd name="T88" fmla="*/ 174 w 299"/>
                <a:gd name="T89" fmla="*/ 237 h 434"/>
                <a:gd name="T90" fmla="*/ 174 w 299"/>
                <a:gd name="T91" fmla="*/ 170 h 434"/>
                <a:gd name="T92" fmla="*/ 246 w 299"/>
                <a:gd name="T93" fmla="*/ 134 h 434"/>
                <a:gd name="T94" fmla="*/ 250 w 299"/>
                <a:gd name="T95" fmla="*/ 130 h 434"/>
                <a:gd name="T96" fmla="*/ 255 w 299"/>
                <a:gd name="T97" fmla="*/ 121 h 434"/>
                <a:gd name="T98" fmla="*/ 255 w 299"/>
                <a:gd name="T99" fmla="*/ 112 h 434"/>
                <a:gd name="T100" fmla="*/ 250 w 299"/>
                <a:gd name="T101" fmla="*/ 108 h 434"/>
                <a:gd name="T102" fmla="*/ 246 w 299"/>
                <a:gd name="T103" fmla="*/ 103 h 434"/>
                <a:gd name="T104" fmla="*/ 237 w 299"/>
                <a:gd name="T105" fmla="*/ 99 h 434"/>
                <a:gd name="T106" fmla="*/ 232 w 299"/>
                <a:gd name="T107" fmla="*/ 99 h 434"/>
                <a:gd name="T108" fmla="*/ 223 w 299"/>
                <a:gd name="T109" fmla="*/ 99 h 434"/>
                <a:gd name="T110" fmla="*/ 174 w 299"/>
                <a:gd name="T111" fmla="*/ 121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99" h="434">
                  <a:moveTo>
                    <a:pt x="174" y="121"/>
                  </a:moveTo>
                  <a:lnTo>
                    <a:pt x="174" y="23"/>
                  </a:lnTo>
                  <a:lnTo>
                    <a:pt x="170" y="9"/>
                  </a:lnTo>
                  <a:lnTo>
                    <a:pt x="165" y="5"/>
                  </a:lnTo>
                  <a:lnTo>
                    <a:pt x="156" y="0"/>
                  </a:lnTo>
                  <a:lnTo>
                    <a:pt x="152" y="0"/>
                  </a:lnTo>
                  <a:lnTo>
                    <a:pt x="143" y="0"/>
                  </a:lnTo>
                  <a:lnTo>
                    <a:pt x="134" y="5"/>
                  </a:lnTo>
                  <a:lnTo>
                    <a:pt x="125" y="9"/>
                  </a:lnTo>
                  <a:lnTo>
                    <a:pt x="125" y="23"/>
                  </a:lnTo>
                  <a:lnTo>
                    <a:pt x="125" y="126"/>
                  </a:lnTo>
                  <a:lnTo>
                    <a:pt x="76" y="99"/>
                  </a:lnTo>
                  <a:lnTo>
                    <a:pt x="67" y="94"/>
                  </a:lnTo>
                  <a:lnTo>
                    <a:pt x="58" y="94"/>
                  </a:lnTo>
                  <a:lnTo>
                    <a:pt x="49" y="99"/>
                  </a:lnTo>
                  <a:lnTo>
                    <a:pt x="45" y="103"/>
                  </a:lnTo>
                  <a:lnTo>
                    <a:pt x="40" y="112"/>
                  </a:lnTo>
                  <a:lnTo>
                    <a:pt x="45" y="117"/>
                  </a:lnTo>
                  <a:lnTo>
                    <a:pt x="45" y="126"/>
                  </a:lnTo>
                  <a:lnTo>
                    <a:pt x="54" y="134"/>
                  </a:lnTo>
                  <a:lnTo>
                    <a:pt x="121" y="170"/>
                  </a:lnTo>
                  <a:lnTo>
                    <a:pt x="121" y="242"/>
                  </a:lnTo>
                  <a:lnTo>
                    <a:pt x="36" y="188"/>
                  </a:lnTo>
                  <a:lnTo>
                    <a:pt x="27" y="184"/>
                  </a:lnTo>
                  <a:lnTo>
                    <a:pt x="18" y="184"/>
                  </a:lnTo>
                  <a:lnTo>
                    <a:pt x="9" y="188"/>
                  </a:lnTo>
                  <a:lnTo>
                    <a:pt x="5" y="193"/>
                  </a:lnTo>
                  <a:lnTo>
                    <a:pt x="0" y="202"/>
                  </a:lnTo>
                  <a:lnTo>
                    <a:pt x="0" y="210"/>
                  </a:lnTo>
                  <a:lnTo>
                    <a:pt x="5" y="219"/>
                  </a:lnTo>
                  <a:lnTo>
                    <a:pt x="14" y="224"/>
                  </a:lnTo>
                  <a:lnTo>
                    <a:pt x="121" y="291"/>
                  </a:lnTo>
                  <a:lnTo>
                    <a:pt x="121" y="434"/>
                  </a:lnTo>
                  <a:lnTo>
                    <a:pt x="174" y="434"/>
                  </a:lnTo>
                  <a:lnTo>
                    <a:pt x="174" y="291"/>
                  </a:lnTo>
                  <a:lnTo>
                    <a:pt x="290" y="224"/>
                  </a:lnTo>
                  <a:lnTo>
                    <a:pt x="295" y="219"/>
                  </a:lnTo>
                  <a:lnTo>
                    <a:pt x="299" y="210"/>
                  </a:lnTo>
                  <a:lnTo>
                    <a:pt x="299" y="202"/>
                  </a:lnTo>
                  <a:lnTo>
                    <a:pt x="299" y="197"/>
                  </a:lnTo>
                  <a:lnTo>
                    <a:pt x="295" y="188"/>
                  </a:lnTo>
                  <a:lnTo>
                    <a:pt x="286" y="184"/>
                  </a:lnTo>
                  <a:lnTo>
                    <a:pt x="277" y="184"/>
                  </a:lnTo>
                  <a:lnTo>
                    <a:pt x="268" y="188"/>
                  </a:lnTo>
                  <a:lnTo>
                    <a:pt x="174" y="237"/>
                  </a:lnTo>
                  <a:lnTo>
                    <a:pt x="174" y="170"/>
                  </a:lnTo>
                  <a:lnTo>
                    <a:pt x="246" y="134"/>
                  </a:lnTo>
                  <a:lnTo>
                    <a:pt x="250" y="130"/>
                  </a:lnTo>
                  <a:lnTo>
                    <a:pt x="255" y="121"/>
                  </a:lnTo>
                  <a:lnTo>
                    <a:pt x="255" y="112"/>
                  </a:lnTo>
                  <a:lnTo>
                    <a:pt x="250" y="108"/>
                  </a:lnTo>
                  <a:lnTo>
                    <a:pt x="246" y="103"/>
                  </a:lnTo>
                  <a:lnTo>
                    <a:pt x="237" y="99"/>
                  </a:lnTo>
                  <a:lnTo>
                    <a:pt x="232" y="99"/>
                  </a:lnTo>
                  <a:lnTo>
                    <a:pt x="223" y="99"/>
                  </a:lnTo>
                  <a:lnTo>
                    <a:pt x="174" y="12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16" name="Freeform 44"/>
            <p:cNvSpPr>
              <a:spLocks/>
            </p:cNvSpPr>
            <p:nvPr/>
          </p:nvSpPr>
          <p:spPr bwMode="auto">
            <a:xfrm>
              <a:off x="982" y="398"/>
              <a:ext cx="393" cy="272"/>
            </a:xfrm>
            <a:custGeom>
              <a:avLst/>
              <a:gdLst>
                <a:gd name="T0" fmla="*/ 121 w 393"/>
                <a:gd name="T1" fmla="*/ 71 h 272"/>
                <a:gd name="T2" fmla="*/ 36 w 393"/>
                <a:gd name="T3" fmla="*/ 22 h 272"/>
                <a:gd name="T4" fmla="*/ 27 w 393"/>
                <a:gd name="T5" fmla="*/ 18 h 272"/>
                <a:gd name="T6" fmla="*/ 18 w 393"/>
                <a:gd name="T7" fmla="*/ 18 h 272"/>
                <a:gd name="T8" fmla="*/ 9 w 393"/>
                <a:gd name="T9" fmla="*/ 22 h 272"/>
                <a:gd name="T10" fmla="*/ 5 w 393"/>
                <a:gd name="T11" fmla="*/ 31 h 272"/>
                <a:gd name="T12" fmla="*/ 0 w 393"/>
                <a:gd name="T13" fmla="*/ 40 h 272"/>
                <a:gd name="T14" fmla="*/ 0 w 393"/>
                <a:gd name="T15" fmla="*/ 49 h 272"/>
                <a:gd name="T16" fmla="*/ 5 w 393"/>
                <a:gd name="T17" fmla="*/ 58 h 272"/>
                <a:gd name="T18" fmla="*/ 9 w 393"/>
                <a:gd name="T19" fmla="*/ 62 h 272"/>
                <a:gd name="T20" fmla="*/ 98 w 393"/>
                <a:gd name="T21" fmla="*/ 116 h 272"/>
                <a:gd name="T22" fmla="*/ 54 w 393"/>
                <a:gd name="T23" fmla="*/ 143 h 272"/>
                <a:gd name="T24" fmla="*/ 45 w 393"/>
                <a:gd name="T25" fmla="*/ 147 h 272"/>
                <a:gd name="T26" fmla="*/ 40 w 393"/>
                <a:gd name="T27" fmla="*/ 156 h 272"/>
                <a:gd name="T28" fmla="*/ 40 w 393"/>
                <a:gd name="T29" fmla="*/ 165 h 272"/>
                <a:gd name="T30" fmla="*/ 40 w 393"/>
                <a:gd name="T31" fmla="*/ 174 h 272"/>
                <a:gd name="T32" fmla="*/ 49 w 393"/>
                <a:gd name="T33" fmla="*/ 178 h 272"/>
                <a:gd name="T34" fmla="*/ 54 w 393"/>
                <a:gd name="T35" fmla="*/ 183 h 272"/>
                <a:gd name="T36" fmla="*/ 63 w 393"/>
                <a:gd name="T37" fmla="*/ 183 h 272"/>
                <a:gd name="T38" fmla="*/ 72 w 393"/>
                <a:gd name="T39" fmla="*/ 183 h 272"/>
                <a:gd name="T40" fmla="*/ 139 w 393"/>
                <a:gd name="T41" fmla="*/ 143 h 272"/>
                <a:gd name="T42" fmla="*/ 197 w 393"/>
                <a:gd name="T43" fmla="*/ 178 h 272"/>
                <a:gd name="T44" fmla="*/ 112 w 393"/>
                <a:gd name="T45" fmla="*/ 223 h 272"/>
                <a:gd name="T46" fmla="*/ 103 w 393"/>
                <a:gd name="T47" fmla="*/ 232 h 272"/>
                <a:gd name="T48" fmla="*/ 98 w 393"/>
                <a:gd name="T49" fmla="*/ 241 h 272"/>
                <a:gd name="T50" fmla="*/ 98 w 393"/>
                <a:gd name="T51" fmla="*/ 246 h 272"/>
                <a:gd name="T52" fmla="*/ 98 w 393"/>
                <a:gd name="T53" fmla="*/ 254 h 272"/>
                <a:gd name="T54" fmla="*/ 103 w 393"/>
                <a:gd name="T55" fmla="*/ 263 h 272"/>
                <a:gd name="T56" fmla="*/ 112 w 393"/>
                <a:gd name="T57" fmla="*/ 268 h 272"/>
                <a:gd name="T58" fmla="*/ 121 w 393"/>
                <a:gd name="T59" fmla="*/ 268 h 272"/>
                <a:gd name="T60" fmla="*/ 130 w 393"/>
                <a:gd name="T61" fmla="*/ 263 h 272"/>
                <a:gd name="T62" fmla="*/ 241 w 393"/>
                <a:gd name="T63" fmla="*/ 201 h 272"/>
                <a:gd name="T64" fmla="*/ 366 w 393"/>
                <a:gd name="T65" fmla="*/ 272 h 272"/>
                <a:gd name="T66" fmla="*/ 393 w 393"/>
                <a:gd name="T67" fmla="*/ 228 h 272"/>
                <a:gd name="T68" fmla="*/ 268 w 393"/>
                <a:gd name="T69" fmla="*/ 156 h 272"/>
                <a:gd name="T70" fmla="*/ 268 w 393"/>
                <a:gd name="T71" fmla="*/ 22 h 272"/>
                <a:gd name="T72" fmla="*/ 268 w 393"/>
                <a:gd name="T73" fmla="*/ 13 h 272"/>
                <a:gd name="T74" fmla="*/ 264 w 393"/>
                <a:gd name="T75" fmla="*/ 9 h 272"/>
                <a:gd name="T76" fmla="*/ 255 w 393"/>
                <a:gd name="T77" fmla="*/ 4 h 272"/>
                <a:gd name="T78" fmla="*/ 250 w 393"/>
                <a:gd name="T79" fmla="*/ 0 h 272"/>
                <a:gd name="T80" fmla="*/ 241 w 393"/>
                <a:gd name="T81" fmla="*/ 0 h 272"/>
                <a:gd name="T82" fmla="*/ 232 w 393"/>
                <a:gd name="T83" fmla="*/ 4 h 272"/>
                <a:gd name="T84" fmla="*/ 228 w 393"/>
                <a:gd name="T85" fmla="*/ 13 h 272"/>
                <a:gd name="T86" fmla="*/ 228 w 393"/>
                <a:gd name="T87" fmla="*/ 22 h 272"/>
                <a:gd name="T88" fmla="*/ 223 w 393"/>
                <a:gd name="T89" fmla="*/ 129 h 272"/>
                <a:gd name="T90" fmla="*/ 165 w 393"/>
                <a:gd name="T91" fmla="*/ 94 h 272"/>
                <a:gd name="T92" fmla="*/ 170 w 393"/>
                <a:gd name="T93" fmla="*/ 18 h 272"/>
                <a:gd name="T94" fmla="*/ 165 w 393"/>
                <a:gd name="T95" fmla="*/ 9 h 272"/>
                <a:gd name="T96" fmla="*/ 161 w 393"/>
                <a:gd name="T97" fmla="*/ 4 h 272"/>
                <a:gd name="T98" fmla="*/ 156 w 393"/>
                <a:gd name="T99" fmla="*/ 0 h 272"/>
                <a:gd name="T100" fmla="*/ 148 w 393"/>
                <a:gd name="T101" fmla="*/ 0 h 272"/>
                <a:gd name="T102" fmla="*/ 139 w 393"/>
                <a:gd name="T103" fmla="*/ 0 h 272"/>
                <a:gd name="T104" fmla="*/ 134 w 393"/>
                <a:gd name="T105" fmla="*/ 4 h 272"/>
                <a:gd name="T106" fmla="*/ 130 w 393"/>
                <a:gd name="T107" fmla="*/ 9 h 272"/>
                <a:gd name="T108" fmla="*/ 125 w 393"/>
                <a:gd name="T109" fmla="*/ 18 h 272"/>
                <a:gd name="T110" fmla="*/ 121 w 393"/>
                <a:gd name="T111" fmla="*/ 71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2">
                  <a:moveTo>
                    <a:pt x="121" y="71"/>
                  </a:moveTo>
                  <a:lnTo>
                    <a:pt x="36" y="22"/>
                  </a:lnTo>
                  <a:lnTo>
                    <a:pt x="27" y="18"/>
                  </a:lnTo>
                  <a:lnTo>
                    <a:pt x="18" y="18"/>
                  </a:lnTo>
                  <a:lnTo>
                    <a:pt x="9" y="22"/>
                  </a:lnTo>
                  <a:lnTo>
                    <a:pt x="5" y="31"/>
                  </a:lnTo>
                  <a:lnTo>
                    <a:pt x="0" y="40"/>
                  </a:lnTo>
                  <a:lnTo>
                    <a:pt x="0" y="49"/>
                  </a:lnTo>
                  <a:lnTo>
                    <a:pt x="5" y="58"/>
                  </a:lnTo>
                  <a:lnTo>
                    <a:pt x="9" y="62"/>
                  </a:lnTo>
                  <a:lnTo>
                    <a:pt x="98" y="116"/>
                  </a:lnTo>
                  <a:lnTo>
                    <a:pt x="54" y="143"/>
                  </a:lnTo>
                  <a:lnTo>
                    <a:pt x="45" y="147"/>
                  </a:lnTo>
                  <a:lnTo>
                    <a:pt x="40" y="156"/>
                  </a:lnTo>
                  <a:lnTo>
                    <a:pt x="40" y="165"/>
                  </a:lnTo>
                  <a:lnTo>
                    <a:pt x="40" y="174"/>
                  </a:lnTo>
                  <a:lnTo>
                    <a:pt x="49" y="178"/>
                  </a:lnTo>
                  <a:lnTo>
                    <a:pt x="54" y="183"/>
                  </a:lnTo>
                  <a:lnTo>
                    <a:pt x="63" y="183"/>
                  </a:lnTo>
                  <a:lnTo>
                    <a:pt x="72" y="183"/>
                  </a:lnTo>
                  <a:lnTo>
                    <a:pt x="139" y="143"/>
                  </a:lnTo>
                  <a:lnTo>
                    <a:pt x="197" y="178"/>
                  </a:lnTo>
                  <a:lnTo>
                    <a:pt x="112" y="223"/>
                  </a:lnTo>
                  <a:lnTo>
                    <a:pt x="103" y="232"/>
                  </a:lnTo>
                  <a:lnTo>
                    <a:pt x="98" y="241"/>
                  </a:lnTo>
                  <a:lnTo>
                    <a:pt x="98" y="246"/>
                  </a:lnTo>
                  <a:lnTo>
                    <a:pt x="98" y="254"/>
                  </a:lnTo>
                  <a:lnTo>
                    <a:pt x="103" y="263"/>
                  </a:lnTo>
                  <a:lnTo>
                    <a:pt x="112" y="268"/>
                  </a:lnTo>
                  <a:lnTo>
                    <a:pt x="121" y="268"/>
                  </a:lnTo>
                  <a:lnTo>
                    <a:pt x="130" y="263"/>
                  </a:lnTo>
                  <a:lnTo>
                    <a:pt x="241" y="201"/>
                  </a:lnTo>
                  <a:lnTo>
                    <a:pt x="366" y="272"/>
                  </a:lnTo>
                  <a:lnTo>
                    <a:pt x="393" y="228"/>
                  </a:lnTo>
                  <a:lnTo>
                    <a:pt x="268" y="156"/>
                  </a:lnTo>
                  <a:lnTo>
                    <a:pt x="268" y="22"/>
                  </a:lnTo>
                  <a:lnTo>
                    <a:pt x="268" y="13"/>
                  </a:lnTo>
                  <a:lnTo>
                    <a:pt x="264" y="9"/>
                  </a:lnTo>
                  <a:lnTo>
                    <a:pt x="255" y="4"/>
                  </a:lnTo>
                  <a:lnTo>
                    <a:pt x="250" y="0"/>
                  </a:lnTo>
                  <a:lnTo>
                    <a:pt x="241" y="0"/>
                  </a:lnTo>
                  <a:lnTo>
                    <a:pt x="232" y="4"/>
                  </a:lnTo>
                  <a:lnTo>
                    <a:pt x="228" y="13"/>
                  </a:lnTo>
                  <a:lnTo>
                    <a:pt x="228" y="22"/>
                  </a:lnTo>
                  <a:lnTo>
                    <a:pt x="223" y="129"/>
                  </a:lnTo>
                  <a:lnTo>
                    <a:pt x="165" y="94"/>
                  </a:lnTo>
                  <a:lnTo>
                    <a:pt x="170" y="18"/>
                  </a:lnTo>
                  <a:lnTo>
                    <a:pt x="165" y="9"/>
                  </a:lnTo>
                  <a:lnTo>
                    <a:pt x="161" y="4"/>
                  </a:lnTo>
                  <a:lnTo>
                    <a:pt x="156" y="0"/>
                  </a:lnTo>
                  <a:lnTo>
                    <a:pt x="148" y="0"/>
                  </a:lnTo>
                  <a:lnTo>
                    <a:pt x="139" y="0"/>
                  </a:lnTo>
                  <a:lnTo>
                    <a:pt x="134" y="4"/>
                  </a:lnTo>
                  <a:lnTo>
                    <a:pt x="130" y="9"/>
                  </a:lnTo>
                  <a:lnTo>
                    <a:pt x="125" y="18"/>
                  </a:lnTo>
                  <a:lnTo>
                    <a:pt x="121" y="7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17" name="Freeform 45"/>
            <p:cNvSpPr>
              <a:spLocks/>
            </p:cNvSpPr>
            <p:nvPr/>
          </p:nvSpPr>
          <p:spPr bwMode="auto">
            <a:xfrm>
              <a:off x="982" y="626"/>
              <a:ext cx="393" cy="277"/>
            </a:xfrm>
            <a:custGeom>
              <a:avLst/>
              <a:gdLst>
                <a:gd name="T0" fmla="*/ 98 w 393"/>
                <a:gd name="T1" fmla="*/ 156 h 277"/>
                <a:gd name="T2" fmla="*/ 9 w 393"/>
                <a:gd name="T3" fmla="*/ 205 h 277"/>
                <a:gd name="T4" fmla="*/ 0 w 393"/>
                <a:gd name="T5" fmla="*/ 214 h 277"/>
                <a:gd name="T6" fmla="*/ 0 w 393"/>
                <a:gd name="T7" fmla="*/ 223 h 277"/>
                <a:gd name="T8" fmla="*/ 0 w 393"/>
                <a:gd name="T9" fmla="*/ 228 h 277"/>
                <a:gd name="T10" fmla="*/ 0 w 393"/>
                <a:gd name="T11" fmla="*/ 237 h 277"/>
                <a:gd name="T12" fmla="*/ 9 w 393"/>
                <a:gd name="T13" fmla="*/ 246 h 277"/>
                <a:gd name="T14" fmla="*/ 14 w 393"/>
                <a:gd name="T15" fmla="*/ 250 h 277"/>
                <a:gd name="T16" fmla="*/ 23 w 393"/>
                <a:gd name="T17" fmla="*/ 250 h 277"/>
                <a:gd name="T18" fmla="*/ 36 w 393"/>
                <a:gd name="T19" fmla="*/ 250 h 277"/>
                <a:gd name="T20" fmla="*/ 125 w 393"/>
                <a:gd name="T21" fmla="*/ 196 h 277"/>
                <a:gd name="T22" fmla="*/ 125 w 393"/>
                <a:gd name="T23" fmla="*/ 250 h 277"/>
                <a:gd name="T24" fmla="*/ 125 w 393"/>
                <a:gd name="T25" fmla="*/ 263 h 277"/>
                <a:gd name="T26" fmla="*/ 130 w 393"/>
                <a:gd name="T27" fmla="*/ 268 h 277"/>
                <a:gd name="T28" fmla="*/ 139 w 393"/>
                <a:gd name="T29" fmla="*/ 272 h 277"/>
                <a:gd name="T30" fmla="*/ 143 w 393"/>
                <a:gd name="T31" fmla="*/ 277 h 277"/>
                <a:gd name="T32" fmla="*/ 152 w 393"/>
                <a:gd name="T33" fmla="*/ 277 h 277"/>
                <a:gd name="T34" fmla="*/ 161 w 393"/>
                <a:gd name="T35" fmla="*/ 272 h 277"/>
                <a:gd name="T36" fmla="*/ 165 w 393"/>
                <a:gd name="T37" fmla="*/ 263 h 277"/>
                <a:gd name="T38" fmla="*/ 165 w 393"/>
                <a:gd name="T39" fmla="*/ 254 h 277"/>
                <a:gd name="T40" fmla="*/ 165 w 393"/>
                <a:gd name="T41" fmla="*/ 178 h 277"/>
                <a:gd name="T42" fmla="*/ 223 w 393"/>
                <a:gd name="T43" fmla="*/ 143 h 277"/>
                <a:gd name="T44" fmla="*/ 223 w 393"/>
                <a:gd name="T45" fmla="*/ 241 h 277"/>
                <a:gd name="T46" fmla="*/ 223 w 393"/>
                <a:gd name="T47" fmla="*/ 250 h 277"/>
                <a:gd name="T48" fmla="*/ 228 w 393"/>
                <a:gd name="T49" fmla="*/ 259 h 277"/>
                <a:gd name="T50" fmla="*/ 237 w 393"/>
                <a:gd name="T51" fmla="*/ 263 h 277"/>
                <a:gd name="T52" fmla="*/ 246 w 393"/>
                <a:gd name="T53" fmla="*/ 268 h 277"/>
                <a:gd name="T54" fmla="*/ 255 w 393"/>
                <a:gd name="T55" fmla="*/ 268 h 277"/>
                <a:gd name="T56" fmla="*/ 259 w 393"/>
                <a:gd name="T57" fmla="*/ 263 h 277"/>
                <a:gd name="T58" fmla="*/ 264 w 393"/>
                <a:gd name="T59" fmla="*/ 254 h 277"/>
                <a:gd name="T60" fmla="*/ 268 w 393"/>
                <a:gd name="T61" fmla="*/ 246 h 277"/>
                <a:gd name="T62" fmla="*/ 268 w 393"/>
                <a:gd name="T63" fmla="*/ 116 h 277"/>
                <a:gd name="T64" fmla="*/ 393 w 393"/>
                <a:gd name="T65" fmla="*/ 44 h 277"/>
                <a:gd name="T66" fmla="*/ 366 w 393"/>
                <a:gd name="T67" fmla="*/ 0 h 277"/>
                <a:gd name="T68" fmla="*/ 241 w 393"/>
                <a:gd name="T69" fmla="*/ 71 h 277"/>
                <a:gd name="T70" fmla="*/ 125 w 393"/>
                <a:gd name="T71" fmla="*/ 4 h 277"/>
                <a:gd name="T72" fmla="*/ 121 w 393"/>
                <a:gd name="T73" fmla="*/ 0 h 277"/>
                <a:gd name="T74" fmla="*/ 112 w 393"/>
                <a:gd name="T75" fmla="*/ 0 h 277"/>
                <a:gd name="T76" fmla="*/ 103 w 393"/>
                <a:gd name="T77" fmla="*/ 4 h 277"/>
                <a:gd name="T78" fmla="*/ 98 w 393"/>
                <a:gd name="T79" fmla="*/ 9 h 277"/>
                <a:gd name="T80" fmla="*/ 94 w 393"/>
                <a:gd name="T81" fmla="*/ 18 h 277"/>
                <a:gd name="T82" fmla="*/ 94 w 393"/>
                <a:gd name="T83" fmla="*/ 26 h 277"/>
                <a:gd name="T84" fmla="*/ 98 w 393"/>
                <a:gd name="T85" fmla="*/ 35 h 277"/>
                <a:gd name="T86" fmla="*/ 107 w 393"/>
                <a:gd name="T87" fmla="*/ 40 h 277"/>
                <a:gd name="T88" fmla="*/ 197 w 393"/>
                <a:gd name="T89" fmla="*/ 98 h 277"/>
                <a:gd name="T90" fmla="*/ 139 w 393"/>
                <a:gd name="T91" fmla="*/ 129 h 277"/>
                <a:gd name="T92" fmla="*/ 72 w 393"/>
                <a:gd name="T93" fmla="*/ 89 h 277"/>
                <a:gd name="T94" fmla="*/ 63 w 393"/>
                <a:gd name="T95" fmla="*/ 85 h 277"/>
                <a:gd name="T96" fmla="*/ 58 w 393"/>
                <a:gd name="T97" fmla="*/ 85 h 277"/>
                <a:gd name="T98" fmla="*/ 49 w 393"/>
                <a:gd name="T99" fmla="*/ 89 h 277"/>
                <a:gd name="T100" fmla="*/ 45 w 393"/>
                <a:gd name="T101" fmla="*/ 98 h 277"/>
                <a:gd name="T102" fmla="*/ 45 w 393"/>
                <a:gd name="T103" fmla="*/ 102 h 277"/>
                <a:gd name="T104" fmla="*/ 45 w 393"/>
                <a:gd name="T105" fmla="*/ 111 h 277"/>
                <a:gd name="T106" fmla="*/ 45 w 393"/>
                <a:gd name="T107" fmla="*/ 120 h 277"/>
                <a:gd name="T108" fmla="*/ 54 w 393"/>
                <a:gd name="T109" fmla="*/ 125 h 277"/>
                <a:gd name="T110" fmla="*/ 98 w 393"/>
                <a:gd name="T111" fmla="*/ 15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7">
                  <a:moveTo>
                    <a:pt x="98" y="156"/>
                  </a:moveTo>
                  <a:lnTo>
                    <a:pt x="9" y="205"/>
                  </a:lnTo>
                  <a:lnTo>
                    <a:pt x="0" y="214"/>
                  </a:lnTo>
                  <a:lnTo>
                    <a:pt x="0" y="223"/>
                  </a:lnTo>
                  <a:lnTo>
                    <a:pt x="0" y="228"/>
                  </a:lnTo>
                  <a:lnTo>
                    <a:pt x="0" y="237"/>
                  </a:lnTo>
                  <a:lnTo>
                    <a:pt x="9" y="246"/>
                  </a:lnTo>
                  <a:lnTo>
                    <a:pt x="14" y="250"/>
                  </a:lnTo>
                  <a:lnTo>
                    <a:pt x="23" y="250"/>
                  </a:lnTo>
                  <a:lnTo>
                    <a:pt x="36" y="250"/>
                  </a:lnTo>
                  <a:lnTo>
                    <a:pt x="125" y="196"/>
                  </a:lnTo>
                  <a:lnTo>
                    <a:pt x="125" y="250"/>
                  </a:lnTo>
                  <a:lnTo>
                    <a:pt x="125" y="263"/>
                  </a:lnTo>
                  <a:lnTo>
                    <a:pt x="130" y="268"/>
                  </a:lnTo>
                  <a:lnTo>
                    <a:pt x="139" y="272"/>
                  </a:lnTo>
                  <a:lnTo>
                    <a:pt x="143" y="277"/>
                  </a:lnTo>
                  <a:lnTo>
                    <a:pt x="152" y="277"/>
                  </a:lnTo>
                  <a:lnTo>
                    <a:pt x="161" y="272"/>
                  </a:lnTo>
                  <a:lnTo>
                    <a:pt x="165" y="263"/>
                  </a:lnTo>
                  <a:lnTo>
                    <a:pt x="165" y="254"/>
                  </a:lnTo>
                  <a:lnTo>
                    <a:pt x="165" y="178"/>
                  </a:lnTo>
                  <a:lnTo>
                    <a:pt x="223" y="143"/>
                  </a:lnTo>
                  <a:lnTo>
                    <a:pt x="223" y="241"/>
                  </a:lnTo>
                  <a:lnTo>
                    <a:pt x="223" y="250"/>
                  </a:lnTo>
                  <a:lnTo>
                    <a:pt x="228" y="259"/>
                  </a:lnTo>
                  <a:lnTo>
                    <a:pt x="237" y="263"/>
                  </a:lnTo>
                  <a:lnTo>
                    <a:pt x="246" y="268"/>
                  </a:lnTo>
                  <a:lnTo>
                    <a:pt x="255" y="268"/>
                  </a:lnTo>
                  <a:lnTo>
                    <a:pt x="259" y="263"/>
                  </a:lnTo>
                  <a:lnTo>
                    <a:pt x="264" y="254"/>
                  </a:lnTo>
                  <a:lnTo>
                    <a:pt x="268" y="246"/>
                  </a:lnTo>
                  <a:lnTo>
                    <a:pt x="268" y="116"/>
                  </a:lnTo>
                  <a:lnTo>
                    <a:pt x="393" y="44"/>
                  </a:lnTo>
                  <a:lnTo>
                    <a:pt x="366" y="0"/>
                  </a:lnTo>
                  <a:lnTo>
                    <a:pt x="241" y="71"/>
                  </a:lnTo>
                  <a:lnTo>
                    <a:pt x="125" y="4"/>
                  </a:lnTo>
                  <a:lnTo>
                    <a:pt x="121" y="0"/>
                  </a:lnTo>
                  <a:lnTo>
                    <a:pt x="112" y="0"/>
                  </a:lnTo>
                  <a:lnTo>
                    <a:pt x="103" y="4"/>
                  </a:lnTo>
                  <a:lnTo>
                    <a:pt x="98" y="9"/>
                  </a:lnTo>
                  <a:lnTo>
                    <a:pt x="94" y="18"/>
                  </a:lnTo>
                  <a:lnTo>
                    <a:pt x="94" y="26"/>
                  </a:lnTo>
                  <a:lnTo>
                    <a:pt x="98" y="35"/>
                  </a:lnTo>
                  <a:lnTo>
                    <a:pt x="107" y="40"/>
                  </a:lnTo>
                  <a:lnTo>
                    <a:pt x="197" y="98"/>
                  </a:lnTo>
                  <a:lnTo>
                    <a:pt x="139" y="129"/>
                  </a:lnTo>
                  <a:lnTo>
                    <a:pt x="72" y="89"/>
                  </a:lnTo>
                  <a:lnTo>
                    <a:pt x="63" y="85"/>
                  </a:lnTo>
                  <a:lnTo>
                    <a:pt x="58" y="85"/>
                  </a:lnTo>
                  <a:lnTo>
                    <a:pt x="49" y="89"/>
                  </a:lnTo>
                  <a:lnTo>
                    <a:pt x="45" y="98"/>
                  </a:lnTo>
                  <a:lnTo>
                    <a:pt x="45" y="102"/>
                  </a:lnTo>
                  <a:lnTo>
                    <a:pt x="45" y="111"/>
                  </a:lnTo>
                  <a:lnTo>
                    <a:pt x="45" y="120"/>
                  </a:lnTo>
                  <a:lnTo>
                    <a:pt x="54" y="125"/>
                  </a:lnTo>
                  <a:lnTo>
                    <a:pt x="98" y="156"/>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18" name="Freeform 46"/>
            <p:cNvSpPr>
              <a:spLocks/>
            </p:cNvSpPr>
            <p:nvPr/>
          </p:nvSpPr>
          <p:spPr bwMode="auto">
            <a:xfrm>
              <a:off x="1210" y="648"/>
              <a:ext cx="299" cy="438"/>
            </a:xfrm>
            <a:custGeom>
              <a:avLst/>
              <a:gdLst>
                <a:gd name="T0" fmla="*/ 125 w 299"/>
                <a:gd name="T1" fmla="*/ 313 h 438"/>
                <a:gd name="T2" fmla="*/ 125 w 299"/>
                <a:gd name="T3" fmla="*/ 411 h 438"/>
                <a:gd name="T4" fmla="*/ 129 w 299"/>
                <a:gd name="T5" fmla="*/ 425 h 438"/>
                <a:gd name="T6" fmla="*/ 134 w 299"/>
                <a:gd name="T7" fmla="*/ 429 h 438"/>
                <a:gd name="T8" fmla="*/ 143 w 299"/>
                <a:gd name="T9" fmla="*/ 434 h 438"/>
                <a:gd name="T10" fmla="*/ 147 w 299"/>
                <a:gd name="T11" fmla="*/ 438 h 438"/>
                <a:gd name="T12" fmla="*/ 156 w 299"/>
                <a:gd name="T13" fmla="*/ 434 h 438"/>
                <a:gd name="T14" fmla="*/ 165 w 299"/>
                <a:gd name="T15" fmla="*/ 429 h 438"/>
                <a:gd name="T16" fmla="*/ 174 w 299"/>
                <a:gd name="T17" fmla="*/ 425 h 438"/>
                <a:gd name="T18" fmla="*/ 174 w 299"/>
                <a:gd name="T19" fmla="*/ 411 h 438"/>
                <a:gd name="T20" fmla="*/ 174 w 299"/>
                <a:gd name="T21" fmla="*/ 308 h 438"/>
                <a:gd name="T22" fmla="*/ 223 w 299"/>
                <a:gd name="T23" fmla="*/ 335 h 438"/>
                <a:gd name="T24" fmla="*/ 232 w 299"/>
                <a:gd name="T25" fmla="*/ 340 h 438"/>
                <a:gd name="T26" fmla="*/ 241 w 299"/>
                <a:gd name="T27" fmla="*/ 340 h 438"/>
                <a:gd name="T28" fmla="*/ 250 w 299"/>
                <a:gd name="T29" fmla="*/ 335 h 438"/>
                <a:gd name="T30" fmla="*/ 254 w 299"/>
                <a:gd name="T31" fmla="*/ 331 h 438"/>
                <a:gd name="T32" fmla="*/ 254 w 299"/>
                <a:gd name="T33" fmla="*/ 322 h 438"/>
                <a:gd name="T34" fmla="*/ 254 w 299"/>
                <a:gd name="T35" fmla="*/ 317 h 438"/>
                <a:gd name="T36" fmla="*/ 254 w 299"/>
                <a:gd name="T37" fmla="*/ 308 h 438"/>
                <a:gd name="T38" fmla="*/ 245 w 299"/>
                <a:gd name="T39" fmla="*/ 300 h 438"/>
                <a:gd name="T40" fmla="*/ 178 w 299"/>
                <a:gd name="T41" fmla="*/ 264 h 438"/>
                <a:gd name="T42" fmla="*/ 178 w 299"/>
                <a:gd name="T43" fmla="*/ 192 h 438"/>
                <a:gd name="T44" fmla="*/ 263 w 299"/>
                <a:gd name="T45" fmla="*/ 246 h 438"/>
                <a:gd name="T46" fmla="*/ 272 w 299"/>
                <a:gd name="T47" fmla="*/ 250 h 438"/>
                <a:gd name="T48" fmla="*/ 281 w 299"/>
                <a:gd name="T49" fmla="*/ 250 h 438"/>
                <a:gd name="T50" fmla="*/ 290 w 299"/>
                <a:gd name="T51" fmla="*/ 246 h 438"/>
                <a:gd name="T52" fmla="*/ 294 w 299"/>
                <a:gd name="T53" fmla="*/ 241 h 438"/>
                <a:gd name="T54" fmla="*/ 299 w 299"/>
                <a:gd name="T55" fmla="*/ 232 h 438"/>
                <a:gd name="T56" fmla="*/ 299 w 299"/>
                <a:gd name="T57" fmla="*/ 224 h 438"/>
                <a:gd name="T58" fmla="*/ 294 w 299"/>
                <a:gd name="T59" fmla="*/ 215 h 438"/>
                <a:gd name="T60" fmla="*/ 285 w 299"/>
                <a:gd name="T61" fmla="*/ 210 h 438"/>
                <a:gd name="T62" fmla="*/ 178 w 299"/>
                <a:gd name="T63" fmla="*/ 143 h 438"/>
                <a:gd name="T64" fmla="*/ 178 w 299"/>
                <a:gd name="T65" fmla="*/ 0 h 438"/>
                <a:gd name="T66" fmla="*/ 125 w 299"/>
                <a:gd name="T67" fmla="*/ 0 h 438"/>
                <a:gd name="T68" fmla="*/ 125 w 299"/>
                <a:gd name="T69" fmla="*/ 143 h 438"/>
                <a:gd name="T70" fmla="*/ 9 w 299"/>
                <a:gd name="T71" fmla="*/ 210 h 438"/>
                <a:gd name="T72" fmla="*/ 4 w 299"/>
                <a:gd name="T73" fmla="*/ 215 h 438"/>
                <a:gd name="T74" fmla="*/ 0 w 299"/>
                <a:gd name="T75" fmla="*/ 224 h 438"/>
                <a:gd name="T76" fmla="*/ 0 w 299"/>
                <a:gd name="T77" fmla="*/ 232 h 438"/>
                <a:gd name="T78" fmla="*/ 0 w 299"/>
                <a:gd name="T79" fmla="*/ 237 h 438"/>
                <a:gd name="T80" fmla="*/ 4 w 299"/>
                <a:gd name="T81" fmla="*/ 246 h 438"/>
                <a:gd name="T82" fmla="*/ 13 w 299"/>
                <a:gd name="T83" fmla="*/ 250 h 438"/>
                <a:gd name="T84" fmla="*/ 22 w 299"/>
                <a:gd name="T85" fmla="*/ 250 h 438"/>
                <a:gd name="T86" fmla="*/ 31 w 299"/>
                <a:gd name="T87" fmla="*/ 246 h 438"/>
                <a:gd name="T88" fmla="*/ 125 w 299"/>
                <a:gd name="T89" fmla="*/ 197 h 438"/>
                <a:gd name="T90" fmla="*/ 125 w 299"/>
                <a:gd name="T91" fmla="*/ 264 h 438"/>
                <a:gd name="T92" fmla="*/ 53 w 299"/>
                <a:gd name="T93" fmla="*/ 300 h 438"/>
                <a:gd name="T94" fmla="*/ 49 w 299"/>
                <a:gd name="T95" fmla="*/ 304 h 438"/>
                <a:gd name="T96" fmla="*/ 44 w 299"/>
                <a:gd name="T97" fmla="*/ 313 h 438"/>
                <a:gd name="T98" fmla="*/ 44 w 299"/>
                <a:gd name="T99" fmla="*/ 322 h 438"/>
                <a:gd name="T100" fmla="*/ 49 w 299"/>
                <a:gd name="T101" fmla="*/ 326 h 438"/>
                <a:gd name="T102" fmla="*/ 53 w 299"/>
                <a:gd name="T103" fmla="*/ 331 h 438"/>
                <a:gd name="T104" fmla="*/ 62 w 299"/>
                <a:gd name="T105" fmla="*/ 335 h 438"/>
                <a:gd name="T106" fmla="*/ 67 w 299"/>
                <a:gd name="T107" fmla="*/ 335 h 438"/>
                <a:gd name="T108" fmla="*/ 76 w 299"/>
                <a:gd name="T109" fmla="*/ 335 h 438"/>
                <a:gd name="T110" fmla="*/ 125 w 299"/>
                <a:gd name="T111" fmla="*/ 313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99" h="438">
                  <a:moveTo>
                    <a:pt x="125" y="313"/>
                  </a:moveTo>
                  <a:lnTo>
                    <a:pt x="125" y="411"/>
                  </a:lnTo>
                  <a:lnTo>
                    <a:pt x="129" y="425"/>
                  </a:lnTo>
                  <a:lnTo>
                    <a:pt x="134" y="429"/>
                  </a:lnTo>
                  <a:lnTo>
                    <a:pt x="143" y="434"/>
                  </a:lnTo>
                  <a:lnTo>
                    <a:pt x="147" y="438"/>
                  </a:lnTo>
                  <a:lnTo>
                    <a:pt x="156" y="434"/>
                  </a:lnTo>
                  <a:lnTo>
                    <a:pt x="165" y="429"/>
                  </a:lnTo>
                  <a:lnTo>
                    <a:pt x="174" y="425"/>
                  </a:lnTo>
                  <a:lnTo>
                    <a:pt x="174" y="411"/>
                  </a:lnTo>
                  <a:lnTo>
                    <a:pt x="174" y="308"/>
                  </a:lnTo>
                  <a:lnTo>
                    <a:pt x="223" y="335"/>
                  </a:lnTo>
                  <a:lnTo>
                    <a:pt x="232" y="340"/>
                  </a:lnTo>
                  <a:lnTo>
                    <a:pt x="241" y="340"/>
                  </a:lnTo>
                  <a:lnTo>
                    <a:pt x="250" y="335"/>
                  </a:lnTo>
                  <a:lnTo>
                    <a:pt x="254" y="331"/>
                  </a:lnTo>
                  <a:lnTo>
                    <a:pt x="254" y="322"/>
                  </a:lnTo>
                  <a:lnTo>
                    <a:pt x="254" y="317"/>
                  </a:lnTo>
                  <a:lnTo>
                    <a:pt x="254" y="308"/>
                  </a:lnTo>
                  <a:lnTo>
                    <a:pt x="245" y="300"/>
                  </a:lnTo>
                  <a:lnTo>
                    <a:pt x="178" y="264"/>
                  </a:lnTo>
                  <a:lnTo>
                    <a:pt x="178" y="192"/>
                  </a:lnTo>
                  <a:lnTo>
                    <a:pt x="263" y="246"/>
                  </a:lnTo>
                  <a:lnTo>
                    <a:pt x="272" y="250"/>
                  </a:lnTo>
                  <a:lnTo>
                    <a:pt x="281" y="250"/>
                  </a:lnTo>
                  <a:lnTo>
                    <a:pt x="290" y="246"/>
                  </a:lnTo>
                  <a:lnTo>
                    <a:pt x="294" y="241"/>
                  </a:lnTo>
                  <a:lnTo>
                    <a:pt x="299" y="232"/>
                  </a:lnTo>
                  <a:lnTo>
                    <a:pt x="299" y="224"/>
                  </a:lnTo>
                  <a:lnTo>
                    <a:pt x="294" y="215"/>
                  </a:lnTo>
                  <a:lnTo>
                    <a:pt x="285" y="210"/>
                  </a:lnTo>
                  <a:lnTo>
                    <a:pt x="178" y="143"/>
                  </a:lnTo>
                  <a:lnTo>
                    <a:pt x="178" y="0"/>
                  </a:lnTo>
                  <a:lnTo>
                    <a:pt x="125" y="0"/>
                  </a:lnTo>
                  <a:lnTo>
                    <a:pt x="125" y="143"/>
                  </a:lnTo>
                  <a:lnTo>
                    <a:pt x="9" y="210"/>
                  </a:lnTo>
                  <a:lnTo>
                    <a:pt x="4" y="215"/>
                  </a:lnTo>
                  <a:lnTo>
                    <a:pt x="0" y="224"/>
                  </a:lnTo>
                  <a:lnTo>
                    <a:pt x="0" y="232"/>
                  </a:lnTo>
                  <a:lnTo>
                    <a:pt x="0" y="237"/>
                  </a:lnTo>
                  <a:lnTo>
                    <a:pt x="4" y="246"/>
                  </a:lnTo>
                  <a:lnTo>
                    <a:pt x="13" y="250"/>
                  </a:lnTo>
                  <a:lnTo>
                    <a:pt x="22" y="250"/>
                  </a:lnTo>
                  <a:lnTo>
                    <a:pt x="31" y="246"/>
                  </a:lnTo>
                  <a:lnTo>
                    <a:pt x="125" y="197"/>
                  </a:lnTo>
                  <a:lnTo>
                    <a:pt x="125" y="264"/>
                  </a:lnTo>
                  <a:lnTo>
                    <a:pt x="53" y="300"/>
                  </a:lnTo>
                  <a:lnTo>
                    <a:pt x="49" y="304"/>
                  </a:lnTo>
                  <a:lnTo>
                    <a:pt x="44" y="313"/>
                  </a:lnTo>
                  <a:lnTo>
                    <a:pt x="44" y="322"/>
                  </a:lnTo>
                  <a:lnTo>
                    <a:pt x="49" y="326"/>
                  </a:lnTo>
                  <a:lnTo>
                    <a:pt x="53" y="331"/>
                  </a:lnTo>
                  <a:lnTo>
                    <a:pt x="62" y="335"/>
                  </a:lnTo>
                  <a:lnTo>
                    <a:pt x="67" y="335"/>
                  </a:lnTo>
                  <a:lnTo>
                    <a:pt x="76" y="335"/>
                  </a:lnTo>
                  <a:lnTo>
                    <a:pt x="125" y="313"/>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19" name="Freeform 47"/>
            <p:cNvSpPr>
              <a:spLocks/>
            </p:cNvSpPr>
            <p:nvPr/>
          </p:nvSpPr>
          <p:spPr bwMode="auto">
            <a:xfrm>
              <a:off x="1348" y="626"/>
              <a:ext cx="393" cy="272"/>
            </a:xfrm>
            <a:custGeom>
              <a:avLst/>
              <a:gdLst>
                <a:gd name="T0" fmla="*/ 272 w 393"/>
                <a:gd name="T1" fmla="*/ 201 h 272"/>
                <a:gd name="T2" fmla="*/ 357 w 393"/>
                <a:gd name="T3" fmla="*/ 250 h 272"/>
                <a:gd name="T4" fmla="*/ 366 w 393"/>
                <a:gd name="T5" fmla="*/ 254 h 272"/>
                <a:gd name="T6" fmla="*/ 375 w 393"/>
                <a:gd name="T7" fmla="*/ 254 h 272"/>
                <a:gd name="T8" fmla="*/ 384 w 393"/>
                <a:gd name="T9" fmla="*/ 250 h 272"/>
                <a:gd name="T10" fmla="*/ 388 w 393"/>
                <a:gd name="T11" fmla="*/ 241 h 272"/>
                <a:gd name="T12" fmla="*/ 393 w 393"/>
                <a:gd name="T13" fmla="*/ 232 h 272"/>
                <a:gd name="T14" fmla="*/ 393 w 393"/>
                <a:gd name="T15" fmla="*/ 223 h 272"/>
                <a:gd name="T16" fmla="*/ 388 w 393"/>
                <a:gd name="T17" fmla="*/ 214 h 272"/>
                <a:gd name="T18" fmla="*/ 384 w 393"/>
                <a:gd name="T19" fmla="*/ 210 h 272"/>
                <a:gd name="T20" fmla="*/ 295 w 393"/>
                <a:gd name="T21" fmla="*/ 156 h 272"/>
                <a:gd name="T22" fmla="*/ 339 w 393"/>
                <a:gd name="T23" fmla="*/ 129 h 272"/>
                <a:gd name="T24" fmla="*/ 348 w 393"/>
                <a:gd name="T25" fmla="*/ 125 h 272"/>
                <a:gd name="T26" fmla="*/ 353 w 393"/>
                <a:gd name="T27" fmla="*/ 116 h 272"/>
                <a:gd name="T28" fmla="*/ 353 w 393"/>
                <a:gd name="T29" fmla="*/ 107 h 272"/>
                <a:gd name="T30" fmla="*/ 353 w 393"/>
                <a:gd name="T31" fmla="*/ 98 h 272"/>
                <a:gd name="T32" fmla="*/ 344 w 393"/>
                <a:gd name="T33" fmla="*/ 94 h 272"/>
                <a:gd name="T34" fmla="*/ 339 w 393"/>
                <a:gd name="T35" fmla="*/ 89 h 272"/>
                <a:gd name="T36" fmla="*/ 330 w 393"/>
                <a:gd name="T37" fmla="*/ 89 h 272"/>
                <a:gd name="T38" fmla="*/ 321 w 393"/>
                <a:gd name="T39" fmla="*/ 89 h 272"/>
                <a:gd name="T40" fmla="*/ 254 w 393"/>
                <a:gd name="T41" fmla="*/ 129 h 272"/>
                <a:gd name="T42" fmla="*/ 196 w 393"/>
                <a:gd name="T43" fmla="*/ 94 h 272"/>
                <a:gd name="T44" fmla="*/ 281 w 393"/>
                <a:gd name="T45" fmla="*/ 49 h 272"/>
                <a:gd name="T46" fmla="*/ 290 w 393"/>
                <a:gd name="T47" fmla="*/ 40 h 272"/>
                <a:gd name="T48" fmla="*/ 295 w 393"/>
                <a:gd name="T49" fmla="*/ 31 h 272"/>
                <a:gd name="T50" fmla="*/ 295 w 393"/>
                <a:gd name="T51" fmla="*/ 26 h 272"/>
                <a:gd name="T52" fmla="*/ 295 w 393"/>
                <a:gd name="T53" fmla="*/ 18 h 272"/>
                <a:gd name="T54" fmla="*/ 290 w 393"/>
                <a:gd name="T55" fmla="*/ 9 h 272"/>
                <a:gd name="T56" fmla="*/ 281 w 393"/>
                <a:gd name="T57" fmla="*/ 4 h 272"/>
                <a:gd name="T58" fmla="*/ 272 w 393"/>
                <a:gd name="T59" fmla="*/ 4 h 272"/>
                <a:gd name="T60" fmla="*/ 263 w 393"/>
                <a:gd name="T61" fmla="*/ 9 h 272"/>
                <a:gd name="T62" fmla="*/ 152 w 393"/>
                <a:gd name="T63" fmla="*/ 71 h 272"/>
                <a:gd name="T64" fmla="*/ 27 w 393"/>
                <a:gd name="T65" fmla="*/ 0 h 272"/>
                <a:gd name="T66" fmla="*/ 0 w 393"/>
                <a:gd name="T67" fmla="*/ 44 h 272"/>
                <a:gd name="T68" fmla="*/ 125 w 393"/>
                <a:gd name="T69" fmla="*/ 116 h 272"/>
                <a:gd name="T70" fmla="*/ 125 w 393"/>
                <a:gd name="T71" fmla="*/ 250 h 272"/>
                <a:gd name="T72" fmla="*/ 125 w 393"/>
                <a:gd name="T73" fmla="*/ 259 h 272"/>
                <a:gd name="T74" fmla="*/ 129 w 393"/>
                <a:gd name="T75" fmla="*/ 263 h 272"/>
                <a:gd name="T76" fmla="*/ 138 w 393"/>
                <a:gd name="T77" fmla="*/ 268 h 272"/>
                <a:gd name="T78" fmla="*/ 143 w 393"/>
                <a:gd name="T79" fmla="*/ 272 h 272"/>
                <a:gd name="T80" fmla="*/ 152 w 393"/>
                <a:gd name="T81" fmla="*/ 272 h 272"/>
                <a:gd name="T82" fmla="*/ 161 w 393"/>
                <a:gd name="T83" fmla="*/ 268 h 272"/>
                <a:gd name="T84" fmla="*/ 165 w 393"/>
                <a:gd name="T85" fmla="*/ 259 h 272"/>
                <a:gd name="T86" fmla="*/ 165 w 393"/>
                <a:gd name="T87" fmla="*/ 250 h 272"/>
                <a:gd name="T88" fmla="*/ 170 w 393"/>
                <a:gd name="T89" fmla="*/ 143 h 272"/>
                <a:gd name="T90" fmla="*/ 228 w 393"/>
                <a:gd name="T91" fmla="*/ 178 h 272"/>
                <a:gd name="T92" fmla="*/ 223 w 393"/>
                <a:gd name="T93" fmla="*/ 254 h 272"/>
                <a:gd name="T94" fmla="*/ 228 w 393"/>
                <a:gd name="T95" fmla="*/ 263 h 272"/>
                <a:gd name="T96" fmla="*/ 232 w 393"/>
                <a:gd name="T97" fmla="*/ 268 h 272"/>
                <a:gd name="T98" fmla="*/ 237 w 393"/>
                <a:gd name="T99" fmla="*/ 272 h 272"/>
                <a:gd name="T100" fmla="*/ 245 w 393"/>
                <a:gd name="T101" fmla="*/ 272 h 272"/>
                <a:gd name="T102" fmla="*/ 254 w 393"/>
                <a:gd name="T103" fmla="*/ 272 h 272"/>
                <a:gd name="T104" fmla="*/ 259 w 393"/>
                <a:gd name="T105" fmla="*/ 268 h 272"/>
                <a:gd name="T106" fmla="*/ 263 w 393"/>
                <a:gd name="T107" fmla="*/ 263 h 272"/>
                <a:gd name="T108" fmla="*/ 268 w 393"/>
                <a:gd name="T109" fmla="*/ 254 h 272"/>
                <a:gd name="T110" fmla="*/ 272 w 393"/>
                <a:gd name="T111" fmla="*/ 201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2">
                  <a:moveTo>
                    <a:pt x="272" y="201"/>
                  </a:moveTo>
                  <a:lnTo>
                    <a:pt x="357" y="250"/>
                  </a:lnTo>
                  <a:lnTo>
                    <a:pt x="366" y="254"/>
                  </a:lnTo>
                  <a:lnTo>
                    <a:pt x="375" y="254"/>
                  </a:lnTo>
                  <a:lnTo>
                    <a:pt x="384" y="250"/>
                  </a:lnTo>
                  <a:lnTo>
                    <a:pt x="388" y="241"/>
                  </a:lnTo>
                  <a:lnTo>
                    <a:pt x="393" y="232"/>
                  </a:lnTo>
                  <a:lnTo>
                    <a:pt x="393" y="223"/>
                  </a:lnTo>
                  <a:lnTo>
                    <a:pt x="388" y="214"/>
                  </a:lnTo>
                  <a:lnTo>
                    <a:pt x="384" y="210"/>
                  </a:lnTo>
                  <a:lnTo>
                    <a:pt x="295" y="156"/>
                  </a:lnTo>
                  <a:lnTo>
                    <a:pt x="339" y="129"/>
                  </a:lnTo>
                  <a:lnTo>
                    <a:pt x="348" y="125"/>
                  </a:lnTo>
                  <a:lnTo>
                    <a:pt x="353" y="116"/>
                  </a:lnTo>
                  <a:lnTo>
                    <a:pt x="353" y="107"/>
                  </a:lnTo>
                  <a:lnTo>
                    <a:pt x="353" y="98"/>
                  </a:lnTo>
                  <a:lnTo>
                    <a:pt x="344" y="94"/>
                  </a:lnTo>
                  <a:lnTo>
                    <a:pt x="339" y="89"/>
                  </a:lnTo>
                  <a:lnTo>
                    <a:pt x="330" y="89"/>
                  </a:lnTo>
                  <a:lnTo>
                    <a:pt x="321" y="89"/>
                  </a:lnTo>
                  <a:lnTo>
                    <a:pt x="254" y="129"/>
                  </a:lnTo>
                  <a:lnTo>
                    <a:pt x="196" y="94"/>
                  </a:lnTo>
                  <a:lnTo>
                    <a:pt x="281" y="49"/>
                  </a:lnTo>
                  <a:lnTo>
                    <a:pt x="290" y="40"/>
                  </a:lnTo>
                  <a:lnTo>
                    <a:pt x="295" y="31"/>
                  </a:lnTo>
                  <a:lnTo>
                    <a:pt x="295" y="26"/>
                  </a:lnTo>
                  <a:lnTo>
                    <a:pt x="295" y="18"/>
                  </a:lnTo>
                  <a:lnTo>
                    <a:pt x="290" y="9"/>
                  </a:lnTo>
                  <a:lnTo>
                    <a:pt x="281" y="4"/>
                  </a:lnTo>
                  <a:lnTo>
                    <a:pt x="272" y="4"/>
                  </a:lnTo>
                  <a:lnTo>
                    <a:pt x="263" y="9"/>
                  </a:lnTo>
                  <a:lnTo>
                    <a:pt x="152" y="71"/>
                  </a:lnTo>
                  <a:lnTo>
                    <a:pt x="27" y="0"/>
                  </a:lnTo>
                  <a:lnTo>
                    <a:pt x="0" y="44"/>
                  </a:lnTo>
                  <a:lnTo>
                    <a:pt x="125" y="116"/>
                  </a:lnTo>
                  <a:lnTo>
                    <a:pt x="125" y="250"/>
                  </a:lnTo>
                  <a:lnTo>
                    <a:pt x="125" y="259"/>
                  </a:lnTo>
                  <a:lnTo>
                    <a:pt x="129" y="263"/>
                  </a:lnTo>
                  <a:lnTo>
                    <a:pt x="138" y="268"/>
                  </a:lnTo>
                  <a:lnTo>
                    <a:pt x="143" y="272"/>
                  </a:lnTo>
                  <a:lnTo>
                    <a:pt x="152" y="272"/>
                  </a:lnTo>
                  <a:lnTo>
                    <a:pt x="161" y="268"/>
                  </a:lnTo>
                  <a:lnTo>
                    <a:pt x="165" y="259"/>
                  </a:lnTo>
                  <a:lnTo>
                    <a:pt x="165" y="250"/>
                  </a:lnTo>
                  <a:lnTo>
                    <a:pt x="170" y="143"/>
                  </a:lnTo>
                  <a:lnTo>
                    <a:pt x="228" y="178"/>
                  </a:lnTo>
                  <a:lnTo>
                    <a:pt x="223" y="254"/>
                  </a:lnTo>
                  <a:lnTo>
                    <a:pt x="228" y="263"/>
                  </a:lnTo>
                  <a:lnTo>
                    <a:pt x="232" y="268"/>
                  </a:lnTo>
                  <a:lnTo>
                    <a:pt x="237" y="272"/>
                  </a:lnTo>
                  <a:lnTo>
                    <a:pt x="245" y="272"/>
                  </a:lnTo>
                  <a:lnTo>
                    <a:pt x="254" y="272"/>
                  </a:lnTo>
                  <a:lnTo>
                    <a:pt x="259" y="268"/>
                  </a:lnTo>
                  <a:lnTo>
                    <a:pt x="263" y="263"/>
                  </a:lnTo>
                  <a:lnTo>
                    <a:pt x="268" y="254"/>
                  </a:lnTo>
                  <a:lnTo>
                    <a:pt x="272" y="20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20" name="Freeform 48"/>
            <p:cNvSpPr>
              <a:spLocks/>
            </p:cNvSpPr>
            <p:nvPr/>
          </p:nvSpPr>
          <p:spPr bwMode="auto">
            <a:xfrm>
              <a:off x="1348" y="393"/>
              <a:ext cx="393" cy="277"/>
            </a:xfrm>
            <a:custGeom>
              <a:avLst/>
              <a:gdLst>
                <a:gd name="T0" fmla="*/ 295 w 393"/>
                <a:gd name="T1" fmla="*/ 121 h 277"/>
                <a:gd name="T2" fmla="*/ 384 w 393"/>
                <a:gd name="T3" fmla="*/ 72 h 277"/>
                <a:gd name="T4" fmla="*/ 393 w 393"/>
                <a:gd name="T5" fmla="*/ 63 h 277"/>
                <a:gd name="T6" fmla="*/ 393 w 393"/>
                <a:gd name="T7" fmla="*/ 54 h 277"/>
                <a:gd name="T8" fmla="*/ 393 w 393"/>
                <a:gd name="T9" fmla="*/ 49 h 277"/>
                <a:gd name="T10" fmla="*/ 393 w 393"/>
                <a:gd name="T11" fmla="*/ 40 h 277"/>
                <a:gd name="T12" fmla="*/ 384 w 393"/>
                <a:gd name="T13" fmla="*/ 31 h 277"/>
                <a:gd name="T14" fmla="*/ 379 w 393"/>
                <a:gd name="T15" fmla="*/ 27 h 277"/>
                <a:gd name="T16" fmla="*/ 370 w 393"/>
                <a:gd name="T17" fmla="*/ 27 h 277"/>
                <a:gd name="T18" fmla="*/ 357 w 393"/>
                <a:gd name="T19" fmla="*/ 27 h 277"/>
                <a:gd name="T20" fmla="*/ 268 w 393"/>
                <a:gd name="T21" fmla="*/ 81 h 277"/>
                <a:gd name="T22" fmla="*/ 268 w 393"/>
                <a:gd name="T23" fmla="*/ 27 h 277"/>
                <a:gd name="T24" fmla="*/ 268 w 393"/>
                <a:gd name="T25" fmla="*/ 14 h 277"/>
                <a:gd name="T26" fmla="*/ 263 w 393"/>
                <a:gd name="T27" fmla="*/ 9 h 277"/>
                <a:gd name="T28" fmla="*/ 254 w 393"/>
                <a:gd name="T29" fmla="*/ 5 h 277"/>
                <a:gd name="T30" fmla="*/ 250 w 393"/>
                <a:gd name="T31" fmla="*/ 0 h 277"/>
                <a:gd name="T32" fmla="*/ 241 w 393"/>
                <a:gd name="T33" fmla="*/ 5 h 277"/>
                <a:gd name="T34" fmla="*/ 232 w 393"/>
                <a:gd name="T35" fmla="*/ 5 h 277"/>
                <a:gd name="T36" fmla="*/ 228 w 393"/>
                <a:gd name="T37" fmla="*/ 14 h 277"/>
                <a:gd name="T38" fmla="*/ 228 w 393"/>
                <a:gd name="T39" fmla="*/ 23 h 277"/>
                <a:gd name="T40" fmla="*/ 228 w 393"/>
                <a:gd name="T41" fmla="*/ 99 h 277"/>
                <a:gd name="T42" fmla="*/ 170 w 393"/>
                <a:gd name="T43" fmla="*/ 134 h 277"/>
                <a:gd name="T44" fmla="*/ 170 w 393"/>
                <a:gd name="T45" fmla="*/ 36 h 277"/>
                <a:gd name="T46" fmla="*/ 170 w 393"/>
                <a:gd name="T47" fmla="*/ 27 h 277"/>
                <a:gd name="T48" fmla="*/ 165 w 393"/>
                <a:gd name="T49" fmla="*/ 18 h 277"/>
                <a:gd name="T50" fmla="*/ 156 w 393"/>
                <a:gd name="T51" fmla="*/ 14 h 277"/>
                <a:gd name="T52" fmla="*/ 147 w 393"/>
                <a:gd name="T53" fmla="*/ 9 h 277"/>
                <a:gd name="T54" fmla="*/ 138 w 393"/>
                <a:gd name="T55" fmla="*/ 9 h 277"/>
                <a:gd name="T56" fmla="*/ 134 w 393"/>
                <a:gd name="T57" fmla="*/ 14 h 277"/>
                <a:gd name="T58" fmla="*/ 129 w 393"/>
                <a:gd name="T59" fmla="*/ 23 h 277"/>
                <a:gd name="T60" fmla="*/ 125 w 393"/>
                <a:gd name="T61" fmla="*/ 31 h 277"/>
                <a:gd name="T62" fmla="*/ 125 w 393"/>
                <a:gd name="T63" fmla="*/ 161 h 277"/>
                <a:gd name="T64" fmla="*/ 0 w 393"/>
                <a:gd name="T65" fmla="*/ 233 h 277"/>
                <a:gd name="T66" fmla="*/ 27 w 393"/>
                <a:gd name="T67" fmla="*/ 277 h 277"/>
                <a:gd name="T68" fmla="*/ 152 w 393"/>
                <a:gd name="T69" fmla="*/ 206 h 277"/>
                <a:gd name="T70" fmla="*/ 268 w 393"/>
                <a:gd name="T71" fmla="*/ 273 h 277"/>
                <a:gd name="T72" fmla="*/ 272 w 393"/>
                <a:gd name="T73" fmla="*/ 277 h 277"/>
                <a:gd name="T74" fmla="*/ 281 w 393"/>
                <a:gd name="T75" fmla="*/ 277 h 277"/>
                <a:gd name="T76" fmla="*/ 290 w 393"/>
                <a:gd name="T77" fmla="*/ 273 h 277"/>
                <a:gd name="T78" fmla="*/ 295 w 393"/>
                <a:gd name="T79" fmla="*/ 268 h 277"/>
                <a:gd name="T80" fmla="*/ 299 w 393"/>
                <a:gd name="T81" fmla="*/ 259 h 277"/>
                <a:gd name="T82" fmla="*/ 299 w 393"/>
                <a:gd name="T83" fmla="*/ 251 h 277"/>
                <a:gd name="T84" fmla="*/ 295 w 393"/>
                <a:gd name="T85" fmla="*/ 242 h 277"/>
                <a:gd name="T86" fmla="*/ 286 w 393"/>
                <a:gd name="T87" fmla="*/ 237 h 277"/>
                <a:gd name="T88" fmla="*/ 196 w 393"/>
                <a:gd name="T89" fmla="*/ 179 h 277"/>
                <a:gd name="T90" fmla="*/ 254 w 393"/>
                <a:gd name="T91" fmla="*/ 148 h 277"/>
                <a:gd name="T92" fmla="*/ 321 w 393"/>
                <a:gd name="T93" fmla="*/ 188 h 277"/>
                <a:gd name="T94" fmla="*/ 330 w 393"/>
                <a:gd name="T95" fmla="*/ 192 h 277"/>
                <a:gd name="T96" fmla="*/ 335 w 393"/>
                <a:gd name="T97" fmla="*/ 192 h 277"/>
                <a:gd name="T98" fmla="*/ 344 w 393"/>
                <a:gd name="T99" fmla="*/ 188 h 277"/>
                <a:gd name="T100" fmla="*/ 348 w 393"/>
                <a:gd name="T101" fmla="*/ 179 h 277"/>
                <a:gd name="T102" fmla="*/ 348 w 393"/>
                <a:gd name="T103" fmla="*/ 175 h 277"/>
                <a:gd name="T104" fmla="*/ 348 w 393"/>
                <a:gd name="T105" fmla="*/ 166 h 277"/>
                <a:gd name="T106" fmla="*/ 348 w 393"/>
                <a:gd name="T107" fmla="*/ 157 h 277"/>
                <a:gd name="T108" fmla="*/ 339 w 393"/>
                <a:gd name="T109" fmla="*/ 152 h 277"/>
                <a:gd name="T110" fmla="*/ 295 w 393"/>
                <a:gd name="T111" fmla="*/ 121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7">
                  <a:moveTo>
                    <a:pt x="295" y="121"/>
                  </a:moveTo>
                  <a:lnTo>
                    <a:pt x="384" y="72"/>
                  </a:lnTo>
                  <a:lnTo>
                    <a:pt x="393" y="63"/>
                  </a:lnTo>
                  <a:lnTo>
                    <a:pt x="393" y="54"/>
                  </a:lnTo>
                  <a:lnTo>
                    <a:pt x="393" y="49"/>
                  </a:lnTo>
                  <a:lnTo>
                    <a:pt x="393" y="40"/>
                  </a:lnTo>
                  <a:lnTo>
                    <a:pt x="384" y="31"/>
                  </a:lnTo>
                  <a:lnTo>
                    <a:pt x="379" y="27"/>
                  </a:lnTo>
                  <a:lnTo>
                    <a:pt x="370" y="27"/>
                  </a:lnTo>
                  <a:lnTo>
                    <a:pt x="357" y="27"/>
                  </a:lnTo>
                  <a:lnTo>
                    <a:pt x="268" y="81"/>
                  </a:lnTo>
                  <a:lnTo>
                    <a:pt x="268" y="27"/>
                  </a:lnTo>
                  <a:lnTo>
                    <a:pt x="268" y="14"/>
                  </a:lnTo>
                  <a:lnTo>
                    <a:pt x="263" y="9"/>
                  </a:lnTo>
                  <a:lnTo>
                    <a:pt x="254" y="5"/>
                  </a:lnTo>
                  <a:lnTo>
                    <a:pt x="250" y="0"/>
                  </a:lnTo>
                  <a:lnTo>
                    <a:pt x="241" y="5"/>
                  </a:lnTo>
                  <a:lnTo>
                    <a:pt x="232" y="5"/>
                  </a:lnTo>
                  <a:lnTo>
                    <a:pt x="228" y="14"/>
                  </a:lnTo>
                  <a:lnTo>
                    <a:pt x="228" y="23"/>
                  </a:lnTo>
                  <a:lnTo>
                    <a:pt x="228" y="99"/>
                  </a:lnTo>
                  <a:lnTo>
                    <a:pt x="170" y="134"/>
                  </a:lnTo>
                  <a:lnTo>
                    <a:pt x="170" y="36"/>
                  </a:lnTo>
                  <a:lnTo>
                    <a:pt x="170" y="27"/>
                  </a:lnTo>
                  <a:lnTo>
                    <a:pt x="165" y="18"/>
                  </a:lnTo>
                  <a:lnTo>
                    <a:pt x="156" y="14"/>
                  </a:lnTo>
                  <a:lnTo>
                    <a:pt x="147" y="9"/>
                  </a:lnTo>
                  <a:lnTo>
                    <a:pt x="138" y="9"/>
                  </a:lnTo>
                  <a:lnTo>
                    <a:pt x="134" y="14"/>
                  </a:lnTo>
                  <a:lnTo>
                    <a:pt x="129" y="23"/>
                  </a:lnTo>
                  <a:lnTo>
                    <a:pt x="125" y="31"/>
                  </a:lnTo>
                  <a:lnTo>
                    <a:pt x="125" y="161"/>
                  </a:lnTo>
                  <a:lnTo>
                    <a:pt x="0" y="233"/>
                  </a:lnTo>
                  <a:lnTo>
                    <a:pt x="27" y="277"/>
                  </a:lnTo>
                  <a:lnTo>
                    <a:pt x="152" y="206"/>
                  </a:lnTo>
                  <a:lnTo>
                    <a:pt x="268" y="273"/>
                  </a:lnTo>
                  <a:lnTo>
                    <a:pt x="272" y="277"/>
                  </a:lnTo>
                  <a:lnTo>
                    <a:pt x="281" y="277"/>
                  </a:lnTo>
                  <a:lnTo>
                    <a:pt x="290" y="273"/>
                  </a:lnTo>
                  <a:lnTo>
                    <a:pt x="295" y="268"/>
                  </a:lnTo>
                  <a:lnTo>
                    <a:pt x="299" y="259"/>
                  </a:lnTo>
                  <a:lnTo>
                    <a:pt x="299" y="251"/>
                  </a:lnTo>
                  <a:lnTo>
                    <a:pt x="295" y="242"/>
                  </a:lnTo>
                  <a:lnTo>
                    <a:pt x="286" y="237"/>
                  </a:lnTo>
                  <a:lnTo>
                    <a:pt x="196" y="179"/>
                  </a:lnTo>
                  <a:lnTo>
                    <a:pt x="254" y="148"/>
                  </a:lnTo>
                  <a:lnTo>
                    <a:pt x="321" y="188"/>
                  </a:lnTo>
                  <a:lnTo>
                    <a:pt x="330" y="192"/>
                  </a:lnTo>
                  <a:lnTo>
                    <a:pt x="335" y="192"/>
                  </a:lnTo>
                  <a:lnTo>
                    <a:pt x="344" y="188"/>
                  </a:lnTo>
                  <a:lnTo>
                    <a:pt x="348" y="179"/>
                  </a:lnTo>
                  <a:lnTo>
                    <a:pt x="348" y="175"/>
                  </a:lnTo>
                  <a:lnTo>
                    <a:pt x="348" y="166"/>
                  </a:lnTo>
                  <a:lnTo>
                    <a:pt x="348" y="157"/>
                  </a:lnTo>
                  <a:lnTo>
                    <a:pt x="339" y="152"/>
                  </a:lnTo>
                  <a:lnTo>
                    <a:pt x="295" y="12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21" name="Freeform 49"/>
            <p:cNvSpPr>
              <a:spLocks/>
            </p:cNvSpPr>
            <p:nvPr/>
          </p:nvSpPr>
          <p:spPr bwMode="auto">
            <a:xfrm>
              <a:off x="1232" y="536"/>
              <a:ext cx="263" cy="228"/>
            </a:xfrm>
            <a:custGeom>
              <a:avLst/>
              <a:gdLst>
                <a:gd name="T0" fmla="*/ 0 w 263"/>
                <a:gd name="T1" fmla="*/ 116 h 228"/>
                <a:gd name="T2" fmla="*/ 49 w 263"/>
                <a:gd name="T3" fmla="*/ 67 h 228"/>
                <a:gd name="T4" fmla="*/ 67 w 263"/>
                <a:gd name="T5" fmla="*/ 0 h 228"/>
                <a:gd name="T6" fmla="*/ 134 w 263"/>
                <a:gd name="T7" fmla="*/ 23 h 228"/>
                <a:gd name="T8" fmla="*/ 201 w 263"/>
                <a:gd name="T9" fmla="*/ 0 h 228"/>
                <a:gd name="T10" fmla="*/ 214 w 263"/>
                <a:gd name="T11" fmla="*/ 67 h 228"/>
                <a:gd name="T12" fmla="*/ 263 w 263"/>
                <a:gd name="T13" fmla="*/ 116 h 228"/>
                <a:gd name="T14" fmla="*/ 214 w 263"/>
                <a:gd name="T15" fmla="*/ 161 h 228"/>
                <a:gd name="T16" fmla="*/ 201 w 263"/>
                <a:gd name="T17" fmla="*/ 228 h 228"/>
                <a:gd name="T18" fmla="*/ 134 w 263"/>
                <a:gd name="T19" fmla="*/ 210 h 228"/>
                <a:gd name="T20" fmla="*/ 67 w 263"/>
                <a:gd name="T21" fmla="*/ 228 h 228"/>
                <a:gd name="T22" fmla="*/ 49 w 263"/>
                <a:gd name="T23" fmla="*/ 161 h 228"/>
                <a:gd name="T24" fmla="*/ 0 w 263"/>
                <a:gd name="T25" fmla="*/ 116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3" h="228">
                  <a:moveTo>
                    <a:pt x="0" y="116"/>
                  </a:moveTo>
                  <a:lnTo>
                    <a:pt x="49" y="67"/>
                  </a:lnTo>
                  <a:lnTo>
                    <a:pt x="67" y="0"/>
                  </a:lnTo>
                  <a:lnTo>
                    <a:pt x="134" y="23"/>
                  </a:lnTo>
                  <a:lnTo>
                    <a:pt x="201" y="0"/>
                  </a:lnTo>
                  <a:lnTo>
                    <a:pt x="214" y="67"/>
                  </a:lnTo>
                  <a:lnTo>
                    <a:pt x="263" y="116"/>
                  </a:lnTo>
                  <a:lnTo>
                    <a:pt x="214" y="161"/>
                  </a:lnTo>
                  <a:lnTo>
                    <a:pt x="201" y="228"/>
                  </a:lnTo>
                  <a:lnTo>
                    <a:pt x="134" y="210"/>
                  </a:lnTo>
                  <a:lnTo>
                    <a:pt x="67" y="228"/>
                  </a:lnTo>
                  <a:lnTo>
                    <a:pt x="49" y="161"/>
                  </a:lnTo>
                  <a:lnTo>
                    <a:pt x="0" y="116"/>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grpSp>
      <p:grpSp>
        <p:nvGrpSpPr>
          <p:cNvPr id="22" name="Group 42"/>
          <p:cNvGrpSpPr>
            <a:grpSpLocks/>
          </p:cNvGrpSpPr>
          <p:nvPr/>
        </p:nvGrpSpPr>
        <p:grpSpPr bwMode="auto">
          <a:xfrm>
            <a:off x="2814464" y="4280459"/>
            <a:ext cx="533400" cy="609600"/>
            <a:chOff x="982" y="214"/>
            <a:chExt cx="759" cy="872"/>
          </a:xfrm>
        </p:grpSpPr>
        <p:sp>
          <p:nvSpPr>
            <p:cNvPr id="23" name="Freeform 43"/>
            <p:cNvSpPr>
              <a:spLocks/>
            </p:cNvSpPr>
            <p:nvPr/>
          </p:nvSpPr>
          <p:spPr bwMode="auto">
            <a:xfrm>
              <a:off x="1214" y="214"/>
              <a:ext cx="299" cy="434"/>
            </a:xfrm>
            <a:custGeom>
              <a:avLst/>
              <a:gdLst>
                <a:gd name="T0" fmla="*/ 174 w 299"/>
                <a:gd name="T1" fmla="*/ 121 h 434"/>
                <a:gd name="T2" fmla="*/ 174 w 299"/>
                <a:gd name="T3" fmla="*/ 23 h 434"/>
                <a:gd name="T4" fmla="*/ 170 w 299"/>
                <a:gd name="T5" fmla="*/ 9 h 434"/>
                <a:gd name="T6" fmla="*/ 165 w 299"/>
                <a:gd name="T7" fmla="*/ 5 h 434"/>
                <a:gd name="T8" fmla="*/ 156 w 299"/>
                <a:gd name="T9" fmla="*/ 0 h 434"/>
                <a:gd name="T10" fmla="*/ 152 w 299"/>
                <a:gd name="T11" fmla="*/ 0 h 434"/>
                <a:gd name="T12" fmla="*/ 143 w 299"/>
                <a:gd name="T13" fmla="*/ 0 h 434"/>
                <a:gd name="T14" fmla="*/ 134 w 299"/>
                <a:gd name="T15" fmla="*/ 5 h 434"/>
                <a:gd name="T16" fmla="*/ 125 w 299"/>
                <a:gd name="T17" fmla="*/ 9 h 434"/>
                <a:gd name="T18" fmla="*/ 125 w 299"/>
                <a:gd name="T19" fmla="*/ 23 h 434"/>
                <a:gd name="T20" fmla="*/ 125 w 299"/>
                <a:gd name="T21" fmla="*/ 126 h 434"/>
                <a:gd name="T22" fmla="*/ 76 w 299"/>
                <a:gd name="T23" fmla="*/ 99 h 434"/>
                <a:gd name="T24" fmla="*/ 67 w 299"/>
                <a:gd name="T25" fmla="*/ 94 h 434"/>
                <a:gd name="T26" fmla="*/ 58 w 299"/>
                <a:gd name="T27" fmla="*/ 94 h 434"/>
                <a:gd name="T28" fmla="*/ 49 w 299"/>
                <a:gd name="T29" fmla="*/ 99 h 434"/>
                <a:gd name="T30" fmla="*/ 45 w 299"/>
                <a:gd name="T31" fmla="*/ 103 h 434"/>
                <a:gd name="T32" fmla="*/ 40 w 299"/>
                <a:gd name="T33" fmla="*/ 112 h 434"/>
                <a:gd name="T34" fmla="*/ 45 w 299"/>
                <a:gd name="T35" fmla="*/ 117 h 434"/>
                <a:gd name="T36" fmla="*/ 45 w 299"/>
                <a:gd name="T37" fmla="*/ 126 h 434"/>
                <a:gd name="T38" fmla="*/ 54 w 299"/>
                <a:gd name="T39" fmla="*/ 134 h 434"/>
                <a:gd name="T40" fmla="*/ 121 w 299"/>
                <a:gd name="T41" fmla="*/ 170 h 434"/>
                <a:gd name="T42" fmla="*/ 121 w 299"/>
                <a:gd name="T43" fmla="*/ 242 h 434"/>
                <a:gd name="T44" fmla="*/ 36 w 299"/>
                <a:gd name="T45" fmla="*/ 188 h 434"/>
                <a:gd name="T46" fmla="*/ 27 w 299"/>
                <a:gd name="T47" fmla="*/ 184 h 434"/>
                <a:gd name="T48" fmla="*/ 18 w 299"/>
                <a:gd name="T49" fmla="*/ 184 h 434"/>
                <a:gd name="T50" fmla="*/ 9 w 299"/>
                <a:gd name="T51" fmla="*/ 188 h 434"/>
                <a:gd name="T52" fmla="*/ 5 w 299"/>
                <a:gd name="T53" fmla="*/ 193 h 434"/>
                <a:gd name="T54" fmla="*/ 0 w 299"/>
                <a:gd name="T55" fmla="*/ 202 h 434"/>
                <a:gd name="T56" fmla="*/ 0 w 299"/>
                <a:gd name="T57" fmla="*/ 210 h 434"/>
                <a:gd name="T58" fmla="*/ 5 w 299"/>
                <a:gd name="T59" fmla="*/ 219 h 434"/>
                <a:gd name="T60" fmla="*/ 14 w 299"/>
                <a:gd name="T61" fmla="*/ 224 h 434"/>
                <a:gd name="T62" fmla="*/ 121 w 299"/>
                <a:gd name="T63" fmla="*/ 291 h 434"/>
                <a:gd name="T64" fmla="*/ 121 w 299"/>
                <a:gd name="T65" fmla="*/ 434 h 434"/>
                <a:gd name="T66" fmla="*/ 174 w 299"/>
                <a:gd name="T67" fmla="*/ 434 h 434"/>
                <a:gd name="T68" fmla="*/ 174 w 299"/>
                <a:gd name="T69" fmla="*/ 291 h 434"/>
                <a:gd name="T70" fmla="*/ 290 w 299"/>
                <a:gd name="T71" fmla="*/ 224 h 434"/>
                <a:gd name="T72" fmla="*/ 295 w 299"/>
                <a:gd name="T73" fmla="*/ 219 h 434"/>
                <a:gd name="T74" fmla="*/ 299 w 299"/>
                <a:gd name="T75" fmla="*/ 210 h 434"/>
                <a:gd name="T76" fmla="*/ 299 w 299"/>
                <a:gd name="T77" fmla="*/ 202 h 434"/>
                <a:gd name="T78" fmla="*/ 299 w 299"/>
                <a:gd name="T79" fmla="*/ 197 h 434"/>
                <a:gd name="T80" fmla="*/ 295 w 299"/>
                <a:gd name="T81" fmla="*/ 188 h 434"/>
                <a:gd name="T82" fmla="*/ 286 w 299"/>
                <a:gd name="T83" fmla="*/ 184 h 434"/>
                <a:gd name="T84" fmla="*/ 277 w 299"/>
                <a:gd name="T85" fmla="*/ 184 h 434"/>
                <a:gd name="T86" fmla="*/ 268 w 299"/>
                <a:gd name="T87" fmla="*/ 188 h 434"/>
                <a:gd name="T88" fmla="*/ 174 w 299"/>
                <a:gd name="T89" fmla="*/ 237 h 434"/>
                <a:gd name="T90" fmla="*/ 174 w 299"/>
                <a:gd name="T91" fmla="*/ 170 h 434"/>
                <a:gd name="T92" fmla="*/ 246 w 299"/>
                <a:gd name="T93" fmla="*/ 134 h 434"/>
                <a:gd name="T94" fmla="*/ 250 w 299"/>
                <a:gd name="T95" fmla="*/ 130 h 434"/>
                <a:gd name="T96" fmla="*/ 255 w 299"/>
                <a:gd name="T97" fmla="*/ 121 h 434"/>
                <a:gd name="T98" fmla="*/ 255 w 299"/>
                <a:gd name="T99" fmla="*/ 112 h 434"/>
                <a:gd name="T100" fmla="*/ 250 w 299"/>
                <a:gd name="T101" fmla="*/ 108 h 434"/>
                <a:gd name="T102" fmla="*/ 246 w 299"/>
                <a:gd name="T103" fmla="*/ 103 h 434"/>
                <a:gd name="T104" fmla="*/ 237 w 299"/>
                <a:gd name="T105" fmla="*/ 99 h 434"/>
                <a:gd name="T106" fmla="*/ 232 w 299"/>
                <a:gd name="T107" fmla="*/ 99 h 434"/>
                <a:gd name="T108" fmla="*/ 223 w 299"/>
                <a:gd name="T109" fmla="*/ 99 h 434"/>
                <a:gd name="T110" fmla="*/ 174 w 299"/>
                <a:gd name="T111" fmla="*/ 121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99" h="434">
                  <a:moveTo>
                    <a:pt x="174" y="121"/>
                  </a:moveTo>
                  <a:lnTo>
                    <a:pt x="174" y="23"/>
                  </a:lnTo>
                  <a:lnTo>
                    <a:pt x="170" y="9"/>
                  </a:lnTo>
                  <a:lnTo>
                    <a:pt x="165" y="5"/>
                  </a:lnTo>
                  <a:lnTo>
                    <a:pt x="156" y="0"/>
                  </a:lnTo>
                  <a:lnTo>
                    <a:pt x="152" y="0"/>
                  </a:lnTo>
                  <a:lnTo>
                    <a:pt x="143" y="0"/>
                  </a:lnTo>
                  <a:lnTo>
                    <a:pt x="134" y="5"/>
                  </a:lnTo>
                  <a:lnTo>
                    <a:pt x="125" y="9"/>
                  </a:lnTo>
                  <a:lnTo>
                    <a:pt x="125" y="23"/>
                  </a:lnTo>
                  <a:lnTo>
                    <a:pt x="125" y="126"/>
                  </a:lnTo>
                  <a:lnTo>
                    <a:pt x="76" y="99"/>
                  </a:lnTo>
                  <a:lnTo>
                    <a:pt x="67" y="94"/>
                  </a:lnTo>
                  <a:lnTo>
                    <a:pt x="58" y="94"/>
                  </a:lnTo>
                  <a:lnTo>
                    <a:pt x="49" y="99"/>
                  </a:lnTo>
                  <a:lnTo>
                    <a:pt x="45" y="103"/>
                  </a:lnTo>
                  <a:lnTo>
                    <a:pt x="40" y="112"/>
                  </a:lnTo>
                  <a:lnTo>
                    <a:pt x="45" y="117"/>
                  </a:lnTo>
                  <a:lnTo>
                    <a:pt x="45" y="126"/>
                  </a:lnTo>
                  <a:lnTo>
                    <a:pt x="54" y="134"/>
                  </a:lnTo>
                  <a:lnTo>
                    <a:pt x="121" y="170"/>
                  </a:lnTo>
                  <a:lnTo>
                    <a:pt x="121" y="242"/>
                  </a:lnTo>
                  <a:lnTo>
                    <a:pt x="36" y="188"/>
                  </a:lnTo>
                  <a:lnTo>
                    <a:pt x="27" y="184"/>
                  </a:lnTo>
                  <a:lnTo>
                    <a:pt x="18" y="184"/>
                  </a:lnTo>
                  <a:lnTo>
                    <a:pt x="9" y="188"/>
                  </a:lnTo>
                  <a:lnTo>
                    <a:pt x="5" y="193"/>
                  </a:lnTo>
                  <a:lnTo>
                    <a:pt x="0" y="202"/>
                  </a:lnTo>
                  <a:lnTo>
                    <a:pt x="0" y="210"/>
                  </a:lnTo>
                  <a:lnTo>
                    <a:pt x="5" y="219"/>
                  </a:lnTo>
                  <a:lnTo>
                    <a:pt x="14" y="224"/>
                  </a:lnTo>
                  <a:lnTo>
                    <a:pt x="121" y="291"/>
                  </a:lnTo>
                  <a:lnTo>
                    <a:pt x="121" y="434"/>
                  </a:lnTo>
                  <a:lnTo>
                    <a:pt x="174" y="434"/>
                  </a:lnTo>
                  <a:lnTo>
                    <a:pt x="174" y="291"/>
                  </a:lnTo>
                  <a:lnTo>
                    <a:pt x="290" y="224"/>
                  </a:lnTo>
                  <a:lnTo>
                    <a:pt x="295" y="219"/>
                  </a:lnTo>
                  <a:lnTo>
                    <a:pt x="299" y="210"/>
                  </a:lnTo>
                  <a:lnTo>
                    <a:pt x="299" y="202"/>
                  </a:lnTo>
                  <a:lnTo>
                    <a:pt x="299" y="197"/>
                  </a:lnTo>
                  <a:lnTo>
                    <a:pt x="295" y="188"/>
                  </a:lnTo>
                  <a:lnTo>
                    <a:pt x="286" y="184"/>
                  </a:lnTo>
                  <a:lnTo>
                    <a:pt x="277" y="184"/>
                  </a:lnTo>
                  <a:lnTo>
                    <a:pt x="268" y="188"/>
                  </a:lnTo>
                  <a:lnTo>
                    <a:pt x="174" y="237"/>
                  </a:lnTo>
                  <a:lnTo>
                    <a:pt x="174" y="170"/>
                  </a:lnTo>
                  <a:lnTo>
                    <a:pt x="246" y="134"/>
                  </a:lnTo>
                  <a:lnTo>
                    <a:pt x="250" y="130"/>
                  </a:lnTo>
                  <a:lnTo>
                    <a:pt x="255" y="121"/>
                  </a:lnTo>
                  <a:lnTo>
                    <a:pt x="255" y="112"/>
                  </a:lnTo>
                  <a:lnTo>
                    <a:pt x="250" y="108"/>
                  </a:lnTo>
                  <a:lnTo>
                    <a:pt x="246" y="103"/>
                  </a:lnTo>
                  <a:lnTo>
                    <a:pt x="237" y="99"/>
                  </a:lnTo>
                  <a:lnTo>
                    <a:pt x="232" y="99"/>
                  </a:lnTo>
                  <a:lnTo>
                    <a:pt x="223" y="99"/>
                  </a:lnTo>
                  <a:lnTo>
                    <a:pt x="174" y="12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24" name="Freeform 44"/>
            <p:cNvSpPr>
              <a:spLocks/>
            </p:cNvSpPr>
            <p:nvPr/>
          </p:nvSpPr>
          <p:spPr bwMode="auto">
            <a:xfrm>
              <a:off x="982" y="398"/>
              <a:ext cx="393" cy="272"/>
            </a:xfrm>
            <a:custGeom>
              <a:avLst/>
              <a:gdLst>
                <a:gd name="T0" fmla="*/ 121 w 393"/>
                <a:gd name="T1" fmla="*/ 71 h 272"/>
                <a:gd name="T2" fmla="*/ 36 w 393"/>
                <a:gd name="T3" fmla="*/ 22 h 272"/>
                <a:gd name="T4" fmla="*/ 27 w 393"/>
                <a:gd name="T5" fmla="*/ 18 h 272"/>
                <a:gd name="T6" fmla="*/ 18 w 393"/>
                <a:gd name="T7" fmla="*/ 18 h 272"/>
                <a:gd name="T8" fmla="*/ 9 w 393"/>
                <a:gd name="T9" fmla="*/ 22 h 272"/>
                <a:gd name="T10" fmla="*/ 5 w 393"/>
                <a:gd name="T11" fmla="*/ 31 h 272"/>
                <a:gd name="T12" fmla="*/ 0 w 393"/>
                <a:gd name="T13" fmla="*/ 40 h 272"/>
                <a:gd name="T14" fmla="*/ 0 w 393"/>
                <a:gd name="T15" fmla="*/ 49 h 272"/>
                <a:gd name="T16" fmla="*/ 5 w 393"/>
                <a:gd name="T17" fmla="*/ 58 h 272"/>
                <a:gd name="T18" fmla="*/ 9 w 393"/>
                <a:gd name="T19" fmla="*/ 62 h 272"/>
                <a:gd name="T20" fmla="*/ 98 w 393"/>
                <a:gd name="T21" fmla="*/ 116 h 272"/>
                <a:gd name="T22" fmla="*/ 54 w 393"/>
                <a:gd name="T23" fmla="*/ 143 h 272"/>
                <a:gd name="T24" fmla="*/ 45 w 393"/>
                <a:gd name="T25" fmla="*/ 147 h 272"/>
                <a:gd name="T26" fmla="*/ 40 w 393"/>
                <a:gd name="T27" fmla="*/ 156 h 272"/>
                <a:gd name="T28" fmla="*/ 40 w 393"/>
                <a:gd name="T29" fmla="*/ 165 h 272"/>
                <a:gd name="T30" fmla="*/ 40 w 393"/>
                <a:gd name="T31" fmla="*/ 174 h 272"/>
                <a:gd name="T32" fmla="*/ 49 w 393"/>
                <a:gd name="T33" fmla="*/ 178 h 272"/>
                <a:gd name="T34" fmla="*/ 54 w 393"/>
                <a:gd name="T35" fmla="*/ 183 h 272"/>
                <a:gd name="T36" fmla="*/ 63 w 393"/>
                <a:gd name="T37" fmla="*/ 183 h 272"/>
                <a:gd name="T38" fmla="*/ 72 w 393"/>
                <a:gd name="T39" fmla="*/ 183 h 272"/>
                <a:gd name="T40" fmla="*/ 139 w 393"/>
                <a:gd name="T41" fmla="*/ 143 h 272"/>
                <a:gd name="T42" fmla="*/ 197 w 393"/>
                <a:gd name="T43" fmla="*/ 178 h 272"/>
                <a:gd name="T44" fmla="*/ 112 w 393"/>
                <a:gd name="T45" fmla="*/ 223 h 272"/>
                <a:gd name="T46" fmla="*/ 103 w 393"/>
                <a:gd name="T47" fmla="*/ 232 h 272"/>
                <a:gd name="T48" fmla="*/ 98 w 393"/>
                <a:gd name="T49" fmla="*/ 241 h 272"/>
                <a:gd name="T50" fmla="*/ 98 w 393"/>
                <a:gd name="T51" fmla="*/ 246 h 272"/>
                <a:gd name="T52" fmla="*/ 98 w 393"/>
                <a:gd name="T53" fmla="*/ 254 h 272"/>
                <a:gd name="T54" fmla="*/ 103 w 393"/>
                <a:gd name="T55" fmla="*/ 263 h 272"/>
                <a:gd name="T56" fmla="*/ 112 w 393"/>
                <a:gd name="T57" fmla="*/ 268 h 272"/>
                <a:gd name="T58" fmla="*/ 121 w 393"/>
                <a:gd name="T59" fmla="*/ 268 h 272"/>
                <a:gd name="T60" fmla="*/ 130 w 393"/>
                <a:gd name="T61" fmla="*/ 263 h 272"/>
                <a:gd name="T62" fmla="*/ 241 w 393"/>
                <a:gd name="T63" fmla="*/ 201 h 272"/>
                <a:gd name="T64" fmla="*/ 366 w 393"/>
                <a:gd name="T65" fmla="*/ 272 h 272"/>
                <a:gd name="T66" fmla="*/ 393 w 393"/>
                <a:gd name="T67" fmla="*/ 228 h 272"/>
                <a:gd name="T68" fmla="*/ 268 w 393"/>
                <a:gd name="T69" fmla="*/ 156 h 272"/>
                <a:gd name="T70" fmla="*/ 268 w 393"/>
                <a:gd name="T71" fmla="*/ 22 h 272"/>
                <a:gd name="T72" fmla="*/ 268 w 393"/>
                <a:gd name="T73" fmla="*/ 13 h 272"/>
                <a:gd name="T74" fmla="*/ 264 w 393"/>
                <a:gd name="T75" fmla="*/ 9 h 272"/>
                <a:gd name="T76" fmla="*/ 255 w 393"/>
                <a:gd name="T77" fmla="*/ 4 h 272"/>
                <a:gd name="T78" fmla="*/ 250 w 393"/>
                <a:gd name="T79" fmla="*/ 0 h 272"/>
                <a:gd name="T80" fmla="*/ 241 w 393"/>
                <a:gd name="T81" fmla="*/ 0 h 272"/>
                <a:gd name="T82" fmla="*/ 232 w 393"/>
                <a:gd name="T83" fmla="*/ 4 h 272"/>
                <a:gd name="T84" fmla="*/ 228 w 393"/>
                <a:gd name="T85" fmla="*/ 13 h 272"/>
                <a:gd name="T86" fmla="*/ 228 w 393"/>
                <a:gd name="T87" fmla="*/ 22 h 272"/>
                <a:gd name="T88" fmla="*/ 223 w 393"/>
                <a:gd name="T89" fmla="*/ 129 h 272"/>
                <a:gd name="T90" fmla="*/ 165 w 393"/>
                <a:gd name="T91" fmla="*/ 94 h 272"/>
                <a:gd name="T92" fmla="*/ 170 w 393"/>
                <a:gd name="T93" fmla="*/ 18 h 272"/>
                <a:gd name="T94" fmla="*/ 165 w 393"/>
                <a:gd name="T95" fmla="*/ 9 h 272"/>
                <a:gd name="T96" fmla="*/ 161 w 393"/>
                <a:gd name="T97" fmla="*/ 4 h 272"/>
                <a:gd name="T98" fmla="*/ 156 w 393"/>
                <a:gd name="T99" fmla="*/ 0 h 272"/>
                <a:gd name="T100" fmla="*/ 148 w 393"/>
                <a:gd name="T101" fmla="*/ 0 h 272"/>
                <a:gd name="T102" fmla="*/ 139 w 393"/>
                <a:gd name="T103" fmla="*/ 0 h 272"/>
                <a:gd name="T104" fmla="*/ 134 w 393"/>
                <a:gd name="T105" fmla="*/ 4 h 272"/>
                <a:gd name="T106" fmla="*/ 130 w 393"/>
                <a:gd name="T107" fmla="*/ 9 h 272"/>
                <a:gd name="T108" fmla="*/ 125 w 393"/>
                <a:gd name="T109" fmla="*/ 18 h 272"/>
                <a:gd name="T110" fmla="*/ 121 w 393"/>
                <a:gd name="T111" fmla="*/ 71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2">
                  <a:moveTo>
                    <a:pt x="121" y="71"/>
                  </a:moveTo>
                  <a:lnTo>
                    <a:pt x="36" y="22"/>
                  </a:lnTo>
                  <a:lnTo>
                    <a:pt x="27" y="18"/>
                  </a:lnTo>
                  <a:lnTo>
                    <a:pt x="18" y="18"/>
                  </a:lnTo>
                  <a:lnTo>
                    <a:pt x="9" y="22"/>
                  </a:lnTo>
                  <a:lnTo>
                    <a:pt x="5" y="31"/>
                  </a:lnTo>
                  <a:lnTo>
                    <a:pt x="0" y="40"/>
                  </a:lnTo>
                  <a:lnTo>
                    <a:pt x="0" y="49"/>
                  </a:lnTo>
                  <a:lnTo>
                    <a:pt x="5" y="58"/>
                  </a:lnTo>
                  <a:lnTo>
                    <a:pt x="9" y="62"/>
                  </a:lnTo>
                  <a:lnTo>
                    <a:pt x="98" y="116"/>
                  </a:lnTo>
                  <a:lnTo>
                    <a:pt x="54" y="143"/>
                  </a:lnTo>
                  <a:lnTo>
                    <a:pt x="45" y="147"/>
                  </a:lnTo>
                  <a:lnTo>
                    <a:pt x="40" y="156"/>
                  </a:lnTo>
                  <a:lnTo>
                    <a:pt x="40" y="165"/>
                  </a:lnTo>
                  <a:lnTo>
                    <a:pt x="40" y="174"/>
                  </a:lnTo>
                  <a:lnTo>
                    <a:pt x="49" y="178"/>
                  </a:lnTo>
                  <a:lnTo>
                    <a:pt x="54" y="183"/>
                  </a:lnTo>
                  <a:lnTo>
                    <a:pt x="63" y="183"/>
                  </a:lnTo>
                  <a:lnTo>
                    <a:pt x="72" y="183"/>
                  </a:lnTo>
                  <a:lnTo>
                    <a:pt x="139" y="143"/>
                  </a:lnTo>
                  <a:lnTo>
                    <a:pt x="197" y="178"/>
                  </a:lnTo>
                  <a:lnTo>
                    <a:pt x="112" y="223"/>
                  </a:lnTo>
                  <a:lnTo>
                    <a:pt x="103" y="232"/>
                  </a:lnTo>
                  <a:lnTo>
                    <a:pt x="98" y="241"/>
                  </a:lnTo>
                  <a:lnTo>
                    <a:pt x="98" y="246"/>
                  </a:lnTo>
                  <a:lnTo>
                    <a:pt x="98" y="254"/>
                  </a:lnTo>
                  <a:lnTo>
                    <a:pt x="103" y="263"/>
                  </a:lnTo>
                  <a:lnTo>
                    <a:pt x="112" y="268"/>
                  </a:lnTo>
                  <a:lnTo>
                    <a:pt x="121" y="268"/>
                  </a:lnTo>
                  <a:lnTo>
                    <a:pt x="130" y="263"/>
                  </a:lnTo>
                  <a:lnTo>
                    <a:pt x="241" y="201"/>
                  </a:lnTo>
                  <a:lnTo>
                    <a:pt x="366" y="272"/>
                  </a:lnTo>
                  <a:lnTo>
                    <a:pt x="393" y="228"/>
                  </a:lnTo>
                  <a:lnTo>
                    <a:pt x="268" y="156"/>
                  </a:lnTo>
                  <a:lnTo>
                    <a:pt x="268" y="22"/>
                  </a:lnTo>
                  <a:lnTo>
                    <a:pt x="268" y="13"/>
                  </a:lnTo>
                  <a:lnTo>
                    <a:pt x="264" y="9"/>
                  </a:lnTo>
                  <a:lnTo>
                    <a:pt x="255" y="4"/>
                  </a:lnTo>
                  <a:lnTo>
                    <a:pt x="250" y="0"/>
                  </a:lnTo>
                  <a:lnTo>
                    <a:pt x="241" y="0"/>
                  </a:lnTo>
                  <a:lnTo>
                    <a:pt x="232" y="4"/>
                  </a:lnTo>
                  <a:lnTo>
                    <a:pt x="228" y="13"/>
                  </a:lnTo>
                  <a:lnTo>
                    <a:pt x="228" y="22"/>
                  </a:lnTo>
                  <a:lnTo>
                    <a:pt x="223" y="129"/>
                  </a:lnTo>
                  <a:lnTo>
                    <a:pt x="165" y="94"/>
                  </a:lnTo>
                  <a:lnTo>
                    <a:pt x="170" y="18"/>
                  </a:lnTo>
                  <a:lnTo>
                    <a:pt x="165" y="9"/>
                  </a:lnTo>
                  <a:lnTo>
                    <a:pt x="161" y="4"/>
                  </a:lnTo>
                  <a:lnTo>
                    <a:pt x="156" y="0"/>
                  </a:lnTo>
                  <a:lnTo>
                    <a:pt x="148" y="0"/>
                  </a:lnTo>
                  <a:lnTo>
                    <a:pt x="139" y="0"/>
                  </a:lnTo>
                  <a:lnTo>
                    <a:pt x="134" y="4"/>
                  </a:lnTo>
                  <a:lnTo>
                    <a:pt x="130" y="9"/>
                  </a:lnTo>
                  <a:lnTo>
                    <a:pt x="125" y="18"/>
                  </a:lnTo>
                  <a:lnTo>
                    <a:pt x="121" y="7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25" name="Freeform 45"/>
            <p:cNvSpPr>
              <a:spLocks/>
            </p:cNvSpPr>
            <p:nvPr/>
          </p:nvSpPr>
          <p:spPr bwMode="auto">
            <a:xfrm>
              <a:off x="982" y="626"/>
              <a:ext cx="393" cy="277"/>
            </a:xfrm>
            <a:custGeom>
              <a:avLst/>
              <a:gdLst>
                <a:gd name="T0" fmla="*/ 98 w 393"/>
                <a:gd name="T1" fmla="*/ 156 h 277"/>
                <a:gd name="T2" fmla="*/ 9 w 393"/>
                <a:gd name="T3" fmla="*/ 205 h 277"/>
                <a:gd name="T4" fmla="*/ 0 w 393"/>
                <a:gd name="T5" fmla="*/ 214 h 277"/>
                <a:gd name="T6" fmla="*/ 0 w 393"/>
                <a:gd name="T7" fmla="*/ 223 h 277"/>
                <a:gd name="T8" fmla="*/ 0 w 393"/>
                <a:gd name="T9" fmla="*/ 228 h 277"/>
                <a:gd name="T10" fmla="*/ 0 w 393"/>
                <a:gd name="T11" fmla="*/ 237 h 277"/>
                <a:gd name="T12" fmla="*/ 9 w 393"/>
                <a:gd name="T13" fmla="*/ 246 h 277"/>
                <a:gd name="T14" fmla="*/ 14 w 393"/>
                <a:gd name="T15" fmla="*/ 250 h 277"/>
                <a:gd name="T16" fmla="*/ 23 w 393"/>
                <a:gd name="T17" fmla="*/ 250 h 277"/>
                <a:gd name="T18" fmla="*/ 36 w 393"/>
                <a:gd name="T19" fmla="*/ 250 h 277"/>
                <a:gd name="T20" fmla="*/ 125 w 393"/>
                <a:gd name="T21" fmla="*/ 196 h 277"/>
                <a:gd name="T22" fmla="*/ 125 w 393"/>
                <a:gd name="T23" fmla="*/ 250 h 277"/>
                <a:gd name="T24" fmla="*/ 125 w 393"/>
                <a:gd name="T25" fmla="*/ 263 h 277"/>
                <a:gd name="T26" fmla="*/ 130 w 393"/>
                <a:gd name="T27" fmla="*/ 268 h 277"/>
                <a:gd name="T28" fmla="*/ 139 w 393"/>
                <a:gd name="T29" fmla="*/ 272 h 277"/>
                <a:gd name="T30" fmla="*/ 143 w 393"/>
                <a:gd name="T31" fmla="*/ 277 h 277"/>
                <a:gd name="T32" fmla="*/ 152 w 393"/>
                <a:gd name="T33" fmla="*/ 277 h 277"/>
                <a:gd name="T34" fmla="*/ 161 w 393"/>
                <a:gd name="T35" fmla="*/ 272 h 277"/>
                <a:gd name="T36" fmla="*/ 165 w 393"/>
                <a:gd name="T37" fmla="*/ 263 h 277"/>
                <a:gd name="T38" fmla="*/ 165 w 393"/>
                <a:gd name="T39" fmla="*/ 254 h 277"/>
                <a:gd name="T40" fmla="*/ 165 w 393"/>
                <a:gd name="T41" fmla="*/ 178 h 277"/>
                <a:gd name="T42" fmla="*/ 223 w 393"/>
                <a:gd name="T43" fmla="*/ 143 h 277"/>
                <a:gd name="T44" fmla="*/ 223 w 393"/>
                <a:gd name="T45" fmla="*/ 241 h 277"/>
                <a:gd name="T46" fmla="*/ 223 w 393"/>
                <a:gd name="T47" fmla="*/ 250 h 277"/>
                <a:gd name="T48" fmla="*/ 228 w 393"/>
                <a:gd name="T49" fmla="*/ 259 h 277"/>
                <a:gd name="T50" fmla="*/ 237 w 393"/>
                <a:gd name="T51" fmla="*/ 263 h 277"/>
                <a:gd name="T52" fmla="*/ 246 w 393"/>
                <a:gd name="T53" fmla="*/ 268 h 277"/>
                <a:gd name="T54" fmla="*/ 255 w 393"/>
                <a:gd name="T55" fmla="*/ 268 h 277"/>
                <a:gd name="T56" fmla="*/ 259 w 393"/>
                <a:gd name="T57" fmla="*/ 263 h 277"/>
                <a:gd name="T58" fmla="*/ 264 w 393"/>
                <a:gd name="T59" fmla="*/ 254 h 277"/>
                <a:gd name="T60" fmla="*/ 268 w 393"/>
                <a:gd name="T61" fmla="*/ 246 h 277"/>
                <a:gd name="T62" fmla="*/ 268 w 393"/>
                <a:gd name="T63" fmla="*/ 116 h 277"/>
                <a:gd name="T64" fmla="*/ 393 w 393"/>
                <a:gd name="T65" fmla="*/ 44 h 277"/>
                <a:gd name="T66" fmla="*/ 366 w 393"/>
                <a:gd name="T67" fmla="*/ 0 h 277"/>
                <a:gd name="T68" fmla="*/ 241 w 393"/>
                <a:gd name="T69" fmla="*/ 71 h 277"/>
                <a:gd name="T70" fmla="*/ 125 w 393"/>
                <a:gd name="T71" fmla="*/ 4 h 277"/>
                <a:gd name="T72" fmla="*/ 121 w 393"/>
                <a:gd name="T73" fmla="*/ 0 h 277"/>
                <a:gd name="T74" fmla="*/ 112 w 393"/>
                <a:gd name="T75" fmla="*/ 0 h 277"/>
                <a:gd name="T76" fmla="*/ 103 w 393"/>
                <a:gd name="T77" fmla="*/ 4 h 277"/>
                <a:gd name="T78" fmla="*/ 98 w 393"/>
                <a:gd name="T79" fmla="*/ 9 h 277"/>
                <a:gd name="T80" fmla="*/ 94 w 393"/>
                <a:gd name="T81" fmla="*/ 18 h 277"/>
                <a:gd name="T82" fmla="*/ 94 w 393"/>
                <a:gd name="T83" fmla="*/ 26 h 277"/>
                <a:gd name="T84" fmla="*/ 98 w 393"/>
                <a:gd name="T85" fmla="*/ 35 h 277"/>
                <a:gd name="T86" fmla="*/ 107 w 393"/>
                <a:gd name="T87" fmla="*/ 40 h 277"/>
                <a:gd name="T88" fmla="*/ 197 w 393"/>
                <a:gd name="T89" fmla="*/ 98 h 277"/>
                <a:gd name="T90" fmla="*/ 139 w 393"/>
                <a:gd name="T91" fmla="*/ 129 h 277"/>
                <a:gd name="T92" fmla="*/ 72 w 393"/>
                <a:gd name="T93" fmla="*/ 89 h 277"/>
                <a:gd name="T94" fmla="*/ 63 w 393"/>
                <a:gd name="T95" fmla="*/ 85 h 277"/>
                <a:gd name="T96" fmla="*/ 58 w 393"/>
                <a:gd name="T97" fmla="*/ 85 h 277"/>
                <a:gd name="T98" fmla="*/ 49 w 393"/>
                <a:gd name="T99" fmla="*/ 89 h 277"/>
                <a:gd name="T100" fmla="*/ 45 w 393"/>
                <a:gd name="T101" fmla="*/ 98 h 277"/>
                <a:gd name="T102" fmla="*/ 45 w 393"/>
                <a:gd name="T103" fmla="*/ 102 h 277"/>
                <a:gd name="T104" fmla="*/ 45 w 393"/>
                <a:gd name="T105" fmla="*/ 111 h 277"/>
                <a:gd name="T106" fmla="*/ 45 w 393"/>
                <a:gd name="T107" fmla="*/ 120 h 277"/>
                <a:gd name="T108" fmla="*/ 54 w 393"/>
                <a:gd name="T109" fmla="*/ 125 h 277"/>
                <a:gd name="T110" fmla="*/ 98 w 393"/>
                <a:gd name="T111" fmla="*/ 15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7">
                  <a:moveTo>
                    <a:pt x="98" y="156"/>
                  </a:moveTo>
                  <a:lnTo>
                    <a:pt x="9" y="205"/>
                  </a:lnTo>
                  <a:lnTo>
                    <a:pt x="0" y="214"/>
                  </a:lnTo>
                  <a:lnTo>
                    <a:pt x="0" y="223"/>
                  </a:lnTo>
                  <a:lnTo>
                    <a:pt x="0" y="228"/>
                  </a:lnTo>
                  <a:lnTo>
                    <a:pt x="0" y="237"/>
                  </a:lnTo>
                  <a:lnTo>
                    <a:pt x="9" y="246"/>
                  </a:lnTo>
                  <a:lnTo>
                    <a:pt x="14" y="250"/>
                  </a:lnTo>
                  <a:lnTo>
                    <a:pt x="23" y="250"/>
                  </a:lnTo>
                  <a:lnTo>
                    <a:pt x="36" y="250"/>
                  </a:lnTo>
                  <a:lnTo>
                    <a:pt x="125" y="196"/>
                  </a:lnTo>
                  <a:lnTo>
                    <a:pt x="125" y="250"/>
                  </a:lnTo>
                  <a:lnTo>
                    <a:pt x="125" y="263"/>
                  </a:lnTo>
                  <a:lnTo>
                    <a:pt x="130" y="268"/>
                  </a:lnTo>
                  <a:lnTo>
                    <a:pt x="139" y="272"/>
                  </a:lnTo>
                  <a:lnTo>
                    <a:pt x="143" y="277"/>
                  </a:lnTo>
                  <a:lnTo>
                    <a:pt x="152" y="277"/>
                  </a:lnTo>
                  <a:lnTo>
                    <a:pt x="161" y="272"/>
                  </a:lnTo>
                  <a:lnTo>
                    <a:pt x="165" y="263"/>
                  </a:lnTo>
                  <a:lnTo>
                    <a:pt x="165" y="254"/>
                  </a:lnTo>
                  <a:lnTo>
                    <a:pt x="165" y="178"/>
                  </a:lnTo>
                  <a:lnTo>
                    <a:pt x="223" y="143"/>
                  </a:lnTo>
                  <a:lnTo>
                    <a:pt x="223" y="241"/>
                  </a:lnTo>
                  <a:lnTo>
                    <a:pt x="223" y="250"/>
                  </a:lnTo>
                  <a:lnTo>
                    <a:pt x="228" y="259"/>
                  </a:lnTo>
                  <a:lnTo>
                    <a:pt x="237" y="263"/>
                  </a:lnTo>
                  <a:lnTo>
                    <a:pt x="246" y="268"/>
                  </a:lnTo>
                  <a:lnTo>
                    <a:pt x="255" y="268"/>
                  </a:lnTo>
                  <a:lnTo>
                    <a:pt x="259" y="263"/>
                  </a:lnTo>
                  <a:lnTo>
                    <a:pt x="264" y="254"/>
                  </a:lnTo>
                  <a:lnTo>
                    <a:pt x="268" y="246"/>
                  </a:lnTo>
                  <a:lnTo>
                    <a:pt x="268" y="116"/>
                  </a:lnTo>
                  <a:lnTo>
                    <a:pt x="393" y="44"/>
                  </a:lnTo>
                  <a:lnTo>
                    <a:pt x="366" y="0"/>
                  </a:lnTo>
                  <a:lnTo>
                    <a:pt x="241" y="71"/>
                  </a:lnTo>
                  <a:lnTo>
                    <a:pt x="125" y="4"/>
                  </a:lnTo>
                  <a:lnTo>
                    <a:pt x="121" y="0"/>
                  </a:lnTo>
                  <a:lnTo>
                    <a:pt x="112" y="0"/>
                  </a:lnTo>
                  <a:lnTo>
                    <a:pt x="103" y="4"/>
                  </a:lnTo>
                  <a:lnTo>
                    <a:pt x="98" y="9"/>
                  </a:lnTo>
                  <a:lnTo>
                    <a:pt x="94" y="18"/>
                  </a:lnTo>
                  <a:lnTo>
                    <a:pt x="94" y="26"/>
                  </a:lnTo>
                  <a:lnTo>
                    <a:pt x="98" y="35"/>
                  </a:lnTo>
                  <a:lnTo>
                    <a:pt x="107" y="40"/>
                  </a:lnTo>
                  <a:lnTo>
                    <a:pt x="197" y="98"/>
                  </a:lnTo>
                  <a:lnTo>
                    <a:pt x="139" y="129"/>
                  </a:lnTo>
                  <a:lnTo>
                    <a:pt x="72" y="89"/>
                  </a:lnTo>
                  <a:lnTo>
                    <a:pt x="63" y="85"/>
                  </a:lnTo>
                  <a:lnTo>
                    <a:pt x="58" y="85"/>
                  </a:lnTo>
                  <a:lnTo>
                    <a:pt x="49" y="89"/>
                  </a:lnTo>
                  <a:lnTo>
                    <a:pt x="45" y="98"/>
                  </a:lnTo>
                  <a:lnTo>
                    <a:pt x="45" y="102"/>
                  </a:lnTo>
                  <a:lnTo>
                    <a:pt x="45" y="111"/>
                  </a:lnTo>
                  <a:lnTo>
                    <a:pt x="45" y="120"/>
                  </a:lnTo>
                  <a:lnTo>
                    <a:pt x="54" y="125"/>
                  </a:lnTo>
                  <a:lnTo>
                    <a:pt x="98" y="156"/>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26" name="Freeform 46"/>
            <p:cNvSpPr>
              <a:spLocks/>
            </p:cNvSpPr>
            <p:nvPr/>
          </p:nvSpPr>
          <p:spPr bwMode="auto">
            <a:xfrm>
              <a:off x="1210" y="648"/>
              <a:ext cx="299" cy="438"/>
            </a:xfrm>
            <a:custGeom>
              <a:avLst/>
              <a:gdLst>
                <a:gd name="T0" fmla="*/ 125 w 299"/>
                <a:gd name="T1" fmla="*/ 313 h 438"/>
                <a:gd name="T2" fmla="*/ 125 w 299"/>
                <a:gd name="T3" fmla="*/ 411 h 438"/>
                <a:gd name="T4" fmla="*/ 129 w 299"/>
                <a:gd name="T5" fmla="*/ 425 h 438"/>
                <a:gd name="T6" fmla="*/ 134 w 299"/>
                <a:gd name="T7" fmla="*/ 429 h 438"/>
                <a:gd name="T8" fmla="*/ 143 w 299"/>
                <a:gd name="T9" fmla="*/ 434 h 438"/>
                <a:gd name="T10" fmla="*/ 147 w 299"/>
                <a:gd name="T11" fmla="*/ 438 h 438"/>
                <a:gd name="T12" fmla="*/ 156 w 299"/>
                <a:gd name="T13" fmla="*/ 434 h 438"/>
                <a:gd name="T14" fmla="*/ 165 w 299"/>
                <a:gd name="T15" fmla="*/ 429 h 438"/>
                <a:gd name="T16" fmla="*/ 174 w 299"/>
                <a:gd name="T17" fmla="*/ 425 h 438"/>
                <a:gd name="T18" fmla="*/ 174 w 299"/>
                <a:gd name="T19" fmla="*/ 411 h 438"/>
                <a:gd name="T20" fmla="*/ 174 w 299"/>
                <a:gd name="T21" fmla="*/ 308 h 438"/>
                <a:gd name="T22" fmla="*/ 223 w 299"/>
                <a:gd name="T23" fmla="*/ 335 h 438"/>
                <a:gd name="T24" fmla="*/ 232 w 299"/>
                <a:gd name="T25" fmla="*/ 340 h 438"/>
                <a:gd name="T26" fmla="*/ 241 w 299"/>
                <a:gd name="T27" fmla="*/ 340 h 438"/>
                <a:gd name="T28" fmla="*/ 250 w 299"/>
                <a:gd name="T29" fmla="*/ 335 h 438"/>
                <a:gd name="T30" fmla="*/ 254 w 299"/>
                <a:gd name="T31" fmla="*/ 331 h 438"/>
                <a:gd name="T32" fmla="*/ 254 w 299"/>
                <a:gd name="T33" fmla="*/ 322 h 438"/>
                <a:gd name="T34" fmla="*/ 254 w 299"/>
                <a:gd name="T35" fmla="*/ 317 h 438"/>
                <a:gd name="T36" fmla="*/ 254 w 299"/>
                <a:gd name="T37" fmla="*/ 308 h 438"/>
                <a:gd name="T38" fmla="*/ 245 w 299"/>
                <a:gd name="T39" fmla="*/ 300 h 438"/>
                <a:gd name="T40" fmla="*/ 178 w 299"/>
                <a:gd name="T41" fmla="*/ 264 h 438"/>
                <a:gd name="T42" fmla="*/ 178 w 299"/>
                <a:gd name="T43" fmla="*/ 192 h 438"/>
                <a:gd name="T44" fmla="*/ 263 w 299"/>
                <a:gd name="T45" fmla="*/ 246 h 438"/>
                <a:gd name="T46" fmla="*/ 272 w 299"/>
                <a:gd name="T47" fmla="*/ 250 h 438"/>
                <a:gd name="T48" fmla="*/ 281 w 299"/>
                <a:gd name="T49" fmla="*/ 250 h 438"/>
                <a:gd name="T50" fmla="*/ 290 w 299"/>
                <a:gd name="T51" fmla="*/ 246 h 438"/>
                <a:gd name="T52" fmla="*/ 294 w 299"/>
                <a:gd name="T53" fmla="*/ 241 h 438"/>
                <a:gd name="T54" fmla="*/ 299 w 299"/>
                <a:gd name="T55" fmla="*/ 232 h 438"/>
                <a:gd name="T56" fmla="*/ 299 w 299"/>
                <a:gd name="T57" fmla="*/ 224 h 438"/>
                <a:gd name="T58" fmla="*/ 294 w 299"/>
                <a:gd name="T59" fmla="*/ 215 h 438"/>
                <a:gd name="T60" fmla="*/ 285 w 299"/>
                <a:gd name="T61" fmla="*/ 210 h 438"/>
                <a:gd name="T62" fmla="*/ 178 w 299"/>
                <a:gd name="T63" fmla="*/ 143 h 438"/>
                <a:gd name="T64" fmla="*/ 178 w 299"/>
                <a:gd name="T65" fmla="*/ 0 h 438"/>
                <a:gd name="T66" fmla="*/ 125 w 299"/>
                <a:gd name="T67" fmla="*/ 0 h 438"/>
                <a:gd name="T68" fmla="*/ 125 w 299"/>
                <a:gd name="T69" fmla="*/ 143 h 438"/>
                <a:gd name="T70" fmla="*/ 9 w 299"/>
                <a:gd name="T71" fmla="*/ 210 h 438"/>
                <a:gd name="T72" fmla="*/ 4 w 299"/>
                <a:gd name="T73" fmla="*/ 215 h 438"/>
                <a:gd name="T74" fmla="*/ 0 w 299"/>
                <a:gd name="T75" fmla="*/ 224 h 438"/>
                <a:gd name="T76" fmla="*/ 0 w 299"/>
                <a:gd name="T77" fmla="*/ 232 h 438"/>
                <a:gd name="T78" fmla="*/ 0 w 299"/>
                <a:gd name="T79" fmla="*/ 237 h 438"/>
                <a:gd name="T80" fmla="*/ 4 w 299"/>
                <a:gd name="T81" fmla="*/ 246 h 438"/>
                <a:gd name="T82" fmla="*/ 13 w 299"/>
                <a:gd name="T83" fmla="*/ 250 h 438"/>
                <a:gd name="T84" fmla="*/ 22 w 299"/>
                <a:gd name="T85" fmla="*/ 250 h 438"/>
                <a:gd name="T86" fmla="*/ 31 w 299"/>
                <a:gd name="T87" fmla="*/ 246 h 438"/>
                <a:gd name="T88" fmla="*/ 125 w 299"/>
                <a:gd name="T89" fmla="*/ 197 h 438"/>
                <a:gd name="T90" fmla="*/ 125 w 299"/>
                <a:gd name="T91" fmla="*/ 264 h 438"/>
                <a:gd name="T92" fmla="*/ 53 w 299"/>
                <a:gd name="T93" fmla="*/ 300 h 438"/>
                <a:gd name="T94" fmla="*/ 49 w 299"/>
                <a:gd name="T95" fmla="*/ 304 h 438"/>
                <a:gd name="T96" fmla="*/ 44 w 299"/>
                <a:gd name="T97" fmla="*/ 313 h 438"/>
                <a:gd name="T98" fmla="*/ 44 w 299"/>
                <a:gd name="T99" fmla="*/ 322 h 438"/>
                <a:gd name="T100" fmla="*/ 49 w 299"/>
                <a:gd name="T101" fmla="*/ 326 h 438"/>
                <a:gd name="T102" fmla="*/ 53 w 299"/>
                <a:gd name="T103" fmla="*/ 331 h 438"/>
                <a:gd name="T104" fmla="*/ 62 w 299"/>
                <a:gd name="T105" fmla="*/ 335 h 438"/>
                <a:gd name="T106" fmla="*/ 67 w 299"/>
                <a:gd name="T107" fmla="*/ 335 h 438"/>
                <a:gd name="T108" fmla="*/ 76 w 299"/>
                <a:gd name="T109" fmla="*/ 335 h 438"/>
                <a:gd name="T110" fmla="*/ 125 w 299"/>
                <a:gd name="T111" fmla="*/ 313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99" h="438">
                  <a:moveTo>
                    <a:pt x="125" y="313"/>
                  </a:moveTo>
                  <a:lnTo>
                    <a:pt x="125" y="411"/>
                  </a:lnTo>
                  <a:lnTo>
                    <a:pt x="129" y="425"/>
                  </a:lnTo>
                  <a:lnTo>
                    <a:pt x="134" y="429"/>
                  </a:lnTo>
                  <a:lnTo>
                    <a:pt x="143" y="434"/>
                  </a:lnTo>
                  <a:lnTo>
                    <a:pt x="147" y="438"/>
                  </a:lnTo>
                  <a:lnTo>
                    <a:pt x="156" y="434"/>
                  </a:lnTo>
                  <a:lnTo>
                    <a:pt x="165" y="429"/>
                  </a:lnTo>
                  <a:lnTo>
                    <a:pt x="174" y="425"/>
                  </a:lnTo>
                  <a:lnTo>
                    <a:pt x="174" y="411"/>
                  </a:lnTo>
                  <a:lnTo>
                    <a:pt x="174" y="308"/>
                  </a:lnTo>
                  <a:lnTo>
                    <a:pt x="223" y="335"/>
                  </a:lnTo>
                  <a:lnTo>
                    <a:pt x="232" y="340"/>
                  </a:lnTo>
                  <a:lnTo>
                    <a:pt x="241" y="340"/>
                  </a:lnTo>
                  <a:lnTo>
                    <a:pt x="250" y="335"/>
                  </a:lnTo>
                  <a:lnTo>
                    <a:pt x="254" y="331"/>
                  </a:lnTo>
                  <a:lnTo>
                    <a:pt x="254" y="322"/>
                  </a:lnTo>
                  <a:lnTo>
                    <a:pt x="254" y="317"/>
                  </a:lnTo>
                  <a:lnTo>
                    <a:pt x="254" y="308"/>
                  </a:lnTo>
                  <a:lnTo>
                    <a:pt x="245" y="300"/>
                  </a:lnTo>
                  <a:lnTo>
                    <a:pt x="178" y="264"/>
                  </a:lnTo>
                  <a:lnTo>
                    <a:pt x="178" y="192"/>
                  </a:lnTo>
                  <a:lnTo>
                    <a:pt x="263" y="246"/>
                  </a:lnTo>
                  <a:lnTo>
                    <a:pt x="272" y="250"/>
                  </a:lnTo>
                  <a:lnTo>
                    <a:pt x="281" y="250"/>
                  </a:lnTo>
                  <a:lnTo>
                    <a:pt x="290" y="246"/>
                  </a:lnTo>
                  <a:lnTo>
                    <a:pt x="294" y="241"/>
                  </a:lnTo>
                  <a:lnTo>
                    <a:pt x="299" y="232"/>
                  </a:lnTo>
                  <a:lnTo>
                    <a:pt x="299" y="224"/>
                  </a:lnTo>
                  <a:lnTo>
                    <a:pt x="294" y="215"/>
                  </a:lnTo>
                  <a:lnTo>
                    <a:pt x="285" y="210"/>
                  </a:lnTo>
                  <a:lnTo>
                    <a:pt x="178" y="143"/>
                  </a:lnTo>
                  <a:lnTo>
                    <a:pt x="178" y="0"/>
                  </a:lnTo>
                  <a:lnTo>
                    <a:pt x="125" y="0"/>
                  </a:lnTo>
                  <a:lnTo>
                    <a:pt x="125" y="143"/>
                  </a:lnTo>
                  <a:lnTo>
                    <a:pt x="9" y="210"/>
                  </a:lnTo>
                  <a:lnTo>
                    <a:pt x="4" y="215"/>
                  </a:lnTo>
                  <a:lnTo>
                    <a:pt x="0" y="224"/>
                  </a:lnTo>
                  <a:lnTo>
                    <a:pt x="0" y="232"/>
                  </a:lnTo>
                  <a:lnTo>
                    <a:pt x="0" y="237"/>
                  </a:lnTo>
                  <a:lnTo>
                    <a:pt x="4" y="246"/>
                  </a:lnTo>
                  <a:lnTo>
                    <a:pt x="13" y="250"/>
                  </a:lnTo>
                  <a:lnTo>
                    <a:pt x="22" y="250"/>
                  </a:lnTo>
                  <a:lnTo>
                    <a:pt x="31" y="246"/>
                  </a:lnTo>
                  <a:lnTo>
                    <a:pt x="125" y="197"/>
                  </a:lnTo>
                  <a:lnTo>
                    <a:pt x="125" y="264"/>
                  </a:lnTo>
                  <a:lnTo>
                    <a:pt x="53" y="300"/>
                  </a:lnTo>
                  <a:lnTo>
                    <a:pt x="49" y="304"/>
                  </a:lnTo>
                  <a:lnTo>
                    <a:pt x="44" y="313"/>
                  </a:lnTo>
                  <a:lnTo>
                    <a:pt x="44" y="322"/>
                  </a:lnTo>
                  <a:lnTo>
                    <a:pt x="49" y="326"/>
                  </a:lnTo>
                  <a:lnTo>
                    <a:pt x="53" y="331"/>
                  </a:lnTo>
                  <a:lnTo>
                    <a:pt x="62" y="335"/>
                  </a:lnTo>
                  <a:lnTo>
                    <a:pt x="67" y="335"/>
                  </a:lnTo>
                  <a:lnTo>
                    <a:pt x="76" y="335"/>
                  </a:lnTo>
                  <a:lnTo>
                    <a:pt x="125" y="313"/>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27" name="Freeform 47"/>
            <p:cNvSpPr>
              <a:spLocks/>
            </p:cNvSpPr>
            <p:nvPr/>
          </p:nvSpPr>
          <p:spPr bwMode="auto">
            <a:xfrm>
              <a:off x="1348" y="626"/>
              <a:ext cx="393" cy="272"/>
            </a:xfrm>
            <a:custGeom>
              <a:avLst/>
              <a:gdLst>
                <a:gd name="T0" fmla="*/ 272 w 393"/>
                <a:gd name="T1" fmla="*/ 201 h 272"/>
                <a:gd name="T2" fmla="*/ 357 w 393"/>
                <a:gd name="T3" fmla="*/ 250 h 272"/>
                <a:gd name="T4" fmla="*/ 366 w 393"/>
                <a:gd name="T5" fmla="*/ 254 h 272"/>
                <a:gd name="T6" fmla="*/ 375 w 393"/>
                <a:gd name="T7" fmla="*/ 254 h 272"/>
                <a:gd name="T8" fmla="*/ 384 w 393"/>
                <a:gd name="T9" fmla="*/ 250 h 272"/>
                <a:gd name="T10" fmla="*/ 388 w 393"/>
                <a:gd name="T11" fmla="*/ 241 h 272"/>
                <a:gd name="T12" fmla="*/ 393 w 393"/>
                <a:gd name="T13" fmla="*/ 232 h 272"/>
                <a:gd name="T14" fmla="*/ 393 w 393"/>
                <a:gd name="T15" fmla="*/ 223 h 272"/>
                <a:gd name="T16" fmla="*/ 388 w 393"/>
                <a:gd name="T17" fmla="*/ 214 h 272"/>
                <a:gd name="T18" fmla="*/ 384 w 393"/>
                <a:gd name="T19" fmla="*/ 210 h 272"/>
                <a:gd name="T20" fmla="*/ 295 w 393"/>
                <a:gd name="T21" fmla="*/ 156 h 272"/>
                <a:gd name="T22" fmla="*/ 339 w 393"/>
                <a:gd name="T23" fmla="*/ 129 h 272"/>
                <a:gd name="T24" fmla="*/ 348 w 393"/>
                <a:gd name="T25" fmla="*/ 125 h 272"/>
                <a:gd name="T26" fmla="*/ 353 w 393"/>
                <a:gd name="T27" fmla="*/ 116 h 272"/>
                <a:gd name="T28" fmla="*/ 353 w 393"/>
                <a:gd name="T29" fmla="*/ 107 h 272"/>
                <a:gd name="T30" fmla="*/ 353 w 393"/>
                <a:gd name="T31" fmla="*/ 98 h 272"/>
                <a:gd name="T32" fmla="*/ 344 w 393"/>
                <a:gd name="T33" fmla="*/ 94 h 272"/>
                <a:gd name="T34" fmla="*/ 339 w 393"/>
                <a:gd name="T35" fmla="*/ 89 h 272"/>
                <a:gd name="T36" fmla="*/ 330 w 393"/>
                <a:gd name="T37" fmla="*/ 89 h 272"/>
                <a:gd name="T38" fmla="*/ 321 w 393"/>
                <a:gd name="T39" fmla="*/ 89 h 272"/>
                <a:gd name="T40" fmla="*/ 254 w 393"/>
                <a:gd name="T41" fmla="*/ 129 h 272"/>
                <a:gd name="T42" fmla="*/ 196 w 393"/>
                <a:gd name="T43" fmla="*/ 94 h 272"/>
                <a:gd name="T44" fmla="*/ 281 w 393"/>
                <a:gd name="T45" fmla="*/ 49 h 272"/>
                <a:gd name="T46" fmla="*/ 290 w 393"/>
                <a:gd name="T47" fmla="*/ 40 h 272"/>
                <a:gd name="T48" fmla="*/ 295 w 393"/>
                <a:gd name="T49" fmla="*/ 31 h 272"/>
                <a:gd name="T50" fmla="*/ 295 w 393"/>
                <a:gd name="T51" fmla="*/ 26 h 272"/>
                <a:gd name="T52" fmla="*/ 295 w 393"/>
                <a:gd name="T53" fmla="*/ 18 h 272"/>
                <a:gd name="T54" fmla="*/ 290 w 393"/>
                <a:gd name="T55" fmla="*/ 9 h 272"/>
                <a:gd name="T56" fmla="*/ 281 w 393"/>
                <a:gd name="T57" fmla="*/ 4 h 272"/>
                <a:gd name="T58" fmla="*/ 272 w 393"/>
                <a:gd name="T59" fmla="*/ 4 h 272"/>
                <a:gd name="T60" fmla="*/ 263 w 393"/>
                <a:gd name="T61" fmla="*/ 9 h 272"/>
                <a:gd name="T62" fmla="*/ 152 w 393"/>
                <a:gd name="T63" fmla="*/ 71 h 272"/>
                <a:gd name="T64" fmla="*/ 27 w 393"/>
                <a:gd name="T65" fmla="*/ 0 h 272"/>
                <a:gd name="T66" fmla="*/ 0 w 393"/>
                <a:gd name="T67" fmla="*/ 44 h 272"/>
                <a:gd name="T68" fmla="*/ 125 w 393"/>
                <a:gd name="T69" fmla="*/ 116 h 272"/>
                <a:gd name="T70" fmla="*/ 125 w 393"/>
                <a:gd name="T71" fmla="*/ 250 h 272"/>
                <a:gd name="T72" fmla="*/ 125 w 393"/>
                <a:gd name="T73" fmla="*/ 259 h 272"/>
                <a:gd name="T74" fmla="*/ 129 w 393"/>
                <a:gd name="T75" fmla="*/ 263 h 272"/>
                <a:gd name="T76" fmla="*/ 138 w 393"/>
                <a:gd name="T77" fmla="*/ 268 h 272"/>
                <a:gd name="T78" fmla="*/ 143 w 393"/>
                <a:gd name="T79" fmla="*/ 272 h 272"/>
                <a:gd name="T80" fmla="*/ 152 w 393"/>
                <a:gd name="T81" fmla="*/ 272 h 272"/>
                <a:gd name="T82" fmla="*/ 161 w 393"/>
                <a:gd name="T83" fmla="*/ 268 h 272"/>
                <a:gd name="T84" fmla="*/ 165 w 393"/>
                <a:gd name="T85" fmla="*/ 259 h 272"/>
                <a:gd name="T86" fmla="*/ 165 w 393"/>
                <a:gd name="T87" fmla="*/ 250 h 272"/>
                <a:gd name="T88" fmla="*/ 170 w 393"/>
                <a:gd name="T89" fmla="*/ 143 h 272"/>
                <a:gd name="T90" fmla="*/ 228 w 393"/>
                <a:gd name="T91" fmla="*/ 178 h 272"/>
                <a:gd name="T92" fmla="*/ 223 w 393"/>
                <a:gd name="T93" fmla="*/ 254 h 272"/>
                <a:gd name="T94" fmla="*/ 228 w 393"/>
                <a:gd name="T95" fmla="*/ 263 h 272"/>
                <a:gd name="T96" fmla="*/ 232 w 393"/>
                <a:gd name="T97" fmla="*/ 268 h 272"/>
                <a:gd name="T98" fmla="*/ 237 w 393"/>
                <a:gd name="T99" fmla="*/ 272 h 272"/>
                <a:gd name="T100" fmla="*/ 245 w 393"/>
                <a:gd name="T101" fmla="*/ 272 h 272"/>
                <a:gd name="T102" fmla="*/ 254 w 393"/>
                <a:gd name="T103" fmla="*/ 272 h 272"/>
                <a:gd name="T104" fmla="*/ 259 w 393"/>
                <a:gd name="T105" fmla="*/ 268 h 272"/>
                <a:gd name="T106" fmla="*/ 263 w 393"/>
                <a:gd name="T107" fmla="*/ 263 h 272"/>
                <a:gd name="T108" fmla="*/ 268 w 393"/>
                <a:gd name="T109" fmla="*/ 254 h 272"/>
                <a:gd name="T110" fmla="*/ 272 w 393"/>
                <a:gd name="T111" fmla="*/ 201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2">
                  <a:moveTo>
                    <a:pt x="272" y="201"/>
                  </a:moveTo>
                  <a:lnTo>
                    <a:pt x="357" y="250"/>
                  </a:lnTo>
                  <a:lnTo>
                    <a:pt x="366" y="254"/>
                  </a:lnTo>
                  <a:lnTo>
                    <a:pt x="375" y="254"/>
                  </a:lnTo>
                  <a:lnTo>
                    <a:pt x="384" y="250"/>
                  </a:lnTo>
                  <a:lnTo>
                    <a:pt x="388" y="241"/>
                  </a:lnTo>
                  <a:lnTo>
                    <a:pt x="393" y="232"/>
                  </a:lnTo>
                  <a:lnTo>
                    <a:pt x="393" y="223"/>
                  </a:lnTo>
                  <a:lnTo>
                    <a:pt x="388" y="214"/>
                  </a:lnTo>
                  <a:lnTo>
                    <a:pt x="384" y="210"/>
                  </a:lnTo>
                  <a:lnTo>
                    <a:pt x="295" y="156"/>
                  </a:lnTo>
                  <a:lnTo>
                    <a:pt x="339" y="129"/>
                  </a:lnTo>
                  <a:lnTo>
                    <a:pt x="348" y="125"/>
                  </a:lnTo>
                  <a:lnTo>
                    <a:pt x="353" y="116"/>
                  </a:lnTo>
                  <a:lnTo>
                    <a:pt x="353" y="107"/>
                  </a:lnTo>
                  <a:lnTo>
                    <a:pt x="353" y="98"/>
                  </a:lnTo>
                  <a:lnTo>
                    <a:pt x="344" y="94"/>
                  </a:lnTo>
                  <a:lnTo>
                    <a:pt x="339" y="89"/>
                  </a:lnTo>
                  <a:lnTo>
                    <a:pt x="330" y="89"/>
                  </a:lnTo>
                  <a:lnTo>
                    <a:pt x="321" y="89"/>
                  </a:lnTo>
                  <a:lnTo>
                    <a:pt x="254" y="129"/>
                  </a:lnTo>
                  <a:lnTo>
                    <a:pt x="196" y="94"/>
                  </a:lnTo>
                  <a:lnTo>
                    <a:pt x="281" y="49"/>
                  </a:lnTo>
                  <a:lnTo>
                    <a:pt x="290" y="40"/>
                  </a:lnTo>
                  <a:lnTo>
                    <a:pt x="295" y="31"/>
                  </a:lnTo>
                  <a:lnTo>
                    <a:pt x="295" y="26"/>
                  </a:lnTo>
                  <a:lnTo>
                    <a:pt x="295" y="18"/>
                  </a:lnTo>
                  <a:lnTo>
                    <a:pt x="290" y="9"/>
                  </a:lnTo>
                  <a:lnTo>
                    <a:pt x="281" y="4"/>
                  </a:lnTo>
                  <a:lnTo>
                    <a:pt x="272" y="4"/>
                  </a:lnTo>
                  <a:lnTo>
                    <a:pt x="263" y="9"/>
                  </a:lnTo>
                  <a:lnTo>
                    <a:pt x="152" y="71"/>
                  </a:lnTo>
                  <a:lnTo>
                    <a:pt x="27" y="0"/>
                  </a:lnTo>
                  <a:lnTo>
                    <a:pt x="0" y="44"/>
                  </a:lnTo>
                  <a:lnTo>
                    <a:pt x="125" y="116"/>
                  </a:lnTo>
                  <a:lnTo>
                    <a:pt x="125" y="250"/>
                  </a:lnTo>
                  <a:lnTo>
                    <a:pt x="125" y="259"/>
                  </a:lnTo>
                  <a:lnTo>
                    <a:pt x="129" y="263"/>
                  </a:lnTo>
                  <a:lnTo>
                    <a:pt x="138" y="268"/>
                  </a:lnTo>
                  <a:lnTo>
                    <a:pt x="143" y="272"/>
                  </a:lnTo>
                  <a:lnTo>
                    <a:pt x="152" y="272"/>
                  </a:lnTo>
                  <a:lnTo>
                    <a:pt x="161" y="268"/>
                  </a:lnTo>
                  <a:lnTo>
                    <a:pt x="165" y="259"/>
                  </a:lnTo>
                  <a:lnTo>
                    <a:pt x="165" y="250"/>
                  </a:lnTo>
                  <a:lnTo>
                    <a:pt x="170" y="143"/>
                  </a:lnTo>
                  <a:lnTo>
                    <a:pt x="228" y="178"/>
                  </a:lnTo>
                  <a:lnTo>
                    <a:pt x="223" y="254"/>
                  </a:lnTo>
                  <a:lnTo>
                    <a:pt x="228" y="263"/>
                  </a:lnTo>
                  <a:lnTo>
                    <a:pt x="232" y="268"/>
                  </a:lnTo>
                  <a:lnTo>
                    <a:pt x="237" y="272"/>
                  </a:lnTo>
                  <a:lnTo>
                    <a:pt x="245" y="272"/>
                  </a:lnTo>
                  <a:lnTo>
                    <a:pt x="254" y="272"/>
                  </a:lnTo>
                  <a:lnTo>
                    <a:pt x="259" y="268"/>
                  </a:lnTo>
                  <a:lnTo>
                    <a:pt x="263" y="263"/>
                  </a:lnTo>
                  <a:lnTo>
                    <a:pt x="268" y="254"/>
                  </a:lnTo>
                  <a:lnTo>
                    <a:pt x="272" y="20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28" name="Freeform 48"/>
            <p:cNvSpPr>
              <a:spLocks/>
            </p:cNvSpPr>
            <p:nvPr/>
          </p:nvSpPr>
          <p:spPr bwMode="auto">
            <a:xfrm>
              <a:off x="1348" y="393"/>
              <a:ext cx="393" cy="277"/>
            </a:xfrm>
            <a:custGeom>
              <a:avLst/>
              <a:gdLst>
                <a:gd name="T0" fmla="*/ 295 w 393"/>
                <a:gd name="T1" fmla="*/ 121 h 277"/>
                <a:gd name="T2" fmla="*/ 384 w 393"/>
                <a:gd name="T3" fmla="*/ 72 h 277"/>
                <a:gd name="T4" fmla="*/ 393 w 393"/>
                <a:gd name="T5" fmla="*/ 63 h 277"/>
                <a:gd name="T6" fmla="*/ 393 w 393"/>
                <a:gd name="T7" fmla="*/ 54 h 277"/>
                <a:gd name="T8" fmla="*/ 393 w 393"/>
                <a:gd name="T9" fmla="*/ 49 h 277"/>
                <a:gd name="T10" fmla="*/ 393 w 393"/>
                <a:gd name="T11" fmla="*/ 40 h 277"/>
                <a:gd name="T12" fmla="*/ 384 w 393"/>
                <a:gd name="T13" fmla="*/ 31 h 277"/>
                <a:gd name="T14" fmla="*/ 379 w 393"/>
                <a:gd name="T15" fmla="*/ 27 h 277"/>
                <a:gd name="T16" fmla="*/ 370 w 393"/>
                <a:gd name="T17" fmla="*/ 27 h 277"/>
                <a:gd name="T18" fmla="*/ 357 w 393"/>
                <a:gd name="T19" fmla="*/ 27 h 277"/>
                <a:gd name="T20" fmla="*/ 268 w 393"/>
                <a:gd name="T21" fmla="*/ 81 h 277"/>
                <a:gd name="T22" fmla="*/ 268 w 393"/>
                <a:gd name="T23" fmla="*/ 27 h 277"/>
                <a:gd name="T24" fmla="*/ 268 w 393"/>
                <a:gd name="T25" fmla="*/ 14 h 277"/>
                <a:gd name="T26" fmla="*/ 263 w 393"/>
                <a:gd name="T27" fmla="*/ 9 h 277"/>
                <a:gd name="T28" fmla="*/ 254 w 393"/>
                <a:gd name="T29" fmla="*/ 5 h 277"/>
                <a:gd name="T30" fmla="*/ 250 w 393"/>
                <a:gd name="T31" fmla="*/ 0 h 277"/>
                <a:gd name="T32" fmla="*/ 241 w 393"/>
                <a:gd name="T33" fmla="*/ 5 h 277"/>
                <a:gd name="T34" fmla="*/ 232 w 393"/>
                <a:gd name="T35" fmla="*/ 5 h 277"/>
                <a:gd name="T36" fmla="*/ 228 w 393"/>
                <a:gd name="T37" fmla="*/ 14 h 277"/>
                <a:gd name="T38" fmla="*/ 228 w 393"/>
                <a:gd name="T39" fmla="*/ 23 h 277"/>
                <a:gd name="T40" fmla="*/ 228 w 393"/>
                <a:gd name="T41" fmla="*/ 99 h 277"/>
                <a:gd name="T42" fmla="*/ 170 w 393"/>
                <a:gd name="T43" fmla="*/ 134 h 277"/>
                <a:gd name="T44" fmla="*/ 170 w 393"/>
                <a:gd name="T45" fmla="*/ 36 h 277"/>
                <a:gd name="T46" fmla="*/ 170 w 393"/>
                <a:gd name="T47" fmla="*/ 27 h 277"/>
                <a:gd name="T48" fmla="*/ 165 w 393"/>
                <a:gd name="T49" fmla="*/ 18 h 277"/>
                <a:gd name="T50" fmla="*/ 156 w 393"/>
                <a:gd name="T51" fmla="*/ 14 h 277"/>
                <a:gd name="T52" fmla="*/ 147 w 393"/>
                <a:gd name="T53" fmla="*/ 9 h 277"/>
                <a:gd name="T54" fmla="*/ 138 w 393"/>
                <a:gd name="T55" fmla="*/ 9 h 277"/>
                <a:gd name="T56" fmla="*/ 134 w 393"/>
                <a:gd name="T57" fmla="*/ 14 h 277"/>
                <a:gd name="T58" fmla="*/ 129 w 393"/>
                <a:gd name="T59" fmla="*/ 23 h 277"/>
                <a:gd name="T60" fmla="*/ 125 w 393"/>
                <a:gd name="T61" fmla="*/ 31 h 277"/>
                <a:gd name="T62" fmla="*/ 125 w 393"/>
                <a:gd name="T63" fmla="*/ 161 h 277"/>
                <a:gd name="T64" fmla="*/ 0 w 393"/>
                <a:gd name="T65" fmla="*/ 233 h 277"/>
                <a:gd name="T66" fmla="*/ 27 w 393"/>
                <a:gd name="T67" fmla="*/ 277 h 277"/>
                <a:gd name="T68" fmla="*/ 152 w 393"/>
                <a:gd name="T69" fmla="*/ 206 h 277"/>
                <a:gd name="T70" fmla="*/ 268 w 393"/>
                <a:gd name="T71" fmla="*/ 273 h 277"/>
                <a:gd name="T72" fmla="*/ 272 w 393"/>
                <a:gd name="T73" fmla="*/ 277 h 277"/>
                <a:gd name="T74" fmla="*/ 281 w 393"/>
                <a:gd name="T75" fmla="*/ 277 h 277"/>
                <a:gd name="T76" fmla="*/ 290 w 393"/>
                <a:gd name="T77" fmla="*/ 273 h 277"/>
                <a:gd name="T78" fmla="*/ 295 w 393"/>
                <a:gd name="T79" fmla="*/ 268 h 277"/>
                <a:gd name="T80" fmla="*/ 299 w 393"/>
                <a:gd name="T81" fmla="*/ 259 h 277"/>
                <a:gd name="T82" fmla="*/ 299 w 393"/>
                <a:gd name="T83" fmla="*/ 251 h 277"/>
                <a:gd name="T84" fmla="*/ 295 w 393"/>
                <a:gd name="T85" fmla="*/ 242 h 277"/>
                <a:gd name="T86" fmla="*/ 286 w 393"/>
                <a:gd name="T87" fmla="*/ 237 h 277"/>
                <a:gd name="T88" fmla="*/ 196 w 393"/>
                <a:gd name="T89" fmla="*/ 179 h 277"/>
                <a:gd name="T90" fmla="*/ 254 w 393"/>
                <a:gd name="T91" fmla="*/ 148 h 277"/>
                <a:gd name="T92" fmla="*/ 321 w 393"/>
                <a:gd name="T93" fmla="*/ 188 h 277"/>
                <a:gd name="T94" fmla="*/ 330 w 393"/>
                <a:gd name="T95" fmla="*/ 192 h 277"/>
                <a:gd name="T96" fmla="*/ 335 w 393"/>
                <a:gd name="T97" fmla="*/ 192 h 277"/>
                <a:gd name="T98" fmla="*/ 344 w 393"/>
                <a:gd name="T99" fmla="*/ 188 h 277"/>
                <a:gd name="T100" fmla="*/ 348 w 393"/>
                <a:gd name="T101" fmla="*/ 179 h 277"/>
                <a:gd name="T102" fmla="*/ 348 w 393"/>
                <a:gd name="T103" fmla="*/ 175 h 277"/>
                <a:gd name="T104" fmla="*/ 348 w 393"/>
                <a:gd name="T105" fmla="*/ 166 h 277"/>
                <a:gd name="T106" fmla="*/ 348 w 393"/>
                <a:gd name="T107" fmla="*/ 157 h 277"/>
                <a:gd name="T108" fmla="*/ 339 w 393"/>
                <a:gd name="T109" fmla="*/ 152 h 277"/>
                <a:gd name="T110" fmla="*/ 295 w 393"/>
                <a:gd name="T111" fmla="*/ 121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7">
                  <a:moveTo>
                    <a:pt x="295" y="121"/>
                  </a:moveTo>
                  <a:lnTo>
                    <a:pt x="384" y="72"/>
                  </a:lnTo>
                  <a:lnTo>
                    <a:pt x="393" y="63"/>
                  </a:lnTo>
                  <a:lnTo>
                    <a:pt x="393" y="54"/>
                  </a:lnTo>
                  <a:lnTo>
                    <a:pt x="393" y="49"/>
                  </a:lnTo>
                  <a:lnTo>
                    <a:pt x="393" y="40"/>
                  </a:lnTo>
                  <a:lnTo>
                    <a:pt x="384" y="31"/>
                  </a:lnTo>
                  <a:lnTo>
                    <a:pt x="379" y="27"/>
                  </a:lnTo>
                  <a:lnTo>
                    <a:pt x="370" y="27"/>
                  </a:lnTo>
                  <a:lnTo>
                    <a:pt x="357" y="27"/>
                  </a:lnTo>
                  <a:lnTo>
                    <a:pt x="268" y="81"/>
                  </a:lnTo>
                  <a:lnTo>
                    <a:pt x="268" y="27"/>
                  </a:lnTo>
                  <a:lnTo>
                    <a:pt x="268" y="14"/>
                  </a:lnTo>
                  <a:lnTo>
                    <a:pt x="263" y="9"/>
                  </a:lnTo>
                  <a:lnTo>
                    <a:pt x="254" y="5"/>
                  </a:lnTo>
                  <a:lnTo>
                    <a:pt x="250" y="0"/>
                  </a:lnTo>
                  <a:lnTo>
                    <a:pt x="241" y="5"/>
                  </a:lnTo>
                  <a:lnTo>
                    <a:pt x="232" y="5"/>
                  </a:lnTo>
                  <a:lnTo>
                    <a:pt x="228" y="14"/>
                  </a:lnTo>
                  <a:lnTo>
                    <a:pt x="228" y="23"/>
                  </a:lnTo>
                  <a:lnTo>
                    <a:pt x="228" y="99"/>
                  </a:lnTo>
                  <a:lnTo>
                    <a:pt x="170" y="134"/>
                  </a:lnTo>
                  <a:lnTo>
                    <a:pt x="170" y="36"/>
                  </a:lnTo>
                  <a:lnTo>
                    <a:pt x="170" y="27"/>
                  </a:lnTo>
                  <a:lnTo>
                    <a:pt x="165" y="18"/>
                  </a:lnTo>
                  <a:lnTo>
                    <a:pt x="156" y="14"/>
                  </a:lnTo>
                  <a:lnTo>
                    <a:pt x="147" y="9"/>
                  </a:lnTo>
                  <a:lnTo>
                    <a:pt x="138" y="9"/>
                  </a:lnTo>
                  <a:lnTo>
                    <a:pt x="134" y="14"/>
                  </a:lnTo>
                  <a:lnTo>
                    <a:pt x="129" y="23"/>
                  </a:lnTo>
                  <a:lnTo>
                    <a:pt x="125" y="31"/>
                  </a:lnTo>
                  <a:lnTo>
                    <a:pt x="125" y="161"/>
                  </a:lnTo>
                  <a:lnTo>
                    <a:pt x="0" y="233"/>
                  </a:lnTo>
                  <a:lnTo>
                    <a:pt x="27" y="277"/>
                  </a:lnTo>
                  <a:lnTo>
                    <a:pt x="152" y="206"/>
                  </a:lnTo>
                  <a:lnTo>
                    <a:pt x="268" y="273"/>
                  </a:lnTo>
                  <a:lnTo>
                    <a:pt x="272" y="277"/>
                  </a:lnTo>
                  <a:lnTo>
                    <a:pt x="281" y="277"/>
                  </a:lnTo>
                  <a:lnTo>
                    <a:pt x="290" y="273"/>
                  </a:lnTo>
                  <a:lnTo>
                    <a:pt x="295" y="268"/>
                  </a:lnTo>
                  <a:lnTo>
                    <a:pt x="299" y="259"/>
                  </a:lnTo>
                  <a:lnTo>
                    <a:pt x="299" y="251"/>
                  </a:lnTo>
                  <a:lnTo>
                    <a:pt x="295" y="242"/>
                  </a:lnTo>
                  <a:lnTo>
                    <a:pt x="286" y="237"/>
                  </a:lnTo>
                  <a:lnTo>
                    <a:pt x="196" y="179"/>
                  </a:lnTo>
                  <a:lnTo>
                    <a:pt x="254" y="148"/>
                  </a:lnTo>
                  <a:lnTo>
                    <a:pt x="321" y="188"/>
                  </a:lnTo>
                  <a:lnTo>
                    <a:pt x="330" y="192"/>
                  </a:lnTo>
                  <a:lnTo>
                    <a:pt x="335" y="192"/>
                  </a:lnTo>
                  <a:lnTo>
                    <a:pt x="344" y="188"/>
                  </a:lnTo>
                  <a:lnTo>
                    <a:pt x="348" y="179"/>
                  </a:lnTo>
                  <a:lnTo>
                    <a:pt x="348" y="175"/>
                  </a:lnTo>
                  <a:lnTo>
                    <a:pt x="348" y="166"/>
                  </a:lnTo>
                  <a:lnTo>
                    <a:pt x="348" y="157"/>
                  </a:lnTo>
                  <a:lnTo>
                    <a:pt x="339" y="152"/>
                  </a:lnTo>
                  <a:lnTo>
                    <a:pt x="295" y="12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29" name="Freeform 49"/>
            <p:cNvSpPr>
              <a:spLocks/>
            </p:cNvSpPr>
            <p:nvPr/>
          </p:nvSpPr>
          <p:spPr bwMode="auto">
            <a:xfrm>
              <a:off x="1232" y="536"/>
              <a:ext cx="263" cy="228"/>
            </a:xfrm>
            <a:custGeom>
              <a:avLst/>
              <a:gdLst>
                <a:gd name="T0" fmla="*/ 0 w 263"/>
                <a:gd name="T1" fmla="*/ 116 h 228"/>
                <a:gd name="T2" fmla="*/ 49 w 263"/>
                <a:gd name="T3" fmla="*/ 67 h 228"/>
                <a:gd name="T4" fmla="*/ 67 w 263"/>
                <a:gd name="T5" fmla="*/ 0 h 228"/>
                <a:gd name="T6" fmla="*/ 134 w 263"/>
                <a:gd name="T7" fmla="*/ 23 h 228"/>
                <a:gd name="T8" fmla="*/ 201 w 263"/>
                <a:gd name="T9" fmla="*/ 0 h 228"/>
                <a:gd name="T10" fmla="*/ 214 w 263"/>
                <a:gd name="T11" fmla="*/ 67 h 228"/>
                <a:gd name="T12" fmla="*/ 263 w 263"/>
                <a:gd name="T13" fmla="*/ 116 h 228"/>
                <a:gd name="T14" fmla="*/ 214 w 263"/>
                <a:gd name="T15" fmla="*/ 161 h 228"/>
                <a:gd name="T16" fmla="*/ 201 w 263"/>
                <a:gd name="T17" fmla="*/ 228 h 228"/>
                <a:gd name="T18" fmla="*/ 134 w 263"/>
                <a:gd name="T19" fmla="*/ 210 h 228"/>
                <a:gd name="T20" fmla="*/ 67 w 263"/>
                <a:gd name="T21" fmla="*/ 228 h 228"/>
                <a:gd name="T22" fmla="*/ 49 w 263"/>
                <a:gd name="T23" fmla="*/ 161 h 228"/>
                <a:gd name="T24" fmla="*/ 0 w 263"/>
                <a:gd name="T25" fmla="*/ 116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3" h="228">
                  <a:moveTo>
                    <a:pt x="0" y="116"/>
                  </a:moveTo>
                  <a:lnTo>
                    <a:pt x="49" y="67"/>
                  </a:lnTo>
                  <a:lnTo>
                    <a:pt x="67" y="0"/>
                  </a:lnTo>
                  <a:lnTo>
                    <a:pt x="134" y="23"/>
                  </a:lnTo>
                  <a:lnTo>
                    <a:pt x="201" y="0"/>
                  </a:lnTo>
                  <a:lnTo>
                    <a:pt x="214" y="67"/>
                  </a:lnTo>
                  <a:lnTo>
                    <a:pt x="263" y="116"/>
                  </a:lnTo>
                  <a:lnTo>
                    <a:pt x="214" y="161"/>
                  </a:lnTo>
                  <a:lnTo>
                    <a:pt x="201" y="228"/>
                  </a:lnTo>
                  <a:lnTo>
                    <a:pt x="134" y="210"/>
                  </a:lnTo>
                  <a:lnTo>
                    <a:pt x="67" y="228"/>
                  </a:lnTo>
                  <a:lnTo>
                    <a:pt x="49" y="161"/>
                  </a:lnTo>
                  <a:lnTo>
                    <a:pt x="0" y="116"/>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grpSp>
    </p:spTree>
    <p:extLst>
      <p:ext uri="{BB962C8B-B14F-4D97-AF65-F5344CB8AC3E}">
        <p14:creationId xmlns:p14="http://schemas.microsoft.com/office/powerpoint/2010/main" val="1760560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51520" y="116632"/>
            <a:ext cx="352839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商品部构架</a:t>
            </a:r>
            <a:endParaRPr lang="zh-CN" altLang="en-US" dirty="0">
              <a:latin typeface="微软雅黑" pitchFamily="34" charset="-122"/>
              <a:ea typeface="微软雅黑" pitchFamily="34" charset="-122"/>
            </a:endParaRPr>
          </a:p>
        </p:txBody>
      </p:sp>
      <p:graphicFrame>
        <p:nvGraphicFramePr>
          <p:cNvPr id="9" name="图示 8"/>
          <p:cNvGraphicFramePr/>
          <p:nvPr>
            <p:extLst>
              <p:ext uri="{D42A27DB-BD31-4B8C-83A1-F6EECF244321}">
                <p14:modId xmlns:p14="http://schemas.microsoft.com/office/powerpoint/2010/main" val="309878258"/>
              </p:ext>
            </p:extLst>
          </p:nvPr>
        </p:nvGraphicFramePr>
        <p:xfrm>
          <a:off x="539552" y="548680"/>
          <a:ext cx="8280919" cy="56886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87675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1520" y="116632"/>
            <a:ext cx="352839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商品部职责</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总则</a:t>
            </a:r>
            <a:endParaRPr lang="zh-CN" altLang="en-US" dirty="0">
              <a:latin typeface="微软雅黑" pitchFamily="34" charset="-122"/>
              <a:ea typeface="微软雅黑" pitchFamily="34" charset="-122"/>
            </a:endParaRPr>
          </a:p>
        </p:txBody>
      </p:sp>
      <p:sp>
        <p:nvSpPr>
          <p:cNvPr id="4" name="矩形 3"/>
          <p:cNvSpPr/>
          <p:nvPr/>
        </p:nvSpPr>
        <p:spPr>
          <a:xfrm>
            <a:off x="539552" y="620688"/>
            <a:ext cx="8064896" cy="5693866"/>
          </a:xfrm>
          <a:prstGeom prst="rect">
            <a:avLst/>
          </a:prstGeom>
        </p:spPr>
        <p:txBody>
          <a:bodyPr wrap="square">
            <a:spAutoFit/>
          </a:bodyPr>
          <a:lstStyle/>
          <a:p>
            <a:pPr marL="285750" lvl="0" indent="-285750">
              <a:lnSpc>
                <a:spcPct val="200000"/>
              </a:lnSpc>
              <a:buFont typeface="Wingdings" pitchFamily="2" charset="2"/>
              <a:buChar char="p"/>
            </a:pPr>
            <a:r>
              <a:rPr lang="zh-CN" altLang="zh-CN" sz="1400" dirty="0">
                <a:latin typeface="微软雅黑" pitchFamily="34" charset="-122"/>
                <a:ea typeface="微软雅黑" pitchFamily="34" charset="-122"/>
              </a:rPr>
              <a:t>负责分公司年度运营计划的拟定</a:t>
            </a:r>
            <a:r>
              <a:rPr lang="en-US" altLang="zh-CN" sz="1400" dirty="0">
                <a:latin typeface="微软雅黑" pitchFamily="34" charset="-122"/>
                <a:ea typeface="微软雅黑" pitchFamily="34" charset="-122"/>
              </a:rPr>
              <a:t>/</a:t>
            </a:r>
            <a:r>
              <a:rPr lang="zh-CN" altLang="zh-CN" sz="1400" dirty="0">
                <a:latin typeface="微软雅黑" pitchFamily="34" charset="-122"/>
                <a:ea typeface="微软雅黑" pitchFamily="34" charset="-122"/>
              </a:rPr>
              <a:t>报批并组织实施，运营计划包括但不限于销售目标</a:t>
            </a:r>
            <a:r>
              <a:rPr lang="en-US" altLang="zh-CN" sz="1400" dirty="0">
                <a:latin typeface="微软雅黑" pitchFamily="34" charset="-122"/>
                <a:ea typeface="微软雅黑" pitchFamily="34" charset="-122"/>
              </a:rPr>
              <a:t>/</a:t>
            </a:r>
            <a:r>
              <a:rPr lang="zh-CN" altLang="zh-CN" sz="1400" dirty="0" smtClean="0">
                <a:latin typeface="微软雅黑" pitchFamily="34" charset="-122"/>
                <a:ea typeface="微软雅黑" pitchFamily="34" charset="-122"/>
              </a:rPr>
              <a:t>方案</a:t>
            </a:r>
            <a:endParaRPr lang="zh-CN" altLang="zh-CN" sz="1400" dirty="0">
              <a:latin typeface="微软雅黑" pitchFamily="34" charset="-122"/>
              <a:ea typeface="微软雅黑" pitchFamily="34" charset="-122"/>
            </a:endParaRPr>
          </a:p>
          <a:p>
            <a:pPr marL="285750" lvl="0" indent="-285750">
              <a:lnSpc>
                <a:spcPct val="200000"/>
              </a:lnSpc>
              <a:buFont typeface="Wingdings" pitchFamily="2" charset="2"/>
              <a:buChar char="p"/>
            </a:pPr>
            <a:r>
              <a:rPr lang="zh-CN" altLang="zh-CN" sz="1400" dirty="0">
                <a:latin typeface="微软雅黑" pitchFamily="34" charset="-122"/>
                <a:ea typeface="微软雅黑" pitchFamily="34" charset="-122"/>
              </a:rPr>
              <a:t>负责公司订货会的参与、组织，对加盟客户进行订货指标任务下达、订单金额核算、订单</a:t>
            </a:r>
            <a:r>
              <a:rPr lang="zh-CN" altLang="zh-CN" sz="1400" dirty="0" smtClean="0">
                <a:latin typeface="微软雅黑" pitchFamily="34" charset="-122"/>
                <a:ea typeface="微软雅黑" pitchFamily="34" charset="-122"/>
              </a:rPr>
              <a:t>处理</a:t>
            </a:r>
            <a:endParaRPr lang="zh-CN" altLang="zh-CN" sz="1400" dirty="0">
              <a:latin typeface="微软雅黑" pitchFamily="34" charset="-122"/>
              <a:ea typeface="微软雅黑" pitchFamily="34" charset="-122"/>
            </a:endParaRPr>
          </a:p>
          <a:p>
            <a:pPr marL="285750" lvl="0" indent="-285750">
              <a:lnSpc>
                <a:spcPct val="200000"/>
              </a:lnSpc>
              <a:buFont typeface="Wingdings" pitchFamily="2" charset="2"/>
              <a:buChar char="p"/>
            </a:pPr>
            <a:r>
              <a:rPr lang="zh-CN" altLang="zh-CN" sz="1400" dirty="0">
                <a:latin typeface="微软雅黑" pitchFamily="34" charset="-122"/>
                <a:ea typeface="微软雅黑" pitchFamily="34" charset="-122"/>
              </a:rPr>
              <a:t>负责编制年、季、月度商品上市波段计划</a:t>
            </a:r>
            <a:r>
              <a:rPr lang="en-US" altLang="zh-CN" sz="1400" dirty="0">
                <a:latin typeface="微软雅黑" pitchFamily="34" charset="-122"/>
                <a:ea typeface="微软雅黑" pitchFamily="34" charset="-122"/>
              </a:rPr>
              <a:t>/</a:t>
            </a:r>
            <a:r>
              <a:rPr lang="zh-CN" altLang="zh-CN" sz="1400" dirty="0">
                <a:latin typeface="微软雅黑" pitchFamily="34" charset="-122"/>
                <a:ea typeface="微软雅黑" pitchFamily="34" charset="-122"/>
              </a:rPr>
              <a:t>结构计划并监控计划的执行进度，完成销售</a:t>
            </a:r>
            <a:r>
              <a:rPr lang="zh-CN" altLang="zh-CN" sz="1400" dirty="0" smtClean="0">
                <a:latin typeface="微软雅黑" pitchFamily="34" charset="-122"/>
                <a:ea typeface="微软雅黑" pitchFamily="34" charset="-122"/>
              </a:rPr>
              <a:t>任务 </a:t>
            </a:r>
            <a:endParaRPr lang="zh-CN" altLang="zh-CN" sz="1400" dirty="0">
              <a:latin typeface="微软雅黑" pitchFamily="34" charset="-122"/>
              <a:ea typeface="微软雅黑" pitchFamily="34" charset="-122"/>
            </a:endParaRPr>
          </a:p>
          <a:p>
            <a:pPr marL="285750" lvl="0" indent="-285750">
              <a:lnSpc>
                <a:spcPct val="200000"/>
              </a:lnSpc>
              <a:buFont typeface="Wingdings" pitchFamily="2" charset="2"/>
              <a:buChar char="p"/>
            </a:pPr>
            <a:r>
              <a:rPr lang="zh-CN" altLang="zh-CN" sz="1400" dirty="0">
                <a:latin typeface="微软雅黑" pitchFamily="34" charset="-122"/>
                <a:ea typeface="微软雅黑" pitchFamily="34" charset="-122"/>
              </a:rPr>
              <a:t>根据所订期货情况和商品结构，对总部商品配发进度进行</a:t>
            </a:r>
            <a:r>
              <a:rPr lang="zh-CN" altLang="zh-CN" sz="1400" dirty="0" smtClean="0">
                <a:latin typeface="微软雅黑" pitchFamily="34" charset="-122"/>
                <a:ea typeface="微软雅黑" pitchFamily="34" charset="-122"/>
              </a:rPr>
              <a:t>跟进</a:t>
            </a:r>
            <a:endParaRPr lang="zh-CN" altLang="zh-CN" sz="1400" dirty="0">
              <a:latin typeface="微软雅黑" pitchFamily="34" charset="-122"/>
              <a:ea typeface="微软雅黑" pitchFamily="34" charset="-122"/>
            </a:endParaRPr>
          </a:p>
          <a:p>
            <a:pPr marL="285750" lvl="0" indent="-285750">
              <a:lnSpc>
                <a:spcPct val="200000"/>
              </a:lnSpc>
              <a:buFont typeface="Wingdings" pitchFamily="2" charset="2"/>
              <a:buChar char="p"/>
            </a:pPr>
            <a:r>
              <a:rPr lang="zh-CN" altLang="zh-CN" sz="1400" dirty="0">
                <a:latin typeface="微软雅黑" pitchFamily="34" charset="-122"/>
                <a:ea typeface="微软雅黑" pitchFamily="34" charset="-122"/>
              </a:rPr>
              <a:t>负责货品发运计划的制订及核算发货</a:t>
            </a:r>
            <a:r>
              <a:rPr lang="zh-CN" altLang="zh-CN" sz="1400" dirty="0" smtClean="0">
                <a:latin typeface="微软雅黑" pitchFamily="34" charset="-122"/>
                <a:ea typeface="微软雅黑" pitchFamily="34" charset="-122"/>
              </a:rPr>
              <a:t>数量</a:t>
            </a:r>
            <a:endParaRPr lang="zh-CN" altLang="zh-CN" sz="1400" dirty="0">
              <a:latin typeface="微软雅黑" pitchFamily="34" charset="-122"/>
              <a:ea typeface="微软雅黑" pitchFamily="34" charset="-122"/>
            </a:endParaRPr>
          </a:p>
          <a:p>
            <a:pPr marL="285750" lvl="0" indent="-285750">
              <a:lnSpc>
                <a:spcPct val="200000"/>
              </a:lnSpc>
              <a:buFont typeface="Wingdings" pitchFamily="2" charset="2"/>
              <a:buChar char="p"/>
            </a:pPr>
            <a:r>
              <a:rPr lang="zh-CN" altLang="zh-CN" sz="1400" dirty="0">
                <a:latin typeface="微软雅黑" pitchFamily="34" charset="-122"/>
                <a:ea typeface="微软雅黑" pitchFamily="34" charset="-122"/>
              </a:rPr>
              <a:t>负责跟进商品销售状况，并针对异常情况提出相应的措施要求（如追单、规整、清货</a:t>
            </a:r>
            <a:r>
              <a:rPr lang="zh-CN" altLang="zh-CN" sz="1400" dirty="0" smtClean="0">
                <a:latin typeface="微软雅黑" pitchFamily="34" charset="-122"/>
                <a:ea typeface="微软雅黑" pitchFamily="34" charset="-122"/>
              </a:rPr>
              <a:t>）</a:t>
            </a:r>
            <a:endParaRPr lang="zh-CN" altLang="zh-CN" sz="1400" dirty="0">
              <a:latin typeface="微软雅黑" pitchFamily="34" charset="-122"/>
              <a:ea typeface="微软雅黑" pitchFamily="34" charset="-122"/>
            </a:endParaRPr>
          </a:p>
          <a:p>
            <a:pPr marL="285750" lvl="0" indent="-285750">
              <a:lnSpc>
                <a:spcPct val="200000"/>
              </a:lnSpc>
              <a:buFont typeface="Wingdings" pitchFamily="2" charset="2"/>
              <a:buChar char="p"/>
            </a:pPr>
            <a:r>
              <a:rPr lang="zh-CN" altLang="zh-CN" sz="1400" dirty="0">
                <a:latin typeface="微软雅黑" pitchFamily="34" charset="-122"/>
                <a:ea typeface="微软雅黑" pitchFamily="34" charset="-122"/>
              </a:rPr>
              <a:t>负责新款商品的铺货进度、销售走势的跟进与分析，并对异常情况进行分析、提出处理建议（主推、规整、清货</a:t>
            </a:r>
            <a:r>
              <a:rPr lang="zh-CN" altLang="zh-CN" sz="1400" dirty="0" smtClean="0">
                <a:latin typeface="微软雅黑" pitchFamily="34" charset="-122"/>
                <a:ea typeface="微软雅黑" pitchFamily="34" charset="-122"/>
              </a:rPr>
              <a:t>）</a:t>
            </a:r>
            <a:endParaRPr lang="zh-CN" altLang="zh-CN" sz="1400" dirty="0">
              <a:latin typeface="微软雅黑" pitchFamily="34" charset="-122"/>
              <a:ea typeface="微软雅黑" pitchFamily="34" charset="-122"/>
            </a:endParaRPr>
          </a:p>
          <a:p>
            <a:pPr marL="285750" lvl="0" indent="-285750">
              <a:lnSpc>
                <a:spcPct val="200000"/>
              </a:lnSpc>
              <a:buFont typeface="Wingdings" pitchFamily="2" charset="2"/>
              <a:buChar char="p"/>
            </a:pPr>
            <a:r>
              <a:rPr lang="zh-CN" altLang="zh-CN" sz="1400" dirty="0">
                <a:latin typeface="微软雅黑" pitchFamily="34" charset="-122"/>
                <a:ea typeface="微软雅黑" pitchFamily="34" charset="-122"/>
              </a:rPr>
              <a:t>负责建立销售数据统计分析模型，做好销售统计核算基础管理工作和经营分析</a:t>
            </a:r>
            <a:r>
              <a:rPr lang="zh-CN" altLang="zh-CN" sz="1400" dirty="0" smtClean="0">
                <a:latin typeface="微软雅黑" pitchFamily="34" charset="-122"/>
                <a:ea typeface="微软雅黑" pitchFamily="34" charset="-122"/>
              </a:rPr>
              <a:t>工作</a:t>
            </a:r>
            <a:endParaRPr lang="zh-CN" altLang="zh-CN" sz="1400" dirty="0">
              <a:latin typeface="微软雅黑" pitchFamily="34" charset="-122"/>
              <a:ea typeface="微软雅黑" pitchFamily="34" charset="-122"/>
            </a:endParaRPr>
          </a:p>
          <a:p>
            <a:pPr marL="285750" lvl="0" indent="-285750">
              <a:lnSpc>
                <a:spcPct val="200000"/>
              </a:lnSpc>
              <a:buFont typeface="Wingdings" pitchFamily="2" charset="2"/>
              <a:buChar char="p"/>
            </a:pPr>
            <a:r>
              <a:rPr lang="zh-CN" altLang="zh-CN" sz="1400" dirty="0">
                <a:latin typeface="微软雅黑" pitchFamily="34" charset="-122"/>
                <a:ea typeface="微软雅黑" pitchFamily="34" charset="-122"/>
              </a:rPr>
              <a:t>负责销售信息数据的归类、提取，并按照相应销售数据分析模型对统计结果进行销售分析和经营分析，并提出分析意见和建议</a:t>
            </a:r>
            <a:r>
              <a:rPr lang="zh-CN" altLang="zh-CN" sz="1400" dirty="0" smtClean="0">
                <a:latin typeface="微软雅黑" pitchFamily="34" charset="-122"/>
                <a:ea typeface="微软雅黑" pitchFamily="34" charset="-122"/>
              </a:rPr>
              <a:t>措施</a:t>
            </a:r>
            <a:endParaRPr lang="zh-CN" altLang="zh-CN" sz="1400" dirty="0">
              <a:latin typeface="微软雅黑" pitchFamily="34" charset="-122"/>
              <a:ea typeface="微软雅黑" pitchFamily="34" charset="-122"/>
            </a:endParaRPr>
          </a:p>
          <a:p>
            <a:pPr marL="285750" lvl="0" indent="-285750">
              <a:lnSpc>
                <a:spcPct val="200000"/>
              </a:lnSpc>
              <a:buFont typeface="Wingdings" pitchFamily="2" charset="2"/>
              <a:buChar char="p"/>
            </a:pPr>
            <a:r>
              <a:rPr lang="zh-CN" altLang="zh-CN" sz="1400" dirty="0">
                <a:latin typeface="微软雅黑" pitchFamily="34" charset="-122"/>
                <a:ea typeface="微软雅黑" pitchFamily="34" charset="-122"/>
              </a:rPr>
              <a:t>负责提出库存产品及退回货品的处理</a:t>
            </a:r>
            <a:r>
              <a:rPr lang="zh-CN" altLang="zh-CN" sz="1400" dirty="0" smtClean="0">
                <a:latin typeface="微软雅黑" pitchFamily="34" charset="-122"/>
                <a:ea typeface="微软雅黑" pitchFamily="34" charset="-122"/>
              </a:rPr>
              <a:t>意见</a:t>
            </a:r>
            <a:endParaRPr lang="zh-CN" altLang="zh-CN" sz="1400" dirty="0">
              <a:latin typeface="微软雅黑" pitchFamily="34" charset="-122"/>
              <a:ea typeface="微软雅黑" pitchFamily="34" charset="-122"/>
            </a:endParaRPr>
          </a:p>
          <a:p>
            <a:pPr marL="285750" lvl="0" indent="-285750">
              <a:lnSpc>
                <a:spcPct val="200000"/>
              </a:lnSpc>
              <a:buFont typeface="Wingdings" pitchFamily="2" charset="2"/>
              <a:buChar char="p"/>
            </a:pPr>
            <a:r>
              <a:rPr lang="zh-CN" altLang="zh-CN" sz="1400" dirty="0">
                <a:latin typeface="微软雅黑" pitchFamily="34" charset="-122"/>
                <a:ea typeface="微软雅黑" pitchFamily="34" charset="-122"/>
              </a:rPr>
              <a:t>负责运营部展厅日常维护与</a:t>
            </a:r>
            <a:r>
              <a:rPr lang="zh-CN" altLang="zh-CN" sz="1400" dirty="0" smtClean="0">
                <a:latin typeface="微软雅黑" pitchFamily="34" charset="-122"/>
                <a:ea typeface="微软雅黑" pitchFamily="34" charset="-122"/>
              </a:rPr>
              <a:t>管理</a:t>
            </a:r>
            <a:endParaRPr lang="zh-CN" altLang="zh-CN" sz="1400" dirty="0">
              <a:latin typeface="微软雅黑" pitchFamily="34" charset="-122"/>
              <a:ea typeface="微软雅黑" pitchFamily="34" charset="-122"/>
            </a:endParaRPr>
          </a:p>
        </p:txBody>
      </p:sp>
    </p:spTree>
    <p:extLst>
      <p:ext uri="{BB962C8B-B14F-4D97-AF65-F5344CB8AC3E}">
        <p14:creationId xmlns:p14="http://schemas.microsoft.com/office/powerpoint/2010/main" val="36909744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352839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商品部职责</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商品经理</a:t>
            </a:r>
            <a:endParaRPr lang="zh-CN" altLang="en-US" dirty="0">
              <a:latin typeface="微软雅黑" pitchFamily="34" charset="-122"/>
              <a:ea typeface="微软雅黑"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4092679688"/>
              </p:ext>
            </p:extLst>
          </p:nvPr>
        </p:nvGraphicFramePr>
        <p:xfrm>
          <a:off x="755576" y="485964"/>
          <a:ext cx="7776864" cy="5972126"/>
        </p:xfrm>
        <a:graphic>
          <a:graphicData uri="http://schemas.openxmlformats.org/drawingml/2006/table">
            <a:tbl>
              <a:tblPr firstRow="1" firstCol="1" bandRow="1">
                <a:tableStyleId>{5940675A-B579-460E-94D1-54222C63F5DA}</a:tableStyleId>
              </a:tblPr>
              <a:tblGrid>
                <a:gridCol w="380797"/>
                <a:gridCol w="381180"/>
                <a:gridCol w="1398263"/>
                <a:gridCol w="792088"/>
                <a:gridCol w="4104456"/>
                <a:gridCol w="720080"/>
              </a:tblGrid>
              <a:tr h="372058">
                <a:tc>
                  <a:txBody>
                    <a:bodyPr/>
                    <a:lstStyle/>
                    <a:p>
                      <a:pPr algn="ctr">
                        <a:spcAft>
                          <a:spcPts val="0"/>
                        </a:spcAft>
                      </a:pPr>
                      <a:r>
                        <a:rPr lang="zh-CN" sz="1000" kern="100" dirty="0" smtClean="0">
                          <a:effectLst/>
                          <a:latin typeface="微软雅黑" pitchFamily="34" charset="-122"/>
                          <a:ea typeface="微软雅黑" pitchFamily="34" charset="-122"/>
                        </a:rPr>
                        <a:t>序号</a:t>
                      </a:r>
                      <a:endParaRPr lang="zh-CN" sz="1000" kern="100" dirty="0">
                        <a:effectLst/>
                        <a:latin typeface="微软雅黑" pitchFamily="34" charset="-122"/>
                        <a:ea typeface="微软雅黑" pitchFamily="34" charset="-122"/>
                        <a:cs typeface="Times New Roman"/>
                      </a:endParaRPr>
                    </a:p>
                  </a:txBody>
                  <a:tcPr marL="29840" marR="29840" marT="0" marB="0" anchor="ctr"/>
                </a:tc>
                <a:tc>
                  <a:txBody>
                    <a:bodyPr/>
                    <a:lstStyle/>
                    <a:p>
                      <a:pPr algn="ctr">
                        <a:spcAft>
                          <a:spcPts val="0"/>
                        </a:spcAft>
                      </a:pPr>
                      <a:r>
                        <a:rPr lang="zh-CN" sz="1000" kern="100" dirty="0">
                          <a:effectLst/>
                          <a:latin typeface="微软雅黑" pitchFamily="34" charset="-122"/>
                          <a:ea typeface="微软雅黑" pitchFamily="34" charset="-122"/>
                        </a:rPr>
                        <a:t>分类</a:t>
                      </a:r>
                      <a:endParaRPr lang="zh-CN" sz="1000" kern="100" dirty="0">
                        <a:effectLst/>
                        <a:latin typeface="微软雅黑" pitchFamily="34" charset="-122"/>
                        <a:ea typeface="微软雅黑" pitchFamily="34" charset="-122"/>
                        <a:cs typeface="Times New Roman"/>
                      </a:endParaRPr>
                    </a:p>
                  </a:txBody>
                  <a:tcPr marL="29840" marR="29840" marT="0" marB="0" anchor="ctr"/>
                </a:tc>
                <a:tc>
                  <a:txBody>
                    <a:bodyPr/>
                    <a:lstStyle/>
                    <a:p>
                      <a:pPr algn="ctr">
                        <a:spcAft>
                          <a:spcPts val="0"/>
                        </a:spcAft>
                      </a:pPr>
                      <a:r>
                        <a:rPr lang="zh-CN" sz="1000" kern="100" dirty="0">
                          <a:effectLst/>
                          <a:latin typeface="微软雅黑" pitchFamily="34" charset="-122"/>
                          <a:ea typeface="微软雅黑" pitchFamily="34" charset="-122"/>
                        </a:rPr>
                        <a:t>岗位职责</a:t>
                      </a:r>
                      <a:endParaRPr lang="zh-CN" sz="1000" kern="100" dirty="0">
                        <a:effectLst/>
                        <a:latin typeface="微软雅黑" pitchFamily="34" charset="-122"/>
                        <a:ea typeface="微软雅黑" pitchFamily="34" charset="-122"/>
                        <a:cs typeface="Times New Roman"/>
                      </a:endParaRPr>
                    </a:p>
                  </a:txBody>
                  <a:tcPr marL="29840" marR="29840" marT="0" marB="0" anchor="ctr"/>
                </a:tc>
                <a:tc>
                  <a:txBody>
                    <a:bodyPr/>
                    <a:lstStyle/>
                    <a:p>
                      <a:pPr algn="ctr">
                        <a:spcAft>
                          <a:spcPts val="0"/>
                        </a:spcAft>
                      </a:pPr>
                      <a:r>
                        <a:rPr lang="zh-CN" sz="1000" kern="100" dirty="0">
                          <a:effectLst/>
                          <a:latin typeface="微软雅黑" pitchFamily="34" charset="-122"/>
                          <a:ea typeface="微软雅黑" pitchFamily="34" charset="-122"/>
                        </a:rPr>
                        <a:t>具体描述</a:t>
                      </a:r>
                      <a:endParaRPr lang="zh-CN" sz="1000" kern="100" dirty="0">
                        <a:effectLst/>
                        <a:latin typeface="微软雅黑" pitchFamily="34" charset="-122"/>
                        <a:ea typeface="微软雅黑" pitchFamily="34" charset="-122"/>
                        <a:cs typeface="Times New Roman"/>
                      </a:endParaRPr>
                    </a:p>
                  </a:txBody>
                  <a:tcPr marL="29840" marR="29840" marT="0" marB="0" anchor="ctr"/>
                </a:tc>
                <a:tc>
                  <a:txBody>
                    <a:bodyPr/>
                    <a:lstStyle/>
                    <a:p>
                      <a:pPr algn="ctr">
                        <a:spcAft>
                          <a:spcPts val="0"/>
                        </a:spcAft>
                      </a:pPr>
                      <a:r>
                        <a:rPr lang="zh-CN" sz="1000" kern="100" dirty="0">
                          <a:effectLst/>
                          <a:latin typeface="微软雅黑" pitchFamily="34" charset="-122"/>
                          <a:ea typeface="微软雅黑" pitchFamily="34" charset="-122"/>
                        </a:rPr>
                        <a:t>岗位标准</a:t>
                      </a:r>
                      <a:endParaRPr lang="zh-CN" sz="1000" kern="100" dirty="0">
                        <a:effectLst/>
                        <a:latin typeface="微软雅黑" pitchFamily="34" charset="-122"/>
                        <a:ea typeface="微软雅黑" pitchFamily="34" charset="-122"/>
                        <a:cs typeface="Times New Roman"/>
                      </a:endParaRPr>
                    </a:p>
                  </a:txBody>
                  <a:tcPr marL="29840" marR="29840" marT="0" marB="0" anchor="ctr"/>
                </a:tc>
                <a:tc>
                  <a:txBody>
                    <a:bodyPr/>
                    <a:lstStyle/>
                    <a:p>
                      <a:pPr algn="ctr">
                        <a:spcAft>
                          <a:spcPts val="0"/>
                        </a:spcAft>
                      </a:pPr>
                      <a:r>
                        <a:rPr lang="zh-CN" sz="1000" kern="100">
                          <a:effectLst/>
                          <a:latin typeface="微软雅黑" pitchFamily="34" charset="-122"/>
                          <a:ea typeface="微软雅黑" pitchFamily="34" charset="-122"/>
                        </a:rPr>
                        <a:t>频次和时间</a:t>
                      </a:r>
                      <a:endParaRPr lang="zh-CN" sz="1000" kern="100">
                        <a:effectLst/>
                        <a:latin typeface="微软雅黑" pitchFamily="34" charset="-122"/>
                        <a:ea typeface="微软雅黑" pitchFamily="34" charset="-122"/>
                        <a:cs typeface="Times New Roman"/>
                      </a:endParaRPr>
                    </a:p>
                  </a:txBody>
                  <a:tcPr marL="29840" marR="29840" marT="0" marB="0" anchor="ctr"/>
                </a:tc>
              </a:tr>
              <a:tr h="637887">
                <a:tc rowSpan="10">
                  <a:txBody>
                    <a:bodyPr/>
                    <a:lstStyle/>
                    <a:p>
                      <a:pPr algn="ctr">
                        <a:spcAft>
                          <a:spcPts val="0"/>
                        </a:spcAft>
                      </a:pPr>
                      <a:r>
                        <a:rPr lang="en-US" sz="1000" kern="100" dirty="0">
                          <a:effectLst/>
                          <a:latin typeface="微软雅黑" pitchFamily="34" charset="-122"/>
                          <a:ea typeface="微软雅黑" pitchFamily="34" charset="-122"/>
                        </a:rPr>
                        <a:t>1</a:t>
                      </a:r>
                      <a:endParaRPr lang="zh-CN" sz="1000" kern="100" dirty="0">
                        <a:effectLst/>
                        <a:latin typeface="微软雅黑" pitchFamily="34" charset="-122"/>
                        <a:ea typeface="微软雅黑" pitchFamily="34" charset="-122"/>
                        <a:cs typeface="Times New Roman"/>
                      </a:endParaRPr>
                    </a:p>
                  </a:txBody>
                  <a:tcPr marL="29840" marR="29840" marT="0" marB="0" anchor="ctr"/>
                </a:tc>
                <a:tc rowSpan="10">
                  <a:txBody>
                    <a:bodyPr/>
                    <a:lstStyle/>
                    <a:p>
                      <a:pPr algn="ctr">
                        <a:spcAft>
                          <a:spcPts val="0"/>
                        </a:spcAft>
                      </a:pPr>
                      <a:r>
                        <a:rPr lang="zh-CN" sz="1000" kern="100">
                          <a:effectLst/>
                          <a:latin typeface="微软雅黑" pitchFamily="34" charset="-122"/>
                          <a:ea typeface="微软雅黑" pitchFamily="34" charset="-122"/>
                        </a:rPr>
                        <a:t>商品管理</a:t>
                      </a:r>
                      <a:endParaRPr lang="zh-CN" sz="1000" kern="100">
                        <a:effectLst/>
                        <a:latin typeface="微软雅黑" pitchFamily="34" charset="-122"/>
                        <a:ea typeface="微软雅黑" pitchFamily="34" charset="-122"/>
                        <a:cs typeface="Times New Roman"/>
                      </a:endParaRPr>
                    </a:p>
                  </a:txBody>
                  <a:tcPr marL="29840" marR="29840" marT="0" marB="0" anchor="ctr"/>
                </a:tc>
                <a:tc rowSpan="2">
                  <a:txBody>
                    <a:bodyPr/>
                    <a:lstStyle/>
                    <a:p>
                      <a:pPr algn="ctr">
                        <a:spcAft>
                          <a:spcPts val="0"/>
                        </a:spcAft>
                      </a:pPr>
                      <a:r>
                        <a:rPr lang="zh-CN" sz="1000" kern="100" dirty="0">
                          <a:effectLst/>
                          <a:latin typeface="微软雅黑" pitchFamily="34" charset="-122"/>
                          <a:ea typeface="微软雅黑" pitchFamily="34" charset="-122"/>
                        </a:rPr>
                        <a:t>商品采买管理</a:t>
                      </a:r>
                      <a:endParaRPr lang="zh-CN" sz="1000" kern="100" dirty="0">
                        <a:effectLst/>
                        <a:latin typeface="微软雅黑" pitchFamily="34" charset="-122"/>
                        <a:ea typeface="微软雅黑" pitchFamily="34" charset="-122"/>
                        <a:cs typeface="Times New Roman"/>
                      </a:endParaRPr>
                    </a:p>
                  </a:txBody>
                  <a:tcPr marL="29840" marR="29840" marT="0" marB="0" anchor="ctr"/>
                </a:tc>
                <a:tc>
                  <a:txBody>
                    <a:bodyPr/>
                    <a:lstStyle/>
                    <a:p>
                      <a:pPr algn="ctr">
                        <a:spcAft>
                          <a:spcPts val="0"/>
                        </a:spcAft>
                      </a:pPr>
                      <a:r>
                        <a:rPr lang="zh-CN" sz="1000" kern="100" dirty="0">
                          <a:effectLst/>
                          <a:latin typeface="微软雅黑" pitchFamily="34" charset="-122"/>
                          <a:ea typeface="微软雅黑" pitchFamily="34" charset="-122"/>
                        </a:rPr>
                        <a:t>采买管理</a:t>
                      </a:r>
                      <a:endParaRPr lang="zh-CN" sz="1000" kern="100" dirty="0">
                        <a:effectLst/>
                        <a:latin typeface="微软雅黑" pitchFamily="34" charset="-122"/>
                        <a:ea typeface="微软雅黑" pitchFamily="34" charset="-122"/>
                        <a:cs typeface="Times New Roman"/>
                      </a:endParaRPr>
                    </a:p>
                  </a:txBody>
                  <a:tcPr marL="29840" marR="29840" marT="0" marB="0" anchor="ct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根具公司整体的营销计划制定合理的货品采买计划并按和相关部门协商分解到片区、</a:t>
                      </a:r>
                      <a:r>
                        <a:rPr lang="zh-CN" sz="1000" kern="100" dirty="0" smtClean="0">
                          <a:effectLst/>
                          <a:latin typeface="微软雅黑" pitchFamily="34" charset="-122"/>
                          <a:ea typeface="微软雅黑" pitchFamily="34" charset="-122"/>
                        </a:rPr>
                        <a:t>店铺</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参与每各季节新品发布会，负责订货会期间期货单的录入，负责期货单录入的</a:t>
                      </a:r>
                      <a:r>
                        <a:rPr lang="zh-CN" sz="1000" kern="100" dirty="0" smtClean="0">
                          <a:effectLst/>
                          <a:latin typeface="微软雅黑" pitchFamily="34" charset="-122"/>
                          <a:ea typeface="微软雅黑" pitchFamily="34" charset="-122"/>
                        </a:rPr>
                        <a:t>准确性</a:t>
                      </a:r>
                      <a:endParaRPr lang="zh-CN" sz="1000" kern="100" dirty="0">
                        <a:effectLst/>
                        <a:latin typeface="微软雅黑" pitchFamily="34" charset="-122"/>
                        <a:ea typeface="微软雅黑" pitchFamily="34" charset="-122"/>
                        <a:cs typeface="Times New Roman"/>
                      </a:endParaRPr>
                    </a:p>
                  </a:txBody>
                  <a:tcPr marL="29840" marR="29840" marT="0" marB="0" anchor="ctr"/>
                </a:tc>
                <a:tc rowSpan="2">
                  <a:txBody>
                    <a:bodyPr/>
                    <a:lstStyle/>
                    <a:p>
                      <a:pPr algn="ctr">
                        <a:spcAft>
                          <a:spcPts val="0"/>
                        </a:spcAft>
                      </a:pPr>
                      <a:r>
                        <a:rPr lang="zh-CN" sz="1000" kern="100" dirty="0">
                          <a:effectLst/>
                          <a:latin typeface="微软雅黑" pitchFamily="34" charset="-122"/>
                          <a:ea typeface="微软雅黑" pitchFamily="34" charset="-122"/>
                        </a:rPr>
                        <a:t>定期执行</a:t>
                      </a:r>
                      <a:endParaRPr lang="zh-CN" sz="1000" kern="100" dirty="0">
                        <a:effectLst/>
                        <a:latin typeface="微软雅黑" pitchFamily="34" charset="-122"/>
                        <a:ea typeface="微软雅黑" pitchFamily="34" charset="-122"/>
                        <a:cs typeface="Times New Roman"/>
                      </a:endParaRPr>
                    </a:p>
                  </a:txBody>
                  <a:tcPr marL="29840" marR="29840" marT="0" marB="0" anchor="ctr"/>
                </a:tc>
              </a:tr>
              <a:tr h="33662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dirty="0">
                          <a:effectLst/>
                          <a:latin typeface="微软雅黑" pitchFamily="34" charset="-122"/>
                          <a:ea typeface="微软雅黑" pitchFamily="34" charset="-122"/>
                        </a:rPr>
                        <a:t>上市计划</a:t>
                      </a:r>
                      <a:endParaRPr lang="zh-CN" sz="1000" kern="100" dirty="0">
                        <a:effectLst/>
                        <a:latin typeface="微软雅黑" pitchFamily="34" charset="-122"/>
                        <a:ea typeface="微软雅黑" pitchFamily="34" charset="-122"/>
                        <a:cs typeface="Times New Roman"/>
                      </a:endParaRPr>
                    </a:p>
                  </a:txBody>
                  <a:tcPr marL="29840" marR="29840" marT="0" marB="0" anchor="ct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依据各季节订货情况并结合区域货品销售状况制定新品上市</a:t>
                      </a:r>
                      <a:r>
                        <a:rPr lang="zh-CN" sz="1000" kern="100" dirty="0" smtClean="0">
                          <a:effectLst/>
                          <a:latin typeface="微软雅黑" pitchFamily="34" charset="-122"/>
                          <a:ea typeface="微软雅黑" pitchFamily="34" charset="-122"/>
                        </a:rPr>
                        <a:t>计划</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与公司相关部门以及加盟商沟通确定新品上市</a:t>
                      </a:r>
                      <a:r>
                        <a:rPr lang="zh-CN" sz="1000" kern="100" dirty="0" smtClean="0">
                          <a:effectLst/>
                          <a:latin typeface="微软雅黑" pitchFamily="34" charset="-122"/>
                          <a:ea typeface="微软雅黑" pitchFamily="34" charset="-122"/>
                        </a:rPr>
                        <a:t>计划</a:t>
                      </a:r>
                      <a:endParaRPr lang="zh-CN" sz="1000" kern="100" dirty="0">
                        <a:effectLst/>
                        <a:latin typeface="微软雅黑" pitchFamily="34" charset="-122"/>
                        <a:ea typeface="微软雅黑" pitchFamily="34" charset="-122"/>
                        <a:cs typeface="Times New Roman"/>
                      </a:endParaRPr>
                    </a:p>
                  </a:txBody>
                  <a:tcPr marL="29840" marR="29840" marT="0" marB="0" anchor="ctr"/>
                </a:tc>
                <a:tc vMerge="1">
                  <a:txBody>
                    <a:bodyPr/>
                    <a:lstStyle/>
                    <a:p>
                      <a:endParaRPr lang="zh-CN" altLang="en-US"/>
                    </a:p>
                  </a:txBody>
                  <a:tcPr/>
                </a:tc>
              </a:tr>
              <a:tr h="478415">
                <a:tc vMerge="1">
                  <a:txBody>
                    <a:bodyPr/>
                    <a:lstStyle/>
                    <a:p>
                      <a:endParaRPr lang="zh-CN" altLang="en-US"/>
                    </a:p>
                  </a:txBody>
                  <a:tcPr/>
                </a:tc>
                <a:tc vMerge="1">
                  <a:txBody>
                    <a:bodyPr/>
                    <a:lstStyle/>
                    <a:p>
                      <a:endParaRPr lang="zh-CN" altLang="en-US"/>
                    </a:p>
                  </a:txBody>
                  <a:tcPr/>
                </a:tc>
                <a:tc rowSpan="7">
                  <a:txBody>
                    <a:bodyPr/>
                    <a:lstStyle/>
                    <a:p>
                      <a:pPr algn="ctr">
                        <a:spcAft>
                          <a:spcPts val="0"/>
                        </a:spcAft>
                      </a:pPr>
                      <a:r>
                        <a:rPr lang="zh-CN" sz="1000" kern="100" dirty="0">
                          <a:effectLst/>
                          <a:latin typeface="微软雅黑" pitchFamily="34" charset="-122"/>
                          <a:ea typeface="微软雅黑" pitchFamily="34" charset="-122"/>
                        </a:rPr>
                        <a:t>商品流通管理</a:t>
                      </a:r>
                      <a:endParaRPr lang="zh-CN" sz="1000" kern="100" dirty="0">
                        <a:effectLst/>
                        <a:latin typeface="微软雅黑" pitchFamily="34" charset="-122"/>
                        <a:ea typeface="微软雅黑" pitchFamily="34" charset="-122"/>
                        <a:cs typeface="Times New Roman"/>
                      </a:endParaRPr>
                    </a:p>
                  </a:txBody>
                  <a:tcPr marL="29840" marR="29840" marT="0" marB="0" anchor="ctr"/>
                </a:tc>
                <a:tc>
                  <a:txBody>
                    <a:bodyPr/>
                    <a:lstStyle/>
                    <a:p>
                      <a:pPr algn="ctr">
                        <a:spcAft>
                          <a:spcPts val="0"/>
                        </a:spcAft>
                      </a:pPr>
                      <a:r>
                        <a:rPr lang="zh-CN" sz="1000" kern="100">
                          <a:effectLst/>
                          <a:latin typeface="微软雅黑" pitchFamily="34" charset="-122"/>
                          <a:ea typeface="微软雅黑" pitchFamily="34" charset="-122"/>
                        </a:rPr>
                        <a:t>进货监控</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接收总公司下发的期货数据并进行核对后倒入</a:t>
                      </a:r>
                      <a:r>
                        <a:rPr lang="en-US" sz="1000" kern="100" dirty="0">
                          <a:effectLst/>
                          <a:latin typeface="微软雅黑" pitchFamily="34" charset="-122"/>
                          <a:ea typeface="微软雅黑" pitchFamily="34" charset="-122"/>
                        </a:rPr>
                        <a:t>DRP</a:t>
                      </a:r>
                      <a:r>
                        <a:rPr lang="zh-CN" sz="1000" kern="100" dirty="0" smtClean="0">
                          <a:effectLst/>
                          <a:latin typeface="微软雅黑" pitchFamily="34" charset="-122"/>
                          <a:ea typeface="微软雅黑" pitchFamily="34" charset="-122"/>
                        </a:rPr>
                        <a:t>系统</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根据上市计划与总公司沟通并确定发货</a:t>
                      </a:r>
                      <a:r>
                        <a:rPr lang="zh-CN" sz="1000" kern="100" dirty="0" smtClean="0">
                          <a:effectLst/>
                          <a:latin typeface="微软雅黑" pitchFamily="34" charset="-122"/>
                          <a:ea typeface="微软雅黑" pitchFamily="34" charset="-122"/>
                        </a:rPr>
                        <a:t>进度</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对在途货品的</a:t>
                      </a:r>
                      <a:r>
                        <a:rPr lang="zh-CN" sz="1000" kern="100" dirty="0" smtClean="0">
                          <a:effectLst/>
                          <a:latin typeface="微软雅黑" pitchFamily="34" charset="-122"/>
                          <a:ea typeface="微软雅黑" pitchFamily="34" charset="-122"/>
                        </a:rPr>
                        <a:t>跟踪</a:t>
                      </a:r>
                      <a:endParaRPr lang="zh-CN" sz="1000" kern="100" dirty="0">
                        <a:effectLst/>
                        <a:latin typeface="微软雅黑" pitchFamily="34" charset="-122"/>
                        <a:ea typeface="微软雅黑" pitchFamily="34" charset="-122"/>
                        <a:cs typeface="Times New Roman"/>
                      </a:endParaRPr>
                    </a:p>
                  </a:txBody>
                  <a:tcPr marL="29840" marR="29840" marT="0" marB="0" anchor="ctr"/>
                </a:tc>
                <a:tc rowSpan="7">
                  <a:txBody>
                    <a:bodyPr/>
                    <a:lstStyle/>
                    <a:p>
                      <a:pPr algn="ctr">
                        <a:spcAft>
                          <a:spcPts val="0"/>
                        </a:spcAft>
                      </a:pPr>
                      <a:r>
                        <a:rPr lang="zh-CN" sz="1000" kern="100" dirty="0">
                          <a:effectLst/>
                          <a:latin typeface="微软雅黑" pitchFamily="34" charset="-122"/>
                          <a:ea typeface="微软雅黑" pitchFamily="34" charset="-122"/>
                        </a:rPr>
                        <a:t>日常执行</a:t>
                      </a:r>
                      <a:endParaRPr lang="zh-CN" sz="1000" kern="100" dirty="0">
                        <a:effectLst/>
                        <a:latin typeface="微软雅黑" pitchFamily="34" charset="-122"/>
                        <a:ea typeface="微软雅黑" pitchFamily="34" charset="-122"/>
                        <a:cs typeface="Times New Roman"/>
                      </a:endParaRPr>
                    </a:p>
                  </a:txBody>
                  <a:tcPr marL="29840" marR="29840" marT="0" marB="0" anchor="ctr"/>
                </a:tc>
              </a:tr>
              <a:tr h="478415">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a:effectLst/>
                          <a:latin typeface="微软雅黑" pitchFamily="34" charset="-122"/>
                          <a:ea typeface="微软雅黑" pitchFamily="34" charset="-122"/>
                        </a:rPr>
                        <a:t>入库监控</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货品到仓的扫描</a:t>
                      </a:r>
                      <a:r>
                        <a:rPr lang="zh-CN" sz="1000" kern="100" dirty="0" smtClean="0">
                          <a:effectLst/>
                          <a:latin typeface="微软雅黑" pitchFamily="34" charset="-122"/>
                          <a:ea typeface="微软雅黑" pitchFamily="34" charset="-122"/>
                        </a:rPr>
                        <a:t>入库</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与在途单的</a:t>
                      </a:r>
                      <a:r>
                        <a:rPr lang="zh-CN" sz="1000" kern="100" dirty="0" smtClean="0">
                          <a:effectLst/>
                          <a:latin typeface="微软雅黑" pitchFamily="34" charset="-122"/>
                          <a:ea typeface="微软雅黑" pitchFamily="34" charset="-122"/>
                        </a:rPr>
                        <a:t>核对</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期货订加发欠的</a:t>
                      </a:r>
                      <a:r>
                        <a:rPr lang="zh-CN" sz="1000" kern="100" dirty="0" smtClean="0">
                          <a:effectLst/>
                          <a:latin typeface="微软雅黑" pitchFamily="34" charset="-122"/>
                          <a:ea typeface="微软雅黑" pitchFamily="34" charset="-122"/>
                        </a:rPr>
                        <a:t>制作</a:t>
                      </a:r>
                      <a:endParaRPr lang="zh-CN" sz="1000" kern="100" dirty="0">
                        <a:effectLst/>
                        <a:latin typeface="微软雅黑" pitchFamily="34" charset="-122"/>
                        <a:ea typeface="微软雅黑" pitchFamily="34" charset="-122"/>
                        <a:cs typeface="Times New Roman"/>
                      </a:endParaRPr>
                    </a:p>
                  </a:txBody>
                  <a:tcPr marL="29840" marR="29840" marT="0" marB="0" anchor="ctr"/>
                </a:tc>
                <a:tc vMerge="1">
                  <a:txBody>
                    <a:bodyPr/>
                    <a:lstStyle/>
                    <a:p>
                      <a:endParaRPr lang="zh-CN" altLang="en-US"/>
                    </a:p>
                  </a:txBody>
                  <a:tcPr/>
                </a:tc>
              </a:tr>
              <a:tr h="31894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a:effectLst/>
                          <a:latin typeface="微软雅黑" pitchFamily="34" charset="-122"/>
                          <a:ea typeface="微软雅黑" pitchFamily="34" charset="-122"/>
                        </a:rPr>
                        <a:t>出库监控</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依据新品到仓情况和上市计划安排各片区的进行开</a:t>
                      </a:r>
                      <a:r>
                        <a:rPr lang="zh-CN" sz="1000" kern="100" dirty="0" smtClean="0">
                          <a:effectLst/>
                          <a:latin typeface="微软雅黑" pitchFamily="34" charset="-122"/>
                          <a:ea typeface="微软雅黑" pitchFamily="34" charset="-122"/>
                        </a:rPr>
                        <a:t>单</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跟进新品的铺货</a:t>
                      </a:r>
                      <a:r>
                        <a:rPr lang="zh-CN" sz="1000" kern="100" dirty="0" smtClean="0">
                          <a:effectLst/>
                          <a:latin typeface="微软雅黑" pitchFamily="34" charset="-122"/>
                          <a:ea typeface="微软雅黑" pitchFamily="34" charset="-122"/>
                        </a:rPr>
                        <a:t>情况</a:t>
                      </a:r>
                      <a:endParaRPr lang="zh-CN" sz="1000" kern="100" dirty="0">
                        <a:effectLst/>
                        <a:latin typeface="微软雅黑" pitchFamily="34" charset="-122"/>
                        <a:ea typeface="微软雅黑" pitchFamily="34" charset="-122"/>
                        <a:cs typeface="Times New Roman"/>
                      </a:endParaRPr>
                    </a:p>
                  </a:txBody>
                  <a:tcPr marL="29840" marR="29840" marT="0" marB="0" anchor="ctr"/>
                </a:tc>
                <a:tc vMerge="1">
                  <a:txBody>
                    <a:bodyPr/>
                    <a:lstStyle/>
                    <a:p>
                      <a:endParaRPr lang="zh-CN" altLang="en-US"/>
                    </a:p>
                  </a:txBody>
                  <a:tcPr/>
                </a:tc>
              </a:tr>
              <a:tr h="248689">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a:effectLst/>
                          <a:latin typeface="微软雅黑" pitchFamily="34" charset="-122"/>
                          <a:ea typeface="微软雅黑" pitchFamily="34" charset="-122"/>
                        </a:rPr>
                        <a:t>销售监控</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跟踪新品到店的销售情况，并预测新品的生命周期</a:t>
                      </a:r>
                      <a:r>
                        <a:rPr lang="zh-CN" sz="1000" kern="100" dirty="0" smtClean="0">
                          <a:effectLst/>
                          <a:latin typeface="微软雅黑" pitchFamily="34" charset="-122"/>
                          <a:ea typeface="微软雅黑" pitchFamily="34" charset="-122"/>
                        </a:rPr>
                        <a:t>图表</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新品各品类售罄情况的</a:t>
                      </a:r>
                      <a:r>
                        <a:rPr lang="zh-CN" sz="1000" kern="100" dirty="0" smtClean="0">
                          <a:effectLst/>
                          <a:latin typeface="微软雅黑" pitchFamily="34" charset="-122"/>
                          <a:ea typeface="微软雅黑" pitchFamily="34" charset="-122"/>
                        </a:rPr>
                        <a:t>跟进</a:t>
                      </a:r>
                      <a:endParaRPr lang="zh-CN" sz="1000" kern="100" dirty="0">
                        <a:effectLst/>
                        <a:latin typeface="微软雅黑" pitchFamily="34" charset="-122"/>
                        <a:ea typeface="微软雅黑" pitchFamily="34" charset="-122"/>
                        <a:cs typeface="Times New Roman"/>
                      </a:endParaRPr>
                    </a:p>
                  </a:txBody>
                  <a:tcPr marL="29840" marR="29840" marT="0" marB="0" anchor="ctr"/>
                </a:tc>
                <a:tc vMerge="1">
                  <a:txBody>
                    <a:bodyPr/>
                    <a:lstStyle/>
                    <a:p>
                      <a:endParaRPr lang="zh-CN" altLang="en-US"/>
                    </a:p>
                  </a:txBody>
                  <a:tcPr/>
                </a:tc>
              </a:tr>
              <a:tr h="31894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a:effectLst/>
                          <a:latin typeface="微软雅黑" pitchFamily="34" charset="-122"/>
                          <a:ea typeface="微软雅黑" pitchFamily="34" charset="-122"/>
                        </a:rPr>
                        <a:t>归拢监控</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跟进货品的定期、不定期的</a:t>
                      </a:r>
                      <a:r>
                        <a:rPr lang="zh-CN" sz="1000" kern="100" dirty="0" smtClean="0">
                          <a:effectLst/>
                          <a:latin typeface="微软雅黑" pitchFamily="34" charset="-122"/>
                          <a:ea typeface="微软雅黑" pitchFamily="34" charset="-122"/>
                        </a:rPr>
                        <a:t>整合</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跟进货品整合过程中的单据、及账务的</a:t>
                      </a:r>
                      <a:r>
                        <a:rPr lang="zh-CN" sz="1000" kern="100" dirty="0" smtClean="0">
                          <a:effectLst/>
                          <a:latin typeface="微软雅黑" pitchFamily="34" charset="-122"/>
                          <a:ea typeface="微软雅黑" pitchFamily="34" charset="-122"/>
                        </a:rPr>
                        <a:t>处理</a:t>
                      </a:r>
                      <a:endParaRPr lang="zh-CN" sz="1000" kern="100" dirty="0">
                        <a:effectLst/>
                        <a:latin typeface="微软雅黑" pitchFamily="34" charset="-122"/>
                        <a:ea typeface="微软雅黑" pitchFamily="34" charset="-122"/>
                        <a:cs typeface="Times New Roman"/>
                      </a:endParaRPr>
                    </a:p>
                  </a:txBody>
                  <a:tcPr marL="29840" marR="29840" marT="0" marB="0" anchor="ctr"/>
                </a:tc>
                <a:tc vMerge="1">
                  <a:txBody>
                    <a:bodyPr/>
                    <a:lstStyle/>
                    <a:p>
                      <a:endParaRPr lang="zh-CN" altLang="en-US"/>
                    </a:p>
                  </a:txBody>
                  <a:tcPr/>
                </a:tc>
              </a:tr>
              <a:tr h="31894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a:effectLst/>
                          <a:latin typeface="微软雅黑" pitchFamily="34" charset="-122"/>
                          <a:ea typeface="微软雅黑" pitchFamily="34" charset="-122"/>
                        </a:rPr>
                        <a:t>返货监控</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跟进过季货品的返仓的</a:t>
                      </a:r>
                      <a:r>
                        <a:rPr lang="zh-CN" sz="1000" kern="100" dirty="0" smtClean="0">
                          <a:effectLst/>
                          <a:latin typeface="微软雅黑" pitchFamily="34" charset="-122"/>
                          <a:ea typeface="微软雅黑" pitchFamily="34" charset="-122"/>
                        </a:rPr>
                        <a:t>安排</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跟进返货的货品标准的</a:t>
                      </a:r>
                      <a:r>
                        <a:rPr lang="zh-CN" sz="1000" kern="100" dirty="0" smtClean="0">
                          <a:effectLst/>
                          <a:latin typeface="微软雅黑" pitchFamily="34" charset="-122"/>
                          <a:ea typeface="微软雅黑" pitchFamily="34" charset="-122"/>
                        </a:rPr>
                        <a:t>执行</a:t>
                      </a:r>
                      <a:endParaRPr lang="zh-CN" sz="1000" kern="100" dirty="0">
                        <a:effectLst/>
                        <a:latin typeface="微软雅黑" pitchFamily="34" charset="-122"/>
                        <a:ea typeface="微软雅黑" pitchFamily="34" charset="-122"/>
                        <a:cs typeface="Times New Roman"/>
                      </a:endParaRPr>
                    </a:p>
                  </a:txBody>
                  <a:tcPr marL="29840" marR="29840" marT="0" marB="0" anchor="ctr"/>
                </a:tc>
                <a:tc vMerge="1">
                  <a:txBody>
                    <a:bodyPr/>
                    <a:lstStyle/>
                    <a:p>
                      <a:endParaRPr lang="zh-CN" altLang="en-US"/>
                    </a:p>
                  </a:txBody>
                  <a:tcPr/>
                </a:tc>
              </a:tr>
              <a:tr h="31894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a:effectLst/>
                          <a:latin typeface="微软雅黑" pitchFamily="34" charset="-122"/>
                          <a:ea typeface="微软雅黑" pitchFamily="34" charset="-122"/>
                        </a:rPr>
                        <a:t>残次监控</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跟进残次品的处理</a:t>
                      </a:r>
                      <a:r>
                        <a:rPr lang="zh-CN" sz="1000" kern="100" dirty="0" smtClean="0">
                          <a:effectLst/>
                          <a:latin typeface="微软雅黑" pitchFamily="34" charset="-122"/>
                          <a:ea typeface="微软雅黑" pitchFamily="34" charset="-122"/>
                        </a:rPr>
                        <a:t>速度</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跟进总公司残次品账务的</a:t>
                      </a:r>
                      <a:r>
                        <a:rPr lang="zh-CN" sz="1000" kern="100" dirty="0" smtClean="0">
                          <a:effectLst/>
                          <a:latin typeface="微软雅黑" pitchFamily="34" charset="-122"/>
                          <a:ea typeface="微软雅黑" pitchFamily="34" charset="-122"/>
                        </a:rPr>
                        <a:t>处理</a:t>
                      </a:r>
                      <a:endParaRPr lang="zh-CN" sz="1000" kern="100" dirty="0">
                        <a:effectLst/>
                        <a:latin typeface="微软雅黑" pitchFamily="34" charset="-122"/>
                        <a:ea typeface="微软雅黑" pitchFamily="34" charset="-122"/>
                        <a:cs typeface="Times New Roman"/>
                      </a:endParaRPr>
                    </a:p>
                  </a:txBody>
                  <a:tcPr marL="29840" marR="29840" marT="0" marB="0" anchor="ctr"/>
                </a:tc>
                <a:tc vMerge="1">
                  <a:txBody>
                    <a:bodyPr/>
                    <a:lstStyle/>
                    <a:p>
                      <a:endParaRPr lang="zh-CN" altLang="en-US"/>
                    </a:p>
                  </a:txBody>
                  <a:tcPr/>
                </a:tc>
              </a:tr>
              <a:tr h="333963">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dirty="0" smtClean="0">
                          <a:effectLst/>
                          <a:latin typeface="微软雅黑" pitchFamily="34" charset="-122"/>
                          <a:ea typeface="微软雅黑" pitchFamily="34" charset="-122"/>
                        </a:rPr>
                        <a:t>商品</a:t>
                      </a:r>
                      <a:r>
                        <a:rPr lang="zh-CN" sz="1000" kern="100" dirty="0">
                          <a:effectLst/>
                          <a:latin typeface="微软雅黑" pitchFamily="34" charset="-122"/>
                          <a:ea typeface="微软雅黑" pitchFamily="34" charset="-122"/>
                        </a:rPr>
                        <a:t>推广管理</a:t>
                      </a:r>
                      <a:endParaRPr lang="zh-CN" sz="1000" kern="100" dirty="0">
                        <a:effectLst/>
                        <a:latin typeface="微软雅黑" pitchFamily="34" charset="-122"/>
                        <a:ea typeface="微软雅黑" pitchFamily="34" charset="-122"/>
                        <a:cs typeface="Times New Roman"/>
                      </a:endParaRPr>
                    </a:p>
                  </a:txBody>
                  <a:tcPr marL="29840" marR="29840" marT="0" marB="0" anchor="ctr"/>
                </a:tc>
                <a:tc>
                  <a:txBody>
                    <a:bodyPr/>
                    <a:lstStyle/>
                    <a:p>
                      <a:pPr algn="ctr">
                        <a:spcAft>
                          <a:spcPts val="0"/>
                        </a:spcAft>
                      </a:pPr>
                      <a:r>
                        <a:rPr lang="zh-CN" sz="1000" kern="100" dirty="0">
                          <a:effectLst/>
                          <a:latin typeface="微软雅黑" pitchFamily="34" charset="-122"/>
                          <a:ea typeface="微软雅黑" pitchFamily="34" charset="-122"/>
                        </a:rPr>
                        <a:t>促销活动</a:t>
                      </a:r>
                      <a:endParaRPr lang="zh-CN" sz="1000" kern="100" dirty="0">
                        <a:effectLst/>
                        <a:latin typeface="微软雅黑" pitchFamily="34" charset="-122"/>
                        <a:ea typeface="微软雅黑" pitchFamily="34" charset="-122"/>
                        <a:cs typeface="Times New Roman"/>
                      </a:endParaRPr>
                    </a:p>
                  </a:txBody>
                  <a:tcPr marL="29840" marR="29840" marT="0" marB="0" anchor="ct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依据销售数据的分析对畅滞销款式制定合理的促销</a:t>
                      </a:r>
                      <a:r>
                        <a:rPr lang="zh-CN" sz="1000" kern="100" dirty="0" smtClean="0">
                          <a:effectLst/>
                          <a:latin typeface="微软雅黑" pitchFamily="34" charset="-122"/>
                          <a:ea typeface="微软雅黑" pitchFamily="34" charset="-122"/>
                        </a:rPr>
                        <a:t>活动</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并对促销活动进项备案、活动结果</a:t>
                      </a:r>
                      <a:r>
                        <a:rPr lang="zh-CN" sz="1000" kern="100" dirty="0" smtClean="0">
                          <a:effectLst/>
                          <a:latin typeface="微软雅黑" pitchFamily="34" charset="-122"/>
                          <a:ea typeface="微软雅黑" pitchFamily="34" charset="-122"/>
                        </a:rPr>
                        <a:t>分析</a:t>
                      </a:r>
                      <a:endParaRPr lang="zh-CN" sz="1000" kern="100" dirty="0">
                        <a:effectLst/>
                        <a:latin typeface="微软雅黑" pitchFamily="34" charset="-122"/>
                        <a:ea typeface="微软雅黑" pitchFamily="34" charset="-122"/>
                        <a:cs typeface="Times New Roman"/>
                      </a:endParaRPr>
                    </a:p>
                  </a:txBody>
                  <a:tcPr marL="29840" marR="29840" marT="0" marB="0" anchor="ctr"/>
                </a:tc>
                <a:tc>
                  <a:txBody>
                    <a:bodyPr/>
                    <a:lstStyle/>
                    <a:p>
                      <a:pPr algn="ctr">
                        <a:spcAft>
                          <a:spcPts val="0"/>
                        </a:spcAft>
                      </a:pPr>
                      <a:r>
                        <a:rPr lang="zh-CN" sz="1000" kern="100" dirty="0">
                          <a:effectLst/>
                          <a:latin typeface="微软雅黑" pitchFamily="34" charset="-122"/>
                          <a:ea typeface="微软雅黑" pitchFamily="34" charset="-122"/>
                        </a:rPr>
                        <a:t>日常执行</a:t>
                      </a:r>
                      <a:endParaRPr lang="zh-CN" sz="1000" kern="100" dirty="0">
                        <a:effectLst/>
                        <a:latin typeface="微软雅黑" pitchFamily="34" charset="-122"/>
                        <a:ea typeface="微软雅黑" pitchFamily="34" charset="-122"/>
                        <a:cs typeface="Times New Roman"/>
                      </a:endParaRPr>
                    </a:p>
                  </a:txBody>
                  <a:tcPr marL="29840" marR="29840" marT="0" marB="0" anchor="ctr"/>
                </a:tc>
              </a:tr>
              <a:tr h="159472">
                <a:tc rowSpan="6">
                  <a:txBody>
                    <a:bodyPr/>
                    <a:lstStyle/>
                    <a:p>
                      <a:pPr algn="ctr">
                        <a:spcAft>
                          <a:spcPts val="0"/>
                        </a:spcAft>
                      </a:pPr>
                      <a:r>
                        <a:rPr lang="en-US" sz="1000" kern="100" dirty="0">
                          <a:effectLst/>
                          <a:latin typeface="微软雅黑" pitchFamily="34" charset="-122"/>
                          <a:ea typeface="微软雅黑" pitchFamily="34" charset="-122"/>
                        </a:rPr>
                        <a:t>2</a:t>
                      </a:r>
                      <a:endParaRPr lang="zh-CN" sz="1000" kern="100" dirty="0">
                        <a:effectLst/>
                        <a:latin typeface="微软雅黑" pitchFamily="34" charset="-122"/>
                        <a:ea typeface="微软雅黑" pitchFamily="34" charset="-122"/>
                        <a:cs typeface="Times New Roman"/>
                      </a:endParaRPr>
                    </a:p>
                  </a:txBody>
                  <a:tcPr marL="29840" marR="29840" marT="0" marB="0" anchor="ctr"/>
                </a:tc>
                <a:tc rowSpan="6">
                  <a:txBody>
                    <a:bodyPr/>
                    <a:lstStyle/>
                    <a:p>
                      <a:pPr algn="ctr">
                        <a:spcAft>
                          <a:spcPts val="0"/>
                        </a:spcAft>
                      </a:pPr>
                      <a:r>
                        <a:rPr lang="zh-CN" sz="1000" kern="100">
                          <a:effectLst/>
                          <a:latin typeface="微软雅黑" pitchFamily="34" charset="-122"/>
                          <a:ea typeface="微软雅黑" pitchFamily="34" charset="-122"/>
                        </a:rPr>
                        <a:t>数据管理</a:t>
                      </a:r>
                      <a:endParaRPr lang="zh-CN" sz="1000" kern="100">
                        <a:effectLst/>
                        <a:latin typeface="微软雅黑" pitchFamily="34" charset="-122"/>
                        <a:ea typeface="微软雅黑" pitchFamily="34" charset="-122"/>
                        <a:cs typeface="Times New Roman"/>
                      </a:endParaRPr>
                    </a:p>
                  </a:txBody>
                  <a:tcPr marL="29840" marR="29840" marT="0" marB="0" anchor="ctr"/>
                </a:tc>
                <a:tc rowSpan="5">
                  <a:txBody>
                    <a:bodyPr/>
                    <a:lstStyle/>
                    <a:p>
                      <a:pPr algn="ctr">
                        <a:spcAft>
                          <a:spcPts val="0"/>
                        </a:spcAft>
                      </a:pPr>
                      <a:r>
                        <a:rPr lang="zh-CN" sz="1000" kern="100">
                          <a:effectLst/>
                          <a:latin typeface="微软雅黑" pitchFamily="34" charset="-122"/>
                          <a:ea typeface="微软雅黑" pitchFamily="34" charset="-122"/>
                        </a:rPr>
                        <a:t>数据分析报告</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algn="ctr">
                        <a:spcAft>
                          <a:spcPts val="0"/>
                        </a:spcAft>
                      </a:pPr>
                      <a:r>
                        <a:rPr lang="zh-CN" sz="1000" kern="100">
                          <a:effectLst/>
                          <a:latin typeface="微软雅黑" pitchFamily="34" charset="-122"/>
                          <a:ea typeface="微软雅黑" pitchFamily="34" charset="-122"/>
                        </a:rPr>
                        <a:t>日报表</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及时、准确、全面的对全省店铺销售出具日</a:t>
                      </a:r>
                      <a:r>
                        <a:rPr lang="zh-CN" sz="1000" kern="100" dirty="0" smtClean="0">
                          <a:effectLst/>
                          <a:latin typeface="微软雅黑" pitchFamily="34" charset="-122"/>
                          <a:ea typeface="微软雅黑" pitchFamily="34" charset="-122"/>
                        </a:rPr>
                        <a:t>报表</a:t>
                      </a:r>
                      <a:endParaRPr lang="zh-CN" sz="1000" kern="100" dirty="0">
                        <a:effectLst/>
                        <a:latin typeface="微软雅黑" pitchFamily="34" charset="-122"/>
                        <a:ea typeface="微软雅黑" pitchFamily="34" charset="-122"/>
                        <a:cs typeface="Times New Roman"/>
                      </a:endParaRPr>
                    </a:p>
                  </a:txBody>
                  <a:tcPr marL="29840" marR="29840" marT="0" marB="0" anchor="ctr"/>
                </a:tc>
                <a:tc rowSpan="6">
                  <a:txBody>
                    <a:bodyPr/>
                    <a:lstStyle/>
                    <a:p>
                      <a:pPr algn="ctr">
                        <a:spcAft>
                          <a:spcPts val="0"/>
                        </a:spcAft>
                      </a:pPr>
                      <a:r>
                        <a:rPr lang="zh-CN" sz="1000" kern="100" dirty="0">
                          <a:effectLst/>
                          <a:latin typeface="微软雅黑" pitchFamily="34" charset="-122"/>
                          <a:ea typeface="微软雅黑" pitchFamily="34" charset="-122"/>
                        </a:rPr>
                        <a:t>日常执行</a:t>
                      </a:r>
                      <a:endParaRPr lang="zh-CN" sz="1000" kern="100" dirty="0">
                        <a:effectLst/>
                        <a:latin typeface="微软雅黑" pitchFamily="34" charset="-122"/>
                        <a:ea typeface="微软雅黑" pitchFamily="34" charset="-122"/>
                        <a:cs typeface="Times New Roman"/>
                      </a:endParaRPr>
                    </a:p>
                  </a:txBody>
                  <a:tcPr marL="29840" marR="29840" marT="0" marB="0" anchor="ctr"/>
                </a:tc>
              </a:tr>
              <a:tr h="159472">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a:effectLst/>
                          <a:latin typeface="微软雅黑" pitchFamily="34" charset="-122"/>
                          <a:ea typeface="微软雅黑" pitchFamily="34" charset="-122"/>
                        </a:rPr>
                        <a:t>周报表</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及时、准确、全面的对全省店铺销售出具周报</a:t>
                      </a:r>
                      <a:r>
                        <a:rPr lang="zh-CN" sz="1000" kern="100" dirty="0" smtClean="0">
                          <a:effectLst/>
                          <a:latin typeface="微软雅黑" pitchFamily="34" charset="-122"/>
                          <a:ea typeface="微软雅黑" pitchFamily="34" charset="-122"/>
                        </a:rPr>
                        <a:t>表</a:t>
                      </a:r>
                      <a:endParaRPr lang="zh-CN" sz="1000" kern="100" dirty="0">
                        <a:effectLst/>
                        <a:latin typeface="微软雅黑" pitchFamily="34" charset="-122"/>
                        <a:ea typeface="微软雅黑" pitchFamily="34" charset="-122"/>
                        <a:cs typeface="Times New Roman"/>
                      </a:endParaRPr>
                    </a:p>
                  </a:txBody>
                  <a:tcPr marL="29840" marR="29840" marT="0" marB="0" anchor="ctr"/>
                </a:tc>
                <a:tc vMerge="1">
                  <a:txBody>
                    <a:bodyPr/>
                    <a:lstStyle/>
                    <a:p>
                      <a:endParaRPr lang="zh-CN" altLang="en-US"/>
                    </a:p>
                  </a:txBody>
                  <a:tcPr/>
                </a:tc>
              </a:tr>
              <a:tr h="159472">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a:effectLst/>
                          <a:latin typeface="微软雅黑" pitchFamily="34" charset="-122"/>
                          <a:ea typeface="微软雅黑" pitchFamily="34" charset="-122"/>
                        </a:rPr>
                        <a:t>月报表</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及时、准确、全面的对全省店铺销售出具月</a:t>
                      </a:r>
                      <a:r>
                        <a:rPr lang="zh-CN" sz="1000" kern="100" dirty="0" smtClean="0">
                          <a:effectLst/>
                          <a:latin typeface="微软雅黑" pitchFamily="34" charset="-122"/>
                          <a:ea typeface="微软雅黑" pitchFamily="34" charset="-122"/>
                        </a:rPr>
                        <a:t>报表</a:t>
                      </a:r>
                      <a:endParaRPr lang="zh-CN" sz="1000" kern="100" dirty="0">
                        <a:effectLst/>
                        <a:latin typeface="微软雅黑" pitchFamily="34" charset="-122"/>
                        <a:ea typeface="微软雅黑" pitchFamily="34" charset="-122"/>
                        <a:cs typeface="Times New Roman"/>
                      </a:endParaRPr>
                    </a:p>
                  </a:txBody>
                  <a:tcPr marL="29840" marR="29840" marT="0" marB="0" anchor="ctr"/>
                </a:tc>
                <a:tc vMerge="1">
                  <a:txBody>
                    <a:bodyPr/>
                    <a:lstStyle/>
                    <a:p>
                      <a:endParaRPr lang="zh-CN" altLang="en-US"/>
                    </a:p>
                  </a:txBody>
                  <a:tcPr/>
                </a:tc>
              </a:tr>
              <a:tr h="159472">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a:effectLst/>
                          <a:latin typeface="微软雅黑" pitchFamily="34" charset="-122"/>
                          <a:ea typeface="微软雅黑" pitchFamily="34" charset="-122"/>
                        </a:rPr>
                        <a:t>季报表</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及时、准确、全面的对全省店铺销售出具季报</a:t>
                      </a:r>
                      <a:r>
                        <a:rPr lang="zh-CN" sz="1000" kern="100" dirty="0" smtClean="0">
                          <a:effectLst/>
                          <a:latin typeface="微软雅黑" pitchFamily="34" charset="-122"/>
                          <a:ea typeface="微软雅黑" pitchFamily="34" charset="-122"/>
                        </a:rPr>
                        <a:t>表</a:t>
                      </a:r>
                      <a:endParaRPr lang="zh-CN" sz="1000" kern="100" dirty="0">
                        <a:effectLst/>
                        <a:latin typeface="微软雅黑" pitchFamily="34" charset="-122"/>
                        <a:ea typeface="微软雅黑" pitchFamily="34" charset="-122"/>
                        <a:cs typeface="Times New Roman"/>
                      </a:endParaRPr>
                    </a:p>
                  </a:txBody>
                  <a:tcPr marL="29840" marR="29840" marT="0" marB="0" anchor="ctr"/>
                </a:tc>
                <a:tc vMerge="1">
                  <a:txBody>
                    <a:bodyPr/>
                    <a:lstStyle/>
                    <a:p>
                      <a:endParaRPr lang="zh-CN" altLang="en-US"/>
                    </a:p>
                  </a:txBody>
                  <a:tcPr/>
                </a:tc>
              </a:tr>
              <a:tr h="159472">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a:effectLst/>
                          <a:latin typeface="微软雅黑" pitchFamily="34" charset="-122"/>
                          <a:ea typeface="微软雅黑" pitchFamily="34" charset="-122"/>
                        </a:rPr>
                        <a:t>年报表</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及时、准确、全面的对全省店铺销售出具年</a:t>
                      </a:r>
                      <a:r>
                        <a:rPr lang="zh-CN" sz="1000" kern="100" dirty="0" smtClean="0">
                          <a:effectLst/>
                          <a:latin typeface="微软雅黑" pitchFamily="34" charset="-122"/>
                          <a:ea typeface="微软雅黑" pitchFamily="34" charset="-122"/>
                        </a:rPr>
                        <a:t>报表</a:t>
                      </a:r>
                      <a:endParaRPr lang="zh-CN" sz="1000" kern="100" dirty="0">
                        <a:effectLst/>
                        <a:latin typeface="微软雅黑" pitchFamily="34" charset="-122"/>
                        <a:ea typeface="微软雅黑" pitchFamily="34" charset="-122"/>
                        <a:cs typeface="Times New Roman"/>
                      </a:endParaRPr>
                    </a:p>
                  </a:txBody>
                  <a:tcPr marL="29840" marR="29840" marT="0" marB="0" anchor="ctr"/>
                </a:tc>
                <a:tc vMerge="1">
                  <a:txBody>
                    <a:bodyPr/>
                    <a:lstStyle/>
                    <a:p>
                      <a:endParaRPr lang="zh-CN" altLang="en-US"/>
                    </a:p>
                  </a:txBody>
                  <a:tcPr/>
                </a:tc>
              </a:tr>
              <a:tr h="159472">
                <a:tc vMerge="1">
                  <a:txBody>
                    <a:bodyPr/>
                    <a:lstStyle/>
                    <a:p>
                      <a:endParaRPr lang="zh-CN" altLang="en-US"/>
                    </a:p>
                  </a:txBody>
                  <a:tcPr/>
                </a:tc>
                <a:tc vMerge="1">
                  <a:txBody>
                    <a:bodyPr/>
                    <a:lstStyle/>
                    <a:p>
                      <a:endParaRPr lang="zh-CN" altLang="en-US"/>
                    </a:p>
                  </a:txBody>
                  <a:tcPr/>
                </a:tc>
                <a:tc gridSpan="2">
                  <a:txBody>
                    <a:bodyPr/>
                    <a:lstStyle/>
                    <a:p>
                      <a:pPr algn="ctr">
                        <a:spcAft>
                          <a:spcPts val="0"/>
                        </a:spcAft>
                      </a:pPr>
                      <a:r>
                        <a:rPr lang="zh-CN" sz="1000" kern="100">
                          <a:effectLst/>
                          <a:latin typeface="微软雅黑" pitchFamily="34" charset="-122"/>
                          <a:ea typeface="微软雅黑" pitchFamily="34" charset="-122"/>
                        </a:rPr>
                        <a:t>业务数据库管理</a:t>
                      </a:r>
                      <a:endParaRPr lang="zh-CN" sz="1000" kern="100">
                        <a:effectLst/>
                        <a:latin typeface="微软雅黑" pitchFamily="34" charset="-122"/>
                        <a:ea typeface="微软雅黑" pitchFamily="34" charset="-122"/>
                        <a:cs typeface="Times New Roman"/>
                      </a:endParaRPr>
                    </a:p>
                  </a:txBody>
                  <a:tcPr marL="29840" marR="29840" marT="0" marB="0" anchor="ctr"/>
                </a:tc>
                <a:tc hMerge="1">
                  <a:txBody>
                    <a:bodyPr/>
                    <a:lstStyle/>
                    <a:p>
                      <a:endParaRPr lang="zh-CN" altLang="en-US"/>
                    </a:p>
                  </a:txBody>
                  <a:tcP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监督各项数据、报表进行留档、保存、完善</a:t>
                      </a:r>
                      <a:endParaRPr lang="zh-CN" sz="1000" kern="100" dirty="0">
                        <a:effectLst/>
                        <a:latin typeface="微软雅黑" pitchFamily="34" charset="-122"/>
                        <a:ea typeface="微软雅黑" pitchFamily="34" charset="-122"/>
                        <a:cs typeface="Times New Roman"/>
                      </a:endParaRPr>
                    </a:p>
                  </a:txBody>
                  <a:tcPr marL="29840" marR="29840" marT="0" marB="0" anchor="ctr"/>
                </a:tc>
                <a:tc vMerge="1">
                  <a:txBody>
                    <a:bodyPr/>
                    <a:lstStyle/>
                    <a:p>
                      <a:endParaRPr lang="zh-CN" altLang="en-US"/>
                    </a:p>
                  </a:txBody>
                  <a:tcPr/>
                </a:tc>
              </a:tr>
              <a:tr h="159472">
                <a:tc rowSpan="5">
                  <a:txBody>
                    <a:bodyPr/>
                    <a:lstStyle/>
                    <a:p>
                      <a:pPr algn="ctr">
                        <a:spcAft>
                          <a:spcPts val="0"/>
                        </a:spcAft>
                      </a:pPr>
                      <a:r>
                        <a:rPr lang="en-US" sz="1000" kern="100">
                          <a:effectLst/>
                          <a:latin typeface="微软雅黑" pitchFamily="34" charset="-122"/>
                          <a:ea typeface="微软雅黑" pitchFamily="34" charset="-122"/>
                        </a:rPr>
                        <a:t>3</a:t>
                      </a:r>
                      <a:endParaRPr lang="zh-CN" sz="1000" kern="100">
                        <a:effectLst/>
                        <a:latin typeface="微软雅黑" pitchFamily="34" charset="-122"/>
                        <a:ea typeface="微软雅黑" pitchFamily="34" charset="-122"/>
                        <a:cs typeface="Times New Roman"/>
                      </a:endParaRPr>
                    </a:p>
                  </a:txBody>
                  <a:tcPr marL="29840" marR="29840" marT="0" marB="0" anchor="ctr"/>
                </a:tc>
                <a:tc rowSpan="5">
                  <a:txBody>
                    <a:bodyPr/>
                    <a:lstStyle/>
                    <a:p>
                      <a:pPr algn="ctr">
                        <a:spcAft>
                          <a:spcPts val="0"/>
                        </a:spcAft>
                      </a:pPr>
                      <a:r>
                        <a:rPr lang="zh-CN" sz="1000" kern="100">
                          <a:effectLst/>
                          <a:latin typeface="微软雅黑" pitchFamily="34" charset="-122"/>
                          <a:ea typeface="微软雅黑" pitchFamily="34" charset="-122"/>
                        </a:rPr>
                        <a:t>人员管理</a:t>
                      </a:r>
                      <a:endParaRPr lang="zh-CN" sz="1000" kern="100">
                        <a:effectLst/>
                        <a:latin typeface="微软雅黑" pitchFamily="34" charset="-122"/>
                        <a:ea typeface="微软雅黑" pitchFamily="34" charset="-122"/>
                        <a:cs typeface="Times New Roman"/>
                      </a:endParaRPr>
                    </a:p>
                  </a:txBody>
                  <a:tcPr marL="29840" marR="29840" marT="0" marB="0" anchor="ctr"/>
                </a:tc>
                <a:tc rowSpan="2">
                  <a:txBody>
                    <a:bodyPr/>
                    <a:lstStyle/>
                    <a:p>
                      <a:pPr algn="ctr">
                        <a:spcAft>
                          <a:spcPts val="0"/>
                        </a:spcAft>
                      </a:pPr>
                      <a:r>
                        <a:rPr lang="zh-CN" sz="1000" kern="100">
                          <a:effectLst/>
                          <a:latin typeface="微软雅黑" pitchFamily="34" charset="-122"/>
                          <a:ea typeface="微软雅黑" pitchFamily="34" charset="-122"/>
                        </a:rPr>
                        <a:t>人员考核</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algn="ctr">
                        <a:spcAft>
                          <a:spcPts val="0"/>
                        </a:spcAft>
                      </a:pPr>
                      <a:r>
                        <a:rPr lang="zh-CN" sz="1000" kern="100">
                          <a:effectLst/>
                          <a:latin typeface="微软雅黑" pitchFamily="34" charset="-122"/>
                          <a:ea typeface="微软雅黑" pitchFamily="34" charset="-122"/>
                        </a:rPr>
                        <a:t>岗位描述</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规范各岗位的工作职责和具体的工作内容，并加强内部的沟通与</a:t>
                      </a:r>
                      <a:r>
                        <a:rPr lang="zh-CN" sz="1000" kern="100" dirty="0" smtClean="0">
                          <a:effectLst/>
                          <a:latin typeface="微软雅黑" pitchFamily="34" charset="-122"/>
                          <a:ea typeface="微软雅黑" pitchFamily="34" charset="-122"/>
                        </a:rPr>
                        <a:t>协调</a:t>
                      </a:r>
                      <a:endParaRPr lang="zh-CN" sz="1000" kern="100" dirty="0">
                        <a:effectLst/>
                        <a:latin typeface="微软雅黑" pitchFamily="34" charset="-122"/>
                        <a:ea typeface="微软雅黑" pitchFamily="34" charset="-122"/>
                        <a:cs typeface="Times New Roman"/>
                      </a:endParaRPr>
                    </a:p>
                  </a:txBody>
                  <a:tcPr marL="29840" marR="29840" marT="0" marB="0" anchor="ctr"/>
                </a:tc>
                <a:tc rowSpan="5">
                  <a:txBody>
                    <a:bodyPr/>
                    <a:lstStyle/>
                    <a:p>
                      <a:pPr algn="ctr">
                        <a:spcAft>
                          <a:spcPts val="0"/>
                        </a:spcAft>
                      </a:pPr>
                      <a:r>
                        <a:rPr lang="zh-CN" sz="1000" kern="100" dirty="0">
                          <a:effectLst/>
                          <a:latin typeface="微软雅黑" pitchFamily="34" charset="-122"/>
                          <a:ea typeface="微软雅黑" pitchFamily="34" charset="-122"/>
                        </a:rPr>
                        <a:t>日常执行</a:t>
                      </a:r>
                      <a:endParaRPr lang="zh-CN" sz="1000" kern="100" dirty="0">
                        <a:effectLst/>
                        <a:latin typeface="微软雅黑" pitchFamily="34" charset="-122"/>
                        <a:ea typeface="微软雅黑" pitchFamily="34" charset="-122"/>
                        <a:cs typeface="Times New Roman"/>
                      </a:endParaRPr>
                    </a:p>
                  </a:txBody>
                  <a:tcPr marL="29840" marR="29840" marT="0" marB="0" anchor="ctr"/>
                </a:tc>
              </a:tr>
              <a:tr h="159472">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a:effectLst/>
                          <a:latin typeface="微软雅黑" pitchFamily="34" charset="-122"/>
                          <a:ea typeface="微软雅黑" pitchFamily="34" charset="-122"/>
                        </a:rPr>
                        <a:t>岗位绩效</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以岗位职责和工作内容为依据，制定对应岗位的月度绩效、年度</a:t>
                      </a:r>
                      <a:r>
                        <a:rPr lang="zh-CN" sz="1000" kern="100" dirty="0" smtClean="0">
                          <a:effectLst/>
                          <a:latin typeface="微软雅黑" pitchFamily="34" charset="-122"/>
                          <a:ea typeface="微软雅黑" pitchFamily="34" charset="-122"/>
                        </a:rPr>
                        <a:t>绩效</a:t>
                      </a:r>
                      <a:endParaRPr lang="zh-CN" sz="1000" kern="100" dirty="0">
                        <a:effectLst/>
                        <a:latin typeface="微软雅黑" pitchFamily="34" charset="-122"/>
                        <a:ea typeface="微软雅黑" pitchFamily="34" charset="-122"/>
                        <a:cs typeface="Times New Roman"/>
                      </a:endParaRPr>
                    </a:p>
                  </a:txBody>
                  <a:tcPr marL="29840" marR="29840" marT="0" marB="0" anchor="ctr"/>
                </a:tc>
                <a:tc vMerge="1">
                  <a:txBody>
                    <a:bodyPr/>
                    <a:lstStyle/>
                    <a:p>
                      <a:endParaRPr lang="zh-CN" altLang="en-US"/>
                    </a:p>
                  </a:txBody>
                  <a:tcPr/>
                </a:tc>
              </a:tr>
              <a:tr h="159472">
                <a:tc vMerge="1">
                  <a:txBody>
                    <a:bodyPr/>
                    <a:lstStyle/>
                    <a:p>
                      <a:endParaRPr lang="zh-CN" altLang="en-US"/>
                    </a:p>
                  </a:txBody>
                  <a:tcPr/>
                </a:tc>
                <a:tc vMerge="1">
                  <a:txBody>
                    <a:bodyPr/>
                    <a:lstStyle/>
                    <a:p>
                      <a:endParaRPr lang="zh-CN" altLang="en-US"/>
                    </a:p>
                  </a:txBody>
                  <a:tcPr/>
                </a:tc>
                <a:tc rowSpan="2">
                  <a:txBody>
                    <a:bodyPr/>
                    <a:lstStyle/>
                    <a:p>
                      <a:pPr algn="ctr">
                        <a:spcAft>
                          <a:spcPts val="0"/>
                        </a:spcAft>
                      </a:pPr>
                      <a:r>
                        <a:rPr lang="zh-CN" sz="1000" kern="100">
                          <a:effectLst/>
                          <a:latin typeface="微软雅黑" pitchFamily="34" charset="-122"/>
                          <a:ea typeface="微软雅黑" pitchFamily="34" charset="-122"/>
                        </a:rPr>
                        <a:t>人员晋升</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algn="ctr">
                        <a:spcAft>
                          <a:spcPts val="0"/>
                        </a:spcAft>
                      </a:pPr>
                      <a:r>
                        <a:rPr lang="zh-CN" sz="1000" kern="100">
                          <a:effectLst/>
                          <a:latin typeface="微软雅黑" pitchFamily="34" charset="-122"/>
                          <a:ea typeface="微软雅黑" pitchFamily="34" charset="-122"/>
                        </a:rPr>
                        <a:t>晋升机制</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部门人员晋升的建议、</a:t>
                      </a:r>
                      <a:r>
                        <a:rPr lang="zh-CN" sz="1000" kern="100" dirty="0" smtClean="0">
                          <a:effectLst/>
                          <a:latin typeface="微软雅黑" pitchFamily="34" charset="-122"/>
                          <a:ea typeface="微软雅黑" pitchFamily="34" charset="-122"/>
                        </a:rPr>
                        <a:t>考核</a:t>
                      </a:r>
                      <a:endParaRPr lang="zh-CN" sz="1000" kern="100" dirty="0">
                        <a:effectLst/>
                        <a:latin typeface="微软雅黑" pitchFamily="34" charset="-122"/>
                        <a:ea typeface="微软雅黑" pitchFamily="34" charset="-122"/>
                        <a:cs typeface="Times New Roman"/>
                      </a:endParaRPr>
                    </a:p>
                  </a:txBody>
                  <a:tcPr marL="29840" marR="29840" marT="0" marB="0" anchor="ctr"/>
                </a:tc>
                <a:tc vMerge="1">
                  <a:txBody>
                    <a:bodyPr/>
                    <a:lstStyle/>
                    <a:p>
                      <a:endParaRPr lang="zh-CN" altLang="en-US"/>
                    </a:p>
                  </a:txBody>
                  <a:tcPr/>
                </a:tc>
              </a:tr>
              <a:tr h="159472">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a:effectLst/>
                          <a:latin typeface="微软雅黑" pitchFamily="34" charset="-122"/>
                          <a:ea typeface="微软雅黑" pitchFamily="34" charset="-122"/>
                        </a:rPr>
                        <a:t>福利待遇</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部门人员福利待遇的申请、执行</a:t>
                      </a:r>
                      <a:r>
                        <a:rPr lang="zh-CN" sz="1000" kern="100" dirty="0" smtClean="0">
                          <a:effectLst/>
                          <a:latin typeface="微软雅黑" pitchFamily="34" charset="-122"/>
                          <a:ea typeface="微软雅黑" pitchFamily="34" charset="-122"/>
                        </a:rPr>
                        <a:t>等</a:t>
                      </a:r>
                      <a:endParaRPr lang="zh-CN" sz="1000" kern="100" dirty="0">
                        <a:effectLst/>
                        <a:latin typeface="微软雅黑" pitchFamily="34" charset="-122"/>
                        <a:ea typeface="微软雅黑" pitchFamily="34" charset="-122"/>
                        <a:cs typeface="Times New Roman"/>
                      </a:endParaRPr>
                    </a:p>
                  </a:txBody>
                  <a:tcPr marL="29840" marR="29840" marT="0" marB="0" anchor="ctr"/>
                </a:tc>
                <a:tc vMerge="1">
                  <a:txBody>
                    <a:bodyPr/>
                    <a:lstStyle/>
                    <a:p>
                      <a:endParaRPr lang="zh-CN" altLang="en-US"/>
                    </a:p>
                  </a:txBody>
                  <a:tcPr/>
                </a:tc>
              </a:tr>
              <a:tr h="159472">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dirty="0">
                          <a:effectLst/>
                          <a:latin typeface="微软雅黑" pitchFamily="34" charset="-122"/>
                          <a:ea typeface="微软雅黑" pitchFamily="34" charset="-122"/>
                        </a:rPr>
                        <a:t>团队建设</a:t>
                      </a:r>
                      <a:endParaRPr lang="zh-CN" sz="1000" kern="100" dirty="0">
                        <a:effectLst/>
                        <a:latin typeface="微软雅黑" pitchFamily="34" charset="-122"/>
                        <a:ea typeface="微软雅黑" pitchFamily="34" charset="-122"/>
                        <a:cs typeface="Times New Roman"/>
                      </a:endParaRPr>
                    </a:p>
                  </a:txBody>
                  <a:tcPr marL="29840" marR="29840" marT="0" marB="0" anchor="ctr"/>
                </a:tc>
                <a:tc>
                  <a:txBody>
                    <a:bodyPr/>
                    <a:lstStyle/>
                    <a:p>
                      <a:pPr algn="ctr">
                        <a:spcAft>
                          <a:spcPts val="0"/>
                        </a:spcAft>
                      </a:pPr>
                      <a:r>
                        <a:rPr lang="zh-CN" sz="1000" kern="100">
                          <a:effectLst/>
                          <a:latin typeface="微软雅黑" pitchFamily="34" charset="-122"/>
                          <a:ea typeface="微软雅黑" pitchFamily="34" charset="-122"/>
                        </a:rPr>
                        <a:t>内部培训</a:t>
                      </a:r>
                      <a:endParaRPr lang="zh-CN" sz="1000" kern="100">
                        <a:effectLst/>
                        <a:latin typeface="微软雅黑" pitchFamily="34" charset="-122"/>
                        <a:ea typeface="微软雅黑" pitchFamily="34" charset="-122"/>
                        <a:cs typeface="Times New Roman"/>
                      </a:endParaRPr>
                    </a:p>
                  </a:txBody>
                  <a:tcPr marL="29840" marR="29840"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部门内部人员业务水平的日常培训、考核</a:t>
                      </a:r>
                      <a:r>
                        <a:rPr lang="zh-CN" sz="1000" kern="100" dirty="0" smtClean="0">
                          <a:effectLst/>
                          <a:latin typeface="微软雅黑" pitchFamily="34" charset="-122"/>
                          <a:ea typeface="微软雅黑" pitchFamily="34" charset="-122"/>
                        </a:rPr>
                        <a:t>等</a:t>
                      </a:r>
                      <a:endParaRPr lang="zh-CN" sz="1000" kern="100" dirty="0">
                        <a:effectLst/>
                        <a:latin typeface="微软雅黑" pitchFamily="34" charset="-122"/>
                        <a:ea typeface="微软雅黑" pitchFamily="34" charset="-122"/>
                        <a:cs typeface="Times New Roman"/>
                      </a:endParaRPr>
                    </a:p>
                  </a:txBody>
                  <a:tcPr marL="29840" marR="29840" marT="0" marB="0" anchor="ctr"/>
                </a:tc>
                <a:tc vMerge="1">
                  <a:txBody>
                    <a:bodyPr/>
                    <a:lstStyle/>
                    <a:p>
                      <a:endParaRPr lang="zh-CN" altLang="en-US"/>
                    </a:p>
                  </a:txBody>
                  <a:tcPr/>
                </a:tc>
              </a:tr>
            </a:tbl>
          </a:graphicData>
        </a:graphic>
      </p:graphicFrame>
    </p:spTree>
    <p:extLst>
      <p:ext uri="{BB962C8B-B14F-4D97-AF65-F5344CB8AC3E}">
        <p14:creationId xmlns:p14="http://schemas.microsoft.com/office/powerpoint/2010/main" val="36909744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352839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商品部职责</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商品主管</a:t>
            </a:r>
            <a:endParaRPr lang="zh-CN" altLang="en-US" dirty="0">
              <a:latin typeface="微软雅黑" pitchFamily="34" charset="-122"/>
              <a:ea typeface="微软雅黑"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1135933921"/>
              </p:ext>
            </p:extLst>
          </p:nvPr>
        </p:nvGraphicFramePr>
        <p:xfrm>
          <a:off x="683568" y="692696"/>
          <a:ext cx="7776864" cy="5809146"/>
        </p:xfrm>
        <a:graphic>
          <a:graphicData uri="http://schemas.openxmlformats.org/drawingml/2006/table">
            <a:tbl>
              <a:tblPr firstRow="1" firstCol="1" bandRow="1">
                <a:tableStyleId>{5940675A-B579-460E-94D1-54222C63F5DA}</a:tableStyleId>
              </a:tblPr>
              <a:tblGrid>
                <a:gridCol w="353494"/>
                <a:gridCol w="340584"/>
                <a:gridCol w="1497582"/>
                <a:gridCol w="706988"/>
                <a:gridCol w="4164742"/>
                <a:gridCol w="713474"/>
              </a:tblGrid>
              <a:tr h="468571">
                <a:tc>
                  <a:txBody>
                    <a:bodyPr/>
                    <a:lstStyle/>
                    <a:p>
                      <a:pPr algn="ctr">
                        <a:spcAft>
                          <a:spcPts val="0"/>
                        </a:spcAft>
                      </a:pPr>
                      <a:r>
                        <a:rPr lang="zh-CN" sz="1000" kern="100" dirty="0">
                          <a:effectLst/>
                          <a:latin typeface="微软雅黑" pitchFamily="34" charset="-122"/>
                          <a:ea typeface="微软雅黑" pitchFamily="34" charset="-122"/>
                        </a:rPr>
                        <a:t>序号</a:t>
                      </a:r>
                      <a:endParaRPr lang="zh-CN" sz="1000" kern="100" dirty="0">
                        <a:effectLst/>
                        <a:latin typeface="微软雅黑" pitchFamily="34" charset="-122"/>
                        <a:ea typeface="微软雅黑" pitchFamily="34" charset="-122"/>
                        <a:cs typeface="Times New Roman"/>
                      </a:endParaRPr>
                    </a:p>
                  </a:txBody>
                  <a:tcPr marL="36598" marR="36598" marT="0" marB="0" anchor="ctr"/>
                </a:tc>
                <a:tc>
                  <a:txBody>
                    <a:bodyPr/>
                    <a:lstStyle/>
                    <a:p>
                      <a:pPr algn="ctr">
                        <a:spcAft>
                          <a:spcPts val="0"/>
                        </a:spcAft>
                      </a:pPr>
                      <a:r>
                        <a:rPr lang="zh-CN" sz="1000" kern="100">
                          <a:effectLst/>
                          <a:latin typeface="微软雅黑" pitchFamily="34" charset="-122"/>
                          <a:ea typeface="微软雅黑" pitchFamily="34" charset="-122"/>
                        </a:rPr>
                        <a:t>分类</a:t>
                      </a:r>
                      <a:endParaRPr lang="zh-CN" sz="1000" kern="100">
                        <a:effectLst/>
                        <a:latin typeface="微软雅黑" pitchFamily="34" charset="-122"/>
                        <a:ea typeface="微软雅黑" pitchFamily="34" charset="-122"/>
                        <a:cs typeface="Times New Roman"/>
                      </a:endParaRPr>
                    </a:p>
                  </a:txBody>
                  <a:tcPr marL="36598" marR="36598" marT="0" marB="0" anchor="ctr"/>
                </a:tc>
                <a:tc gridSpan="2">
                  <a:txBody>
                    <a:bodyPr/>
                    <a:lstStyle/>
                    <a:p>
                      <a:pPr algn="ctr">
                        <a:spcAft>
                          <a:spcPts val="0"/>
                        </a:spcAft>
                      </a:pPr>
                      <a:r>
                        <a:rPr lang="zh-CN" sz="1000" kern="100" dirty="0">
                          <a:effectLst/>
                          <a:latin typeface="微软雅黑" pitchFamily="34" charset="-122"/>
                          <a:ea typeface="微软雅黑" pitchFamily="34" charset="-122"/>
                        </a:rPr>
                        <a:t>具体描述</a:t>
                      </a:r>
                      <a:endParaRPr lang="zh-CN" sz="1000" kern="100" dirty="0">
                        <a:effectLst/>
                        <a:latin typeface="微软雅黑" pitchFamily="34" charset="-122"/>
                        <a:ea typeface="微软雅黑" pitchFamily="34" charset="-122"/>
                        <a:cs typeface="Times New Roman"/>
                      </a:endParaRPr>
                    </a:p>
                  </a:txBody>
                  <a:tcPr marL="36598" marR="36598" marT="0" marB="0" anchor="ctr"/>
                </a:tc>
                <a:tc hMerge="1">
                  <a:txBody>
                    <a:bodyPr/>
                    <a:lstStyle/>
                    <a:p>
                      <a:endParaRPr lang="zh-CN" altLang="en-US"/>
                    </a:p>
                  </a:txBody>
                  <a:tcPr/>
                </a:tc>
                <a:tc>
                  <a:txBody>
                    <a:bodyPr/>
                    <a:lstStyle/>
                    <a:p>
                      <a:pPr algn="ctr">
                        <a:spcAft>
                          <a:spcPts val="0"/>
                        </a:spcAft>
                      </a:pPr>
                      <a:r>
                        <a:rPr lang="zh-CN" sz="1000" kern="100">
                          <a:effectLst/>
                          <a:latin typeface="微软雅黑" pitchFamily="34" charset="-122"/>
                          <a:ea typeface="微软雅黑" pitchFamily="34" charset="-122"/>
                        </a:rPr>
                        <a:t>岗位标准</a:t>
                      </a:r>
                      <a:endParaRPr lang="zh-CN" sz="1000" kern="100">
                        <a:effectLst/>
                        <a:latin typeface="微软雅黑" pitchFamily="34" charset="-122"/>
                        <a:ea typeface="微软雅黑" pitchFamily="34" charset="-122"/>
                        <a:cs typeface="Times New Roman"/>
                      </a:endParaRPr>
                    </a:p>
                  </a:txBody>
                  <a:tcPr marL="36598" marR="36598" marT="0" marB="0" anchor="ctr"/>
                </a:tc>
                <a:tc>
                  <a:txBody>
                    <a:bodyPr/>
                    <a:lstStyle/>
                    <a:p>
                      <a:pPr algn="ctr">
                        <a:spcAft>
                          <a:spcPts val="0"/>
                        </a:spcAft>
                      </a:pPr>
                      <a:r>
                        <a:rPr lang="zh-CN" sz="1000" kern="100" dirty="0">
                          <a:effectLst/>
                          <a:latin typeface="微软雅黑" pitchFamily="34" charset="-122"/>
                          <a:ea typeface="微软雅黑" pitchFamily="34" charset="-122"/>
                        </a:rPr>
                        <a:t>频次和时间</a:t>
                      </a:r>
                      <a:endParaRPr lang="zh-CN" sz="1000" kern="100" dirty="0">
                        <a:effectLst/>
                        <a:latin typeface="微软雅黑" pitchFamily="34" charset="-122"/>
                        <a:ea typeface="微软雅黑" pitchFamily="34" charset="-122"/>
                        <a:cs typeface="Times New Roman"/>
                      </a:endParaRPr>
                    </a:p>
                  </a:txBody>
                  <a:tcPr marL="36598" marR="36598" marT="0" marB="0" anchor="ctr"/>
                </a:tc>
              </a:tr>
              <a:tr h="562286">
                <a:tc rowSpan="6">
                  <a:txBody>
                    <a:bodyPr/>
                    <a:lstStyle/>
                    <a:p>
                      <a:pPr algn="ctr">
                        <a:spcAft>
                          <a:spcPts val="0"/>
                        </a:spcAft>
                      </a:pPr>
                      <a:r>
                        <a:rPr lang="en-US" sz="1000" kern="100" dirty="0">
                          <a:effectLst/>
                          <a:latin typeface="微软雅黑" pitchFamily="34" charset="-122"/>
                          <a:ea typeface="微软雅黑" pitchFamily="34" charset="-122"/>
                        </a:rPr>
                        <a:t>1</a:t>
                      </a:r>
                      <a:endParaRPr lang="zh-CN" sz="1000" kern="100" dirty="0">
                        <a:effectLst/>
                        <a:latin typeface="微软雅黑" pitchFamily="34" charset="-122"/>
                        <a:ea typeface="微软雅黑" pitchFamily="34" charset="-122"/>
                        <a:cs typeface="Times New Roman"/>
                      </a:endParaRPr>
                    </a:p>
                  </a:txBody>
                  <a:tcPr marL="36598" marR="36598" marT="0" marB="0" anchor="ctr"/>
                </a:tc>
                <a:tc rowSpan="6">
                  <a:txBody>
                    <a:bodyPr/>
                    <a:lstStyle/>
                    <a:p>
                      <a:pPr algn="ctr">
                        <a:spcAft>
                          <a:spcPts val="0"/>
                        </a:spcAft>
                      </a:pPr>
                      <a:r>
                        <a:rPr lang="zh-CN" sz="1000" kern="100" dirty="0">
                          <a:effectLst/>
                          <a:latin typeface="微软雅黑" pitchFamily="34" charset="-122"/>
                          <a:ea typeface="微软雅黑" pitchFamily="34" charset="-122"/>
                        </a:rPr>
                        <a:t>商品管理</a:t>
                      </a:r>
                      <a:endParaRPr lang="zh-CN" sz="1000" kern="100" dirty="0">
                        <a:effectLst/>
                        <a:latin typeface="微软雅黑" pitchFamily="34" charset="-122"/>
                        <a:ea typeface="微软雅黑" pitchFamily="34" charset="-122"/>
                        <a:cs typeface="Times New Roman"/>
                      </a:endParaRPr>
                    </a:p>
                  </a:txBody>
                  <a:tcPr marL="36598" marR="36598" marT="0" marB="0" anchor="ctr"/>
                </a:tc>
                <a:tc gridSpan="2">
                  <a:txBody>
                    <a:bodyPr/>
                    <a:lstStyle/>
                    <a:p>
                      <a:pPr algn="ctr">
                        <a:spcAft>
                          <a:spcPts val="0"/>
                        </a:spcAft>
                      </a:pPr>
                      <a:r>
                        <a:rPr lang="zh-CN" sz="1000" kern="100" dirty="0">
                          <a:effectLst/>
                          <a:latin typeface="微软雅黑" pitchFamily="34" charset="-122"/>
                          <a:ea typeface="微软雅黑" pitchFamily="34" charset="-122"/>
                        </a:rPr>
                        <a:t>商品采买管理</a:t>
                      </a:r>
                      <a:endParaRPr lang="zh-CN" sz="1000" kern="100" dirty="0">
                        <a:effectLst/>
                        <a:latin typeface="微软雅黑" pitchFamily="34" charset="-122"/>
                        <a:ea typeface="微软雅黑" pitchFamily="34" charset="-122"/>
                        <a:cs typeface="Times New Roman"/>
                      </a:endParaRPr>
                    </a:p>
                  </a:txBody>
                  <a:tcPr marL="36598" marR="36598" marT="0" marB="0" anchor="ctr"/>
                </a:tc>
                <a:tc hMerge="1">
                  <a:txBody>
                    <a:bodyPr/>
                    <a:lstStyle/>
                    <a:p>
                      <a:endParaRPr lang="zh-CN" altLang="en-US"/>
                    </a:p>
                  </a:txBody>
                  <a:tcP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每季协助商品经理制定商品的采买计划以及上市</a:t>
                      </a:r>
                      <a:r>
                        <a:rPr lang="zh-CN" sz="1000" kern="100" dirty="0" smtClean="0">
                          <a:effectLst/>
                          <a:latin typeface="微软雅黑" pitchFamily="34" charset="-122"/>
                          <a:ea typeface="微软雅黑" pitchFamily="34" charset="-122"/>
                        </a:rPr>
                        <a:t>计划</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每季汇总统计分销各片区的订货情况，并核算其预付</a:t>
                      </a:r>
                      <a:r>
                        <a:rPr lang="zh-CN" sz="1000" kern="100" dirty="0" smtClean="0">
                          <a:effectLst/>
                          <a:latin typeface="微软雅黑" pitchFamily="34" charset="-122"/>
                          <a:ea typeface="微软雅黑" pitchFamily="34" charset="-122"/>
                        </a:rPr>
                        <a:t>金额</a:t>
                      </a:r>
                      <a:endParaRPr lang="zh-CN" sz="1000" kern="100" dirty="0">
                        <a:effectLst/>
                        <a:latin typeface="微软雅黑" pitchFamily="34" charset="-122"/>
                        <a:ea typeface="微软雅黑" pitchFamily="34" charset="-122"/>
                        <a:cs typeface="Times New Roman"/>
                      </a:endParaRPr>
                    </a:p>
                  </a:txBody>
                  <a:tcPr marL="36598" marR="36598" marT="0" marB="0" anchor="ctr"/>
                </a:tc>
                <a:tc>
                  <a:txBody>
                    <a:bodyPr/>
                    <a:lstStyle/>
                    <a:p>
                      <a:pPr algn="ctr">
                        <a:spcAft>
                          <a:spcPts val="0"/>
                        </a:spcAft>
                      </a:pPr>
                      <a:r>
                        <a:rPr lang="zh-CN" sz="1000" kern="100" dirty="0">
                          <a:effectLst/>
                          <a:latin typeface="微软雅黑" pitchFamily="34" charset="-122"/>
                          <a:ea typeface="微软雅黑" pitchFamily="34" charset="-122"/>
                        </a:rPr>
                        <a:t>定期执行</a:t>
                      </a:r>
                      <a:endParaRPr lang="zh-CN" sz="1000" kern="100" dirty="0">
                        <a:effectLst/>
                        <a:latin typeface="微软雅黑" pitchFamily="34" charset="-122"/>
                        <a:ea typeface="微软雅黑" pitchFamily="34" charset="-122"/>
                        <a:cs typeface="Times New Roman"/>
                      </a:endParaRPr>
                    </a:p>
                  </a:txBody>
                  <a:tcPr marL="36598" marR="36598" marT="0" marB="0" anchor="ctr"/>
                </a:tc>
              </a:tr>
              <a:tr h="494259">
                <a:tc vMerge="1">
                  <a:txBody>
                    <a:bodyPr/>
                    <a:lstStyle/>
                    <a:p>
                      <a:endParaRPr lang="zh-CN" altLang="en-US"/>
                    </a:p>
                  </a:txBody>
                  <a:tcPr/>
                </a:tc>
                <a:tc vMerge="1">
                  <a:txBody>
                    <a:bodyPr/>
                    <a:lstStyle/>
                    <a:p>
                      <a:endParaRPr lang="zh-CN" altLang="en-US"/>
                    </a:p>
                  </a:txBody>
                  <a:tcPr/>
                </a:tc>
                <a:tc gridSpan="2">
                  <a:txBody>
                    <a:bodyPr/>
                    <a:lstStyle/>
                    <a:p>
                      <a:pPr indent="57150" algn="ctr">
                        <a:spcAft>
                          <a:spcPts val="0"/>
                        </a:spcAft>
                      </a:pPr>
                      <a:r>
                        <a:rPr lang="zh-CN" altLang="zh-CN" sz="1000" kern="1200" dirty="0" smtClean="0">
                          <a:solidFill>
                            <a:schemeClr val="tx1"/>
                          </a:solidFill>
                          <a:effectLst/>
                          <a:latin typeface="微软雅黑" pitchFamily="34" charset="-122"/>
                          <a:ea typeface="微软雅黑" pitchFamily="34" charset="-122"/>
                          <a:cs typeface="+mn-cs"/>
                        </a:rPr>
                        <a:t>跟进总公司的发货</a:t>
                      </a:r>
                      <a:endParaRPr lang="zh-CN" sz="1000" kern="100" dirty="0">
                        <a:effectLst/>
                        <a:latin typeface="微软雅黑" pitchFamily="34" charset="-122"/>
                        <a:ea typeface="微软雅黑" pitchFamily="34" charset="-122"/>
                        <a:cs typeface="Times New Roman"/>
                      </a:endParaRPr>
                    </a:p>
                  </a:txBody>
                  <a:tcPr marL="36598" marR="36598" marT="0" marB="0" anchor="ctr"/>
                </a:tc>
                <a:tc hMerge="1">
                  <a:txBody>
                    <a:bodyPr/>
                    <a:lstStyle/>
                    <a:p>
                      <a:endParaRPr lang="zh-CN" altLang="en-US"/>
                    </a:p>
                  </a:txBody>
                  <a:tcP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依据上市计划与总公司沟通具体货品的发货时间，并跟进执行</a:t>
                      </a:r>
                      <a:r>
                        <a:rPr lang="zh-CN" sz="1000" kern="100" dirty="0" smtClean="0">
                          <a:effectLst/>
                          <a:latin typeface="微软雅黑" pitchFamily="34" charset="-122"/>
                          <a:ea typeface="微软雅黑" pitchFamily="34" charset="-122"/>
                        </a:rPr>
                        <a:t>效果</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smtClean="0">
                          <a:effectLst/>
                          <a:latin typeface="微软雅黑" pitchFamily="34" charset="-122"/>
                          <a:ea typeface="微软雅黑" pitchFamily="34" charset="-122"/>
                        </a:rPr>
                        <a:t>控制</a:t>
                      </a:r>
                      <a:r>
                        <a:rPr lang="zh-CN" sz="1000" kern="100" dirty="0">
                          <a:effectLst/>
                          <a:latin typeface="微软雅黑" pitchFamily="34" charset="-122"/>
                          <a:ea typeface="微软雅黑" pitchFamily="34" charset="-122"/>
                        </a:rPr>
                        <a:t>总公司发出货品的尺码</a:t>
                      </a:r>
                      <a:r>
                        <a:rPr lang="zh-CN" sz="1000" kern="100" dirty="0" smtClean="0">
                          <a:effectLst/>
                          <a:latin typeface="微软雅黑" pitchFamily="34" charset="-122"/>
                          <a:ea typeface="微软雅黑" pitchFamily="34" charset="-122"/>
                        </a:rPr>
                        <a:t>配比</a:t>
                      </a:r>
                      <a:endParaRPr lang="en-US" altLang="zh-CN" sz="1000" kern="100" dirty="0" smtClean="0">
                        <a:effectLst/>
                        <a:latin typeface="微软雅黑" pitchFamily="34" charset="-122"/>
                        <a:ea typeface="微软雅黑" pitchFamily="34" charset="-122"/>
                      </a:endParaRP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l"/>
                        <a:tabLst/>
                        <a:defRPr/>
                      </a:pPr>
                      <a:r>
                        <a:rPr lang="zh-CN" altLang="zh-CN" sz="1000" kern="100" dirty="0" smtClean="0">
                          <a:effectLst/>
                          <a:latin typeface="微软雅黑" pitchFamily="34" charset="-122"/>
                          <a:ea typeface="微软雅黑" pitchFamily="34" charset="-122"/>
                        </a:rPr>
                        <a:t>对在途货品的跟踪</a:t>
                      </a:r>
                      <a:endParaRPr lang="zh-CN" altLang="zh-CN" sz="1000" kern="100" dirty="0" smtClean="0">
                        <a:effectLst/>
                        <a:latin typeface="微软雅黑" pitchFamily="34" charset="-122"/>
                        <a:ea typeface="微软雅黑" pitchFamily="34" charset="-122"/>
                        <a:cs typeface="Times New Roman"/>
                      </a:endParaRPr>
                    </a:p>
                  </a:txBody>
                  <a:tcPr marL="36598" marR="36598" marT="0" marB="0" anchor="ctr"/>
                </a:tc>
                <a:tc rowSpan="5">
                  <a:txBody>
                    <a:bodyPr/>
                    <a:lstStyle/>
                    <a:p>
                      <a:pPr algn="ctr">
                        <a:spcAft>
                          <a:spcPts val="0"/>
                        </a:spcAft>
                      </a:pPr>
                      <a:r>
                        <a:rPr lang="zh-CN" sz="1000" kern="100" dirty="0">
                          <a:effectLst/>
                          <a:latin typeface="微软雅黑" pitchFamily="34" charset="-122"/>
                          <a:ea typeface="微软雅黑" pitchFamily="34" charset="-122"/>
                        </a:rPr>
                        <a:t>日常执行</a:t>
                      </a:r>
                      <a:endParaRPr lang="zh-CN" sz="1000" kern="100" dirty="0">
                        <a:effectLst/>
                        <a:latin typeface="微软雅黑" pitchFamily="34" charset="-122"/>
                        <a:ea typeface="微软雅黑" pitchFamily="34" charset="-122"/>
                        <a:cs typeface="Times New Roman"/>
                      </a:endParaRPr>
                    </a:p>
                  </a:txBody>
                  <a:tcPr marL="36598" marR="36598" marT="0" marB="0" anchor="ctr"/>
                </a:tc>
              </a:tr>
              <a:tr h="467068">
                <a:tc vMerge="1">
                  <a:txBody>
                    <a:bodyPr/>
                    <a:lstStyle/>
                    <a:p>
                      <a:endParaRPr lang="zh-CN" altLang="en-US"/>
                    </a:p>
                  </a:txBody>
                  <a:tcPr/>
                </a:tc>
                <a:tc vMerge="1">
                  <a:txBody>
                    <a:bodyPr/>
                    <a:lstStyle/>
                    <a:p>
                      <a:endParaRPr lang="zh-CN" altLang="en-US"/>
                    </a:p>
                  </a:txBody>
                  <a:tcPr/>
                </a:tc>
                <a:tc gridSpan="2">
                  <a:txBody>
                    <a:bodyPr/>
                    <a:lstStyle/>
                    <a:p>
                      <a:pPr algn="ctr">
                        <a:spcAft>
                          <a:spcPts val="0"/>
                        </a:spcAft>
                      </a:pPr>
                      <a:r>
                        <a:rPr lang="zh-CN" sz="1000" kern="100" dirty="0">
                          <a:effectLst/>
                          <a:latin typeface="微软雅黑" pitchFamily="34" charset="-122"/>
                          <a:ea typeface="微软雅黑" pitchFamily="34" charset="-122"/>
                        </a:rPr>
                        <a:t>跟进分销期货的执行进度</a:t>
                      </a:r>
                      <a:endParaRPr lang="zh-CN" sz="1000" kern="100" dirty="0">
                        <a:effectLst/>
                        <a:latin typeface="微软雅黑" pitchFamily="34" charset="-122"/>
                        <a:ea typeface="微软雅黑" pitchFamily="34" charset="-122"/>
                        <a:cs typeface="Times New Roman"/>
                      </a:endParaRPr>
                    </a:p>
                  </a:txBody>
                  <a:tcPr marL="36598" marR="36598" marT="0" marB="0" anchor="ctr"/>
                </a:tc>
                <a:tc hMerge="1">
                  <a:txBody>
                    <a:bodyPr/>
                    <a:lstStyle/>
                    <a:p>
                      <a:endParaRPr lang="zh-CN" altLang="en-US"/>
                    </a:p>
                  </a:txBody>
                  <a:tcP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协助商品经理制订各时间段期货的执行进度并跟进</a:t>
                      </a:r>
                      <a:r>
                        <a:rPr lang="zh-CN" sz="1000" kern="100" dirty="0" smtClean="0">
                          <a:effectLst/>
                          <a:latin typeface="微软雅黑" pitchFamily="34" charset="-122"/>
                          <a:ea typeface="微软雅黑" pitchFamily="34" charset="-122"/>
                        </a:rPr>
                        <a:t>实施</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在执行过程中，关注并协助商品专员处理异常客户</a:t>
                      </a:r>
                      <a:endParaRPr lang="zh-CN" sz="1000" kern="100" dirty="0">
                        <a:effectLst/>
                        <a:latin typeface="微软雅黑" pitchFamily="34" charset="-122"/>
                        <a:ea typeface="微软雅黑" pitchFamily="34" charset="-122"/>
                        <a:cs typeface="Times New Roman"/>
                      </a:endParaRPr>
                    </a:p>
                  </a:txBody>
                  <a:tcPr marL="36598" marR="36598" marT="0" marB="0" anchor="ctr"/>
                </a:tc>
                <a:tc vMerge="1">
                  <a:txBody>
                    <a:bodyPr/>
                    <a:lstStyle/>
                    <a:p>
                      <a:endParaRPr lang="zh-CN" altLang="en-US"/>
                    </a:p>
                  </a:txBody>
                  <a:tcPr/>
                </a:tc>
              </a:tr>
              <a:tr h="585361">
                <a:tc vMerge="1">
                  <a:txBody>
                    <a:bodyPr/>
                    <a:lstStyle/>
                    <a:p>
                      <a:endParaRPr lang="zh-CN" altLang="en-US"/>
                    </a:p>
                  </a:txBody>
                  <a:tcPr/>
                </a:tc>
                <a:tc vMerge="1">
                  <a:txBody>
                    <a:bodyPr/>
                    <a:lstStyle/>
                    <a:p>
                      <a:endParaRPr lang="zh-CN" altLang="en-US"/>
                    </a:p>
                  </a:txBody>
                  <a:tcPr/>
                </a:tc>
                <a:tc gridSpan="2">
                  <a:txBody>
                    <a:bodyPr/>
                    <a:lstStyle/>
                    <a:p>
                      <a:pPr algn="ctr">
                        <a:spcAft>
                          <a:spcPts val="0"/>
                        </a:spcAft>
                      </a:pPr>
                      <a:r>
                        <a:rPr lang="zh-CN" sz="1000" kern="100" dirty="0">
                          <a:effectLst/>
                          <a:latin typeface="微软雅黑" pitchFamily="34" charset="-122"/>
                          <a:ea typeface="微软雅黑" pitchFamily="34" charset="-122"/>
                        </a:rPr>
                        <a:t>跟进</a:t>
                      </a:r>
                      <a:r>
                        <a:rPr lang="zh-CN" sz="1000" kern="100" dirty="0" smtClean="0">
                          <a:effectLst/>
                          <a:latin typeface="微软雅黑" pitchFamily="34" charset="-122"/>
                          <a:ea typeface="微软雅黑" pitchFamily="34" charset="-122"/>
                        </a:rPr>
                        <a:t>分销</a:t>
                      </a:r>
                      <a:r>
                        <a:rPr lang="zh-CN" altLang="en-US" sz="1000" kern="100" dirty="0" smtClean="0">
                          <a:effectLst/>
                          <a:latin typeface="微软雅黑" pitchFamily="34" charset="-122"/>
                          <a:ea typeface="微软雅黑" pitchFamily="34" charset="-122"/>
                        </a:rPr>
                        <a:t>货品补充</a:t>
                      </a:r>
                      <a:r>
                        <a:rPr lang="zh-CN" sz="1000" kern="100" dirty="0" smtClean="0">
                          <a:effectLst/>
                          <a:latin typeface="微软雅黑" pitchFamily="34" charset="-122"/>
                          <a:ea typeface="微软雅黑" pitchFamily="34" charset="-122"/>
                        </a:rPr>
                        <a:t>的</a:t>
                      </a:r>
                      <a:r>
                        <a:rPr lang="zh-CN" sz="1000" kern="100" dirty="0">
                          <a:effectLst/>
                          <a:latin typeface="微软雅黑" pitchFamily="34" charset="-122"/>
                          <a:ea typeface="微软雅黑" pitchFamily="34" charset="-122"/>
                        </a:rPr>
                        <a:t>执行进度</a:t>
                      </a:r>
                      <a:endParaRPr lang="zh-CN" sz="1000" kern="100" dirty="0">
                        <a:effectLst/>
                        <a:latin typeface="微软雅黑" pitchFamily="34" charset="-122"/>
                        <a:ea typeface="微软雅黑" pitchFamily="34" charset="-122"/>
                        <a:cs typeface="Times New Roman"/>
                      </a:endParaRPr>
                    </a:p>
                  </a:txBody>
                  <a:tcPr marL="36598" marR="36598" marT="0" marB="0" anchor="ctr"/>
                </a:tc>
                <a:tc hMerge="1">
                  <a:txBody>
                    <a:bodyPr/>
                    <a:lstStyle/>
                    <a:p>
                      <a:endParaRPr lang="zh-CN" altLang="en-US"/>
                    </a:p>
                  </a:txBody>
                  <a:tcP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制定备货消化时间</a:t>
                      </a:r>
                      <a:r>
                        <a:rPr lang="zh-CN" sz="1000" kern="100" dirty="0" smtClean="0">
                          <a:effectLst/>
                          <a:latin typeface="微软雅黑" pitchFamily="34" charset="-122"/>
                          <a:ea typeface="微软雅黑" pitchFamily="34" charset="-122"/>
                        </a:rPr>
                        <a:t>段</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制定出每月的主推款</a:t>
                      </a: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跟进片区专员备单推广过程中的难点并协商</a:t>
                      </a:r>
                      <a:r>
                        <a:rPr lang="zh-CN" sz="1000" kern="100" dirty="0" smtClean="0">
                          <a:effectLst/>
                          <a:latin typeface="微软雅黑" pitchFamily="34" charset="-122"/>
                          <a:ea typeface="微软雅黑" pitchFamily="34" charset="-122"/>
                        </a:rPr>
                        <a:t>解决</a:t>
                      </a:r>
                      <a:endParaRPr lang="zh-CN" sz="1000" kern="100" dirty="0">
                        <a:effectLst/>
                        <a:latin typeface="微软雅黑" pitchFamily="34" charset="-122"/>
                        <a:ea typeface="微软雅黑" pitchFamily="34" charset="-122"/>
                        <a:cs typeface="Times New Roman"/>
                      </a:endParaRPr>
                    </a:p>
                  </a:txBody>
                  <a:tcPr marL="36598" marR="36598" marT="0" marB="0" anchor="ctr"/>
                </a:tc>
                <a:tc vMerge="1">
                  <a:txBody>
                    <a:bodyPr/>
                    <a:lstStyle/>
                    <a:p>
                      <a:endParaRPr lang="zh-CN" altLang="en-US"/>
                    </a:p>
                  </a:txBody>
                  <a:tcPr/>
                </a:tc>
              </a:tr>
              <a:tr h="390240">
                <a:tc vMerge="1">
                  <a:txBody>
                    <a:bodyPr/>
                    <a:lstStyle/>
                    <a:p>
                      <a:endParaRPr lang="zh-CN" altLang="en-US"/>
                    </a:p>
                  </a:txBody>
                  <a:tcPr/>
                </a:tc>
                <a:tc vMerge="1">
                  <a:txBody>
                    <a:bodyPr/>
                    <a:lstStyle/>
                    <a:p>
                      <a:endParaRPr lang="zh-CN" altLang="en-US"/>
                    </a:p>
                  </a:txBody>
                  <a:tcPr/>
                </a:tc>
                <a:tc gridSpan="2">
                  <a:txBody>
                    <a:bodyPr/>
                    <a:lstStyle/>
                    <a:p>
                      <a:pPr algn="ctr">
                        <a:spcAft>
                          <a:spcPts val="0"/>
                        </a:spcAft>
                      </a:pPr>
                      <a:r>
                        <a:rPr lang="zh-CN" sz="1000" kern="100" dirty="0">
                          <a:effectLst/>
                          <a:latin typeface="微软雅黑" pitchFamily="34" charset="-122"/>
                          <a:ea typeface="微软雅黑" pitchFamily="34" charset="-122"/>
                        </a:rPr>
                        <a:t>残次监控</a:t>
                      </a:r>
                      <a:endParaRPr lang="zh-CN" sz="1000" kern="100" dirty="0">
                        <a:effectLst/>
                        <a:latin typeface="微软雅黑" pitchFamily="34" charset="-122"/>
                        <a:ea typeface="微软雅黑" pitchFamily="34" charset="-122"/>
                        <a:cs typeface="Times New Roman"/>
                      </a:endParaRPr>
                    </a:p>
                  </a:txBody>
                  <a:tcPr marL="36598" marR="36598" marT="0" marB="0" anchor="ctr"/>
                </a:tc>
                <a:tc hMerge="1">
                  <a:txBody>
                    <a:bodyPr/>
                    <a:lstStyle/>
                    <a:p>
                      <a:endParaRPr lang="zh-CN" altLang="en-US"/>
                    </a:p>
                  </a:txBody>
                  <a:tcP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跟进残次品的处理</a:t>
                      </a:r>
                      <a:r>
                        <a:rPr lang="zh-CN" sz="1000" kern="100" dirty="0" smtClean="0">
                          <a:effectLst/>
                          <a:latin typeface="微软雅黑" pitchFamily="34" charset="-122"/>
                          <a:ea typeface="微软雅黑" pitchFamily="34" charset="-122"/>
                        </a:rPr>
                        <a:t>速度</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跟进总公司残次品账务的</a:t>
                      </a:r>
                      <a:r>
                        <a:rPr lang="zh-CN" sz="1000" kern="100" dirty="0" smtClean="0">
                          <a:effectLst/>
                          <a:latin typeface="微软雅黑" pitchFamily="34" charset="-122"/>
                          <a:ea typeface="微软雅黑" pitchFamily="34" charset="-122"/>
                        </a:rPr>
                        <a:t>处理</a:t>
                      </a:r>
                      <a:endParaRPr lang="zh-CN" sz="1000" kern="100" dirty="0">
                        <a:effectLst/>
                        <a:latin typeface="微软雅黑" pitchFamily="34" charset="-122"/>
                        <a:ea typeface="微软雅黑" pitchFamily="34" charset="-122"/>
                        <a:cs typeface="Times New Roman"/>
                      </a:endParaRPr>
                    </a:p>
                  </a:txBody>
                  <a:tcPr marL="36598" marR="36598" marT="0" marB="0" anchor="ctr"/>
                </a:tc>
                <a:tc vMerge="1">
                  <a:txBody>
                    <a:bodyPr/>
                    <a:lstStyle/>
                    <a:p>
                      <a:endParaRPr lang="zh-CN" altLang="en-US"/>
                    </a:p>
                  </a:txBody>
                  <a:tcPr/>
                </a:tc>
              </a:tr>
              <a:tr h="780481">
                <a:tc vMerge="1">
                  <a:txBody>
                    <a:bodyPr/>
                    <a:lstStyle/>
                    <a:p>
                      <a:endParaRPr lang="zh-CN" altLang="en-US"/>
                    </a:p>
                  </a:txBody>
                  <a:tcPr/>
                </a:tc>
                <a:tc vMerge="1">
                  <a:txBody>
                    <a:bodyPr/>
                    <a:lstStyle/>
                    <a:p>
                      <a:endParaRPr lang="zh-CN" altLang="en-US"/>
                    </a:p>
                  </a:txBody>
                  <a:tcPr/>
                </a:tc>
                <a:tc gridSpan="2">
                  <a:txBody>
                    <a:bodyPr/>
                    <a:lstStyle/>
                    <a:p>
                      <a:pPr algn="ctr">
                        <a:spcAft>
                          <a:spcPts val="0"/>
                        </a:spcAft>
                      </a:pPr>
                      <a:r>
                        <a:rPr lang="zh-CN" sz="1000" kern="100" dirty="0">
                          <a:effectLst/>
                          <a:latin typeface="微软雅黑" pitchFamily="34" charset="-122"/>
                          <a:ea typeface="微软雅黑" pitchFamily="34" charset="-122"/>
                        </a:rPr>
                        <a:t>展厅管理</a:t>
                      </a:r>
                      <a:endParaRPr lang="zh-CN" sz="1000" kern="100" dirty="0">
                        <a:effectLst/>
                        <a:latin typeface="微软雅黑" pitchFamily="34" charset="-122"/>
                        <a:ea typeface="微软雅黑" pitchFamily="34" charset="-122"/>
                        <a:cs typeface="Times New Roman"/>
                      </a:endParaRPr>
                    </a:p>
                  </a:txBody>
                  <a:tcPr marL="36598" marR="36598" marT="0" marB="0" anchor="ctr"/>
                </a:tc>
                <a:tc hMerge="1">
                  <a:txBody>
                    <a:bodyPr/>
                    <a:lstStyle/>
                    <a:p>
                      <a:endParaRPr lang="zh-CN" altLang="en-US"/>
                    </a:p>
                  </a:txBody>
                  <a:tcP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当季新品样品展厅货品的调入、调</a:t>
                      </a:r>
                      <a:r>
                        <a:rPr lang="zh-CN" sz="1000" kern="100" dirty="0" smtClean="0">
                          <a:effectLst/>
                          <a:latin typeface="微软雅黑" pitchFamily="34" charset="-122"/>
                          <a:ea typeface="微软雅黑" pitchFamily="34" charset="-122"/>
                        </a:rPr>
                        <a:t>出</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跟进新品样品的图片</a:t>
                      </a:r>
                      <a:r>
                        <a:rPr lang="zh-CN" sz="1000" kern="100" dirty="0" smtClean="0">
                          <a:effectLst/>
                          <a:latin typeface="微软雅黑" pitchFamily="34" charset="-122"/>
                          <a:ea typeface="微软雅黑" pitchFamily="34" charset="-122"/>
                        </a:rPr>
                        <a:t>收集</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跟进展厅货品的</a:t>
                      </a:r>
                      <a:r>
                        <a:rPr lang="zh-CN" sz="1000" kern="100" dirty="0" smtClean="0">
                          <a:effectLst/>
                          <a:latin typeface="微软雅黑" pitchFamily="34" charset="-122"/>
                          <a:ea typeface="微软雅黑" pitchFamily="34" charset="-122"/>
                        </a:rPr>
                        <a:t>陈列</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跟进展厅的卫生</a:t>
                      </a:r>
                      <a:r>
                        <a:rPr lang="zh-CN" sz="1000" kern="100" dirty="0" smtClean="0">
                          <a:effectLst/>
                          <a:latin typeface="微软雅黑" pitchFamily="34" charset="-122"/>
                          <a:ea typeface="微软雅黑" pitchFamily="34" charset="-122"/>
                        </a:rPr>
                        <a:t>管理</a:t>
                      </a:r>
                      <a:endParaRPr lang="zh-CN" sz="1000" kern="100" dirty="0">
                        <a:effectLst/>
                        <a:latin typeface="微软雅黑" pitchFamily="34" charset="-122"/>
                        <a:ea typeface="微软雅黑" pitchFamily="34" charset="-122"/>
                        <a:cs typeface="Times New Roman"/>
                      </a:endParaRPr>
                    </a:p>
                  </a:txBody>
                  <a:tcPr marL="36598" marR="36598" marT="0" marB="0" anchor="ctr"/>
                </a:tc>
                <a:tc vMerge="1">
                  <a:txBody>
                    <a:bodyPr/>
                    <a:lstStyle/>
                    <a:p>
                      <a:endParaRPr lang="zh-CN" altLang="en-US"/>
                    </a:p>
                  </a:txBody>
                  <a:tcPr/>
                </a:tc>
              </a:tr>
              <a:tr h="195120">
                <a:tc rowSpan="6">
                  <a:txBody>
                    <a:bodyPr/>
                    <a:lstStyle/>
                    <a:p>
                      <a:pPr algn="ctr">
                        <a:spcAft>
                          <a:spcPts val="0"/>
                        </a:spcAft>
                      </a:pPr>
                      <a:r>
                        <a:rPr lang="en-US" sz="1000" kern="100" dirty="0">
                          <a:effectLst/>
                          <a:latin typeface="微软雅黑" pitchFamily="34" charset="-122"/>
                          <a:ea typeface="微软雅黑" pitchFamily="34" charset="-122"/>
                        </a:rPr>
                        <a:t>2</a:t>
                      </a:r>
                      <a:endParaRPr lang="zh-CN" sz="1000" kern="100" dirty="0">
                        <a:effectLst/>
                        <a:latin typeface="微软雅黑" pitchFamily="34" charset="-122"/>
                        <a:ea typeface="微软雅黑" pitchFamily="34" charset="-122"/>
                        <a:cs typeface="Times New Roman"/>
                      </a:endParaRPr>
                    </a:p>
                  </a:txBody>
                  <a:tcPr marL="36598" marR="36598" marT="0" marB="0" anchor="ctr"/>
                </a:tc>
                <a:tc rowSpan="6">
                  <a:txBody>
                    <a:bodyPr/>
                    <a:lstStyle/>
                    <a:p>
                      <a:pPr algn="ctr">
                        <a:spcAft>
                          <a:spcPts val="0"/>
                        </a:spcAft>
                      </a:pPr>
                      <a:r>
                        <a:rPr lang="zh-CN" sz="1000" kern="100" dirty="0">
                          <a:effectLst/>
                          <a:latin typeface="微软雅黑" pitchFamily="34" charset="-122"/>
                          <a:ea typeface="微软雅黑" pitchFamily="34" charset="-122"/>
                        </a:rPr>
                        <a:t>数据管理</a:t>
                      </a:r>
                      <a:endParaRPr lang="zh-CN" sz="1000" kern="100" dirty="0">
                        <a:effectLst/>
                        <a:latin typeface="微软雅黑" pitchFamily="34" charset="-122"/>
                        <a:ea typeface="微软雅黑" pitchFamily="34" charset="-122"/>
                        <a:cs typeface="Times New Roman"/>
                      </a:endParaRPr>
                    </a:p>
                  </a:txBody>
                  <a:tcPr marL="36598" marR="36598" marT="0" marB="0" anchor="ctr"/>
                </a:tc>
                <a:tc rowSpan="5">
                  <a:txBody>
                    <a:bodyPr/>
                    <a:lstStyle/>
                    <a:p>
                      <a:pPr algn="ctr">
                        <a:spcAft>
                          <a:spcPts val="0"/>
                        </a:spcAft>
                      </a:pPr>
                      <a:r>
                        <a:rPr lang="zh-CN" sz="1000" kern="100">
                          <a:effectLst/>
                          <a:latin typeface="微软雅黑" pitchFamily="34" charset="-122"/>
                          <a:ea typeface="微软雅黑" pitchFamily="34" charset="-122"/>
                        </a:rPr>
                        <a:t>数据分析报告</a:t>
                      </a:r>
                      <a:endParaRPr lang="zh-CN" sz="1000" kern="100">
                        <a:effectLst/>
                        <a:latin typeface="微软雅黑" pitchFamily="34" charset="-122"/>
                        <a:ea typeface="微软雅黑" pitchFamily="34" charset="-122"/>
                        <a:cs typeface="Times New Roman"/>
                      </a:endParaRPr>
                    </a:p>
                  </a:txBody>
                  <a:tcPr marL="36598" marR="36598" marT="0" marB="0" anchor="ctr"/>
                </a:tc>
                <a:tc>
                  <a:txBody>
                    <a:bodyPr/>
                    <a:lstStyle/>
                    <a:p>
                      <a:pPr algn="ctr">
                        <a:spcAft>
                          <a:spcPts val="0"/>
                        </a:spcAft>
                      </a:pPr>
                      <a:r>
                        <a:rPr lang="zh-CN" sz="1000" kern="100" dirty="0">
                          <a:effectLst/>
                          <a:latin typeface="微软雅黑" pitchFamily="34" charset="-122"/>
                          <a:ea typeface="微软雅黑" pitchFamily="34" charset="-122"/>
                        </a:rPr>
                        <a:t>日报表</a:t>
                      </a:r>
                      <a:endParaRPr lang="zh-CN" sz="1000" kern="100" dirty="0">
                        <a:effectLst/>
                        <a:latin typeface="微软雅黑" pitchFamily="34" charset="-122"/>
                        <a:ea typeface="微软雅黑" pitchFamily="34" charset="-122"/>
                        <a:cs typeface="Times New Roman"/>
                      </a:endParaRPr>
                    </a:p>
                  </a:txBody>
                  <a:tcPr marL="36598" marR="36598"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及时、准确、全面的对全省店铺销售出具日</a:t>
                      </a:r>
                      <a:r>
                        <a:rPr lang="zh-CN" sz="1000" kern="100" dirty="0" smtClean="0">
                          <a:effectLst/>
                          <a:latin typeface="微软雅黑" pitchFamily="34" charset="-122"/>
                          <a:ea typeface="微软雅黑" pitchFamily="34" charset="-122"/>
                        </a:rPr>
                        <a:t>报表</a:t>
                      </a:r>
                      <a:endParaRPr lang="zh-CN" sz="1000" kern="100" dirty="0">
                        <a:effectLst/>
                        <a:latin typeface="微软雅黑" pitchFamily="34" charset="-122"/>
                        <a:ea typeface="微软雅黑" pitchFamily="34" charset="-122"/>
                        <a:cs typeface="Times New Roman"/>
                      </a:endParaRPr>
                    </a:p>
                  </a:txBody>
                  <a:tcPr marL="36598" marR="36598" marT="0" marB="0" anchor="ctr"/>
                </a:tc>
                <a:tc rowSpan="6">
                  <a:txBody>
                    <a:bodyPr/>
                    <a:lstStyle/>
                    <a:p>
                      <a:pPr algn="ctr">
                        <a:spcAft>
                          <a:spcPts val="0"/>
                        </a:spcAft>
                      </a:pPr>
                      <a:r>
                        <a:rPr lang="zh-CN" sz="1000" kern="100" dirty="0">
                          <a:effectLst/>
                          <a:latin typeface="微软雅黑" pitchFamily="34" charset="-122"/>
                          <a:ea typeface="微软雅黑" pitchFamily="34" charset="-122"/>
                        </a:rPr>
                        <a:t>日常执行</a:t>
                      </a:r>
                      <a:endParaRPr lang="zh-CN" sz="1000" kern="100" dirty="0">
                        <a:effectLst/>
                        <a:latin typeface="微软雅黑" pitchFamily="34" charset="-122"/>
                        <a:ea typeface="微软雅黑" pitchFamily="34" charset="-122"/>
                        <a:cs typeface="Times New Roman"/>
                      </a:endParaRPr>
                    </a:p>
                  </a:txBody>
                  <a:tcPr marL="36598" marR="36598" marT="0" marB="0" anchor="ctr"/>
                </a:tc>
              </a:tr>
              <a:tr h="19512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dirty="0">
                          <a:effectLst/>
                          <a:latin typeface="微软雅黑" pitchFamily="34" charset="-122"/>
                          <a:ea typeface="微软雅黑" pitchFamily="34" charset="-122"/>
                        </a:rPr>
                        <a:t>周报表</a:t>
                      </a:r>
                      <a:endParaRPr lang="zh-CN" sz="1000" kern="100" dirty="0">
                        <a:effectLst/>
                        <a:latin typeface="微软雅黑" pitchFamily="34" charset="-122"/>
                        <a:ea typeface="微软雅黑" pitchFamily="34" charset="-122"/>
                        <a:cs typeface="Times New Roman"/>
                      </a:endParaRPr>
                    </a:p>
                  </a:txBody>
                  <a:tcPr marL="36598" marR="36598"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及时、准确、全面的对全省店铺销售出具周报</a:t>
                      </a:r>
                      <a:r>
                        <a:rPr lang="zh-CN" sz="1000" kern="100" dirty="0" smtClean="0">
                          <a:effectLst/>
                          <a:latin typeface="微软雅黑" pitchFamily="34" charset="-122"/>
                          <a:ea typeface="微软雅黑" pitchFamily="34" charset="-122"/>
                        </a:rPr>
                        <a:t>表</a:t>
                      </a:r>
                      <a:endParaRPr lang="zh-CN" sz="1000" kern="100" dirty="0">
                        <a:effectLst/>
                        <a:latin typeface="微软雅黑" pitchFamily="34" charset="-122"/>
                        <a:ea typeface="微软雅黑" pitchFamily="34" charset="-122"/>
                        <a:cs typeface="Times New Roman"/>
                      </a:endParaRPr>
                    </a:p>
                  </a:txBody>
                  <a:tcPr marL="36598" marR="36598" marT="0" marB="0" anchor="ctr"/>
                </a:tc>
                <a:tc vMerge="1">
                  <a:txBody>
                    <a:bodyPr/>
                    <a:lstStyle/>
                    <a:p>
                      <a:endParaRPr lang="zh-CN" altLang="en-US"/>
                    </a:p>
                  </a:txBody>
                  <a:tcPr/>
                </a:tc>
              </a:tr>
              <a:tr h="19512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a:effectLst/>
                          <a:latin typeface="微软雅黑" pitchFamily="34" charset="-122"/>
                          <a:ea typeface="微软雅黑" pitchFamily="34" charset="-122"/>
                        </a:rPr>
                        <a:t>月报表</a:t>
                      </a:r>
                      <a:endParaRPr lang="zh-CN" sz="1000" kern="100">
                        <a:effectLst/>
                        <a:latin typeface="微软雅黑" pitchFamily="34" charset="-122"/>
                        <a:ea typeface="微软雅黑" pitchFamily="34" charset="-122"/>
                        <a:cs typeface="Times New Roman"/>
                      </a:endParaRPr>
                    </a:p>
                  </a:txBody>
                  <a:tcPr marL="36598" marR="36598"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及时、准确、全面的对全省店铺销售出具月</a:t>
                      </a:r>
                      <a:r>
                        <a:rPr lang="zh-CN" sz="1000" kern="100" dirty="0" smtClean="0">
                          <a:effectLst/>
                          <a:latin typeface="微软雅黑" pitchFamily="34" charset="-122"/>
                          <a:ea typeface="微软雅黑" pitchFamily="34" charset="-122"/>
                        </a:rPr>
                        <a:t>报表</a:t>
                      </a:r>
                      <a:endParaRPr lang="zh-CN" sz="1000" kern="100" dirty="0">
                        <a:effectLst/>
                        <a:latin typeface="微软雅黑" pitchFamily="34" charset="-122"/>
                        <a:ea typeface="微软雅黑" pitchFamily="34" charset="-122"/>
                        <a:cs typeface="Times New Roman"/>
                      </a:endParaRPr>
                    </a:p>
                  </a:txBody>
                  <a:tcPr marL="36598" marR="36598" marT="0" marB="0" anchor="ctr"/>
                </a:tc>
                <a:tc vMerge="1">
                  <a:txBody>
                    <a:bodyPr/>
                    <a:lstStyle/>
                    <a:p>
                      <a:endParaRPr lang="zh-CN" altLang="en-US"/>
                    </a:p>
                  </a:txBody>
                  <a:tcPr/>
                </a:tc>
              </a:tr>
              <a:tr h="19512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dirty="0">
                          <a:effectLst/>
                          <a:latin typeface="微软雅黑" pitchFamily="34" charset="-122"/>
                          <a:ea typeface="微软雅黑" pitchFamily="34" charset="-122"/>
                        </a:rPr>
                        <a:t>季报表</a:t>
                      </a:r>
                      <a:endParaRPr lang="zh-CN" sz="1000" kern="100" dirty="0">
                        <a:effectLst/>
                        <a:latin typeface="微软雅黑" pitchFamily="34" charset="-122"/>
                        <a:ea typeface="微软雅黑" pitchFamily="34" charset="-122"/>
                        <a:cs typeface="Times New Roman"/>
                      </a:endParaRPr>
                    </a:p>
                  </a:txBody>
                  <a:tcPr marL="36598" marR="36598"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及时、准确、全面的对全省店铺销售出具季报</a:t>
                      </a:r>
                      <a:r>
                        <a:rPr lang="zh-CN" sz="1000" kern="100" dirty="0" smtClean="0">
                          <a:effectLst/>
                          <a:latin typeface="微软雅黑" pitchFamily="34" charset="-122"/>
                          <a:ea typeface="微软雅黑" pitchFamily="34" charset="-122"/>
                        </a:rPr>
                        <a:t>表</a:t>
                      </a:r>
                      <a:endParaRPr lang="zh-CN" sz="1000" kern="100" dirty="0">
                        <a:effectLst/>
                        <a:latin typeface="微软雅黑" pitchFamily="34" charset="-122"/>
                        <a:ea typeface="微软雅黑" pitchFamily="34" charset="-122"/>
                        <a:cs typeface="Times New Roman"/>
                      </a:endParaRPr>
                    </a:p>
                  </a:txBody>
                  <a:tcPr marL="36598" marR="36598" marT="0" marB="0" anchor="ctr"/>
                </a:tc>
                <a:tc vMerge="1">
                  <a:txBody>
                    <a:bodyPr/>
                    <a:lstStyle/>
                    <a:p>
                      <a:endParaRPr lang="zh-CN" altLang="en-US"/>
                    </a:p>
                  </a:txBody>
                  <a:tcPr/>
                </a:tc>
              </a:tr>
              <a:tr h="19512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dirty="0">
                          <a:effectLst/>
                          <a:latin typeface="微软雅黑" pitchFamily="34" charset="-122"/>
                          <a:ea typeface="微软雅黑" pitchFamily="34" charset="-122"/>
                        </a:rPr>
                        <a:t>年报表</a:t>
                      </a:r>
                      <a:endParaRPr lang="zh-CN" sz="1000" kern="100" dirty="0">
                        <a:effectLst/>
                        <a:latin typeface="微软雅黑" pitchFamily="34" charset="-122"/>
                        <a:ea typeface="微软雅黑" pitchFamily="34" charset="-122"/>
                        <a:cs typeface="Times New Roman"/>
                      </a:endParaRPr>
                    </a:p>
                  </a:txBody>
                  <a:tcPr marL="36598" marR="36598"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及时、准确、全面的对全省店铺销售出具年</a:t>
                      </a:r>
                      <a:r>
                        <a:rPr lang="zh-CN" sz="1000" kern="100" dirty="0" smtClean="0">
                          <a:effectLst/>
                          <a:latin typeface="微软雅黑" pitchFamily="34" charset="-122"/>
                          <a:ea typeface="微软雅黑" pitchFamily="34" charset="-122"/>
                        </a:rPr>
                        <a:t>报表</a:t>
                      </a:r>
                      <a:endParaRPr lang="zh-CN" sz="1000" kern="100" dirty="0">
                        <a:effectLst/>
                        <a:latin typeface="微软雅黑" pitchFamily="34" charset="-122"/>
                        <a:ea typeface="微软雅黑" pitchFamily="34" charset="-122"/>
                        <a:cs typeface="Times New Roman"/>
                      </a:endParaRPr>
                    </a:p>
                  </a:txBody>
                  <a:tcPr marL="36598" marR="36598" marT="0" marB="0" anchor="ctr"/>
                </a:tc>
                <a:tc vMerge="1">
                  <a:txBody>
                    <a:bodyPr/>
                    <a:lstStyle/>
                    <a:p>
                      <a:endParaRPr lang="zh-CN" altLang="en-US"/>
                    </a:p>
                  </a:txBody>
                  <a:tcPr/>
                </a:tc>
              </a:tr>
              <a:tr h="195120">
                <a:tc vMerge="1">
                  <a:txBody>
                    <a:bodyPr/>
                    <a:lstStyle/>
                    <a:p>
                      <a:endParaRPr lang="zh-CN" altLang="en-US"/>
                    </a:p>
                  </a:txBody>
                  <a:tcPr/>
                </a:tc>
                <a:tc vMerge="1">
                  <a:txBody>
                    <a:bodyPr/>
                    <a:lstStyle/>
                    <a:p>
                      <a:endParaRPr lang="zh-CN" altLang="en-US"/>
                    </a:p>
                  </a:txBody>
                  <a:tcPr/>
                </a:tc>
                <a:tc gridSpan="2">
                  <a:txBody>
                    <a:bodyPr/>
                    <a:lstStyle/>
                    <a:p>
                      <a:pPr algn="ctr">
                        <a:spcAft>
                          <a:spcPts val="0"/>
                        </a:spcAft>
                      </a:pPr>
                      <a:r>
                        <a:rPr lang="zh-CN" sz="1000" kern="100" dirty="0">
                          <a:effectLst/>
                          <a:latin typeface="微软雅黑" pitchFamily="34" charset="-122"/>
                          <a:ea typeface="微软雅黑" pitchFamily="34" charset="-122"/>
                        </a:rPr>
                        <a:t>业务数据库管理</a:t>
                      </a:r>
                      <a:endParaRPr lang="zh-CN" sz="1000" kern="100" dirty="0">
                        <a:effectLst/>
                        <a:latin typeface="微软雅黑" pitchFamily="34" charset="-122"/>
                        <a:ea typeface="微软雅黑" pitchFamily="34" charset="-122"/>
                        <a:cs typeface="Times New Roman"/>
                      </a:endParaRPr>
                    </a:p>
                  </a:txBody>
                  <a:tcPr marL="36598" marR="36598" marT="0" marB="0" anchor="ctr"/>
                </a:tc>
                <a:tc hMerge="1">
                  <a:txBody>
                    <a:bodyPr/>
                    <a:lstStyle/>
                    <a:p>
                      <a:endParaRPr lang="zh-CN" altLang="en-US"/>
                    </a:p>
                  </a:txBody>
                  <a:tcP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监督各项数据、报表进行留档、保存、完善</a:t>
                      </a:r>
                      <a:endParaRPr lang="zh-CN" sz="1000" kern="100" dirty="0">
                        <a:effectLst/>
                        <a:latin typeface="微软雅黑" pitchFamily="34" charset="-122"/>
                        <a:ea typeface="微软雅黑" pitchFamily="34" charset="-122"/>
                        <a:cs typeface="Times New Roman"/>
                      </a:endParaRPr>
                    </a:p>
                  </a:txBody>
                  <a:tcPr marL="36598" marR="36598" marT="0" marB="0" anchor="ctr"/>
                </a:tc>
                <a:tc vMerge="1">
                  <a:txBody>
                    <a:bodyPr/>
                    <a:lstStyle/>
                    <a:p>
                      <a:endParaRPr lang="zh-CN" altLang="en-US"/>
                    </a:p>
                  </a:txBody>
                  <a:tcPr/>
                </a:tc>
              </a:tr>
              <a:tr h="195120">
                <a:tc rowSpan="4">
                  <a:txBody>
                    <a:bodyPr/>
                    <a:lstStyle/>
                    <a:p>
                      <a:pPr algn="ctr">
                        <a:spcAft>
                          <a:spcPts val="0"/>
                        </a:spcAft>
                      </a:pPr>
                      <a:r>
                        <a:rPr lang="en-US" sz="1000" kern="100">
                          <a:effectLst/>
                          <a:latin typeface="微软雅黑" pitchFamily="34" charset="-122"/>
                          <a:ea typeface="微软雅黑" pitchFamily="34" charset="-122"/>
                        </a:rPr>
                        <a:t>3</a:t>
                      </a:r>
                      <a:endParaRPr lang="zh-CN" sz="1000" kern="100">
                        <a:effectLst/>
                        <a:latin typeface="微软雅黑" pitchFamily="34" charset="-122"/>
                        <a:ea typeface="微软雅黑" pitchFamily="34" charset="-122"/>
                        <a:cs typeface="Times New Roman"/>
                      </a:endParaRPr>
                    </a:p>
                  </a:txBody>
                  <a:tcPr marL="36598" marR="36598" marT="0" marB="0" anchor="ctr"/>
                </a:tc>
                <a:tc rowSpan="4">
                  <a:txBody>
                    <a:bodyPr/>
                    <a:lstStyle/>
                    <a:p>
                      <a:pPr algn="ctr">
                        <a:spcAft>
                          <a:spcPts val="0"/>
                        </a:spcAft>
                      </a:pPr>
                      <a:r>
                        <a:rPr lang="zh-CN" sz="1000" kern="100" dirty="0">
                          <a:effectLst/>
                          <a:latin typeface="微软雅黑" pitchFamily="34" charset="-122"/>
                          <a:ea typeface="微软雅黑" pitchFamily="34" charset="-122"/>
                        </a:rPr>
                        <a:t>人员管理</a:t>
                      </a:r>
                      <a:endParaRPr lang="zh-CN" sz="1000" kern="100" dirty="0">
                        <a:effectLst/>
                        <a:latin typeface="微软雅黑" pitchFamily="34" charset="-122"/>
                        <a:ea typeface="微软雅黑" pitchFamily="34" charset="-122"/>
                        <a:cs typeface="Times New Roman"/>
                      </a:endParaRPr>
                    </a:p>
                  </a:txBody>
                  <a:tcPr marL="36598" marR="36598" marT="0" marB="0" anchor="ctr"/>
                </a:tc>
                <a:tc rowSpan="2">
                  <a:txBody>
                    <a:bodyPr/>
                    <a:lstStyle/>
                    <a:p>
                      <a:pPr algn="ctr">
                        <a:spcAft>
                          <a:spcPts val="0"/>
                        </a:spcAft>
                      </a:pPr>
                      <a:r>
                        <a:rPr lang="zh-CN" sz="1000" kern="100">
                          <a:effectLst/>
                          <a:latin typeface="微软雅黑" pitchFamily="34" charset="-122"/>
                          <a:ea typeface="微软雅黑" pitchFamily="34" charset="-122"/>
                        </a:rPr>
                        <a:t>人员考核</a:t>
                      </a:r>
                      <a:endParaRPr lang="zh-CN" sz="1000" kern="100">
                        <a:effectLst/>
                        <a:latin typeface="微软雅黑" pitchFamily="34" charset="-122"/>
                        <a:ea typeface="微软雅黑" pitchFamily="34" charset="-122"/>
                        <a:cs typeface="Times New Roman"/>
                      </a:endParaRPr>
                    </a:p>
                  </a:txBody>
                  <a:tcPr marL="36598" marR="36598" marT="0" marB="0" anchor="ctr"/>
                </a:tc>
                <a:tc>
                  <a:txBody>
                    <a:bodyPr/>
                    <a:lstStyle/>
                    <a:p>
                      <a:pPr algn="ctr">
                        <a:spcAft>
                          <a:spcPts val="0"/>
                        </a:spcAft>
                      </a:pPr>
                      <a:r>
                        <a:rPr lang="zh-CN" sz="1000" kern="100" dirty="0">
                          <a:effectLst/>
                          <a:latin typeface="微软雅黑" pitchFamily="34" charset="-122"/>
                          <a:ea typeface="微软雅黑" pitchFamily="34" charset="-122"/>
                        </a:rPr>
                        <a:t>岗位描述</a:t>
                      </a:r>
                      <a:endParaRPr lang="zh-CN" sz="1000" kern="100" dirty="0">
                        <a:effectLst/>
                        <a:latin typeface="微软雅黑" pitchFamily="34" charset="-122"/>
                        <a:ea typeface="微软雅黑" pitchFamily="34" charset="-122"/>
                        <a:cs typeface="Times New Roman"/>
                      </a:endParaRPr>
                    </a:p>
                  </a:txBody>
                  <a:tcPr marL="36598" marR="36598"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规范各岗位的工作职责和具体的工作内容，并加强内部的沟通与</a:t>
                      </a:r>
                      <a:r>
                        <a:rPr lang="zh-CN" sz="1000" kern="100" dirty="0" smtClean="0">
                          <a:effectLst/>
                          <a:latin typeface="微软雅黑" pitchFamily="34" charset="-122"/>
                          <a:ea typeface="微软雅黑" pitchFamily="34" charset="-122"/>
                        </a:rPr>
                        <a:t>协调</a:t>
                      </a:r>
                      <a:endParaRPr lang="zh-CN" sz="1000" kern="100" dirty="0">
                        <a:effectLst/>
                        <a:latin typeface="微软雅黑" pitchFamily="34" charset="-122"/>
                        <a:ea typeface="微软雅黑" pitchFamily="34" charset="-122"/>
                        <a:cs typeface="Times New Roman"/>
                      </a:endParaRPr>
                    </a:p>
                  </a:txBody>
                  <a:tcPr marL="36598" marR="36598" marT="0" marB="0" anchor="ctr"/>
                </a:tc>
                <a:tc rowSpan="4">
                  <a:txBody>
                    <a:bodyPr/>
                    <a:lstStyle/>
                    <a:p>
                      <a:pPr algn="ctr">
                        <a:spcAft>
                          <a:spcPts val="0"/>
                        </a:spcAft>
                      </a:pPr>
                      <a:r>
                        <a:rPr lang="zh-CN" sz="1000" kern="100" dirty="0">
                          <a:effectLst/>
                          <a:latin typeface="微软雅黑" pitchFamily="34" charset="-122"/>
                          <a:ea typeface="微软雅黑" pitchFamily="34" charset="-122"/>
                        </a:rPr>
                        <a:t>日常执行</a:t>
                      </a:r>
                      <a:endParaRPr lang="zh-CN" sz="1000" kern="100" dirty="0">
                        <a:effectLst/>
                        <a:latin typeface="微软雅黑" pitchFamily="34" charset="-122"/>
                        <a:ea typeface="微软雅黑" pitchFamily="34" charset="-122"/>
                        <a:cs typeface="Times New Roman"/>
                      </a:endParaRPr>
                    </a:p>
                  </a:txBody>
                  <a:tcPr marL="36598" marR="36598" marT="0" marB="0" anchor="ctr"/>
                </a:tc>
              </a:tr>
              <a:tr h="19512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dirty="0">
                          <a:effectLst/>
                          <a:latin typeface="微软雅黑" pitchFamily="34" charset="-122"/>
                          <a:ea typeface="微软雅黑" pitchFamily="34" charset="-122"/>
                        </a:rPr>
                        <a:t>岗位绩效</a:t>
                      </a:r>
                      <a:endParaRPr lang="zh-CN" sz="1000" kern="100" dirty="0">
                        <a:effectLst/>
                        <a:latin typeface="微软雅黑" pitchFamily="34" charset="-122"/>
                        <a:ea typeface="微软雅黑" pitchFamily="34" charset="-122"/>
                        <a:cs typeface="Times New Roman"/>
                      </a:endParaRPr>
                    </a:p>
                  </a:txBody>
                  <a:tcPr marL="36598" marR="36598"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以岗位职责和工作内容为依据，制定对应岗位的月度绩效、年度</a:t>
                      </a:r>
                      <a:r>
                        <a:rPr lang="zh-CN" sz="1000" kern="100" dirty="0" smtClean="0">
                          <a:effectLst/>
                          <a:latin typeface="微软雅黑" pitchFamily="34" charset="-122"/>
                          <a:ea typeface="微软雅黑" pitchFamily="34" charset="-122"/>
                        </a:rPr>
                        <a:t>绩效</a:t>
                      </a:r>
                      <a:endParaRPr lang="zh-CN" sz="1000" kern="100" dirty="0">
                        <a:effectLst/>
                        <a:latin typeface="微软雅黑" pitchFamily="34" charset="-122"/>
                        <a:ea typeface="微软雅黑" pitchFamily="34" charset="-122"/>
                        <a:cs typeface="Times New Roman"/>
                      </a:endParaRPr>
                    </a:p>
                  </a:txBody>
                  <a:tcPr marL="36598" marR="36598" marT="0" marB="0" anchor="ctr"/>
                </a:tc>
                <a:tc vMerge="1">
                  <a:txBody>
                    <a:bodyPr/>
                    <a:lstStyle/>
                    <a:p>
                      <a:endParaRPr lang="zh-CN" altLang="en-US"/>
                    </a:p>
                  </a:txBody>
                  <a:tcPr/>
                </a:tc>
              </a:tr>
              <a:tr h="195120">
                <a:tc vMerge="1">
                  <a:txBody>
                    <a:bodyPr/>
                    <a:lstStyle/>
                    <a:p>
                      <a:endParaRPr lang="zh-CN" altLang="en-US"/>
                    </a:p>
                  </a:txBody>
                  <a:tcPr/>
                </a:tc>
                <a:tc vMerge="1">
                  <a:txBody>
                    <a:bodyPr/>
                    <a:lstStyle/>
                    <a:p>
                      <a:endParaRPr lang="zh-CN" altLang="en-US"/>
                    </a:p>
                  </a:txBody>
                  <a:tcPr/>
                </a:tc>
                <a:tc rowSpan="2">
                  <a:txBody>
                    <a:bodyPr/>
                    <a:lstStyle/>
                    <a:p>
                      <a:pPr algn="ctr">
                        <a:spcAft>
                          <a:spcPts val="0"/>
                        </a:spcAft>
                      </a:pPr>
                      <a:r>
                        <a:rPr lang="zh-CN" sz="1000" kern="100">
                          <a:effectLst/>
                          <a:latin typeface="微软雅黑" pitchFamily="34" charset="-122"/>
                          <a:ea typeface="微软雅黑" pitchFamily="34" charset="-122"/>
                        </a:rPr>
                        <a:t>团队建设</a:t>
                      </a:r>
                      <a:endParaRPr lang="zh-CN" sz="1000" kern="100">
                        <a:effectLst/>
                        <a:latin typeface="微软雅黑" pitchFamily="34" charset="-122"/>
                        <a:ea typeface="微软雅黑" pitchFamily="34" charset="-122"/>
                        <a:cs typeface="Times New Roman"/>
                      </a:endParaRPr>
                    </a:p>
                  </a:txBody>
                  <a:tcPr marL="36598" marR="36598" marT="0" marB="0" anchor="ctr"/>
                </a:tc>
                <a:tc>
                  <a:txBody>
                    <a:bodyPr/>
                    <a:lstStyle/>
                    <a:p>
                      <a:pPr algn="ctr">
                        <a:spcAft>
                          <a:spcPts val="0"/>
                        </a:spcAft>
                      </a:pPr>
                      <a:r>
                        <a:rPr lang="zh-CN" sz="1000" kern="100" dirty="0">
                          <a:effectLst/>
                          <a:latin typeface="微软雅黑" pitchFamily="34" charset="-122"/>
                          <a:ea typeface="微软雅黑" pitchFamily="34" charset="-122"/>
                        </a:rPr>
                        <a:t>新员工培训</a:t>
                      </a:r>
                      <a:endParaRPr lang="zh-CN" sz="1000" kern="100" dirty="0">
                        <a:effectLst/>
                        <a:latin typeface="微软雅黑" pitchFamily="34" charset="-122"/>
                        <a:ea typeface="微软雅黑" pitchFamily="34" charset="-122"/>
                        <a:cs typeface="Times New Roman"/>
                      </a:endParaRPr>
                    </a:p>
                  </a:txBody>
                  <a:tcPr marL="36598" marR="36598"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跟进新进人员系统各版块及货品知识的</a:t>
                      </a:r>
                      <a:r>
                        <a:rPr lang="zh-CN" sz="1000" kern="100" dirty="0" smtClean="0">
                          <a:effectLst/>
                          <a:latin typeface="微软雅黑" pitchFamily="34" charset="-122"/>
                          <a:ea typeface="微软雅黑" pitchFamily="34" charset="-122"/>
                        </a:rPr>
                        <a:t>培训</a:t>
                      </a:r>
                      <a:endParaRPr lang="zh-CN" sz="1000" kern="100" dirty="0">
                        <a:effectLst/>
                        <a:latin typeface="微软雅黑" pitchFamily="34" charset="-122"/>
                        <a:ea typeface="微软雅黑" pitchFamily="34" charset="-122"/>
                        <a:cs typeface="Times New Roman"/>
                      </a:endParaRPr>
                    </a:p>
                  </a:txBody>
                  <a:tcPr marL="36598" marR="36598" marT="0" marB="0" anchor="ctr"/>
                </a:tc>
                <a:tc vMerge="1">
                  <a:txBody>
                    <a:bodyPr/>
                    <a:lstStyle/>
                    <a:p>
                      <a:endParaRPr lang="zh-CN" altLang="en-US"/>
                    </a:p>
                  </a:txBody>
                  <a:tcPr/>
                </a:tc>
              </a:tr>
              <a:tr h="19512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dirty="0">
                          <a:effectLst/>
                          <a:latin typeface="微软雅黑" pitchFamily="34" charset="-122"/>
                          <a:ea typeface="微软雅黑" pitchFamily="34" charset="-122"/>
                        </a:rPr>
                        <a:t>内部培训</a:t>
                      </a:r>
                      <a:endParaRPr lang="zh-CN" sz="1000" kern="100" dirty="0">
                        <a:effectLst/>
                        <a:latin typeface="微软雅黑" pitchFamily="34" charset="-122"/>
                        <a:ea typeface="微软雅黑" pitchFamily="34" charset="-122"/>
                        <a:cs typeface="Times New Roman"/>
                      </a:endParaRPr>
                    </a:p>
                  </a:txBody>
                  <a:tcPr marL="36598" marR="36598"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部门内部人员业务水平的日常培训、考核</a:t>
                      </a:r>
                      <a:r>
                        <a:rPr lang="zh-CN" sz="1000" kern="100" dirty="0" smtClean="0">
                          <a:effectLst/>
                          <a:latin typeface="微软雅黑" pitchFamily="34" charset="-122"/>
                          <a:ea typeface="微软雅黑" pitchFamily="34" charset="-122"/>
                        </a:rPr>
                        <a:t>等</a:t>
                      </a:r>
                      <a:endParaRPr lang="zh-CN" sz="1000" kern="100" dirty="0">
                        <a:effectLst/>
                        <a:latin typeface="微软雅黑" pitchFamily="34" charset="-122"/>
                        <a:ea typeface="微软雅黑" pitchFamily="34" charset="-122"/>
                        <a:cs typeface="Times New Roman"/>
                      </a:endParaRPr>
                    </a:p>
                  </a:txBody>
                  <a:tcPr marL="36598" marR="36598" marT="0" marB="0" anchor="ctr"/>
                </a:tc>
                <a:tc vMerge="1">
                  <a:txBody>
                    <a:bodyPr/>
                    <a:lstStyle/>
                    <a:p>
                      <a:endParaRPr lang="zh-CN" altLang="en-US"/>
                    </a:p>
                  </a:txBody>
                  <a:tcPr/>
                </a:tc>
              </a:tr>
            </a:tbl>
          </a:graphicData>
        </a:graphic>
      </p:graphicFrame>
    </p:spTree>
    <p:extLst>
      <p:ext uri="{BB962C8B-B14F-4D97-AF65-F5344CB8AC3E}">
        <p14:creationId xmlns:p14="http://schemas.microsoft.com/office/powerpoint/2010/main" val="36909744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280037189"/>
              </p:ext>
            </p:extLst>
          </p:nvPr>
        </p:nvGraphicFramePr>
        <p:xfrm>
          <a:off x="683568" y="578289"/>
          <a:ext cx="7776864" cy="5587015"/>
        </p:xfrm>
        <a:graphic>
          <a:graphicData uri="http://schemas.openxmlformats.org/drawingml/2006/table">
            <a:tbl>
              <a:tblPr firstRow="1" firstCol="1" bandRow="1">
                <a:tableStyleId>{5940675A-B579-460E-94D1-54222C63F5DA}</a:tableStyleId>
              </a:tblPr>
              <a:tblGrid>
                <a:gridCol w="420371"/>
                <a:gridCol w="1066584"/>
                <a:gridCol w="5497820"/>
                <a:gridCol w="792089"/>
              </a:tblGrid>
              <a:tr h="232189">
                <a:tc>
                  <a:txBody>
                    <a:bodyPr/>
                    <a:lstStyle/>
                    <a:p>
                      <a:pPr algn="ctr">
                        <a:spcAft>
                          <a:spcPts val="0"/>
                        </a:spcAft>
                      </a:pPr>
                      <a:r>
                        <a:rPr lang="zh-CN" sz="1000" kern="100" dirty="0">
                          <a:effectLst/>
                          <a:latin typeface="微软雅黑" pitchFamily="34" charset="-122"/>
                          <a:ea typeface="微软雅黑" pitchFamily="34" charset="-122"/>
                        </a:rPr>
                        <a:t>序号</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工作流程</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a:effectLst/>
                          <a:latin typeface="微软雅黑" pitchFamily="34" charset="-122"/>
                          <a:ea typeface="微软雅黑" pitchFamily="34" charset="-122"/>
                        </a:rPr>
                        <a:t>工作职责要求和标准</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marL="57150" indent="-57150" algn="ctr">
                        <a:spcAft>
                          <a:spcPts val="0"/>
                        </a:spcAft>
                      </a:pPr>
                      <a:r>
                        <a:rPr lang="zh-CN" sz="1000" kern="100">
                          <a:effectLst/>
                          <a:latin typeface="微软雅黑" pitchFamily="34" charset="-122"/>
                          <a:ea typeface="微软雅黑" pitchFamily="34" charset="-122"/>
                        </a:rPr>
                        <a:t>频次和时间</a:t>
                      </a:r>
                      <a:endParaRPr lang="zh-CN" sz="1000" kern="100">
                        <a:effectLst/>
                        <a:latin typeface="微软雅黑" pitchFamily="34" charset="-122"/>
                        <a:ea typeface="微软雅黑" pitchFamily="34" charset="-122"/>
                        <a:cs typeface="Times New Roman"/>
                      </a:endParaRPr>
                    </a:p>
                  </a:txBody>
                  <a:tcPr marL="50288" marR="50288" marT="0" marB="0" anchor="ctr"/>
                </a:tc>
              </a:tr>
              <a:tr h="348284">
                <a:tc>
                  <a:txBody>
                    <a:bodyPr/>
                    <a:lstStyle/>
                    <a:p>
                      <a:pPr algn="ctr">
                        <a:spcAft>
                          <a:spcPts val="0"/>
                        </a:spcAft>
                      </a:pPr>
                      <a:r>
                        <a:rPr lang="en-US" sz="1000" kern="100">
                          <a:effectLst/>
                          <a:latin typeface="微软雅黑" pitchFamily="34" charset="-122"/>
                          <a:ea typeface="微软雅黑" pitchFamily="34" charset="-122"/>
                        </a:rPr>
                        <a:t>1</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直营销售日报表汇总及跟进</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每日早上对直营前一天的销售进行汇总，以表格及图形的形式发至</a:t>
                      </a:r>
                      <a:r>
                        <a:rPr lang="zh-CN" sz="1000" kern="100" dirty="0" smtClean="0">
                          <a:effectLst/>
                          <a:latin typeface="微软雅黑" pitchFamily="34" charset="-122"/>
                          <a:ea typeface="微软雅黑" pitchFamily="34" charset="-122"/>
                        </a:rPr>
                        <a:t>商品</a:t>
                      </a:r>
                      <a:r>
                        <a:rPr lang="zh-CN" altLang="en-US" sz="1000" kern="100" dirty="0" smtClean="0">
                          <a:effectLst/>
                          <a:latin typeface="微软雅黑" pitchFamily="34" charset="-122"/>
                          <a:ea typeface="微软雅黑" pitchFamily="34" charset="-122"/>
                        </a:rPr>
                        <a:t>专员</a:t>
                      </a:r>
                      <a:r>
                        <a:rPr lang="zh-CN" sz="1000" kern="100" dirty="0" smtClean="0">
                          <a:effectLst/>
                          <a:latin typeface="微软雅黑" pitchFamily="34" charset="-122"/>
                          <a:ea typeface="微软雅黑" pitchFamily="34" charset="-122"/>
                        </a:rPr>
                        <a:t>、</a:t>
                      </a:r>
                      <a:r>
                        <a:rPr lang="zh-CN" sz="1000" kern="100" dirty="0">
                          <a:effectLst/>
                          <a:latin typeface="微软雅黑" pitchFamily="34" charset="-122"/>
                          <a:ea typeface="微软雅黑" pitchFamily="34" charset="-122"/>
                        </a:rPr>
                        <a:t>直</a:t>
                      </a:r>
                      <a:r>
                        <a:rPr lang="zh-CN" sz="1000" kern="100" dirty="0" smtClean="0">
                          <a:effectLst/>
                          <a:latin typeface="微软雅黑" pitchFamily="34" charset="-122"/>
                          <a:ea typeface="微软雅黑" pitchFamily="34" charset="-122"/>
                        </a:rPr>
                        <a:t>营</a:t>
                      </a:r>
                      <a:r>
                        <a:rPr lang="zh-CN" altLang="en-US" sz="1000" kern="100" dirty="0" smtClean="0">
                          <a:effectLst/>
                          <a:latin typeface="微软雅黑" pitchFamily="34" charset="-122"/>
                          <a:ea typeface="微软雅黑" pitchFamily="34" charset="-122"/>
                        </a:rPr>
                        <a:t>经理</a:t>
                      </a:r>
                      <a:r>
                        <a:rPr lang="zh-CN" sz="1000" kern="100" dirty="0" smtClean="0">
                          <a:effectLst/>
                          <a:latin typeface="微软雅黑" pitchFamily="34" charset="-122"/>
                          <a:ea typeface="微软雅黑" pitchFamily="34" charset="-122"/>
                        </a:rPr>
                        <a:t>，</a:t>
                      </a:r>
                      <a:r>
                        <a:rPr lang="zh-CN" sz="1000" kern="100" dirty="0">
                          <a:effectLst/>
                          <a:latin typeface="微软雅黑" pitchFamily="34" charset="-122"/>
                          <a:ea typeface="微软雅黑" pitchFamily="34" charset="-122"/>
                        </a:rPr>
                        <a:t>明确各店的目标完成情况，清晰各店各区域的销售进度以便及时跟进目标的</a:t>
                      </a:r>
                      <a:r>
                        <a:rPr lang="zh-CN" sz="1000" kern="100" dirty="0" smtClean="0">
                          <a:effectLst/>
                          <a:latin typeface="微软雅黑" pitchFamily="34" charset="-122"/>
                          <a:ea typeface="微软雅黑" pitchFamily="34" charset="-122"/>
                        </a:rPr>
                        <a:t>完成</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a:effectLst/>
                          <a:latin typeface="微软雅黑" pitchFamily="34" charset="-122"/>
                          <a:ea typeface="微软雅黑" pitchFamily="34" charset="-122"/>
                        </a:rPr>
                        <a:t>每日更新发送</a:t>
                      </a:r>
                      <a:endParaRPr lang="zh-CN" sz="1000" kern="100">
                        <a:effectLst/>
                        <a:latin typeface="微软雅黑" pitchFamily="34" charset="-122"/>
                        <a:ea typeface="微软雅黑" pitchFamily="34" charset="-122"/>
                        <a:cs typeface="Times New Roman"/>
                      </a:endParaRPr>
                    </a:p>
                  </a:txBody>
                  <a:tcPr marL="50288" marR="50288" marT="0" marB="0" anchor="ctr"/>
                </a:tc>
              </a:tr>
              <a:tr h="681050">
                <a:tc>
                  <a:txBody>
                    <a:bodyPr/>
                    <a:lstStyle/>
                    <a:p>
                      <a:pPr algn="ctr">
                        <a:spcAft>
                          <a:spcPts val="0"/>
                        </a:spcAft>
                      </a:pPr>
                      <a:r>
                        <a:rPr lang="en-US" sz="1000" kern="100">
                          <a:effectLst/>
                          <a:latin typeface="微软雅黑" pitchFamily="34" charset="-122"/>
                          <a:ea typeface="微软雅黑" pitchFamily="34" charset="-122"/>
                        </a:rPr>
                        <a:t>2</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a:effectLst/>
                          <a:latin typeface="微软雅黑" pitchFamily="34" charset="-122"/>
                          <a:ea typeface="微软雅黑" pitchFamily="34" charset="-122"/>
                        </a:rPr>
                        <a:t>各季节货品的配发</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在开季前和店长、片管沟通货品的上货波段及配发</a:t>
                      </a:r>
                      <a:r>
                        <a:rPr lang="zh-CN" sz="1000" kern="100" dirty="0" smtClean="0">
                          <a:effectLst/>
                          <a:latin typeface="微软雅黑" pitchFamily="34" charset="-122"/>
                          <a:ea typeface="微软雅黑" pitchFamily="34" charset="-122"/>
                        </a:rPr>
                        <a:t>比例</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各季节的货品，依据上货规划对所有的货品按批次进行配发</a:t>
                      </a:r>
                    </a:p>
                    <a:p>
                      <a:pPr marL="171450" lvl="0" indent="-171450" algn="l">
                        <a:spcAft>
                          <a:spcPts val="0"/>
                        </a:spcAft>
                        <a:buFont typeface="Wingdings" pitchFamily="2" charset="2"/>
                        <a:buChar char="l"/>
                      </a:pPr>
                      <a:r>
                        <a:rPr lang="zh-CN" sz="1000" kern="100" dirty="0" smtClean="0">
                          <a:effectLst/>
                          <a:latin typeface="微软雅黑" pitchFamily="34" charset="-122"/>
                          <a:ea typeface="微软雅黑" pitchFamily="34" charset="-122"/>
                        </a:rPr>
                        <a:t>旧</a:t>
                      </a:r>
                      <a:r>
                        <a:rPr lang="zh-CN" sz="1000" kern="100" dirty="0">
                          <a:effectLst/>
                          <a:latin typeface="微软雅黑" pitchFamily="34" charset="-122"/>
                          <a:ea typeface="微软雅黑" pitchFamily="34" charset="-122"/>
                        </a:rPr>
                        <a:t>款在上新款前一周进行明细的分配，配货通知单导入并进行配发到店</a:t>
                      </a: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收集新品到店的表现</a:t>
                      </a:r>
                      <a:r>
                        <a:rPr lang="zh-CN" sz="1000" kern="100" dirty="0" smtClean="0">
                          <a:effectLst/>
                          <a:latin typeface="微软雅黑" pitchFamily="34" charset="-122"/>
                          <a:ea typeface="微软雅黑" pitchFamily="34" charset="-122"/>
                        </a:rPr>
                        <a:t>状况</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每季开季前及季中货品执行</a:t>
                      </a:r>
                      <a:endParaRPr lang="zh-CN" sz="1000" kern="100" dirty="0">
                        <a:effectLst/>
                        <a:latin typeface="微软雅黑" pitchFamily="34" charset="-122"/>
                        <a:ea typeface="微软雅黑" pitchFamily="34" charset="-122"/>
                        <a:cs typeface="Times New Roman"/>
                      </a:endParaRPr>
                    </a:p>
                  </a:txBody>
                  <a:tcPr marL="50288" marR="50288" marT="0" marB="0" anchor="ctr"/>
                </a:tc>
              </a:tr>
              <a:tr h="648072">
                <a:tc>
                  <a:txBody>
                    <a:bodyPr/>
                    <a:lstStyle/>
                    <a:p>
                      <a:pPr algn="ctr">
                        <a:spcAft>
                          <a:spcPts val="0"/>
                        </a:spcAft>
                      </a:pPr>
                      <a:r>
                        <a:rPr lang="en-US" sz="1000" kern="100">
                          <a:effectLst/>
                          <a:latin typeface="微软雅黑" pitchFamily="34" charset="-122"/>
                          <a:ea typeface="微软雅黑" pitchFamily="34" charset="-122"/>
                        </a:rPr>
                        <a:t>3</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a:effectLst/>
                          <a:latin typeface="微软雅黑" pitchFamily="34" charset="-122"/>
                          <a:ea typeface="微软雅黑" pitchFamily="34" charset="-122"/>
                        </a:rPr>
                        <a:t>货品调价的跟进</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分析预估制订旧款货品的上货计划，并跟进执行</a:t>
                      </a:r>
                      <a:r>
                        <a:rPr lang="zh-CN" sz="1000" kern="100" dirty="0" smtClean="0">
                          <a:effectLst/>
                          <a:latin typeface="微软雅黑" pitchFamily="34" charset="-122"/>
                          <a:ea typeface="微软雅黑" pitchFamily="34" charset="-122"/>
                        </a:rPr>
                        <a:t>情况</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对需要配发的货品在货品配发前三天将销售价格报上级批准后，并于货品到店前通知财务部和店铺店长。（以库龄为主要参考指标，并结合库存状况订价）</a:t>
                      </a: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对新款货品，关注新款的畅滞销状况，制订调价申请并</a:t>
                      </a:r>
                      <a:r>
                        <a:rPr lang="zh-CN" sz="1000" kern="100" dirty="0" smtClean="0">
                          <a:effectLst/>
                          <a:latin typeface="微软雅黑" pitchFamily="34" charset="-122"/>
                          <a:ea typeface="微软雅黑" pitchFamily="34" charset="-122"/>
                        </a:rPr>
                        <a:t>报批</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日常执行</a:t>
                      </a:r>
                      <a:endParaRPr lang="zh-CN" sz="1000" kern="100" dirty="0">
                        <a:effectLst/>
                        <a:latin typeface="微软雅黑" pitchFamily="34" charset="-122"/>
                        <a:ea typeface="微软雅黑" pitchFamily="34" charset="-122"/>
                        <a:cs typeface="Times New Roman"/>
                      </a:endParaRPr>
                    </a:p>
                  </a:txBody>
                  <a:tcPr marL="50288" marR="50288" marT="0" marB="0" anchor="ctr"/>
                </a:tc>
              </a:tr>
              <a:tr h="1008112">
                <a:tc>
                  <a:txBody>
                    <a:bodyPr/>
                    <a:lstStyle/>
                    <a:p>
                      <a:pPr algn="ctr">
                        <a:spcAft>
                          <a:spcPts val="0"/>
                        </a:spcAft>
                      </a:pPr>
                      <a:r>
                        <a:rPr lang="en-US" sz="1000" kern="100">
                          <a:effectLst/>
                          <a:latin typeface="微软雅黑" pitchFamily="34" charset="-122"/>
                          <a:ea typeface="微软雅黑" pitchFamily="34" charset="-122"/>
                        </a:rPr>
                        <a:t>4</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a:effectLst/>
                          <a:latin typeface="微软雅黑" pitchFamily="34" charset="-122"/>
                          <a:ea typeface="微软雅黑" pitchFamily="34" charset="-122"/>
                        </a:rPr>
                        <a:t>各季节货品调配、整合 </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依据店铺的货品总销售、周销售对货品进行整合，避免店铺残码，放置跑单，并制作每店整合货品</a:t>
                      </a:r>
                      <a:r>
                        <a:rPr lang="zh-CN" sz="1000" kern="100" dirty="0" smtClean="0">
                          <a:effectLst/>
                          <a:latin typeface="微软雅黑" pitchFamily="34" charset="-122"/>
                          <a:ea typeface="微软雅黑" pitchFamily="34" charset="-122"/>
                        </a:rPr>
                        <a:t>明细</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将货品整合明细单下发至各店铺店</a:t>
                      </a:r>
                      <a:r>
                        <a:rPr lang="zh-CN" sz="1000" kern="100" dirty="0" smtClean="0">
                          <a:effectLst/>
                          <a:latin typeface="微软雅黑" pitchFamily="34" charset="-122"/>
                          <a:ea typeface="微软雅黑" pitchFamily="34" charset="-122"/>
                        </a:rPr>
                        <a:t>长</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货品整合明细单下发后三日跟进货品的到位情况并将异常反馈给直</a:t>
                      </a:r>
                      <a:r>
                        <a:rPr lang="zh-CN" sz="1000" kern="100" dirty="0" smtClean="0">
                          <a:effectLst/>
                          <a:latin typeface="微软雅黑" pitchFamily="34" charset="-122"/>
                          <a:ea typeface="微软雅黑" pitchFamily="34" charset="-122"/>
                        </a:rPr>
                        <a:t>营部</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对于店铺上货</a:t>
                      </a:r>
                      <a:r>
                        <a:rPr lang="en-US" sz="1000" kern="100" dirty="0">
                          <a:effectLst/>
                          <a:latin typeface="微软雅黑" pitchFamily="34" charset="-122"/>
                          <a:ea typeface="微软雅黑" pitchFamily="34" charset="-122"/>
                        </a:rPr>
                        <a:t>20</a:t>
                      </a:r>
                      <a:r>
                        <a:rPr lang="zh-CN" sz="1000" kern="100" dirty="0">
                          <a:effectLst/>
                          <a:latin typeface="微软雅黑" pitchFamily="34" charset="-122"/>
                          <a:ea typeface="微软雅黑" pitchFamily="34" charset="-122"/>
                        </a:rPr>
                        <a:t>天</a:t>
                      </a:r>
                      <a:r>
                        <a:rPr lang="en-US" sz="1000" kern="100" dirty="0">
                          <a:effectLst/>
                          <a:latin typeface="微软雅黑" pitchFamily="34" charset="-122"/>
                          <a:ea typeface="微软雅黑" pitchFamily="34" charset="-122"/>
                        </a:rPr>
                        <a:t>--30</a:t>
                      </a:r>
                      <a:r>
                        <a:rPr lang="zh-CN" sz="1000" kern="100" dirty="0">
                          <a:effectLst/>
                          <a:latin typeface="微软雅黑" pitchFamily="34" charset="-122"/>
                          <a:ea typeface="微软雅黑" pitchFamily="34" charset="-122"/>
                        </a:rPr>
                        <a:t>天以上的款式，若未产生销售，及时与店长沟通并调配其他店铺，以加速货品的流速流向，提高直营货品</a:t>
                      </a:r>
                      <a:r>
                        <a:rPr lang="zh-CN" sz="1000" kern="100" dirty="0" smtClean="0">
                          <a:effectLst/>
                          <a:latin typeface="微软雅黑" pitchFamily="34" charset="-122"/>
                          <a:ea typeface="微软雅黑" pitchFamily="34" charset="-122"/>
                        </a:rPr>
                        <a:t>售罄</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每周进行执行</a:t>
                      </a:r>
                      <a:endParaRPr lang="zh-CN" sz="1000" kern="100" dirty="0">
                        <a:effectLst/>
                        <a:latin typeface="微软雅黑" pitchFamily="34" charset="-122"/>
                        <a:ea typeface="微软雅黑" pitchFamily="34" charset="-122"/>
                        <a:cs typeface="Times New Roman"/>
                      </a:endParaRPr>
                    </a:p>
                  </a:txBody>
                  <a:tcPr marL="50288" marR="50288" marT="0" marB="0" anchor="ctr"/>
                </a:tc>
              </a:tr>
              <a:tr h="720080">
                <a:tc>
                  <a:txBody>
                    <a:bodyPr/>
                    <a:lstStyle/>
                    <a:p>
                      <a:pPr algn="ctr">
                        <a:spcAft>
                          <a:spcPts val="0"/>
                        </a:spcAft>
                      </a:pPr>
                      <a:r>
                        <a:rPr lang="en-US" sz="1000" kern="100">
                          <a:effectLst/>
                          <a:latin typeface="微软雅黑" pitchFamily="34" charset="-122"/>
                          <a:ea typeface="微软雅黑" pitchFamily="34" charset="-122"/>
                        </a:rPr>
                        <a:t>5</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a:effectLst/>
                          <a:latin typeface="微软雅黑" pitchFamily="34" charset="-122"/>
                          <a:ea typeface="微软雅黑" pitchFamily="34" charset="-122"/>
                        </a:rPr>
                        <a:t>直营春夏、秋冬订货规划 </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每次</a:t>
                      </a:r>
                      <a:r>
                        <a:rPr lang="zh-CN" sz="1000" kern="100" dirty="0" smtClean="0">
                          <a:effectLst/>
                          <a:latin typeface="微软雅黑" pitchFamily="34" charset="-122"/>
                          <a:ea typeface="微软雅黑" pitchFamily="34" charset="-122"/>
                        </a:rPr>
                        <a:t>订货会</a:t>
                      </a:r>
                      <a:r>
                        <a:rPr lang="zh-CN" altLang="en-US" sz="1000" kern="100" dirty="0" smtClean="0">
                          <a:effectLst/>
                          <a:latin typeface="微软雅黑" pitchFamily="34" charset="-122"/>
                          <a:ea typeface="微软雅黑" pitchFamily="34" charset="-122"/>
                        </a:rPr>
                        <a:t>组织直营各区域货品选样工作</a:t>
                      </a:r>
                      <a:endParaRPr lang="en-US" altLang="zh-CN" sz="1000" kern="100" dirty="0" smtClean="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smtClean="0">
                          <a:effectLst/>
                          <a:latin typeface="微软雅黑" pitchFamily="34" charset="-122"/>
                          <a:ea typeface="微软雅黑" pitchFamily="34" charset="-122"/>
                        </a:rPr>
                        <a:t>依据</a:t>
                      </a:r>
                      <a:r>
                        <a:rPr lang="zh-CN" sz="1000" kern="100" dirty="0">
                          <a:effectLst/>
                          <a:latin typeface="微软雅黑" pitchFamily="34" charset="-122"/>
                          <a:ea typeface="微软雅黑" pitchFamily="34" charset="-122"/>
                        </a:rPr>
                        <a:t>直营各店目标、实际销售、陈列面、风格、库存及选样会开发资料等进行各</a:t>
                      </a:r>
                      <a:r>
                        <a:rPr lang="zh-CN" sz="1000" kern="100" dirty="0" smtClean="0">
                          <a:effectLst/>
                          <a:latin typeface="微软雅黑" pitchFamily="34" charset="-122"/>
                          <a:ea typeface="微软雅黑" pitchFamily="34" charset="-122"/>
                        </a:rPr>
                        <a:t>店</a:t>
                      </a:r>
                      <a:r>
                        <a:rPr lang="zh-CN" altLang="en-US" sz="1000" kern="100" dirty="0" smtClean="0">
                          <a:effectLst/>
                          <a:latin typeface="微软雅黑" pitchFamily="34" charset="-122"/>
                          <a:ea typeface="微软雅黑" pitchFamily="34" charset="-122"/>
                        </a:rPr>
                        <a:t>选样</a:t>
                      </a:r>
                      <a:r>
                        <a:rPr lang="zh-CN" sz="1000" kern="100" dirty="0" smtClean="0">
                          <a:effectLst/>
                          <a:latin typeface="微软雅黑" pitchFamily="34" charset="-122"/>
                          <a:ea typeface="微软雅黑" pitchFamily="34" charset="-122"/>
                        </a:rPr>
                        <a:t>规划</a:t>
                      </a:r>
                      <a:r>
                        <a:rPr lang="zh-CN" sz="1000" kern="100" dirty="0">
                          <a:effectLst/>
                          <a:latin typeface="微软雅黑" pitchFamily="34" charset="-122"/>
                          <a:ea typeface="微软雅黑" pitchFamily="34" charset="-122"/>
                        </a:rPr>
                        <a:t>，确定出合理</a:t>
                      </a:r>
                      <a:r>
                        <a:rPr lang="zh-CN" sz="1000" kern="100" dirty="0" smtClean="0">
                          <a:effectLst/>
                          <a:latin typeface="微软雅黑" pitchFamily="34" charset="-122"/>
                          <a:ea typeface="微软雅黑" pitchFamily="34" charset="-122"/>
                        </a:rPr>
                        <a:t>的</a:t>
                      </a:r>
                      <a:r>
                        <a:rPr lang="zh-CN" altLang="en-US" sz="1000" kern="100" dirty="0" smtClean="0">
                          <a:effectLst/>
                          <a:latin typeface="微软雅黑" pitchFamily="34" charset="-122"/>
                          <a:ea typeface="微软雅黑" pitchFamily="34" charset="-122"/>
                        </a:rPr>
                        <a:t>上货目标</a:t>
                      </a:r>
                      <a:r>
                        <a:rPr lang="zh-CN" sz="1000" kern="100" dirty="0" smtClean="0">
                          <a:effectLst/>
                          <a:latin typeface="微软雅黑" pitchFamily="34" charset="-122"/>
                          <a:ea typeface="微软雅黑" pitchFamily="34" charset="-122"/>
                        </a:rPr>
                        <a:t>及</a:t>
                      </a:r>
                      <a:r>
                        <a:rPr lang="zh-CN" sz="1000" kern="100" dirty="0">
                          <a:effectLst/>
                          <a:latin typeface="微软雅黑" pitchFamily="34" charset="-122"/>
                          <a:ea typeface="微软雅黑" pitchFamily="34" charset="-122"/>
                        </a:rPr>
                        <a:t>各款式</a:t>
                      </a:r>
                      <a:r>
                        <a:rPr lang="en-US" sz="1000" kern="100" dirty="0">
                          <a:effectLst/>
                          <a:latin typeface="微软雅黑" pitchFamily="34" charset="-122"/>
                          <a:ea typeface="微软雅黑" pitchFamily="34" charset="-122"/>
                        </a:rPr>
                        <a:t>SKU</a:t>
                      </a:r>
                      <a:r>
                        <a:rPr lang="zh-CN" sz="1000" kern="100" dirty="0">
                          <a:effectLst/>
                          <a:latin typeface="微软雅黑" pitchFamily="34" charset="-122"/>
                          <a:ea typeface="微软雅黑" pitchFamily="34" charset="-122"/>
                        </a:rPr>
                        <a:t>、数量</a:t>
                      </a:r>
                      <a:r>
                        <a:rPr lang="zh-CN" sz="1000" kern="100" dirty="0" smtClean="0">
                          <a:effectLst/>
                          <a:latin typeface="微软雅黑" pitchFamily="34" charset="-122"/>
                          <a:ea typeface="微软雅黑" pitchFamily="34" charset="-122"/>
                        </a:rPr>
                        <a:t>、等</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smtClean="0">
                          <a:effectLst/>
                          <a:latin typeface="微软雅黑" pitchFamily="34" charset="-122"/>
                          <a:ea typeface="微软雅黑" pitchFamily="34" charset="-122"/>
                        </a:rPr>
                        <a:t>在</a:t>
                      </a:r>
                      <a:r>
                        <a:rPr lang="zh-CN" sz="1000" kern="100" dirty="0">
                          <a:effectLst/>
                          <a:latin typeface="微软雅黑" pitchFamily="34" charset="-122"/>
                          <a:ea typeface="微软雅黑" pitchFamily="34" charset="-122"/>
                        </a:rPr>
                        <a:t>订货会期间负责跟进直营店铺的订单录入、订单总量的</a:t>
                      </a:r>
                      <a:r>
                        <a:rPr lang="zh-CN" sz="1000" kern="100" dirty="0" smtClean="0">
                          <a:effectLst/>
                          <a:latin typeface="微软雅黑" pitchFamily="34" charset="-122"/>
                          <a:ea typeface="微软雅黑" pitchFamily="34" charset="-122"/>
                        </a:rPr>
                        <a:t>核定</a:t>
                      </a:r>
                      <a:endParaRPr lang="zh-CN" sz="1000" kern="100" dirty="0">
                        <a:effectLst/>
                        <a:latin typeface="微软雅黑" pitchFamily="34" charset="-122"/>
                        <a:ea typeface="微软雅黑" pitchFamily="34" charset="-122"/>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订货会期间执行</a:t>
                      </a:r>
                      <a:endParaRPr lang="zh-CN" sz="1000" kern="100" dirty="0">
                        <a:effectLst/>
                        <a:latin typeface="微软雅黑" pitchFamily="34" charset="-122"/>
                        <a:ea typeface="微软雅黑" pitchFamily="34" charset="-122"/>
                        <a:cs typeface="Times New Roman"/>
                      </a:endParaRPr>
                    </a:p>
                  </a:txBody>
                  <a:tcPr marL="50288" marR="50288" marT="0" marB="0" anchor="ctr"/>
                </a:tc>
              </a:tr>
              <a:tr h="580473">
                <a:tc>
                  <a:txBody>
                    <a:bodyPr/>
                    <a:lstStyle/>
                    <a:p>
                      <a:pPr algn="ctr">
                        <a:spcAft>
                          <a:spcPts val="0"/>
                        </a:spcAft>
                      </a:pPr>
                      <a:r>
                        <a:rPr lang="en-US" sz="1000" kern="100">
                          <a:effectLst/>
                          <a:latin typeface="微软雅黑" pitchFamily="34" charset="-122"/>
                          <a:ea typeface="微软雅黑" pitchFamily="34" charset="-122"/>
                        </a:rPr>
                        <a:t>6</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a:effectLst/>
                          <a:latin typeface="微软雅黑" pitchFamily="34" charset="-122"/>
                          <a:ea typeface="微软雅黑" pitchFamily="34" charset="-122"/>
                        </a:rPr>
                        <a:t>过季货品返货安排及跟进 </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针对过季的货品和物流、直营相关人员协商货品的返仓</a:t>
                      </a:r>
                      <a:r>
                        <a:rPr lang="zh-CN" sz="1000" kern="100" dirty="0" smtClean="0">
                          <a:effectLst/>
                          <a:latin typeface="微软雅黑" pitchFamily="34" charset="-122"/>
                          <a:ea typeface="微软雅黑" pitchFamily="34" charset="-122"/>
                        </a:rPr>
                        <a:t>计划</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将货品返货计划下发至店铺，并跟进店铺的打包</a:t>
                      </a:r>
                      <a:r>
                        <a:rPr lang="zh-CN" sz="1000" kern="100" dirty="0" smtClean="0">
                          <a:effectLst/>
                          <a:latin typeface="微软雅黑" pitchFamily="34" charset="-122"/>
                          <a:ea typeface="微软雅黑" pitchFamily="34" charset="-122"/>
                        </a:rPr>
                        <a:t>情况</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跟进各店铺的返货单录入情况，监督返货款</a:t>
                      </a:r>
                      <a:r>
                        <a:rPr lang="zh-CN" sz="1000" kern="100" dirty="0" smtClean="0">
                          <a:effectLst/>
                          <a:latin typeface="微软雅黑" pitchFamily="34" charset="-122"/>
                          <a:ea typeface="微软雅黑" pitchFamily="34" charset="-122"/>
                        </a:rPr>
                        <a:t>号</a:t>
                      </a:r>
                      <a:endParaRPr lang="en-US" altLang="zh-CN" sz="1000" kern="100" dirty="0" smtClean="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smtClean="0">
                          <a:effectLst/>
                          <a:latin typeface="微软雅黑" pitchFamily="34" charset="-122"/>
                          <a:ea typeface="微软雅黑" pitchFamily="34" charset="-122"/>
                        </a:rPr>
                        <a:t>通知</a:t>
                      </a:r>
                      <a:r>
                        <a:rPr lang="zh-CN" sz="1000" kern="100" dirty="0">
                          <a:effectLst/>
                          <a:latin typeface="微软雅黑" pitchFamily="34" charset="-122"/>
                          <a:ea typeface="微软雅黑" pitchFamily="34" charset="-122"/>
                        </a:rPr>
                        <a:t>物流各店货品的打包情况，并跟进货品的返仓</a:t>
                      </a:r>
                      <a:r>
                        <a:rPr lang="zh-CN" sz="1000" kern="100" dirty="0" smtClean="0">
                          <a:effectLst/>
                          <a:latin typeface="微软雅黑" pitchFamily="34" charset="-122"/>
                          <a:ea typeface="微软雅黑" pitchFamily="34" charset="-122"/>
                        </a:rPr>
                        <a:t>进度</a:t>
                      </a:r>
                      <a:endParaRPr lang="zh-CN" sz="10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000" kern="100" dirty="0">
                          <a:effectLst/>
                          <a:latin typeface="微软雅黑" pitchFamily="34" charset="-122"/>
                          <a:ea typeface="微软雅黑" pitchFamily="34" charset="-122"/>
                        </a:rPr>
                        <a:t>跟进仓库的验收情况，监督反馈货品的差异</a:t>
                      </a:r>
                      <a:r>
                        <a:rPr lang="zh-CN" sz="1000" kern="100" dirty="0" smtClean="0">
                          <a:effectLst/>
                          <a:latin typeface="微软雅黑" pitchFamily="34" charset="-122"/>
                          <a:ea typeface="微软雅黑" pitchFamily="34" charset="-122"/>
                        </a:rPr>
                        <a:t>状况</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每次返货期间</a:t>
                      </a:r>
                      <a:endParaRPr lang="zh-CN" sz="1000" kern="100" dirty="0">
                        <a:effectLst/>
                        <a:latin typeface="微软雅黑" pitchFamily="34" charset="-122"/>
                        <a:ea typeface="微软雅黑" pitchFamily="34" charset="-122"/>
                        <a:cs typeface="Times New Roman"/>
                      </a:endParaRPr>
                    </a:p>
                  </a:txBody>
                  <a:tcPr marL="50288" marR="50288" marT="0" marB="0" anchor="ctr"/>
                </a:tc>
              </a:tr>
              <a:tr h="534144">
                <a:tc>
                  <a:txBody>
                    <a:bodyPr/>
                    <a:lstStyle/>
                    <a:p>
                      <a:pPr algn="ctr">
                        <a:spcAft>
                          <a:spcPts val="0"/>
                        </a:spcAft>
                      </a:pPr>
                      <a:r>
                        <a:rPr lang="en-US" sz="1000" kern="100">
                          <a:effectLst/>
                          <a:latin typeface="微软雅黑" pitchFamily="34" charset="-122"/>
                          <a:ea typeface="微软雅黑" pitchFamily="34" charset="-122"/>
                        </a:rPr>
                        <a:t>7</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a:effectLst/>
                          <a:latin typeface="微软雅黑" pitchFamily="34" charset="-122"/>
                          <a:ea typeface="微软雅黑" pitchFamily="34" charset="-122"/>
                        </a:rPr>
                        <a:t>直营各季畅、滞销货品分析、熟悉，销售跟进</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在新品上市</a:t>
                      </a:r>
                      <a:r>
                        <a:rPr lang="en-US" sz="1000" kern="100" dirty="0">
                          <a:effectLst/>
                          <a:latin typeface="微软雅黑" pitchFamily="34" charset="-122"/>
                          <a:ea typeface="微软雅黑" pitchFamily="34" charset="-122"/>
                        </a:rPr>
                        <a:t>15</a:t>
                      </a:r>
                      <a:r>
                        <a:rPr lang="zh-CN" sz="1000" kern="100" dirty="0">
                          <a:effectLst/>
                          <a:latin typeface="微软雅黑" pitchFamily="34" charset="-122"/>
                          <a:ea typeface="微软雅黑" pitchFamily="34" charset="-122"/>
                        </a:rPr>
                        <a:t>天以后，每周三或周四关注个款式的货品销售表现情况，对于销售较好的及时补单或找替代性货品，对于滞销的款式及时</a:t>
                      </a:r>
                      <a:r>
                        <a:rPr lang="zh-CN" sz="1000" kern="100" dirty="0" smtClean="0">
                          <a:effectLst/>
                          <a:latin typeface="微软雅黑" pitchFamily="34" charset="-122"/>
                          <a:ea typeface="微软雅黑" pitchFamily="34" charset="-122"/>
                        </a:rPr>
                        <a:t>与</a:t>
                      </a:r>
                      <a:r>
                        <a:rPr lang="zh-CN" altLang="en-US" sz="1000" kern="100" dirty="0" smtClean="0">
                          <a:effectLst/>
                          <a:latin typeface="微软雅黑" pitchFamily="34" charset="-122"/>
                          <a:ea typeface="微软雅黑" pitchFamily="34" charset="-122"/>
                        </a:rPr>
                        <a:t>货品督导</a:t>
                      </a:r>
                      <a:r>
                        <a:rPr lang="zh-CN" sz="1000" kern="100" dirty="0" smtClean="0">
                          <a:effectLst/>
                          <a:latin typeface="微软雅黑" pitchFamily="34" charset="-122"/>
                          <a:ea typeface="微软雅黑" pitchFamily="34" charset="-122"/>
                        </a:rPr>
                        <a:t>联系</a:t>
                      </a:r>
                      <a:r>
                        <a:rPr lang="zh-CN" sz="1000" kern="100" dirty="0">
                          <a:effectLst/>
                          <a:latin typeface="微软雅黑" pitchFamily="34" charset="-122"/>
                          <a:ea typeface="微软雅黑" pitchFamily="34" charset="-122"/>
                        </a:rPr>
                        <a:t>，</a:t>
                      </a:r>
                      <a:r>
                        <a:rPr lang="zh-CN" sz="1000" kern="100" dirty="0" smtClean="0">
                          <a:effectLst/>
                          <a:latin typeface="微软雅黑" pitchFamily="34" charset="-122"/>
                          <a:ea typeface="微软雅黑" pitchFamily="34" charset="-122"/>
                        </a:rPr>
                        <a:t>进行</a:t>
                      </a:r>
                      <a:r>
                        <a:rPr lang="zh-CN" altLang="en-US" sz="1000" kern="100" dirty="0" smtClean="0">
                          <a:effectLst/>
                          <a:latin typeface="微软雅黑" pitchFamily="34" charset="-122"/>
                          <a:ea typeface="微软雅黑" pitchFamily="34" charset="-122"/>
                        </a:rPr>
                        <a:t>主推陈列调整并</a:t>
                      </a:r>
                      <a:r>
                        <a:rPr lang="zh-CN" sz="1000" kern="100" dirty="0" smtClean="0">
                          <a:effectLst/>
                          <a:latin typeface="微软雅黑" pitchFamily="34" charset="-122"/>
                          <a:ea typeface="微软雅黑" pitchFamily="34" charset="-122"/>
                        </a:rPr>
                        <a:t>及时</a:t>
                      </a:r>
                      <a:r>
                        <a:rPr lang="zh-CN" sz="1000" kern="100" dirty="0">
                          <a:effectLst/>
                          <a:latin typeface="微软雅黑" pitchFamily="34" charset="-122"/>
                          <a:ea typeface="微软雅黑" pitchFamily="34" charset="-122"/>
                        </a:rPr>
                        <a:t>跟进</a:t>
                      </a:r>
                      <a:r>
                        <a:rPr lang="zh-CN" sz="1000" kern="100" dirty="0" smtClean="0">
                          <a:effectLst/>
                          <a:latin typeface="微软雅黑" pitchFamily="34" charset="-122"/>
                          <a:ea typeface="微软雅黑" pitchFamily="34" charset="-122"/>
                        </a:rPr>
                        <a:t>销售</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每周定期有效执行</a:t>
                      </a:r>
                      <a:endParaRPr lang="zh-CN" sz="1000" kern="100" dirty="0">
                        <a:effectLst/>
                        <a:latin typeface="微软雅黑" pitchFamily="34" charset="-122"/>
                        <a:ea typeface="微软雅黑" pitchFamily="34" charset="-122"/>
                        <a:cs typeface="Times New Roman"/>
                      </a:endParaRPr>
                    </a:p>
                  </a:txBody>
                  <a:tcPr marL="50288" marR="50288" marT="0" marB="0" anchor="ctr"/>
                </a:tc>
              </a:tr>
              <a:tr h="348284">
                <a:tc>
                  <a:txBody>
                    <a:bodyPr/>
                    <a:lstStyle/>
                    <a:p>
                      <a:pPr algn="ctr">
                        <a:spcAft>
                          <a:spcPts val="0"/>
                        </a:spcAft>
                      </a:pPr>
                      <a:r>
                        <a:rPr lang="en-US" sz="1000" kern="100">
                          <a:effectLst/>
                          <a:latin typeface="微软雅黑" pitchFamily="34" charset="-122"/>
                          <a:ea typeface="微软雅黑" pitchFamily="34" charset="-122"/>
                        </a:rPr>
                        <a:t>8</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a:effectLst/>
                          <a:latin typeface="微软雅黑" pitchFamily="34" charset="-122"/>
                          <a:ea typeface="微软雅黑" pitchFamily="34" charset="-122"/>
                        </a:rPr>
                        <a:t>直营周销售分析</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每周一或周二直营周报表的分析，对于出现异常数据的店铺及时关注，沟通问题，对于货品的问题及时进行调整并</a:t>
                      </a:r>
                      <a:r>
                        <a:rPr lang="zh-CN" sz="1000" kern="100" dirty="0" smtClean="0">
                          <a:effectLst/>
                          <a:latin typeface="微软雅黑" pitchFamily="34" charset="-122"/>
                          <a:ea typeface="微软雅黑" pitchFamily="34" charset="-122"/>
                        </a:rPr>
                        <a:t>跟进</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每周定期有效执行</a:t>
                      </a:r>
                      <a:endParaRPr lang="zh-CN" sz="1000" kern="100" dirty="0">
                        <a:effectLst/>
                        <a:latin typeface="微软雅黑" pitchFamily="34" charset="-122"/>
                        <a:ea typeface="微软雅黑" pitchFamily="34" charset="-122"/>
                        <a:cs typeface="Times New Roman"/>
                      </a:endParaRPr>
                    </a:p>
                  </a:txBody>
                  <a:tcPr marL="50288" marR="50288" marT="0" marB="0" anchor="ctr"/>
                </a:tc>
              </a:tr>
              <a:tr h="232189">
                <a:tc>
                  <a:txBody>
                    <a:bodyPr/>
                    <a:lstStyle/>
                    <a:p>
                      <a:pPr algn="ctr">
                        <a:spcAft>
                          <a:spcPts val="0"/>
                        </a:spcAft>
                      </a:pPr>
                      <a:r>
                        <a:rPr lang="en-US" sz="1000" kern="100" dirty="0" smtClean="0">
                          <a:effectLst/>
                          <a:latin typeface="微软雅黑" pitchFamily="34" charset="-122"/>
                          <a:ea typeface="微软雅黑" pitchFamily="34" charset="-122"/>
                        </a:rPr>
                        <a:t>9</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完成上级主管的其他工作 </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marL="171450" indent="-171450" algn="l">
                        <a:spcAft>
                          <a:spcPts val="0"/>
                        </a:spcAft>
                        <a:buFont typeface="Wingdings" pitchFamily="2" charset="2"/>
                        <a:buChar char="l"/>
                      </a:pPr>
                      <a:r>
                        <a:rPr lang="zh-CN" sz="1000" kern="100" dirty="0">
                          <a:effectLst/>
                          <a:latin typeface="微软雅黑" pitchFamily="34" charset="-122"/>
                          <a:ea typeface="微软雅黑" pitchFamily="34" charset="-122"/>
                        </a:rPr>
                        <a:t>服从上级领导的管理，接受上级领导临时布置的各项工作指令，做到合理、适宜的工作安排，达到及时、有效完成</a:t>
                      </a:r>
                      <a:r>
                        <a:rPr lang="zh-CN" sz="1000" kern="100" dirty="0" smtClean="0">
                          <a:effectLst/>
                          <a:latin typeface="微软雅黑" pitchFamily="34" charset="-122"/>
                          <a:ea typeface="微软雅黑" pitchFamily="34" charset="-122"/>
                        </a:rPr>
                        <a:t>任务</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日常执行</a:t>
                      </a:r>
                      <a:endParaRPr lang="zh-CN" sz="1000" kern="100" dirty="0">
                        <a:effectLst/>
                        <a:latin typeface="微软雅黑" pitchFamily="34" charset="-122"/>
                        <a:ea typeface="微软雅黑" pitchFamily="34" charset="-122"/>
                        <a:cs typeface="Times New Roman"/>
                      </a:endParaRPr>
                    </a:p>
                  </a:txBody>
                  <a:tcPr marL="50288" marR="50288" marT="0" marB="0" anchor="ctr"/>
                </a:tc>
              </a:tr>
            </a:tbl>
          </a:graphicData>
        </a:graphic>
      </p:graphicFrame>
      <p:sp>
        <p:nvSpPr>
          <p:cNvPr id="4" name="TextBox 3"/>
          <p:cNvSpPr txBox="1"/>
          <p:nvPr/>
        </p:nvSpPr>
        <p:spPr>
          <a:xfrm>
            <a:off x="251520" y="116632"/>
            <a:ext cx="352839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商品部职责</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直营商品组长</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6909744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352839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商品部职责</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采购组组长</a:t>
            </a:r>
            <a:endParaRPr lang="zh-CN" altLang="en-US" dirty="0">
              <a:latin typeface="微软雅黑" pitchFamily="34" charset="-122"/>
              <a:ea typeface="微软雅黑"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2100238705"/>
              </p:ext>
            </p:extLst>
          </p:nvPr>
        </p:nvGraphicFramePr>
        <p:xfrm>
          <a:off x="683568" y="578288"/>
          <a:ext cx="7776864" cy="5655921"/>
        </p:xfrm>
        <a:graphic>
          <a:graphicData uri="http://schemas.openxmlformats.org/drawingml/2006/table">
            <a:tbl>
              <a:tblPr firstRow="1" firstCol="1" bandRow="1">
                <a:tableStyleId>{5940675A-B579-460E-94D1-54222C63F5DA}</a:tableStyleId>
              </a:tblPr>
              <a:tblGrid>
                <a:gridCol w="420371"/>
                <a:gridCol w="1066584"/>
                <a:gridCol w="5497820"/>
                <a:gridCol w="792089"/>
              </a:tblGrid>
              <a:tr h="283748">
                <a:tc>
                  <a:txBody>
                    <a:bodyPr/>
                    <a:lstStyle/>
                    <a:p>
                      <a:pPr algn="ctr">
                        <a:spcAft>
                          <a:spcPts val="0"/>
                        </a:spcAft>
                      </a:pPr>
                      <a:r>
                        <a:rPr lang="zh-CN" sz="1000" kern="100" dirty="0">
                          <a:effectLst/>
                          <a:latin typeface="微软雅黑" pitchFamily="34" charset="-122"/>
                          <a:ea typeface="微软雅黑" pitchFamily="34" charset="-122"/>
                        </a:rPr>
                        <a:t>序号</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工作流程</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工作职责要求和标准</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marL="57150" indent="-57150" algn="ctr">
                        <a:spcAft>
                          <a:spcPts val="0"/>
                        </a:spcAft>
                      </a:pPr>
                      <a:r>
                        <a:rPr lang="zh-CN" sz="1000" kern="100">
                          <a:effectLst/>
                          <a:latin typeface="微软雅黑" pitchFamily="34" charset="-122"/>
                          <a:ea typeface="微软雅黑" pitchFamily="34" charset="-122"/>
                        </a:rPr>
                        <a:t>频次和时间</a:t>
                      </a:r>
                      <a:endParaRPr lang="zh-CN" sz="1000" kern="100">
                        <a:effectLst/>
                        <a:latin typeface="微软雅黑" pitchFamily="34" charset="-122"/>
                        <a:ea typeface="微软雅黑" pitchFamily="34" charset="-122"/>
                        <a:cs typeface="Times New Roman"/>
                      </a:endParaRPr>
                    </a:p>
                  </a:txBody>
                  <a:tcPr marL="50288" marR="50288" marT="0" marB="0" anchor="ctr"/>
                </a:tc>
              </a:tr>
              <a:tr h="766764">
                <a:tc>
                  <a:txBody>
                    <a:bodyPr/>
                    <a:lstStyle/>
                    <a:p>
                      <a:pPr algn="ctr">
                        <a:spcAft>
                          <a:spcPts val="0"/>
                        </a:spcAft>
                      </a:pPr>
                      <a:r>
                        <a:rPr lang="en-US" sz="1000" kern="100">
                          <a:effectLst/>
                          <a:latin typeface="微软雅黑" pitchFamily="34" charset="-122"/>
                          <a:ea typeface="微软雅黑" pitchFamily="34" charset="-122"/>
                        </a:rPr>
                        <a:t>1</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altLang="en-US" sz="1200" kern="100" dirty="0" smtClean="0">
                          <a:effectLst/>
                          <a:latin typeface="微软雅黑" pitchFamily="34" charset="-122"/>
                          <a:ea typeface="微软雅黑" pitchFamily="34" charset="-122"/>
                          <a:cs typeface="Times New Roman"/>
                        </a:rPr>
                        <a:t>期货采买</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marL="171450" indent="-171450">
                        <a:buFont typeface="Wingdings" pitchFamily="2" charset="2"/>
                        <a:buChar char="l"/>
                      </a:pPr>
                      <a:r>
                        <a:rPr lang="zh-CN" altLang="en-US" sz="1200" dirty="0" smtClean="0">
                          <a:latin typeface="微软雅黑" pitchFamily="34" charset="-122"/>
                          <a:ea typeface="微软雅黑" pitchFamily="34" charset="-122"/>
                        </a:rPr>
                        <a:t>总结上一年度货品采买与销售状况</a:t>
                      </a:r>
                      <a:endParaRPr lang="en-US" altLang="zh-CN" sz="1200" dirty="0" smtClean="0">
                        <a:latin typeface="微软雅黑" pitchFamily="34" charset="-122"/>
                        <a:ea typeface="微软雅黑" pitchFamily="34" charset="-122"/>
                      </a:endParaRPr>
                    </a:p>
                    <a:p>
                      <a:pPr marL="171450" indent="-171450">
                        <a:buFont typeface="Wingdings" pitchFamily="2" charset="2"/>
                        <a:buChar char="l"/>
                      </a:pPr>
                      <a:r>
                        <a:rPr lang="zh-CN" altLang="en-US" sz="1200" dirty="0" smtClean="0">
                          <a:latin typeface="微软雅黑" pitchFamily="34" charset="-122"/>
                          <a:ea typeface="微软雅黑" pitchFamily="34" charset="-122"/>
                        </a:rPr>
                        <a:t>制定本年度各季节的货品采买计划并跟进实际采买状况</a:t>
                      </a:r>
                      <a:endParaRPr lang="en-US" altLang="zh-CN" sz="1200" dirty="0" smtClean="0">
                        <a:latin typeface="微软雅黑" pitchFamily="34" charset="-122"/>
                        <a:ea typeface="微软雅黑" pitchFamily="34" charset="-122"/>
                      </a:endParaRPr>
                    </a:p>
                    <a:p>
                      <a:pPr marL="171450" indent="-171450">
                        <a:buFont typeface="Wingdings" pitchFamily="2" charset="2"/>
                        <a:buChar char="l"/>
                      </a:pPr>
                      <a:r>
                        <a:rPr lang="zh-CN" altLang="en-US" sz="1200" dirty="0" smtClean="0">
                          <a:latin typeface="微软雅黑" pitchFamily="34" charset="-122"/>
                          <a:ea typeface="微软雅黑" pitchFamily="34" charset="-122"/>
                        </a:rPr>
                        <a:t>总结每次采买状况，调整采买计划</a:t>
                      </a:r>
                      <a:endParaRPr lang="zh-CN" altLang="en-US" sz="1200" dirty="0">
                        <a:latin typeface="微软雅黑" pitchFamily="34" charset="-122"/>
                        <a:ea typeface="微软雅黑" pitchFamily="34" charset="-122"/>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订货会前与采买结束</a:t>
                      </a:r>
                      <a:endParaRPr lang="zh-CN" altLang="en-US" sz="1200" dirty="0">
                        <a:latin typeface="微软雅黑" pitchFamily="34" charset="-122"/>
                        <a:ea typeface="微软雅黑" pitchFamily="34" charset="-122"/>
                      </a:endParaRPr>
                    </a:p>
                  </a:txBody>
                  <a:tcPr marL="50288" marR="50288" marT="0" marB="0" anchor="ctr"/>
                </a:tc>
              </a:tr>
              <a:tr h="1008112">
                <a:tc>
                  <a:txBody>
                    <a:bodyPr/>
                    <a:lstStyle/>
                    <a:p>
                      <a:pPr algn="ctr">
                        <a:spcAft>
                          <a:spcPts val="0"/>
                        </a:spcAft>
                      </a:pPr>
                      <a:r>
                        <a:rPr lang="en-US" sz="1000" kern="100">
                          <a:effectLst/>
                          <a:latin typeface="微软雅黑" pitchFamily="34" charset="-122"/>
                          <a:ea typeface="微软雅黑" pitchFamily="34" charset="-122"/>
                        </a:rPr>
                        <a:t>2</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补充款式订货</a:t>
                      </a:r>
                      <a:endParaRPr lang="zh-CN" altLang="en-US" sz="1200" dirty="0">
                        <a:latin typeface="微软雅黑" pitchFamily="34" charset="-122"/>
                        <a:ea typeface="微软雅黑" pitchFamily="34" charset="-122"/>
                      </a:endParaRPr>
                    </a:p>
                  </a:txBody>
                  <a:tcPr marL="50288" marR="50288" marT="0" marB="0" anchor="ctr"/>
                </a:tc>
                <a:tc>
                  <a:txBody>
                    <a:bodyPr/>
                    <a:lstStyle/>
                    <a:p>
                      <a:pPr marL="171450" indent="-171450">
                        <a:buFont typeface="Wingdings" pitchFamily="2" charset="2"/>
                        <a:buChar char="l"/>
                      </a:pPr>
                      <a:r>
                        <a:rPr lang="zh-CN" altLang="en-US" sz="1200" dirty="0" smtClean="0">
                          <a:latin typeface="微软雅黑" pitchFamily="34" charset="-122"/>
                          <a:ea typeface="微软雅黑" pitchFamily="34" charset="-122"/>
                        </a:rPr>
                        <a:t>分销客户订货会前期的货品准备及分类</a:t>
                      </a:r>
                      <a:endParaRPr lang="en-US" altLang="zh-CN" sz="1200" dirty="0" smtClean="0">
                        <a:latin typeface="微软雅黑" pitchFamily="34" charset="-122"/>
                        <a:ea typeface="微软雅黑" pitchFamily="34" charset="-122"/>
                      </a:endParaRPr>
                    </a:p>
                    <a:p>
                      <a:pPr marL="171450" indent="-171450">
                        <a:buFont typeface="Wingdings" pitchFamily="2" charset="2"/>
                        <a:buChar char="l"/>
                      </a:pPr>
                      <a:r>
                        <a:rPr lang="zh-CN" altLang="en-US" sz="1200" dirty="0" smtClean="0">
                          <a:latin typeface="微软雅黑" pitchFamily="34" charset="-122"/>
                          <a:ea typeface="微软雅黑" pitchFamily="34" charset="-122"/>
                        </a:rPr>
                        <a:t>汇总客户订单并于初步采买对比</a:t>
                      </a:r>
                      <a:endParaRPr lang="en-US" altLang="zh-CN" sz="1200" dirty="0" smtClean="0">
                        <a:latin typeface="微软雅黑" pitchFamily="34" charset="-122"/>
                        <a:ea typeface="微软雅黑" pitchFamily="34" charset="-122"/>
                      </a:endParaRPr>
                    </a:p>
                    <a:p>
                      <a:pPr marL="171450" indent="-171450">
                        <a:buFont typeface="Wingdings" pitchFamily="2" charset="2"/>
                        <a:buChar char="l"/>
                      </a:pPr>
                      <a:r>
                        <a:rPr lang="zh-CN" altLang="en-US" sz="1200" dirty="0" smtClean="0">
                          <a:latin typeface="微软雅黑" pitchFamily="34" charset="-122"/>
                          <a:ea typeface="微软雅黑" pitchFamily="34" charset="-122"/>
                        </a:rPr>
                        <a:t>组织并实施对样品的分析，同时梳理加单款式及数量</a:t>
                      </a:r>
                      <a:endParaRPr lang="en-US" altLang="zh-CN" sz="1200" dirty="0" smtClean="0">
                        <a:latin typeface="微软雅黑" pitchFamily="34" charset="-122"/>
                        <a:ea typeface="微软雅黑" pitchFamily="34" charset="-122"/>
                      </a:endParaRPr>
                    </a:p>
                    <a:p>
                      <a:pPr marL="171450" indent="-171450">
                        <a:buFont typeface="Wingdings" pitchFamily="2" charset="2"/>
                        <a:buChar char="l"/>
                      </a:pPr>
                      <a:r>
                        <a:rPr lang="zh-CN" altLang="en-US" sz="1200" dirty="0" smtClean="0">
                          <a:latin typeface="微软雅黑" pitchFamily="34" charset="-122"/>
                          <a:ea typeface="微软雅黑" pitchFamily="34" charset="-122"/>
                        </a:rPr>
                        <a:t>协调确定总公司加单款式的货期</a:t>
                      </a:r>
                      <a:endParaRPr lang="zh-CN" altLang="en-US" sz="1200" dirty="0">
                        <a:latin typeface="微软雅黑" pitchFamily="34" charset="-122"/>
                        <a:ea typeface="微软雅黑" pitchFamily="34" charset="-122"/>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分销订货会前与加单后</a:t>
                      </a:r>
                      <a:endParaRPr lang="zh-CN" altLang="en-US" sz="1200" dirty="0">
                        <a:latin typeface="微软雅黑" pitchFamily="34" charset="-122"/>
                        <a:ea typeface="微软雅黑" pitchFamily="34" charset="-122"/>
                      </a:endParaRPr>
                    </a:p>
                  </a:txBody>
                  <a:tcPr marL="50288" marR="50288" marT="0" marB="0" anchor="ctr"/>
                </a:tc>
              </a:tr>
              <a:tr h="967915">
                <a:tc>
                  <a:txBody>
                    <a:bodyPr/>
                    <a:lstStyle/>
                    <a:p>
                      <a:pPr algn="ctr">
                        <a:spcAft>
                          <a:spcPts val="0"/>
                        </a:spcAft>
                      </a:pPr>
                      <a:r>
                        <a:rPr lang="en-US" sz="1000" kern="100">
                          <a:effectLst/>
                          <a:latin typeface="微软雅黑" pitchFamily="34" charset="-122"/>
                          <a:ea typeface="微软雅黑" pitchFamily="34" charset="-122"/>
                        </a:rPr>
                        <a:t>3</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补单订货</a:t>
                      </a:r>
                      <a:endParaRPr lang="zh-CN" altLang="en-US" sz="1200" dirty="0">
                        <a:latin typeface="微软雅黑" pitchFamily="34" charset="-122"/>
                        <a:ea typeface="微软雅黑" pitchFamily="34" charset="-122"/>
                      </a:endParaRPr>
                    </a:p>
                  </a:txBody>
                  <a:tcPr marL="50288" marR="50288" marT="0" marB="0" anchor="ctr"/>
                </a:tc>
                <a:tc>
                  <a:txBody>
                    <a:bodyPr/>
                    <a:lstStyle/>
                    <a:p>
                      <a:pPr marL="171450" indent="-171450">
                        <a:buFont typeface="Wingdings" pitchFamily="2" charset="2"/>
                        <a:buChar char="l"/>
                      </a:pPr>
                      <a:r>
                        <a:rPr lang="zh-CN" altLang="en-US" sz="1200" dirty="0" smtClean="0">
                          <a:latin typeface="微软雅黑" pitchFamily="34" charset="-122"/>
                          <a:ea typeface="微软雅黑" pitchFamily="34" charset="-122"/>
                        </a:rPr>
                        <a:t>组织实施周畅滞销款式的分析</a:t>
                      </a:r>
                      <a:endParaRPr lang="en-US" altLang="zh-CN" sz="1200" dirty="0" smtClean="0">
                        <a:latin typeface="微软雅黑" pitchFamily="34" charset="-122"/>
                        <a:ea typeface="微软雅黑" pitchFamily="34" charset="-122"/>
                      </a:endParaRPr>
                    </a:p>
                    <a:p>
                      <a:pPr marL="171450" indent="-171450">
                        <a:buFont typeface="Wingdings" pitchFamily="2" charset="2"/>
                        <a:buChar char="l"/>
                      </a:pPr>
                      <a:r>
                        <a:rPr lang="zh-CN" altLang="en-US" sz="1200" dirty="0" smtClean="0">
                          <a:latin typeface="微软雅黑" pitchFamily="34" charset="-122"/>
                          <a:ea typeface="微软雅黑" pitchFamily="34" charset="-122"/>
                        </a:rPr>
                        <a:t>梳理需要补单的款式</a:t>
                      </a:r>
                      <a:endParaRPr lang="en-US" altLang="zh-CN" sz="1200" dirty="0" smtClean="0">
                        <a:latin typeface="微软雅黑" pitchFamily="34" charset="-122"/>
                        <a:ea typeface="微软雅黑" pitchFamily="34" charset="-122"/>
                      </a:endParaRPr>
                    </a:p>
                    <a:p>
                      <a:pPr marL="171450" indent="-171450">
                        <a:buFont typeface="Wingdings" pitchFamily="2" charset="2"/>
                        <a:buChar char="l"/>
                      </a:pPr>
                      <a:r>
                        <a:rPr lang="zh-CN" altLang="en-US" sz="1200" dirty="0" smtClean="0">
                          <a:latin typeface="微软雅黑" pitchFamily="34" charset="-122"/>
                          <a:ea typeface="微软雅黑" pitchFamily="34" charset="-122"/>
                        </a:rPr>
                        <a:t>与总公司确定补单款式的货期并下单</a:t>
                      </a:r>
                      <a:endParaRPr lang="en-US" altLang="zh-CN" sz="1200" dirty="0" smtClean="0">
                        <a:latin typeface="微软雅黑" pitchFamily="34" charset="-122"/>
                        <a:ea typeface="微软雅黑" pitchFamily="34" charset="-122"/>
                      </a:endParaRPr>
                    </a:p>
                    <a:p>
                      <a:pPr marL="171450" indent="-171450">
                        <a:buFont typeface="Wingdings" pitchFamily="2" charset="2"/>
                        <a:buChar char="l"/>
                      </a:pPr>
                      <a:r>
                        <a:rPr lang="zh-CN" altLang="en-US" sz="1200" dirty="0" smtClean="0">
                          <a:latin typeface="微软雅黑" pitchFamily="34" charset="-122"/>
                          <a:ea typeface="微软雅黑" pitchFamily="34" charset="-122"/>
                        </a:rPr>
                        <a:t>跟进补单货品的到仓状况</a:t>
                      </a:r>
                      <a:endParaRPr lang="zh-CN" altLang="en-US" sz="1200" dirty="0">
                        <a:latin typeface="微软雅黑" pitchFamily="34" charset="-122"/>
                        <a:ea typeface="微软雅黑" pitchFamily="34" charset="-122"/>
                      </a:endParaRPr>
                    </a:p>
                  </a:txBody>
                  <a:tcPr marL="50288" marR="50288" marT="0" marB="0" anchor="ctr"/>
                </a:tc>
                <a:tc>
                  <a:txBody>
                    <a:bodyPr/>
                    <a:lstStyle/>
                    <a:p>
                      <a:pPr algn="ctr"/>
                      <a:r>
                        <a:rPr lang="zh-CN" altLang="en-US" sz="1200" dirty="0" smtClean="0"/>
                        <a:t>季中有效执行</a:t>
                      </a:r>
                      <a:endParaRPr lang="zh-CN" altLang="en-US" sz="1200" dirty="0"/>
                    </a:p>
                  </a:txBody>
                  <a:tcPr marL="50288" marR="50288" marT="0" marB="0" anchor="ctr"/>
                </a:tc>
              </a:tr>
              <a:tr h="1040028">
                <a:tc>
                  <a:txBody>
                    <a:bodyPr/>
                    <a:lstStyle/>
                    <a:p>
                      <a:pPr algn="ctr">
                        <a:spcAft>
                          <a:spcPts val="0"/>
                        </a:spcAft>
                      </a:pPr>
                      <a:r>
                        <a:rPr lang="en-US" sz="1000" kern="100">
                          <a:effectLst/>
                          <a:latin typeface="微软雅黑" pitchFamily="34" charset="-122"/>
                          <a:ea typeface="微软雅黑" pitchFamily="34" charset="-122"/>
                        </a:rPr>
                        <a:t>4</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订货会总结</a:t>
                      </a:r>
                      <a:endParaRPr lang="zh-CN" altLang="en-US" sz="1200" dirty="0">
                        <a:latin typeface="微软雅黑" pitchFamily="34" charset="-122"/>
                        <a:ea typeface="微软雅黑" pitchFamily="34" charset="-122"/>
                      </a:endParaRPr>
                    </a:p>
                  </a:txBody>
                  <a:tcPr marL="50288" marR="50288" marT="0" marB="0" anchor="ctr"/>
                </a:tc>
                <a:tc>
                  <a:txBody>
                    <a:bodyPr/>
                    <a:lstStyle/>
                    <a:p>
                      <a:pPr marL="171450" indent="-171450">
                        <a:buFont typeface="Wingdings" pitchFamily="2" charset="2"/>
                        <a:buChar char="l"/>
                      </a:pPr>
                      <a:r>
                        <a:rPr lang="zh-CN" altLang="en-US" sz="1200" dirty="0" smtClean="0">
                          <a:latin typeface="微软雅黑" pitchFamily="34" charset="-122"/>
                          <a:ea typeface="微软雅黑" pitchFamily="34" charset="-122"/>
                        </a:rPr>
                        <a:t>组织分享订货会、分销订货会的总结报告</a:t>
                      </a:r>
                      <a:endParaRPr lang="zh-CN" altLang="en-US" sz="1200" dirty="0">
                        <a:latin typeface="微软雅黑" pitchFamily="34" charset="-122"/>
                        <a:ea typeface="微软雅黑" pitchFamily="34" charset="-122"/>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订货会后执行</a:t>
                      </a:r>
                      <a:endParaRPr lang="zh-CN" altLang="en-US" sz="1200" dirty="0">
                        <a:latin typeface="微软雅黑" pitchFamily="34" charset="-122"/>
                        <a:ea typeface="微软雅黑" pitchFamily="34" charset="-122"/>
                      </a:endParaRPr>
                    </a:p>
                  </a:txBody>
                  <a:tcPr marL="50288" marR="50288" marT="0" marB="0" anchor="ctr"/>
                </a:tc>
              </a:tr>
              <a:tr h="879981">
                <a:tc>
                  <a:txBody>
                    <a:bodyPr/>
                    <a:lstStyle/>
                    <a:p>
                      <a:pPr algn="ctr">
                        <a:spcAft>
                          <a:spcPts val="0"/>
                        </a:spcAft>
                      </a:pPr>
                      <a:r>
                        <a:rPr lang="en-US" sz="1000" kern="100">
                          <a:effectLst/>
                          <a:latin typeface="微软雅黑" pitchFamily="34" charset="-122"/>
                          <a:ea typeface="微软雅黑" pitchFamily="34" charset="-122"/>
                        </a:rPr>
                        <a:t>5</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货期跟踪</a:t>
                      </a:r>
                      <a:endParaRPr lang="zh-CN" altLang="en-US" sz="1200" dirty="0">
                        <a:latin typeface="微软雅黑" pitchFamily="34" charset="-122"/>
                        <a:ea typeface="微软雅黑" pitchFamily="34" charset="-122"/>
                      </a:endParaRPr>
                    </a:p>
                  </a:txBody>
                  <a:tcPr marL="50288" marR="50288" marT="0" marB="0" anchor="ctr"/>
                </a:tc>
                <a:tc>
                  <a:txBody>
                    <a:bodyPr/>
                    <a:lstStyle/>
                    <a:p>
                      <a:pPr marL="171450" indent="-171450">
                        <a:buFont typeface="Wingdings" pitchFamily="2" charset="2"/>
                        <a:buChar char="l"/>
                      </a:pPr>
                      <a:r>
                        <a:rPr lang="zh-CN" altLang="en-US" sz="1200" dirty="0" smtClean="0">
                          <a:latin typeface="微软雅黑" pitchFamily="34" charset="-122"/>
                          <a:ea typeface="微软雅黑" pitchFamily="34" charset="-122"/>
                        </a:rPr>
                        <a:t>跟踪开季前当季货品的到仓状况</a:t>
                      </a:r>
                      <a:endParaRPr lang="en-US" altLang="zh-CN" sz="1200" dirty="0" smtClean="0">
                        <a:latin typeface="微软雅黑" pitchFamily="34" charset="-122"/>
                        <a:ea typeface="微软雅黑" pitchFamily="34" charset="-122"/>
                      </a:endParaRPr>
                    </a:p>
                    <a:p>
                      <a:pPr marL="171450" indent="-171450">
                        <a:buFont typeface="Wingdings" pitchFamily="2" charset="2"/>
                        <a:buChar char="l"/>
                      </a:pPr>
                      <a:r>
                        <a:rPr lang="zh-CN" altLang="en-US" sz="1200" dirty="0" smtClean="0">
                          <a:latin typeface="微软雅黑" pitchFamily="34" charset="-122"/>
                          <a:ea typeface="微软雅黑" pitchFamily="34" charset="-122"/>
                        </a:rPr>
                        <a:t>匹配发货时间与上市时间的合理状况</a:t>
                      </a:r>
                      <a:endParaRPr lang="zh-CN" altLang="en-US" sz="1200" dirty="0">
                        <a:latin typeface="微软雅黑" pitchFamily="34" charset="-122"/>
                        <a:ea typeface="微软雅黑" pitchFamily="34" charset="-122"/>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开季前与季中执行</a:t>
                      </a:r>
                      <a:endParaRPr lang="zh-CN" altLang="en-US" sz="1200" dirty="0">
                        <a:latin typeface="微软雅黑" pitchFamily="34" charset="-122"/>
                        <a:ea typeface="微软雅黑" pitchFamily="34" charset="-122"/>
                      </a:endParaRPr>
                    </a:p>
                  </a:txBody>
                  <a:tcPr marL="50288" marR="50288" marT="0" marB="0" anchor="ctr"/>
                </a:tc>
              </a:tr>
              <a:tr h="709373">
                <a:tc>
                  <a:txBody>
                    <a:bodyPr/>
                    <a:lstStyle/>
                    <a:p>
                      <a:pPr algn="ctr">
                        <a:spcAft>
                          <a:spcPts val="0"/>
                        </a:spcAft>
                      </a:pPr>
                      <a:r>
                        <a:rPr lang="en-US" sz="1000" kern="100" dirty="0">
                          <a:effectLst/>
                          <a:latin typeface="微软雅黑" pitchFamily="34" charset="-122"/>
                          <a:ea typeface="微软雅黑" pitchFamily="34" charset="-122"/>
                        </a:rPr>
                        <a:t>6</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200" kern="100" dirty="0">
                          <a:effectLst/>
                          <a:latin typeface="微软雅黑" pitchFamily="34" charset="-122"/>
                          <a:ea typeface="微软雅黑" pitchFamily="34" charset="-122"/>
                        </a:rPr>
                        <a:t>完成上级主管的其他工作 </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marL="171450" indent="-171450" algn="l">
                        <a:spcAft>
                          <a:spcPts val="0"/>
                        </a:spcAft>
                        <a:buFont typeface="Wingdings" pitchFamily="2" charset="2"/>
                        <a:buChar char="l"/>
                      </a:pPr>
                      <a:r>
                        <a:rPr lang="zh-CN" sz="1200" kern="100" dirty="0">
                          <a:effectLst/>
                          <a:latin typeface="微软雅黑" pitchFamily="34" charset="-122"/>
                          <a:ea typeface="微软雅黑" pitchFamily="34" charset="-122"/>
                        </a:rPr>
                        <a:t>服从上级领导的管理，接受上级领导临时布置的各项工作指令，做到合理、适宜的工作安排，达到及时、有效完成</a:t>
                      </a:r>
                      <a:r>
                        <a:rPr lang="zh-CN" sz="1200" kern="100" dirty="0" smtClean="0">
                          <a:effectLst/>
                          <a:latin typeface="微软雅黑" pitchFamily="34" charset="-122"/>
                          <a:ea typeface="微软雅黑" pitchFamily="34" charset="-122"/>
                        </a:rPr>
                        <a:t>任务</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200" kern="100" dirty="0">
                          <a:effectLst/>
                          <a:latin typeface="微软雅黑" pitchFamily="34" charset="-122"/>
                          <a:ea typeface="微软雅黑" pitchFamily="34" charset="-122"/>
                        </a:rPr>
                        <a:t>日常执行</a:t>
                      </a:r>
                      <a:endParaRPr lang="zh-CN" sz="1200" kern="100" dirty="0">
                        <a:effectLst/>
                        <a:latin typeface="微软雅黑" pitchFamily="34" charset="-122"/>
                        <a:ea typeface="微软雅黑" pitchFamily="34" charset="-122"/>
                        <a:cs typeface="Times New Roman"/>
                      </a:endParaRPr>
                    </a:p>
                  </a:txBody>
                  <a:tcPr marL="50288" marR="50288" marT="0" marB="0" anchor="ctr"/>
                </a:tc>
              </a:tr>
            </a:tbl>
          </a:graphicData>
        </a:graphic>
      </p:graphicFrame>
    </p:spTree>
    <p:extLst>
      <p:ext uri="{BB962C8B-B14F-4D97-AF65-F5344CB8AC3E}">
        <p14:creationId xmlns:p14="http://schemas.microsoft.com/office/powerpoint/2010/main" val="209778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352839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商品部职责</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督导</a:t>
            </a:r>
            <a:r>
              <a:rPr lang="zh-CN" altLang="en-US" dirty="0" smtClean="0">
                <a:latin typeface="微软雅黑" pitchFamily="34" charset="-122"/>
                <a:ea typeface="微软雅黑" pitchFamily="34" charset="-122"/>
              </a:rPr>
              <a:t>组组长</a:t>
            </a:r>
            <a:endParaRPr lang="zh-CN" altLang="en-US" dirty="0">
              <a:latin typeface="微软雅黑" pitchFamily="34" charset="-122"/>
              <a:ea typeface="微软雅黑"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3137025850"/>
              </p:ext>
            </p:extLst>
          </p:nvPr>
        </p:nvGraphicFramePr>
        <p:xfrm>
          <a:off x="683568" y="652013"/>
          <a:ext cx="7776864" cy="5441283"/>
        </p:xfrm>
        <a:graphic>
          <a:graphicData uri="http://schemas.openxmlformats.org/drawingml/2006/table">
            <a:tbl>
              <a:tblPr firstRow="1" firstCol="1" bandRow="1">
                <a:tableStyleId>{5940675A-B579-460E-94D1-54222C63F5DA}</a:tableStyleId>
              </a:tblPr>
              <a:tblGrid>
                <a:gridCol w="420371"/>
                <a:gridCol w="1066584"/>
                <a:gridCol w="5497820"/>
                <a:gridCol w="792089"/>
              </a:tblGrid>
              <a:tr h="284465">
                <a:tc>
                  <a:txBody>
                    <a:bodyPr/>
                    <a:lstStyle/>
                    <a:p>
                      <a:pPr algn="ctr">
                        <a:spcAft>
                          <a:spcPts val="0"/>
                        </a:spcAft>
                      </a:pPr>
                      <a:r>
                        <a:rPr lang="zh-CN" sz="1000" kern="100" dirty="0">
                          <a:effectLst/>
                          <a:latin typeface="微软雅黑" pitchFamily="34" charset="-122"/>
                          <a:ea typeface="微软雅黑" pitchFamily="34" charset="-122"/>
                        </a:rPr>
                        <a:t>序号</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工作流程</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工作职责要求和标准</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marL="57150" indent="-57150" algn="ctr">
                        <a:spcAft>
                          <a:spcPts val="0"/>
                        </a:spcAft>
                      </a:pPr>
                      <a:r>
                        <a:rPr lang="zh-CN" sz="1000" kern="100">
                          <a:effectLst/>
                          <a:latin typeface="微软雅黑" pitchFamily="34" charset="-122"/>
                          <a:ea typeface="微软雅黑" pitchFamily="34" charset="-122"/>
                        </a:rPr>
                        <a:t>频次和时间</a:t>
                      </a:r>
                      <a:endParaRPr lang="zh-CN" sz="1000" kern="100">
                        <a:effectLst/>
                        <a:latin typeface="微软雅黑" pitchFamily="34" charset="-122"/>
                        <a:ea typeface="微软雅黑" pitchFamily="34" charset="-122"/>
                        <a:cs typeface="Times New Roman"/>
                      </a:endParaRPr>
                    </a:p>
                  </a:txBody>
                  <a:tcPr marL="50288" marR="50288" marT="0" marB="0" anchor="ctr"/>
                </a:tc>
              </a:tr>
              <a:tr h="838055">
                <a:tc>
                  <a:txBody>
                    <a:bodyPr/>
                    <a:lstStyle/>
                    <a:p>
                      <a:pPr algn="ctr">
                        <a:spcAft>
                          <a:spcPts val="0"/>
                        </a:spcAft>
                      </a:pPr>
                      <a:r>
                        <a:rPr lang="en-US" sz="1000" kern="100">
                          <a:effectLst/>
                          <a:latin typeface="微软雅黑" pitchFamily="34" charset="-122"/>
                          <a:ea typeface="微软雅黑" pitchFamily="34" charset="-122"/>
                        </a:rPr>
                        <a:t>1</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altLang="en-US" sz="1200" kern="100" dirty="0" smtClean="0">
                          <a:effectLst/>
                          <a:latin typeface="微软雅黑" pitchFamily="34" charset="-122"/>
                          <a:ea typeface="微软雅黑" pitchFamily="34" charset="-122"/>
                          <a:cs typeface="Times New Roman"/>
                        </a:rPr>
                        <a:t>店务</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marL="285750" indent="-285750">
                        <a:buFont typeface="Wingdings" pitchFamily="2" charset="2"/>
                        <a:buChar char="l"/>
                      </a:pPr>
                      <a:r>
                        <a:rPr lang="zh-CN" altLang="en-US" sz="1200" dirty="0" smtClean="0">
                          <a:latin typeface="微软雅黑" pitchFamily="34" charset="-122"/>
                          <a:ea typeface="微软雅黑" pitchFamily="34" charset="-122"/>
                        </a:rPr>
                        <a:t>梳理店铺各项店务的执行标准</a:t>
                      </a:r>
                      <a:endParaRPr lang="en-US" altLang="zh-CN" sz="1200" dirty="0" smtClean="0">
                        <a:latin typeface="微软雅黑" pitchFamily="34" charset="-122"/>
                        <a:ea typeface="微软雅黑" pitchFamily="34" charset="-122"/>
                      </a:endParaRPr>
                    </a:p>
                    <a:p>
                      <a:pPr marL="285750" indent="-285750">
                        <a:buFont typeface="Wingdings" pitchFamily="2" charset="2"/>
                        <a:buChar char="l"/>
                      </a:pPr>
                      <a:r>
                        <a:rPr lang="zh-CN" altLang="en-US" sz="1200" dirty="0" smtClean="0">
                          <a:latin typeface="微软雅黑" pitchFamily="34" charset="-122"/>
                          <a:ea typeface="微软雅黑" pitchFamily="34" charset="-122"/>
                        </a:rPr>
                        <a:t>制作并宣导店务执行标准</a:t>
                      </a:r>
                      <a:endParaRPr lang="en-US" altLang="zh-CN" sz="1200" dirty="0" smtClean="0">
                        <a:latin typeface="微软雅黑" pitchFamily="34" charset="-122"/>
                        <a:ea typeface="微软雅黑" pitchFamily="34" charset="-122"/>
                      </a:endParaRPr>
                    </a:p>
                    <a:p>
                      <a:pPr marL="285750" indent="-285750">
                        <a:buFont typeface="Wingdings" pitchFamily="2" charset="2"/>
                        <a:buChar char="l"/>
                      </a:pPr>
                      <a:r>
                        <a:rPr lang="zh-CN" altLang="en-US" sz="1200" dirty="0" smtClean="0">
                          <a:latin typeface="微软雅黑" pitchFamily="34" charset="-122"/>
                          <a:ea typeface="微软雅黑" pitchFamily="34" charset="-122"/>
                        </a:rPr>
                        <a:t>跟进店务标准的实施状况并进行改进</a:t>
                      </a:r>
                      <a:endParaRPr lang="zh-CN" altLang="en-US" sz="1200" dirty="0">
                        <a:latin typeface="微软雅黑" pitchFamily="34" charset="-122"/>
                        <a:ea typeface="微软雅黑" pitchFamily="34" charset="-122"/>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日常有效执行</a:t>
                      </a:r>
                      <a:endParaRPr lang="zh-CN" altLang="en-US" sz="1200" dirty="0">
                        <a:latin typeface="微软雅黑" pitchFamily="34" charset="-122"/>
                        <a:ea typeface="微软雅黑" pitchFamily="34" charset="-122"/>
                      </a:endParaRPr>
                    </a:p>
                  </a:txBody>
                  <a:tcPr marL="50288" marR="50288" marT="0" marB="0" anchor="ctr"/>
                </a:tc>
              </a:tr>
              <a:tr h="1008112">
                <a:tc>
                  <a:txBody>
                    <a:bodyPr/>
                    <a:lstStyle/>
                    <a:p>
                      <a:pPr algn="ctr">
                        <a:spcAft>
                          <a:spcPts val="0"/>
                        </a:spcAft>
                      </a:pPr>
                      <a:r>
                        <a:rPr lang="en-US" sz="1000" kern="100">
                          <a:effectLst/>
                          <a:latin typeface="微软雅黑" pitchFamily="34" charset="-122"/>
                          <a:ea typeface="微软雅黑" pitchFamily="34" charset="-122"/>
                        </a:rPr>
                        <a:t>2</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陈列</a:t>
                      </a:r>
                      <a:endParaRPr lang="zh-CN" altLang="en-US" sz="1200" dirty="0">
                        <a:latin typeface="微软雅黑" pitchFamily="34" charset="-122"/>
                        <a:ea typeface="微软雅黑" pitchFamily="34" charset="-122"/>
                      </a:endParaRPr>
                    </a:p>
                  </a:txBody>
                  <a:tcPr marL="50288" marR="50288" marT="0" marB="0" anchor="ctr"/>
                </a:tc>
                <a:tc>
                  <a:txBody>
                    <a:bodyPr/>
                    <a:lstStyle/>
                    <a:p>
                      <a:pPr marL="285750" indent="-285750">
                        <a:buFont typeface="Wingdings" pitchFamily="2" charset="2"/>
                        <a:buChar char="l"/>
                      </a:pPr>
                      <a:r>
                        <a:rPr lang="zh-CN" altLang="en-US" sz="1200" dirty="0" smtClean="0">
                          <a:latin typeface="微软雅黑" pitchFamily="34" charset="-122"/>
                          <a:ea typeface="微软雅黑" pitchFamily="34" charset="-122"/>
                        </a:rPr>
                        <a:t>梳理各季陈列标准、主推陈列标准、特卖陈列标准等</a:t>
                      </a:r>
                      <a:endParaRPr lang="en-US" altLang="zh-CN" sz="1200" dirty="0" smtClean="0">
                        <a:latin typeface="微软雅黑" pitchFamily="34" charset="-122"/>
                        <a:ea typeface="微软雅黑" pitchFamily="34" charset="-122"/>
                      </a:endParaRPr>
                    </a:p>
                    <a:p>
                      <a:pPr marL="285750" indent="-285750">
                        <a:buFont typeface="Wingdings" pitchFamily="2" charset="2"/>
                        <a:buChar char="l"/>
                      </a:pPr>
                      <a:r>
                        <a:rPr lang="zh-CN" altLang="en-US" sz="1200" dirty="0" smtClean="0">
                          <a:latin typeface="微软雅黑" pitchFamily="34" charset="-122"/>
                          <a:ea typeface="微软雅黑" pitchFamily="34" charset="-122"/>
                        </a:rPr>
                        <a:t>制作并宣导各项陈列标准</a:t>
                      </a:r>
                      <a:endParaRPr lang="en-US" altLang="zh-CN" sz="1200" dirty="0" smtClean="0">
                        <a:latin typeface="微软雅黑" pitchFamily="34" charset="-122"/>
                        <a:ea typeface="微软雅黑" pitchFamily="34" charset="-122"/>
                      </a:endParaRPr>
                    </a:p>
                    <a:p>
                      <a:pPr marL="285750" indent="-285750">
                        <a:buFont typeface="Wingdings" pitchFamily="2" charset="2"/>
                        <a:buChar char="l"/>
                      </a:pPr>
                      <a:r>
                        <a:rPr lang="zh-CN" altLang="en-US" sz="1200" dirty="0" smtClean="0">
                          <a:latin typeface="微软雅黑" pitchFamily="34" charset="-122"/>
                          <a:ea typeface="微软雅黑" pitchFamily="34" charset="-122"/>
                        </a:rPr>
                        <a:t>跟进各项标准的实施状况并进行改进</a:t>
                      </a:r>
                    </a:p>
                    <a:p>
                      <a:pPr marL="285750" indent="-285750">
                        <a:buFont typeface="Wingdings" pitchFamily="2" charset="2"/>
                        <a:buChar char="l"/>
                      </a:pPr>
                      <a:endParaRPr lang="zh-CN" altLang="en-US" sz="1200" dirty="0"/>
                    </a:p>
                  </a:txBody>
                  <a:tcPr marL="50288" marR="50288"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dirty="0" smtClean="0">
                          <a:latin typeface="微软雅黑" pitchFamily="34" charset="-122"/>
                          <a:ea typeface="微软雅黑" pitchFamily="34" charset="-122"/>
                        </a:rPr>
                        <a:t>日常有效执行</a:t>
                      </a:r>
                    </a:p>
                    <a:p>
                      <a:pPr algn="ctr"/>
                      <a:endParaRPr lang="zh-CN" altLang="en-US" sz="1200" dirty="0">
                        <a:latin typeface="微软雅黑" pitchFamily="34" charset="-122"/>
                        <a:ea typeface="微软雅黑" pitchFamily="34" charset="-122"/>
                      </a:endParaRPr>
                    </a:p>
                  </a:txBody>
                  <a:tcPr marL="50288" marR="50288" marT="0" marB="0" anchor="ctr"/>
                </a:tc>
              </a:tr>
              <a:tr h="903152">
                <a:tc>
                  <a:txBody>
                    <a:bodyPr/>
                    <a:lstStyle/>
                    <a:p>
                      <a:pPr algn="ctr">
                        <a:spcAft>
                          <a:spcPts val="0"/>
                        </a:spcAft>
                      </a:pPr>
                      <a:r>
                        <a:rPr lang="en-US" sz="1000" kern="100">
                          <a:effectLst/>
                          <a:latin typeface="微软雅黑" pitchFamily="34" charset="-122"/>
                          <a:ea typeface="微软雅黑" pitchFamily="34" charset="-122"/>
                        </a:rPr>
                        <a:t>3</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帮扶</a:t>
                      </a:r>
                      <a:endParaRPr lang="zh-CN" altLang="en-US" sz="1200" dirty="0">
                        <a:latin typeface="微软雅黑" pitchFamily="34" charset="-122"/>
                        <a:ea typeface="微软雅黑" pitchFamily="34" charset="-122"/>
                      </a:endParaRPr>
                    </a:p>
                  </a:txBody>
                  <a:tcPr marL="50288" marR="50288" marT="0" marB="0" anchor="ctr"/>
                </a:tc>
                <a:tc>
                  <a:txBody>
                    <a:bodyPr/>
                    <a:lstStyle/>
                    <a:p>
                      <a:pPr marL="285750" indent="-285750">
                        <a:buFont typeface="Wingdings" pitchFamily="2" charset="2"/>
                        <a:buChar char="l"/>
                      </a:pPr>
                      <a:r>
                        <a:rPr lang="zh-CN" altLang="en-US" sz="1200" dirty="0" smtClean="0">
                          <a:latin typeface="微软雅黑" pitchFamily="34" charset="-122"/>
                          <a:ea typeface="微软雅黑" pitchFamily="34" charset="-122"/>
                        </a:rPr>
                        <a:t>对重点店铺进行驻店，强化各项标准的实施</a:t>
                      </a:r>
                      <a:endParaRPr lang="en-US" altLang="zh-CN" sz="1200" dirty="0" smtClean="0">
                        <a:latin typeface="微软雅黑" pitchFamily="34" charset="-122"/>
                        <a:ea typeface="微软雅黑" pitchFamily="34" charset="-122"/>
                      </a:endParaRPr>
                    </a:p>
                    <a:p>
                      <a:pPr marL="285750" indent="-285750">
                        <a:buFont typeface="Wingdings" pitchFamily="2" charset="2"/>
                        <a:buChar char="l"/>
                      </a:pPr>
                      <a:r>
                        <a:rPr lang="zh-CN" altLang="en-US" sz="1200" dirty="0" smtClean="0">
                          <a:latin typeface="微软雅黑" pitchFamily="34" charset="-122"/>
                          <a:ea typeface="微软雅黑" pitchFamily="34" charset="-122"/>
                        </a:rPr>
                        <a:t>总结驻店状况，并于公司相关部门进行沟通</a:t>
                      </a:r>
                      <a:endParaRPr lang="en-US" altLang="zh-CN" sz="1200" dirty="0" smtClean="0">
                        <a:latin typeface="微软雅黑" pitchFamily="34" charset="-122"/>
                        <a:ea typeface="微软雅黑" pitchFamily="34" charset="-122"/>
                      </a:endParaRPr>
                    </a:p>
                    <a:p>
                      <a:pPr marL="285750" indent="-285750">
                        <a:buFont typeface="Wingdings" pitchFamily="2" charset="2"/>
                        <a:buChar char="l"/>
                      </a:pPr>
                      <a:r>
                        <a:rPr lang="zh-CN" altLang="en-US" sz="1200" dirty="0" smtClean="0">
                          <a:latin typeface="微软雅黑" pitchFamily="34" charset="-122"/>
                          <a:ea typeface="微软雅黑" pitchFamily="34" charset="-122"/>
                        </a:rPr>
                        <a:t>调整各项标准，使各项标准更贴近终端</a:t>
                      </a:r>
                      <a:endParaRPr lang="zh-CN" altLang="en-US" sz="1200" dirty="0">
                        <a:latin typeface="微软雅黑" pitchFamily="34" charset="-122"/>
                        <a:ea typeface="微软雅黑" pitchFamily="34" charset="-122"/>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订期有效执行</a:t>
                      </a:r>
                      <a:endParaRPr lang="zh-CN" altLang="en-US" sz="1200" dirty="0">
                        <a:latin typeface="微软雅黑" pitchFamily="34" charset="-122"/>
                        <a:ea typeface="微软雅黑" pitchFamily="34" charset="-122"/>
                      </a:endParaRPr>
                    </a:p>
                  </a:txBody>
                  <a:tcPr marL="50288" marR="50288" marT="0" marB="0" anchor="ctr"/>
                </a:tc>
              </a:tr>
              <a:tr h="936568">
                <a:tc>
                  <a:txBody>
                    <a:bodyPr/>
                    <a:lstStyle/>
                    <a:p>
                      <a:pPr algn="ctr">
                        <a:spcAft>
                          <a:spcPts val="0"/>
                        </a:spcAft>
                      </a:pPr>
                      <a:r>
                        <a:rPr lang="en-US" sz="1000" kern="100">
                          <a:effectLst/>
                          <a:latin typeface="微软雅黑" pitchFamily="34" charset="-122"/>
                          <a:ea typeface="微软雅黑" pitchFamily="34" charset="-122"/>
                        </a:rPr>
                        <a:t>4</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巡店</a:t>
                      </a:r>
                      <a:endParaRPr lang="zh-CN" altLang="en-US" sz="1200" dirty="0">
                        <a:latin typeface="微软雅黑" pitchFamily="34" charset="-122"/>
                        <a:ea typeface="微软雅黑" pitchFamily="34" charset="-122"/>
                      </a:endParaRPr>
                    </a:p>
                  </a:txBody>
                  <a:tcPr marL="50288" marR="50288" marT="0" marB="0" anchor="ctr"/>
                </a:tc>
                <a:tc>
                  <a:txBody>
                    <a:bodyPr/>
                    <a:lstStyle/>
                    <a:p>
                      <a:pPr marL="285750" indent="-285750">
                        <a:buFont typeface="Wingdings" pitchFamily="2" charset="2"/>
                        <a:buChar char="l"/>
                      </a:pPr>
                      <a:r>
                        <a:rPr lang="zh-CN" altLang="en-US" sz="1200" dirty="0" smtClean="0">
                          <a:latin typeface="微软雅黑" pitchFamily="34" charset="-122"/>
                          <a:ea typeface="微软雅黑" pitchFamily="34" charset="-122"/>
                        </a:rPr>
                        <a:t>订期巡查店铺，了解各项标准的终端表现</a:t>
                      </a:r>
                      <a:endParaRPr lang="en-US" altLang="zh-CN" sz="1200" dirty="0" smtClean="0">
                        <a:latin typeface="微软雅黑" pitchFamily="34" charset="-122"/>
                        <a:ea typeface="微软雅黑" pitchFamily="34" charset="-122"/>
                      </a:endParaRPr>
                    </a:p>
                    <a:p>
                      <a:pPr marL="285750" indent="-285750">
                        <a:buFont typeface="Wingdings" pitchFamily="2" charset="2"/>
                        <a:buChar char="l"/>
                      </a:pPr>
                      <a:r>
                        <a:rPr lang="zh-CN" altLang="en-US" sz="1200" dirty="0" smtClean="0">
                          <a:latin typeface="微软雅黑" pitchFamily="34" charset="-122"/>
                          <a:ea typeface="微软雅黑" pitchFamily="34" charset="-122"/>
                        </a:rPr>
                        <a:t>制作并完善巡店报告，总结分享跟进执行状况</a:t>
                      </a:r>
                      <a:endParaRPr lang="en-US" altLang="zh-CN" sz="1200" dirty="0" smtClean="0">
                        <a:latin typeface="微软雅黑" pitchFamily="34" charset="-122"/>
                        <a:ea typeface="微软雅黑" pitchFamily="34" charset="-122"/>
                      </a:endParaRPr>
                    </a:p>
                  </a:txBody>
                  <a:tcPr marL="50288" marR="50288"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dirty="0" smtClean="0">
                          <a:latin typeface="微软雅黑" pitchFamily="34" charset="-122"/>
                          <a:ea typeface="微软雅黑" pitchFamily="34" charset="-122"/>
                        </a:rPr>
                        <a:t>订期有效执行</a:t>
                      </a:r>
                    </a:p>
                    <a:p>
                      <a:pPr algn="ctr"/>
                      <a:endParaRPr lang="zh-CN" altLang="en-US" sz="1200" dirty="0">
                        <a:latin typeface="微软雅黑" pitchFamily="34" charset="-122"/>
                        <a:ea typeface="微软雅黑" pitchFamily="34" charset="-122"/>
                      </a:endParaRPr>
                    </a:p>
                  </a:txBody>
                  <a:tcPr marL="50288" marR="50288" marT="0" marB="0" anchor="ctr"/>
                </a:tc>
              </a:tr>
              <a:tr h="816527">
                <a:tc>
                  <a:txBody>
                    <a:bodyPr/>
                    <a:lstStyle/>
                    <a:p>
                      <a:pPr algn="ctr">
                        <a:spcAft>
                          <a:spcPts val="0"/>
                        </a:spcAft>
                      </a:pPr>
                      <a:r>
                        <a:rPr lang="en-US" sz="1000" kern="100">
                          <a:effectLst/>
                          <a:latin typeface="微软雅黑" pitchFamily="34" charset="-122"/>
                          <a:ea typeface="微软雅黑" pitchFamily="34" charset="-122"/>
                        </a:rPr>
                        <a:t>5</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培训</a:t>
                      </a:r>
                      <a:endParaRPr lang="zh-CN" altLang="en-US" sz="1200" dirty="0">
                        <a:latin typeface="微软雅黑" pitchFamily="34" charset="-122"/>
                        <a:ea typeface="微软雅黑" pitchFamily="34" charset="-122"/>
                      </a:endParaRPr>
                    </a:p>
                  </a:txBody>
                  <a:tcPr marL="50288" marR="50288" marT="0" marB="0" anchor="ctr"/>
                </a:tc>
                <a:tc>
                  <a:txBody>
                    <a:bodyPr/>
                    <a:lstStyle/>
                    <a:p>
                      <a:pPr marL="285750" indent="-285750">
                        <a:buFont typeface="Wingdings" pitchFamily="2" charset="2"/>
                        <a:buChar char="l"/>
                      </a:pPr>
                      <a:r>
                        <a:rPr lang="zh-CN" altLang="en-US" sz="1200" dirty="0" smtClean="0">
                          <a:latin typeface="微软雅黑" pitchFamily="34" charset="-122"/>
                          <a:ea typeface="微软雅黑" pitchFamily="34" charset="-122"/>
                        </a:rPr>
                        <a:t>了解店铺需求</a:t>
                      </a:r>
                      <a:endParaRPr lang="en-US" altLang="zh-CN" sz="1200" dirty="0" smtClean="0">
                        <a:latin typeface="微软雅黑" pitchFamily="34" charset="-122"/>
                        <a:ea typeface="微软雅黑" pitchFamily="34" charset="-122"/>
                      </a:endParaRPr>
                    </a:p>
                    <a:p>
                      <a:pPr marL="285750" indent="-285750">
                        <a:buFont typeface="Wingdings" pitchFamily="2" charset="2"/>
                        <a:buChar char="l"/>
                      </a:pPr>
                      <a:r>
                        <a:rPr lang="zh-CN" altLang="en-US" sz="1200" dirty="0" smtClean="0">
                          <a:latin typeface="微软雅黑" pitchFamily="34" charset="-122"/>
                          <a:ea typeface="微软雅黑" pitchFamily="34" charset="-122"/>
                        </a:rPr>
                        <a:t>针对性的开发相关培训课件</a:t>
                      </a:r>
                      <a:endParaRPr lang="en-US" altLang="zh-CN" sz="1200" dirty="0" smtClean="0">
                        <a:latin typeface="微软雅黑" pitchFamily="34" charset="-122"/>
                        <a:ea typeface="微软雅黑" pitchFamily="34" charset="-122"/>
                      </a:endParaRPr>
                    </a:p>
                    <a:p>
                      <a:pPr marL="285750" indent="-285750">
                        <a:buFont typeface="Wingdings" pitchFamily="2" charset="2"/>
                        <a:buChar char="l"/>
                      </a:pPr>
                      <a:r>
                        <a:rPr lang="zh-CN" altLang="en-US" sz="1200" dirty="0" smtClean="0">
                          <a:latin typeface="微软雅黑" pitchFamily="34" charset="-122"/>
                          <a:ea typeface="微软雅黑" pitchFamily="34" charset="-122"/>
                        </a:rPr>
                        <a:t>组织宣导课件</a:t>
                      </a:r>
                      <a:endParaRPr lang="en-US" altLang="zh-CN" sz="1200" dirty="0" smtClean="0">
                        <a:latin typeface="微软雅黑" pitchFamily="34" charset="-122"/>
                        <a:ea typeface="微软雅黑" pitchFamily="34" charset="-122"/>
                      </a:endParaRPr>
                    </a:p>
                    <a:p>
                      <a:pPr marL="285750" indent="-285750">
                        <a:buFont typeface="Wingdings" pitchFamily="2" charset="2"/>
                        <a:buChar char="l"/>
                      </a:pPr>
                      <a:r>
                        <a:rPr lang="zh-CN" altLang="en-US" sz="1200" dirty="0" smtClean="0">
                          <a:latin typeface="微软雅黑" pitchFamily="34" charset="-122"/>
                          <a:ea typeface="微软雅黑" pitchFamily="34" charset="-122"/>
                        </a:rPr>
                        <a:t>跟进培训的落实状况</a:t>
                      </a:r>
                      <a:endParaRPr lang="zh-CN" altLang="en-US" sz="1200" dirty="0">
                        <a:latin typeface="微软雅黑" pitchFamily="34" charset="-122"/>
                        <a:ea typeface="微软雅黑" pitchFamily="34" charset="-122"/>
                      </a:endParaRPr>
                    </a:p>
                  </a:txBody>
                  <a:tcPr marL="50288" marR="50288"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dirty="0" smtClean="0">
                          <a:latin typeface="微软雅黑" pitchFamily="34" charset="-122"/>
                          <a:ea typeface="微软雅黑" pitchFamily="34" charset="-122"/>
                        </a:rPr>
                        <a:t>订期有效执行</a:t>
                      </a:r>
                    </a:p>
                  </a:txBody>
                  <a:tcPr marL="50288" marR="50288" marT="0" marB="0" anchor="ctr"/>
                </a:tc>
              </a:tr>
              <a:tr h="654404">
                <a:tc>
                  <a:txBody>
                    <a:bodyPr/>
                    <a:lstStyle/>
                    <a:p>
                      <a:pPr algn="ctr">
                        <a:spcAft>
                          <a:spcPts val="0"/>
                        </a:spcAft>
                      </a:pPr>
                      <a:r>
                        <a:rPr lang="en-US" sz="1000" kern="100" dirty="0" smtClean="0">
                          <a:effectLst/>
                          <a:latin typeface="微软雅黑" pitchFamily="34" charset="-122"/>
                          <a:ea typeface="微软雅黑" pitchFamily="34" charset="-122"/>
                        </a:rPr>
                        <a:t>6</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200" kern="100" dirty="0">
                          <a:effectLst/>
                          <a:latin typeface="微软雅黑" pitchFamily="34" charset="-122"/>
                          <a:ea typeface="微软雅黑" pitchFamily="34" charset="-122"/>
                        </a:rPr>
                        <a:t>完成上级主管的其他工作 </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marL="171450" indent="-171450" algn="l">
                        <a:spcAft>
                          <a:spcPts val="0"/>
                        </a:spcAft>
                        <a:buFont typeface="Wingdings" pitchFamily="2" charset="2"/>
                        <a:buChar char="l"/>
                      </a:pPr>
                      <a:r>
                        <a:rPr lang="zh-CN" sz="1200" kern="100" dirty="0">
                          <a:effectLst/>
                          <a:latin typeface="微软雅黑" pitchFamily="34" charset="-122"/>
                          <a:ea typeface="微软雅黑" pitchFamily="34" charset="-122"/>
                        </a:rPr>
                        <a:t>服从上级领导的管理，接受上级领导临时布置的各项工作指令，做到合理、适宜的工作安排，达到及时、有效完成</a:t>
                      </a:r>
                      <a:r>
                        <a:rPr lang="zh-CN" sz="1200" kern="100" dirty="0" smtClean="0">
                          <a:effectLst/>
                          <a:latin typeface="微软雅黑" pitchFamily="34" charset="-122"/>
                          <a:ea typeface="微软雅黑" pitchFamily="34" charset="-122"/>
                        </a:rPr>
                        <a:t>任务</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200" kern="100" dirty="0">
                          <a:effectLst/>
                          <a:latin typeface="微软雅黑" pitchFamily="34" charset="-122"/>
                          <a:ea typeface="微软雅黑" pitchFamily="34" charset="-122"/>
                        </a:rPr>
                        <a:t>日常执行</a:t>
                      </a:r>
                      <a:endParaRPr lang="zh-CN" sz="1200" kern="100" dirty="0">
                        <a:effectLst/>
                        <a:latin typeface="微软雅黑" pitchFamily="34" charset="-122"/>
                        <a:ea typeface="微软雅黑" pitchFamily="34" charset="-122"/>
                        <a:cs typeface="Times New Roman"/>
                      </a:endParaRPr>
                    </a:p>
                  </a:txBody>
                  <a:tcPr marL="50288" marR="50288" marT="0" marB="0" anchor="ctr"/>
                </a:tc>
              </a:tr>
            </a:tbl>
          </a:graphicData>
        </a:graphic>
      </p:graphicFrame>
    </p:spTree>
    <p:extLst>
      <p:ext uri="{BB962C8B-B14F-4D97-AF65-F5344CB8AC3E}">
        <p14:creationId xmlns:p14="http://schemas.microsoft.com/office/powerpoint/2010/main" val="209778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352839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商品部职责</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分销组</a:t>
            </a:r>
            <a:endParaRPr lang="zh-CN" altLang="en-US" dirty="0">
              <a:latin typeface="微软雅黑" pitchFamily="34" charset="-122"/>
              <a:ea typeface="微软雅黑" pitchFamily="34"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1014827463"/>
              </p:ext>
            </p:extLst>
          </p:nvPr>
        </p:nvGraphicFramePr>
        <p:xfrm>
          <a:off x="683568" y="578288"/>
          <a:ext cx="7776864" cy="5515006"/>
        </p:xfrm>
        <a:graphic>
          <a:graphicData uri="http://schemas.openxmlformats.org/drawingml/2006/table">
            <a:tbl>
              <a:tblPr firstRow="1" firstCol="1" bandRow="1">
                <a:tableStyleId>{5940675A-B579-460E-94D1-54222C63F5DA}</a:tableStyleId>
              </a:tblPr>
              <a:tblGrid>
                <a:gridCol w="420371"/>
                <a:gridCol w="1066584"/>
                <a:gridCol w="5497820"/>
                <a:gridCol w="792089"/>
              </a:tblGrid>
              <a:tr h="534957">
                <a:tc>
                  <a:txBody>
                    <a:bodyPr/>
                    <a:lstStyle/>
                    <a:p>
                      <a:pPr algn="ctr">
                        <a:spcAft>
                          <a:spcPts val="0"/>
                        </a:spcAft>
                      </a:pPr>
                      <a:r>
                        <a:rPr lang="zh-CN" sz="1000" kern="100" dirty="0">
                          <a:effectLst/>
                          <a:latin typeface="微软雅黑" pitchFamily="34" charset="-122"/>
                          <a:ea typeface="微软雅黑" pitchFamily="34" charset="-122"/>
                        </a:rPr>
                        <a:t>序号</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工作流程</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工作职责要求和标准</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marL="57150" indent="-57150" algn="ctr">
                        <a:spcAft>
                          <a:spcPts val="0"/>
                        </a:spcAft>
                      </a:pPr>
                      <a:r>
                        <a:rPr lang="zh-CN" sz="1000" kern="100">
                          <a:effectLst/>
                          <a:latin typeface="微软雅黑" pitchFamily="34" charset="-122"/>
                          <a:ea typeface="微软雅黑" pitchFamily="34" charset="-122"/>
                        </a:rPr>
                        <a:t>频次和时间</a:t>
                      </a:r>
                      <a:endParaRPr lang="zh-CN" sz="1000" kern="100">
                        <a:effectLst/>
                        <a:latin typeface="微软雅黑" pitchFamily="34" charset="-122"/>
                        <a:ea typeface="微软雅黑" pitchFamily="34" charset="-122"/>
                        <a:cs typeface="Times New Roman"/>
                      </a:endParaRPr>
                    </a:p>
                  </a:txBody>
                  <a:tcPr marL="50288" marR="50288" marT="0" marB="0" anchor="ctr"/>
                </a:tc>
              </a:tr>
              <a:tr h="1147788">
                <a:tc>
                  <a:txBody>
                    <a:bodyPr/>
                    <a:lstStyle/>
                    <a:p>
                      <a:pPr algn="ctr">
                        <a:spcAft>
                          <a:spcPts val="0"/>
                        </a:spcAft>
                      </a:pPr>
                      <a:r>
                        <a:rPr lang="en-US" sz="1000" kern="100" dirty="0" smtClean="0">
                          <a:effectLst/>
                          <a:latin typeface="微软雅黑" pitchFamily="34" charset="-122"/>
                          <a:ea typeface="微软雅黑" pitchFamily="34" charset="-122"/>
                        </a:rPr>
                        <a:t>1</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200" kern="100" dirty="0">
                          <a:effectLst/>
                          <a:latin typeface="微软雅黑" pitchFamily="34" charset="-122"/>
                          <a:ea typeface="微软雅黑" pitchFamily="34" charset="-122"/>
                        </a:rPr>
                        <a:t>各</a:t>
                      </a:r>
                      <a:r>
                        <a:rPr lang="zh-CN" sz="1200" kern="100" dirty="0" smtClean="0">
                          <a:effectLst/>
                          <a:latin typeface="微软雅黑" pitchFamily="34" charset="-122"/>
                          <a:ea typeface="微软雅黑" pitchFamily="34" charset="-122"/>
                        </a:rPr>
                        <a:t>季节</a:t>
                      </a:r>
                      <a:r>
                        <a:rPr lang="zh-CN" altLang="en-US" sz="1200" kern="100" dirty="0" smtClean="0">
                          <a:effectLst/>
                          <a:latin typeface="微软雅黑" pitchFamily="34" charset="-122"/>
                          <a:ea typeface="微软雅黑" pitchFamily="34" charset="-122"/>
                        </a:rPr>
                        <a:t>期货</a:t>
                      </a:r>
                      <a:r>
                        <a:rPr lang="zh-CN" sz="1200" kern="100" dirty="0" smtClean="0">
                          <a:effectLst/>
                          <a:latin typeface="微软雅黑" pitchFamily="34" charset="-122"/>
                          <a:ea typeface="微软雅黑" pitchFamily="34" charset="-122"/>
                        </a:rPr>
                        <a:t>货品</a:t>
                      </a:r>
                      <a:r>
                        <a:rPr lang="zh-CN" sz="1200" kern="100" dirty="0">
                          <a:effectLst/>
                          <a:latin typeface="微软雅黑" pitchFamily="34" charset="-122"/>
                          <a:ea typeface="微软雅黑" pitchFamily="34" charset="-122"/>
                        </a:rPr>
                        <a:t>的配发</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marL="171450" lvl="0" indent="-171450" algn="l">
                        <a:spcAft>
                          <a:spcPts val="0"/>
                        </a:spcAft>
                        <a:buFont typeface="Wingdings" pitchFamily="2" charset="2"/>
                        <a:buChar char="l"/>
                      </a:pPr>
                      <a:r>
                        <a:rPr lang="zh-CN" sz="1200" kern="100" dirty="0">
                          <a:effectLst/>
                          <a:latin typeface="微软雅黑" pitchFamily="34" charset="-122"/>
                          <a:ea typeface="微软雅黑" pitchFamily="34" charset="-122"/>
                        </a:rPr>
                        <a:t>在开季</a:t>
                      </a:r>
                      <a:r>
                        <a:rPr lang="zh-CN" sz="1200" kern="100" dirty="0" smtClean="0">
                          <a:effectLst/>
                          <a:latin typeface="微软雅黑" pitchFamily="34" charset="-122"/>
                          <a:ea typeface="微软雅黑" pitchFamily="34" charset="-122"/>
                        </a:rPr>
                        <a:t>前</a:t>
                      </a:r>
                      <a:r>
                        <a:rPr lang="zh-CN" altLang="en-US" sz="1200" kern="100" dirty="0" smtClean="0">
                          <a:effectLst/>
                          <a:latin typeface="微软雅黑" pitchFamily="34" charset="-122"/>
                          <a:ea typeface="微软雅黑" pitchFamily="34" charset="-122"/>
                        </a:rPr>
                        <a:t>分销商</a:t>
                      </a:r>
                      <a:r>
                        <a:rPr lang="zh-CN" sz="1200" kern="100" dirty="0" smtClean="0">
                          <a:effectLst/>
                          <a:latin typeface="微软雅黑" pitchFamily="34" charset="-122"/>
                          <a:ea typeface="微软雅黑" pitchFamily="34" charset="-122"/>
                        </a:rPr>
                        <a:t>沟通</a:t>
                      </a:r>
                      <a:r>
                        <a:rPr lang="zh-CN" sz="1200" kern="100" dirty="0">
                          <a:effectLst/>
                          <a:latin typeface="微软雅黑" pitchFamily="34" charset="-122"/>
                          <a:ea typeface="微软雅黑" pitchFamily="34" charset="-122"/>
                        </a:rPr>
                        <a:t>货品的上货波段及配发</a:t>
                      </a:r>
                      <a:r>
                        <a:rPr lang="zh-CN" sz="1200" kern="100" dirty="0" smtClean="0">
                          <a:effectLst/>
                          <a:latin typeface="微软雅黑" pitchFamily="34" charset="-122"/>
                          <a:ea typeface="微软雅黑" pitchFamily="34" charset="-122"/>
                        </a:rPr>
                        <a:t>比例</a:t>
                      </a:r>
                      <a:endParaRPr lang="zh-CN" sz="12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200" kern="100" dirty="0">
                          <a:effectLst/>
                          <a:latin typeface="微软雅黑" pitchFamily="34" charset="-122"/>
                          <a:ea typeface="微软雅黑" pitchFamily="34" charset="-122"/>
                        </a:rPr>
                        <a:t>各季节的货品，依据上货规划对所有的货品按批次进行配发</a:t>
                      </a:r>
                    </a:p>
                    <a:p>
                      <a:pPr marL="171450" lvl="0" indent="-171450" algn="l">
                        <a:spcAft>
                          <a:spcPts val="0"/>
                        </a:spcAft>
                        <a:buFont typeface="Wingdings" pitchFamily="2" charset="2"/>
                        <a:buChar char="l"/>
                      </a:pPr>
                      <a:r>
                        <a:rPr lang="zh-CN" sz="1200" kern="100" dirty="0" smtClean="0">
                          <a:effectLst/>
                          <a:latin typeface="微软雅黑" pitchFamily="34" charset="-122"/>
                          <a:ea typeface="微软雅黑" pitchFamily="34" charset="-122"/>
                        </a:rPr>
                        <a:t>收集</a:t>
                      </a:r>
                      <a:r>
                        <a:rPr lang="zh-CN" sz="1200" kern="100" dirty="0">
                          <a:effectLst/>
                          <a:latin typeface="微软雅黑" pitchFamily="34" charset="-122"/>
                          <a:ea typeface="微软雅黑" pitchFamily="34" charset="-122"/>
                        </a:rPr>
                        <a:t>新品到店的表现</a:t>
                      </a:r>
                      <a:r>
                        <a:rPr lang="zh-CN" sz="1200" kern="100" dirty="0" smtClean="0">
                          <a:effectLst/>
                          <a:latin typeface="微软雅黑" pitchFamily="34" charset="-122"/>
                          <a:ea typeface="微软雅黑" pitchFamily="34" charset="-122"/>
                        </a:rPr>
                        <a:t>状况</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200" kern="100" dirty="0">
                          <a:effectLst/>
                          <a:latin typeface="微软雅黑" pitchFamily="34" charset="-122"/>
                          <a:ea typeface="微软雅黑" pitchFamily="34" charset="-122"/>
                        </a:rPr>
                        <a:t>每季开季前及季中货品执行</a:t>
                      </a:r>
                      <a:endParaRPr lang="zh-CN" sz="1200" kern="100" dirty="0">
                        <a:effectLst/>
                        <a:latin typeface="微软雅黑" pitchFamily="34" charset="-122"/>
                        <a:ea typeface="微软雅黑" pitchFamily="34" charset="-122"/>
                        <a:cs typeface="Times New Roman"/>
                      </a:endParaRPr>
                    </a:p>
                  </a:txBody>
                  <a:tcPr marL="50288" marR="50288" marT="0" marB="0" anchor="ctr"/>
                </a:tc>
              </a:tr>
              <a:tr h="1039020">
                <a:tc>
                  <a:txBody>
                    <a:bodyPr/>
                    <a:lstStyle/>
                    <a:p>
                      <a:pPr algn="ctr">
                        <a:spcAft>
                          <a:spcPts val="0"/>
                        </a:spcAft>
                      </a:pPr>
                      <a:r>
                        <a:rPr lang="en-US" altLang="zh-CN" sz="1000" kern="100" dirty="0" smtClean="0">
                          <a:effectLst/>
                          <a:latin typeface="微软雅黑" pitchFamily="34" charset="-122"/>
                          <a:ea typeface="微软雅黑" pitchFamily="34" charset="-122"/>
                          <a:cs typeface="Times New Roman"/>
                        </a:rPr>
                        <a:t>2</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altLang="zh-CN" sz="1200" kern="100" dirty="0" smtClean="0">
                          <a:effectLst/>
                          <a:latin typeface="微软雅黑" pitchFamily="34" charset="-122"/>
                          <a:ea typeface="微软雅黑" pitchFamily="34" charset="-122"/>
                        </a:rPr>
                        <a:t>各季节</a:t>
                      </a:r>
                      <a:r>
                        <a:rPr lang="zh-CN" altLang="en-US" sz="1200" kern="100" dirty="0" smtClean="0">
                          <a:effectLst/>
                          <a:latin typeface="微软雅黑" pitchFamily="34" charset="-122"/>
                          <a:ea typeface="微软雅黑" pitchFamily="34" charset="-122"/>
                        </a:rPr>
                        <a:t>补充</a:t>
                      </a:r>
                      <a:r>
                        <a:rPr lang="zh-CN" altLang="zh-CN" sz="1200" kern="100" dirty="0" smtClean="0">
                          <a:effectLst/>
                          <a:latin typeface="微软雅黑" pitchFamily="34" charset="-122"/>
                          <a:ea typeface="微软雅黑" pitchFamily="34" charset="-122"/>
                        </a:rPr>
                        <a:t>货品的配发</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marL="171450" lvl="0" indent="-171450" algn="l">
                        <a:spcAft>
                          <a:spcPts val="0"/>
                        </a:spcAft>
                        <a:buFont typeface="Wingdings" pitchFamily="2" charset="2"/>
                        <a:buChar char="l"/>
                      </a:pPr>
                      <a:r>
                        <a:rPr lang="zh-CN" altLang="en-US" sz="1200" kern="100" dirty="0" smtClean="0">
                          <a:effectLst/>
                          <a:latin typeface="微软雅黑" pitchFamily="34" charset="-122"/>
                          <a:ea typeface="微软雅黑" pitchFamily="34" charset="-122"/>
                          <a:cs typeface="Times New Roman"/>
                        </a:rPr>
                        <a:t>在季中结合各分销商目标完成情况，目前仓存状况进行补充款式沟通发货</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1200" kern="100" dirty="0" smtClean="0">
                          <a:effectLst/>
                          <a:latin typeface="微软雅黑" pitchFamily="34" charset="-122"/>
                          <a:ea typeface="微软雅黑" pitchFamily="34" charset="-122"/>
                        </a:rPr>
                        <a:t>季中货品执行</a:t>
                      </a:r>
                      <a:endParaRPr lang="zh-CN" altLang="zh-CN" sz="1200" kern="100" dirty="0" smtClean="0">
                        <a:effectLst/>
                        <a:latin typeface="微软雅黑" pitchFamily="34" charset="-122"/>
                        <a:ea typeface="微软雅黑" pitchFamily="34" charset="-122"/>
                        <a:cs typeface="Times New Roman"/>
                      </a:endParaRPr>
                    </a:p>
                    <a:p>
                      <a:pPr algn="ctr">
                        <a:spcAft>
                          <a:spcPts val="0"/>
                        </a:spcAft>
                      </a:pPr>
                      <a:endParaRPr lang="zh-CN" sz="1200" kern="100" dirty="0">
                        <a:effectLst/>
                        <a:latin typeface="微软雅黑" pitchFamily="34" charset="-122"/>
                        <a:ea typeface="微软雅黑" pitchFamily="34" charset="-122"/>
                        <a:cs typeface="Times New Roman"/>
                      </a:endParaRPr>
                    </a:p>
                  </a:txBody>
                  <a:tcPr marL="50288" marR="50288" marT="0" marB="0" anchor="ctr"/>
                </a:tc>
              </a:tr>
              <a:tr h="1288550">
                <a:tc>
                  <a:txBody>
                    <a:bodyPr/>
                    <a:lstStyle/>
                    <a:p>
                      <a:pPr algn="ctr">
                        <a:spcAft>
                          <a:spcPts val="0"/>
                        </a:spcAft>
                      </a:pPr>
                      <a:r>
                        <a:rPr lang="en-US" sz="1000" kern="100" dirty="0" smtClean="0">
                          <a:effectLst/>
                          <a:latin typeface="微软雅黑" pitchFamily="34" charset="-122"/>
                          <a:ea typeface="微软雅黑" pitchFamily="34" charset="-122"/>
                        </a:rPr>
                        <a:t>3</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altLang="en-US" sz="1200" kern="100" dirty="0" smtClean="0">
                          <a:effectLst/>
                          <a:latin typeface="微软雅黑" pitchFamily="34" charset="-122"/>
                          <a:ea typeface="微软雅黑" pitchFamily="34" charset="-122"/>
                        </a:rPr>
                        <a:t>分销各季</a:t>
                      </a:r>
                      <a:r>
                        <a:rPr lang="zh-CN" sz="1200" kern="100" dirty="0" smtClean="0">
                          <a:effectLst/>
                          <a:latin typeface="微软雅黑" pitchFamily="34" charset="-122"/>
                          <a:ea typeface="微软雅黑" pitchFamily="34" charset="-122"/>
                        </a:rPr>
                        <a:t>订货</a:t>
                      </a:r>
                      <a:r>
                        <a:rPr lang="zh-CN" sz="1200" kern="100" dirty="0">
                          <a:effectLst/>
                          <a:latin typeface="微软雅黑" pitchFamily="34" charset="-122"/>
                          <a:ea typeface="微软雅黑" pitchFamily="34" charset="-122"/>
                        </a:rPr>
                        <a:t>规划 </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marL="171450" lvl="0" indent="-171450" algn="l">
                        <a:spcAft>
                          <a:spcPts val="0"/>
                        </a:spcAft>
                        <a:buFont typeface="Wingdings" pitchFamily="2" charset="2"/>
                        <a:buChar char="l"/>
                      </a:pPr>
                      <a:r>
                        <a:rPr lang="zh-CN" sz="1200" kern="100" dirty="0" smtClean="0">
                          <a:effectLst/>
                          <a:latin typeface="微软雅黑" pitchFamily="34" charset="-122"/>
                          <a:ea typeface="微软雅黑" pitchFamily="34" charset="-122"/>
                        </a:rPr>
                        <a:t>依据</a:t>
                      </a:r>
                      <a:r>
                        <a:rPr lang="zh-CN" altLang="en-US" sz="1200" kern="100" dirty="0" smtClean="0">
                          <a:effectLst/>
                          <a:latin typeface="微软雅黑" pitchFamily="34" charset="-122"/>
                          <a:ea typeface="微软雅黑" pitchFamily="34" charset="-122"/>
                        </a:rPr>
                        <a:t>各分销商的</a:t>
                      </a:r>
                      <a:r>
                        <a:rPr lang="zh-CN" sz="1200" kern="100" dirty="0" smtClean="0">
                          <a:effectLst/>
                          <a:latin typeface="微软雅黑" pitchFamily="34" charset="-122"/>
                          <a:ea typeface="微软雅黑" pitchFamily="34" charset="-122"/>
                        </a:rPr>
                        <a:t>目标</a:t>
                      </a:r>
                      <a:r>
                        <a:rPr lang="zh-CN" sz="1200" kern="100" dirty="0">
                          <a:effectLst/>
                          <a:latin typeface="微软雅黑" pitchFamily="34" charset="-122"/>
                          <a:ea typeface="微软雅黑" pitchFamily="34" charset="-122"/>
                        </a:rPr>
                        <a:t>、实际销售</a:t>
                      </a:r>
                      <a:r>
                        <a:rPr lang="zh-CN" sz="1200" kern="100" dirty="0" smtClean="0">
                          <a:effectLst/>
                          <a:latin typeface="微软雅黑" pitchFamily="34" charset="-122"/>
                          <a:ea typeface="微软雅黑" pitchFamily="34" charset="-122"/>
                        </a:rPr>
                        <a:t>、库存及</a:t>
                      </a:r>
                      <a:r>
                        <a:rPr lang="zh-CN" altLang="en-US" sz="1200" kern="100" dirty="0" smtClean="0">
                          <a:effectLst/>
                          <a:latin typeface="微软雅黑" pitchFamily="34" charset="-122"/>
                          <a:ea typeface="微软雅黑" pitchFamily="34" charset="-122"/>
                        </a:rPr>
                        <a:t>样品</a:t>
                      </a:r>
                      <a:r>
                        <a:rPr lang="zh-CN" sz="1200" kern="100" dirty="0" smtClean="0">
                          <a:effectLst/>
                          <a:latin typeface="微软雅黑" pitchFamily="34" charset="-122"/>
                          <a:ea typeface="微软雅黑" pitchFamily="34" charset="-122"/>
                        </a:rPr>
                        <a:t>资料</a:t>
                      </a:r>
                      <a:r>
                        <a:rPr lang="zh-CN" sz="1200" kern="100" dirty="0">
                          <a:effectLst/>
                          <a:latin typeface="微软雅黑" pitchFamily="34" charset="-122"/>
                          <a:ea typeface="微软雅黑" pitchFamily="34" charset="-122"/>
                        </a:rPr>
                        <a:t>等进行</a:t>
                      </a:r>
                      <a:r>
                        <a:rPr lang="zh-CN" sz="1200" kern="100" dirty="0" smtClean="0">
                          <a:effectLst/>
                          <a:latin typeface="微软雅黑" pitchFamily="34" charset="-122"/>
                          <a:ea typeface="微软雅黑" pitchFamily="34" charset="-122"/>
                        </a:rPr>
                        <a:t>各</a:t>
                      </a:r>
                      <a:r>
                        <a:rPr lang="zh-CN" altLang="en-US" sz="1200" kern="100" dirty="0" smtClean="0">
                          <a:effectLst/>
                          <a:latin typeface="微软雅黑" pitchFamily="34" charset="-122"/>
                          <a:ea typeface="微软雅黑" pitchFamily="34" charset="-122"/>
                        </a:rPr>
                        <a:t>分销商订货规划</a:t>
                      </a:r>
                      <a:r>
                        <a:rPr lang="zh-CN" sz="1200" kern="100" dirty="0" smtClean="0">
                          <a:effectLst/>
                          <a:latin typeface="微软雅黑" pitchFamily="34" charset="-122"/>
                          <a:ea typeface="微软雅黑" pitchFamily="34" charset="-122"/>
                        </a:rPr>
                        <a:t>，</a:t>
                      </a:r>
                      <a:r>
                        <a:rPr lang="zh-CN" sz="1200" kern="100" dirty="0">
                          <a:effectLst/>
                          <a:latin typeface="微软雅黑" pitchFamily="34" charset="-122"/>
                          <a:ea typeface="微软雅黑" pitchFamily="34" charset="-122"/>
                        </a:rPr>
                        <a:t>确定出合理</a:t>
                      </a:r>
                      <a:r>
                        <a:rPr lang="zh-CN" sz="1200" kern="100" dirty="0" smtClean="0">
                          <a:effectLst/>
                          <a:latin typeface="微软雅黑" pitchFamily="34" charset="-122"/>
                          <a:ea typeface="微软雅黑" pitchFamily="34" charset="-122"/>
                        </a:rPr>
                        <a:t>的</a:t>
                      </a:r>
                      <a:r>
                        <a:rPr lang="zh-CN" altLang="en-US" sz="1200" kern="100" dirty="0" smtClean="0">
                          <a:effectLst/>
                          <a:latin typeface="微软雅黑" pitchFamily="34" charset="-122"/>
                          <a:ea typeface="微软雅黑" pitchFamily="34" charset="-122"/>
                        </a:rPr>
                        <a:t>上货目标</a:t>
                      </a:r>
                      <a:r>
                        <a:rPr lang="zh-CN" sz="1200" kern="100" dirty="0" smtClean="0">
                          <a:effectLst/>
                          <a:latin typeface="微软雅黑" pitchFamily="34" charset="-122"/>
                          <a:ea typeface="微软雅黑" pitchFamily="34" charset="-122"/>
                        </a:rPr>
                        <a:t>及各</a:t>
                      </a:r>
                      <a:r>
                        <a:rPr lang="zh-CN" altLang="en-US" sz="1200" kern="100" dirty="0" smtClean="0">
                          <a:effectLst/>
                          <a:latin typeface="微软雅黑" pitchFamily="34" charset="-122"/>
                          <a:ea typeface="微软雅黑" pitchFamily="34" charset="-122"/>
                        </a:rPr>
                        <a:t>品类的</a:t>
                      </a:r>
                      <a:r>
                        <a:rPr lang="en-US" sz="1200" kern="100" dirty="0" smtClean="0">
                          <a:effectLst/>
                          <a:latin typeface="微软雅黑" pitchFamily="34" charset="-122"/>
                          <a:ea typeface="微软雅黑" pitchFamily="34" charset="-122"/>
                        </a:rPr>
                        <a:t>SKU</a:t>
                      </a:r>
                      <a:r>
                        <a:rPr lang="zh-CN" sz="1200" kern="100" dirty="0">
                          <a:effectLst/>
                          <a:latin typeface="微软雅黑" pitchFamily="34" charset="-122"/>
                          <a:ea typeface="微软雅黑" pitchFamily="34" charset="-122"/>
                        </a:rPr>
                        <a:t>、数量</a:t>
                      </a:r>
                      <a:r>
                        <a:rPr lang="zh-CN" sz="1200" kern="100" dirty="0" smtClean="0">
                          <a:effectLst/>
                          <a:latin typeface="微软雅黑" pitchFamily="34" charset="-122"/>
                          <a:ea typeface="微软雅黑" pitchFamily="34" charset="-122"/>
                        </a:rPr>
                        <a:t>、等</a:t>
                      </a:r>
                      <a:endParaRPr lang="zh-CN" sz="1200" kern="100" dirty="0">
                        <a:effectLst/>
                        <a:latin typeface="微软雅黑" pitchFamily="34" charset="-122"/>
                        <a:ea typeface="微软雅黑" pitchFamily="34" charset="-122"/>
                      </a:endParaRPr>
                    </a:p>
                    <a:p>
                      <a:pPr marL="171450" lvl="0" indent="-171450" algn="l">
                        <a:spcAft>
                          <a:spcPts val="0"/>
                        </a:spcAft>
                        <a:buFont typeface="Wingdings" pitchFamily="2" charset="2"/>
                        <a:buChar char="l"/>
                      </a:pPr>
                      <a:r>
                        <a:rPr lang="zh-CN" sz="1200" kern="100" dirty="0" smtClean="0">
                          <a:effectLst/>
                          <a:latin typeface="微软雅黑" pitchFamily="34" charset="-122"/>
                          <a:ea typeface="微软雅黑" pitchFamily="34" charset="-122"/>
                        </a:rPr>
                        <a:t>在</a:t>
                      </a:r>
                      <a:r>
                        <a:rPr lang="zh-CN" sz="1200" kern="100" dirty="0">
                          <a:effectLst/>
                          <a:latin typeface="微软雅黑" pitchFamily="34" charset="-122"/>
                          <a:ea typeface="微软雅黑" pitchFamily="34" charset="-122"/>
                        </a:rPr>
                        <a:t>订货会期间负责</a:t>
                      </a:r>
                      <a:r>
                        <a:rPr lang="zh-CN" sz="1200" kern="100" dirty="0" smtClean="0">
                          <a:effectLst/>
                          <a:latin typeface="微软雅黑" pitchFamily="34" charset="-122"/>
                          <a:ea typeface="微软雅黑" pitchFamily="34" charset="-122"/>
                        </a:rPr>
                        <a:t>跟进</a:t>
                      </a:r>
                      <a:r>
                        <a:rPr lang="zh-CN" altLang="en-US" sz="1200" kern="100" dirty="0" smtClean="0">
                          <a:effectLst/>
                          <a:latin typeface="微软雅黑" pitchFamily="34" charset="-122"/>
                          <a:ea typeface="微软雅黑" pitchFamily="34" charset="-122"/>
                        </a:rPr>
                        <a:t>分销客户</a:t>
                      </a:r>
                      <a:r>
                        <a:rPr lang="zh-CN" sz="1200" kern="100" dirty="0" smtClean="0">
                          <a:effectLst/>
                          <a:latin typeface="微软雅黑" pitchFamily="34" charset="-122"/>
                          <a:ea typeface="微软雅黑" pitchFamily="34" charset="-122"/>
                        </a:rPr>
                        <a:t>的</a:t>
                      </a:r>
                      <a:r>
                        <a:rPr lang="zh-CN" sz="1200" kern="100" dirty="0">
                          <a:effectLst/>
                          <a:latin typeface="微软雅黑" pitchFamily="34" charset="-122"/>
                          <a:ea typeface="微软雅黑" pitchFamily="34" charset="-122"/>
                        </a:rPr>
                        <a:t>订单录入、订单总量的</a:t>
                      </a:r>
                      <a:r>
                        <a:rPr lang="zh-CN" sz="1200" kern="100" dirty="0" smtClean="0">
                          <a:effectLst/>
                          <a:latin typeface="微软雅黑" pitchFamily="34" charset="-122"/>
                          <a:ea typeface="微软雅黑" pitchFamily="34" charset="-122"/>
                        </a:rPr>
                        <a:t>核定</a:t>
                      </a:r>
                      <a:endParaRPr lang="zh-CN" sz="1200" kern="100" dirty="0">
                        <a:effectLst/>
                        <a:latin typeface="微软雅黑" pitchFamily="34" charset="-122"/>
                        <a:ea typeface="微软雅黑" pitchFamily="34" charset="-122"/>
                      </a:endParaRPr>
                    </a:p>
                  </a:txBody>
                  <a:tcPr marL="50288" marR="50288" marT="0" marB="0" anchor="ctr"/>
                </a:tc>
                <a:tc>
                  <a:txBody>
                    <a:bodyPr/>
                    <a:lstStyle/>
                    <a:p>
                      <a:pPr algn="ctr">
                        <a:spcAft>
                          <a:spcPts val="0"/>
                        </a:spcAft>
                      </a:pPr>
                      <a:r>
                        <a:rPr lang="zh-CN" sz="1200" kern="100" dirty="0">
                          <a:effectLst/>
                          <a:latin typeface="微软雅黑" pitchFamily="34" charset="-122"/>
                          <a:ea typeface="微软雅黑" pitchFamily="34" charset="-122"/>
                        </a:rPr>
                        <a:t>订货会期间执行</a:t>
                      </a:r>
                      <a:endParaRPr lang="zh-CN" sz="1200" kern="100" dirty="0">
                        <a:effectLst/>
                        <a:latin typeface="微软雅黑" pitchFamily="34" charset="-122"/>
                        <a:ea typeface="微软雅黑" pitchFamily="34" charset="-122"/>
                        <a:cs typeface="Times New Roman"/>
                      </a:endParaRPr>
                    </a:p>
                  </a:txBody>
                  <a:tcPr marL="50288" marR="50288" marT="0" marB="0" anchor="ctr"/>
                </a:tc>
              </a:tr>
              <a:tr h="802439">
                <a:tc>
                  <a:txBody>
                    <a:bodyPr/>
                    <a:lstStyle/>
                    <a:p>
                      <a:pPr algn="ctr">
                        <a:spcAft>
                          <a:spcPts val="0"/>
                        </a:spcAft>
                      </a:pPr>
                      <a:r>
                        <a:rPr lang="en-US" sz="1000" kern="100" dirty="0" smtClean="0">
                          <a:effectLst/>
                          <a:latin typeface="微软雅黑" pitchFamily="34" charset="-122"/>
                          <a:ea typeface="微软雅黑" pitchFamily="34" charset="-122"/>
                        </a:rPr>
                        <a:t>4</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altLang="en-US" sz="1200" kern="100" dirty="0" smtClean="0">
                          <a:effectLst/>
                          <a:latin typeface="微软雅黑" pitchFamily="34" charset="-122"/>
                          <a:ea typeface="微软雅黑" pitchFamily="34" charset="-122"/>
                        </a:rPr>
                        <a:t>分销</a:t>
                      </a:r>
                      <a:r>
                        <a:rPr lang="zh-CN" sz="1200" kern="100" dirty="0" smtClean="0">
                          <a:effectLst/>
                          <a:latin typeface="微软雅黑" pitchFamily="34" charset="-122"/>
                          <a:ea typeface="微软雅黑" pitchFamily="34" charset="-122"/>
                        </a:rPr>
                        <a:t>周</a:t>
                      </a:r>
                      <a:r>
                        <a:rPr lang="zh-CN" sz="1200" kern="100" dirty="0">
                          <a:effectLst/>
                          <a:latin typeface="微软雅黑" pitchFamily="34" charset="-122"/>
                          <a:ea typeface="微软雅黑" pitchFamily="34" charset="-122"/>
                        </a:rPr>
                        <a:t>销售分析</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marL="171450" indent="-171450" algn="l">
                        <a:spcAft>
                          <a:spcPts val="0"/>
                        </a:spcAft>
                        <a:buFont typeface="Wingdings" pitchFamily="2" charset="2"/>
                        <a:buChar char="l"/>
                      </a:pPr>
                      <a:r>
                        <a:rPr lang="zh-CN" sz="1200" kern="100" dirty="0">
                          <a:effectLst/>
                          <a:latin typeface="微软雅黑" pitchFamily="34" charset="-122"/>
                          <a:ea typeface="微软雅黑" pitchFamily="34" charset="-122"/>
                        </a:rPr>
                        <a:t>每周一或</a:t>
                      </a:r>
                      <a:r>
                        <a:rPr lang="zh-CN" sz="1200" kern="100" dirty="0" smtClean="0">
                          <a:effectLst/>
                          <a:latin typeface="微软雅黑" pitchFamily="34" charset="-122"/>
                          <a:ea typeface="微软雅黑" pitchFamily="34" charset="-122"/>
                        </a:rPr>
                        <a:t>周二</a:t>
                      </a:r>
                      <a:r>
                        <a:rPr lang="zh-CN" altLang="en-US" sz="1200" kern="100" dirty="0" smtClean="0">
                          <a:effectLst/>
                          <a:latin typeface="微软雅黑" pitchFamily="34" charset="-122"/>
                          <a:ea typeface="微软雅黑" pitchFamily="34" charset="-122"/>
                        </a:rPr>
                        <a:t>分销</a:t>
                      </a:r>
                      <a:r>
                        <a:rPr lang="zh-CN" sz="1200" kern="100" dirty="0" smtClean="0">
                          <a:effectLst/>
                          <a:latin typeface="微软雅黑" pitchFamily="34" charset="-122"/>
                          <a:ea typeface="微软雅黑" pitchFamily="34" charset="-122"/>
                        </a:rPr>
                        <a:t>周报</a:t>
                      </a:r>
                      <a:r>
                        <a:rPr lang="zh-CN" sz="1200" kern="100" dirty="0">
                          <a:effectLst/>
                          <a:latin typeface="微软雅黑" pitchFamily="34" charset="-122"/>
                          <a:ea typeface="微软雅黑" pitchFamily="34" charset="-122"/>
                        </a:rPr>
                        <a:t>表的分析，对于出现异常数据</a:t>
                      </a:r>
                      <a:r>
                        <a:rPr lang="zh-CN" sz="1200" kern="100" dirty="0" smtClean="0">
                          <a:effectLst/>
                          <a:latin typeface="微软雅黑" pitchFamily="34" charset="-122"/>
                          <a:ea typeface="微软雅黑" pitchFamily="34" charset="-122"/>
                        </a:rPr>
                        <a:t>的</a:t>
                      </a:r>
                      <a:r>
                        <a:rPr lang="zh-CN" altLang="en-US" sz="1200" kern="100" dirty="0" smtClean="0">
                          <a:effectLst/>
                          <a:latin typeface="微软雅黑" pitchFamily="34" charset="-122"/>
                          <a:ea typeface="微软雅黑" pitchFamily="34" charset="-122"/>
                        </a:rPr>
                        <a:t>分销客户</a:t>
                      </a:r>
                      <a:r>
                        <a:rPr lang="zh-CN" sz="1200" kern="100" dirty="0" smtClean="0">
                          <a:effectLst/>
                          <a:latin typeface="微软雅黑" pitchFamily="34" charset="-122"/>
                          <a:ea typeface="微软雅黑" pitchFamily="34" charset="-122"/>
                        </a:rPr>
                        <a:t>及时</a:t>
                      </a:r>
                      <a:r>
                        <a:rPr lang="zh-CN" sz="1200" kern="100" dirty="0">
                          <a:effectLst/>
                          <a:latin typeface="微软雅黑" pitchFamily="34" charset="-122"/>
                          <a:ea typeface="微软雅黑" pitchFamily="34" charset="-122"/>
                        </a:rPr>
                        <a:t>关注，沟通问题，对于货品的问题及时进行调整并</a:t>
                      </a:r>
                      <a:r>
                        <a:rPr lang="zh-CN" sz="1200" kern="100" dirty="0" smtClean="0">
                          <a:effectLst/>
                          <a:latin typeface="微软雅黑" pitchFamily="34" charset="-122"/>
                          <a:ea typeface="微软雅黑" pitchFamily="34" charset="-122"/>
                        </a:rPr>
                        <a:t>跟进</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200" kern="100" dirty="0">
                          <a:effectLst/>
                          <a:latin typeface="微软雅黑" pitchFamily="34" charset="-122"/>
                          <a:ea typeface="微软雅黑" pitchFamily="34" charset="-122"/>
                        </a:rPr>
                        <a:t>每周定期有效执行</a:t>
                      </a:r>
                      <a:endParaRPr lang="zh-CN" sz="1200" kern="100" dirty="0">
                        <a:effectLst/>
                        <a:latin typeface="微软雅黑" pitchFamily="34" charset="-122"/>
                        <a:ea typeface="微软雅黑" pitchFamily="34" charset="-122"/>
                        <a:cs typeface="Times New Roman"/>
                      </a:endParaRPr>
                    </a:p>
                  </a:txBody>
                  <a:tcPr marL="50288" marR="50288" marT="0" marB="0" anchor="ctr"/>
                </a:tc>
              </a:tr>
              <a:tr h="702252">
                <a:tc>
                  <a:txBody>
                    <a:bodyPr/>
                    <a:lstStyle/>
                    <a:p>
                      <a:pPr algn="ctr">
                        <a:spcAft>
                          <a:spcPts val="0"/>
                        </a:spcAft>
                      </a:pPr>
                      <a:r>
                        <a:rPr lang="en-US" sz="1000" kern="100" dirty="0" smtClean="0">
                          <a:effectLst/>
                          <a:latin typeface="微软雅黑" pitchFamily="34" charset="-122"/>
                          <a:ea typeface="微软雅黑" pitchFamily="34" charset="-122"/>
                        </a:rPr>
                        <a:t>5</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200" kern="100" dirty="0">
                          <a:effectLst/>
                          <a:latin typeface="微软雅黑" pitchFamily="34" charset="-122"/>
                          <a:ea typeface="微软雅黑" pitchFamily="34" charset="-122"/>
                        </a:rPr>
                        <a:t>完成上级主管的其他工作 </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marL="171450" indent="-171450" algn="l">
                        <a:spcAft>
                          <a:spcPts val="0"/>
                        </a:spcAft>
                        <a:buFont typeface="Wingdings" pitchFamily="2" charset="2"/>
                        <a:buChar char="l"/>
                      </a:pPr>
                      <a:r>
                        <a:rPr lang="zh-CN" sz="1200" kern="100" dirty="0">
                          <a:effectLst/>
                          <a:latin typeface="微软雅黑" pitchFamily="34" charset="-122"/>
                          <a:ea typeface="微软雅黑" pitchFamily="34" charset="-122"/>
                        </a:rPr>
                        <a:t>服从上级领导的管理，接受上级领导临时布置的各项工作指令，做到合理、适宜的工作安排，达到及时、有效完成</a:t>
                      </a:r>
                      <a:r>
                        <a:rPr lang="zh-CN" sz="1200" kern="100" dirty="0" smtClean="0">
                          <a:effectLst/>
                          <a:latin typeface="微软雅黑" pitchFamily="34" charset="-122"/>
                          <a:ea typeface="微软雅黑" pitchFamily="34" charset="-122"/>
                        </a:rPr>
                        <a:t>任务</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200" kern="100" dirty="0">
                          <a:effectLst/>
                          <a:latin typeface="微软雅黑" pitchFamily="34" charset="-122"/>
                          <a:ea typeface="微软雅黑" pitchFamily="34" charset="-122"/>
                        </a:rPr>
                        <a:t>日常执行</a:t>
                      </a:r>
                      <a:endParaRPr lang="zh-CN" sz="1200" kern="100" dirty="0">
                        <a:effectLst/>
                        <a:latin typeface="微软雅黑" pitchFamily="34" charset="-122"/>
                        <a:ea typeface="微软雅黑" pitchFamily="34" charset="-122"/>
                        <a:cs typeface="Times New Roman"/>
                      </a:endParaRPr>
                    </a:p>
                  </a:txBody>
                  <a:tcPr marL="50288" marR="50288" marT="0" marB="0" anchor="ctr"/>
                </a:tc>
              </a:tr>
            </a:tbl>
          </a:graphicData>
        </a:graphic>
      </p:graphicFrame>
    </p:spTree>
    <p:extLst>
      <p:ext uri="{BB962C8B-B14F-4D97-AF65-F5344CB8AC3E}">
        <p14:creationId xmlns:p14="http://schemas.microsoft.com/office/powerpoint/2010/main" val="209778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352839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商品部职责</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售后组</a:t>
            </a:r>
            <a:endParaRPr lang="zh-CN" altLang="en-US" dirty="0">
              <a:latin typeface="微软雅黑" pitchFamily="34" charset="-122"/>
              <a:ea typeface="微软雅黑"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3614111703"/>
              </p:ext>
            </p:extLst>
          </p:nvPr>
        </p:nvGraphicFramePr>
        <p:xfrm>
          <a:off x="611560" y="764704"/>
          <a:ext cx="7776864" cy="5184576"/>
        </p:xfrm>
        <a:graphic>
          <a:graphicData uri="http://schemas.openxmlformats.org/drawingml/2006/table">
            <a:tbl>
              <a:tblPr firstRow="1" firstCol="1" bandRow="1">
                <a:tableStyleId>{5940675A-B579-460E-94D1-54222C63F5DA}</a:tableStyleId>
              </a:tblPr>
              <a:tblGrid>
                <a:gridCol w="420371"/>
                <a:gridCol w="1066584"/>
                <a:gridCol w="5497820"/>
                <a:gridCol w="792089"/>
              </a:tblGrid>
              <a:tr h="294163">
                <a:tc>
                  <a:txBody>
                    <a:bodyPr/>
                    <a:lstStyle/>
                    <a:p>
                      <a:pPr algn="ctr">
                        <a:spcAft>
                          <a:spcPts val="0"/>
                        </a:spcAft>
                      </a:pPr>
                      <a:r>
                        <a:rPr lang="zh-CN" sz="1000" kern="100" dirty="0">
                          <a:effectLst/>
                          <a:latin typeface="微软雅黑" pitchFamily="34" charset="-122"/>
                          <a:ea typeface="微软雅黑" pitchFamily="34" charset="-122"/>
                        </a:rPr>
                        <a:t>序号</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200" kern="100" dirty="0">
                          <a:effectLst/>
                          <a:latin typeface="微软雅黑" pitchFamily="34" charset="-122"/>
                          <a:ea typeface="微软雅黑" pitchFamily="34" charset="-122"/>
                        </a:rPr>
                        <a:t>工作流程</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工作职责要求和标准</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marL="57150" indent="-57150" algn="ctr">
                        <a:spcAft>
                          <a:spcPts val="0"/>
                        </a:spcAft>
                      </a:pPr>
                      <a:r>
                        <a:rPr lang="zh-CN" sz="1000" kern="100">
                          <a:effectLst/>
                          <a:latin typeface="微软雅黑" pitchFamily="34" charset="-122"/>
                          <a:ea typeface="微软雅黑" pitchFamily="34" charset="-122"/>
                        </a:rPr>
                        <a:t>频次和时间</a:t>
                      </a:r>
                      <a:endParaRPr lang="zh-CN" sz="1000" kern="100">
                        <a:effectLst/>
                        <a:latin typeface="微软雅黑" pitchFamily="34" charset="-122"/>
                        <a:ea typeface="微软雅黑" pitchFamily="34" charset="-122"/>
                        <a:cs typeface="Times New Roman"/>
                      </a:endParaRPr>
                    </a:p>
                  </a:txBody>
                  <a:tcPr marL="50288" marR="50288" marT="0" marB="0" anchor="ctr"/>
                </a:tc>
              </a:tr>
              <a:tr h="782947">
                <a:tc>
                  <a:txBody>
                    <a:bodyPr/>
                    <a:lstStyle/>
                    <a:p>
                      <a:pPr algn="ctr">
                        <a:spcAft>
                          <a:spcPts val="0"/>
                        </a:spcAft>
                      </a:pPr>
                      <a:r>
                        <a:rPr lang="en-US" sz="1000" kern="100">
                          <a:effectLst/>
                          <a:latin typeface="微软雅黑" pitchFamily="34" charset="-122"/>
                          <a:ea typeface="微软雅黑" pitchFamily="34" charset="-122"/>
                        </a:rPr>
                        <a:t>1</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残次品的跟踪</a:t>
                      </a:r>
                      <a:endParaRPr lang="zh-CN" altLang="en-US" sz="1200" dirty="0">
                        <a:latin typeface="微软雅黑" pitchFamily="34" charset="-122"/>
                        <a:ea typeface="微软雅黑" pitchFamily="34" charset="-122"/>
                      </a:endParaRPr>
                    </a:p>
                  </a:txBody>
                  <a:tcPr marL="50288" marR="50288" marT="0" marB="0" anchor="ctr"/>
                </a:tc>
                <a:tc>
                  <a:txBody>
                    <a:bodyPr/>
                    <a:lstStyle/>
                    <a:p>
                      <a:pPr marL="285750" indent="-285750">
                        <a:buFont typeface="Wingdings" pitchFamily="2" charset="2"/>
                        <a:buChar char="l"/>
                      </a:pPr>
                      <a:r>
                        <a:rPr lang="zh-CN" altLang="en-US" sz="1200" dirty="0" smtClean="0">
                          <a:latin typeface="微软雅黑" pitchFamily="34" charset="-122"/>
                          <a:ea typeface="微软雅黑" pitchFamily="34" charset="-122"/>
                        </a:rPr>
                        <a:t>收到店铺（分销）的残次品后务必在</a:t>
                      </a:r>
                      <a:r>
                        <a:rPr lang="en-US" altLang="zh-CN" sz="1200" dirty="0" smtClean="0">
                          <a:latin typeface="微软雅黑" pitchFamily="34" charset="-122"/>
                          <a:ea typeface="微软雅黑" pitchFamily="34" charset="-122"/>
                        </a:rPr>
                        <a:t>2</a:t>
                      </a:r>
                      <a:r>
                        <a:rPr lang="zh-CN" altLang="en-US" sz="1200" dirty="0" smtClean="0">
                          <a:latin typeface="微软雅黑" pitchFamily="34" charset="-122"/>
                          <a:ea typeface="微软雅黑" pitchFamily="34" charset="-122"/>
                        </a:rPr>
                        <a:t>个工作日内给予明确的回复</a:t>
                      </a:r>
                      <a:endParaRPr lang="en-US" altLang="zh-CN" sz="1200" dirty="0" smtClean="0">
                        <a:latin typeface="微软雅黑" pitchFamily="34" charset="-122"/>
                        <a:ea typeface="微软雅黑" pitchFamily="34" charset="-122"/>
                      </a:endParaRPr>
                    </a:p>
                    <a:p>
                      <a:pPr marL="285750" indent="-285750">
                        <a:buFont typeface="Wingdings" pitchFamily="2" charset="2"/>
                        <a:buChar char="l"/>
                      </a:pPr>
                      <a:r>
                        <a:rPr lang="zh-CN" altLang="en-US" sz="1200" dirty="0" smtClean="0">
                          <a:latin typeface="微软雅黑" pitchFamily="34" charset="-122"/>
                          <a:ea typeface="微软雅黑" pitchFamily="34" charset="-122"/>
                        </a:rPr>
                        <a:t>对于返厂维修的残次品，登记清楚，跟进返回时间</a:t>
                      </a:r>
                      <a:endParaRPr lang="en-US" altLang="zh-CN" sz="1200" dirty="0" smtClean="0">
                        <a:latin typeface="微软雅黑" pitchFamily="34" charset="-122"/>
                        <a:ea typeface="微软雅黑" pitchFamily="34" charset="-122"/>
                      </a:endParaRPr>
                    </a:p>
                    <a:p>
                      <a:pPr marL="285750" indent="-285750">
                        <a:buFont typeface="Wingdings" pitchFamily="2" charset="2"/>
                        <a:buChar char="l"/>
                      </a:pPr>
                      <a:endParaRPr lang="zh-CN" altLang="en-US" sz="1200" dirty="0">
                        <a:latin typeface="微软雅黑" pitchFamily="34" charset="-122"/>
                        <a:ea typeface="微软雅黑" pitchFamily="34" charset="-122"/>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日常执行</a:t>
                      </a:r>
                      <a:endParaRPr lang="zh-CN" altLang="en-US" sz="1200" dirty="0">
                        <a:latin typeface="微软雅黑" pitchFamily="34" charset="-122"/>
                        <a:ea typeface="微软雅黑" pitchFamily="34" charset="-122"/>
                      </a:endParaRPr>
                    </a:p>
                  </a:txBody>
                  <a:tcPr marL="50288" marR="50288" marT="0" marB="0" anchor="ctr"/>
                </a:tc>
              </a:tr>
              <a:tr h="862835">
                <a:tc>
                  <a:txBody>
                    <a:bodyPr/>
                    <a:lstStyle/>
                    <a:p>
                      <a:pPr algn="ctr">
                        <a:spcAft>
                          <a:spcPts val="0"/>
                        </a:spcAft>
                      </a:pPr>
                      <a:r>
                        <a:rPr lang="en-US" sz="1000" kern="100">
                          <a:effectLst/>
                          <a:latin typeface="微软雅黑" pitchFamily="34" charset="-122"/>
                          <a:ea typeface="微软雅黑" pitchFamily="34" charset="-122"/>
                        </a:rPr>
                        <a:t>2</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残次品的检验</a:t>
                      </a:r>
                      <a:endParaRPr lang="zh-CN" altLang="en-US" sz="1200" dirty="0">
                        <a:latin typeface="微软雅黑" pitchFamily="34" charset="-122"/>
                        <a:ea typeface="微软雅黑" pitchFamily="34" charset="-122"/>
                      </a:endParaRPr>
                    </a:p>
                  </a:txBody>
                  <a:tcPr marL="50288" marR="50288" marT="0" marB="0" anchor="ctr"/>
                </a:tc>
                <a:tc>
                  <a:txBody>
                    <a:bodyPr/>
                    <a:lstStyle/>
                    <a:p>
                      <a:pPr marL="285750" indent="-285750">
                        <a:buFont typeface="Wingdings" pitchFamily="2" charset="2"/>
                        <a:buChar char="l"/>
                      </a:pPr>
                      <a:r>
                        <a:rPr lang="zh-CN" altLang="en-US" sz="1200" dirty="0" smtClean="0">
                          <a:latin typeface="微软雅黑" pitchFamily="34" charset="-122"/>
                          <a:ea typeface="微软雅黑" pitchFamily="34" charset="-122"/>
                        </a:rPr>
                        <a:t>对于收到的残次品仔细检查残次状况，判定维修货退货</a:t>
                      </a:r>
                      <a:endParaRPr lang="en-US" altLang="zh-CN" sz="1200" dirty="0" smtClean="0">
                        <a:latin typeface="微软雅黑" pitchFamily="34" charset="-122"/>
                        <a:ea typeface="微软雅黑" pitchFamily="34" charset="-122"/>
                      </a:endParaRPr>
                    </a:p>
                    <a:p>
                      <a:pPr marL="285750" indent="-285750">
                        <a:buFont typeface="Wingdings" pitchFamily="2" charset="2"/>
                        <a:buChar char="l"/>
                      </a:pPr>
                      <a:r>
                        <a:rPr lang="zh-CN" altLang="en-US" sz="1200" dirty="0" smtClean="0">
                          <a:latin typeface="微软雅黑" pitchFamily="34" charset="-122"/>
                          <a:ea typeface="微软雅黑" pitchFamily="34" charset="-122"/>
                        </a:rPr>
                        <a:t>跟进残次售卖时间，合理确定折旧费</a:t>
                      </a:r>
                      <a:endParaRPr lang="en-US" altLang="zh-CN" sz="1200" dirty="0" smtClean="0">
                        <a:latin typeface="微软雅黑" pitchFamily="34" charset="-122"/>
                        <a:ea typeface="微软雅黑" pitchFamily="34" charset="-122"/>
                      </a:endParaRPr>
                    </a:p>
                  </a:txBody>
                  <a:tcPr marL="50288" marR="50288" marT="0" marB="0" anchor="ctr"/>
                </a:tc>
                <a:tc>
                  <a:txBody>
                    <a:bodyPr/>
                    <a:lstStyle/>
                    <a:p>
                      <a:pPr algn="ctr"/>
                      <a:r>
                        <a:rPr lang="zh-CN" altLang="en-US" sz="1200" smtClean="0">
                          <a:latin typeface="微软雅黑" pitchFamily="34" charset="-122"/>
                          <a:ea typeface="微软雅黑" pitchFamily="34" charset="-122"/>
                        </a:rPr>
                        <a:t>日常执行</a:t>
                      </a:r>
                      <a:endParaRPr lang="zh-CN" altLang="en-US" sz="1200" dirty="0">
                        <a:latin typeface="微软雅黑" pitchFamily="34" charset="-122"/>
                        <a:ea typeface="微软雅黑" pitchFamily="34" charset="-122"/>
                      </a:endParaRPr>
                    </a:p>
                  </a:txBody>
                  <a:tcPr marL="50288" marR="50288" marT="0" marB="0" anchor="ctr"/>
                </a:tc>
              </a:tr>
              <a:tr h="821053">
                <a:tc>
                  <a:txBody>
                    <a:bodyPr/>
                    <a:lstStyle/>
                    <a:p>
                      <a:pPr algn="ctr">
                        <a:spcAft>
                          <a:spcPts val="0"/>
                        </a:spcAft>
                      </a:pPr>
                      <a:r>
                        <a:rPr lang="en-US" sz="1000" kern="100">
                          <a:effectLst/>
                          <a:latin typeface="微软雅黑" pitchFamily="34" charset="-122"/>
                          <a:ea typeface="微软雅黑" pitchFamily="34" charset="-122"/>
                        </a:rPr>
                        <a:t>3</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残次品的账务跟踪</a:t>
                      </a:r>
                      <a:endParaRPr lang="zh-CN" altLang="en-US" sz="1200" dirty="0">
                        <a:latin typeface="微软雅黑" pitchFamily="34" charset="-122"/>
                        <a:ea typeface="微软雅黑" pitchFamily="34" charset="-122"/>
                      </a:endParaRPr>
                    </a:p>
                  </a:txBody>
                  <a:tcPr marL="50288" marR="50288" marT="0" marB="0" anchor="ctr"/>
                </a:tc>
                <a:tc>
                  <a:txBody>
                    <a:bodyPr/>
                    <a:lstStyle/>
                    <a:p>
                      <a:pPr marL="285750" indent="-285750">
                        <a:buFont typeface="Wingdings" pitchFamily="2" charset="2"/>
                        <a:buChar char="l"/>
                      </a:pPr>
                      <a:r>
                        <a:rPr lang="zh-CN" altLang="en-US" sz="1200" dirty="0" smtClean="0">
                          <a:latin typeface="微软雅黑" pitchFamily="34" charset="-122"/>
                          <a:ea typeface="微软雅黑" pitchFamily="34" charset="-122"/>
                        </a:rPr>
                        <a:t>及时登记残次账务并通知店铺确认单据（判定后</a:t>
                      </a:r>
                      <a:r>
                        <a:rPr lang="en-US" altLang="zh-CN" sz="1200" dirty="0" smtClean="0">
                          <a:latin typeface="微软雅黑" pitchFamily="34" charset="-122"/>
                          <a:ea typeface="微软雅黑" pitchFamily="34" charset="-122"/>
                        </a:rPr>
                        <a:t>2</a:t>
                      </a:r>
                      <a:r>
                        <a:rPr lang="zh-CN" altLang="en-US" sz="1200" dirty="0" smtClean="0">
                          <a:latin typeface="微软雅黑" pitchFamily="34" charset="-122"/>
                          <a:ea typeface="微软雅黑" pitchFamily="34" charset="-122"/>
                        </a:rPr>
                        <a:t>个工作日）</a:t>
                      </a:r>
                      <a:endParaRPr lang="zh-CN" altLang="en-US" sz="1200" dirty="0">
                        <a:latin typeface="微软雅黑" pitchFamily="34" charset="-122"/>
                        <a:ea typeface="微软雅黑" pitchFamily="34" charset="-122"/>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日常执行</a:t>
                      </a:r>
                      <a:endParaRPr lang="zh-CN" altLang="en-US" sz="1200" dirty="0">
                        <a:latin typeface="微软雅黑" pitchFamily="34" charset="-122"/>
                        <a:ea typeface="微软雅黑" pitchFamily="34" charset="-122"/>
                      </a:endParaRPr>
                    </a:p>
                  </a:txBody>
                  <a:tcPr marL="50288" marR="50288" marT="0" marB="0" anchor="ctr"/>
                </a:tc>
              </a:tr>
              <a:tr h="918119">
                <a:tc>
                  <a:txBody>
                    <a:bodyPr/>
                    <a:lstStyle/>
                    <a:p>
                      <a:pPr algn="ctr">
                        <a:spcAft>
                          <a:spcPts val="0"/>
                        </a:spcAft>
                      </a:pPr>
                      <a:r>
                        <a:rPr lang="en-US" sz="1000" kern="100">
                          <a:effectLst/>
                          <a:latin typeface="微软雅黑" pitchFamily="34" charset="-122"/>
                          <a:ea typeface="微软雅黑" pitchFamily="34" charset="-122"/>
                        </a:rPr>
                        <a:t>4</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残次品的定价</a:t>
                      </a:r>
                      <a:endParaRPr lang="zh-CN" altLang="en-US" sz="1200" dirty="0">
                        <a:latin typeface="微软雅黑" pitchFamily="34" charset="-122"/>
                        <a:ea typeface="微软雅黑" pitchFamily="34" charset="-122"/>
                      </a:endParaRPr>
                    </a:p>
                  </a:txBody>
                  <a:tcPr marL="50288" marR="50288" marT="0" marB="0" anchor="ctr"/>
                </a:tc>
                <a:tc>
                  <a:txBody>
                    <a:bodyPr/>
                    <a:lstStyle/>
                    <a:p>
                      <a:pPr marL="285750" indent="-285750">
                        <a:buFont typeface="Wingdings" pitchFamily="2" charset="2"/>
                        <a:buChar char="l"/>
                      </a:pPr>
                      <a:r>
                        <a:rPr lang="zh-CN" altLang="en-US" sz="1200" dirty="0" smtClean="0">
                          <a:latin typeface="微软雅黑" pitchFamily="34" charset="-122"/>
                          <a:ea typeface="微软雅黑" pitchFamily="34" charset="-122"/>
                        </a:rPr>
                        <a:t>协助组织返修鞋的二次订价工作</a:t>
                      </a:r>
                      <a:endParaRPr lang="en-US" altLang="zh-CN" sz="1200" dirty="0" smtClean="0">
                        <a:latin typeface="微软雅黑" pitchFamily="34" charset="-122"/>
                        <a:ea typeface="微软雅黑" pitchFamily="34" charset="-122"/>
                      </a:endParaRPr>
                    </a:p>
                    <a:p>
                      <a:pPr marL="285750" indent="-285750">
                        <a:buFont typeface="Wingdings" pitchFamily="2" charset="2"/>
                        <a:buChar char="l"/>
                      </a:pPr>
                      <a:r>
                        <a:rPr lang="zh-CN" altLang="en-US" sz="1200" dirty="0" smtClean="0">
                          <a:latin typeface="微软雅黑" pitchFamily="34" charset="-122"/>
                          <a:ea typeface="微软雅黑" pitchFamily="34" charset="-122"/>
                        </a:rPr>
                        <a:t>对于返修鞋加注明显标识，并跟进出库状况</a:t>
                      </a:r>
                      <a:endParaRPr lang="zh-CN" altLang="en-US" sz="1200" dirty="0">
                        <a:latin typeface="微软雅黑" pitchFamily="34" charset="-122"/>
                        <a:ea typeface="微软雅黑" pitchFamily="34" charset="-122"/>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定期执行</a:t>
                      </a:r>
                      <a:endParaRPr lang="zh-CN" altLang="en-US" sz="1200" dirty="0">
                        <a:latin typeface="微软雅黑" pitchFamily="34" charset="-122"/>
                        <a:ea typeface="微软雅黑" pitchFamily="34" charset="-122"/>
                      </a:endParaRPr>
                    </a:p>
                  </a:txBody>
                  <a:tcPr marL="50288" marR="50288" marT="0" marB="0" anchor="ctr"/>
                </a:tc>
              </a:tr>
              <a:tr h="770048">
                <a:tc>
                  <a:txBody>
                    <a:bodyPr/>
                    <a:lstStyle/>
                    <a:p>
                      <a:pPr algn="ctr">
                        <a:spcAft>
                          <a:spcPts val="0"/>
                        </a:spcAft>
                      </a:pPr>
                      <a:r>
                        <a:rPr lang="en-US" sz="1000" kern="100" dirty="0">
                          <a:effectLst/>
                          <a:latin typeface="微软雅黑" pitchFamily="34" charset="-122"/>
                          <a:ea typeface="微软雅黑" pitchFamily="34" charset="-122"/>
                        </a:rPr>
                        <a:t>5</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dirty="0" smtClean="0">
                          <a:latin typeface="微软雅黑" pitchFamily="34" charset="-122"/>
                          <a:ea typeface="微软雅黑" pitchFamily="34" charset="-122"/>
                        </a:rPr>
                        <a:t>残次品的相关制度</a:t>
                      </a:r>
                    </a:p>
                    <a:p>
                      <a:pPr algn="ctr"/>
                      <a:endParaRPr lang="zh-CN" altLang="en-US" sz="1200" dirty="0">
                        <a:latin typeface="微软雅黑" pitchFamily="34" charset="-122"/>
                        <a:ea typeface="微软雅黑" pitchFamily="34" charset="-122"/>
                      </a:endParaRPr>
                    </a:p>
                  </a:txBody>
                  <a:tcPr marL="50288" marR="50288" marT="0" marB="0" anchor="ctr"/>
                </a:tc>
                <a:tc>
                  <a:txBody>
                    <a:bodyPr/>
                    <a:lstStyle/>
                    <a:p>
                      <a:pPr marL="285750" indent="-285750">
                        <a:buFont typeface="Wingdings" pitchFamily="2" charset="2"/>
                        <a:buChar char="l"/>
                      </a:pPr>
                      <a:r>
                        <a:rPr lang="zh-CN" altLang="en-US" sz="1200" dirty="0" smtClean="0">
                          <a:latin typeface="微软雅黑" pitchFamily="34" charset="-122"/>
                          <a:ea typeface="微软雅黑" pitchFamily="34" charset="-122"/>
                        </a:rPr>
                        <a:t>梳理残次品相关的流程制度并落实执行状况</a:t>
                      </a:r>
                      <a:endParaRPr lang="en-US" altLang="zh-CN" sz="1200" dirty="0" smtClean="0">
                        <a:latin typeface="微软雅黑" pitchFamily="34" charset="-122"/>
                        <a:ea typeface="微软雅黑" pitchFamily="34" charset="-122"/>
                      </a:endParaRPr>
                    </a:p>
                    <a:p>
                      <a:pPr marL="285750" indent="-285750">
                        <a:buFont typeface="Wingdings" pitchFamily="2" charset="2"/>
                        <a:buChar char="l"/>
                      </a:pPr>
                      <a:r>
                        <a:rPr lang="zh-CN" altLang="en-US" sz="1200" dirty="0" smtClean="0">
                          <a:latin typeface="微软雅黑" pitchFamily="34" charset="-122"/>
                          <a:ea typeface="微软雅黑" pitchFamily="34" charset="-122"/>
                        </a:rPr>
                        <a:t>及时评估流程制度的合理性，完善流程制度</a:t>
                      </a:r>
                      <a:endParaRPr lang="zh-CN" altLang="en-US" sz="1200" dirty="0">
                        <a:latin typeface="微软雅黑" pitchFamily="34" charset="-122"/>
                        <a:ea typeface="微软雅黑" pitchFamily="34" charset="-122"/>
                      </a:endParaRPr>
                    </a:p>
                  </a:txBody>
                  <a:tcPr marL="50288" marR="50288"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dirty="0" smtClean="0">
                          <a:latin typeface="微软雅黑" pitchFamily="34" charset="-122"/>
                          <a:ea typeface="微软雅黑" pitchFamily="34" charset="-122"/>
                        </a:rPr>
                        <a:t>定期执行</a:t>
                      </a:r>
                    </a:p>
                  </a:txBody>
                  <a:tcPr marL="50288" marR="50288" marT="0" marB="0" anchor="ctr"/>
                </a:tc>
              </a:tr>
              <a:tr h="735411">
                <a:tc>
                  <a:txBody>
                    <a:bodyPr/>
                    <a:lstStyle/>
                    <a:p>
                      <a:pPr algn="ctr">
                        <a:spcAft>
                          <a:spcPts val="0"/>
                        </a:spcAft>
                      </a:pPr>
                      <a:r>
                        <a:rPr lang="en-US" sz="1000" kern="100">
                          <a:effectLst/>
                          <a:latin typeface="微软雅黑" pitchFamily="34" charset="-122"/>
                          <a:ea typeface="微软雅黑" pitchFamily="34" charset="-122"/>
                        </a:rPr>
                        <a:t>6</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200" kern="100" dirty="0">
                          <a:effectLst/>
                          <a:latin typeface="微软雅黑" pitchFamily="34" charset="-122"/>
                          <a:ea typeface="微软雅黑" pitchFamily="34" charset="-122"/>
                        </a:rPr>
                        <a:t>完成上级主管的其他工作 </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marL="171450" indent="-171450" algn="l">
                        <a:spcAft>
                          <a:spcPts val="0"/>
                        </a:spcAft>
                        <a:buFont typeface="Wingdings" pitchFamily="2" charset="2"/>
                        <a:buChar char="l"/>
                      </a:pPr>
                      <a:r>
                        <a:rPr lang="zh-CN" sz="1200" kern="100" dirty="0">
                          <a:effectLst/>
                          <a:latin typeface="微软雅黑" pitchFamily="34" charset="-122"/>
                          <a:ea typeface="微软雅黑" pitchFamily="34" charset="-122"/>
                        </a:rPr>
                        <a:t>服从上级领导的管理，接受上级领导临时布置的各项工作指令，做到合理、适宜的工作安排，达到及时、有效完成</a:t>
                      </a:r>
                      <a:r>
                        <a:rPr lang="zh-CN" sz="1200" kern="100" dirty="0" smtClean="0">
                          <a:effectLst/>
                          <a:latin typeface="微软雅黑" pitchFamily="34" charset="-122"/>
                          <a:ea typeface="微软雅黑" pitchFamily="34" charset="-122"/>
                        </a:rPr>
                        <a:t>任务</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200" kern="100" dirty="0">
                          <a:effectLst/>
                          <a:latin typeface="微软雅黑" pitchFamily="34" charset="-122"/>
                          <a:ea typeface="微软雅黑" pitchFamily="34" charset="-122"/>
                        </a:rPr>
                        <a:t>日常执行</a:t>
                      </a:r>
                      <a:endParaRPr lang="zh-CN" sz="1200" kern="100" dirty="0">
                        <a:effectLst/>
                        <a:latin typeface="微软雅黑" pitchFamily="34" charset="-122"/>
                        <a:ea typeface="微软雅黑" pitchFamily="34" charset="-122"/>
                        <a:cs typeface="Times New Roman"/>
                      </a:endParaRPr>
                    </a:p>
                  </a:txBody>
                  <a:tcPr marL="50288" marR="50288" marT="0" marB="0" anchor="ctr"/>
                </a:tc>
              </a:tr>
            </a:tbl>
          </a:graphicData>
        </a:graphic>
      </p:graphicFrame>
    </p:spTree>
    <p:extLst>
      <p:ext uri="{BB962C8B-B14F-4D97-AF65-F5344CB8AC3E}">
        <p14:creationId xmlns:p14="http://schemas.microsoft.com/office/powerpoint/2010/main" val="209778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352839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商品部职责</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数据组</a:t>
            </a:r>
            <a:endParaRPr lang="zh-CN" altLang="en-US" dirty="0">
              <a:latin typeface="微软雅黑" pitchFamily="34" charset="-122"/>
              <a:ea typeface="微软雅黑"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1312003005"/>
              </p:ext>
            </p:extLst>
          </p:nvPr>
        </p:nvGraphicFramePr>
        <p:xfrm>
          <a:off x="683568" y="866321"/>
          <a:ext cx="7776864" cy="4578903"/>
        </p:xfrm>
        <a:graphic>
          <a:graphicData uri="http://schemas.openxmlformats.org/drawingml/2006/table">
            <a:tbl>
              <a:tblPr firstRow="1" firstCol="1" bandRow="1">
                <a:tableStyleId>{5940675A-B579-460E-94D1-54222C63F5DA}</a:tableStyleId>
              </a:tblPr>
              <a:tblGrid>
                <a:gridCol w="420371"/>
                <a:gridCol w="1066584"/>
                <a:gridCol w="5497820"/>
                <a:gridCol w="792089"/>
              </a:tblGrid>
              <a:tr h="385237">
                <a:tc>
                  <a:txBody>
                    <a:bodyPr/>
                    <a:lstStyle/>
                    <a:p>
                      <a:pPr algn="ctr">
                        <a:spcAft>
                          <a:spcPts val="0"/>
                        </a:spcAft>
                      </a:pPr>
                      <a:r>
                        <a:rPr lang="zh-CN" sz="1000" kern="100" dirty="0">
                          <a:effectLst/>
                          <a:latin typeface="微软雅黑" pitchFamily="34" charset="-122"/>
                          <a:ea typeface="微软雅黑" pitchFamily="34" charset="-122"/>
                        </a:rPr>
                        <a:t>序号</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工作流程</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000" kern="100" dirty="0">
                          <a:effectLst/>
                          <a:latin typeface="微软雅黑" pitchFamily="34" charset="-122"/>
                          <a:ea typeface="微软雅黑" pitchFamily="34" charset="-122"/>
                        </a:rPr>
                        <a:t>工作职责要求和标准</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marL="57150" indent="-57150" algn="ctr">
                        <a:spcAft>
                          <a:spcPts val="0"/>
                        </a:spcAft>
                      </a:pPr>
                      <a:r>
                        <a:rPr lang="zh-CN" sz="1000" kern="100">
                          <a:effectLst/>
                          <a:latin typeface="微软雅黑" pitchFamily="34" charset="-122"/>
                          <a:ea typeface="微软雅黑" pitchFamily="34" charset="-122"/>
                        </a:rPr>
                        <a:t>频次和时间</a:t>
                      </a:r>
                      <a:endParaRPr lang="zh-CN" sz="1000" kern="100">
                        <a:effectLst/>
                        <a:latin typeface="微软雅黑" pitchFamily="34" charset="-122"/>
                        <a:ea typeface="微软雅黑" pitchFamily="34" charset="-122"/>
                        <a:cs typeface="Times New Roman"/>
                      </a:endParaRPr>
                    </a:p>
                  </a:txBody>
                  <a:tcPr marL="50288" marR="50288" marT="0" marB="0" anchor="ctr"/>
                </a:tc>
              </a:tr>
              <a:tr h="1025349">
                <a:tc>
                  <a:txBody>
                    <a:bodyPr/>
                    <a:lstStyle/>
                    <a:p>
                      <a:pPr algn="ctr">
                        <a:spcAft>
                          <a:spcPts val="0"/>
                        </a:spcAft>
                      </a:pPr>
                      <a:r>
                        <a:rPr lang="en-US" sz="1000" kern="100">
                          <a:effectLst/>
                          <a:latin typeface="微软雅黑" pitchFamily="34" charset="-122"/>
                          <a:ea typeface="微软雅黑" pitchFamily="34" charset="-122"/>
                        </a:rPr>
                        <a:t>1</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altLang="en-US" sz="1200" kern="100" dirty="0" smtClean="0">
                          <a:effectLst/>
                          <a:latin typeface="微软雅黑" pitchFamily="34" charset="-122"/>
                          <a:ea typeface="微软雅黑" pitchFamily="34" charset="-122"/>
                          <a:cs typeface="Times New Roman"/>
                        </a:rPr>
                        <a:t>固定报表</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marL="285750" indent="-285750">
                        <a:buFont typeface="Wingdings" pitchFamily="2" charset="2"/>
                        <a:buChar char="l"/>
                      </a:pPr>
                      <a:r>
                        <a:rPr lang="zh-CN" altLang="en-US" sz="1200" dirty="0" smtClean="0">
                          <a:latin typeface="微软雅黑" pitchFamily="34" charset="-122"/>
                          <a:ea typeface="微软雅黑" pitchFamily="34" charset="-122"/>
                        </a:rPr>
                        <a:t>准确及时的完成相关定期报表的制作与分析</a:t>
                      </a:r>
                      <a:endParaRPr lang="en-US" altLang="zh-CN" sz="1200" dirty="0" smtClean="0">
                        <a:latin typeface="微软雅黑" pitchFamily="34" charset="-122"/>
                        <a:ea typeface="微软雅黑" pitchFamily="34" charset="-122"/>
                      </a:endParaRPr>
                    </a:p>
                    <a:p>
                      <a:pPr marL="285750" indent="-285750">
                        <a:buFont typeface="Wingdings" pitchFamily="2" charset="2"/>
                        <a:buChar char="l"/>
                      </a:pPr>
                      <a:r>
                        <a:rPr lang="zh-CN" altLang="en-US" sz="1200" dirty="0" smtClean="0">
                          <a:latin typeface="微软雅黑" pitchFamily="34" charset="-122"/>
                          <a:ea typeface="微软雅黑" pitchFamily="34" charset="-122"/>
                        </a:rPr>
                        <a:t>逐步完善报表模板</a:t>
                      </a:r>
                      <a:endParaRPr lang="zh-CN" altLang="en-US" sz="1200" dirty="0">
                        <a:latin typeface="微软雅黑" pitchFamily="34" charset="-122"/>
                        <a:ea typeface="微软雅黑" pitchFamily="34" charset="-122"/>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定期执行</a:t>
                      </a:r>
                      <a:endParaRPr lang="zh-CN" altLang="en-US" sz="1200" dirty="0">
                        <a:latin typeface="微软雅黑" pitchFamily="34" charset="-122"/>
                        <a:ea typeface="微软雅黑" pitchFamily="34" charset="-122"/>
                      </a:endParaRPr>
                    </a:p>
                  </a:txBody>
                  <a:tcPr marL="50288" marR="50288" marT="0" marB="0" anchor="ctr"/>
                </a:tc>
              </a:tr>
              <a:tr h="1129969">
                <a:tc>
                  <a:txBody>
                    <a:bodyPr/>
                    <a:lstStyle/>
                    <a:p>
                      <a:pPr algn="ctr">
                        <a:spcAft>
                          <a:spcPts val="0"/>
                        </a:spcAft>
                      </a:pPr>
                      <a:r>
                        <a:rPr lang="en-US" sz="1000" kern="100">
                          <a:effectLst/>
                          <a:latin typeface="微软雅黑" pitchFamily="34" charset="-122"/>
                          <a:ea typeface="微软雅黑" pitchFamily="34" charset="-122"/>
                        </a:rPr>
                        <a:t>2</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临时报表</a:t>
                      </a:r>
                      <a:endParaRPr lang="zh-CN" altLang="en-US" sz="1200" dirty="0">
                        <a:latin typeface="微软雅黑" pitchFamily="34" charset="-122"/>
                        <a:ea typeface="微软雅黑" pitchFamily="34" charset="-122"/>
                      </a:endParaRPr>
                    </a:p>
                  </a:txBody>
                  <a:tcPr marL="50288" marR="50288" marT="0" marB="0" anchor="ctr"/>
                </a:tc>
                <a:tc>
                  <a:txBody>
                    <a:bodyPr/>
                    <a:lstStyle/>
                    <a:p>
                      <a:pPr marL="285750" indent="-285750">
                        <a:buFont typeface="Wingdings" pitchFamily="2" charset="2"/>
                        <a:buChar char="l"/>
                      </a:pPr>
                      <a:r>
                        <a:rPr lang="zh-CN" altLang="en-US" sz="1200" dirty="0" smtClean="0">
                          <a:latin typeface="微软雅黑" pitchFamily="34" charset="-122"/>
                          <a:ea typeface="微软雅黑" pitchFamily="34" charset="-122"/>
                        </a:rPr>
                        <a:t>及时完成各项临时数据的统计分析工作</a:t>
                      </a:r>
                      <a:endParaRPr lang="en-US" altLang="zh-CN" sz="1200" dirty="0" smtClean="0">
                        <a:latin typeface="微软雅黑" pitchFamily="34" charset="-122"/>
                        <a:ea typeface="微软雅黑" pitchFamily="34" charset="-122"/>
                      </a:endParaRPr>
                    </a:p>
                    <a:p>
                      <a:pPr marL="285750" indent="-285750">
                        <a:buFont typeface="Wingdings" pitchFamily="2" charset="2"/>
                        <a:buChar char="l"/>
                      </a:pPr>
                      <a:endParaRPr lang="zh-CN" altLang="en-US" sz="1200" dirty="0">
                        <a:latin typeface="微软雅黑" pitchFamily="34" charset="-122"/>
                        <a:ea typeface="微软雅黑" pitchFamily="34" charset="-122"/>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日常执行</a:t>
                      </a:r>
                      <a:endParaRPr lang="zh-CN" altLang="en-US" sz="1200" dirty="0">
                        <a:latin typeface="微软雅黑" pitchFamily="34" charset="-122"/>
                        <a:ea typeface="微软雅黑" pitchFamily="34" charset="-122"/>
                      </a:endParaRPr>
                    </a:p>
                  </a:txBody>
                  <a:tcPr marL="50288" marR="50288" marT="0" marB="0" anchor="ctr"/>
                </a:tc>
              </a:tr>
              <a:tr h="1075252">
                <a:tc>
                  <a:txBody>
                    <a:bodyPr/>
                    <a:lstStyle/>
                    <a:p>
                      <a:pPr algn="ctr">
                        <a:spcAft>
                          <a:spcPts val="0"/>
                        </a:spcAft>
                      </a:pPr>
                      <a:r>
                        <a:rPr lang="en-US" sz="1000" kern="100">
                          <a:effectLst/>
                          <a:latin typeface="微软雅黑" pitchFamily="34" charset="-122"/>
                          <a:ea typeface="微软雅黑" pitchFamily="34" charset="-122"/>
                        </a:rPr>
                        <a:t>3</a:t>
                      </a:r>
                      <a:endParaRPr lang="zh-CN" sz="1000" kern="100">
                        <a:effectLst/>
                        <a:latin typeface="微软雅黑" pitchFamily="34" charset="-122"/>
                        <a:ea typeface="微软雅黑" pitchFamily="34" charset="-122"/>
                        <a:cs typeface="Times New Roman"/>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数据备份</a:t>
                      </a:r>
                      <a:endParaRPr lang="zh-CN" altLang="en-US" sz="1200" dirty="0">
                        <a:latin typeface="微软雅黑" pitchFamily="34" charset="-122"/>
                        <a:ea typeface="微软雅黑" pitchFamily="34" charset="-122"/>
                      </a:endParaRPr>
                    </a:p>
                  </a:txBody>
                  <a:tcPr marL="50288" marR="50288" marT="0" marB="0" anchor="ctr"/>
                </a:tc>
                <a:tc>
                  <a:txBody>
                    <a:bodyPr/>
                    <a:lstStyle/>
                    <a:p>
                      <a:pPr marL="285750" indent="-285750">
                        <a:buFont typeface="Wingdings" pitchFamily="2" charset="2"/>
                        <a:buChar char="l"/>
                      </a:pPr>
                      <a:r>
                        <a:rPr lang="zh-CN" altLang="en-US" sz="1200" dirty="0" smtClean="0">
                          <a:latin typeface="微软雅黑" pitchFamily="34" charset="-122"/>
                          <a:ea typeface="微软雅黑" pitchFamily="34" charset="-122"/>
                        </a:rPr>
                        <a:t>定期对本门各项数据报表进行整理、备份</a:t>
                      </a:r>
                      <a:endParaRPr lang="en-US" altLang="zh-CN" sz="1200" dirty="0" smtClean="0">
                        <a:latin typeface="微软雅黑" pitchFamily="34" charset="-122"/>
                        <a:ea typeface="微软雅黑" pitchFamily="34" charset="-122"/>
                      </a:endParaRPr>
                    </a:p>
                    <a:p>
                      <a:pPr marL="285750" indent="-285750">
                        <a:buFont typeface="Wingdings" pitchFamily="2" charset="2"/>
                        <a:buChar char="l"/>
                      </a:pPr>
                      <a:r>
                        <a:rPr lang="zh-CN" altLang="en-US" sz="1200" dirty="0" smtClean="0">
                          <a:latin typeface="微软雅黑" pitchFamily="34" charset="-122"/>
                          <a:ea typeface="微软雅黑" pitchFamily="34" charset="-122"/>
                        </a:rPr>
                        <a:t>收集各项分析模板的相关通知等资料</a:t>
                      </a:r>
                      <a:endParaRPr lang="zh-CN" altLang="en-US" sz="1200" dirty="0">
                        <a:latin typeface="微软雅黑" pitchFamily="34" charset="-122"/>
                        <a:ea typeface="微软雅黑" pitchFamily="34" charset="-122"/>
                      </a:endParaRPr>
                    </a:p>
                  </a:txBody>
                  <a:tcPr marL="50288" marR="50288" marT="0" marB="0" anchor="ctr"/>
                </a:tc>
                <a:tc>
                  <a:txBody>
                    <a:bodyPr/>
                    <a:lstStyle/>
                    <a:p>
                      <a:pPr algn="ctr"/>
                      <a:r>
                        <a:rPr lang="zh-CN" altLang="en-US" sz="1200" dirty="0" smtClean="0">
                          <a:latin typeface="微软雅黑" pitchFamily="34" charset="-122"/>
                          <a:ea typeface="微软雅黑" pitchFamily="34" charset="-122"/>
                        </a:rPr>
                        <a:t>定期执行</a:t>
                      </a:r>
                      <a:endParaRPr lang="zh-CN" altLang="en-US" sz="1200" dirty="0">
                        <a:latin typeface="微软雅黑" pitchFamily="34" charset="-122"/>
                        <a:ea typeface="微软雅黑" pitchFamily="34" charset="-122"/>
                      </a:endParaRPr>
                    </a:p>
                  </a:txBody>
                  <a:tcPr marL="50288" marR="50288" marT="0" marB="0" anchor="ctr"/>
                </a:tc>
              </a:tr>
              <a:tr h="963096">
                <a:tc>
                  <a:txBody>
                    <a:bodyPr/>
                    <a:lstStyle/>
                    <a:p>
                      <a:pPr algn="ctr">
                        <a:spcAft>
                          <a:spcPts val="0"/>
                        </a:spcAft>
                      </a:pPr>
                      <a:r>
                        <a:rPr lang="en-US" sz="1000" kern="100" dirty="0" smtClean="0">
                          <a:effectLst/>
                          <a:latin typeface="微软雅黑" pitchFamily="34" charset="-122"/>
                          <a:ea typeface="微软雅黑" pitchFamily="34" charset="-122"/>
                        </a:rPr>
                        <a:t>4</a:t>
                      </a:r>
                      <a:endParaRPr lang="zh-CN" sz="10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200" kern="100" dirty="0">
                          <a:effectLst/>
                          <a:latin typeface="微软雅黑" pitchFamily="34" charset="-122"/>
                          <a:ea typeface="微软雅黑" pitchFamily="34" charset="-122"/>
                        </a:rPr>
                        <a:t>完成上级主管的其他工作 </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marL="171450" indent="-171450" algn="l">
                        <a:spcAft>
                          <a:spcPts val="0"/>
                        </a:spcAft>
                        <a:buFont typeface="Wingdings" pitchFamily="2" charset="2"/>
                        <a:buChar char="l"/>
                      </a:pPr>
                      <a:r>
                        <a:rPr lang="zh-CN" sz="1200" kern="100" dirty="0">
                          <a:effectLst/>
                          <a:latin typeface="微软雅黑" pitchFamily="34" charset="-122"/>
                          <a:ea typeface="微软雅黑" pitchFamily="34" charset="-122"/>
                        </a:rPr>
                        <a:t>服从上级领导的管理，接受上级领导临时布置的各项工作指令，做到合理、适宜的工作安排，达到及时、有效完成</a:t>
                      </a:r>
                      <a:r>
                        <a:rPr lang="zh-CN" sz="1200" kern="100" dirty="0" smtClean="0">
                          <a:effectLst/>
                          <a:latin typeface="微软雅黑" pitchFamily="34" charset="-122"/>
                          <a:ea typeface="微软雅黑" pitchFamily="34" charset="-122"/>
                        </a:rPr>
                        <a:t>任务</a:t>
                      </a:r>
                      <a:endParaRPr lang="zh-CN" sz="1200" kern="100" dirty="0">
                        <a:effectLst/>
                        <a:latin typeface="微软雅黑" pitchFamily="34" charset="-122"/>
                        <a:ea typeface="微软雅黑" pitchFamily="34" charset="-122"/>
                        <a:cs typeface="Times New Roman"/>
                      </a:endParaRPr>
                    </a:p>
                  </a:txBody>
                  <a:tcPr marL="50288" marR="50288" marT="0" marB="0" anchor="ctr"/>
                </a:tc>
                <a:tc>
                  <a:txBody>
                    <a:bodyPr/>
                    <a:lstStyle/>
                    <a:p>
                      <a:pPr algn="ctr">
                        <a:spcAft>
                          <a:spcPts val="0"/>
                        </a:spcAft>
                      </a:pPr>
                      <a:r>
                        <a:rPr lang="zh-CN" sz="1200" kern="100" dirty="0">
                          <a:effectLst/>
                          <a:latin typeface="微软雅黑" pitchFamily="34" charset="-122"/>
                          <a:ea typeface="微软雅黑" pitchFamily="34" charset="-122"/>
                        </a:rPr>
                        <a:t>日常执行</a:t>
                      </a:r>
                      <a:endParaRPr lang="zh-CN" sz="1200" kern="100" dirty="0">
                        <a:effectLst/>
                        <a:latin typeface="微软雅黑" pitchFamily="34" charset="-122"/>
                        <a:ea typeface="微软雅黑" pitchFamily="34" charset="-122"/>
                        <a:cs typeface="Times New Roman"/>
                      </a:endParaRPr>
                    </a:p>
                  </a:txBody>
                  <a:tcPr marL="50288" marR="50288" marT="0" marB="0" anchor="ctr"/>
                </a:tc>
              </a:tr>
            </a:tbl>
          </a:graphicData>
        </a:graphic>
      </p:graphicFrame>
    </p:spTree>
    <p:extLst>
      <p:ext uri="{BB962C8B-B14F-4D97-AF65-F5344CB8AC3E}">
        <p14:creationId xmlns:p14="http://schemas.microsoft.com/office/powerpoint/2010/main" val="1027649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59632" y="1052736"/>
            <a:ext cx="6336704" cy="584775"/>
          </a:xfrm>
          <a:prstGeom prst="rect">
            <a:avLst/>
          </a:prstGeom>
          <a:noFill/>
        </p:spPr>
        <p:txBody>
          <a:bodyPr wrap="square" rtlCol="0">
            <a:spAutoFit/>
          </a:bodyPr>
          <a:lstStyle/>
          <a:p>
            <a:pPr algn="ctr"/>
            <a:r>
              <a:rPr lang="zh-CN" altLang="en-US" sz="3200" dirty="0" smtClean="0">
                <a:latin typeface="微软雅黑" pitchFamily="34" charset="-122"/>
                <a:ea typeface="微软雅黑" pitchFamily="34" charset="-122"/>
              </a:rPr>
              <a:t>第二篇  分销货品管理制度</a:t>
            </a:r>
            <a:endParaRPr lang="zh-CN" altLang="en-US" sz="3200" dirty="0">
              <a:latin typeface="微软雅黑" pitchFamily="34" charset="-122"/>
              <a:ea typeface="微软雅黑" pitchFamily="34" charset="-122"/>
            </a:endParaRPr>
          </a:p>
        </p:txBody>
      </p:sp>
      <p:grpSp>
        <p:nvGrpSpPr>
          <p:cNvPr id="3" name="组合 2"/>
          <p:cNvGrpSpPr/>
          <p:nvPr/>
        </p:nvGrpSpPr>
        <p:grpSpPr>
          <a:xfrm>
            <a:off x="2814464" y="2132856"/>
            <a:ext cx="2981672" cy="609600"/>
            <a:chOff x="2814464" y="3244444"/>
            <a:chExt cx="2981672" cy="609600"/>
          </a:xfrm>
        </p:grpSpPr>
        <p:sp>
          <p:nvSpPr>
            <p:cNvPr id="4" name="TextBox 3"/>
            <p:cNvSpPr txBox="1"/>
            <p:nvPr/>
          </p:nvSpPr>
          <p:spPr>
            <a:xfrm>
              <a:off x="3389722" y="3264714"/>
              <a:ext cx="2406414" cy="523220"/>
            </a:xfrm>
            <a:prstGeom prst="rect">
              <a:avLst/>
            </a:prstGeom>
            <a:noFill/>
          </p:spPr>
          <p:txBody>
            <a:bodyPr wrap="square" rtlCol="0">
              <a:spAutoFit/>
            </a:bodyPr>
            <a:lstStyle/>
            <a:p>
              <a:r>
                <a:rPr lang="zh-CN" altLang="en-US" sz="2800" dirty="0" smtClean="0">
                  <a:latin typeface="微软雅黑" pitchFamily="34" charset="-122"/>
                  <a:ea typeface="微软雅黑" pitchFamily="34" charset="-122"/>
                </a:rPr>
                <a:t>期货管理规定</a:t>
              </a:r>
              <a:endParaRPr lang="zh-CN" altLang="en-US" sz="2800" dirty="0">
                <a:latin typeface="微软雅黑" pitchFamily="34" charset="-122"/>
                <a:ea typeface="微软雅黑" pitchFamily="34" charset="-122"/>
              </a:endParaRPr>
            </a:p>
          </p:txBody>
        </p:sp>
        <p:grpSp>
          <p:nvGrpSpPr>
            <p:cNvPr id="14" name="Group 42"/>
            <p:cNvGrpSpPr>
              <a:grpSpLocks/>
            </p:cNvGrpSpPr>
            <p:nvPr/>
          </p:nvGrpSpPr>
          <p:grpSpPr bwMode="auto">
            <a:xfrm>
              <a:off x="2814464" y="3244444"/>
              <a:ext cx="533400" cy="609600"/>
              <a:chOff x="982" y="214"/>
              <a:chExt cx="759" cy="872"/>
            </a:xfrm>
          </p:grpSpPr>
          <p:sp>
            <p:nvSpPr>
              <p:cNvPr id="15" name="Freeform 43"/>
              <p:cNvSpPr>
                <a:spLocks/>
              </p:cNvSpPr>
              <p:nvPr/>
            </p:nvSpPr>
            <p:spPr bwMode="auto">
              <a:xfrm>
                <a:off x="1214" y="214"/>
                <a:ext cx="299" cy="434"/>
              </a:xfrm>
              <a:custGeom>
                <a:avLst/>
                <a:gdLst>
                  <a:gd name="T0" fmla="*/ 174 w 299"/>
                  <a:gd name="T1" fmla="*/ 121 h 434"/>
                  <a:gd name="T2" fmla="*/ 174 w 299"/>
                  <a:gd name="T3" fmla="*/ 23 h 434"/>
                  <a:gd name="T4" fmla="*/ 170 w 299"/>
                  <a:gd name="T5" fmla="*/ 9 h 434"/>
                  <a:gd name="T6" fmla="*/ 165 w 299"/>
                  <a:gd name="T7" fmla="*/ 5 h 434"/>
                  <a:gd name="T8" fmla="*/ 156 w 299"/>
                  <a:gd name="T9" fmla="*/ 0 h 434"/>
                  <a:gd name="T10" fmla="*/ 152 w 299"/>
                  <a:gd name="T11" fmla="*/ 0 h 434"/>
                  <a:gd name="T12" fmla="*/ 143 w 299"/>
                  <a:gd name="T13" fmla="*/ 0 h 434"/>
                  <a:gd name="T14" fmla="*/ 134 w 299"/>
                  <a:gd name="T15" fmla="*/ 5 h 434"/>
                  <a:gd name="T16" fmla="*/ 125 w 299"/>
                  <a:gd name="T17" fmla="*/ 9 h 434"/>
                  <a:gd name="T18" fmla="*/ 125 w 299"/>
                  <a:gd name="T19" fmla="*/ 23 h 434"/>
                  <a:gd name="T20" fmla="*/ 125 w 299"/>
                  <a:gd name="T21" fmla="*/ 126 h 434"/>
                  <a:gd name="T22" fmla="*/ 76 w 299"/>
                  <a:gd name="T23" fmla="*/ 99 h 434"/>
                  <a:gd name="T24" fmla="*/ 67 w 299"/>
                  <a:gd name="T25" fmla="*/ 94 h 434"/>
                  <a:gd name="T26" fmla="*/ 58 w 299"/>
                  <a:gd name="T27" fmla="*/ 94 h 434"/>
                  <a:gd name="T28" fmla="*/ 49 w 299"/>
                  <a:gd name="T29" fmla="*/ 99 h 434"/>
                  <a:gd name="T30" fmla="*/ 45 w 299"/>
                  <a:gd name="T31" fmla="*/ 103 h 434"/>
                  <a:gd name="T32" fmla="*/ 40 w 299"/>
                  <a:gd name="T33" fmla="*/ 112 h 434"/>
                  <a:gd name="T34" fmla="*/ 45 w 299"/>
                  <a:gd name="T35" fmla="*/ 117 h 434"/>
                  <a:gd name="T36" fmla="*/ 45 w 299"/>
                  <a:gd name="T37" fmla="*/ 126 h 434"/>
                  <a:gd name="T38" fmla="*/ 54 w 299"/>
                  <a:gd name="T39" fmla="*/ 134 h 434"/>
                  <a:gd name="T40" fmla="*/ 121 w 299"/>
                  <a:gd name="T41" fmla="*/ 170 h 434"/>
                  <a:gd name="T42" fmla="*/ 121 w 299"/>
                  <a:gd name="T43" fmla="*/ 242 h 434"/>
                  <a:gd name="T44" fmla="*/ 36 w 299"/>
                  <a:gd name="T45" fmla="*/ 188 h 434"/>
                  <a:gd name="T46" fmla="*/ 27 w 299"/>
                  <a:gd name="T47" fmla="*/ 184 h 434"/>
                  <a:gd name="T48" fmla="*/ 18 w 299"/>
                  <a:gd name="T49" fmla="*/ 184 h 434"/>
                  <a:gd name="T50" fmla="*/ 9 w 299"/>
                  <a:gd name="T51" fmla="*/ 188 h 434"/>
                  <a:gd name="T52" fmla="*/ 5 w 299"/>
                  <a:gd name="T53" fmla="*/ 193 h 434"/>
                  <a:gd name="T54" fmla="*/ 0 w 299"/>
                  <a:gd name="T55" fmla="*/ 202 h 434"/>
                  <a:gd name="T56" fmla="*/ 0 w 299"/>
                  <a:gd name="T57" fmla="*/ 210 h 434"/>
                  <a:gd name="T58" fmla="*/ 5 w 299"/>
                  <a:gd name="T59" fmla="*/ 219 h 434"/>
                  <a:gd name="T60" fmla="*/ 14 w 299"/>
                  <a:gd name="T61" fmla="*/ 224 h 434"/>
                  <a:gd name="T62" fmla="*/ 121 w 299"/>
                  <a:gd name="T63" fmla="*/ 291 h 434"/>
                  <a:gd name="T64" fmla="*/ 121 w 299"/>
                  <a:gd name="T65" fmla="*/ 434 h 434"/>
                  <a:gd name="T66" fmla="*/ 174 w 299"/>
                  <a:gd name="T67" fmla="*/ 434 h 434"/>
                  <a:gd name="T68" fmla="*/ 174 w 299"/>
                  <a:gd name="T69" fmla="*/ 291 h 434"/>
                  <a:gd name="T70" fmla="*/ 290 w 299"/>
                  <a:gd name="T71" fmla="*/ 224 h 434"/>
                  <a:gd name="T72" fmla="*/ 295 w 299"/>
                  <a:gd name="T73" fmla="*/ 219 h 434"/>
                  <a:gd name="T74" fmla="*/ 299 w 299"/>
                  <a:gd name="T75" fmla="*/ 210 h 434"/>
                  <a:gd name="T76" fmla="*/ 299 w 299"/>
                  <a:gd name="T77" fmla="*/ 202 h 434"/>
                  <a:gd name="T78" fmla="*/ 299 w 299"/>
                  <a:gd name="T79" fmla="*/ 197 h 434"/>
                  <a:gd name="T80" fmla="*/ 295 w 299"/>
                  <a:gd name="T81" fmla="*/ 188 h 434"/>
                  <a:gd name="T82" fmla="*/ 286 w 299"/>
                  <a:gd name="T83" fmla="*/ 184 h 434"/>
                  <a:gd name="T84" fmla="*/ 277 w 299"/>
                  <a:gd name="T85" fmla="*/ 184 h 434"/>
                  <a:gd name="T86" fmla="*/ 268 w 299"/>
                  <a:gd name="T87" fmla="*/ 188 h 434"/>
                  <a:gd name="T88" fmla="*/ 174 w 299"/>
                  <a:gd name="T89" fmla="*/ 237 h 434"/>
                  <a:gd name="T90" fmla="*/ 174 w 299"/>
                  <a:gd name="T91" fmla="*/ 170 h 434"/>
                  <a:gd name="T92" fmla="*/ 246 w 299"/>
                  <a:gd name="T93" fmla="*/ 134 h 434"/>
                  <a:gd name="T94" fmla="*/ 250 w 299"/>
                  <a:gd name="T95" fmla="*/ 130 h 434"/>
                  <a:gd name="T96" fmla="*/ 255 w 299"/>
                  <a:gd name="T97" fmla="*/ 121 h 434"/>
                  <a:gd name="T98" fmla="*/ 255 w 299"/>
                  <a:gd name="T99" fmla="*/ 112 h 434"/>
                  <a:gd name="T100" fmla="*/ 250 w 299"/>
                  <a:gd name="T101" fmla="*/ 108 h 434"/>
                  <a:gd name="T102" fmla="*/ 246 w 299"/>
                  <a:gd name="T103" fmla="*/ 103 h 434"/>
                  <a:gd name="T104" fmla="*/ 237 w 299"/>
                  <a:gd name="T105" fmla="*/ 99 h 434"/>
                  <a:gd name="T106" fmla="*/ 232 w 299"/>
                  <a:gd name="T107" fmla="*/ 99 h 434"/>
                  <a:gd name="T108" fmla="*/ 223 w 299"/>
                  <a:gd name="T109" fmla="*/ 99 h 434"/>
                  <a:gd name="T110" fmla="*/ 174 w 299"/>
                  <a:gd name="T111" fmla="*/ 121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99" h="434">
                    <a:moveTo>
                      <a:pt x="174" y="121"/>
                    </a:moveTo>
                    <a:lnTo>
                      <a:pt x="174" y="23"/>
                    </a:lnTo>
                    <a:lnTo>
                      <a:pt x="170" y="9"/>
                    </a:lnTo>
                    <a:lnTo>
                      <a:pt x="165" y="5"/>
                    </a:lnTo>
                    <a:lnTo>
                      <a:pt x="156" y="0"/>
                    </a:lnTo>
                    <a:lnTo>
                      <a:pt x="152" y="0"/>
                    </a:lnTo>
                    <a:lnTo>
                      <a:pt x="143" y="0"/>
                    </a:lnTo>
                    <a:lnTo>
                      <a:pt x="134" y="5"/>
                    </a:lnTo>
                    <a:lnTo>
                      <a:pt x="125" y="9"/>
                    </a:lnTo>
                    <a:lnTo>
                      <a:pt x="125" y="23"/>
                    </a:lnTo>
                    <a:lnTo>
                      <a:pt x="125" y="126"/>
                    </a:lnTo>
                    <a:lnTo>
                      <a:pt x="76" y="99"/>
                    </a:lnTo>
                    <a:lnTo>
                      <a:pt x="67" y="94"/>
                    </a:lnTo>
                    <a:lnTo>
                      <a:pt x="58" y="94"/>
                    </a:lnTo>
                    <a:lnTo>
                      <a:pt x="49" y="99"/>
                    </a:lnTo>
                    <a:lnTo>
                      <a:pt x="45" y="103"/>
                    </a:lnTo>
                    <a:lnTo>
                      <a:pt x="40" y="112"/>
                    </a:lnTo>
                    <a:lnTo>
                      <a:pt x="45" y="117"/>
                    </a:lnTo>
                    <a:lnTo>
                      <a:pt x="45" y="126"/>
                    </a:lnTo>
                    <a:lnTo>
                      <a:pt x="54" y="134"/>
                    </a:lnTo>
                    <a:lnTo>
                      <a:pt x="121" y="170"/>
                    </a:lnTo>
                    <a:lnTo>
                      <a:pt x="121" y="242"/>
                    </a:lnTo>
                    <a:lnTo>
                      <a:pt x="36" y="188"/>
                    </a:lnTo>
                    <a:lnTo>
                      <a:pt x="27" y="184"/>
                    </a:lnTo>
                    <a:lnTo>
                      <a:pt x="18" y="184"/>
                    </a:lnTo>
                    <a:lnTo>
                      <a:pt x="9" y="188"/>
                    </a:lnTo>
                    <a:lnTo>
                      <a:pt x="5" y="193"/>
                    </a:lnTo>
                    <a:lnTo>
                      <a:pt x="0" y="202"/>
                    </a:lnTo>
                    <a:lnTo>
                      <a:pt x="0" y="210"/>
                    </a:lnTo>
                    <a:lnTo>
                      <a:pt x="5" y="219"/>
                    </a:lnTo>
                    <a:lnTo>
                      <a:pt x="14" y="224"/>
                    </a:lnTo>
                    <a:lnTo>
                      <a:pt x="121" y="291"/>
                    </a:lnTo>
                    <a:lnTo>
                      <a:pt x="121" y="434"/>
                    </a:lnTo>
                    <a:lnTo>
                      <a:pt x="174" y="434"/>
                    </a:lnTo>
                    <a:lnTo>
                      <a:pt x="174" y="291"/>
                    </a:lnTo>
                    <a:lnTo>
                      <a:pt x="290" y="224"/>
                    </a:lnTo>
                    <a:lnTo>
                      <a:pt x="295" y="219"/>
                    </a:lnTo>
                    <a:lnTo>
                      <a:pt x="299" y="210"/>
                    </a:lnTo>
                    <a:lnTo>
                      <a:pt x="299" y="202"/>
                    </a:lnTo>
                    <a:lnTo>
                      <a:pt x="299" y="197"/>
                    </a:lnTo>
                    <a:lnTo>
                      <a:pt x="295" y="188"/>
                    </a:lnTo>
                    <a:lnTo>
                      <a:pt x="286" y="184"/>
                    </a:lnTo>
                    <a:lnTo>
                      <a:pt x="277" y="184"/>
                    </a:lnTo>
                    <a:lnTo>
                      <a:pt x="268" y="188"/>
                    </a:lnTo>
                    <a:lnTo>
                      <a:pt x="174" y="237"/>
                    </a:lnTo>
                    <a:lnTo>
                      <a:pt x="174" y="170"/>
                    </a:lnTo>
                    <a:lnTo>
                      <a:pt x="246" y="134"/>
                    </a:lnTo>
                    <a:lnTo>
                      <a:pt x="250" y="130"/>
                    </a:lnTo>
                    <a:lnTo>
                      <a:pt x="255" y="121"/>
                    </a:lnTo>
                    <a:lnTo>
                      <a:pt x="255" y="112"/>
                    </a:lnTo>
                    <a:lnTo>
                      <a:pt x="250" y="108"/>
                    </a:lnTo>
                    <a:lnTo>
                      <a:pt x="246" y="103"/>
                    </a:lnTo>
                    <a:lnTo>
                      <a:pt x="237" y="99"/>
                    </a:lnTo>
                    <a:lnTo>
                      <a:pt x="232" y="99"/>
                    </a:lnTo>
                    <a:lnTo>
                      <a:pt x="223" y="99"/>
                    </a:lnTo>
                    <a:lnTo>
                      <a:pt x="174" y="12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16" name="Freeform 44"/>
              <p:cNvSpPr>
                <a:spLocks/>
              </p:cNvSpPr>
              <p:nvPr/>
            </p:nvSpPr>
            <p:spPr bwMode="auto">
              <a:xfrm>
                <a:off x="982" y="398"/>
                <a:ext cx="393" cy="272"/>
              </a:xfrm>
              <a:custGeom>
                <a:avLst/>
                <a:gdLst>
                  <a:gd name="T0" fmla="*/ 121 w 393"/>
                  <a:gd name="T1" fmla="*/ 71 h 272"/>
                  <a:gd name="T2" fmla="*/ 36 w 393"/>
                  <a:gd name="T3" fmla="*/ 22 h 272"/>
                  <a:gd name="T4" fmla="*/ 27 w 393"/>
                  <a:gd name="T5" fmla="*/ 18 h 272"/>
                  <a:gd name="T6" fmla="*/ 18 w 393"/>
                  <a:gd name="T7" fmla="*/ 18 h 272"/>
                  <a:gd name="T8" fmla="*/ 9 w 393"/>
                  <a:gd name="T9" fmla="*/ 22 h 272"/>
                  <a:gd name="T10" fmla="*/ 5 w 393"/>
                  <a:gd name="T11" fmla="*/ 31 h 272"/>
                  <a:gd name="T12" fmla="*/ 0 w 393"/>
                  <a:gd name="T13" fmla="*/ 40 h 272"/>
                  <a:gd name="T14" fmla="*/ 0 w 393"/>
                  <a:gd name="T15" fmla="*/ 49 h 272"/>
                  <a:gd name="T16" fmla="*/ 5 w 393"/>
                  <a:gd name="T17" fmla="*/ 58 h 272"/>
                  <a:gd name="T18" fmla="*/ 9 w 393"/>
                  <a:gd name="T19" fmla="*/ 62 h 272"/>
                  <a:gd name="T20" fmla="*/ 98 w 393"/>
                  <a:gd name="T21" fmla="*/ 116 h 272"/>
                  <a:gd name="T22" fmla="*/ 54 w 393"/>
                  <a:gd name="T23" fmla="*/ 143 h 272"/>
                  <a:gd name="T24" fmla="*/ 45 w 393"/>
                  <a:gd name="T25" fmla="*/ 147 h 272"/>
                  <a:gd name="T26" fmla="*/ 40 w 393"/>
                  <a:gd name="T27" fmla="*/ 156 h 272"/>
                  <a:gd name="T28" fmla="*/ 40 w 393"/>
                  <a:gd name="T29" fmla="*/ 165 h 272"/>
                  <a:gd name="T30" fmla="*/ 40 w 393"/>
                  <a:gd name="T31" fmla="*/ 174 h 272"/>
                  <a:gd name="T32" fmla="*/ 49 w 393"/>
                  <a:gd name="T33" fmla="*/ 178 h 272"/>
                  <a:gd name="T34" fmla="*/ 54 w 393"/>
                  <a:gd name="T35" fmla="*/ 183 h 272"/>
                  <a:gd name="T36" fmla="*/ 63 w 393"/>
                  <a:gd name="T37" fmla="*/ 183 h 272"/>
                  <a:gd name="T38" fmla="*/ 72 w 393"/>
                  <a:gd name="T39" fmla="*/ 183 h 272"/>
                  <a:gd name="T40" fmla="*/ 139 w 393"/>
                  <a:gd name="T41" fmla="*/ 143 h 272"/>
                  <a:gd name="T42" fmla="*/ 197 w 393"/>
                  <a:gd name="T43" fmla="*/ 178 h 272"/>
                  <a:gd name="T44" fmla="*/ 112 w 393"/>
                  <a:gd name="T45" fmla="*/ 223 h 272"/>
                  <a:gd name="T46" fmla="*/ 103 w 393"/>
                  <a:gd name="T47" fmla="*/ 232 h 272"/>
                  <a:gd name="T48" fmla="*/ 98 w 393"/>
                  <a:gd name="T49" fmla="*/ 241 h 272"/>
                  <a:gd name="T50" fmla="*/ 98 w 393"/>
                  <a:gd name="T51" fmla="*/ 246 h 272"/>
                  <a:gd name="T52" fmla="*/ 98 w 393"/>
                  <a:gd name="T53" fmla="*/ 254 h 272"/>
                  <a:gd name="T54" fmla="*/ 103 w 393"/>
                  <a:gd name="T55" fmla="*/ 263 h 272"/>
                  <a:gd name="T56" fmla="*/ 112 w 393"/>
                  <a:gd name="T57" fmla="*/ 268 h 272"/>
                  <a:gd name="T58" fmla="*/ 121 w 393"/>
                  <a:gd name="T59" fmla="*/ 268 h 272"/>
                  <a:gd name="T60" fmla="*/ 130 w 393"/>
                  <a:gd name="T61" fmla="*/ 263 h 272"/>
                  <a:gd name="T62" fmla="*/ 241 w 393"/>
                  <a:gd name="T63" fmla="*/ 201 h 272"/>
                  <a:gd name="T64" fmla="*/ 366 w 393"/>
                  <a:gd name="T65" fmla="*/ 272 h 272"/>
                  <a:gd name="T66" fmla="*/ 393 w 393"/>
                  <a:gd name="T67" fmla="*/ 228 h 272"/>
                  <a:gd name="T68" fmla="*/ 268 w 393"/>
                  <a:gd name="T69" fmla="*/ 156 h 272"/>
                  <a:gd name="T70" fmla="*/ 268 w 393"/>
                  <a:gd name="T71" fmla="*/ 22 h 272"/>
                  <a:gd name="T72" fmla="*/ 268 w 393"/>
                  <a:gd name="T73" fmla="*/ 13 h 272"/>
                  <a:gd name="T74" fmla="*/ 264 w 393"/>
                  <a:gd name="T75" fmla="*/ 9 h 272"/>
                  <a:gd name="T76" fmla="*/ 255 w 393"/>
                  <a:gd name="T77" fmla="*/ 4 h 272"/>
                  <a:gd name="T78" fmla="*/ 250 w 393"/>
                  <a:gd name="T79" fmla="*/ 0 h 272"/>
                  <a:gd name="T80" fmla="*/ 241 w 393"/>
                  <a:gd name="T81" fmla="*/ 0 h 272"/>
                  <a:gd name="T82" fmla="*/ 232 w 393"/>
                  <a:gd name="T83" fmla="*/ 4 h 272"/>
                  <a:gd name="T84" fmla="*/ 228 w 393"/>
                  <a:gd name="T85" fmla="*/ 13 h 272"/>
                  <a:gd name="T86" fmla="*/ 228 w 393"/>
                  <a:gd name="T87" fmla="*/ 22 h 272"/>
                  <a:gd name="T88" fmla="*/ 223 w 393"/>
                  <a:gd name="T89" fmla="*/ 129 h 272"/>
                  <a:gd name="T90" fmla="*/ 165 w 393"/>
                  <a:gd name="T91" fmla="*/ 94 h 272"/>
                  <a:gd name="T92" fmla="*/ 170 w 393"/>
                  <a:gd name="T93" fmla="*/ 18 h 272"/>
                  <a:gd name="T94" fmla="*/ 165 w 393"/>
                  <a:gd name="T95" fmla="*/ 9 h 272"/>
                  <a:gd name="T96" fmla="*/ 161 w 393"/>
                  <a:gd name="T97" fmla="*/ 4 h 272"/>
                  <a:gd name="T98" fmla="*/ 156 w 393"/>
                  <a:gd name="T99" fmla="*/ 0 h 272"/>
                  <a:gd name="T100" fmla="*/ 148 w 393"/>
                  <a:gd name="T101" fmla="*/ 0 h 272"/>
                  <a:gd name="T102" fmla="*/ 139 w 393"/>
                  <a:gd name="T103" fmla="*/ 0 h 272"/>
                  <a:gd name="T104" fmla="*/ 134 w 393"/>
                  <a:gd name="T105" fmla="*/ 4 h 272"/>
                  <a:gd name="T106" fmla="*/ 130 w 393"/>
                  <a:gd name="T107" fmla="*/ 9 h 272"/>
                  <a:gd name="T108" fmla="*/ 125 w 393"/>
                  <a:gd name="T109" fmla="*/ 18 h 272"/>
                  <a:gd name="T110" fmla="*/ 121 w 393"/>
                  <a:gd name="T111" fmla="*/ 71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2">
                    <a:moveTo>
                      <a:pt x="121" y="71"/>
                    </a:moveTo>
                    <a:lnTo>
                      <a:pt x="36" y="22"/>
                    </a:lnTo>
                    <a:lnTo>
                      <a:pt x="27" y="18"/>
                    </a:lnTo>
                    <a:lnTo>
                      <a:pt x="18" y="18"/>
                    </a:lnTo>
                    <a:lnTo>
                      <a:pt x="9" y="22"/>
                    </a:lnTo>
                    <a:lnTo>
                      <a:pt x="5" y="31"/>
                    </a:lnTo>
                    <a:lnTo>
                      <a:pt x="0" y="40"/>
                    </a:lnTo>
                    <a:lnTo>
                      <a:pt x="0" y="49"/>
                    </a:lnTo>
                    <a:lnTo>
                      <a:pt x="5" y="58"/>
                    </a:lnTo>
                    <a:lnTo>
                      <a:pt x="9" y="62"/>
                    </a:lnTo>
                    <a:lnTo>
                      <a:pt x="98" y="116"/>
                    </a:lnTo>
                    <a:lnTo>
                      <a:pt x="54" y="143"/>
                    </a:lnTo>
                    <a:lnTo>
                      <a:pt x="45" y="147"/>
                    </a:lnTo>
                    <a:lnTo>
                      <a:pt x="40" y="156"/>
                    </a:lnTo>
                    <a:lnTo>
                      <a:pt x="40" y="165"/>
                    </a:lnTo>
                    <a:lnTo>
                      <a:pt x="40" y="174"/>
                    </a:lnTo>
                    <a:lnTo>
                      <a:pt x="49" y="178"/>
                    </a:lnTo>
                    <a:lnTo>
                      <a:pt x="54" y="183"/>
                    </a:lnTo>
                    <a:lnTo>
                      <a:pt x="63" y="183"/>
                    </a:lnTo>
                    <a:lnTo>
                      <a:pt x="72" y="183"/>
                    </a:lnTo>
                    <a:lnTo>
                      <a:pt x="139" y="143"/>
                    </a:lnTo>
                    <a:lnTo>
                      <a:pt x="197" y="178"/>
                    </a:lnTo>
                    <a:lnTo>
                      <a:pt x="112" y="223"/>
                    </a:lnTo>
                    <a:lnTo>
                      <a:pt x="103" y="232"/>
                    </a:lnTo>
                    <a:lnTo>
                      <a:pt x="98" y="241"/>
                    </a:lnTo>
                    <a:lnTo>
                      <a:pt x="98" y="246"/>
                    </a:lnTo>
                    <a:lnTo>
                      <a:pt x="98" y="254"/>
                    </a:lnTo>
                    <a:lnTo>
                      <a:pt x="103" y="263"/>
                    </a:lnTo>
                    <a:lnTo>
                      <a:pt x="112" y="268"/>
                    </a:lnTo>
                    <a:lnTo>
                      <a:pt x="121" y="268"/>
                    </a:lnTo>
                    <a:lnTo>
                      <a:pt x="130" y="263"/>
                    </a:lnTo>
                    <a:lnTo>
                      <a:pt x="241" y="201"/>
                    </a:lnTo>
                    <a:lnTo>
                      <a:pt x="366" y="272"/>
                    </a:lnTo>
                    <a:lnTo>
                      <a:pt x="393" y="228"/>
                    </a:lnTo>
                    <a:lnTo>
                      <a:pt x="268" y="156"/>
                    </a:lnTo>
                    <a:lnTo>
                      <a:pt x="268" y="22"/>
                    </a:lnTo>
                    <a:lnTo>
                      <a:pt x="268" y="13"/>
                    </a:lnTo>
                    <a:lnTo>
                      <a:pt x="264" y="9"/>
                    </a:lnTo>
                    <a:lnTo>
                      <a:pt x="255" y="4"/>
                    </a:lnTo>
                    <a:lnTo>
                      <a:pt x="250" y="0"/>
                    </a:lnTo>
                    <a:lnTo>
                      <a:pt x="241" y="0"/>
                    </a:lnTo>
                    <a:lnTo>
                      <a:pt x="232" y="4"/>
                    </a:lnTo>
                    <a:lnTo>
                      <a:pt x="228" y="13"/>
                    </a:lnTo>
                    <a:lnTo>
                      <a:pt x="228" y="22"/>
                    </a:lnTo>
                    <a:lnTo>
                      <a:pt x="223" y="129"/>
                    </a:lnTo>
                    <a:lnTo>
                      <a:pt x="165" y="94"/>
                    </a:lnTo>
                    <a:lnTo>
                      <a:pt x="170" y="18"/>
                    </a:lnTo>
                    <a:lnTo>
                      <a:pt x="165" y="9"/>
                    </a:lnTo>
                    <a:lnTo>
                      <a:pt x="161" y="4"/>
                    </a:lnTo>
                    <a:lnTo>
                      <a:pt x="156" y="0"/>
                    </a:lnTo>
                    <a:lnTo>
                      <a:pt x="148" y="0"/>
                    </a:lnTo>
                    <a:lnTo>
                      <a:pt x="139" y="0"/>
                    </a:lnTo>
                    <a:lnTo>
                      <a:pt x="134" y="4"/>
                    </a:lnTo>
                    <a:lnTo>
                      <a:pt x="130" y="9"/>
                    </a:lnTo>
                    <a:lnTo>
                      <a:pt x="125" y="18"/>
                    </a:lnTo>
                    <a:lnTo>
                      <a:pt x="121" y="7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17" name="Freeform 45"/>
              <p:cNvSpPr>
                <a:spLocks/>
              </p:cNvSpPr>
              <p:nvPr/>
            </p:nvSpPr>
            <p:spPr bwMode="auto">
              <a:xfrm>
                <a:off x="982" y="626"/>
                <a:ext cx="393" cy="277"/>
              </a:xfrm>
              <a:custGeom>
                <a:avLst/>
                <a:gdLst>
                  <a:gd name="T0" fmla="*/ 98 w 393"/>
                  <a:gd name="T1" fmla="*/ 156 h 277"/>
                  <a:gd name="T2" fmla="*/ 9 w 393"/>
                  <a:gd name="T3" fmla="*/ 205 h 277"/>
                  <a:gd name="T4" fmla="*/ 0 w 393"/>
                  <a:gd name="T5" fmla="*/ 214 h 277"/>
                  <a:gd name="T6" fmla="*/ 0 w 393"/>
                  <a:gd name="T7" fmla="*/ 223 h 277"/>
                  <a:gd name="T8" fmla="*/ 0 w 393"/>
                  <a:gd name="T9" fmla="*/ 228 h 277"/>
                  <a:gd name="T10" fmla="*/ 0 w 393"/>
                  <a:gd name="T11" fmla="*/ 237 h 277"/>
                  <a:gd name="T12" fmla="*/ 9 w 393"/>
                  <a:gd name="T13" fmla="*/ 246 h 277"/>
                  <a:gd name="T14" fmla="*/ 14 w 393"/>
                  <a:gd name="T15" fmla="*/ 250 h 277"/>
                  <a:gd name="T16" fmla="*/ 23 w 393"/>
                  <a:gd name="T17" fmla="*/ 250 h 277"/>
                  <a:gd name="T18" fmla="*/ 36 w 393"/>
                  <a:gd name="T19" fmla="*/ 250 h 277"/>
                  <a:gd name="T20" fmla="*/ 125 w 393"/>
                  <a:gd name="T21" fmla="*/ 196 h 277"/>
                  <a:gd name="T22" fmla="*/ 125 w 393"/>
                  <a:gd name="T23" fmla="*/ 250 h 277"/>
                  <a:gd name="T24" fmla="*/ 125 w 393"/>
                  <a:gd name="T25" fmla="*/ 263 h 277"/>
                  <a:gd name="T26" fmla="*/ 130 w 393"/>
                  <a:gd name="T27" fmla="*/ 268 h 277"/>
                  <a:gd name="T28" fmla="*/ 139 w 393"/>
                  <a:gd name="T29" fmla="*/ 272 h 277"/>
                  <a:gd name="T30" fmla="*/ 143 w 393"/>
                  <a:gd name="T31" fmla="*/ 277 h 277"/>
                  <a:gd name="T32" fmla="*/ 152 w 393"/>
                  <a:gd name="T33" fmla="*/ 277 h 277"/>
                  <a:gd name="T34" fmla="*/ 161 w 393"/>
                  <a:gd name="T35" fmla="*/ 272 h 277"/>
                  <a:gd name="T36" fmla="*/ 165 w 393"/>
                  <a:gd name="T37" fmla="*/ 263 h 277"/>
                  <a:gd name="T38" fmla="*/ 165 w 393"/>
                  <a:gd name="T39" fmla="*/ 254 h 277"/>
                  <a:gd name="T40" fmla="*/ 165 w 393"/>
                  <a:gd name="T41" fmla="*/ 178 h 277"/>
                  <a:gd name="T42" fmla="*/ 223 w 393"/>
                  <a:gd name="T43" fmla="*/ 143 h 277"/>
                  <a:gd name="T44" fmla="*/ 223 w 393"/>
                  <a:gd name="T45" fmla="*/ 241 h 277"/>
                  <a:gd name="T46" fmla="*/ 223 w 393"/>
                  <a:gd name="T47" fmla="*/ 250 h 277"/>
                  <a:gd name="T48" fmla="*/ 228 w 393"/>
                  <a:gd name="T49" fmla="*/ 259 h 277"/>
                  <a:gd name="T50" fmla="*/ 237 w 393"/>
                  <a:gd name="T51" fmla="*/ 263 h 277"/>
                  <a:gd name="T52" fmla="*/ 246 w 393"/>
                  <a:gd name="T53" fmla="*/ 268 h 277"/>
                  <a:gd name="T54" fmla="*/ 255 w 393"/>
                  <a:gd name="T55" fmla="*/ 268 h 277"/>
                  <a:gd name="T56" fmla="*/ 259 w 393"/>
                  <a:gd name="T57" fmla="*/ 263 h 277"/>
                  <a:gd name="T58" fmla="*/ 264 w 393"/>
                  <a:gd name="T59" fmla="*/ 254 h 277"/>
                  <a:gd name="T60" fmla="*/ 268 w 393"/>
                  <a:gd name="T61" fmla="*/ 246 h 277"/>
                  <a:gd name="T62" fmla="*/ 268 w 393"/>
                  <a:gd name="T63" fmla="*/ 116 h 277"/>
                  <a:gd name="T64" fmla="*/ 393 w 393"/>
                  <a:gd name="T65" fmla="*/ 44 h 277"/>
                  <a:gd name="T66" fmla="*/ 366 w 393"/>
                  <a:gd name="T67" fmla="*/ 0 h 277"/>
                  <a:gd name="T68" fmla="*/ 241 w 393"/>
                  <a:gd name="T69" fmla="*/ 71 h 277"/>
                  <a:gd name="T70" fmla="*/ 125 w 393"/>
                  <a:gd name="T71" fmla="*/ 4 h 277"/>
                  <a:gd name="T72" fmla="*/ 121 w 393"/>
                  <a:gd name="T73" fmla="*/ 0 h 277"/>
                  <a:gd name="T74" fmla="*/ 112 w 393"/>
                  <a:gd name="T75" fmla="*/ 0 h 277"/>
                  <a:gd name="T76" fmla="*/ 103 w 393"/>
                  <a:gd name="T77" fmla="*/ 4 h 277"/>
                  <a:gd name="T78" fmla="*/ 98 w 393"/>
                  <a:gd name="T79" fmla="*/ 9 h 277"/>
                  <a:gd name="T80" fmla="*/ 94 w 393"/>
                  <a:gd name="T81" fmla="*/ 18 h 277"/>
                  <a:gd name="T82" fmla="*/ 94 w 393"/>
                  <a:gd name="T83" fmla="*/ 26 h 277"/>
                  <a:gd name="T84" fmla="*/ 98 w 393"/>
                  <a:gd name="T85" fmla="*/ 35 h 277"/>
                  <a:gd name="T86" fmla="*/ 107 w 393"/>
                  <a:gd name="T87" fmla="*/ 40 h 277"/>
                  <a:gd name="T88" fmla="*/ 197 w 393"/>
                  <a:gd name="T89" fmla="*/ 98 h 277"/>
                  <a:gd name="T90" fmla="*/ 139 w 393"/>
                  <a:gd name="T91" fmla="*/ 129 h 277"/>
                  <a:gd name="T92" fmla="*/ 72 w 393"/>
                  <a:gd name="T93" fmla="*/ 89 h 277"/>
                  <a:gd name="T94" fmla="*/ 63 w 393"/>
                  <a:gd name="T95" fmla="*/ 85 h 277"/>
                  <a:gd name="T96" fmla="*/ 58 w 393"/>
                  <a:gd name="T97" fmla="*/ 85 h 277"/>
                  <a:gd name="T98" fmla="*/ 49 w 393"/>
                  <a:gd name="T99" fmla="*/ 89 h 277"/>
                  <a:gd name="T100" fmla="*/ 45 w 393"/>
                  <a:gd name="T101" fmla="*/ 98 h 277"/>
                  <a:gd name="T102" fmla="*/ 45 w 393"/>
                  <a:gd name="T103" fmla="*/ 102 h 277"/>
                  <a:gd name="T104" fmla="*/ 45 w 393"/>
                  <a:gd name="T105" fmla="*/ 111 h 277"/>
                  <a:gd name="T106" fmla="*/ 45 w 393"/>
                  <a:gd name="T107" fmla="*/ 120 h 277"/>
                  <a:gd name="T108" fmla="*/ 54 w 393"/>
                  <a:gd name="T109" fmla="*/ 125 h 277"/>
                  <a:gd name="T110" fmla="*/ 98 w 393"/>
                  <a:gd name="T111" fmla="*/ 15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7">
                    <a:moveTo>
                      <a:pt x="98" y="156"/>
                    </a:moveTo>
                    <a:lnTo>
                      <a:pt x="9" y="205"/>
                    </a:lnTo>
                    <a:lnTo>
                      <a:pt x="0" y="214"/>
                    </a:lnTo>
                    <a:lnTo>
                      <a:pt x="0" y="223"/>
                    </a:lnTo>
                    <a:lnTo>
                      <a:pt x="0" y="228"/>
                    </a:lnTo>
                    <a:lnTo>
                      <a:pt x="0" y="237"/>
                    </a:lnTo>
                    <a:lnTo>
                      <a:pt x="9" y="246"/>
                    </a:lnTo>
                    <a:lnTo>
                      <a:pt x="14" y="250"/>
                    </a:lnTo>
                    <a:lnTo>
                      <a:pt x="23" y="250"/>
                    </a:lnTo>
                    <a:lnTo>
                      <a:pt x="36" y="250"/>
                    </a:lnTo>
                    <a:lnTo>
                      <a:pt x="125" y="196"/>
                    </a:lnTo>
                    <a:lnTo>
                      <a:pt x="125" y="250"/>
                    </a:lnTo>
                    <a:lnTo>
                      <a:pt x="125" y="263"/>
                    </a:lnTo>
                    <a:lnTo>
                      <a:pt x="130" y="268"/>
                    </a:lnTo>
                    <a:lnTo>
                      <a:pt x="139" y="272"/>
                    </a:lnTo>
                    <a:lnTo>
                      <a:pt x="143" y="277"/>
                    </a:lnTo>
                    <a:lnTo>
                      <a:pt x="152" y="277"/>
                    </a:lnTo>
                    <a:lnTo>
                      <a:pt x="161" y="272"/>
                    </a:lnTo>
                    <a:lnTo>
                      <a:pt x="165" y="263"/>
                    </a:lnTo>
                    <a:lnTo>
                      <a:pt x="165" y="254"/>
                    </a:lnTo>
                    <a:lnTo>
                      <a:pt x="165" y="178"/>
                    </a:lnTo>
                    <a:lnTo>
                      <a:pt x="223" y="143"/>
                    </a:lnTo>
                    <a:lnTo>
                      <a:pt x="223" y="241"/>
                    </a:lnTo>
                    <a:lnTo>
                      <a:pt x="223" y="250"/>
                    </a:lnTo>
                    <a:lnTo>
                      <a:pt x="228" y="259"/>
                    </a:lnTo>
                    <a:lnTo>
                      <a:pt x="237" y="263"/>
                    </a:lnTo>
                    <a:lnTo>
                      <a:pt x="246" y="268"/>
                    </a:lnTo>
                    <a:lnTo>
                      <a:pt x="255" y="268"/>
                    </a:lnTo>
                    <a:lnTo>
                      <a:pt x="259" y="263"/>
                    </a:lnTo>
                    <a:lnTo>
                      <a:pt x="264" y="254"/>
                    </a:lnTo>
                    <a:lnTo>
                      <a:pt x="268" y="246"/>
                    </a:lnTo>
                    <a:lnTo>
                      <a:pt x="268" y="116"/>
                    </a:lnTo>
                    <a:lnTo>
                      <a:pt x="393" y="44"/>
                    </a:lnTo>
                    <a:lnTo>
                      <a:pt x="366" y="0"/>
                    </a:lnTo>
                    <a:lnTo>
                      <a:pt x="241" y="71"/>
                    </a:lnTo>
                    <a:lnTo>
                      <a:pt x="125" y="4"/>
                    </a:lnTo>
                    <a:lnTo>
                      <a:pt x="121" y="0"/>
                    </a:lnTo>
                    <a:lnTo>
                      <a:pt x="112" y="0"/>
                    </a:lnTo>
                    <a:lnTo>
                      <a:pt x="103" y="4"/>
                    </a:lnTo>
                    <a:lnTo>
                      <a:pt x="98" y="9"/>
                    </a:lnTo>
                    <a:lnTo>
                      <a:pt x="94" y="18"/>
                    </a:lnTo>
                    <a:lnTo>
                      <a:pt x="94" y="26"/>
                    </a:lnTo>
                    <a:lnTo>
                      <a:pt x="98" y="35"/>
                    </a:lnTo>
                    <a:lnTo>
                      <a:pt x="107" y="40"/>
                    </a:lnTo>
                    <a:lnTo>
                      <a:pt x="197" y="98"/>
                    </a:lnTo>
                    <a:lnTo>
                      <a:pt x="139" y="129"/>
                    </a:lnTo>
                    <a:lnTo>
                      <a:pt x="72" y="89"/>
                    </a:lnTo>
                    <a:lnTo>
                      <a:pt x="63" y="85"/>
                    </a:lnTo>
                    <a:lnTo>
                      <a:pt x="58" y="85"/>
                    </a:lnTo>
                    <a:lnTo>
                      <a:pt x="49" y="89"/>
                    </a:lnTo>
                    <a:lnTo>
                      <a:pt x="45" y="98"/>
                    </a:lnTo>
                    <a:lnTo>
                      <a:pt x="45" y="102"/>
                    </a:lnTo>
                    <a:lnTo>
                      <a:pt x="45" y="111"/>
                    </a:lnTo>
                    <a:lnTo>
                      <a:pt x="45" y="120"/>
                    </a:lnTo>
                    <a:lnTo>
                      <a:pt x="54" y="125"/>
                    </a:lnTo>
                    <a:lnTo>
                      <a:pt x="98" y="156"/>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18" name="Freeform 46"/>
              <p:cNvSpPr>
                <a:spLocks/>
              </p:cNvSpPr>
              <p:nvPr/>
            </p:nvSpPr>
            <p:spPr bwMode="auto">
              <a:xfrm>
                <a:off x="1210" y="648"/>
                <a:ext cx="299" cy="438"/>
              </a:xfrm>
              <a:custGeom>
                <a:avLst/>
                <a:gdLst>
                  <a:gd name="T0" fmla="*/ 125 w 299"/>
                  <a:gd name="T1" fmla="*/ 313 h 438"/>
                  <a:gd name="T2" fmla="*/ 125 w 299"/>
                  <a:gd name="T3" fmla="*/ 411 h 438"/>
                  <a:gd name="T4" fmla="*/ 129 w 299"/>
                  <a:gd name="T5" fmla="*/ 425 h 438"/>
                  <a:gd name="T6" fmla="*/ 134 w 299"/>
                  <a:gd name="T7" fmla="*/ 429 h 438"/>
                  <a:gd name="T8" fmla="*/ 143 w 299"/>
                  <a:gd name="T9" fmla="*/ 434 h 438"/>
                  <a:gd name="T10" fmla="*/ 147 w 299"/>
                  <a:gd name="T11" fmla="*/ 438 h 438"/>
                  <a:gd name="T12" fmla="*/ 156 w 299"/>
                  <a:gd name="T13" fmla="*/ 434 h 438"/>
                  <a:gd name="T14" fmla="*/ 165 w 299"/>
                  <a:gd name="T15" fmla="*/ 429 h 438"/>
                  <a:gd name="T16" fmla="*/ 174 w 299"/>
                  <a:gd name="T17" fmla="*/ 425 h 438"/>
                  <a:gd name="T18" fmla="*/ 174 w 299"/>
                  <a:gd name="T19" fmla="*/ 411 h 438"/>
                  <a:gd name="T20" fmla="*/ 174 w 299"/>
                  <a:gd name="T21" fmla="*/ 308 h 438"/>
                  <a:gd name="T22" fmla="*/ 223 w 299"/>
                  <a:gd name="T23" fmla="*/ 335 h 438"/>
                  <a:gd name="T24" fmla="*/ 232 w 299"/>
                  <a:gd name="T25" fmla="*/ 340 h 438"/>
                  <a:gd name="T26" fmla="*/ 241 w 299"/>
                  <a:gd name="T27" fmla="*/ 340 h 438"/>
                  <a:gd name="T28" fmla="*/ 250 w 299"/>
                  <a:gd name="T29" fmla="*/ 335 h 438"/>
                  <a:gd name="T30" fmla="*/ 254 w 299"/>
                  <a:gd name="T31" fmla="*/ 331 h 438"/>
                  <a:gd name="T32" fmla="*/ 254 w 299"/>
                  <a:gd name="T33" fmla="*/ 322 h 438"/>
                  <a:gd name="T34" fmla="*/ 254 w 299"/>
                  <a:gd name="T35" fmla="*/ 317 h 438"/>
                  <a:gd name="T36" fmla="*/ 254 w 299"/>
                  <a:gd name="T37" fmla="*/ 308 h 438"/>
                  <a:gd name="T38" fmla="*/ 245 w 299"/>
                  <a:gd name="T39" fmla="*/ 300 h 438"/>
                  <a:gd name="T40" fmla="*/ 178 w 299"/>
                  <a:gd name="T41" fmla="*/ 264 h 438"/>
                  <a:gd name="T42" fmla="*/ 178 w 299"/>
                  <a:gd name="T43" fmla="*/ 192 h 438"/>
                  <a:gd name="T44" fmla="*/ 263 w 299"/>
                  <a:gd name="T45" fmla="*/ 246 h 438"/>
                  <a:gd name="T46" fmla="*/ 272 w 299"/>
                  <a:gd name="T47" fmla="*/ 250 h 438"/>
                  <a:gd name="T48" fmla="*/ 281 w 299"/>
                  <a:gd name="T49" fmla="*/ 250 h 438"/>
                  <a:gd name="T50" fmla="*/ 290 w 299"/>
                  <a:gd name="T51" fmla="*/ 246 h 438"/>
                  <a:gd name="T52" fmla="*/ 294 w 299"/>
                  <a:gd name="T53" fmla="*/ 241 h 438"/>
                  <a:gd name="T54" fmla="*/ 299 w 299"/>
                  <a:gd name="T55" fmla="*/ 232 h 438"/>
                  <a:gd name="T56" fmla="*/ 299 w 299"/>
                  <a:gd name="T57" fmla="*/ 224 h 438"/>
                  <a:gd name="T58" fmla="*/ 294 w 299"/>
                  <a:gd name="T59" fmla="*/ 215 h 438"/>
                  <a:gd name="T60" fmla="*/ 285 w 299"/>
                  <a:gd name="T61" fmla="*/ 210 h 438"/>
                  <a:gd name="T62" fmla="*/ 178 w 299"/>
                  <a:gd name="T63" fmla="*/ 143 h 438"/>
                  <a:gd name="T64" fmla="*/ 178 w 299"/>
                  <a:gd name="T65" fmla="*/ 0 h 438"/>
                  <a:gd name="T66" fmla="*/ 125 w 299"/>
                  <a:gd name="T67" fmla="*/ 0 h 438"/>
                  <a:gd name="T68" fmla="*/ 125 w 299"/>
                  <a:gd name="T69" fmla="*/ 143 h 438"/>
                  <a:gd name="T70" fmla="*/ 9 w 299"/>
                  <a:gd name="T71" fmla="*/ 210 h 438"/>
                  <a:gd name="T72" fmla="*/ 4 w 299"/>
                  <a:gd name="T73" fmla="*/ 215 h 438"/>
                  <a:gd name="T74" fmla="*/ 0 w 299"/>
                  <a:gd name="T75" fmla="*/ 224 h 438"/>
                  <a:gd name="T76" fmla="*/ 0 w 299"/>
                  <a:gd name="T77" fmla="*/ 232 h 438"/>
                  <a:gd name="T78" fmla="*/ 0 w 299"/>
                  <a:gd name="T79" fmla="*/ 237 h 438"/>
                  <a:gd name="T80" fmla="*/ 4 w 299"/>
                  <a:gd name="T81" fmla="*/ 246 h 438"/>
                  <a:gd name="T82" fmla="*/ 13 w 299"/>
                  <a:gd name="T83" fmla="*/ 250 h 438"/>
                  <a:gd name="T84" fmla="*/ 22 w 299"/>
                  <a:gd name="T85" fmla="*/ 250 h 438"/>
                  <a:gd name="T86" fmla="*/ 31 w 299"/>
                  <a:gd name="T87" fmla="*/ 246 h 438"/>
                  <a:gd name="T88" fmla="*/ 125 w 299"/>
                  <a:gd name="T89" fmla="*/ 197 h 438"/>
                  <a:gd name="T90" fmla="*/ 125 w 299"/>
                  <a:gd name="T91" fmla="*/ 264 h 438"/>
                  <a:gd name="T92" fmla="*/ 53 w 299"/>
                  <a:gd name="T93" fmla="*/ 300 h 438"/>
                  <a:gd name="T94" fmla="*/ 49 w 299"/>
                  <a:gd name="T95" fmla="*/ 304 h 438"/>
                  <a:gd name="T96" fmla="*/ 44 w 299"/>
                  <a:gd name="T97" fmla="*/ 313 h 438"/>
                  <a:gd name="T98" fmla="*/ 44 w 299"/>
                  <a:gd name="T99" fmla="*/ 322 h 438"/>
                  <a:gd name="T100" fmla="*/ 49 w 299"/>
                  <a:gd name="T101" fmla="*/ 326 h 438"/>
                  <a:gd name="T102" fmla="*/ 53 w 299"/>
                  <a:gd name="T103" fmla="*/ 331 h 438"/>
                  <a:gd name="T104" fmla="*/ 62 w 299"/>
                  <a:gd name="T105" fmla="*/ 335 h 438"/>
                  <a:gd name="T106" fmla="*/ 67 w 299"/>
                  <a:gd name="T107" fmla="*/ 335 h 438"/>
                  <a:gd name="T108" fmla="*/ 76 w 299"/>
                  <a:gd name="T109" fmla="*/ 335 h 438"/>
                  <a:gd name="T110" fmla="*/ 125 w 299"/>
                  <a:gd name="T111" fmla="*/ 313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99" h="438">
                    <a:moveTo>
                      <a:pt x="125" y="313"/>
                    </a:moveTo>
                    <a:lnTo>
                      <a:pt x="125" y="411"/>
                    </a:lnTo>
                    <a:lnTo>
                      <a:pt x="129" y="425"/>
                    </a:lnTo>
                    <a:lnTo>
                      <a:pt x="134" y="429"/>
                    </a:lnTo>
                    <a:lnTo>
                      <a:pt x="143" y="434"/>
                    </a:lnTo>
                    <a:lnTo>
                      <a:pt x="147" y="438"/>
                    </a:lnTo>
                    <a:lnTo>
                      <a:pt x="156" y="434"/>
                    </a:lnTo>
                    <a:lnTo>
                      <a:pt x="165" y="429"/>
                    </a:lnTo>
                    <a:lnTo>
                      <a:pt x="174" y="425"/>
                    </a:lnTo>
                    <a:lnTo>
                      <a:pt x="174" y="411"/>
                    </a:lnTo>
                    <a:lnTo>
                      <a:pt x="174" y="308"/>
                    </a:lnTo>
                    <a:lnTo>
                      <a:pt x="223" y="335"/>
                    </a:lnTo>
                    <a:lnTo>
                      <a:pt x="232" y="340"/>
                    </a:lnTo>
                    <a:lnTo>
                      <a:pt x="241" y="340"/>
                    </a:lnTo>
                    <a:lnTo>
                      <a:pt x="250" y="335"/>
                    </a:lnTo>
                    <a:lnTo>
                      <a:pt x="254" y="331"/>
                    </a:lnTo>
                    <a:lnTo>
                      <a:pt x="254" y="322"/>
                    </a:lnTo>
                    <a:lnTo>
                      <a:pt x="254" y="317"/>
                    </a:lnTo>
                    <a:lnTo>
                      <a:pt x="254" y="308"/>
                    </a:lnTo>
                    <a:lnTo>
                      <a:pt x="245" y="300"/>
                    </a:lnTo>
                    <a:lnTo>
                      <a:pt x="178" y="264"/>
                    </a:lnTo>
                    <a:lnTo>
                      <a:pt x="178" y="192"/>
                    </a:lnTo>
                    <a:lnTo>
                      <a:pt x="263" y="246"/>
                    </a:lnTo>
                    <a:lnTo>
                      <a:pt x="272" y="250"/>
                    </a:lnTo>
                    <a:lnTo>
                      <a:pt x="281" y="250"/>
                    </a:lnTo>
                    <a:lnTo>
                      <a:pt x="290" y="246"/>
                    </a:lnTo>
                    <a:lnTo>
                      <a:pt x="294" y="241"/>
                    </a:lnTo>
                    <a:lnTo>
                      <a:pt x="299" y="232"/>
                    </a:lnTo>
                    <a:lnTo>
                      <a:pt x="299" y="224"/>
                    </a:lnTo>
                    <a:lnTo>
                      <a:pt x="294" y="215"/>
                    </a:lnTo>
                    <a:lnTo>
                      <a:pt x="285" y="210"/>
                    </a:lnTo>
                    <a:lnTo>
                      <a:pt x="178" y="143"/>
                    </a:lnTo>
                    <a:lnTo>
                      <a:pt x="178" y="0"/>
                    </a:lnTo>
                    <a:lnTo>
                      <a:pt x="125" y="0"/>
                    </a:lnTo>
                    <a:lnTo>
                      <a:pt x="125" y="143"/>
                    </a:lnTo>
                    <a:lnTo>
                      <a:pt x="9" y="210"/>
                    </a:lnTo>
                    <a:lnTo>
                      <a:pt x="4" y="215"/>
                    </a:lnTo>
                    <a:lnTo>
                      <a:pt x="0" y="224"/>
                    </a:lnTo>
                    <a:lnTo>
                      <a:pt x="0" y="232"/>
                    </a:lnTo>
                    <a:lnTo>
                      <a:pt x="0" y="237"/>
                    </a:lnTo>
                    <a:lnTo>
                      <a:pt x="4" y="246"/>
                    </a:lnTo>
                    <a:lnTo>
                      <a:pt x="13" y="250"/>
                    </a:lnTo>
                    <a:lnTo>
                      <a:pt x="22" y="250"/>
                    </a:lnTo>
                    <a:lnTo>
                      <a:pt x="31" y="246"/>
                    </a:lnTo>
                    <a:lnTo>
                      <a:pt x="125" y="197"/>
                    </a:lnTo>
                    <a:lnTo>
                      <a:pt x="125" y="264"/>
                    </a:lnTo>
                    <a:lnTo>
                      <a:pt x="53" y="300"/>
                    </a:lnTo>
                    <a:lnTo>
                      <a:pt x="49" y="304"/>
                    </a:lnTo>
                    <a:lnTo>
                      <a:pt x="44" y="313"/>
                    </a:lnTo>
                    <a:lnTo>
                      <a:pt x="44" y="322"/>
                    </a:lnTo>
                    <a:lnTo>
                      <a:pt x="49" y="326"/>
                    </a:lnTo>
                    <a:lnTo>
                      <a:pt x="53" y="331"/>
                    </a:lnTo>
                    <a:lnTo>
                      <a:pt x="62" y="335"/>
                    </a:lnTo>
                    <a:lnTo>
                      <a:pt x="67" y="335"/>
                    </a:lnTo>
                    <a:lnTo>
                      <a:pt x="76" y="335"/>
                    </a:lnTo>
                    <a:lnTo>
                      <a:pt x="125" y="313"/>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19" name="Freeform 47"/>
              <p:cNvSpPr>
                <a:spLocks/>
              </p:cNvSpPr>
              <p:nvPr/>
            </p:nvSpPr>
            <p:spPr bwMode="auto">
              <a:xfrm>
                <a:off x="1348" y="626"/>
                <a:ext cx="393" cy="272"/>
              </a:xfrm>
              <a:custGeom>
                <a:avLst/>
                <a:gdLst>
                  <a:gd name="T0" fmla="*/ 272 w 393"/>
                  <a:gd name="T1" fmla="*/ 201 h 272"/>
                  <a:gd name="T2" fmla="*/ 357 w 393"/>
                  <a:gd name="T3" fmla="*/ 250 h 272"/>
                  <a:gd name="T4" fmla="*/ 366 w 393"/>
                  <a:gd name="T5" fmla="*/ 254 h 272"/>
                  <a:gd name="T6" fmla="*/ 375 w 393"/>
                  <a:gd name="T7" fmla="*/ 254 h 272"/>
                  <a:gd name="T8" fmla="*/ 384 w 393"/>
                  <a:gd name="T9" fmla="*/ 250 h 272"/>
                  <a:gd name="T10" fmla="*/ 388 w 393"/>
                  <a:gd name="T11" fmla="*/ 241 h 272"/>
                  <a:gd name="T12" fmla="*/ 393 w 393"/>
                  <a:gd name="T13" fmla="*/ 232 h 272"/>
                  <a:gd name="T14" fmla="*/ 393 w 393"/>
                  <a:gd name="T15" fmla="*/ 223 h 272"/>
                  <a:gd name="T16" fmla="*/ 388 w 393"/>
                  <a:gd name="T17" fmla="*/ 214 h 272"/>
                  <a:gd name="T18" fmla="*/ 384 w 393"/>
                  <a:gd name="T19" fmla="*/ 210 h 272"/>
                  <a:gd name="T20" fmla="*/ 295 w 393"/>
                  <a:gd name="T21" fmla="*/ 156 h 272"/>
                  <a:gd name="T22" fmla="*/ 339 w 393"/>
                  <a:gd name="T23" fmla="*/ 129 h 272"/>
                  <a:gd name="T24" fmla="*/ 348 w 393"/>
                  <a:gd name="T25" fmla="*/ 125 h 272"/>
                  <a:gd name="T26" fmla="*/ 353 w 393"/>
                  <a:gd name="T27" fmla="*/ 116 h 272"/>
                  <a:gd name="T28" fmla="*/ 353 w 393"/>
                  <a:gd name="T29" fmla="*/ 107 h 272"/>
                  <a:gd name="T30" fmla="*/ 353 w 393"/>
                  <a:gd name="T31" fmla="*/ 98 h 272"/>
                  <a:gd name="T32" fmla="*/ 344 w 393"/>
                  <a:gd name="T33" fmla="*/ 94 h 272"/>
                  <a:gd name="T34" fmla="*/ 339 w 393"/>
                  <a:gd name="T35" fmla="*/ 89 h 272"/>
                  <a:gd name="T36" fmla="*/ 330 w 393"/>
                  <a:gd name="T37" fmla="*/ 89 h 272"/>
                  <a:gd name="T38" fmla="*/ 321 w 393"/>
                  <a:gd name="T39" fmla="*/ 89 h 272"/>
                  <a:gd name="T40" fmla="*/ 254 w 393"/>
                  <a:gd name="T41" fmla="*/ 129 h 272"/>
                  <a:gd name="T42" fmla="*/ 196 w 393"/>
                  <a:gd name="T43" fmla="*/ 94 h 272"/>
                  <a:gd name="T44" fmla="*/ 281 w 393"/>
                  <a:gd name="T45" fmla="*/ 49 h 272"/>
                  <a:gd name="T46" fmla="*/ 290 w 393"/>
                  <a:gd name="T47" fmla="*/ 40 h 272"/>
                  <a:gd name="T48" fmla="*/ 295 w 393"/>
                  <a:gd name="T49" fmla="*/ 31 h 272"/>
                  <a:gd name="T50" fmla="*/ 295 w 393"/>
                  <a:gd name="T51" fmla="*/ 26 h 272"/>
                  <a:gd name="T52" fmla="*/ 295 w 393"/>
                  <a:gd name="T53" fmla="*/ 18 h 272"/>
                  <a:gd name="T54" fmla="*/ 290 w 393"/>
                  <a:gd name="T55" fmla="*/ 9 h 272"/>
                  <a:gd name="T56" fmla="*/ 281 w 393"/>
                  <a:gd name="T57" fmla="*/ 4 h 272"/>
                  <a:gd name="T58" fmla="*/ 272 w 393"/>
                  <a:gd name="T59" fmla="*/ 4 h 272"/>
                  <a:gd name="T60" fmla="*/ 263 w 393"/>
                  <a:gd name="T61" fmla="*/ 9 h 272"/>
                  <a:gd name="T62" fmla="*/ 152 w 393"/>
                  <a:gd name="T63" fmla="*/ 71 h 272"/>
                  <a:gd name="T64" fmla="*/ 27 w 393"/>
                  <a:gd name="T65" fmla="*/ 0 h 272"/>
                  <a:gd name="T66" fmla="*/ 0 w 393"/>
                  <a:gd name="T67" fmla="*/ 44 h 272"/>
                  <a:gd name="T68" fmla="*/ 125 w 393"/>
                  <a:gd name="T69" fmla="*/ 116 h 272"/>
                  <a:gd name="T70" fmla="*/ 125 w 393"/>
                  <a:gd name="T71" fmla="*/ 250 h 272"/>
                  <a:gd name="T72" fmla="*/ 125 w 393"/>
                  <a:gd name="T73" fmla="*/ 259 h 272"/>
                  <a:gd name="T74" fmla="*/ 129 w 393"/>
                  <a:gd name="T75" fmla="*/ 263 h 272"/>
                  <a:gd name="T76" fmla="*/ 138 w 393"/>
                  <a:gd name="T77" fmla="*/ 268 h 272"/>
                  <a:gd name="T78" fmla="*/ 143 w 393"/>
                  <a:gd name="T79" fmla="*/ 272 h 272"/>
                  <a:gd name="T80" fmla="*/ 152 w 393"/>
                  <a:gd name="T81" fmla="*/ 272 h 272"/>
                  <a:gd name="T82" fmla="*/ 161 w 393"/>
                  <a:gd name="T83" fmla="*/ 268 h 272"/>
                  <a:gd name="T84" fmla="*/ 165 w 393"/>
                  <a:gd name="T85" fmla="*/ 259 h 272"/>
                  <a:gd name="T86" fmla="*/ 165 w 393"/>
                  <a:gd name="T87" fmla="*/ 250 h 272"/>
                  <a:gd name="T88" fmla="*/ 170 w 393"/>
                  <a:gd name="T89" fmla="*/ 143 h 272"/>
                  <a:gd name="T90" fmla="*/ 228 w 393"/>
                  <a:gd name="T91" fmla="*/ 178 h 272"/>
                  <a:gd name="T92" fmla="*/ 223 w 393"/>
                  <a:gd name="T93" fmla="*/ 254 h 272"/>
                  <a:gd name="T94" fmla="*/ 228 w 393"/>
                  <a:gd name="T95" fmla="*/ 263 h 272"/>
                  <a:gd name="T96" fmla="*/ 232 w 393"/>
                  <a:gd name="T97" fmla="*/ 268 h 272"/>
                  <a:gd name="T98" fmla="*/ 237 w 393"/>
                  <a:gd name="T99" fmla="*/ 272 h 272"/>
                  <a:gd name="T100" fmla="*/ 245 w 393"/>
                  <a:gd name="T101" fmla="*/ 272 h 272"/>
                  <a:gd name="T102" fmla="*/ 254 w 393"/>
                  <a:gd name="T103" fmla="*/ 272 h 272"/>
                  <a:gd name="T104" fmla="*/ 259 w 393"/>
                  <a:gd name="T105" fmla="*/ 268 h 272"/>
                  <a:gd name="T106" fmla="*/ 263 w 393"/>
                  <a:gd name="T107" fmla="*/ 263 h 272"/>
                  <a:gd name="T108" fmla="*/ 268 w 393"/>
                  <a:gd name="T109" fmla="*/ 254 h 272"/>
                  <a:gd name="T110" fmla="*/ 272 w 393"/>
                  <a:gd name="T111" fmla="*/ 201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2">
                    <a:moveTo>
                      <a:pt x="272" y="201"/>
                    </a:moveTo>
                    <a:lnTo>
                      <a:pt x="357" y="250"/>
                    </a:lnTo>
                    <a:lnTo>
                      <a:pt x="366" y="254"/>
                    </a:lnTo>
                    <a:lnTo>
                      <a:pt x="375" y="254"/>
                    </a:lnTo>
                    <a:lnTo>
                      <a:pt x="384" y="250"/>
                    </a:lnTo>
                    <a:lnTo>
                      <a:pt x="388" y="241"/>
                    </a:lnTo>
                    <a:lnTo>
                      <a:pt x="393" y="232"/>
                    </a:lnTo>
                    <a:lnTo>
                      <a:pt x="393" y="223"/>
                    </a:lnTo>
                    <a:lnTo>
                      <a:pt x="388" y="214"/>
                    </a:lnTo>
                    <a:lnTo>
                      <a:pt x="384" y="210"/>
                    </a:lnTo>
                    <a:lnTo>
                      <a:pt x="295" y="156"/>
                    </a:lnTo>
                    <a:lnTo>
                      <a:pt x="339" y="129"/>
                    </a:lnTo>
                    <a:lnTo>
                      <a:pt x="348" y="125"/>
                    </a:lnTo>
                    <a:lnTo>
                      <a:pt x="353" y="116"/>
                    </a:lnTo>
                    <a:lnTo>
                      <a:pt x="353" y="107"/>
                    </a:lnTo>
                    <a:lnTo>
                      <a:pt x="353" y="98"/>
                    </a:lnTo>
                    <a:lnTo>
                      <a:pt x="344" y="94"/>
                    </a:lnTo>
                    <a:lnTo>
                      <a:pt x="339" y="89"/>
                    </a:lnTo>
                    <a:lnTo>
                      <a:pt x="330" y="89"/>
                    </a:lnTo>
                    <a:lnTo>
                      <a:pt x="321" y="89"/>
                    </a:lnTo>
                    <a:lnTo>
                      <a:pt x="254" y="129"/>
                    </a:lnTo>
                    <a:lnTo>
                      <a:pt x="196" y="94"/>
                    </a:lnTo>
                    <a:lnTo>
                      <a:pt x="281" y="49"/>
                    </a:lnTo>
                    <a:lnTo>
                      <a:pt x="290" y="40"/>
                    </a:lnTo>
                    <a:lnTo>
                      <a:pt x="295" y="31"/>
                    </a:lnTo>
                    <a:lnTo>
                      <a:pt x="295" y="26"/>
                    </a:lnTo>
                    <a:lnTo>
                      <a:pt x="295" y="18"/>
                    </a:lnTo>
                    <a:lnTo>
                      <a:pt x="290" y="9"/>
                    </a:lnTo>
                    <a:lnTo>
                      <a:pt x="281" y="4"/>
                    </a:lnTo>
                    <a:lnTo>
                      <a:pt x="272" y="4"/>
                    </a:lnTo>
                    <a:lnTo>
                      <a:pt x="263" y="9"/>
                    </a:lnTo>
                    <a:lnTo>
                      <a:pt x="152" y="71"/>
                    </a:lnTo>
                    <a:lnTo>
                      <a:pt x="27" y="0"/>
                    </a:lnTo>
                    <a:lnTo>
                      <a:pt x="0" y="44"/>
                    </a:lnTo>
                    <a:lnTo>
                      <a:pt x="125" y="116"/>
                    </a:lnTo>
                    <a:lnTo>
                      <a:pt x="125" y="250"/>
                    </a:lnTo>
                    <a:lnTo>
                      <a:pt x="125" y="259"/>
                    </a:lnTo>
                    <a:lnTo>
                      <a:pt x="129" y="263"/>
                    </a:lnTo>
                    <a:lnTo>
                      <a:pt x="138" y="268"/>
                    </a:lnTo>
                    <a:lnTo>
                      <a:pt x="143" y="272"/>
                    </a:lnTo>
                    <a:lnTo>
                      <a:pt x="152" y="272"/>
                    </a:lnTo>
                    <a:lnTo>
                      <a:pt x="161" y="268"/>
                    </a:lnTo>
                    <a:lnTo>
                      <a:pt x="165" y="259"/>
                    </a:lnTo>
                    <a:lnTo>
                      <a:pt x="165" y="250"/>
                    </a:lnTo>
                    <a:lnTo>
                      <a:pt x="170" y="143"/>
                    </a:lnTo>
                    <a:lnTo>
                      <a:pt x="228" y="178"/>
                    </a:lnTo>
                    <a:lnTo>
                      <a:pt x="223" y="254"/>
                    </a:lnTo>
                    <a:lnTo>
                      <a:pt x="228" y="263"/>
                    </a:lnTo>
                    <a:lnTo>
                      <a:pt x="232" y="268"/>
                    </a:lnTo>
                    <a:lnTo>
                      <a:pt x="237" y="272"/>
                    </a:lnTo>
                    <a:lnTo>
                      <a:pt x="245" y="272"/>
                    </a:lnTo>
                    <a:lnTo>
                      <a:pt x="254" y="272"/>
                    </a:lnTo>
                    <a:lnTo>
                      <a:pt x="259" y="268"/>
                    </a:lnTo>
                    <a:lnTo>
                      <a:pt x="263" y="263"/>
                    </a:lnTo>
                    <a:lnTo>
                      <a:pt x="268" y="254"/>
                    </a:lnTo>
                    <a:lnTo>
                      <a:pt x="272" y="20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20" name="Freeform 48"/>
              <p:cNvSpPr>
                <a:spLocks/>
              </p:cNvSpPr>
              <p:nvPr/>
            </p:nvSpPr>
            <p:spPr bwMode="auto">
              <a:xfrm>
                <a:off x="1348" y="393"/>
                <a:ext cx="393" cy="277"/>
              </a:xfrm>
              <a:custGeom>
                <a:avLst/>
                <a:gdLst>
                  <a:gd name="T0" fmla="*/ 295 w 393"/>
                  <a:gd name="T1" fmla="*/ 121 h 277"/>
                  <a:gd name="T2" fmla="*/ 384 w 393"/>
                  <a:gd name="T3" fmla="*/ 72 h 277"/>
                  <a:gd name="T4" fmla="*/ 393 w 393"/>
                  <a:gd name="T5" fmla="*/ 63 h 277"/>
                  <a:gd name="T6" fmla="*/ 393 w 393"/>
                  <a:gd name="T7" fmla="*/ 54 h 277"/>
                  <a:gd name="T8" fmla="*/ 393 w 393"/>
                  <a:gd name="T9" fmla="*/ 49 h 277"/>
                  <a:gd name="T10" fmla="*/ 393 w 393"/>
                  <a:gd name="T11" fmla="*/ 40 h 277"/>
                  <a:gd name="T12" fmla="*/ 384 w 393"/>
                  <a:gd name="T13" fmla="*/ 31 h 277"/>
                  <a:gd name="T14" fmla="*/ 379 w 393"/>
                  <a:gd name="T15" fmla="*/ 27 h 277"/>
                  <a:gd name="T16" fmla="*/ 370 w 393"/>
                  <a:gd name="T17" fmla="*/ 27 h 277"/>
                  <a:gd name="T18" fmla="*/ 357 w 393"/>
                  <a:gd name="T19" fmla="*/ 27 h 277"/>
                  <a:gd name="T20" fmla="*/ 268 w 393"/>
                  <a:gd name="T21" fmla="*/ 81 h 277"/>
                  <a:gd name="T22" fmla="*/ 268 w 393"/>
                  <a:gd name="T23" fmla="*/ 27 h 277"/>
                  <a:gd name="T24" fmla="*/ 268 w 393"/>
                  <a:gd name="T25" fmla="*/ 14 h 277"/>
                  <a:gd name="T26" fmla="*/ 263 w 393"/>
                  <a:gd name="T27" fmla="*/ 9 h 277"/>
                  <a:gd name="T28" fmla="*/ 254 w 393"/>
                  <a:gd name="T29" fmla="*/ 5 h 277"/>
                  <a:gd name="T30" fmla="*/ 250 w 393"/>
                  <a:gd name="T31" fmla="*/ 0 h 277"/>
                  <a:gd name="T32" fmla="*/ 241 w 393"/>
                  <a:gd name="T33" fmla="*/ 5 h 277"/>
                  <a:gd name="T34" fmla="*/ 232 w 393"/>
                  <a:gd name="T35" fmla="*/ 5 h 277"/>
                  <a:gd name="T36" fmla="*/ 228 w 393"/>
                  <a:gd name="T37" fmla="*/ 14 h 277"/>
                  <a:gd name="T38" fmla="*/ 228 w 393"/>
                  <a:gd name="T39" fmla="*/ 23 h 277"/>
                  <a:gd name="T40" fmla="*/ 228 w 393"/>
                  <a:gd name="T41" fmla="*/ 99 h 277"/>
                  <a:gd name="T42" fmla="*/ 170 w 393"/>
                  <a:gd name="T43" fmla="*/ 134 h 277"/>
                  <a:gd name="T44" fmla="*/ 170 w 393"/>
                  <a:gd name="T45" fmla="*/ 36 h 277"/>
                  <a:gd name="T46" fmla="*/ 170 w 393"/>
                  <a:gd name="T47" fmla="*/ 27 h 277"/>
                  <a:gd name="T48" fmla="*/ 165 w 393"/>
                  <a:gd name="T49" fmla="*/ 18 h 277"/>
                  <a:gd name="T50" fmla="*/ 156 w 393"/>
                  <a:gd name="T51" fmla="*/ 14 h 277"/>
                  <a:gd name="T52" fmla="*/ 147 w 393"/>
                  <a:gd name="T53" fmla="*/ 9 h 277"/>
                  <a:gd name="T54" fmla="*/ 138 w 393"/>
                  <a:gd name="T55" fmla="*/ 9 h 277"/>
                  <a:gd name="T56" fmla="*/ 134 w 393"/>
                  <a:gd name="T57" fmla="*/ 14 h 277"/>
                  <a:gd name="T58" fmla="*/ 129 w 393"/>
                  <a:gd name="T59" fmla="*/ 23 h 277"/>
                  <a:gd name="T60" fmla="*/ 125 w 393"/>
                  <a:gd name="T61" fmla="*/ 31 h 277"/>
                  <a:gd name="T62" fmla="*/ 125 w 393"/>
                  <a:gd name="T63" fmla="*/ 161 h 277"/>
                  <a:gd name="T64" fmla="*/ 0 w 393"/>
                  <a:gd name="T65" fmla="*/ 233 h 277"/>
                  <a:gd name="T66" fmla="*/ 27 w 393"/>
                  <a:gd name="T67" fmla="*/ 277 h 277"/>
                  <a:gd name="T68" fmla="*/ 152 w 393"/>
                  <a:gd name="T69" fmla="*/ 206 h 277"/>
                  <a:gd name="T70" fmla="*/ 268 w 393"/>
                  <a:gd name="T71" fmla="*/ 273 h 277"/>
                  <a:gd name="T72" fmla="*/ 272 w 393"/>
                  <a:gd name="T73" fmla="*/ 277 h 277"/>
                  <a:gd name="T74" fmla="*/ 281 w 393"/>
                  <a:gd name="T75" fmla="*/ 277 h 277"/>
                  <a:gd name="T76" fmla="*/ 290 w 393"/>
                  <a:gd name="T77" fmla="*/ 273 h 277"/>
                  <a:gd name="T78" fmla="*/ 295 w 393"/>
                  <a:gd name="T79" fmla="*/ 268 h 277"/>
                  <a:gd name="T80" fmla="*/ 299 w 393"/>
                  <a:gd name="T81" fmla="*/ 259 h 277"/>
                  <a:gd name="T82" fmla="*/ 299 w 393"/>
                  <a:gd name="T83" fmla="*/ 251 h 277"/>
                  <a:gd name="T84" fmla="*/ 295 w 393"/>
                  <a:gd name="T85" fmla="*/ 242 h 277"/>
                  <a:gd name="T86" fmla="*/ 286 w 393"/>
                  <a:gd name="T87" fmla="*/ 237 h 277"/>
                  <a:gd name="T88" fmla="*/ 196 w 393"/>
                  <a:gd name="T89" fmla="*/ 179 h 277"/>
                  <a:gd name="T90" fmla="*/ 254 w 393"/>
                  <a:gd name="T91" fmla="*/ 148 h 277"/>
                  <a:gd name="T92" fmla="*/ 321 w 393"/>
                  <a:gd name="T93" fmla="*/ 188 h 277"/>
                  <a:gd name="T94" fmla="*/ 330 w 393"/>
                  <a:gd name="T95" fmla="*/ 192 h 277"/>
                  <a:gd name="T96" fmla="*/ 335 w 393"/>
                  <a:gd name="T97" fmla="*/ 192 h 277"/>
                  <a:gd name="T98" fmla="*/ 344 w 393"/>
                  <a:gd name="T99" fmla="*/ 188 h 277"/>
                  <a:gd name="T100" fmla="*/ 348 w 393"/>
                  <a:gd name="T101" fmla="*/ 179 h 277"/>
                  <a:gd name="T102" fmla="*/ 348 w 393"/>
                  <a:gd name="T103" fmla="*/ 175 h 277"/>
                  <a:gd name="T104" fmla="*/ 348 w 393"/>
                  <a:gd name="T105" fmla="*/ 166 h 277"/>
                  <a:gd name="T106" fmla="*/ 348 w 393"/>
                  <a:gd name="T107" fmla="*/ 157 h 277"/>
                  <a:gd name="T108" fmla="*/ 339 w 393"/>
                  <a:gd name="T109" fmla="*/ 152 h 277"/>
                  <a:gd name="T110" fmla="*/ 295 w 393"/>
                  <a:gd name="T111" fmla="*/ 121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7">
                    <a:moveTo>
                      <a:pt x="295" y="121"/>
                    </a:moveTo>
                    <a:lnTo>
                      <a:pt x="384" y="72"/>
                    </a:lnTo>
                    <a:lnTo>
                      <a:pt x="393" y="63"/>
                    </a:lnTo>
                    <a:lnTo>
                      <a:pt x="393" y="54"/>
                    </a:lnTo>
                    <a:lnTo>
                      <a:pt x="393" y="49"/>
                    </a:lnTo>
                    <a:lnTo>
                      <a:pt x="393" y="40"/>
                    </a:lnTo>
                    <a:lnTo>
                      <a:pt x="384" y="31"/>
                    </a:lnTo>
                    <a:lnTo>
                      <a:pt x="379" y="27"/>
                    </a:lnTo>
                    <a:lnTo>
                      <a:pt x="370" y="27"/>
                    </a:lnTo>
                    <a:lnTo>
                      <a:pt x="357" y="27"/>
                    </a:lnTo>
                    <a:lnTo>
                      <a:pt x="268" y="81"/>
                    </a:lnTo>
                    <a:lnTo>
                      <a:pt x="268" y="27"/>
                    </a:lnTo>
                    <a:lnTo>
                      <a:pt x="268" y="14"/>
                    </a:lnTo>
                    <a:lnTo>
                      <a:pt x="263" y="9"/>
                    </a:lnTo>
                    <a:lnTo>
                      <a:pt x="254" y="5"/>
                    </a:lnTo>
                    <a:lnTo>
                      <a:pt x="250" y="0"/>
                    </a:lnTo>
                    <a:lnTo>
                      <a:pt x="241" y="5"/>
                    </a:lnTo>
                    <a:lnTo>
                      <a:pt x="232" y="5"/>
                    </a:lnTo>
                    <a:lnTo>
                      <a:pt x="228" y="14"/>
                    </a:lnTo>
                    <a:lnTo>
                      <a:pt x="228" y="23"/>
                    </a:lnTo>
                    <a:lnTo>
                      <a:pt x="228" y="99"/>
                    </a:lnTo>
                    <a:lnTo>
                      <a:pt x="170" y="134"/>
                    </a:lnTo>
                    <a:lnTo>
                      <a:pt x="170" y="36"/>
                    </a:lnTo>
                    <a:lnTo>
                      <a:pt x="170" y="27"/>
                    </a:lnTo>
                    <a:lnTo>
                      <a:pt x="165" y="18"/>
                    </a:lnTo>
                    <a:lnTo>
                      <a:pt x="156" y="14"/>
                    </a:lnTo>
                    <a:lnTo>
                      <a:pt x="147" y="9"/>
                    </a:lnTo>
                    <a:lnTo>
                      <a:pt x="138" y="9"/>
                    </a:lnTo>
                    <a:lnTo>
                      <a:pt x="134" y="14"/>
                    </a:lnTo>
                    <a:lnTo>
                      <a:pt x="129" y="23"/>
                    </a:lnTo>
                    <a:lnTo>
                      <a:pt x="125" y="31"/>
                    </a:lnTo>
                    <a:lnTo>
                      <a:pt x="125" y="161"/>
                    </a:lnTo>
                    <a:lnTo>
                      <a:pt x="0" y="233"/>
                    </a:lnTo>
                    <a:lnTo>
                      <a:pt x="27" y="277"/>
                    </a:lnTo>
                    <a:lnTo>
                      <a:pt x="152" y="206"/>
                    </a:lnTo>
                    <a:lnTo>
                      <a:pt x="268" y="273"/>
                    </a:lnTo>
                    <a:lnTo>
                      <a:pt x="272" y="277"/>
                    </a:lnTo>
                    <a:lnTo>
                      <a:pt x="281" y="277"/>
                    </a:lnTo>
                    <a:lnTo>
                      <a:pt x="290" y="273"/>
                    </a:lnTo>
                    <a:lnTo>
                      <a:pt x="295" y="268"/>
                    </a:lnTo>
                    <a:lnTo>
                      <a:pt x="299" y="259"/>
                    </a:lnTo>
                    <a:lnTo>
                      <a:pt x="299" y="251"/>
                    </a:lnTo>
                    <a:lnTo>
                      <a:pt x="295" y="242"/>
                    </a:lnTo>
                    <a:lnTo>
                      <a:pt x="286" y="237"/>
                    </a:lnTo>
                    <a:lnTo>
                      <a:pt x="196" y="179"/>
                    </a:lnTo>
                    <a:lnTo>
                      <a:pt x="254" y="148"/>
                    </a:lnTo>
                    <a:lnTo>
                      <a:pt x="321" y="188"/>
                    </a:lnTo>
                    <a:lnTo>
                      <a:pt x="330" y="192"/>
                    </a:lnTo>
                    <a:lnTo>
                      <a:pt x="335" y="192"/>
                    </a:lnTo>
                    <a:lnTo>
                      <a:pt x="344" y="188"/>
                    </a:lnTo>
                    <a:lnTo>
                      <a:pt x="348" y="179"/>
                    </a:lnTo>
                    <a:lnTo>
                      <a:pt x="348" y="175"/>
                    </a:lnTo>
                    <a:lnTo>
                      <a:pt x="348" y="166"/>
                    </a:lnTo>
                    <a:lnTo>
                      <a:pt x="348" y="157"/>
                    </a:lnTo>
                    <a:lnTo>
                      <a:pt x="339" y="152"/>
                    </a:lnTo>
                    <a:lnTo>
                      <a:pt x="295" y="12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21" name="Freeform 49"/>
              <p:cNvSpPr>
                <a:spLocks/>
              </p:cNvSpPr>
              <p:nvPr/>
            </p:nvSpPr>
            <p:spPr bwMode="auto">
              <a:xfrm>
                <a:off x="1232" y="536"/>
                <a:ext cx="263" cy="228"/>
              </a:xfrm>
              <a:custGeom>
                <a:avLst/>
                <a:gdLst>
                  <a:gd name="T0" fmla="*/ 0 w 263"/>
                  <a:gd name="T1" fmla="*/ 116 h 228"/>
                  <a:gd name="T2" fmla="*/ 49 w 263"/>
                  <a:gd name="T3" fmla="*/ 67 h 228"/>
                  <a:gd name="T4" fmla="*/ 67 w 263"/>
                  <a:gd name="T5" fmla="*/ 0 h 228"/>
                  <a:gd name="T6" fmla="*/ 134 w 263"/>
                  <a:gd name="T7" fmla="*/ 23 h 228"/>
                  <a:gd name="T8" fmla="*/ 201 w 263"/>
                  <a:gd name="T9" fmla="*/ 0 h 228"/>
                  <a:gd name="T10" fmla="*/ 214 w 263"/>
                  <a:gd name="T11" fmla="*/ 67 h 228"/>
                  <a:gd name="T12" fmla="*/ 263 w 263"/>
                  <a:gd name="T13" fmla="*/ 116 h 228"/>
                  <a:gd name="T14" fmla="*/ 214 w 263"/>
                  <a:gd name="T15" fmla="*/ 161 h 228"/>
                  <a:gd name="T16" fmla="*/ 201 w 263"/>
                  <a:gd name="T17" fmla="*/ 228 h 228"/>
                  <a:gd name="T18" fmla="*/ 134 w 263"/>
                  <a:gd name="T19" fmla="*/ 210 h 228"/>
                  <a:gd name="T20" fmla="*/ 67 w 263"/>
                  <a:gd name="T21" fmla="*/ 228 h 228"/>
                  <a:gd name="T22" fmla="*/ 49 w 263"/>
                  <a:gd name="T23" fmla="*/ 161 h 228"/>
                  <a:gd name="T24" fmla="*/ 0 w 263"/>
                  <a:gd name="T25" fmla="*/ 116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3" h="228">
                    <a:moveTo>
                      <a:pt x="0" y="116"/>
                    </a:moveTo>
                    <a:lnTo>
                      <a:pt x="49" y="67"/>
                    </a:lnTo>
                    <a:lnTo>
                      <a:pt x="67" y="0"/>
                    </a:lnTo>
                    <a:lnTo>
                      <a:pt x="134" y="23"/>
                    </a:lnTo>
                    <a:lnTo>
                      <a:pt x="201" y="0"/>
                    </a:lnTo>
                    <a:lnTo>
                      <a:pt x="214" y="67"/>
                    </a:lnTo>
                    <a:lnTo>
                      <a:pt x="263" y="116"/>
                    </a:lnTo>
                    <a:lnTo>
                      <a:pt x="214" y="161"/>
                    </a:lnTo>
                    <a:lnTo>
                      <a:pt x="201" y="228"/>
                    </a:lnTo>
                    <a:lnTo>
                      <a:pt x="134" y="210"/>
                    </a:lnTo>
                    <a:lnTo>
                      <a:pt x="67" y="228"/>
                    </a:lnTo>
                    <a:lnTo>
                      <a:pt x="49" y="161"/>
                    </a:lnTo>
                    <a:lnTo>
                      <a:pt x="0" y="116"/>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grpSp>
      </p:grpSp>
      <p:grpSp>
        <p:nvGrpSpPr>
          <p:cNvPr id="6" name="组合 5"/>
          <p:cNvGrpSpPr/>
          <p:nvPr/>
        </p:nvGrpSpPr>
        <p:grpSpPr>
          <a:xfrm>
            <a:off x="2814464" y="3168871"/>
            <a:ext cx="2909664" cy="609600"/>
            <a:chOff x="2814464" y="4280459"/>
            <a:chExt cx="2909664" cy="609600"/>
          </a:xfrm>
        </p:grpSpPr>
        <p:sp>
          <p:nvSpPr>
            <p:cNvPr id="5" name="TextBox 4"/>
            <p:cNvSpPr txBox="1"/>
            <p:nvPr/>
          </p:nvSpPr>
          <p:spPr>
            <a:xfrm>
              <a:off x="3389722" y="4337272"/>
              <a:ext cx="2334406" cy="523220"/>
            </a:xfrm>
            <a:prstGeom prst="rect">
              <a:avLst/>
            </a:prstGeom>
            <a:noFill/>
          </p:spPr>
          <p:txBody>
            <a:bodyPr wrap="square" rtlCol="0">
              <a:spAutoFit/>
            </a:bodyPr>
            <a:lstStyle/>
            <a:p>
              <a:r>
                <a:rPr lang="zh-CN" altLang="en-US" sz="2800" dirty="0" smtClean="0">
                  <a:latin typeface="微软雅黑" pitchFamily="34" charset="-122"/>
                  <a:ea typeface="微软雅黑" pitchFamily="34" charset="-122"/>
                </a:rPr>
                <a:t>现货管理规定</a:t>
              </a:r>
              <a:endParaRPr lang="zh-CN" altLang="en-US" sz="2800" dirty="0">
                <a:latin typeface="微软雅黑" pitchFamily="34" charset="-122"/>
                <a:ea typeface="微软雅黑" pitchFamily="34" charset="-122"/>
              </a:endParaRPr>
            </a:p>
          </p:txBody>
        </p:sp>
        <p:grpSp>
          <p:nvGrpSpPr>
            <p:cNvPr id="22" name="Group 42"/>
            <p:cNvGrpSpPr>
              <a:grpSpLocks/>
            </p:cNvGrpSpPr>
            <p:nvPr/>
          </p:nvGrpSpPr>
          <p:grpSpPr bwMode="auto">
            <a:xfrm>
              <a:off x="2814464" y="4280459"/>
              <a:ext cx="533400" cy="609600"/>
              <a:chOff x="982" y="214"/>
              <a:chExt cx="759" cy="872"/>
            </a:xfrm>
          </p:grpSpPr>
          <p:sp>
            <p:nvSpPr>
              <p:cNvPr id="23" name="Freeform 43"/>
              <p:cNvSpPr>
                <a:spLocks/>
              </p:cNvSpPr>
              <p:nvPr/>
            </p:nvSpPr>
            <p:spPr bwMode="auto">
              <a:xfrm>
                <a:off x="1214" y="214"/>
                <a:ext cx="299" cy="434"/>
              </a:xfrm>
              <a:custGeom>
                <a:avLst/>
                <a:gdLst>
                  <a:gd name="T0" fmla="*/ 174 w 299"/>
                  <a:gd name="T1" fmla="*/ 121 h 434"/>
                  <a:gd name="T2" fmla="*/ 174 w 299"/>
                  <a:gd name="T3" fmla="*/ 23 h 434"/>
                  <a:gd name="T4" fmla="*/ 170 w 299"/>
                  <a:gd name="T5" fmla="*/ 9 h 434"/>
                  <a:gd name="T6" fmla="*/ 165 w 299"/>
                  <a:gd name="T7" fmla="*/ 5 h 434"/>
                  <a:gd name="T8" fmla="*/ 156 w 299"/>
                  <a:gd name="T9" fmla="*/ 0 h 434"/>
                  <a:gd name="T10" fmla="*/ 152 w 299"/>
                  <a:gd name="T11" fmla="*/ 0 h 434"/>
                  <a:gd name="T12" fmla="*/ 143 w 299"/>
                  <a:gd name="T13" fmla="*/ 0 h 434"/>
                  <a:gd name="T14" fmla="*/ 134 w 299"/>
                  <a:gd name="T15" fmla="*/ 5 h 434"/>
                  <a:gd name="T16" fmla="*/ 125 w 299"/>
                  <a:gd name="T17" fmla="*/ 9 h 434"/>
                  <a:gd name="T18" fmla="*/ 125 w 299"/>
                  <a:gd name="T19" fmla="*/ 23 h 434"/>
                  <a:gd name="T20" fmla="*/ 125 w 299"/>
                  <a:gd name="T21" fmla="*/ 126 h 434"/>
                  <a:gd name="T22" fmla="*/ 76 w 299"/>
                  <a:gd name="T23" fmla="*/ 99 h 434"/>
                  <a:gd name="T24" fmla="*/ 67 w 299"/>
                  <a:gd name="T25" fmla="*/ 94 h 434"/>
                  <a:gd name="T26" fmla="*/ 58 w 299"/>
                  <a:gd name="T27" fmla="*/ 94 h 434"/>
                  <a:gd name="T28" fmla="*/ 49 w 299"/>
                  <a:gd name="T29" fmla="*/ 99 h 434"/>
                  <a:gd name="T30" fmla="*/ 45 w 299"/>
                  <a:gd name="T31" fmla="*/ 103 h 434"/>
                  <a:gd name="T32" fmla="*/ 40 w 299"/>
                  <a:gd name="T33" fmla="*/ 112 h 434"/>
                  <a:gd name="T34" fmla="*/ 45 w 299"/>
                  <a:gd name="T35" fmla="*/ 117 h 434"/>
                  <a:gd name="T36" fmla="*/ 45 w 299"/>
                  <a:gd name="T37" fmla="*/ 126 h 434"/>
                  <a:gd name="T38" fmla="*/ 54 w 299"/>
                  <a:gd name="T39" fmla="*/ 134 h 434"/>
                  <a:gd name="T40" fmla="*/ 121 w 299"/>
                  <a:gd name="T41" fmla="*/ 170 h 434"/>
                  <a:gd name="T42" fmla="*/ 121 w 299"/>
                  <a:gd name="T43" fmla="*/ 242 h 434"/>
                  <a:gd name="T44" fmla="*/ 36 w 299"/>
                  <a:gd name="T45" fmla="*/ 188 h 434"/>
                  <a:gd name="T46" fmla="*/ 27 w 299"/>
                  <a:gd name="T47" fmla="*/ 184 h 434"/>
                  <a:gd name="T48" fmla="*/ 18 w 299"/>
                  <a:gd name="T49" fmla="*/ 184 h 434"/>
                  <a:gd name="T50" fmla="*/ 9 w 299"/>
                  <a:gd name="T51" fmla="*/ 188 h 434"/>
                  <a:gd name="T52" fmla="*/ 5 w 299"/>
                  <a:gd name="T53" fmla="*/ 193 h 434"/>
                  <a:gd name="T54" fmla="*/ 0 w 299"/>
                  <a:gd name="T55" fmla="*/ 202 h 434"/>
                  <a:gd name="T56" fmla="*/ 0 w 299"/>
                  <a:gd name="T57" fmla="*/ 210 h 434"/>
                  <a:gd name="T58" fmla="*/ 5 w 299"/>
                  <a:gd name="T59" fmla="*/ 219 h 434"/>
                  <a:gd name="T60" fmla="*/ 14 w 299"/>
                  <a:gd name="T61" fmla="*/ 224 h 434"/>
                  <a:gd name="T62" fmla="*/ 121 w 299"/>
                  <a:gd name="T63" fmla="*/ 291 h 434"/>
                  <a:gd name="T64" fmla="*/ 121 w 299"/>
                  <a:gd name="T65" fmla="*/ 434 h 434"/>
                  <a:gd name="T66" fmla="*/ 174 w 299"/>
                  <a:gd name="T67" fmla="*/ 434 h 434"/>
                  <a:gd name="T68" fmla="*/ 174 w 299"/>
                  <a:gd name="T69" fmla="*/ 291 h 434"/>
                  <a:gd name="T70" fmla="*/ 290 w 299"/>
                  <a:gd name="T71" fmla="*/ 224 h 434"/>
                  <a:gd name="T72" fmla="*/ 295 w 299"/>
                  <a:gd name="T73" fmla="*/ 219 h 434"/>
                  <a:gd name="T74" fmla="*/ 299 w 299"/>
                  <a:gd name="T75" fmla="*/ 210 h 434"/>
                  <a:gd name="T76" fmla="*/ 299 w 299"/>
                  <a:gd name="T77" fmla="*/ 202 h 434"/>
                  <a:gd name="T78" fmla="*/ 299 w 299"/>
                  <a:gd name="T79" fmla="*/ 197 h 434"/>
                  <a:gd name="T80" fmla="*/ 295 w 299"/>
                  <a:gd name="T81" fmla="*/ 188 h 434"/>
                  <a:gd name="T82" fmla="*/ 286 w 299"/>
                  <a:gd name="T83" fmla="*/ 184 h 434"/>
                  <a:gd name="T84" fmla="*/ 277 w 299"/>
                  <a:gd name="T85" fmla="*/ 184 h 434"/>
                  <a:gd name="T86" fmla="*/ 268 w 299"/>
                  <a:gd name="T87" fmla="*/ 188 h 434"/>
                  <a:gd name="T88" fmla="*/ 174 w 299"/>
                  <a:gd name="T89" fmla="*/ 237 h 434"/>
                  <a:gd name="T90" fmla="*/ 174 w 299"/>
                  <a:gd name="T91" fmla="*/ 170 h 434"/>
                  <a:gd name="T92" fmla="*/ 246 w 299"/>
                  <a:gd name="T93" fmla="*/ 134 h 434"/>
                  <a:gd name="T94" fmla="*/ 250 w 299"/>
                  <a:gd name="T95" fmla="*/ 130 h 434"/>
                  <a:gd name="T96" fmla="*/ 255 w 299"/>
                  <a:gd name="T97" fmla="*/ 121 h 434"/>
                  <a:gd name="T98" fmla="*/ 255 w 299"/>
                  <a:gd name="T99" fmla="*/ 112 h 434"/>
                  <a:gd name="T100" fmla="*/ 250 w 299"/>
                  <a:gd name="T101" fmla="*/ 108 h 434"/>
                  <a:gd name="T102" fmla="*/ 246 w 299"/>
                  <a:gd name="T103" fmla="*/ 103 h 434"/>
                  <a:gd name="T104" fmla="*/ 237 w 299"/>
                  <a:gd name="T105" fmla="*/ 99 h 434"/>
                  <a:gd name="T106" fmla="*/ 232 w 299"/>
                  <a:gd name="T107" fmla="*/ 99 h 434"/>
                  <a:gd name="T108" fmla="*/ 223 w 299"/>
                  <a:gd name="T109" fmla="*/ 99 h 434"/>
                  <a:gd name="T110" fmla="*/ 174 w 299"/>
                  <a:gd name="T111" fmla="*/ 121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99" h="434">
                    <a:moveTo>
                      <a:pt x="174" y="121"/>
                    </a:moveTo>
                    <a:lnTo>
                      <a:pt x="174" y="23"/>
                    </a:lnTo>
                    <a:lnTo>
                      <a:pt x="170" y="9"/>
                    </a:lnTo>
                    <a:lnTo>
                      <a:pt x="165" y="5"/>
                    </a:lnTo>
                    <a:lnTo>
                      <a:pt x="156" y="0"/>
                    </a:lnTo>
                    <a:lnTo>
                      <a:pt x="152" y="0"/>
                    </a:lnTo>
                    <a:lnTo>
                      <a:pt x="143" y="0"/>
                    </a:lnTo>
                    <a:lnTo>
                      <a:pt x="134" y="5"/>
                    </a:lnTo>
                    <a:lnTo>
                      <a:pt x="125" y="9"/>
                    </a:lnTo>
                    <a:lnTo>
                      <a:pt x="125" y="23"/>
                    </a:lnTo>
                    <a:lnTo>
                      <a:pt x="125" y="126"/>
                    </a:lnTo>
                    <a:lnTo>
                      <a:pt x="76" y="99"/>
                    </a:lnTo>
                    <a:lnTo>
                      <a:pt x="67" y="94"/>
                    </a:lnTo>
                    <a:lnTo>
                      <a:pt x="58" y="94"/>
                    </a:lnTo>
                    <a:lnTo>
                      <a:pt x="49" y="99"/>
                    </a:lnTo>
                    <a:lnTo>
                      <a:pt x="45" y="103"/>
                    </a:lnTo>
                    <a:lnTo>
                      <a:pt x="40" y="112"/>
                    </a:lnTo>
                    <a:lnTo>
                      <a:pt x="45" y="117"/>
                    </a:lnTo>
                    <a:lnTo>
                      <a:pt x="45" y="126"/>
                    </a:lnTo>
                    <a:lnTo>
                      <a:pt x="54" y="134"/>
                    </a:lnTo>
                    <a:lnTo>
                      <a:pt x="121" y="170"/>
                    </a:lnTo>
                    <a:lnTo>
                      <a:pt x="121" y="242"/>
                    </a:lnTo>
                    <a:lnTo>
                      <a:pt x="36" y="188"/>
                    </a:lnTo>
                    <a:lnTo>
                      <a:pt x="27" y="184"/>
                    </a:lnTo>
                    <a:lnTo>
                      <a:pt x="18" y="184"/>
                    </a:lnTo>
                    <a:lnTo>
                      <a:pt x="9" y="188"/>
                    </a:lnTo>
                    <a:lnTo>
                      <a:pt x="5" y="193"/>
                    </a:lnTo>
                    <a:lnTo>
                      <a:pt x="0" y="202"/>
                    </a:lnTo>
                    <a:lnTo>
                      <a:pt x="0" y="210"/>
                    </a:lnTo>
                    <a:lnTo>
                      <a:pt x="5" y="219"/>
                    </a:lnTo>
                    <a:lnTo>
                      <a:pt x="14" y="224"/>
                    </a:lnTo>
                    <a:lnTo>
                      <a:pt x="121" y="291"/>
                    </a:lnTo>
                    <a:lnTo>
                      <a:pt x="121" y="434"/>
                    </a:lnTo>
                    <a:lnTo>
                      <a:pt x="174" y="434"/>
                    </a:lnTo>
                    <a:lnTo>
                      <a:pt x="174" y="291"/>
                    </a:lnTo>
                    <a:lnTo>
                      <a:pt x="290" y="224"/>
                    </a:lnTo>
                    <a:lnTo>
                      <a:pt x="295" y="219"/>
                    </a:lnTo>
                    <a:lnTo>
                      <a:pt x="299" y="210"/>
                    </a:lnTo>
                    <a:lnTo>
                      <a:pt x="299" y="202"/>
                    </a:lnTo>
                    <a:lnTo>
                      <a:pt x="299" y="197"/>
                    </a:lnTo>
                    <a:lnTo>
                      <a:pt x="295" y="188"/>
                    </a:lnTo>
                    <a:lnTo>
                      <a:pt x="286" y="184"/>
                    </a:lnTo>
                    <a:lnTo>
                      <a:pt x="277" y="184"/>
                    </a:lnTo>
                    <a:lnTo>
                      <a:pt x="268" y="188"/>
                    </a:lnTo>
                    <a:lnTo>
                      <a:pt x="174" y="237"/>
                    </a:lnTo>
                    <a:lnTo>
                      <a:pt x="174" y="170"/>
                    </a:lnTo>
                    <a:lnTo>
                      <a:pt x="246" y="134"/>
                    </a:lnTo>
                    <a:lnTo>
                      <a:pt x="250" y="130"/>
                    </a:lnTo>
                    <a:lnTo>
                      <a:pt x="255" y="121"/>
                    </a:lnTo>
                    <a:lnTo>
                      <a:pt x="255" y="112"/>
                    </a:lnTo>
                    <a:lnTo>
                      <a:pt x="250" y="108"/>
                    </a:lnTo>
                    <a:lnTo>
                      <a:pt x="246" y="103"/>
                    </a:lnTo>
                    <a:lnTo>
                      <a:pt x="237" y="99"/>
                    </a:lnTo>
                    <a:lnTo>
                      <a:pt x="232" y="99"/>
                    </a:lnTo>
                    <a:lnTo>
                      <a:pt x="223" y="99"/>
                    </a:lnTo>
                    <a:lnTo>
                      <a:pt x="174" y="12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24" name="Freeform 44"/>
              <p:cNvSpPr>
                <a:spLocks/>
              </p:cNvSpPr>
              <p:nvPr/>
            </p:nvSpPr>
            <p:spPr bwMode="auto">
              <a:xfrm>
                <a:off x="982" y="398"/>
                <a:ext cx="393" cy="272"/>
              </a:xfrm>
              <a:custGeom>
                <a:avLst/>
                <a:gdLst>
                  <a:gd name="T0" fmla="*/ 121 w 393"/>
                  <a:gd name="T1" fmla="*/ 71 h 272"/>
                  <a:gd name="T2" fmla="*/ 36 w 393"/>
                  <a:gd name="T3" fmla="*/ 22 h 272"/>
                  <a:gd name="T4" fmla="*/ 27 w 393"/>
                  <a:gd name="T5" fmla="*/ 18 h 272"/>
                  <a:gd name="T6" fmla="*/ 18 w 393"/>
                  <a:gd name="T7" fmla="*/ 18 h 272"/>
                  <a:gd name="T8" fmla="*/ 9 w 393"/>
                  <a:gd name="T9" fmla="*/ 22 h 272"/>
                  <a:gd name="T10" fmla="*/ 5 w 393"/>
                  <a:gd name="T11" fmla="*/ 31 h 272"/>
                  <a:gd name="T12" fmla="*/ 0 w 393"/>
                  <a:gd name="T13" fmla="*/ 40 h 272"/>
                  <a:gd name="T14" fmla="*/ 0 w 393"/>
                  <a:gd name="T15" fmla="*/ 49 h 272"/>
                  <a:gd name="T16" fmla="*/ 5 w 393"/>
                  <a:gd name="T17" fmla="*/ 58 h 272"/>
                  <a:gd name="T18" fmla="*/ 9 w 393"/>
                  <a:gd name="T19" fmla="*/ 62 h 272"/>
                  <a:gd name="T20" fmla="*/ 98 w 393"/>
                  <a:gd name="T21" fmla="*/ 116 h 272"/>
                  <a:gd name="T22" fmla="*/ 54 w 393"/>
                  <a:gd name="T23" fmla="*/ 143 h 272"/>
                  <a:gd name="T24" fmla="*/ 45 w 393"/>
                  <a:gd name="T25" fmla="*/ 147 h 272"/>
                  <a:gd name="T26" fmla="*/ 40 w 393"/>
                  <a:gd name="T27" fmla="*/ 156 h 272"/>
                  <a:gd name="T28" fmla="*/ 40 w 393"/>
                  <a:gd name="T29" fmla="*/ 165 h 272"/>
                  <a:gd name="T30" fmla="*/ 40 w 393"/>
                  <a:gd name="T31" fmla="*/ 174 h 272"/>
                  <a:gd name="T32" fmla="*/ 49 w 393"/>
                  <a:gd name="T33" fmla="*/ 178 h 272"/>
                  <a:gd name="T34" fmla="*/ 54 w 393"/>
                  <a:gd name="T35" fmla="*/ 183 h 272"/>
                  <a:gd name="T36" fmla="*/ 63 w 393"/>
                  <a:gd name="T37" fmla="*/ 183 h 272"/>
                  <a:gd name="T38" fmla="*/ 72 w 393"/>
                  <a:gd name="T39" fmla="*/ 183 h 272"/>
                  <a:gd name="T40" fmla="*/ 139 w 393"/>
                  <a:gd name="T41" fmla="*/ 143 h 272"/>
                  <a:gd name="T42" fmla="*/ 197 w 393"/>
                  <a:gd name="T43" fmla="*/ 178 h 272"/>
                  <a:gd name="T44" fmla="*/ 112 w 393"/>
                  <a:gd name="T45" fmla="*/ 223 h 272"/>
                  <a:gd name="T46" fmla="*/ 103 w 393"/>
                  <a:gd name="T47" fmla="*/ 232 h 272"/>
                  <a:gd name="T48" fmla="*/ 98 w 393"/>
                  <a:gd name="T49" fmla="*/ 241 h 272"/>
                  <a:gd name="T50" fmla="*/ 98 w 393"/>
                  <a:gd name="T51" fmla="*/ 246 h 272"/>
                  <a:gd name="T52" fmla="*/ 98 w 393"/>
                  <a:gd name="T53" fmla="*/ 254 h 272"/>
                  <a:gd name="T54" fmla="*/ 103 w 393"/>
                  <a:gd name="T55" fmla="*/ 263 h 272"/>
                  <a:gd name="T56" fmla="*/ 112 w 393"/>
                  <a:gd name="T57" fmla="*/ 268 h 272"/>
                  <a:gd name="T58" fmla="*/ 121 w 393"/>
                  <a:gd name="T59" fmla="*/ 268 h 272"/>
                  <a:gd name="T60" fmla="*/ 130 w 393"/>
                  <a:gd name="T61" fmla="*/ 263 h 272"/>
                  <a:gd name="T62" fmla="*/ 241 w 393"/>
                  <a:gd name="T63" fmla="*/ 201 h 272"/>
                  <a:gd name="T64" fmla="*/ 366 w 393"/>
                  <a:gd name="T65" fmla="*/ 272 h 272"/>
                  <a:gd name="T66" fmla="*/ 393 w 393"/>
                  <a:gd name="T67" fmla="*/ 228 h 272"/>
                  <a:gd name="T68" fmla="*/ 268 w 393"/>
                  <a:gd name="T69" fmla="*/ 156 h 272"/>
                  <a:gd name="T70" fmla="*/ 268 w 393"/>
                  <a:gd name="T71" fmla="*/ 22 h 272"/>
                  <a:gd name="T72" fmla="*/ 268 w 393"/>
                  <a:gd name="T73" fmla="*/ 13 h 272"/>
                  <a:gd name="T74" fmla="*/ 264 w 393"/>
                  <a:gd name="T75" fmla="*/ 9 h 272"/>
                  <a:gd name="T76" fmla="*/ 255 w 393"/>
                  <a:gd name="T77" fmla="*/ 4 h 272"/>
                  <a:gd name="T78" fmla="*/ 250 w 393"/>
                  <a:gd name="T79" fmla="*/ 0 h 272"/>
                  <a:gd name="T80" fmla="*/ 241 w 393"/>
                  <a:gd name="T81" fmla="*/ 0 h 272"/>
                  <a:gd name="T82" fmla="*/ 232 w 393"/>
                  <a:gd name="T83" fmla="*/ 4 h 272"/>
                  <a:gd name="T84" fmla="*/ 228 w 393"/>
                  <a:gd name="T85" fmla="*/ 13 h 272"/>
                  <a:gd name="T86" fmla="*/ 228 w 393"/>
                  <a:gd name="T87" fmla="*/ 22 h 272"/>
                  <a:gd name="T88" fmla="*/ 223 w 393"/>
                  <a:gd name="T89" fmla="*/ 129 h 272"/>
                  <a:gd name="T90" fmla="*/ 165 w 393"/>
                  <a:gd name="T91" fmla="*/ 94 h 272"/>
                  <a:gd name="T92" fmla="*/ 170 w 393"/>
                  <a:gd name="T93" fmla="*/ 18 h 272"/>
                  <a:gd name="T94" fmla="*/ 165 w 393"/>
                  <a:gd name="T95" fmla="*/ 9 h 272"/>
                  <a:gd name="T96" fmla="*/ 161 w 393"/>
                  <a:gd name="T97" fmla="*/ 4 h 272"/>
                  <a:gd name="T98" fmla="*/ 156 w 393"/>
                  <a:gd name="T99" fmla="*/ 0 h 272"/>
                  <a:gd name="T100" fmla="*/ 148 w 393"/>
                  <a:gd name="T101" fmla="*/ 0 h 272"/>
                  <a:gd name="T102" fmla="*/ 139 w 393"/>
                  <a:gd name="T103" fmla="*/ 0 h 272"/>
                  <a:gd name="T104" fmla="*/ 134 w 393"/>
                  <a:gd name="T105" fmla="*/ 4 h 272"/>
                  <a:gd name="T106" fmla="*/ 130 w 393"/>
                  <a:gd name="T107" fmla="*/ 9 h 272"/>
                  <a:gd name="T108" fmla="*/ 125 w 393"/>
                  <a:gd name="T109" fmla="*/ 18 h 272"/>
                  <a:gd name="T110" fmla="*/ 121 w 393"/>
                  <a:gd name="T111" fmla="*/ 71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2">
                    <a:moveTo>
                      <a:pt x="121" y="71"/>
                    </a:moveTo>
                    <a:lnTo>
                      <a:pt x="36" y="22"/>
                    </a:lnTo>
                    <a:lnTo>
                      <a:pt x="27" y="18"/>
                    </a:lnTo>
                    <a:lnTo>
                      <a:pt x="18" y="18"/>
                    </a:lnTo>
                    <a:lnTo>
                      <a:pt x="9" y="22"/>
                    </a:lnTo>
                    <a:lnTo>
                      <a:pt x="5" y="31"/>
                    </a:lnTo>
                    <a:lnTo>
                      <a:pt x="0" y="40"/>
                    </a:lnTo>
                    <a:lnTo>
                      <a:pt x="0" y="49"/>
                    </a:lnTo>
                    <a:lnTo>
                      <a:pt x="5" y="58"/>
                    </a:lnTo>
                    <a:lnTo>
                      <a:pt x="9" y="62"/>
                    </a:lnTo>
                    <a:lnTo>
                      <a:pt x="98" y="116"/>
                    </a:lnTo>
                    <a:lnTo>
                      <a:pt x="54" y="143"/>
                    </a:lnTo>
                    <a:lnTo>
                      <a:pt x="45" y="147"/>
                    </a:lnTo>
                    <a:lnTo>
                      <a:pt x="40" y="156"/>
                    </a:lnTo>
                    <a:lnTo>
                      <a:pt x="40" y="165"/>
                    </a:lnTo>
                    <a:lnTo>
                      <a:pt x="40" y="174"/>
                    </a:lnTo>
                    <a:lnTo>
                      <a:pt x="49" y="178"/>
                    </a:lnTo>
                    <a:lnTo>
                      <a:pt x="54" y="183"/>
                    </a:lnTo>
                    <a:lnTo>
                      <a:pt x="63" y="183"/>
                    </a:lnTo>
                    <a:lnTo>
                      <a:pt x="72" y="183"/>
                    </a:lnTo>
                    <a:lnTo>
                      <a:pt x="139" y="143"/>
                    </a:lnTo>
                    <a:lnTo>
                      <a:pt x="197" y="178"/>
                    </a:lnTo>
                    <a:lnTo>
                      <a:pt x="112" y="223"/>
                    </a:lnTo>
                    <a:lnTo>
                      <a:pt x="103" y="232"/>
                    </a:lnTo>
                    <a:lnTo>
                      <a:pt x="98" y="241"/>
                    </a:lnTo>
                    <a:lnTo>
                      <a:pt x="98" y="246"/>
                    </a:lnTo>
                    <a:lnTo>
                      <a:pt x="98" y="254"/>
                    </a:lnTo>
                    <a:lnTo>
                      <a:pt x="103" y="263"/>
                    </a:lnTo>
                    <a:lnTo>
                      <a:pt x="112" y="268"/>
                    </a:lnTo>
                    <a:lnTo>
                      <a:pt x="121" y="268"/>
                    </a:lnTo>
                    <a:lnTo>
                      <a:pt x="130" y="263"/>
                    </a:lnTo>
                    <a:lnTo>
                      <a:pt x="241" y="201"/>
                    </a:lnTo>
                    <a:lnTo>
                      <a:pt x="366" y="272"/>
                    </a:lnTo>
                    <a:lnTo>
                      <a:pt x="393" y="228"/>
                    </a:lnTo>
                    <a:lnTo>
                      <a:pt x="268" y="156"/>
                    </a:lnTo>
                    <a:lnTo>
                      <a:pt x="268" y="22"/>
                    </a:lnTo>
                    <a:lnTo>
                      <a:pt x="268" y="13"/>
                    </a:lnTo>
                    <a:lnTo>
                      <a:pt x="264" y="9"/>
                    </a:lnTo>
                    <a:lnTo>
                      <a:pt x="255" y="4"/>
                    </a:lnTo>
                    <a:lnTo>
                      <a:pt x="250" y="0"/>
                    </a:lnTo>
                    <a:lnTo>
                      <a:pt x="241" y="0"/>
                    </a:lnTo>
                    <a:lnTo>
                      <a:pt x="232" y="4"/>
                    </a:lnTo>
                    <a:lnTo>
                      <a:pt x="228" y="13"/>
                    </a:lnTo>
                    <a:lnTo>
                      <a:pt x="228" y="22"/>
                    </a:lnTo>
                    <a:lnTo>
                      <a:pt x="223" y="129"/>
                    </a:lnTo>
                    <a:lnTo>
                      <a:pt x="165" y="94"/>
                    </a:lnTo>
                    <a:lnTo>
                      <a:pt x="170" y="18"/>
                    </a:lnTo>
                    <a:lnTo>
                      <a:pt x="165" y="9"/>
                    </a:lnTo>
                    <a:lnTo>
                      <a:pt x="161" y="4"/>
                    </a:lnTo>
                    <a:lnTo>
                      <a:pt x="156" y="0"/>
                    </a:lnTo>
                    <a:lnTo>
                      <a:pt x="148" y="0"/>
                    </a:lnTo>
                    <a:lnTo>
                      <a:pt x="139" y="0"/>
                    </a:lnTo>
                    <a:lnTo>
                      <a:pt x="134" y="4"/>
                    </a:lnTo>
                    <a:lnTo>
                      <a:pt x="130" y="9"/>
                    </a:lnTo>
                    <a:lnTo>
                      <a:pt x="125" y="18"/>
                    </a:lnTo>
                    <a:lnTo>
                      <a:pt x="121" y="7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25" name="Freeform 45"/>
              <p:cNvSpPr>
                <a:spLocks/>
              </p:cNvSpPr>
              <p:nvPr/>
            </p:nvSpPr>
            <p:spPr bwMode="auto">
              <a:xfrm>
                <a:off x="982" y="626"/>
                <a:ext cx="393" cy="277"/>
              </a:xfrm>
              <a:custGeom>
                <a:avLst/>
                <a:gdLst>
                  <a:gd name="T0" fmla="*/ 98 w 393"/>
                  <a:gd name="T1" fmla="*/ 156 h 277"/>
                  <a:gd name="T2" fmla="*/ 9 w 393"/>
                  <a:gd name="T3" fmla="*/ 205 h 277"/>
                  <a:gd name="T4" fmla="*/ 0 w 393"/>
                  <a:gd name="T5" fmla="*/ 214 h 277"/>
                  <a:gd name="T6" fmla="*/ 0 w 393"/>
                  <a:gd name="T7" fmla="*/ 223 h 277"/>
                  <a:gd name="T8" fmla="*/ 0 w 393"/>
                  <a:gd name="T9" fmla="*/ 228 h 277"/>
                  <a:gd name="T10" fmla="*/ 0 w 393"/>
                  <a:gd name="T11" fmla="*/ 237 h 277"/>
                  <a:gd name="T12" fmla="*/ 9 w 393"/>
                  <a:gd name="T13" fmla="*/ 246 h 277"/>
                  <a:gd name="T14" fmla="*/ 14 w 393"/>
                  <a:gd name="T15" fmla="*/ 250 h 277"/>
                  <a:gd name="T16" fmla="*/ 23 w 393"/>
                  <a:gd name="T17" fmla="*/ 250 h 277"/>
                  <a:gd name="T18" fmla="*/ 36 w 393"/>
                  <a:gd name="T19" fmla="*/ 250 h 277"/>
                  <a:gd name="T20" fmla="*/ 125 w 393"/>
                  <a:gd name="T21" fmla="*/ 196 h 277"/>
                  <a:gd name="T22" fmla="*/ 125 w 393"/>
                  <a:gd name="T23" fmla="*/ 250 h 277"/>
                  <a:gd name="T24" fmla="*/ 125 w 393"/>
                  <a:gd name="T25" fmla="*/ 263 h 277"/>
                  <a:gd name="T26" fmla="*/ 130 w 393"/>
                  <a:gd name="T27" fmla="*/ 268 h 277"/>
                  <a:gd name="T28" fmla="*/ 139 w 393"/>
                  <a:gd name="T29" fmla="*/ 272 h 277"/>
                  <a:gd name="T30" fmla="*/ 143 w 393"/>
                  <a:gd name="T31" fmla="*/ 277 h 277"/>
                  <a:gd name="T32" fmla="*/ 152 w 393"/>
                  <a:gd name="T33" fmla="*/ 277 h 277"/>
                  <a:gd name="T34" fmla="*/ 161 w 393"/>
                  <a:gd name="T35" fmla="*/ 272 h 277"/>
                  <a:gd name="T36" fmla="*/ 165 w 393"/>
                  <a:gd name="T37" fmla="*/ 263 h 277"/>
                  <a:gd name="T38" fmla="*/ 165 w 393"/>
                  <a:gd name="T39" fmla="*/ 254 h 277"/>
                  <a:gd name="T40" fmla="*/ 165 w 393"/>
                  <a:gd name="T41" fmla="*/ 178 h 277"/>
                  <a:gd name="T42" fmla="*/ 223 w 393"/>
                  <a:gd name="T43" fmla="*/ 143 h 277"/>
                  <a:gd name="T44" fmla="*/ 223 w 393"/>
                  <a:gd name="T45" fmla="*/ 241 h 277"/>
                  <a:gd name="T46" fmla="*/ 223 w 393"/>
                  <a:gd name="T47" fmla="*/ 250 h 277"/>
                  <a:gd name="T48" fmla="*/ 228 w 393"/>
                  <a:gd name="T49" fmla="*/ 259 h 277"/>
                  <a:gd name="T50" fmla="*/ 237 w 393"/>
                  <a:gd name="T51" fmla="*/ 263 h 277"/>
                  <a:gd name="T52" fmla="*/ 246 w 393"/>
                  <a:gd name="T53" fmla="*/ 268 h 277"/>
                  <a:gd name="T54" fmla="*/ 255 w 393"/>
                  <a:gd name="T55" fmla="*/ 268 h 277"/>
                  <a:gd name="T56" fmla="*/ 259 w 393"/>
                  <a:gd name="T57" fmla="*/ 263 h 277"/>
                  <a:gd name="T58" fmla="*/ 264 w 393"/>
                  <a:gd name="T59" fmla="*/ 254 h 277"/>
                  <a:gd name="T60" fmla="*/ 268 w 393"/>
                  <a:gd name="T61" fmla="*/ 246 h 277"/>
                  <a:gd name="T62" fmla="*/ 268 w 393"/>
                  <a:gd name="T63" fmla="*/ 116 h 277"/>
                  <a:gd name="T64" fmla="*/ 393 w 393"/>
                  <a:gd name="T65" fmla="*/ 44 h 277"/>
                  <a:gd name="T66" fmla="*/ 366 w 393"/>
                  <a:gd name="T67" fmla="*/ 0 h 277"/>
                  <a:gd name="T68" fmla="*/ 241 w 393"/>
                  <a:gd name="T69" fmla="*/ 71 h 277"/>
                  <a:gd name="T70" fmla="*/ 125 w 393"/>
                  <a:gd name="T71" fmla="*/ 4 h 277"/>
                  <a:gd name="T72" fmla="*/ 121 w 393"/>
                  <a:gd name="T73" fmla="*/ 0 h 277"/>
                  <a:gd name="T74" fmla="*/ 112 w 393"/>
                  <a:gd name="T75" fmla="*/ 0 h 277"/>
                  <a:gd name="T76" fmla="*/ 103 w 393"/>
                  <a:gd name="T77" fmla="*/ 4 h 277"/>
                  <a:gd name="T78" fmla="*/ 98 w 393"/>
                  <a:gd name="T79" fmla="*/ 9 h 277"/>
                  <a:gd name="T80" fmla="*/ 94 w 393"/>
                  <a:gd name="T81" fmla="*/ 18 h 277"/>
                  <a:gd name="T82" fmla="*/ 94 w 393"/>
                  <a:gd name="T83" fmla="*/ 26 h 277"/>
                  <a:gd name="T84" fmla="*/ 98 w 393"/>
                  <a:gd name="T85" fmla="*/ 35 h 277"/>
                  <a:gd name="T86" fmla="*/ 107 w 393"/>
                  <a:gd name="T87" fmla="*/ 40 h 277"/>
                  <a:gd name="T88" fmla="*/ 197 w 393"/>
                  <a:gd name="T89" fmla="*/ 98 h 277"/>
                  <a:gd name="T90" fmla="*/ 139 w 393"/>
                  <a:gd name="T91" fmla="*/ 129 h 277"/>
                  <a:gd name="T92" fmla="*/ 72 w 393"/>
                  <a:gd name="T93" fmla="*/ 89 h 277"/>
                  <a:gd name="T94" fmla="*/ 63 w 393"/>
                  <a:gd name="T95" fmla="*/ 85 h 277"/>
                  <a:gd name="T96" fmla="*/ 58 w 393"/>
                  <a:gd name="T97" fmla="*/ 85 h 277"/>
                  <a:gd name="T98" fmla="*/ 49 w 393"/>
                  <a:gd name="T99" fmla="*/ 89 h 277"/>
                  <a:gd name="T100" fmla="*/ 45 w 393"/>
                  <a:gd name="T101" fmla="*/ 98 h 277"/>
                  <a:gd name="T102" fmla="*/ 45 w 393"/>
                  <a:gd name="T103" fmla="*/ 102 h 277"/>
                  <a:gd name="T104" fmla="*/ 45 w 393"/>
                  <a:gd name="T105" fmla="*/ 111 h 277"/>
                  <a:gd name="T106" fmla="*/ 45 w 393"/>
                  <a:gd name="T107" fmla="*/ 120 h 277"/>
                  <a:gd name="T108" fmla="*/ 54 w 393"/>
                  <a:gd name="T109" fmla="*/ 125 h 277"/>
                  <a:gd name="T110" fmla="*/ 98 w 393"/>
                  <a:gd name="T111" fmla="*/ 15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7">
                    <a:moveTo>
                      <a:pt x="98" y="156"/>
                    </a:moveTo>
                    <a:lnTo>
                      <a:pt x="9" y="205"/>
                    </a:lnTo>
                    <a:lnTo>
                      <a:pt x="0" y="214"/>
                    </a:lnTo>
                    <a:lnTo>
                      <a:pt x="0" y="223"/>
                    </a:lnTo>
                    <a:lnTo>
                      <a:pt x="0" y="228"/>
                    </a:lnTo>
                    <a:lnTo>
                      <a:pt x="0" y="237"/>
                    </a:lnTo>
                    <a:lnTo>
                      <a:pt x="9" y="246"/>
                    </a:lnTo>
                    <a:lnTo>
                      <a:pt x="14" y="250"/>
                    </a:lnTo>
                    <a:lnTo>
                      <a:pt x="23" y="250"/>
                    </a:lnTo>
                    <a:lnTo>
                      <a:pt x="36" y="250"/>
                    </a:lnTo>
                    <a:lnTo>
                      <a:pt x="125" y="196"/>
                    </a:lnTo>
                    <a:lnTo>
                      <a:pt x="125" y="250"/>
                    </a:lnTo>
                    <a:lnTo>
                      <a:pt x="125" y="263"/>
                    </a:lnTo>
                    <a:lnTo>
                      <a:pt x="130" y="268"/>
                    </a:lnTo>
                    <a:lnTo>
                      <a:pt x="139" y="272"/>
                    </a:lnTo>
                    <a:lnTo>
                      <a:pt x="143" y="277"/>
                    </a:lnTo>
                    <a:lnTo>
                      <a:pt x="152" y="277"/>
                    </a:lnTo>
                    <a:lnTo>
                      <a:pt x="161" y="272"/>
                    </a:lnTo>
                    <a:lnTo>
                      <a:pt x="165" y="263"/>
                    </a:lnTo>
                    <a:lnTo>
                      <a:pt x="165" y="254"/>
                    </a:lnTo>
                    <a:lnTo>
                      <a:pt x="165" y="178"/>
                    </a:lnTo>
                    <a:lnTo>
                      <a:pt x="223" y="143"/>
                    </a:lnTo>
                    <a:lnTo>
                      <a:pt x="223" y="241"/>
                    </a:lnTo>
                    <a:lnTo>
                      <a:pt x="223" y="250"/>
                    </a:lnTo>
                    <a:lnTo>
                      <a:pt x="228" y="259"/>
                    </a:lnTo>
                    <a:lnTo>
                      <a:pt x="237" y="263"/>
                    </a:lnTo>
                    <a:lnTo>
                      <a:pt x="246" y="268"/>
                    </a:lnTo>
                    <a:lnTo>
                      <a:pt x="255" y="268"/>
                    </a:lnTo>
                    <a:lnTo>
                      <a:pt x="259" y="263"/>
                    </a:lnTo>
                    <a:lnTo>
                      <a:pt x="264" y="254"/>
                    </a:lnTo>
                    <a:lnTo>
                      <a:pt x="268" y="246"/>
                    </a:lnTo>
                    <a:lnTo>
                      <a:pt x="268" y="116"/>
                    </a:lnTo>
                    <a:lnTo>
                      <a:pt x="393" y="44"/>
                    </a:lnTo>
                    <a:lnTo>
                      <a:pt x="366" y="0"/>
                    </a:lnTo>
                    <a:lnTo>
                      <a:pt x="241" y="71"/>
                    </a:lnTo>
                    <a:lnTo>
                      <a:pt x="125" y="4"/>
                    </a:lnTo>
                    <a:lnTo>
                      <a:pt x="121" y="0"/>
                    </a:lnTo>
                    <a:lnTo>
                      <a:pt x="112" y="0"/>
                    </a:lnTo>
                    <a:lnTo>
                      <a:pt x="103" y="4"/>
                    </a:lnTo>
                    <a:lnTo>
                      <a:pt x="98" y="9"/>
                    </a:lnTo>
                    <a:lnTo>
                      <a:pt x="94" y="18"/>
                    </a:lnTo>
                    <a:lnTo>
                      <a:pt x="94" y="26"/>
                    </a:lnTo>
                    <a:lnTo>
                      <a:pt x="98" y="35"/>
                    </a:lnTo>
                    <a:lnTo>
                      <a:pt x="107" y="40"/>
                    </a:lnTo>
                    <a:lnTo>
                      <a:pt x="197" y="98"/>
                    </a:lnTo>
                    <a:lnTo>
                      <a:pt x="139" y="129"/>
                    </a:lnTo>
                    <a:lnTo>
                      <a:pt x="72" y="89"/>
                    </a:lnTo>
                    <a:lnTo>
                      <a:pt x="63" y="85"/>
                    </a:lnTo>
                    <a:lnTo>
                      <a:pt x="58" y="85"/>
                    </a:lnTo>
                    <a:lnTo>
                      <a:pt x="49" y="89"/>
                    </a:lnTo>
                    <a:lnTo>
                      <a:pt x="45" y="98"/>
                    </a:lnTo>
                    <a:lnTo>
                      <a:pt x="45" y="102"/>
                    </a:lnTo>
                    <a:lnTo>
                      <a:pt x="45" y="111"/>
                    </a:lnTo>
                    <a:lnTo>
                      <a:pt x="45" y="120"/>
                    </a:lnTo>
                    <a:lnTo>
                      <a:pt x="54" y="125"/>
                    </a:lnTo>
                    <a:lnTo>
                      <a:pt x="98" y="156"/>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26" name="Freeform 46"/>
              <p:cNvSpPr>
                <a:spLocks/>
              </p:cNvSpPr>
              <p:nvPr/>
            </p:nvSpPr>
            <p:spPr bwMode="auto">
              <a:xfrm>
                <a:off x="1210" y="648"/>
                <a:ext cx="299" cy="438"/>
              </a:xfrm>
              <a:custGeom>
                <a:avLst/>
                <a:gdLst>
                  <a:gd name="T0" fmla="*/ 125 w 299"/>
                  <a:gd name="T1" fmla="*/ 313 h 438"/>
                  <a:gd name="T2" fmla="*/ 125 w 299"/>
                  <a:gd name="T3" fmla="*/ 411 h 438"/>
                  <a:gd name="T4" fmla="*/ 129 w 299"/>
                  <a:gd name="T5" fmla="*/ 425 h 438"/>
                  <a:gd name="T6" fmla="*/ 134 w 299"/>
                  <a:gd name="T7" fmla="*/ 429 h 438"/>
                  <a:gd name="T8" fmla="*/ 143 w 299"/>
                  <a:gd name="T9" fmla="*/ 434 h 438"/>
                  <a:gd name="T10" fmla="*/ 147 w 299"/>
                  <a:gd name="T11" fmla="*/ 438 h 438"/>
                  <a:gd name="T12" fmla="*/ 156 w 299"/>
                  <a:gd name="T13" fmla="*/ 434 h 438"/>
                  <a:gd name="T14" fmla="*/ 165 w 299"/>
                  <a:gd name="T15" fmla="*/ 429 h 438"/>
                  <a:gd name="T16" fmla="*/ 174 w 299"/>
                  <a:gd name="T17" fmla="*/ 425 h 438"/>
                  <a:gd name="T18" fmla="*/ 174 w 299"/>
                  <a:gd name="T19" fmla="*/ 411 h 438"/>
                  <a:gd name="T20" fmla="*/ 174 w 299"/>
                  <a:gd name="T21" fmla="*/ 308 h 438"/>
                  <a:gd name="T22" fmla="*/ 223 w 299"/>
                  <a:gd name="T23" fmla="*/ 335 h 438"/>
                  <a:gd name="T24" fmla="*/ 232 w 299"/>
                  <a:gd name="T25" fmla="*/ 340 h 438"/>
                  <a:gd name="T26" fmla="*/ 241 w 299"/>
                  <a:gd name="T27" fmla="*/ 340 h 438"/>
                  <a:gd name="T28" fmla="*/ 250 w 299"/>
                  <a:gd name="T29" fmla="*/ 335 h 438"/>
                  <a:gd name="T30" fmla="*/ 254 w 299"/>
                  <a:gd name="T31" fmla="*/ 331 h 438"/>
                  <a:gd name="T32" fmla="*/ 254 w 299"/>
                  <a:gd name="T33" fmla="*/ 322 h 438"/>
                  <a:gd name="T34" fmla="*/ 254 w 299"/>
                  <a:gd name="T35" fmla="*/ 317 h 438"/>
                  <a:gd name="T36" fmla="*/ 254 w 299"/>
                  <a:gd name="T37" fmla="*/ 308 h 438"/>
                  <a:gd name="T38" fmla="*/ 245 w 299"/>
                  <a:gd name="T39" fmla="*/ 300 h 438"/>
                  <a:gd name="T40" fmla="*/ 178 w 299"/>
                  <a:gd name="T41" fmla="*/ 264 h 438"/>
                  <a:gd name="T42" fmla="*/ 178 w 299"/>
                  <a:gd name="T43" fmla="*/ 192 h 438"/>
                  <a:gd name="T44" fmla="*/ 263 w 299"/>
                  <a:gd name="T45" fmla="*/ 246 h 438"/>
                  <a:gd name="T46" fmla="*/ 272 w 299"/>
                  <a:gd name="T47" fmla="*/ 250 h 438"/>
                  <a:gd name="T48" fmla="*/ 281 w 299"/>
                  <a:gd name="T49" fmla="*/ 250 h 438"/>
                  <a:gd name="T50" fmla="*/ 290 w 299"/>
                  <a:gd name="T51" fmla="*/ 246 h 438"/>
                  <a:gd name="T52" fmla="*/ 294 w 299"/>
                  <a:gd name="T53" fmla="*/ 241 h 438"/>
                  <a:gd name="T54" fmla="*/ 299 w 299"/>
                  <a:gd name="T55" fmla="*/ 232 h 438"/>
                  <a:gd name="T56" fmla="*/ 299 w 299"/>
                  <a:gd name="T57" fmla="*/ 224 h 438"/>
                  <a:gd name="T58" fmla="*/ 294 w 299"/>
                  <a:gd name="T59" fmla="*/ 215 h 438"/>
                  <a:gd name="T60" fmla="*/ 285 w 299"/>
                  <a:gd name="T61" fmla="*/ 210 h 438"/>
                  <a:gd name="T62" fmla="*/ 178 w 299"/>
                  <a:gd name="T63" fmla="*/ 143 h 438"/>
                  <a:gd name="T64" fmla="*/ 178 w 299"/>
                  <a:gd name="T65" fmla="*/ 0 h 438"/>
                  <a:gd name="T66" fmla="*/ 125 w 299"/>
                  <a:gd name="T67" fmla="*/ 0 h 438"/>
                  <a:gd name="T68" fmla="*/ 125 w 299"/>
                  <a:gd name="T69" fmla="*/ 143 h 438"/>
                  <a:gd name="T70" fmla="*/ 9 w 299"/>
                  <a:gd name="T71" fmla="*/ 210 h 438"/>
                  <a:gd name="T72" fmla="*/ 4 w 299"/>
                  <a:gd name="T73" fmla="*/ 215 h 438"/>
                  <a:gd name="T74" fmla="*/ 0 w 299"/>
                  <a:gd name="T75" fmla="*/ 224 h 438"/>
                  <a:gd name="T76" fmla="*/ 0 w 299"/>
                  <a:gd name="T77" fmla="*/ 232 h 438"/>
                  <a:gd name="T78" fmla="*/ 0 w 299"/>
                  <a:gd name="T79" fmla="*/ 237 h 438"/>
                  <a:gd name="T80" fmla="*/ 4 w 299"/>
                  <a:gd name="T81" fmla="*/ 246 h 438"/>
                  <a:gd name="T82" fmla="*/ 13 w 299"/>
                  <a:gd name="T83" fmla="*/ 250 h 438"/>
                  <a:gd name="T84" fmla="*/ 22 w 299"/>
                  <a:gd name="T85" fmla="*/ 250 h 438"/>
                  <a:gd name="T86" fmla="*/ 31 w 299"/>
                  <a:gd name="T87" fmla="*/ 246 h 438"/>
                  <a:gd name="T88" fmla="*/ 125 w 299"/>
                  <a:gd name="T89" fmla="*/ 197 h 438"/>
                  <a:gd name="T90" fmla="*/ 125 w 299"/>
                  <a:gd name="T91" fmla="*/ 264 h 438"/>
                  <a:gd name="T92" fmla="*/ 53 w 299"/>
                  <a:gd name="T93" fmla="*/ 300 h 438"/>
                  <a:gd name="T94" fmla="*/ 49 w 299"/>
                  <a:gd name="T95" fmla="*/ 304 h 438"/>
                  <a:gd name="T96" fmla="*/ 44 w 299"/>
                  <a:gd name="T97" fmla="*/ 313 h 438"/>
                  <a:gd name="T98" fmla="*/ 44 w 299"/>
                  <a:gd name="T99" fmla="*/ 322 h 438"/>
                  <a:gd name="T100" fmla="*/ 49 w 299"/>
                  <a:gd name="T101" fmla="*/ 326 h 438"/>
                  <a:gd name="T102" fmla="*/ 53 w 299"/>
                  <a:gd name="T103" fmla="*/ 331 h 438"/>
                  <a:gd name="T104" fmla="*/ 62 w 299"/>
                  <a:gd name="T105" fmla="*/ 335 h 438"/>
                  <a:gd name="T106" fmla="*/ 67 w 299"/>
                  <a:gd name="T107" fmla="*/ 335 h 438"/>
                  <a:gd name="T108" fmla="*/ 76 w 299"/>
                  <a:gd name="T109" fmla="*/ 335 h 438"/>
                  <a:gd name="T110" fmla="*/ 125 w 299"/>
                  <a:gd name="T111" fmla="*/ 313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99" h="438">
                    <a:moveTo>
                      <a:pt x="125" y="313"/>
                    </a:moveTo>
                    <a:lnTo>
                      <a:pt x="125" y="411"/>
                    </a:lnTo>
                    <a:lnTo>
                      <a:pt x="129" y="425"/>
                    </a:lnTo>
                    <a:lnTo>
                      <a:pt x="134" y="429"/>
                    </a:lnTo>
                    <a:lnTo>
                      <a:pt x="143" y="434"/>
                    </a:lnTo>
                    <a:lnTo>
                      <a:pt x="147" y="438"/>
                    </a:lnTo>
                    <a:lnTo>
                      <a:pt x="156" y="434"/>
                    </a:lnTo>
                    <a:lnTo>
                      <a:pt x="165" y="429"/>
                    </a:lnTo>
                    <a:lnTo>
                      <a:pt x="174" y="425"/>
                    </a:lnTo>
                    <a:lnTo>
                      <a:pt x="174" y="411"/>
                    </a:lnTo>
                    <a:lnTo>
                      <a:pt x="174" y="308"/>
                    </a:lnTo>
                    <a:lnTo>
                      <a:pt x="223" y="335"/>
                    </a:lnTo>
                    <a:lnTo>
                      <a:pt x="232" y="340"/>
                    </a:lnTo>
                    <a:lnTo>
                      <a:pt x="241" y="340"/>
                    </a:lnTo>
                    <a:lnTo>
                      <a:pt x="250" y="335"/>
                    </a:lnTo>
                    <a:lnTo>
                      <a:pt x="254" y="331"/>
                    </a:lnTo>
                    <a:lnTo>
                      <a:pt x="254" y="322"/>
                    </a:lnTo>
                    <a:lnTo>
                      <a:pt x="254" y="317"/>
                    </a:lnTo>
                    <a:lnTo>
                      <a:pt x="254" y="308"/>
                    </a:lnTo>
                    <a:lnTo>
                      <a:pt x="245" y="300"/>
                    </a:lnTo>
                    <a:lnTo>
                      <a:pt x="178" y="264"/>
                    </a:lnTo>
                    <a:lnTo>
                      <a:pt x="178" y="192"/>
                    </a:lnTo>
                    <a:lnTo>
                      <a:pt x="263" y="246"/>
                    </a:lnTo>
                    <a:lnTo>
                      <a:pt x="272" y="250"/>
                    </a:lnTo>
                    <a:lnTo>
                      <a:pt x="281" y="250"/>
                    </a:lnTo>
                    <a:lnTo>
                      <a:pt x="290" y="246"/>
                    </a:lnTo>
                    <a:lnTo>
                      <a:pt x="294" y="241"/>
                    </a:lnTo>
                    <a:lnTo>
                      <a:pt x="299" y="232"/>
                    </a:lnTo>
                    <a:lnTo>
                      <a:pt x="299" y="224"/>
                    </a:lnTo>
                    <a:lnTo>
                      <a:pt x="294" y="215"/>
                    </a:lnTo>
                    <a:lnTo>
                      <a:pt x="285" y="210"/>
                    </a:lnTo>
                    <a:lnTo>
                      <a:pt x="178" y="143"/>
                    </a:lnTo>
                    <a:lnTo>
                      <a:pt x="178" y="0"/>
                    </a:lnTo>
                    <a:lnTo>
                      <a:pt x="125" y="0"/>
                    </a:lnTo>
                    <a:lnTo>
                      <a:pt x="125" y="143"/>
                    </a:lnTo>
                    <a:lnTo>
                      <a:pt x="9" y="210"/>
                    </a:lnTo>
                    <a:lnTo>
                      <a:pt x="4" y="215"/>
                    </a:lnTo>
                    <a:lnTo>
                      <a:pt x="0" y="224"/>
                    </a:lnTo>
                    <a:lnTo>
                      <a:pt x="0" y="232"/>
                    </a:lnTo>
                    <a:lnTo>
                      <a:pt x="0" y="237"/>
                    </a:lnTo>
                    <a:lnTo>
                      <a:pt x="4" y="246"/>
                    </a:lnTo>
                    <a:lnTo>
                      <a:pt x="13" y="250"/>
                    </a:lnTo>
                    <a:lnTo>
                      <a:pt x="22" y="250"/>
                    </a:lnTo>
                    <a:lnTo>
                      <a:pt x="31" y="246"/>
                    </a:lnTo>
                    <a:lnTo>
                      <a:pt x="125" y="197"/>
                    </a:lnTo>
                    <a:lnTo>
                      <a:pt x="125" y="264"/>
                    </a:lnTo>
                    <a:lnTo>
                      <a:pt x="53" y="300"/>
                    </a:lnTo>
                    <a:lnTo>
                      <a:pt x="49" y="304"/>
                    </a:lnTo>
                    <a:lnTo>
                      <a:pt x="44" y="313"/>
                    </a:lnTo>
                    <a:lnTo>
                      <a:pt x="44" y="322"/>
                    </a:lnTo>
                    <a:lnTo>
                      <a:pt x="49" y="326"/>
                    </a:lnTo>
                    <a:lnTo>
                      <a:pt x="53" y="331"/>
                    </a:lnTo>
                    <a:lnTo>
                      <a:pt x="62" y="335"/>
                    </a:lnTo>
                    <a:lnTo>
                      <a:pt x="67" y="335"/>
                    </a:lnTo>
                    <a:lnTo>
                      <a:pt x="76" y="335"/>
                    </a:lnTo>
                    <a:lnTo>
                      <a:pt x="125" y="313"/>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27" name="Freeform 47"/>
              <p:cNvSpPr>
                <a:spLocks/>
              </p:cNvSpPr>
              <p:nvPr/>
            </p:nvSpPr>
            <p:spPr bwMode="auto">
              <a:xfrm>
                <a:off x="1348" y="626"/>
                <a:ext cx="393" cy="272"/>
              </a:xfrm>
              <a:custGeom>
                <a:avLst/>
                <a:gdLst>
                  <a:gd name="T0" fmla="*/ 272 w 393"/>
                  <a:gd name="T1" fmla="*/ 201 h 272"/>
                  <a:gd name="T2" fmla="*/ 357 w 393"/>
                  <a:gd name="T3" fmla="*/ 250 h 272"/>
                  <a:gd name="T4" fmla="*/ 366 w 393"/>
                  <a:gd name="T5" fmla="*/ 254 h 272"/>
                  <a:gd name="T6" fmla="*/ 375 w 393"/>
                  <a:gd name="T7" fmla="*/ 254 h 272"/>
                  <a:gd name="T8" fmla="*/ 384 w 393"/>
                  <a:gd name="T9" fmla="*/ 250 h 272"/>
                  <a:gd name="T10" fmla="*/ 388 w 393"/>
                  <a:gd name="T11" fmla="*/ 241 h 272"/>
                  <a:gd name="T12" fmla="*/ 393 w 393"/>
                  <a:gd name="T13" fmla="*/ 232 h 272"/>
                  <a:gd name="T14" fmla="*/ 393 w 393"/>
                  <a:gd name="T15" fmla="*/ 223 h 272"/>
                  <a:gd name="T16" fmla="*/ 388 w 393"/>
                  <a:gd name="T17" fmla="*/ 214 h 272"/>
                  <a:gd name="T18" fmla="*/ 384 w 393"/>
                  <a:gd name="T19" fmla="*/ 210 h 272"/>
                  <a:gd name="T20" fmla="*/ 295 w 393"/>
                  <a:gd name="T21" fmla="*/ 156 h 272"/>
                  <a:gd name="T22" fmla="*/ 339 w 393"/>
                  <a:gd name="T23" fmla="*/ 129 h 272"/>
                  <a:gd name="T24" fmla="*/ 348 w 393"/>
                  <a:gd name="T25" fmla="*/ 125 h 272"/>
                  <a:gd name="T26" fmla="*/ 353 w 393"/>
                  <a:gd name="T27" fmla="*/ 116 h 272"/>
                  <a:gd name="T28" fmla="*/ 353 w 393"/>
                  <a:gd name="T29" fmla="*/ 107 h 272"/>
                  <a:gd name="T30" fmla="*/ 353 w 393"/>
                  <a:gd name="T31" fmla="*/ 98 h 272"/>
                  <a:gd name="T32" fmla="*/ 344 w 393"/>
                  <a:gd name="T33" fmla="*/ 94 h 272"/>
                  <a:gd name="T34" fmla="*/ 339 w 393"/>
                  <a:gd name="T35" fmla="*/ 89 h 272"/>
                  <a:gd name="T36" fmla="*/ 330 w 393"/>
                  <a:gd name="T37" fmla="*/ 89 h 272"/>
                  <a:gd name="T38" fmla="*/ 321 w 393"/>
                  <a:gd name="T39" fmla="*/ 89 h 272"/>
                  <a:gd name="T40" fmla="*/ 254 w 393"/>
                  <a:gd name="T41" fmla="*/ 129 h 272"/>
                  <a:gd name="T42" fmla="*/ 196 w 393"/>
                  <a:gd name="T43" fmla="*/ 94 h 272"/>
                  <a:gd name="T44" fmla="*/ 281 w 393"/>
                  <a:gd name="T45" fmla="*/ 49 h 272"/>
                  <a:gd name="T46" fmla="*/ 290 w 393"/>
                  <a:gd name="T47" fmla="*/ 40 h 272"/>
                  <a:gd name="T48" fmla="*/ 295 w 393"/>
                  <a:gd name="T49" fmla="*/ 31 h 272"/>
                  <a:gd name="T50" fmla="*/ 295 w 393"/>
                  <a:gd name="T51" fmla="*/ 26 h 272"/>
                  <a:gd name="T52" fmla="*/ 295 w 393"/>
                  <a:gd name="T53" fmla="*/ 18 h 272"/>
                  <a:gd name="T54" fmla="*/ 290 w 393"/>
                  <a:gd name="T55" fmla="*/ 9 h 272"/>
                  <a:gd name="T56" fmla="*/ 281 w 393"/>
                  <a:gd name="T57" fmla="*/ 4 h 272"/>
                  <a:gd name="T58" fmla="*/ 272 w 393"/>
                  <a:gd name="T59" fmla="*/ 4 h 272"/>
                  <a:gd name="T60" fmla="*/ 263 w 393"/>
                  <a:gd name="T61" fmla="*/ 9 h 272"/>
                  <a:gd name="T62" fmla="*/ 152 w 393"/>
                  <a:gd name="T63" fmla="*/ 71 h 272"/>
                  <a:gd name="T64" fmla="*/ 27 w 393"/>
                  <a:gd name="T65" fmla="*/ 0 h 272"/>
                  <a:gd name="T66" fmla="*/ 0 w 393"/>
                  <a:gd name="T67" fmla="*/ 44 h 272"/>
                  <a:gd name="T68" fmla="*/ 125 w 393"/>
                  <a:gd name="T69" fmla="*/ 116 h 272"/>
                  <a:gd name="T70" fmla="*/ 125 w 393"/>
                  <a:gd name="T71" fmla="*/ 250 h 272"/>
                  <a:gd name="T72" fmla="*/ 125 w 393"/>
                  <a:gd name="T73" fmla="*/ 259 h 272"/>
                  <a:gd name="T74" fmla="*/ 129 w 393"/>
                  <a:gd name="T75" fmla="*/ 263 h 272"/>
                  <a:gd name="T76" fmla="*/ 138 w 393"/>
                  <a:gd name="T77" fmla="*/ 268 h 272"/>
                  <a:gd name="T78" fmla="*/ 143 w 393"/>
                  <a:gd name="T79" fmla="*/ 272 h 272"/>
                  <a:gd name="T80" fmla="*/ 152 w 393"/>
                  <a:gd name="T81" fmla="*/ 272 h 272"/>
                  <a:gd name="T82" fmla="*/ 161 w 393"/>
                  <a:gd name="T83" fmla="*/ 268 h 272"/>
                  <a:gd name="T84" fmla="*/ 165 w 393"/>
                  <a:gd name="T85" fmla="*/ 259 h 272"/>
                  <a:gd name="T86" fmla="*/ 165 w 393"/>
                  <a:gd name="T87" fmla="*/ 250 h 272"/>
                  <a:gd name="T88" fmla="*/ 170 w 393"/>
                  <a:gd name="T89" fmla="*/ 143 h 272"/>
                  <a:gd name="T90" fmla="*/ 228 w 393"/>
                  <a:gd name="T91" fmla="*/ 178 h 272"/>
                  <a:gd name="T92" fmla="*/ 223 w 393"/>
                  <a:gd name="T93" fmla="*/ 254 h 272"/>
                  <a:gd name="T94" fmla="*/ 228 w 393"/>
                  <a:gd name="T95" fmla="*/ 263 h 272"/>
                  <a:gd name="T96" fmla="*/ 232 w 393"/>
                  <a:gd name="T97" fmla="*/ 268 h 272"/>
                  <a:gd name="T98" fmla="*/ 237 w 393"/>
                  <a:gd name="T99" fmla="*/ 272 h 272"/>
                  <a:gd name="T100" fmla="*/ 245 w 393"/>
                  <a:gd name="T101" fmla="*/ 272 h 272"/>
                  <a:gd name="T102" fmla="*/ 254 w 393"/>
                  <a:gd name="T103" fmla="*/ 272 h 272"/>
                  <a:gd name="T104" fmla="*/ 259 w 393"/>
                  <a:gd name="T105" fmla="*/ 268 h 272"/>
                  <a:gd name="T106" fmla="*/ 263 w 393"/>
                  <a:gd name="T107" fmla="*/ 263 h 272"/>
                  <a:gd name="T108" fmla="*/ 268 w 393"/>
                  <a:gd name="T109" fmla="*/ 254 h 272"/>
                  <a:gd name="T110" fmla="*/ 272 w 393"/>
                  <a:gd name="T111" fmla="*/ 201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2">
                    <a:moveTo>
                      <a:pt x="272" y="201"/>
                    </a:moveTo>
                    <a:lnTo>
                      <a:pt x="357" y="250"/>
                    </a:lnTo>
                    <a:lnTo>
                      <a:pt x="366" y="254"/>
                    </a:lnTo>
                    <a:lnTo>
                      <a:pt x="375" y="254"/>
                    </a:lnTo>
                    <a:lnTo>
                      <a:pt x="384" y="250"/>
                    </a:lnTo>
                    <a:lnTo>
                      <a:pt x="388" y="241"/>
                    </a:lnTo>
                    <a:lnTo>
                      <a:pt x="393" y="232"/>
                    </a:lnTo>
                    <a:lnTo>
                      <a:pt x="393" y="223"/>
                    </a:lnTo>
                    <a:lnTo>
                      <a:pt x="388" y="214"/>
                    </a:lnTo>
                    <a:lnTo>
                      <a:pt x="384" y="210"/>
                    </a:lnTo>
                    <a:lnTo>
                      <a:pt x="295" y="156"/>
                    </a:lnTo>
                    <a:lnTo>
                      <a:pt x="339" y="129"/>
                    </a:lnTo>
                    <a:lnTo>
                      <a:pt x="348" y="125"/>
                    </a:lnTo>
                    <a:lnTo>
                      <a:pt x="353" y="116"/>
                    </a:lnTo>
                    <a:lnTo>
                      <a:pt x="353" y="107"/>
                    </a:lnTo>
                    <a:lnTo>
                      <a:pt x="353" y="98"/>
                    </a:lnTo>
                    <a:lnTo>
                      <a:pt x="344" y="94"/>
                    </a:lnTo>
                    <a:lnTo>
                      <a:pt x="339" y="89"/>
                    </a:lnTo>
                    <a:lnTo>
                      <a:pt x="330" y="89"/>
                    </a:lnTo>
                    <a:lnTo>
                      <a:pt x="321" y="89"/>
                    </a:lnTo>
                    <a:lnTo>
                      <a:pt x="254" y="129"/>
                    </a:lnTo>
                    <a:lnTo>
                      <a:pt x="196" y="94"/>
                    </a:lnTo>
                    <a:lnTo>
                      <a:pt x="281" y="49"/>
                    </a:lnTo>
                    <a:lnTo>
                      <a:pt x="290" y="40"/>
                    </a:lnTo>
                    <a:lnTo>
                      <a:pt x="295" y="31"/>
                    </a:lnTo>
                    <a:lnTo>
                      <a:pt x="295" y="26"/>
                    </a:lnTo>
                    <a:lnTo>
                      <a:pt x="295" y="18"/>
                    </a:lnTo>
                    <a:lnTo>
                      <a:pt x="290" y="9"/>
                    </a:lnTo>
                    <a:lnTo>
                      <a:pt x="281" y="4"/>
                    </a:lnTo>
                    <a:lnTo>
                      <a:pt x="272" y="4"/>
                    </a:lnTo>
                    <a:lnTo>
                      <a:pt x="263" y="9"/>
                    </a:lnTo>
                    <a:lnTo>
                      <a:pt x="152" y="71"/>
                    </a:lnTo>
                    <a:lnTo>
                      <a:pt x="27" y="0"/>
                    </a:lnTo>
                    <a:lnTo>
                      <a:pt x="0" y="44"/>
                    </a:lnTo>
                    <a:lnTo>
                      <a:pt x="125" y="116"/>
                    </a:lnTo>
                    <a:lnTo>
                      <a:pt x="125" y="250"/>
                    </a:lnTo>
                    <a:lnTo>
                      <a:pt x="125" y="259"/>
                    </a:lnTo>
                    <a:lnTo>
                      <a:pt x="129" y="263"/>
                    </a:lnTo>
                    <a:lnTo>
                      <a:pt x="138" y="268"/>
                    </a:lnTo>
                    <a:lnTo>
                      <a:pt x="143" y="272"/>
                    </a:lnTo>
                    <a:lnTo>
                      <a:pt x="152" y="272"/>
                    </a:lnTo>
                    <a:lnTo>
                      <a:pt x="161" y="268"/>
                    </a:lnTo>
                    <a:lnTo>
                      <a:pt x="165" y="259"/>
                    </a:lnTo>
                    <a:lnTo>
                      <a:pt x="165" y="250"/>
                    </a:lnTo>
                    <a:lnTo>
                      <a:pt x="170" y="143"/>
                    </a:lnTo>
                    <a:lnTo>
                      <a:pt x="228" y="178"/>
                    </a:lnTo>
                    <a:lnTo>
                      <a:pt x="223" y="254"/>
                    </a:lnTo>
                    <a:lnTo>
                      <a:pt x="228" y="263"/>
                    </a:lnTo>
                    <a:lnTo>
                      <a:pt x="232" y="268"/>
                    </a:lnTo>
                    <a:lnTo>
                      <a:pt x="237" y="272"/>
                    </a:lnTo>
                    <a:lnTo>
                      <a:pt x="245" y="272"/>
                    </a:lnTo>
                    <a:lnTo>
                      <a:pt x="254" y="272"/>
                    </a:lnTo>
                    <a:lnTo>
                      <a:pt x="259" y="268"/>
                    </a:lnTo>
                    <a:lnTo>
                      <a:pt x="263" y="263"/>
                    </a:lnTo>
                    <a:lnTo>
                      <a:pt x="268" y="254"/>
                    </a:lnTo>
                    <a:lnTo>
                      <a:pt x="272" y="20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28" name="Freeform 48"/>
              <p:cNvSpPr>
                <a:spLocks/>
              </p:cNvSpPr>
              <p:nvPr/>
            </p:nvSpPr>
            <p:spPr bwMode="auto">
              <a:xfrm>
                <a:off x="1348" y="393"/>
                <a:ext cx="393" cy="277"/>
              </a:xfrm>
              <a:custGeom>
                <a:avLst/>
                <a:gdLst>
                  <a:gd name="T0" fmla="*/ 295 w 393"/>
                  <a:gd name="T1" fmla="*/ 121 h 277"/>
                  <a:gd name="T2" fmla="*/ 384 w 393"/>
                  <a:gd name="T3" fmla="*/ 72 h 277"/>
                  <a:gd name="T4" fmla="*/ 393 w 393"/>
                  <a:gd name="T5" fmla="*/ 63 h 277"/>
                  <a:gd name="T6" fmla="*/ 393 w 393"/>
                  <a:gd name="T7" fmla="*/ 54 h 277"/>
                  <a:gd name="T8" fmla="*/ 393 w 393"/>
                  <a:gd name="T9" fmla="*/ 49 h 277"/>
                  <a:gd name="T10" fmla="*/ 393 w 393"/>
                  <a:gd name="T11" fmla="*/ 40 h 277"/>
                  <a:gd name="T12" fmla="*/ 384 w 393"/>
                  <a:gd name="T13" fmla="*/ 31 h 277"/>
                  <a:gd name="T14" fmla="*/ 379 w 393"/>
                  <a:gd name="T15" fmla="*/ 27 h 277"/>
                  <a:gd name="T16" fmla="*/ 370 w 393"/>
                  <a:gd name="T17" fmla="*/ 27 h 277"/>
                  <a:gd name="T18" fmla="*/ 357 w 393"/>
                  <a:gd name="T19" fmla="*/ 27 h 277"/>
                  <a:gd name="T20" fmla="*/ 268 w 393"/>
                  <a:gd name="T21" fmla="*/ 81 h 277"/>
                  <a:gd name="T22" fmla="*/ 268 w 393"/>
                  <a:gd name="T23" fmla="*/ 27 h 277"/>
                  <a:gd name="T24" fmla="*/ 268 w 393"/>
                  <a:gd name="T25" fmla="*/ 14 h 277"/>
                  <a:gd name="T26" fmla="*/ 263 w 393"/>
                  <a:gd name="T27" fmla="*/ 9 h 277"/>
                  <a:gd name="T28" fmla="*/ 254 w 393"/>
                  <a:gd name="T29" fmla="*/ 5 h 277"/>
                  <a:gd name="T30" fmla="*/ 250 w 393"/>
                  <a:gd name="T31" fmla="*/ 0 h 277"/>
                  <a:gd name="T32" fmla="*/ 241 w 393"/>
                  <a:gd name="T33" fmla="*/ 5 h 277"/>
                  <a:gd name="T34" fmla="*/ 232 w 393"/>
                  <a:gd name="T35" fmla="*/ 5 h 277"/>
                  <a:gd name="T36" fmla="*/ 228 w 393"/>
                  <a:gd name="T37" fmla="*/ 14 h 277"/>
                  <a:gd name="T38" fmla="*/ 228 w 393"/>
                  <a:gd name="T39" fmla="*/ 23 h 277"/>
                  <a:gd name="T40" fmla="*/ 228 w 393"/>
                  <a:gd name="T41" fmla="*/ 99 h 277"/>
                  <a:gd name="T42" fmla="*/ 170 w 393"/>
                  <a:gd name="T43" fmla="*/ 134 h 277"/>
                  <a:gd name="T44" fmla="*/ 170 w 393"/>
                  <a:gd name="T45" fmla="*/ 36 h 277"/>
                  <a:gd name="T46" fmla="*/ 170 w 393"/>
                  <a:gd name="T47" fmla="*/ 27 h 277"/>
                  <a:gd name="T48" fmla="*/ 165 w 393"/>
                  <a:gd name="T49" fmla="*/ 18 h 277"/>
                  <a:gd name="T50" fmla="*/ 156 w 393"/>
                  <a:gd name="T51" fmla="*/ 14 h 277"/>
                  <a:gd name="T52" fmla="*/ 147 w 393"/>
                  <a:gd name="T53" fmla="*/ 9 h 277"/>
                  <a:gd name="T54" fmla="*/ 138 w 393"/>
                  <a:gd name="T55" fmla="*/ 9 h 277"/>
                  <a:gd name="T56" fmla="*/ 134 w 393"/>
                  <a:gd name="T57" fmla="*/ 14 h 277"/>
                  <a:gd name="T58" fmla="*/ 129 w 393"/>
                  <a:gd name="T59" fmla="*/ 23 h 277"/>
                  <a:gd name="T60" fmla="*/ 125 w 393"/>
                  <a:gd name="T61" fmla="*/ 31 h 277"/>
                  <a:gd name="T62" fmla="*/ 125 w 393"/>
                  <a:gd name="T63" fmla="*/ 161 h 277"/>
                  <a:gd name="T64" fmla="*/ 0 w 393"/>
                  <a:gd name="T65" fmla="*/ 233 h 277"/>
                  <a:gd name="T66" fmla="*/ 27 w 393"/>
                  <a:gd name="T67" fmla="*/ 277 h 277"/>
                  <a:gd name="T68" fmla="*/ 152 w 393"/>
                  <a:gd name="T69" fmla="*/ 206 h 277"/>
                  <a:gd name="T70" fmla="*/ 268 w 393"/>
                  <a:gd name="T71" fmla="*/ 273 h 277"/>
                  <a:gd name="T72" fmla="*/ 272 w 393"/>
                  <a:gd name="T73" fmla="*/ 277 h 277"/>
                  <a:gd name="T74" fmla="*/ 281 w 393"/>
                  <a:gd name="T75" fmla="*/ 277 h 277"/>
                  <a:gd name="T76" fmla="*/ 290 w 393"/>
                  <a:gd name="T77" fmla="*/ 273 h 277"/>
                  <a:gd name="T78" fmla="*/ 295 w 393"/>
                  <a:gd name="T79" fmla="*/ 268 h 277"/>
                  <a:gd name="T80" fmla="*/ 299 w 393"/>
                  <a:gd name="T81" fmla="*/ 259 h 277"/>
                  <a:gd name="T82" fmla="*/ 299 w 393"/>
                  <a:gd name="T83" fmla="*/ 251 h 277"/>
                  <a:gd name="T84" fmla="*/ 295 w 393"/>
                  <a:gd name="T85" fmla="*/ 242 h 277"/>
                  <a:gd name="T86" fmla="*/ 286 w 393"/>
                  <a:gd name="T87" fmla="*/ 237 h 277"/>
                  <a:gd name="T88" fmla="*/ 196 w 393"/>
                  <a:gd name="T89" fmla="*/ 179 h 277"/>
                  <a:gd name="T90" fmla="*/ 254 w 393"/>
                  <a:gd name="T91" fmla="*/ 148 h 277"/>
                  <a:gd name="T92" fmla="*/ 321 w 393"/>
                  <a:gd name="T93" fmla="*/ 188 h 277"/>
                  <a:gd name="T94" fmla="*/ 330 w 393"/>
                  <a:gd name="T95" fmla="*/ 192 h 277"/>
                  <a:gd name="T96" fmla="*/ 335 w 393"/>
                  <a:gd name="T97" fmla="*/ 192 h 277"/>
                  <a:gd name="T98" fmla="*/ 344 w 393"/>
                  <a:gd name="T99" fmla="*/ 188 h 277"/>
                  <a:gd name="T100" fmla="*/ 348 w 393"/>
                  <a:gd name="T101" fmla="*/ 179 h 277"/>
                  <a:gd name="T102" fmla="*/ 348 w 393"/>
                  <a:gd name="T103" fmla="*/ 175 h 277"/>
                  <a:gd name="T104" fmla="*/ 348 w 393"/>
                  <a:gd name="T105" fmla="*/ 166 h 277"/>
                  <a:gd name="T106" fmla="*/ 348 w 393"/>
                  <a:gd name="T107" fmla="*/ 157 h 277"/>
                  <a:gd name="T108" fmla="*/ 339 w 393"/>
                  <a:gd name="T109" fmla="*/ 152 h 277"/>
                  <a:gd name="T110" fmla="*/ 295 w 393"/>
                  <a:gd name="T111" fmla="*/ 121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7">
                    <a:moveTo>
                      <a:pt x="295" y="121"/>
                    </a:moveTo>
                    <a:lnTo>
                      <a:pt x="384" y="72"/>
                    </a:lnTo>
                    <a:lnTo>
                      <a:pt x="393" y="63"/>
                    </a:lnTo>
                    <a:lnTo>
                      <a:pt x="393" y="54"/>
                    </a:lnTo>
                    <a:lnTo>
                      <a:pt x="393" y="49"/>
                    </a:lnTo>
                    <a:lnTo>
                      <a:pt x="393" y="40"/>
                    </a:lnTo>
                    <a:lnTo>
                      <a:pt x="384" y="31"/>
                    </a:lnTo>
                    <a:lnTo>
                      <a:pt x="379" y="27"/>
                    </a:lnTo>
                    <a:lnTo>
                      <a:pt x="370" y="27"/>
                    </a:lnTo>
                    <a:lnTo>
                      <a:pt x="357" y="27"/>
                    </a:lnTo>
                    <a:lnTo>
                      <a:pt x="268" y="81"/>
                    </a:lnTo>
                    <a:lnTo>
                      <a:pt x="268" y="27"/>
                    </a:lnTo>
                    <a:lnTo>
                      <a:pt x="268" y="14"/>
                    </a:lnTo>
                    <a:lnTo>
                      <a:pt x="263" y="9"/>
                    </a:lnTo>
                    <a:lnTo>
                      <a:pt x="254" y="5"/>
                    </a:lnTo>
                    <a:lnTo>
                      <a:pt x="250" y="0"/>
                    </a:lnTo>
                    <a:lnTo>
                      <a:pt x="241" y="5"/>
                    </a:lnTo>
                    <a:lnTo>
                      <a:pt x="232" y="5"/>
                    </a:lnTo>
                    <a:lnTo>
                      <a:pt x="228" y="14"/>
                    </a:lnTo>
                    <a:lnTo>
                      <a:pt x="228" y="23"/>
                    </a:lnTo>
                    <a:lnTo>
                      <a:pt x="228" y="99"/>
                    </a:lnTo>
                    <a:lnTo>
                      <a:pt x="170" y="134"/>
                    </a:lnTo>
                    <a:lnTo>
                      <a:pt x="170" y="36"/>
                    </a:lnTo>
                    <a:lnTo>
                      <a:pt x="170" y="27"/>
                    </a:lnTo>
                    <a:lnTo>
                      <a:pt x="165" y="18"/>
                    </a:lnTo>
                    <a:lnTo>
                      <a:pt x="156" y="14"/>
                    </a:lnTo>
                    <a:lnTo>
                      <a:pt x="147" y="9"/>
                    </a:lnTo>
                    <a:lnTo>
                      <a:pt x="138" y="9"/>
                    </a:lnTo>
                    <a:lnTo>
                      <a:pt x="134" y="14"/>
                    </a:lnTo>
                    <a:lnTo>
                      <a:pt x="129" y="23"/>
                    </a:lnTo>
                    <a:lnTo>
                      <a:pt x="125" y="31"/>
                    </a:lnTo>
                    <a:lnTo>
                      <a:pt x="125" y="161"/>
                    </a:lnTo>
                    <a:lnTo>
                      <a:pt x="0" y="233"/>
                    </a:lnTo>
                    <a:lnTo>
                      <a:pt x="27" y="277"/>
                    </a:lnTo>
                    <a:lnTo>
                      <a:pt x="152" y="206"/>
                    </a:lnTo>
                    <a:lnTo>
                      <a:pt x="268" y="273"/>
                    </a:lnTo>
                    <a:lnTo>
                      <a:pt x="272" y="277"/>
                    </a:lnTo>
                    <a:lnTo>
                      <a:pt x="281" y="277"/>
                    </a:lnTo>
                    <a:lnTo>
                      <a:pt x="290" y="273"/>
                    </a:lnTo>
                    <a:lnTo>
                      <a:pt x="295" y="268"/>
                    </a:lnTo>
                    <a:lnTo>
                      <a:pt x="299" y="259"/>
                    </a:lnTo>
                    <a:lnTo>
                      <a:pt x="299" y="251"/>
                    </a:lnTo>
                    <a:lnTo>
                      <a:pt x="295" y="242"/>
                    </a:lnTo>
                    <a:lnTo>
                      <a:pt x="286" y="237"/>
                    </a:lnTo>
                    <a:lnTo>
                      <a:pt x="196" y="179"/>
                    </a:lnTo>
                    <a:lnTo>
                      <a:pt x="254" y="148"/>
                    </a:lnTo>
                    <a:lnTo>
                      <a:pt x="321" y="188"/>
                    </a:lnTo>
                    <a:lnTo>
                      <a:pt x="330" y="192"/>
                    </a:lnTo>
                    <a:lnTo>
                      <a:pt x="335" y="192"/>
                    </a:lnTo>
                    <a:lnTo>
                      <a:pt x="344" y="188"/>
                    </a:lnTo>
                    <a:lnTo>
                      <a:pt x="348" y="179"/>
                    </a:lnTo>
                    <a:lnTo>
                      <a:pt x="348" y="175"/>
                    </a:lnTo>
                    <a:lnTo>
                      <a:pt x="348" y="166"/>
                    </a:lnTo>
                    <a:lnTo>
                      <a:pt x="348" y="157"/>
                    </a:lnTo>
                    <a:lnTo>
                      <a:pt x="339" y="152"/>
                    </a:lnTo>
                    <a:lnTo>
                      <a:pt x="295" y="12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29" name="Freeform 49"/>
              <p:cNvSpPr>
                <a:spLocks/>
              </p:cNvSpPr>
              <p:nvPr/>
            </p:nvSpPr>
            <p:spPr bwMode="auto">
              <a:xfrm>
                <a:off x="1232" y="536"/>
                <a:ext cx="263" cy="228"/>
              </a:xfrm>
              <a:custGeom>
                <a:avLst/>
                <a:gdLst>
                  <a:gd name="T0" fmla="*/ 0 w 263"/>
                  <a:gd name="T1" fmla="*/ 116 h 228"/>
                  <a:gd name="T2" fmla="*/ 49 w 263"/>
                  <a:gd name="T3" fmla="*/ 67 h 228"/>
                  <a:gd name="T4" fmla="*/ 67 w 263"/>
                  <a:gd name="T5" fmla="*/ 0 h 228"/>
                  <a:gd name="T6" fmla="*/ 134 w 263"/>
                  <a:gd name="T7" fmla="*/ 23 h 228"/>
                  <a:gd name="T8" fmla="*/ 201 w 263"/>
                  <a:gd name="T9" fmla="*/ 0 h 228"/>
                  <a:gd name="T10" fmla="*/ 214 w 263"/>
                  <a:gd name="T11" fmla="*/ 67 h 228"/>
                  <a:gd name="T12" fmla="*/ 263 w 263"/>
                  <a:gd name="T13" fmla="*/ 116 h 228"/>
                  <a:gd name="T14" fmla="*/ 214 w 263"/>
                  <a:gd name="T15" fmla="*/ 161 h 228"/>
                  <a:gd name="T16" fmla="*/ 201 w 263"/>
                  <a:gd name="T17" fmla="*/ 228 h 228"/>
                  <a:gd name="T18" fmla="*/ 134 w 263"/>
                  <a:gd name="T19" fmla="*/ 210 h 228"/>
                  <a:gd name="T20" fmla="*/ 67 w 263"/>
                  <a:gd name="T21" fmla="*/ 228 h 228"/>
                  <a:gd name="T22" fmla="*/ 49 w 263"/>
                  <a:gd name="T23" fmla="*/ 161 h 228"/>
                  <a:gd name="T24" fmla="*/ 0 w 263"/>
                  <a:gd name="T25" fmla="*/ 116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3" h="228">
                    <a:moveTo>
                      <a:pt x="0" y="116"/>
                    </a:moveTo>
                    <a:lnTo>
                      <a:pt x="49" y="67"/>
                    </a:lnTo>
                    <a:lnTo>
                      <a:pt x="67" y="0"/>
                    </a:lnTo>
                    <a:lnTo>
                      <a:pt x="134" y="23"/>
                    </a:lnTo>
                    <a:lnTo>
                      <a:pt x="201" y="0"/>
                    </a:lnTo>
                    <a:lnTo>
                      <a:pt x="214" y="67"/>
                    </a:lnTo>
                    <a:lnTo>
                      <a:pt x="263" y="116"/>
                    </a:lnTo>
                    <a:lnTo>
                      <a:pt x="214" y="161"/>
                    </a:lnTo>
                    <a:lnTo>
                      <a:pt x="201" y="228"/>
                    </a:lnTo>
                    <a:lnTo>
                      <a:pt x="134" y="210"/>
                    </a:lnTo>
                    <a:lnTo>
                      <a:pt x="67" y="228"/>
                    </a:lnTo>
                    <a:lnTo>
                      <a:pt x="49" y="161"/>
                    </a:lnTo>
                    <a:lnTo>
                      <a:pt x="0" y="116"/>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grpSp>
      </p:grpSp>
      <p:grpSp>
        <p:nvGrpSpPr>
          <p:cNvPr id="30" name="组合 29"/>
          <p:cNvGrpSpPr/>
          <p:nvPr/>
        </p:nvGrpSpPr>
        <p:grpSpPr>
          <a:xfrm>
            <a:off x="2813435" y="4149080"/>
            <a:ext cx="3630773" cy="609600"/>
            <a:chOff x="2814464" y="4280459"/>
            <a:chExt cx="3630773" cy="609600"/>
          </a:xfrm>
        </p:grpSpPr>
        <p:sp>
          <p:nvSpPr>
            <p:cNvPr id="31" name="TextBox 30"/>
            <p:cNvSpPr txBox="1"/>
            <p:nvPr/>
          </p:nvSpPr>
          <p:spPr>
            <a:xfrm>
              <a:off x="3389721" y="4337272"/>
              <a:ext cx="3055516" cy="523220"/>
            </a:xfrm>
            <a:prstGeom prst="rect">
              <a:avLst/>
            </a:prstGeom>
            <a:noFill/>
          </p:spPr>
          <p:txBody>
            <a:bodyPr wrap="square" rtlCol="0">
              <a:spAutoFit/>
            </a:bodyPr>
            <a:lstStyle/>
            <a:p>
              <a:r>
                <a:rPr lang="zh-CN" altLang="en-US" sz="2800" dirty="0" smtClean="0">
                  <a:latin typeface="微软雅黑" pitchFamily="34" charset="-122"/>
                  <a:ea typeface="微软雅黑" pitchFamily="34" charset="-122"/>
                </a:rPr>
                <a:t>政策货品管理规定</a:t>
              </a:r>
              <a:endParaRPr lang="zh-CN" altLang="en-US" sz="2800" dirty="0">
                <a:latin typeface="微软雅黑" pitchFamily="34" charset="-122"/>
                <a:ea typeface="微软雅黑" pitchFamily="34" charset="-122"/>
              </a:endParaRPr>
            </a:p>
          </p:txBody>
        </p:sp>
        <p:grpSp>
          <p:nvGrpSpPr>
            <p:cNvPr id="32" name="Group 42"/>
            <p:cNvGrpSpPr>
              <a:grpSpLocks/>
            </p:cNvGrpSpPr>
            <p:nvPr/>
          </p:nvGrpSpPr>
          <p:grpSpPr bwMode="auto">
            <a:xfrm>
              <a:off x="2814464" y="4280459"/>
              <a:ext cx="533400" cy="609600"/>
              <a:chOff x="982" y="214"/>
              <a:chExt cx="759" cy="872"/>
            </a:xfrm>
          </p:grpSpPr>
          <p:sp>
            <p:nvSpPr>
              <p:cNvPr id="33" name="Freeform 43"/>
              <p:cNvSpPr>
                <a:spLocks/>
              </p:cNvSpPr>
              <p:nvPr/>
            </p:nvSpPr>
            <p:spPr bwMode="auto">
              <a:xfrm>
                <a:off x="1214" y="214"/>
                <a:ext cx="299" cy="434"/>
              </a:xfrm>
              <a:custGeom>
                <a:avLst/>
                <a:gdLst>
                  <a:gd name="T0" fmla="*/ 174 w 299"/>
                  <a:gd name="T1" fmla="*/ 121 h 434"/>
                  <a:gd name="T2" fmla="*/ 174 w 299"/>
                  <a:gd name="T3" fmla="*/ 23 h 434"/>
                  <a:gd name="T4" fmla="*/ 170 w 299"/>
                  <a:gd name="T5" fmla="*/ 9 h 434"/>
                  <a:gd name="T6" fmla="*/ 165 w 299"/>
                  <a:gd name="T7" fmla="*/ 5 h 434"/>
                  <a:gd name="T8" fmla="*/ 156 w 299"/>
                  <a:gd name="T9" fmla="*/ 0 h 434"/>
                  <a:gd name="T10" fmla="*/ 152 w 299"/>
                  <a:gd name="T11" fmla="*/ 0 h 434"/>
                  <a:gd name="T12" fmla="*/ 143 w 299"/>
                  <a:gd name="T13" fmla="*/ 0 h 434"/>
                  <a:gd name="T14" fmla="*/ 134 w 299"/>
                  <a:gd name="T15" fmla="*/ 5 h 434"/>
                  <a:gd name="T16" fmla="*/ 125 w 299"/>
                  <a:gd name="T17" fmla="*/ 9 h 434"/>
                  <a:gd name="T18" fmla="*/ 125 w 299"/>
                  <a:gd name="T19" fmla="*/ 23 h 434"/>
                  <a:gd name="T20" fmla="*/ 125 w 299"/>
                  <a:gd name="T21" fmla="*/ 126 h 434"/>
                  <a:gd name="T22" fmla="*/ 76 w 299"/>
                  <a:gd name="T23" fmla="*/ 99 h 434"/>
                  <a:gd name="T24" fmla="*/ 67 w 299"/>
                  <a:gd name="T25" fmla="*/ 94 h 434"/>
                  <a:gd name="T26" fmla="*/ 58 w 299"/>
                  <a:gd name="T27" fmla="*/ 94 h 434"/>
                  <a:gd name="T28" fmla="*/ 49 w 299"/>
                  <a:gd name="T29" fmla="*/ 99 h 434"/>
                  <a:gd name="T30" fmla="*/ 45 w 299"/>
                  <a:gd name="T31" fmla="*/ 103 h 434"/>
                  <a:gd name="T32" fmla="*/ 40 w 299"/>
                  <a:gd name="T33" fmla="*/ 112 h 434"/>
                  <a:gd name="T34" fmla="*/ 45 w 299"/>
                  <a:gd name="T35" fmla="*/ 117 h 434"/>
                  <a:gd name="T36" fmla="*/ 45 w 299"/>
                  <a:gd name="T37" fmla="*/ 126 h 434"/>
                  <a:gd name="T38" fmla="*/ 54 w 299"/>
                  <a:gd name="T39" fmla="*/ 134 h 434"/>
                  <a:gd name="T40" fmla="*/ 121 w 299"/>
                  <a:gd name="T41" fmla="*/ 170 h 434"/>
                  <a:gd name="T42" fmla="*/ 121 w 299"/>
                  <a:gd name="T43" fmla="*/ 242 h 434"/>
                  <a:gd name="T44" fmla="*/ 36 w 299"/>
                  <a:gd name="T45" fmla="*/ 188 h 434"/>
                  <a:gd name="T46" fmla="*/ 27 w 299"/>
                  <a:gd name="T47" fmla="*/ 184 h 434"/>
                  <a:gd name="T48" fmla="*/ 18 w 299"/>
                  <a:gd name="T49" fmla="*/ 184 h 434"/>
                  <a:gd name="T50" fmla="*/ 9 w 299"/>
                  <a:gd name="T51" fmla="*/ 188 h 434"/>
                  <a:gd name="T52" fmla="*/ 5 w 299"/>
                  <a:gd name="T53" fmla="*/ 193 h 434"/>
                  <a:gd name="T54" fmla="*/ 0 w 299"/>
                  <a:gd name="T55" fmla="*/ 202 h 434"/>
                  <a:gd name="T56" fmla="*/ 0 w 299"/>
                  <a:gd name="T57" fmla="*/ 210 h 434"/>
                  <a:gd name="T58" fmla="*/ 5 w 299"/>
                  <a:gd name="T59" fmla="*/ 219 h 434"/>
                  <a:gd name="T60" fmla="*/ 14 w 299"/>
                  <a:gd name="T61" fmla="*/ 224 h 434"/>
                  <a:gd name="T62" fmla="*/ 121 w 299"/>
                  <a:gd name="T63" fmla="*/ 291 h 434"/>
                  <a:gd name="T64" fmla="*/ 121 w 299"/>
                  <a:gd name="T65" fmla="*/ 434 h 434"/>
                  <a:gd name="T66" fmla="*/ 174 w 299"/>
                  <a:gd name="T67" fmla="*/ 434 h 434"/>
                  <a:gd name="T68" fmla="*/ 174 w 299"/>
                  <a:gd name="T69" fmla="*/ 291 h 434"/>
                  <a:gd name="T70" fmla="*/ 290 w 299"/>
                  <a:gd name="T71" fmla="*/ 224 h 434"/>
                  <a:gd name="T72" fmla="*/ 295 w 299"/>
                  <a:gd name="T73" fmla="*/ 219 h 434"/>
                  <a:gd name="T74" fmla="*/ 299 w 299"/>
                  <a:gd name="T75" fmla="*/ 210 h 434"/>
                  <a:gd name="T76" fmla="*/ 299 w 299"/>
                  <a:gd name="T77" fmla="*/ 202 h 434"/>
                  <a:gd name="T78" fmla="*/ 299 w 299"/>
                  <a:gd name="T79" fmla="*/ 197 h 434"/>
                  <a:gd name="T80" fmla="*/ 295 w 299"/>
                  <a:gd name="T81" fmla="*/ 188 h 434"/>
                  <a:gd name="T82" fmla="*/ 286 w 299"/>
                  <a:gd name="T83" fmla="*/ 184 h 434"/>
                  <a:gd name="T84" fmla="*/ 277 w 299"/>
                  <a:gd name="T85" fmla="*/ 184 h 434"/>
                  <a:gd name="T86" fmla="*/ 268 w 299"/>
                  <a:gd name="T87" fmla="*/ 188 h 434"/>
                  <a:gd name="T88" fmla="*/ 174 w 299"/>
                  <a:gd name="T89" fmla="*/ 237 h 434"/>
                  <a:gd name="T90" fmla="*/ 174 w 299"/>
                  <a:gd name="T91" fmla="*/ 170 h 434"/>
                  <a:gd name="T92" fmla="*/ 246 w 299"/>
                  <a:gd name="T93" fmla="*/ 134 h 434"/>
                  <a:gd name="T94" fmla="*/ 250 w 299"/>
                  <a:gd name="T95" fmla="*/ 130 h 434"/>
                  <a:gd name="T96" fmla="*/ 255 w 299"/>
                  <a:gd name="T97" fmla="*/ 121 h 434"/>
                  <a:gd name="T98" fmla="*/ 255 w 299"/>
                  <a:gd name="T99" fmla="*/ 112 h 434"/>
                  <a:gd name="T100" fmla="*/ 250 w 299"/>
                  <a:gd name="T101" fmla="*/ 108 h 434"/>
                  <a:gd name="T102" fmla="*/ 246 w 299"/>
                  <a:gd name="T103" fmla="*/ 103 h 434"/>
                  <a:gd name="T104" fmla="*/ 237 w 299"/>
                  <a:gd name="T105" fmla="*/ 99 h 434"/>
                  <a:gd name="T106" fmla="*/ 232 w 299"/>
                  <a:gd name="T107" fmla="*/ 99 h 434"/>
                  <a:gd name="T108" fmla="*/ 223 w 299"/>
                  <a:gd name="T109" fmla="*/ 99 h 434"/>
                  <a:gd name="T110" fmla="*/ 174 w 299"/>
                  <a:gd name="T111" fmla="*/ 121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99" h="434">
                    <a:moveTo>
                      <a:pt x="174" y="121"/>
                    </a:moveTo>
                    <a:lnTo>
                      <a:pt x="174" y="23"/>
                    </a:lnTo>
                    <a:lnTo>
                      <a:pt x="170" y="9"/>
                    </a:lnTo>
                    <a:lnTo>
                      <a:pt x="165" y="5"/>
                    </a:lnTo>
                    <a:lnTo>
                      <a:pt x="156" y="0"/>
                    </a:lnTo>
                    <a:lnTo>
                      <a:pt x="152" y="0"/>
                    </a:lnTo>
                    <a:lnTo>
                      <a:pt x="143" y="0"/>
                    </a:lnTo>
                    <a:lnTo>
                      <a:pt x="134" y="5"/>
                    </a:lnTo>
                    <a:lnTo>
                      <a:pt x="125" y="9"/>
                    </a:lnTo>
                    <a:lnTo>
                      <a:pt x="125" y="23"/>
                    </a:lnTo>
                    <a:lnTo>
                      <a:pt x="125" y="126"/>
                    </a:lnTo>
                    <a:lnTo>
                      <a:pt x="76" y="99"/>
                    </a:lnTo>
                    <a:lnTo>
                      <a:pt x="67" y="94"/>
                    </a:lnTo>
                    <a:lnTo>
                      <a:pt x="58" y="94"/>
                    </a:lnTo>
                    <a:lnTo>
                      <a:pt x="49" y="99"/>
                    </a:lnTo>
                    <a:lnTo>
                      <a:pt x="45" y="103"/>
                    </a:lnTo>
                    <a:lnTo>
                      <a:pt x="40" y="112"/>
                    </a:lnTo>
                    <a:lnTo>
                      <a:pt x="45" y="117"/>
                    </a:lnTo>
                    <a:lnTo>
                      <a:pt x="45" y="126"/>
                    </a:lnTo>
                    <a:lnTo>
                      <a:pt x="54" y="134"/>
                    </a:lnTo>
                    <a:lnTo>
                      <a:pt x="121" y="170"/>
                    </a:lnTo>
                    <a:lnTo>
                      <a:pt x="121" y="242"/>
                    </a:lnTo>
                    <a:lnTo>
                      <a:pt x="36" y="188"/>
                    </a:lnTo>
                    <a:lnTo>
                      <a:pt x="27" y="184"/>
                    </a:lnTo>
                    <a:lnTo>
                      <a:pt x="18" y="184"/>
                    </a:lnTo>
                    <a:lnTo>
                      <a:pt x="9" y="188"/>
                    </a:lnTo>
                    <a:lnTo>
                      <a:pt x="5" y="193"/>
                    </a:lnTo>
                    <a:lnTo>
                      <a:pt x="0" y="202"/>
                    </a:lnTo>
                    <a:lnTo>
                      <a:pt x="0" y="210"/>
                    </a:lnTo>
                    <a:lnTo>
                      <a:pt x="5" y="219"/>
                    </a:lnTo>
                    <a:lnTo>
                      <a:pt x="14" y="224"/>
                    </a:lnTo>
                    <a:lnTo>
                      <a:pt x="121" y="291"/>
                    </a:lnTo>
                    <a:lnTo>
                      <a:pt x="121" y="434"/>
                    </a:lnTo>
                    <a:lnTo>
                      <a:pt x="174" y="434"/>
                    </a:lnTo>
                    <a:lnTo>
                      <a:pt x="174" y="291"/>
                    </a:lnTo>
                    <a:lnTo>
                      <a:pt x="290" y="224"/>
                    </a:lnTo>
                    <a:lnTo>
                      <a:pt x="295" y="219"/>
                    </a:lnTo>
                    <a:lnTo>
                      <a:pt x="299" y="210"/>
                    </a:lnTo>
                    <a:lnTo>
                      <a:pt x="299" y="202"/>
                    </a:lnTo>
                    <a:lnTo>
                      <a:pt x="299" y="197"/>
                    </a:lnTo>
                    <a:lnTo>
                      <a:pt x="295" y="188"/>
                    </a:lnTo>
                    <a:lnTo>
                      <a:pt x="286" y="184"/>
                    </a:lnTo>
                    <a:lnTo>
                      <a:pt x="277" y="184"/>
                    </a:lnTo>
                    <a:lnTo>
                      <a:pt x="268" y="188"/>
                    </a:lnTo>
                    <a:lnTo>
                      <a:pt x="174" y="237"/>
                    </a:lnTo>
                    <a:lnTo>
                      <a:pt x="174" y="170"/>
                    </a:lnTo>
                    <a:lnTo>
                      <a:pt x="246" y="134"/>
                    </a:lnTo>
                    <a:lnTo>
                      <a:pt x="250" y="130"/>
                    </a:lnTo>
                    <a:lnTo>
                      <a:pt x="255" y="121"/>
                    </a:lnTo>
                    <a:lnTo>
                      <a:pt x="255" y="112"/>
                    </a:lnTo>
                    <a:lnTo>
                      <a:pt x="250" y="108"/>
                    </a:lnTo>
                    <a:lnTo>
                      <a:pt x="246" y="103"/>
                    </a:lnTo>
                    <a:lnTo>
                      <a:pt x="237" y="99"/>
                    </a:lnTo>
                    <a:lnTo>
                      <a:pt x="232" y="99"/>
                    </a:lnTo>
                    <a:lnTo>
                      <a:pt x="223" y="99"/>
                    </a:lnTo>
                    <a:lnTo>
                      <a:pt x="174" y="12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34" name="Freeform 44"/>
              <p:cNvSpPr>
                <a:spLocks/>
              </p:cNvSpPr>
              <p:nvPr/>
            </p:nvSpPr>
            <p:spPr bwMode="auto">
              <a:xfrm>
                <a:off x="982" y="398"/>
                <a:ext cx="393" cy="272"/>
              </a:xfrm>
              <a:custGeom>
                <a:avLst/>
                <a:gdLst>
                  <a:gd name="T0" fmla="*/ 121 w 393"/>
                  <a:gd name="T1" fmla="*/ 71 h 272"/>
                  <a:gd name="T2" fmla="*/ 36 w 393"/>
                  <a:gd name="T3" fmla="*/ 22 h 272"/>
                  <a:gd name="T4" fmla="*/ 27 w 393"/>
                  <a:gd name="T5" fmla="*/ 18 h 272"/>
                  <a:gd name="T6" fmla="*/ 18 w 393"/>
                  <a:gd name="T7" fmla="*/ 18 h 272"/>
                  <a:gd name="T8" fmla="*/ 9 w 393"/>
                  <a:gd name="T9" fmla="*/ 22 h 272"/>
                  <a:gd name="T10" fmla="*/ 5 w 393"/>
                  <a:gd name="T11" fmla="*/ 31 h 272"/>
                  <a:gd name="T12" fmla="*/ 0 w 393"/>
                  <a:gd name="T13" fmla="*/ 40 h 272"/>
                  <a:gd name="T14" fmla="*/ 0 w 393"/>
                  <a:gd name="T15" fmla="*/ 49 h 272"/>
                  <a:gd name="T16" fmla="*/ 5 w 393"/>
                  <a:gd name="T17" fmla="*/ 58 h 272"/>
                  <a:gd name="T18" fmla="*/ 9 w 393"/>
                  <a:gd name="T19" fmla="*/ 62 h 272"/>
                  <a:gd name="T20" fmla="*/ 98 w 393"/>
                  <a:gd name="T21" fmla="*/ 116 h 272"/>
                  <a:gd name="T22" fmla="*/ 54 w 393"/>
                  <a:gd name="T23" fmla="*/ 143 h 272"/>
                  <a:gd name="T24" fmla="*/ 45 w 393"/>
                  <a:gd name="T25" fmla="*/ 147 h 272"/>
                  <a:gd name="T26" fmla="*/ 40 w 393"/>
                  <a:gd name="T27" fmla="*/ 156 h 272"/>
                  <a:gd name="T28" fmla="*/ 40 w 393"/>
                  <a:gd name="T29" fmla="*/ 165 h 272"/>
                  <a:gd name="T30" fmla="*/ 40 w 393"/>
                  <a:gd name="T31" fmla="*/ 174 h 272"/>
                  <a:gd name="T32" fmla="*/ 49 w 393"/>
                  <a:gd name="T33" fmla="*/ 178 h 272"/>
                  <a:gd name="T34" fmla="*/ 54 w 393"/>
                  <a:gd name="T35" fmla="*/ 183 h 272"/>
                  <a:gd name="T36" fmla="*/ 63 w 393"/>
                  <a:gd name="T37" fmla="*/ 183 h 272"/>
                  <a:gd name="T38" fmla="*/ 72 w 393"/>
                  <a:gd name="T39" fmla="*/ 183 h 272"/>
                  <a:gd name="T40" fmla="*/ 139 w 393"/>
                  <a:gd name="T41" fmla="*/ 143 h 272"/>
                  <a:gd name="T42" fmla="*/ 197 w 393"/>
                  <a:gd name="T43" fmla="*/ 178 h 272"/>
                  <a:gd name="T44" fmla="*/ 112 w 393"/>
                  <a:gd name="T45" fmla="*/ 223 h 272"/>
                  <a:gd name="T46" fmla="*/ 103 w 393"/>
                  <a:gd name="T47" fmla="*/ 232 h 272"/>
                  <a:gd name="T48" fmla="*/ 98 w 393"/>
                  <a:gd name="T49" fmla="*/ 241 h 272"/>
                  <a:gd name="T50" fmla="*/ 98 w 393"/>
                  <a:gd name="T51" fmla="*/ 246 h 272"/>
                  <a:gd name="T52" fmla="*/ 98 w 393"/>
                  <a:gd name="T53" fmla="*/ 254 h 272"/>
                  <a:gd name="T54" fmla="*/ 103 w 393"/>
                  <a:gd name="T55" fmla="*/ 263 h 272"/>
                  <a:gd name="T56" fmla="*/ 112 w 393"/>
                  <a:gd name="T57" fmla="*/ 268 h 272"/>
                  <a:gd name="T58" fmla="*/ 121 w 393"/>
                  <a:gd name="T59" fmla="*/ 268 h 272"/>
                  <a:gd name="T60" fmla="*/ 130 w 393"/>
                  <a:gd name="T61" fmla="*/ 263 h 272"/>
                  <a:gd name="T62" fmla="*/ 241 w 393"/>
                  <a:gd name="T63" fmla="*/ 201 h 272"/>
                  <a:gd name="T64" fmla="*/ 366 w 393"/>
                  <a:gd name="T65" fmla="*/ 272 h 272"/>
                  <a:gd name="T66" fmla="*/ 393 w 393"/>
                  <a:gd name="T67" fmla="*/ 228 h 272"/>
                  <a:gd name="T68" fmla="*/ 268 w 393"/>
                  <a:gd name="T69" fmla="*/ 156 h 272"/>
                  <a:gd name="T70" fmla="*/ 268 w 393"/>
                  <a:gd name="T71" fmla="*/ 22 h 272"/>
                  <a:gd name="T72" fmla="*/ 268 w 393"/>
                  <a:gd name="T73" fmla="*/ 13 h 272"/>
                  <a:gd name="T74" fmla="*/ 264 w 393"/>
                  <a:gd name="T75" fmla="*/ 9 h 272"/>
                  <a:gd name="T76" fmla="*/ 255 w 393"/>
                  <a:gd name="T77" fmla="*/ 4 h 272"/>
                  <a:gd name="T78" fmla="*/ 250 w 393"/>
                  <a:gd name="T79" fmla="*/ 0 h 272"/>
                  <a:gd name="T80" fmla="*/ 241 w 393"/>
                  <a:gd name="T81" fmla="*/ 0 h 272"/>
                  <a:gd name="T82" fmla="*/ 232 w 393"/>
                  <a:gd name="T83" fmla="*/ 4 h 272"/>
                  <a:gd name="T84" fmla="*/ 228 w 393"/>
                  <a:gd name="T85" fmla="*/ 13 h 272"/>
                  <a:gd name="T86" fmla="*/ 228 w 393"/>
                  <a:gd name="T87" fmla="*/ 22 h 272"/>
                  <a:gd name="T88" fmla="*/ 223 w 393"/>
                  <a:gd name="T89" fmla="*/ 129 h 272"/>
                  <a:gd name="T90" fmla="*/ 165 w 393"/>
                  <a:gd name="T91" fmla="*/ 94 h 272"/>
                  <a:gd name="T92" fmla="*/ 170 w 393"/>
                  <a:gd name="T93" fmla="*/ 18 h 272"/>
                  <a:gd name="T94" fmla="*/ 165 w 393"/>
                  <a:gd name="T95" fmla="*/ 9 h 272"/>
                  <a:gd name="T96" fmla="*/ 161 w 393"/>
                  <a:gd name="T97" fmla="*/ 4 h 272"/>
                  <a:gd name="T98" fmla="*/ 156 w 393"/>
                  <a:gd name="T99" fmla="*/ 0 h 272"/>
                  <a:gd name="T100" fmla="*/ 148 w 393"/>
                  <a:gd name="T101" fmla="*/ 0 h 272"/>
                  <a:gd name="T102" fmla="*/ 139 w 393"/>
                  <a:gd name="T103" fmla="*/ 0 h 272"/>
                  <a:gd name="T104" fmla="*/ 134 w 393"/>
                  <a:gd name="T105" fmla="*/ 4 h 272"/>
                  <a:gd name="T106" fmla="*/ 130 w 393"/>
                  <a:gd name="T107" fmla="*/ 9 h 272"/>
                  <a:gd name="T108" fmla="*/ 125 w 393"/>
                  <a:gd name="T109" fmla="*/ 18 h 272"/>
                  <a:gd name="T110" fmla="*/ 121 w 393"/>
                  <a:gd name="T111" fmla="*/ 71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2">
                    <a:moveTo>
                      <a:pt x="121" y="71"/>
                    </a:moveTo>
                    <a:lnTo>
                      <a:pt x="36" y="22"/>
                    </a:lnTo>
                    <a:lnTo>
                      <a:pt x="27" y="18"/>
                    </a:lnTo>
                    <a:lnTo>
                      <a:pt x="18" y="18"/>
                    </a:lnTo>
                    <a:lnTo>
                      <a:pt x="9" y="22"/>
                    </a:lnTo>
                    <a:lnTo>
                      <a:pt x="5" y="31"/>
                    </a:lnTo>
                    <a:lnTo>
                      <a:pt x="0" y="40"/>
                    </a:lnTo>
                    <a:lnTo>
                      <a:pt x="0" y="49"/>
                    </a:lnTo>
                    <a:lnTo>
                      <a:pt x="5" y="58"/>
                    </a:lnTo>
                    <a:lnTo>
                      <a:pt x="9" y="62"/>
                    </a:lnTo>
                    <a:lnTo>
                      <a:pt x="98" y="116"/>
                    </a:lnTo>
                    <a:lnTo>
                      <a:pt x="54" y="143"/>
                    </a:lnTo>
                    <a:lnTo>
                      <a:pt x="45" y="147"/>
                    </a:lnTo>
                    <a:lnTo>
                      <a:pt x="40" y="156"/>
                    </a:lnTo>
                    <a:lnTo>
                      <a:pt x="40" y="165"/>
                    </a:lnTo>
                    <a:lnTo>
                      <a:pt x="40" y="174"/>
                    </a:lnTo>
                    <a:lnTo>
                      <a:pt x="49" y="178"/>
                    </a:lnTo>
                    <a:lnTo>
                      <a:pt x="54" y="183"/>
                    </a:lnTo>
                    <a:lnTo>
                      <a:pt x="63" y="183"/>
                    </a:lnTo>
                    <a:lnTo>
                      <a:pt x="72" y="183"/>
                    </a:lnTo>
                    <a:lnTo>
                      <a:pt x="139" y="143"/>
                    </a:lnTo>
                    <a:lnTo>
                      <a:pt x="197" y="178"/>
                    </a:lnTo>
                    <a:lnTo>
                      <a:pt x="112" y="223"/>
                    </a:lnTo>
                    <a:lnTo>
                      <a:pt x="103" y="232"/>
                    </a:lnTo>
                    <a:lnTo>
                      <a:pt x="98" y="241"/>
                    </a:lnTo>
                    <a:lnTo>
                      <a:pt x="98" y="246"/>
                    </a:lnTo>
                    <a:lnTo>
                      <a:pt x="98" y="254"/>
                    </a:lnTo>
                    <a:lnTo>
                      <a:pt x="103" y="263"/>
                    </a:lnTo>
                    <a:lnTo>
                      <a:pt x="112" y="268"/>
                    </a:lnTo>
                    <a:lnTo>
                      <a:pt x="121" y="268"/>
                    </a:lnTo>
                    <a:lnTo>
                      <a:pt x="130" y="263"/>
                    </a:lnTo>
                    <a:lnTo>
                      <a:pt x="241" y="201"/>
                    </a:lnTo>
                    <a:lnTo>
                      <a:pt x="366" y="272"/>
                    </a:lnTo>
                    <a:lnTo>
                      <a:pt x="393" y="228"/>
                    </a:lnTo>
                    <a:lnTo>
                      <a:pt x="268" y="156"/>
                    </a:lnTo>
                    <a:lnTo>
                      <a:pt x="268" y="22"/>
                    </a:lnTo>
                    <a:lnTo>
                      <a:pt x="268" y="13"/>
                    </a:lnTo>
                    <a:lnTo>
                      <a:pt x="264" y="9"/>
                    </a:lnTo>
                    <a:lnTo>
                      <a:pt x="255" y="4"/>
                    </a:lnTo>
                    <a:lnTo>
                      <a:pt x="250" y="0"/>
                    </a:lnTo>
                    <a:lnTo>
                      <a:pt x="241" y="0"/>
                    </a:lnTo>
                    <a:lnTo>
                      <a:pt x="232" y="4"/>
                    </a:lnTo>
                    <a:lnTo>
                      <a:pt x="228" y="13"/>
                    </a:lnTo>
                    <a:lnTo>
                      <a:pt x="228" y="22"/>
                    </a:lnTo>
                    <a:lnTo>
                      <a:pt x="223" y="129"/>
                    </a:lnTo>
                    <a:lnTo>
                      <a:pt x="165" y="94"/>
                    </a:lnTo>
                    <a:lnTo>
                      <a:pt x="170" y="18"/>
                    </a:lnTo>
                    <a:lnTo>
                      <a:pt x="165" y="9"/>
                    </a:lnTo>
                    <a:lnTo>
                      <a:pt x="161" y="4"/>
                    </a:lnTo>
                    <a:lnTo>
                      <a:pt x="156" y="0"/>
                    </a:lnTo>
                    <a:lnTo>
                      <a:pt x="148" y="0"/>
                    </a:lnTo>
                    <a:lnTo>
                      <a:pt x="139" y="0"/>
                    </a:lnTo>
                    <a:lnTo>
                      <a:pt x="134" y="4"/>
                    </a:lnTo>
                    <a:lnTo>
                      <a:pt x="130" y="9"/>
                    </a:lnTo>
                    <a:lnTo>
                      <a:pt x="125" y="18"/>
                    </a:lnTo>
                    <a:lnTo>
                      <a:pt x="121" y="7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35" name="Freeform 45"/>
              <p:cNvSpPr>
                <a:spLocks/>
              </p:cNvSpPr>
              <p:nvPr/>
            </p:nvSpPr>
            <p:spPr bwMode="auto">
              <a:xfrm>
                <a:off x="982" y="626"/>
                <a:ext cx="393" cy="277"/>
              </a:xfrm>
              <a:custGeom>
                <a:avLst/>
                <a:gdLst>
                  <a:gd name="T0" fmla="*/ 98 w 393"/>
                  <a:gd name="T1" fmla="*/ 156 h 277"/>
                  <a:gd name="T2" fmla="*/ 9 w 393"/>
                  <a:gd name="T3" fmla="*/ 205 h 277"/>
                  <a:gd name="T4" fmla="*/ 0 w 393"/>
                  <a:gd name="T5" fmla="*/ 214 h 277"/>
                  <a:gd name="T6" fmla="*/ 0 w 393"/>
                  <a:gd name="T7" fmla="*/ 223 h 277"/>
                  <a:gd name="T8" fmla="*/ 0 w 393"/>
                  <a:gd name="T9" fmla="*/ 228 h 277"/>
                  <a:gd name="T10" fmla="*/ 0 w 393"/>
                  <a:gd name="T11" fmla="*/ 237 h 277"/>
                  <a:gd name="T12" fmla="*/ 9 w 393"/>
                  <a:gd name="T13" fmla="*/ 246 h 277"/>
                  <a:gd name="T14" fmla="*/ 14 w 393"/>
                  <a:gd name="T15" fmla="*/ 250 h 277"/>
                  <a:gd name="T16" fmla="*/ 23 w 393"/>
                  <a:gd name="T17" fmla="*/ 250 h 277"/>
                  <a:gd name="T18" fmla="*/ 36 w 393"/>
                  <a:gd name="T19" fmla="*/ 250 h 277"/>
                  <a:gd name="T20" fmla="*/ 125 w 393"/>
                  <a:gd name="T21" fmla="*/ 196 h 277"/>
                  <a:gd name="T22" fmla="*/ 125 w 393"/>
                  <a:gd name="T23" fmla="*/ 250 h 277"/>
                  <a:gd name="T24" fmla="*/ 125 w 393"/>
                  <a:gd name="T25" fmla="*/ 263 h 277"/>
                  <a:gd name="T26" fmla="*/ 130 w 393"/>
                  <a:gd name="T27" fmla="*/ 268 h 277"/>
                  <a:gd name="T28" fmla="*/ 139 w 393"/>
                  <a:gd name="T29" fmla="*/ 272 h 277"/>
                  <a:gd name="T30" fmla="*/ 143 w 393"/>
                  <a:gd name="T31" fmla="*/ 277 h 277"/>
                  <a:gd name="T32" fmla="*/ 152 w 393"/>
                  <a:gd name="T33" fmla="*/ 277 h 277"/>
                  <a:gd name="T34" fmla="*/ 161 w 393"/>
                  <a:gd name="T35" fmla="*/ 272 h 277"/>
                  <a:gd name="T36" fmla="*/ 165 w 393"/>
                  <a:gd name="T37" fmla="*/ 263 h 277"/>
                  <a:gd name="T38" fmla="*/ 165 w 393"/>
                  <a:gd name="T39" fmla="*/ 254 h 277"/>
                  <a:gd name="T40" fmla="*/ 165 w 393"/>
                  <a:gd name="T41" fmla="*/ 178 h 277"/>
                  <a:gd name="T42" fmla="*/ 223 w 393"/>
                  <a:gd name="T43" fmla="*/ 143 h 277"/>
                  <a:gd name="T44" fmla="*/ 223 w 393"/>
                  <a:gd name="T45" fmla="*/ 241 h 277"/>
                  <a:gd name="T46" fmla="*/ 223 w 393"/>
                  <a:gd name="T47" fmla="*/ 250 h 277"/>
                  <a:gd name="T48" fmla="*/ 228 w 393"/>
                  <a:gd name="T49" fmla="*/ 259 h 277"/>
                  <a:gd name="T50" fmla="*/ 237 w 393"/>
                  <a:gd name="T51" fmla="*/ 263 h 277"/>
                  <a:gd name="T52" fmla="*/ 246 w 393"/>
                  <a:gd name="T53" fmla="*/ 268 h 277"/>
                  <a:gd name="T54" fmla="*/ 255 w 393"/>
                  <a:gd name="T55" fmla="*/ 268 h 277"/>
                  <a:gd name="T56" fmla="*/ 259 w 393"/>
                  <a:gd name="T57" fmla="*/ 263 h 277"/>
                  <a:gd name="T58" fmla="*/ 264 w 393"/>
                  <a:gd name="T59" fmla="*/ 254 h 277"/>
                  <a:gd name="T60" fmla="*/ 268 w 393"/>
                  <a:gd name="T61" fmla="*/ 246 h 277"/>
                  <a:gd name="T62" fmla="*/ 268 w 393"/>
                  <a:gd name="T63" fmla="*/ 116 h 277"/>
                  <a:gd name="T64" fmla="*/ 393 w 393"/>
                  <a:gd name="T65" fmla="*/ 44 h 277"/>
                  <a:gd name="T66" fmla="*/ 366 w 393"/>
                  <a:gd name="T67" fmla="*/ 0 h 277"/>
                  <a:gd name="T68" fmla="*/ 241 w 393"/>
                  <a:gd name="T69" fmla="*/ 71 h 277"/>
                  <a:gd name="T70" fmla="*/ 125 w 393"/>
                  <a:gd name="T71" fmla="*/ 4 h 277"/>
                  <a:gd name="T72" fmla="*/ 121 w 393"/>
                  <a:gd name="T73" fmla="*/ 0 h 277"/>
                  <a:gd name="T74" fmla="*/ 112 w 393"/>
                  <a:gd name="T75" fmla="*/ 0 h 277"/>
                  <a:gd name="T76" fmla="*/ 103 w 393"/>
                  <a:gd name="T77" fmla="*/ 4 h 277"/>
                  <a:gd name="T78" fmla="*/ 98 w 393"/>
                  <a:gd name="T79" fmla="*/ 9 h 277"/>
                  <a:gd name="T80" fmla="*/ 94 w 393"/>
                  <a:gd name="T81" fmla="*/ 18 h 277"/>
                  <a:gd name="T82" fmla="*/ 94 w 393"/>
                  <a:gd name="T83" fmla="*/ 26 h 277"/>
                  <a:gd name="T84" fmla="*/ 98 w 393"/>
                  <a:gd name="T85" fmla="*/ 35 h 277"/>
                  <a:gd name="T86" fmla="*/ 107 w 393"/>
                  <a:gd name="T87" fmla="*/ 40 h 277"/>
                  <a:gd name="T88" fmla="*/ 197 w 393"/>
                  <a:gd name="T89" fmla="*/ 98 h 277"/>
                  <a:gd name="T90" fmla="*/ 139 w 393"/>
                  <a:gd name="T91" fmla="*/ 129 h 277"/>
                  <a:gd name="T92" fmla="*/ 72 w 393"/>
                  <a:gd name="T93" fmla="*/ 89 h 277"/>
                  <a:gd name="T94" fmla="*/ 63 w 393"/>
                  <a:gd name="T95" fmla="*/ 85 h 277"/>
                  <a:gd name="T96" fmla="*/ 58 w 393"/>
                  <a:gd name="T97" fmla="*/ 85 h 277"/>
                  <a:gd name="T98" fmla="*/ 49 w 393"/>
                  <a:gd name="T99" fmla="*/ 89 h 277"/>
                  <a:gd name="T100" fmla="*/ 45 w 393"/>
                  <a:gd name="T101" fmla="*/ 98 h 277"/>
                  <a:gd name="T102" fmla="*/ 45 w 393"/>
                  <a:gd name="T103" fmla="*/ 102 h 277"/>
                  <a:gd name="T104" fmla="*/ 45 w 393"/>
                  <a:gd name="T105" fmla="*/ 111 h 277"/>
                  <a:gd name="T106" fmla="*/ 45 w 393"/>
                  <a:gd name="T107" fmla="*/ 120 h 277"/>
                  <a:gd name="T108" fmla="*/ 54 w 393"/>
                  <a:gd name="T109" fmla="*/ 125 h 277"/>
                  <a:gd name="T110" fmla="*/ 98 w 393"/>
                  <a:gd name="T111" fmla="*/ 15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7">
                    <a:moveTo>
                      <a:pt x="98" y="156"/>
                    </a:moveTo>
                    <a:lnTo>
                      <a:pt x="9" y="205"/>
                    </a:lnTo>
                    <a:lnTo>
                      <a:pt x="0" y="214"/>
                    </a:lnTo>
                    <a:lnTo>
                      <a:pt x="0" y="223"/>
                    </a:lnTo>
                    <a:lnTo>
                      <a:pt x="0" y="228"/>
                    </a:lnTo>
                    <a:lnTo>
                      <a:pt x="0" y="237"/>
                    </a:lnTo>
                    <a:lnTo>
                      <a:pt x="9" y="246"/>
                    </a:lnTo>
                    <a:lnTo>
                      <a:pt x="14" y="250"/>
                    </a:lnTo>
                    <a:lnTo>
                      <a:pt x="23" y="250"/>
                    </a:lnTo>
                    <a:lnTo>
                      <a:pt x="36" y="250"/>
                    </a:lnTo>
                    <a:lnTo>
                      <a:pt x="125" y="196"/>
                    </a:lnTo>
                    <a:lnTo>
                      <a:pt x="125" y="250"/>
                    </a:lnTo>
                    <a:lnTo>
                      <a:pt x="125" y="263"/>
                    </a:lnTo>
                    <a:lnTo>
                      <a:pt x="130" y="268"/>
                    </a:lnTo>
                    <a:lnTo>
                      <a:pt x="139" y="272"/>
                    </a:lnTo>
                    <a:lnTo>
                      <a:pt x="143" y="277"/>
                    </a:lnTo>
                    <a:lnTo>
                      <a:pt x="152" y="277"/>
                    </a:lnTo>
                    <a:lnTo>
                      <a:pt x="161" y="272"/>
                    </a:lnTo>
                    <a:lnTo>
                      <a:pt x="165" y="263"/>
                    </a:lnTo>
                    <a:lnTo>
                      <a:pt x="165" y="254"/>
                    </a:lnTo>
                    <a:lnTo>
                      <a:pt x="165" y="178"/>
                    </a:lnTo>
                    <a:lnTo>
                      <a:pt x="223" y="143"/>
                    </a:lnTo>
                    <a:lnTo>
                      <a:pt x="223" y="241"/>
                    </a:lnTo>
                    <a:lnTo>
                      <a:pt x="223" y="250"/>
                    </a:lnTo>
                    <a:lnTo>
                      <a:pt x="228" y="259"/>
                    </a:lnTo>
                    <a:lnTo>
                      <a:pt x="237" y="263"/>
                    </a:lnTo>
                    <a:lnTo>
                      <a:pt x="246" y="268"/>
                    </a:lnTo>
                    <a:lnTo>
                      <a:pt x="255" y="268"/>
                    </a:lnTo>
                    <a:lnTo>
                      <a:pt x="259" y="263"/>
                    </a:lnTo>
                    <a:lnTo>
                      <a:pt x="264" y="254"/>
                    </a:lnTo>
                    <a:lnTo>
                      <a:pt x="268" y="246"/>
                    </a:lnTo>
                    <a:lnTo>
                      <a:pt x="268" y="116"/>
                    </a:lnTo>
                    <a:lnTo>
                      <a:pt x="393" y="44"/>
                    </a:lnTo>
                    <a:lnTo>
                      <a:pt x="366" y="0"/>
                    </a:lnTo>
                    <a:lnTo>
                      <a:pt x="241" y="71"/>
                    </a:lnTo>
                    <a:lnTo>
                      <a:pt x="125" y="4"/>
                    </a:lnTo>
                    <a:lnTo>
                      <a:pt x="121" y="0"/>
                    </a:lnTo>
                    <a:lnTo>
                      <a:pt x="112" y="0"/>
                    </a:lnTo>
                    <a:lnTo>
                      <a:pt x="103" y="4"/>
                    </a:lnTo>
                    <a:lnTo>
                      <a:pt x="98" y="9"/>
                    </a:lnTo>
                    <a:lnTo>
                      <a:pt x="94" y="18"/>
                    </a:lnTo>
                    <a:lnTo>
                      <a:pt x="94" y="26"/>
                    </a:lnTo>
                    <a:lnTo>
                      <a:pt x="98" y="35"/>
                    </a:lnTo>
                    <a:lnTo>
                      <a:pt x="107" y="40"/>
                    </a:lnTo>
                    <a:lnTo>
                      <a:pt x="197" y="98"/>
                    </a:lnTo>
                    <a:lnTo>
                      <a:pt x="139" y="129"/>
                    </a:lnTo>
                    <a:lnTo>
                      <a:pt x="72" y="89"/>
                    </a:lnTo>
                    <a:lnTo>
                      <a:pt x="63" y="85"/>
                    </a:lnTo>
                    <a:lnTo>
                      <a:pt x="58" y="85"/>
                    </a:lnTo>
                    <a:lnTo>
                      <a:pt x="49" y="89"/>
                    </a:lnTo>
                    <a:lnTo>
                      <a:pt x="45" y="98"/>
                    </a:lnTo>
                    <a:lnTo>
                      <a:pt x="45" y="102"/>
                    </a:lnTo>
                    <a:lnTo>
                      <a:pt x="45" y="111"/>
                    </a:lnTo>
                    <a:lnTo>
                      <a:pt x="45" y="120"/>
                    </a:lnTo>
                    <a:lnTo>
                      <a:pt x="54" y="125"/>
                    </a:lnTo>
                    <a:lnTo>
                      <a:pt x="98" y="156"/>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36" name="Freeform 46"/>
              <p:cNvSpPr>
                <a:spLocks/>
              </p:cNvSpPr>
              <p:nvPr/>
            </p:nvSpPr>
            <p:spPr bwMode="auto">
              <a:xfrm>
                <a:off x="1210" y="648"/>
                <a:ext cx="299" cy="438"/>
              </a:xfrm>
              <a:custGeom>
                <a:avLst/>
                <a:gdLst>
                  <a:gd name="T0" fmla="*/ 125 w 299"/>
                  <a:gd name="T1" fmla="*/ 313 h 438"/>
                  <a:gd name="T2" fmla="*/ 125 w 299"/>
                  <a:gd name="T3" fmla="*/ 411 h 438"/>
                  <a:gd name="T4" fmla="*/ 129 w 299"/>
                  <a:gd name="T5" fmla="*/ 425 h 438"/>
                  <a:gd name="T6" fmla="*/ 134 w 299"/>
                  <a:gd name="T7" fmla="*/ 429 h 438"/>
                  <a:gd name="T8" fmla="*/ 143 w 299"/>
                  <a:gd name="T9" fmla="*/ 434 h 438"/>
                  <a:gd name="T10" fmla="*/ 147 w 299"/>
                  <a:gd name="T11" fmla="*/ 438 h 438"/>
                  <a:gd name="T12" fmla="*/ 156 w 299"/>
                  <a:gd name="T13" fmla="*/ 434 h 438"/>
                  <a:gd name="T14" fmla="*/ 165 w 299"/>
                  <a:gd name="T15" fmla="*/ 429 h 438"/>
                  <a:gd name="T16" fmla="*/ 174 w 299"/>
                  <a:gd name="T17" fmla="*/ 425 h 438"/>
                  <a:gd name="T18" fmla="*/ 174 w 299"/>
                  <a:gd name="T19" fmla="*/ 411 h 438"/>
                  <a:gd name="T20" fmla="*/ 174 w 299"/>
                  <a:gd name="T21" fmla="*/ 308 h 438"/>
                  <a:gd name="T22" fmla="*/ 223 w 299"/>
                  <a:gd name="T23" fmla="*/ 335 h 438"/>
                  <a:gd name="T24" fmla="*/ 232 w 299"/>
                  <a:gd name="T25" fmla="*/ 340 h 438"/>
                  <a:gd name="T26" fmla="*/ 241 w 299"/>
                  <a:gd name="T27" fmla="*/ 340 h 438"/>
                  <a:gd name="T28" fmla="*/ 250 w 299"/>
                  <a:gd name="T29" fmla="*/ 335 h 438"/>
                  <a:gd name="T30" fmla="*/ 254 w 299"/>
                  <a:gd name="T31" fmla="*/ 331 h 438"/>
                  <a:gd name="T32" fmla="*/ 254 w 299"/>
                  <a:gd name="T33" fmla="*/ 322 h 438"/>
                  <a:gd name="T34" fmla="*/ 254 w 299"/>
                  <a:gd name="T35" fmla="*/ 317 h 438"/>
                  <a:gd name="T36" fmla="*/ 254 w 299"/>
                  <a:gd name="T37" fmla="*/ 308 h 438"/>
                  <a:gd name="T38" fmla="*/ 245 w 299"/>
                  <a:gd name="T39" fmla="*/ 300 h 438"/>
                  <a:gd name="T40" fmla="*/ 178 w 299"/>
                  <a:gd name="T41" fmla="*/ 264 h 438"/>
                  <a:gd name="T42" fmla="*/ 178 w 299"/>
                  <a:gd name="T43" fmla="*/ 192 h 438"/>
                  <a:gd name="T44" fmla="*/ 263 w 299"/>
                  <a:gd name="T45" fmla="*/ 246 h 438"/>
                  <a:gd name="T46" fmla="*/ 272 w 299"/>
                  <a:gd name="T47" fmla="*/ 250 h 438"/>
                  <a:gd name="T48" fmla="*/ 281 w 299"/>
                  <a:gd name="T49" fmla="*/ 250 h 438"/>
                  <a:gd name="T50" fmla="*/ 290 w 299"/>
                  <a:gd name="T51" fmla="*/ 246 h 438"/>
                  <a:gd name="T52" fmla="*/ 294 w 299"/>
                  <a:gd name="T53" fmla="*/ 241 h 438"/>
                  <a:gd name="T54" fmla="*/ 299 w 299"/>
                  <a:gd name="T55" fmla="*/ 232 h 438"/>
                  <a:gd name="T56" fmla="*/ 299 w 299"/>
                  <a:gd name="T57" fmla="*/ 224 h 438"/>
                  <a:gd name="T58" fmla="*/ 294 w 299"/>
                  <a:gd name="T59" fmla="*/ 215 h 438"/>
                  <a:gd name="T60" fmla="*/ 285 w 299"/>
                  <a:gd name="T61" fmla="*/ 210 h 438"/>
                  <a:gd name="T62" fmla="*/ 178 w 299"/>
                  <a:gd name="T63" fmla="*/ 143 h 438"/>
                  <a:gd name="T64" fmla="*/ 178 w 299"/>
                  <a:gd name="T65" fmla="*/ 0 h 438"/>
                  <a:gd name="T66" fmla="*/ 125 w 299"/>
                  <a:gd name="T67" fmla="*/ 0 h 438"/>
                  <a:gd name="T68" fmla="*/ 125 w 299"/>
                  <a:gd name="T69" fmla="*/ 143 h 438"/>
                  <a:gd name="T70" fmla="*/ 9 w 299"/>
                  <a:gd name="T71" fmla="*/ 210 h 438"/>
                  <a:gd name="T72" fmla="*/ 4 w 299"/>
                  <a:gd name="T73" fmla="*/ 215 h 438"/>
                  <a:gd name="T74" fmla="*/ 0 w 299"/>
                  <a:gd name="T75" fmla="*/ 224 h 438"/>
                  <a:gd name="T76" fmla="*/ 0 w 299"/>
                  <a:gd name="T77" fmla="*/ 232 h 438"/>
                  <a:gd name="T78" fmla="*/ 0 w 299"/>
                  <a:gd name="T79" fmla="*/ 237 h 438"/>
                  <a:gd name="T80" fmla="*/ 4 w 299"/>
                  <a:gd name="T81" fmla="*/ 246 h 438"/>
                  <a:gd name="T82" fmla="*/ 13 w 299"/>
                  <a:gd name="T83" fmla="*/ 250 h 438"/>
                  <a:gd name="T84" fmla="*/ 22 w 299"/>
                  <a:gd name="T85" fmla="*/ 250 h 438"/>
                  <a:gd name="T86" fmla="*/ 31 w 299"/>
                  <a:gd name="T87" fmla="*/ 246 h 438"/>
                  <a:gd name="T88" fmla="*/ 125 w 299"/>
                  <a:gd name="T89" fmla="*/ 197 h 438"/>
                  <a:gd name="T90" fmla="*/ 125 w 299"/>
                  <a:gd name="T91" fmla="*/ 264 h 438"/>
                  <a:gd name="T92" fmla="*/ 53 w 299"/>
                  <a:gd name="T93" fmla="*/ 300 h 438"/>
                  <a:gd name="T94" fmla="*/ 49 w 299"/>
                  <a:gd name="T95" fmla="*/ 304 h 438"/>
                  <a:gd name="T96" fmla="*/ 44 w 299"/>
                  <a:gd name="T97" fmla="*/ 313 h 438"/>
                  <a:gd name="T98" fmla="*/ 44 w 299"/>
                  <a:gd name="T99" fmla="*/ 322 h 438"/>
                  <a:gd name="T100" fmla="*/ 49 w 299"/>
                  <a:gd name="T101" fmla="*/ 326 h 438"/>
                  <a:gd name="T102" fmla="*/ 53 w 299"/>
                  <a:gd name="T103" fmla="*/ 331 h 438"/>
                  <a:gd name="T104" fmla="*/ 62 w 299"/>
                  <a:gd name="T105" fmla="*/ 335 h 438"/>
                  <a:gd name="T106" fmla="*/ 67 w 299"/>
                  <a:gd name="T107" fmla="*/ 335 h 438"/>
                  <a:gd name="T108" fmla="*/ 76 w 299"/>
                  <a:gd name="T109" fmla="*/ 335 h 438"/>
                  <a:gd name="T110" fmla="*/ 125 w 299"/>
                  <a:gd name="T111" fmla="*/ 313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99" h="438">
                    <a:moveTo>
                      <a:pt x="125" y="313"/>
                    </a:moveTo>
                    <a:lnTo>
                      <a:pt x="125" y="411"/>
                    </a:lnTo>
                    <a:lnTo>
                      <a:pt x="129" y="425"/>
                    </a:lnTo>
                    <a:lnTo>
                      <a:pt x="134" y="429"/>
                    </a:lnTo>
                    <a:lnTo>
                      <a:pt x="143" y="434"/>
                    </a:lnTo>
                    <a:lnTo>
                      <a:pt x="147" y="438"/>
                    </a:lnTo>
                    <a:lnTo>
                      <a:pt x="156" y="434"/>
                    </a:lnTo>
                    <a:lnTo>
                      <a:pt x="165" y="429"/>
                    </a:lnTo>
                    <a:lnTo>
                      <a:pt x="174" y="425"/>
                    </a:lnTo>
                    <a:lnTo>
                      <a:pt x="174" y="411"/>
                    </a:lnTo>
                    <a:lnTo>
                      <a:pt x="174" y="308"/>
                    </a:lnTo>
                    <a:lnTo>
                      <a:pt x="223" y="335"/>
                    </a:lnTo>
                    <a:lnTo>
                      <a:pt x="232" y="340"/>
                    </a:lnTo>
                    <a:lnTo>
                      <a:pt x="241" y="340"/>
                    </a:lnTo>
                    <a:lnTo>
                      <a:pt x="250" y="335"/>
                    </a:lnTo>
                    <a:lnTo>
                      <a:pt x="254" y="331"/>
                    </a:lnTo>
                    <a:lnTo>
                      <a:pt x="254" y="322"/>
                    </a:lnTo>
                    <a:lnTo>
                      <a:pt x="254" y="317"/>
                    </a:lnTo>
                    <a:lnTo>
                      <a:pt x="254" y="308"/>
                    </a:lnTo>
                    <a:lnTo>
                      <a:pt x="245" y="300"/>
                    </a:lnTo>
                    <a:lnTo>
                      <a:pt x="178" y="264"/>
                    </a:lnTo>
                    <a:lnTo>
                      <a:pt x="178" y="192"/>
                    </a:lnTo>
                    <a:lnTo>
                      <a:pt x="263" y="246"/>
                    </a:lnTo>
                    <a:lnTo>
                      <a:pt x="272" y="250"/>
                    </a:lnTo>
                    <a:lnTo>
                      <a:pt x="281" y="250"/>
                    </a:lnTo>
                    <a:lnTo>
                      <a:pt x="290" y="246"/>
                    </a:lnTo>
                    <a:lnTo>
                      <a:pt x="294" y="241"/>
                    </a:lnTo>
                    <a:lnTo>
                      <a:pt x="299" y="232"/>
                    </a:lnTo>
                    <a:lnTo>
                      <a:pt x="299" y="224"/>
                    </a:lnTo>
                    <a:lnTo>
                      <a:pt x="294" y="215"/>
                    </a:lnTo>
                    <a:lnTo>
                      <a:pt x="285" y="210"/>
                    </a:lnTo>
                    <a:lnTo>
                      <a:pt x="178" y="143"/>
                    </a:lnTo>
                    <a:lnTo>
                      <a:pt x="178" y="0"/>
                    </a:lnTo>
                    <a:lnTo>
                      <a:pt x="125" y="0"/>
                    </a:lnTo>
                    <a:lnTo>
                      <a:pt x="125" y="143"/>
                    </a:lnTo>
                    <a:lnTo>
                      <a:pt x="9" y="210"/>
                    </a:lnTo>
                    <a:lnTo>
                      <a:pt x="4" y="215"/>
                    </a:lnTo>
                    <a:lnTo>
                      <a:pt x="0" y="224"/>
                    </a:lnTo>
                    <a:lnTo>
                      <a:pt x="0" y="232"/>
                    </a:lnTo>
                    <a:lnTo>
                      <a:pt x="0" y="237"/>
                    </a:lnTo>
                    <a:lnTo>
                      <a:pt x="4" y="246"/>
                    </a:lnTo>
                    <a:lnTo>
                      <a:pt x="13" y="250"/>
                    </a:lnTo>
                    <a:lnTo>
                      <a:pt x="22" y="250"/>
                    </a:lnTo>
                    <a:lnTo>
                      <a:pt x="31" y="246"/>
                    </a:lnTo>
                    <a:lnTo>
                      <a:pt x="125" y="197"/>
                    </a:lnTo>
                    <a:lnTo>
                      <a:pt x="125" y="264"/>
                    </a:lnTo>
                    <a:lnTo>
                      <a:pt x="53" y="300"/>
                    </a:lnTo>
                    <a:lnTo>
                      <a:pt x="49" y="304"/>
                    </a:lnTo>
                    <a:lnTo>
                      <a:pt x="44" y="313"/>
                    </a:lnTo>
                    <a:lnTo>
                      <a:pt x="44" y="322"/>
                    </a:lnTo>
                    <a:lnTo>
                      <a:pt x="49" y="326"/>
                    </a:lnTo>
                    <a:lnTo>
                      <a:pt x="53" y="331"/>
                    </a:lnTo>
                    <a:lnTo>
                      <a:pt x="62" y="335"/>
                    </a:lnTo>
                    <a:lnTo>
                      <a:pt x="67" y="335"/>
                    </a:lnTo>
                    <a:lnTo>
                      <a:pt x="76" y="335"/>
                    </a:lnTo>
                    <a:lnTo>
                      <a:pt x="125" y="313"/>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37" name="Freeform 47"/>
              <p:cNvSpPr>
                <a:spLocks/>
              </p:cNvSpPr>
              <p:nvPr/>
            </p:nvSpPr>
            <p:spPr bwMode="auto">
              <a:xfrm>
                <a:off x="1348" y="626"/>
                <a:ext cx="393" cy="272"/>
              </a:xfrm>
              <a:custGeom>
                <a:avLst/>
                <a:gdLst>
                  <a:gd name="T0" fmla="*/ 272 w 393"/>
                  <a:gd name="T1" fmla="*/ 201 h 272"/>
                  <a:gd name="T2" fmla="*/ 357 w 393"/>
                  <a:gd name="T3" fmla="*/ 250 h 272"/>
                  <a:gd name="T4" fmla="*/ 366 w 393"/>
                  <a:gd name="T5" fmla="*/ 254 h 272"/>
                  <a:gd name="T6" fmla="*/ 375 w 393"/>
                  <a:gd name="T7" fmla="*/ 254 h 272"/>
                  <a:gd name="T8" fmla="*/ 384 w 393"/>
                  <a:gd name="T9" fmla="*/ 250 h 272"/>
                  <a:gd name="T10" fmla="*/ 388 w 393"/>
                  <a:gd name="T11" fmla="*/ 241 h 272"/>
                  <a:gd name="T12" fmla="*/ 393 w 393"/>
                  <a:gd name="T13" fmla="*/ 232 h 272"/>
                  <a:gd name="T14" fmla="*/ 393 w 393"/>
                  <a:gd name="T15" fmla="*/ 223 h 272"/>
                  <a:gd name="T16" fmla="*/ 388 w 393"/>
                  <a:gd name="T17" fmla="*/ 214 h 272"/>
                  <a:gd name="T18" fmla="*/ 384 w 393"/>
                  <a:gd name="T19" fmla="*/ 210 h 272"/>
                  <a:gd name="T20" fmla="*/ 295 w 393"/>
                  <a:gd name="T21" fmla="*/ 156 h 272"/>
                  <a:gd name="T22" fmla="*/ 339 w 393"/>
                  <a:gd name="T23" fmla="*/ 129 h 272"/>
                  <a:gd name="T24" fmla="*/ 348 w 393"/>
                  <a:gd name="T25" fmla="*/ 125 h 272"/>
                  <a:gd name="T26" fmla="*/ 353 w 393"/>
                  <a:gd name="T27" fmla="*/ 116 h 272"/>
                  <a:gd name="T28" fmla="*/ 353 w 393"/>
                  <a:gd name="T29" fmla="*/ 107 h 272"/>
                  <a:gd name="T30" fmla="*/ 353 w 393"/>
                  <a:gd name="T31" fmla="*/ 98 h 272"/>
                  <a:gd name="T32" fmla="*/ 344 w 393"/>
                  <a:gd name="T33" fmla="*/ 94 h 272"/>
                  <a:gd name="T34" fmla="*/ 339 w 393"/>
                  <a:gd name="T35" fmla="*/ 89 h 272"/>
                  <a:gd name="T36" fmla="*/ 330 w 393"/>
                  <a:gd name="T37" fmla="*/ 89 h 272"/>
                  <a:gd name="T38" fmla="*/ 321 w 393"/>
                  <a:gd name="T39" fmla="*/ 89 h 272"/>
                  <a:gd name="T40" fmla="*/ 254 w 393"/>
                  <a:gd name="T41" fmla="*/ 129 h 272"/>
                  <a:gd name="T42" fmla="*/ 196 w 393"/>
                  <a:gd name="T43" fmla="*/ 94 h 272"/>
                  <a:gd name="T44" fmla="*/ 281 w 393"/>
                  <a:gd name="T45" fmla="*/ 49 h 272"/>
                  <a:gd name="T46" fmla="*/ 290 w 393"/>
                  <a:gd name="T47" fmla="*/ 40 h 272"/>
                  <a:gd name="T48" fmla="*/ 295 w 393"/>
                  <a:gd name="T49" fmla="*/ 31 h 272"/>
                  <a:gd name="T50" fmla="*/ 295 w 393"/>
                  <a:gd name="T51" fmla="*/ 26 h 272"/>
                  <a:gd name="T52" fmla="*/ 295 w 393"/>
                  <a:gd name="T53" fmla="*/ 18 h 272"/>
                  <a:gd name="T54" fmla="*/ 290 w 393"/>
                  <a:gd name="T55" fmla="*/ 9 h 272"/>
                  <a:gd name="T56" fmla="*/ 281 w 393"/>
                  <a:gd name="T57" fmla="*/ 4 h 272"/>
                  <a:gd name="T58" fmla="*/ 272 w 393"/>
                  <a:gd name="T59" fmla="*/ 4 h 272"/>
                  <a:gd name="T60" fmla="*/ 263 w 393"/>
                  <a:gd name="T61" fmla="*/ 9 h 272"/>
                  <a:gd name="T62" fmla="*/ 152 w 393"/>
                  <a:gd name="T63" fmla="*/ 71 h 272"/>
                  <a:gd name="T64" fmla="*/ 27 w 393"/>
                  <a:gd name="T65" fmla="*/ 0 h 272"/>
                  <a:gd name="T66" fmla="*/ 0 w 393"/>
                  <a:gd name="T67" fmla="*/ 44 h 272"/>
                  <a:gd name="T68" fmla="*/ 125 w 393"/>
                  <a:gd name="T69" fmla="*/ 116 h 272"/>
                  <a:gd name="T70" fmla="*/ 125 w 393"/>
                  <a:gd name="T71" fmla="*/ 250 h 272"/>
                  <a:gd name="T72" fmla="*/ 125 w 393"/>
                  <a:gd name="T73" fmla="*/ 259 h 272"/>
                  <a:gd name="T74" fmla="*/ 129 w 393"/>
                  <a:gd name="T75" fmla="*/ 263 h 272"/>
                  <a:gd name="T76" fmla="*/ 138 w 393"/>
                  <a:gd name="T77" fmla="*/ 268 h 272"/>
                  <a:gd name="T78" fmla="*/ 143 w 393"/>
                  <a:gd name="T79" fmla="*/ 272 h 272"/>
                  <a:gd name="T80" fmla="*/ 152 w 393"/>
                  <a:gd name="T81" fmla="*/ 272 h 272"/>
                  <a:gd name="T82" fmla="*/ 161 w 393"/>
                  <a:gd name="T83" fmla="*/ 268 h 272"/>
                  <a:gd name="T84" fmla="*/ 165 w 393"/>
                  <a:gd name="T85" fmla="*/ 259 h 272"/>
                  <a:gd name="T86" fmla="*/ 165 w 393"/>
                  <a:gd name="T87" fmla="*/ 250 h 272"/>
                  <a:gd name="T88" fmla="*/ 170 w 393"/>
                  <a:gd name="T89" fmla="*/ 143 h 272"/>
                  <a:gd name="T90" fmla="*/ 228 w 393"/>
                  <a:gd name="T91" fmla="*/ 178 h 272"/>
                  <a:gd name="T92" fmla="*/ 223 w 393"/>
                  <a:gd name="T93" fmla="*/ 254 h 272"/>
                  <a:gd name="T94" fmla="*/ 228 w 393"/>
                  <a:gd name="T95" fmla="*/ 263 h 272"/>
                  <a:gd name="T96" fmla="*/ 232 w 393"/>
                  <a:gd name="T97" fmla="*/ 268 h 272"/>
                  <a:gd name="T98" fmla="*/ 237 w 393"/>
                  <a:gd name="T99" fmla="*/ 272 h 272"/>
                  <a:gd name="T100" fmla="*/ 245 w 393"/>
                  <a:gd name="T101" fmla="*/ 272 h 272"/>
                  <a:gd name="T102" fmla="*/ 254 w 393"/>
                  <a:gd name="T103" fmla="*/ 272 h 272"/>
                  <a:gd name="T104" fmla="*/ 259 w 393"/>
                  <a:gd name="T105" fmla="*/ 268 h 272"/>
                  <a:gd name="T106" fmla="*/ 263 w 393"/>
                  <a:gd name="T107" fmla="*/ 263 h 272"/>
                  <a:gd name="T108" fmla="*/ 268 w 393"/>
                  <a:gd name="T109" fmla="*/ 254 h 272"/>
                  <a:gd name="T110" fmla="*/ 272 w 393"/>
                  <a:gd name="T111" fmla="*/ 201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2">
                    <a:moveTo>
                      <a:pt x="272" y="201"/>
                    </a:moveTo>
                    <a:lnTo>
                      <a:pt x="357" y="250"/>
                    </a:lnTo>
                    <a:lnTo>
                      <a:pt x="366" y="254"/>
                    </a:lnTo>
                    <a:lnTo>
                      <a:pt x="375" y="254"/>
                    </a:lnTo>
                    <a:lnTo>
                      <a:pt x="384" y="250"/>
                    </a:lnTo>
                    <a:lnTo>
                      <a:pt x="388" y="241"/>
                    </a:lnTo>
                    <a:lnTo>
                      <a:pt x="393" y="232"/>
                    </a:lnTo>
                    <a:lnTo>
                      <a:pt x="393" y="223"/>
                    </a:lnTo>
                    <a:lnTo>
                      <a:pt x="388" y="214"/>
                    </a:lnTo>
                    <a:lnTo>
                      <a:pt x="384" y="210"/>
                    </a:lnTo>
                    <a:lnTo>
                      <a:pt x="295" y="156"/>
                    </a:lnTo>
                    <a:lnTo>
                      <a:pt x="339" y="129"/>
                    </a:lnTo>
                    <a:lnTo>
                      <a:pt x="348" y="125"/>
                    </a:lnTo>
                    <a:lnTo>
                      <a:pt x="353" y="116"/>
                    </a:lnTo>
                    <a:lnTo>
                      <a:pt x="353" y="107"/>
                    </a:lnTo>
                    <a:lnTo>
                      <a:pt x="353" y="98"/>
                    </a:lnTo>
                    <a:lnTo>
                      <a:pt x="344" y="94"/>
                    </a:lnTo>
                    <a:lnTo>
                      <a:pt x="339" y="89"/>
                    </a:lnTo>
                    <a:lnTo>
                      <a:pt x="330" y="89"/>
                    </a:lnTo>
                    <a:lnTo>
                      <a:pt x="321" y="89"/>
                    </a:lnTo>
                    <a:lnTo>
                      <a:pt x="254" y="129"/>
                    </a:lnTo>
                    <a:lnTo>
                      <a:pt x="196" y="94"/>
                    </a:lnTo>
                    <a:lnTo>
                      <a:pt x="281" y="49"/>
                    </a:lnTo>
                    <a:lnTo>
                      <a:pt x="290" y="40"/>
                    </a:lnTo>
                    <a:lnTo>
                      <a:pt x="295" y="31"/>
                    </a:lnTo>
                    <a:lnTo>
                      <a:pt x="295" y="26"/>
                    </a:lnTo>
                    <a:lnTo>
                      <a:pt x="295" y="18"/>
                    </a:lnTo>
                    <a:lnTo>
                      <a:pt x="290" y="9"/>
                    </a:lnTo>
                    <a:lnTo>
                      <a:pt x="281" y="4"/>
                    </a:lnTo>
                    <a:lnTo>
                      <a:pt x="272" y="4"/>
                    </a:lnTo>
                    <a:lnTo>
                      <a:pt x="263" y="9"/>
                    </a:lnTo>
                    <a:lnTo>
                      <a:pt x="152" y="71"/>
                    </a:lnTo>
                    <a:lnTo>
                      <a:pt x="27" y="0"/>
                    </a:lnTo>
                    <a:lnTo>
                      <a:pt x="0" y="44"/>
                    </a:lnTo>
                    <a:lnTo>
                      <a:pt x="125" y="116"/>
                    </a:lnTo>
                    <a:lnTo>
                      <a:pt x="125" y="250"/>
                    </a:lnTo>
                    <a:lnTo>
                      <a:pt x="125" y="259"/>
                    </a:lnTo>
                    <a:lnTo>
                      <a:pt x="129" y="263"/>
                    </a:lnTo>
                    <a:lnTo>
                      <a:pt x="138" y="268"/>
                    </a:lnTo>
                    <a:lnTo>
                      <a:pt x="143" y="272"/>
                    </a:lnTo>
                    <a:lnTo>
                      <a:pt x="152" y="272"/>
                    </a:lnTo>
                    <a:lnTo>
                      <a:pt x="161" y="268"/>
                    </a:lnTo>
                    <a:lnTo>
                      <a:pt x="165" y="259"/>
                    </a:lnTo>
                    <a:lnTo>
                      <a:pt x="165" y="250"/>
                    </a:lnTo>
                    <a:lnTo>
                      <a:pt x="170" y="143"/>
                    </a:lnTo>
                    <a:lnTo>
                      <a:pt x="228" y="178"/>
                    </a:lnTo>
                    <a:lnTo>
                      <a:pt x="223" y="254"/>
                    </a:lnTo>
                    <a:lnTo>
                      <a:pt x="228" y="263"/>
                    </a:lnTo>
                    <a:lnTo>
                      <a:pt x="232" y="268"/>
                    </a:lnTo>
                    <a:lnTo>
                      <a:pt x="237" y="272"/>
                    </a:lnTo>
                    <a:lnTo>
                      <a:pt x="245" y="272"/>
                    </a:lnTo>
                    <a:lnTo>
                      <a:pt x="254" y="272"/>
                    </a:lnTo>
                    <a:lnTo>
                      <a:pt x="259" y="268"/>
                    </a:lnTo>
                    <a:lnTo>
                      <a:pt x="263" y="263"/>
                    </a:lnTo>
                    <a:lnTo>
                      <a:pt x="268" y="254"/>
                    </a:lnTo>
                    <a:lnTo>
                      <a:pt x="272" y="20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38" name="Freeform 48"/>
              <p:cNvSpPr>
                <a:spLocks/>
              </p:cNvSpPr>
              <p:nvPr/>
            </p:nvSpPr>
            <p:spPr bwMode="auto">
              <a:xfrm>
                <a:off x="1348" y="393"/>
                <a:ext cx="393" cy="277"/>
              </a:xfrm>
              <a:custGeom>
                <a:avLst/>
                <a:gdLst>
                  <a:gd name="T0" fmla="*/ 295 w 393"/>
                  <a:gd name="T1" fmla="*/ 121 h 277"/>
                  <a:gd name="T2" fmla="*/ 384 w 393"/>
                  <a:gd name="T3" fmla="*/ 72 h 277"/>
                  <a:gd name="T4" fmla="*/ 393 w 393"/>
                  <a:gd name="T5" fmla="*/ 63 h 277"/>
                  <a:gd name="T6" fmla="*/ 393 w 393"/>
                  <a:gd name="T7" fmla="*/ 54 h 277"/>
                  <a:gd name="T8" fmla="*/ 393 w 393"/>
                  <a:gd name="T9" fmla="*/ 49 h 277"/>
                  <a:gd name="T10" fmla="*/ 393 w 393"/>
                  <a:gd name="T11" fmla="*/ 40 h 277"/>
                  <a:gd name="T12" fmla="*/ 384 w 393"/>
                  <a:gd name="T13" fmla="*/ 31 h 277"/>
                  <a:gd name="T14" fmla="*/ 379 w 393"/>
                  <a:gd name="T15" fmla="*/ 27 h 277"/>
                  <a:gd name="T16" fmla="*/ 370 w 393"/>
                  <a:gd name="T17" fmla="*/ 27 h 277"/>
                  <a:gd name="T18" fmla="*/ 357 w 393"/>
                  <a:gd name="T19" fmla="*/ 27 h 277"/>
                  <a:gd name="T20" fmla="*/ 268 w 393"/>
                  <a:gd name="T21" fmla="*/ 81 h 277"/>
                  <a:gd name="T22" fmla="*/ 268 w 393"/>
                  <a:gd name="T23" fmla="*/ 27 h 277"/>
                  <a:gd name="T24" fmla="*/ 268 w 393"/>
                  <a:gd name="T25" fmla="*/ 14 h 277"/>
                  <a:gd name="T26" fmla="*/ 263 w 393"/>
                  <a:gd name="T27" fmla="*/ 9 h 277"/>
                  <a:gd name="T28" fmla="*/ 254 w 393"/>
                  <a:gd name="T29" fmla="*/ 5 h 277"/>
                  <a:gd name="T30" fmla="*/ 250 w 393"/>
                  <a:gd name="T31" fmla="*/ 0 h 277"/>
                  <a:gd name="T32" fmla="*/ 241 w 393"/>
                  <a:gd name="T33" fmla="*/ 5 h 277"/>
                  <a:gd name="T34" fmla="*/ 232 w 393"/>
                  <a:gd name="T35" fmla="*/ 5 h 277"/>
                  <a:gd name="T36" fmla="*/ 228 w 393"/>
                  <a:gd name="T37" fmla="*/ 14 h 277"/>
                  <a:gd name="T38" fmla="*/ 228 w 393"/>
                  <a:gd name="T39" fmla="*/ 23 h 277"/>
                  <a:gd name="T40" fmla="*/ 228 w 393"/>
                  <a:gd name="T41" fmla="*/ 99 h 277"/>
                  <a:gd name="T42" fmla="*/ 170 w 393"/>
                  <a:gd name="T43" fmla="*/ 134 h 277"/>
                  <a:gd name="T44" fmla="*/ 170 w 393"/>
                  <a:gd name="T45" fmla="*/ 36 h 277"/>
                  <a:gd name="T46" fmla="*/ 170 w 393"/>
                  <a:gd name="T47" fmla="*/ 27 h 277"/>
                  <a:gd name="T48" fmla="*/ 165 w 393"/>
                  <a:gd name="T49" fmla="*/ 18 h 277"/>
                  <a:gd name="T50" fmla="*/ 156 w 393"/>
                  <a:gd name="T51" fmla="*/ 14 h 277"/>
                  <a:gd name="T52" fmla="*/ 147 w 393"/>
                  <a:gd name="T53" fmla="*/ 9 h 277"/>
                  <a:gd name="T54" fmla="*/ 138 w 393"/>
                  <a:gd name="T55" fmla="*/ 9 h 277"/>
                  <a:gd name="T56" fmla="*/ 134 w 393"/>
                  <a:gd name="T57" fmla="*/ 14 h 277"/>
                  <a:gd name="T58" fmla="*/ 129 w 393"/>
                  <a:gd name="T59" fmla="*/ 23 h 277"/>
                  <a:gd name="T60" fmla="*/ 125 w 393"/>
                  <a:gd name="T61" fmla="*/ 31 h 277"/>
                  <a:gd name="T62" fmla="*/ 125 w 393"/>
                  <a:gd name="T63" fmla="*/ 161 h 277"/>
                  <a:gd name="T64" fmla="*/ 0 w 393"/>
                  <a:gd name="T65" fmla="*/ 233 h 277"/>
                  <a:gd name="T66" fmla="*/ 27 w 393"/>
                  <a:gd name="T67" fmla="*/ 277 h 277"/>
                  <a:gd name="T68" fmla="*/ 152 w 393"/>
                  <a:gd name="T69" fmla="*/ 206 h 277"/>
                  <a:gd name="T70" fmla="*/ 268 w 393"/>
                  <a:gd name="T71" fmla="*/ 273 h 277"/>
                  <a:gd name="T72" fmla="*/ 272 w 393"/>
                  <a:gd name="T73" fmla="*/ 277 h 277"/>
                  <a:gd name="T74" fmla="*/ 281 w 393"/>
                  <a:gd name="T75" fmla="*/ 277 h 277"/>
                  <a:gd name="T76" fmla="*/ 290 w 393"/>
                  <a:gd name="T77" fmla="*/ 273 h 277"/>
                  <a:gd name="T78" fmla="*/ 295 w 393"/>
                  <a:gd name="T79" fmla="*/ 268 h 277"/>
                  <a:gd name="T80" fmla="*/ 299 w 393"/>
                  <a:gd name="T81" fmla="*/ 259 h 277"/>
                  <a:gd name="T82" fmla="*/ 299 w 393"/>
                  <a:gd name="T83" fmla="*/ 251 h 277"/>
                  <a:gd name="T84" fmla="*/ 295 w 393"/>
                  <a:gd name="T85" fmla="*/ 242 h 277"/>
                  <a:gd name="T86" fmla="*/ 286 w 393"/>
                  <a:gd name="T87" fmla="*/ 237 h 277"/>
                  <a:gd name="T88" fmla="*/ 196 w 393"/>
                  <a:gd name="T89" fmla="*/ 179 h 277"/>
                  <a:gd name="T90" fmla="*/ 254 w 393"/>
                  <a:gd name="T91" fmla="*/ 148 h 277"/>
                  <a:gd name="T92" fmla="*/ 321 w 393"/>
                  <a:gd name="T93" fmla="*/ 188 h 277"/>
                  <a:gd name="T94" fmla="*/ 330 w 393"/>
                  <a:gd name="T95" fmla="*/ 192 h 277"/>
                  <a:gd name="T96" fmla="*/ 335 w 393"/>
                  <a:gd name="T97" fmla="*/ 192 h 277"/>
                  <a:gd name="T98" fmla="*/ 344 w 393"/>
                  <a:gd name="T99" fmla="*/ 188 h 277"/>
                  <a:gd name="T100" fmla="*/ 348 w 393"/>
                  <a:gd name="T101" fmla="*/ 179 h 277"/>
                  <a:gd name="T102" fmla="*/ 348 w 393"/>
                  <a:gd name="T103" fmla="*/ 175 h 277"/>
                  <a:gd name="T104" fmla="*/ 348 w 393"/>
                  <a:gd name="T105" fmla="*/ 166 h 277"/>
                  <a:gd name="T106" fmla="*/ 348 w 393"/>
                  <a:gd name="T107" fmla="*/ 157 h 277"/>
                  <a:gd name="T108" fmla="*/ 339 w 393"/>
                  <a:gd name="T109" fmla="*/ 152 h 277"/>
                  <a:gd name="T110" fmla="*/ 295 w 393"/>
                  <a:gd name="T111" fmla="*/ 121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7">
                    <a:moveTo>
                      <a:pt x="295" y="121"/>
                    </a:moveTo>
                    <a:lnTo>
                      <a:pt x="384" y="72"/>
                    </a:lnTo>
                    <a:lnTo>
                      <a:pt x="393" y="63"/>
                    </a:lnTo>
                    <a:lnTo>
                      <a:pt x="393" y="54"/>
                    </a:lnTo>
                    <a:lnTo>
                      <a:pt x="393" y="49"/>
                    </a:lnTo>
                    <a:lnTo>
                      <a:pt x="393" y="40"/>
                    </a:lnTo>
                    <a:lnTo>
                      <a:pt x="384" y="31"/>
                    </a:lnTo>
                    <a:lnTo>
                      <a:pt x="379" y="27"/>
                    </a:lnTo>
                    <a:lnTo>
                      <a:pt x="370" y="27"/>
                    </a:lnTo>
                    <a:lnTo>
                      <a:pt x="357" y="27"/>
                    </a:lnTo>
                    <a:lnTo>
                      <a:pt x="268" y="81"/>
                    </a:lnTo>
                    <a:lnTo>
                      <a:pt x="268" y="27"/>
                    </a:lnTo>
                    <a:lnTo>
                      <a:pt x="268" y="14"/>
                    </a:lnTo>
                    <a:lnTo>
                      <a:pt x="263" y="9"/>
                    </a:lnTo>
                    <a:lnTo>
                      <a:pt x="254" y="5"/>
                    </a:lnTo>
                    <a:lnTo>
                      <a:pt x="250" y="0"/>
                    </a:lnTo>
                    <a:lnTo>
                      <a:pt x="241" y="5"/>
                    </a:lnTo>
                    <a:lnTo>
                      <a:pt x="232" y="5"/>
                    </a:lnTo>
                    <a:lnTo>
                      <a:pt x="228" y="14"/>
                    </a:lnTo>
                    <a:lnTo>
                      <a:pt x="228" y="23"/>
                    </a:lnTo>
                    <a:lnTo>
                      <a:pt x="228" y="99"/>
                    </a:lnTo>
                    <a:lnTo>
                      <a:pt x="170" y="134"/>
                    </a:lnTo>
                    <a:lnTo>
                      <a:pt x="170" y="36"/>
                    </a:lnTo>
                    <a:lnTo>
                      <a:pt x="170" y="27"/>
                    </a:lnTo>
                    <a:lnTo>
                      <a:pt x="165" y="18"/>
                    </a:lnTo>
                    <a:lnTo>
                      <a:pt x="156" y="14"/>
                    </a:lnTo>
                    <a:lnTo>
                      <a:pt x="147" y="9"/>
                    </a:lnTo>
                    <a:lnTo>
                      <a:pt x="138" y="9"/>
                    </a:lnTo>
                    <a:lnTo>
                      <a:pt x="134" y="14"/>
                    </a:lnTo>
                    <a:lnTo>
                      <a:pt x="129" y="23"/>
                    </a:lnTo>
                    <a:lnTo>
                      <a:pt x="125" y="31"/>
                    </a:lnTo>
                    <a:lnTo>
                      <a:pt x="125" y="161"/>
                    </a:lnTo>
                    <a:lnTo>
                      <a:pt x="0" y="233"/>
                    </a:lnTo>
                    <a:lnTo>
                      <a:pt x="27" y="277"/>
                    </a:lnTo>
                    <a:lnTo>
                      <a:pt x="152" y="206"/>
                    </a:lnTo>
                    <a:lnTo>
                      <a:pt x="268" y="273"/>
                    </a:lnTo>
                    <a:lnTo>
                      <a:pt x="272" y="277"/>
                    </a:lnTo>
                    <a:lnTo>
                      <a:pt x="281" y="277"/>
                    </a:lnTo>
                    <a:lnTo>
                      <a:pt x="290" y="273"/>
                    </a:lnTo>
                    <a:lnTo>
                      <a:pt x="295" y="268"/>
                    </a:lnTo>
                    <a:lnTo>
                      <a:pt x="299" y="259"/>
                    </a:lnTo>
                    <a:lnTo>
                      <a:pt x="299" y="251"/>
                    </a:lnTo>
                    <a:lnTo>
                      <a:pt x="295" y="242"/>
                    </a:lnTo>
                    <a:lnTo>
                      <a:pt x="286" y="237"/>
                    </a:lnTo>
                    <a:lnTo>
                      <a:pt x="196" y="179"/>
                    </a:lnTo>
                    <a:lnTo>
                      <a:pt x="254" y="148"/>
                    </a:lnTo>
                    <a:lnTo>
                      <a:pt x="321" y="188"/>
                    </a:lnTo>
                    <a:lnTo>
                      <a:pt x="330" y="192"/>
                    </a:lnTo>
                    <a:lnTo>
                      <a:pt x="335" y="192"/>
                    </a:lnTo>
                    <a:lnTo>
                      <a:pt x="344" y="188"/>
                    </a:lnTo>
                    <a:lnTo>
                      <a:pt x="348" y="179"/>
                    </a:lnTo>
                    <a:lnTo>
                      <a:pt x="348" y="175"/>
                    </a:lnTo>
                    <a:lnTo>
                      <a:pt x="348" y="166"/>
                    </a:lnTo>
                    <a:lnTo>
                      <a:pt x="348" y="157"/>
                    </a:lnTo>
                    <a:lnTo>
                      <a:pt x="339" y="152"/>
                    </a:lnTo>
                    <a:lnTo>
                      <a:pt x="295" y="12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39" name="Freeform 49"/>
              <p:cNvSpPr>
                <a:spLocks/>
              </p:cNvSpPr>
              <p:nvPr/>
            </p:nvSpPr>
            <p:spPr bwMode="auto">
              <a:xfrm>
                <a:off x="1232" y="536"/>
                <a:ext cx="263" cy="228"/>
              </a:xfrm>
              <a:custGeom>
                <a:avLst/>
                <a:gdLst>
                  <a:gd name="T0" fmla="*/ 0 w 263"/>
                  <a:gd name="T1" fmla="*/ 116 h 228"/>
                  <a:gd name="T2" fmla="*/ 49 w 263"/>
                  <a:gd name="T3" fmla="*/ 67 h 228"/>
                  <a:gd name="T4" fmla="*/ 67 w 263"/>
                  <a:gd name="T5" fmla="*/ 0 h 228"/>
                  <a:gd name="T6" fmla="*/ 134 w 263"/>
                  <a:gd name="T7" fmla="*/ 23 h 228"/>
                  <a:gd name="T8" fmla="*/ 201 w 263"/>
                  <a:gd name="T9" fmla="*/ 0 h 228"/>
                  <a:gd name="T10" fmla="*/ 214 w 263"/>
                  <a:gd name="T11" fmla="*/ 67 h 228"/>
                  <a:gd name="T12" fmla="*/ 263 w 263"/>
                  <a:gd name="T13" fmla="*/ 116 h 228"/>
                  <a:gd name="T14" fmla="*/ 214 w 263"/>
                  <a:gd name="T15" fmla="*/ 161 h 228"/>
                  <a:gd name="T16" fmla="*/ 201 w 263"/>
                  <a:gd name="T17" fmla="*/ 228 h 228"/>
                  <a:gd name="T18" fmla="*/ 134 w 263"/>
                  <a:gd name="T19" fmla="*/ 210 h 228"/>
                  <a:gd name="T20" fmla="*/ 67 w 263"/>
                  <a:gd name="T21" fmla="*/ 228 h 228"/>
                  <a:gd name="T22" fmla="*/ 49 w 263"/>
                  <a:gd name="T23" fmla="*/ 161 h 228"/>
                  <a:gd name="T24" fmla="*/ 0 w 263"/>
                  <a:gd name="T25" fmla="*/ 116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3" h="228">
                    <a:moveTo>
                      <a:pt x="0" y="116"/>
                    </a:moveTo>
                    <a:lnTo>
                      <a:pt x="49" y="67"/>
                    </a:lnTo>
                    <a:lnTo>
                      <a:pt x="67" y="0"/>
                    </a:lnTo>
                    <a:lnTo>
                      <a:pt x="134" y="23"/>
                    </a:lnTo>
                    <a:lnTo>
                      <a:pt x="201" y="0"/>
                    </a:lnTo>
                    <a:lnTo>
                      <a:pt x="214" y="67"/>
                    </a:lnTo>
                    <a:lnTo>
                      <a:pt x="263" y="116"/>
                    </a:lnTo>
                    <a:lnTo>
                      <a:pt x="214" y="161"/>
                    </a:lnTo>
                    <a:lnTo>
                      <a:pt x="201" y="228"/>
                    </a:lnTo>
                    <a:lnTo>
                      <a:pt x="134" y="210"/>
                    </a:lnTo>
                    <a:lnTo>
                      <a:pt x="67" y="228"/>
                    </a:lnTo>
                    <a:lnTo>
                      <a:pt x="49" y="161"/>
                    </a:lnTo>
                    <a:lnTo>
                      <a:pt x="0" y="116"/>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grpSp>
      </p:grpSp>
      <p:grpSp>
        <p:nvGrpSpPr>
          <p:cNvPr id="40" name="组合 39"/>
          <p:cNvGrpSpPr/>
          <p:nvPr/>
        </p:nvGrpSpPr>
        <p:grpSpPr>
          <a:xfrm>
            <a:off x="2814464" y="5123656"/>
            <a:ext cx="3269704" cy="609600"/>
            <a:chOff x="2814464" y="4280459"/>
            <a:chExt cx="3269704" cy="609600"/>
          </a:xfrm>
        </p:grpSpPr>
        <p:sp>
          <p:nvSpPr>
            <p:cNvPr id="41" name="TextBox 40"/>
            <p:cNvSpPr txBox="1"/>
            <p:nvPr/>
          </p:nvSpPr>
          <p:spPr>
            <a:xfrm>
              <a:off x="3389722" y="4337272"/>
              <a:ext cx="2694446" cy="523220"/>
            </a:xfrm>
            <a:prstGeom prst="rect">
              <a:avLst/>
            </a:prstGeom>
            <a:noFill/>
          </p:spPr>
          <p:txBody>
            <a:bodyPr wrap="square" rtlCol="0">
              <a:spAutoFit/>
            </a:bodyPr>
            <a:lstStyle/>
            <a:p>
              <a:r>
                <a:rPr lang="zh-CN" altLang="en-US" sz="2800" dirty="0" smtClean="0">
                  <a:latin typeface="微软雅黑" pitchFamily="34" charset="-122"/>
                  <a:ea typeface="微软雅黑" pitchFamily="34" charset="-122"/>
                </a:rPr>
                <a:t>残次品管理规定</a:t>
              </a:r>
              <a:endParaRPr lang="zh-CN" altLang="en-US" sz="2800" dirty="0">
                <a:latin typeface="微软雅黑" pitchFamily="34" charset="-122"/>
                <a:ea typeface="微软雅黑" pitchFamily="34" charset="-122"/>
              </a:endParaRPr>
            </a:p>
          </p:txBody>
        </p:sp>
        <p:grpSp>
          <p:nvGrpSpPr>
            <p:cNvPr id="42" name="Group 42"/>
            <p:cNvGrpSpPr>
              <a:grpSpLocks/>
            </p:cNvGrpSpPr>
            <p:nvPr/>
          </p:nvGrpSpPr>
          <p:grpSpPr bwMode="auto">
            <a:xfrm>
              <a:off x="2814464" y="4280459"/>
              <a:ext cx="533400" cy="609600"/>
              <a:chOff x="982" y="214"/>
              <a:chExt cx="759" cy="872"/>
            </a:xfrm>
          </p:grpSpPr>
          <p:sp>
            <p:nvSpPr>
              <p:cNvPr id="43" name="Freeform 43"/>
              <p:cNvSpPr>
                <a:spLocks/>
              </p:cNvSpPr>
              <p:nvPr/>
            </p:nvSpPr>
            <p:spPr bwMode="auto">
              <a:xfrm>
                <a:off x="1214" y="214"/>
                <a:ext cx="299" cy="434"/>
              </a:xfrm>
              <a:custGeom>
                <a:avLst/>
                <a:gdLst>
                  <a:gd name="T0" fmla="*/ 174 w 299"/>
                  <a:gd name="T1" fmla="*/ 121 h 434"/>
                  <a:gd name="T2" fmla="*/ 174 w 299"/>
                  <a:gd name="T3" fmla="*/ 23 h 434"/>
                  <a:gd name="T4" fmla="*/ 170 w 299"/>
                  <a:gd name="T5" fmla="*/ 9 h 434"/>
                  <a:gd name="T6" fmla="*/ 165 w 299"/>
                  <a:gd name="T7" fmla="*/ 5 h 434"/>
                  <a:gd name="T8" fmla="*/ 156 w 299"/>
                  <a:gd name="T9" fmla="*/ 0 h 434"/>
                  <a:gd name="T10" fmla="*/ 152 w 299"/>
                  <a:gd name="T11" fmla="*/ 0 h 434"/>
                  <a:gd name="T12" fmla="*/ 143 w 299"/>
                  <a:gd name="T13" fmla="*/ 0 h 434"/>
                  <a:gd name="T14" fmla="*/ 134 w 299"/>
                  <a:gd name="T15" fmla="*/ 5 h 434"/>
                  <a:gd name="T16" fmla="*/ 125 w 299"/>
                  <a:gd name="T17" fmla="*/ 9 h 434"/>
                  <a:gd name="T18" fmla="*/ 125 w 299"/>
                  <a:gd name="T19" fmla="*/ 23 h 434"/>
                  <a:gd name="T20" fmla="*/ 125 w 299"/>
                  <a:gd name="T21" fmla="*/ 126 h 434"/>
                  <a:gd name="T22" fmla="*/ 76 w 299"/>
                  <a:gd name="T23" fmla="*/ 99 h 434"/>
                  <a:gd name="T24" fmla="*/ 67 w 299"/>
                  <a:gd name="T25" fmla="*/ 94 h 434"/>
                  <a:gd name="T26" fmla="*/ 58 w 299"/>
                  <a:gd name="T27" fmla="*/ 94 h 434"/>
                  <a:gd name="T28" fmla="*/ 49 w 299"/>
                  <a:gd name="T29" fmla="*/ 99 h 434"/>
                  <a:gd name="T30" fmla="*/ 45 w 299"/>
                  <a:gd name="T31" fmla="*/ 103 h 434"/>
                  <a:gd name="T32" fmla="*/ 40 w 299"/>
                  <a:gd name="T33" fmla="*/ 112 h 434"/>
                  <a:gd name="T34" fmla="*/ 45 w 299"/>
                  <a:gd name="T35" fmla="*/ 117 h 434"/>
                  <a:gd name="T36" fmla="*/ 45 w 299"/>
                  <a:gd name="T37" fmla="*/ 126 h 434"/>
                  <a:gd name="T38" fmla="*/ 54 w 299"/>
                  <a:gd name="T39" fmla="*/ 134 h 434"/>
                  <a:gd name="T40" fmla="*/ 121 w 299"/>
                  <a:gd name="T41" fmla="*/ 170 h 434"/>
                  <a:gd name="T42" fmla="*/ 121 w 299"/>
                  <a:gd name="T43" fmla="*/ 242 h 434"/>
                  <a:gd name="T44" fmla="*/ 36 w 299"/>
                  <a:gd name="T45" fmla="*/ 188 h 434"/>
                  <a:gd name="T46" fmla="*/ 27 w 299"/>
                  <a:gd name="T47" fmla="*/ 184 h 434"/>
                  <a:gd name="T48" fmla="*/ 18 w 299"/>
                  <a:gd name="T49" fmla="*/ 184 h 434"/>
                  <a:gd name="T50" fmla="*/ 9 w 299"/>
                  <a:gd name="T51" fmla="*/ 188 h 434"/>
                  <a:gd name="T52" fmla="*/ 5 w 299"/>
                  <a:gd name="T53" fmla="*/ 193 h 434"/>
                  <a:gd name="T54" fmla="*/ 0 w 299"/>
                  <a:gd name="T55" fmla="*/ 202 h 434"/>
                  <a:gd name="T56" fmla="*/ 0 w 299"/>
                  <a:gd name="T57" fmla="*/ 210 h 434"/>
                  <a:gd name="T58" fmla="*/ 5 w 299"/>
                  <a:gd name="T59" fmla="*/ 219 h 434"/>
                  <a:gd name="T60" fmla="*/ 14 w 299"/>
                  <a:gd name="T61" fmla="*/ 224 h 434"/>
                  <a:gd name="T62" fmla="*/ 121 w 299"/>
                  <a:gd name="T63" fmla="*/ 291 h 434"/>
                  <a:gd name="T64" fmla="*/ 121 w 299"/>
                  <a:gd name="T65" fmla="*/ 434 h 434"/>
                  <a:gd name="T66" fmla="*/ 174 w 299"/>
                  <a:gd name="T67" fmla="*/ 434 h 434"/>
                  <a:gd name="T68" fmla="*/ 174 w 299"/>
                  <a:gd name="T69" fmla="*/ 291 h 434"/>
                  <a:gd name="T70" fmla="*/ 290 w 299"/>
                  <a:gd name="T71" fmla="*/ 224 h 434"/>
                  <a:gd name="T72" fmla="*/ 295 w 299"/>
                  <a:gd name="T73" fmla="*/ 219 h 434"/>
                  <a:gd name="T74" fmla="*/ 299 w 299"/>
                  <a:gd name="T75" fmla="*/ 210 h 434"/>
                  <a:gd name="T76" fmla="*/ 299 w 299"/>
                  <a:gd name="T77" fmla="*/ 202 h 434"/>
                  <a:gd name="T78" fmla="*/ 299 w 299"/>
                  <a:gd name="T79" fmla="*/ 197 h 434"/>
                  <a:gd name="T80" fmla="*/ 295 w 299"/>
                  <a:gd name="T81" fmla="*/ 188 h 434"/>
                  <a:gd name="T82" fmla="*/ 286 w 299"/>
                  <a:gd name="T83" fmla="*/ 184 h 434"/>
                  <a:gd name="T84" fmla="*/ 277 w 299"/>
                  <a:gd name="T85" fmla="*/ 184 h 434"/>
                  <a:gd name="T86" fmla="*/ 268 w 299"/>
                  <a:gd name="T87" fmla="*/ 188 h 434"/>
                  <a:gd name="T88" fmla="*/ 174 w 299"/>
                  <a:gd name="T89" fmla="*/ 237 h 434"/>
                  <a:gd name="T90" fmla="*/ 174 w 299"/>
                  <a:gd name="T91" fmla="*/ 170 h 434"/>
                  <a:gd name="T92" fmla="*/ 246 w 299"/>
                  <a:gd name="T93" fmla="*/ 134 h 434"/>
                  <a:gd name="T94" fmla="*/ 250 w 299"/>
                  <a:gd name="T95" fmla="*/ 130 h 434"/>
                  <a:gd name="T96" fmla="*/ 255 w 299"/>
                  <a:gd name="T97" fmla="*/ 121 h 434"/>
                  <a:gd name="T98" fmla="*/ 255 w 299"/>
                  <a:gd name="T99" fmla="*/ 112 h 434"/>
                  <a:gd name="T100" fmla="*/ 250 w 299"/>
                  <a:gd name="T101" fmla="*/ 108 h 434"/>
                  <a:gd name="T102" fmla="*/ 246 w 299"/>
                  <a:gd name="T103" fmla="*/ 103 h 434"/>
                  <a:gd name="T104" fmla="*/ 237 w 299"/>
                  <a:gd name="T105" fmla="*/ 99 h 434"/>
                  <a:gd name="T106" fmla="*/ 232 w 299"/>
                  <a:gd name="T107" fmla="*/ 99 h 434"/>
                  <a:gd name="T108" fmla="*/ 223 w 299"/>
                  <a:gd name="T109" fmla="*/ 99 h 434"/>
                  <a:gd name="T110" fmla="*/ 174 w 299"/>
                  <a:gd name="T111" fmla="*/ 121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99" h="434">
                    <a:moveTo>
                      <a:pt x="174" y="121"/>
                    </a:moveTo>
                    <a:lnTo>
                      <a:pt x="174" y="23"/>
                    </a:lnTo>
                    <a:lnTo>
                      <a:pt x="170" y="9"/>
                    </a:lnTo>
                    <a:lnTo>
                      <a:pt x="165" y="5"/>
                    </a:lnTo>
                    <a:lnTo>
                      <a:pt x="156" y="0"/>
                    </a:lnTo>
                    <a:lnTo>
                      <a:pt x="152" y="0"/>
                    </a:lnTo>
                    <a:lnTo>
                      <a:pt x="143" y="0"/>
                    </a:lnTo>
                    <a:lnTo>
                      <a:pt x="134" y="5"/>
                    </a:lnTo>
                    <a:lnTo>
                      <a:pt x="125" y="9"/>
                    </a:lnTo>
                    <a:lnTo>
                      <a:pt x="125" y="23"/>
                    </a:lnTo>
                    <a:lnTo>
                      <a:pt x="125" y="126"/>
                    </a:lnTo>
                    <a:lnTo>
                      <a:pt x="76" y="99"/>
                    </a:lnTo>
                    <a:lnTo>
                      <a:pt x="67" y="94"/>
                    </a:lnTo>
                    <a:lnTo>
                      <a:pt x="58" y="94"/>
                    </a:lnTo>
                    <a:lnTo>
                      <a:pt x="49" y="99"/>
                    </a:lnTo>
                    <a:lnTo>
                      <a:pt x="45" y="103"/>
                    </a:lnTo>
                    <a:lnTo>
                      <a:pt x="40" y="112"/>
                    </a:lnTo>
                    <a:lnTo>
                      <a:pt x="45" y="117"/>
                    </a:lnTo>
                    <a:lnTo>
                      <a:pt x="45" y="126"/>
                    </a:lnTo>
                    <a:lnTo>
                      <a:pt x="54" y="134"/>
                    </a:lnTo>
                    <a:lnTo>
                      <a:pt x="121" y="170"/>
                    </a:lnTo>
                    <a:lnTo>
                      <a:pt x="121" y="242"/>
                    </a:lnTo>
                    <a:lnTo>
                      <a:pt x="36" y="188"/>
                    </a:lnTo>
                    <a:lnTo>
                      <a:pt x="27" y="184"/>
                    </a:lnTo>
                    <a:lnTo>
                      <a:pt x="18" y="184"/>
                    </a:lnTo>
                    <a:lnTo>
                      <a:pt x="9" y="188"/>
                    </a:lnTo>
                    <a:lnTo>
                      <a:pt x="5" y="193"/>
                    </a:lnTo>
                    <a:lnTo>
                      <a:pt x="0" y="202"/>
                    </a:lnTo>
                    <a:lnTo>
                      <a:pt x="0" y="210"/>
                    </a:lnTo>
                    <a:lnTo>
                      <a:pt x="5" y="219"/>
                    </a:lnTo>
                    <a:lnTo>
                      <a:pt x="14" y="224"/>
                    </a:lnTo>
                    <a:lnTo>
                      <a:pt x="121" y="291"/>
                    </a:lnTo>
                    <a:lnTo>
                      <a:pt x="121" y="434"/>
                    </a:lnTo>
                    <a:lnTo>
                      <a:pt x="174" y="434"/>
                    </a:lnTo>
                    <a:lnTo>
                      <a:pt x="174" y="291"/>
                    </a:lnTo>
                    <a:lnTo>
                      <a:pt x="290" y="224"/>
                    </a:lnTo>
                    <a:lnTo>
                      <a:pt x="295" y="219"/>
                    </a:lnTo>
                    <a:lnTo>
                      <a:pt x="299" y="210"/>
                    </a:lnTo>
                    <a:lnTo>
                      <a:pt x="299" y="202"/>
                    </a:lnTo>
                    <a:lnTo>
                      <a:pt x="299" y="197"/>
                    </a:lnTo>
                    <a:lnTo>
                      <a:pt x="295" y="188"/>
                    </a:lnTo>
                    <a:lnTo>
                      <a:pt x="286" y="184"/>
                    </a:lnTo>
                    <a:lnTo>
                      <a:pt x="277" y="184"/>
                    </a:lnTo>
                    <a:lnTo>
                      <a:pt x="268" y="188"/>
                    </a:lnTo>
                    <a:lnTo>
                      <a:pt x="174" y="237"/>
                    </a:lnTo>
                    <a:lnTo>
                      <a:pt x="174" y="170"/>
                    </a:lnTo>
                    <a:lnTo>
                      <a:pt x="246" y="134"/>
                    </a:lnTo>
                    <a:lnTo>
                      <a:pt x="250" y="130"/>
                    </a:lnTo>
                    <a:lnTo>
                      <a:pt x="255" y="121"/>
                    </a:lnTo>
                    <a:lnTo>
                      <a:pt x="255" y="112"/>
                    </a:lnTo>
                    <a:lnTo>
                      <a:pt x="250" y="108"/>
                    </a:lnTo>
                    <a:lnTo>
                      <a:pt x="246" y="103"/>
                    </a:lnTo>
                    <a:lnTo>
                      <a:pt x="237" y="99"/>
                    </a:lnTo>
                    <a:lnTo>
                      <a:pt x="232" y="99"/>
                    </a:lnTo>
                    <a:lnTo>
                      <a:pt x="223" y="99"/>
                    </a:lnTo>
                    <a:lnTo>
                      <a:pt x="174" y="12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44" name="Freeform 44"/>
              <p:cNvSpPr>
                <a:spLocks/>
              </p:cNvSpPr>
              <p:nvPr/>
            </p:nvSpPr>
            <p:spPr bwMode="auto">
              <a:xfrm>
                <a:off x="982" y="398"/>
                <a:ext cx="393" cy="272"/>
              </a:xfrm>
              <a:custGeom>
                <a:avLst/>
                <a:gdLst>
                  <a:gd name="T0" fmla="*/ 121 w 393"/>
                  <a:gd name="T1" fmla="*/ 71 h 272"/>
                  <a:gd name="T2" fmla="*/ 36 w 393"/>
                  <a:gd name="T3" fmla="*/ 22 h 272"/>
                  <a:gd name="T4" fmla="*/ 27 w 393"/>
                  <a:gd name="T5" fmla="*/ 18 h 272"/>
                  <a:gd name="T6" fmla="*/ 18 w 393"/>
                  <a:gd name="T7" fmla="*/ 18 h 272"/>
                  <a:gd name="T8" fmla="*/ 9 w 393"/>
                  <a:gd name="T9" fmla="*/ 22 h 272"/>
                  <a:gd name="T10" fmla="*/ 5 w 393"/>
                  <a:gd name="T11" fmla="*/ 31 h 272"/>
                  <a:gd name="T12" fmla="*/ 0 w 393"/>
                  <a:gd name="T13" fmla="*/ 40 h 272"/>
                  <a:gd name="T14" fmla="*/ 0 w 393"/>
                  <a:gd name="T15" fmla="*/ 49 h 272"/>
                  <a:gd name="T16" fmla="*/ 5 w 393"/>
                  <a:gd name="T17" fmla="*/ 58 h 272"/>
                  <a:gd name="T18" fmla="*/ 9 w 393"/>
                  <a:gd name="T19" fmla="*/ 62 h 272"/>
                  <a:gd name="T20" fmla="*/ 98 w 393"/>
                  <a:gd name="T21" fmla="*/ 116 h 272"/>
                  <a:gd name="T22" fmla="*/ 54 w 393"/>
                  <a:gd name="T23" fmla="*/ 143 h 272"/>
                  <a:gd name="T24" fmla="*/ 45 w 393"/>
                  <a:gd name="T25" fmla="*/ 147 h 272"/>
                  <a:gd name="T26" fmla="*/ 40 w 393"/>
                  <a:gd name="T27" fmla="*/ 156 h 272"/>
                  <a:gd name="T28" fmla="*/ 40 w 393"/>
                  <a:gd name="T29" fmla="*/ 165 h 272"/>
                  <a:gd name="T30" fmla="*/ 40 w 393"/>
                  <a:gd name="T31" fmla="*/ 174 h 272"/>
                  <a:gd name="T32" fmla="*/ 49 w 393"/>
                  <a:gd name="T33" fmla="*/ 178 h 272"/>
                  <a:gd name="T34" fmla="*/ 54 w 393"/>
                  <a:gd name="T35" fmla="*/ 183 h 272"/>
                  <a:gd name="T36" fmla="*/ 63 w 393"/>
                  <a:gd name="T37" fmla="*/ 183 h 272"/>
                  <a:gd name="T38" fmla="*/ 72 w 393"/>
                  <a:gd name="T39" fmla="*/ 183 h 272"/>
                  <a:gd name="T40" fmla="*/ 139 w 393"/>
                  <a:gd name="T41" fmla="*/ 143 h 272"/>
                  <a:gd name="T42" fmla="*/ 197 w 393"/>
                  <a:gd name="T43" fmla="*/ 178 h 272"/>
                  <a:gd name="T44" fmla="*/ 112 w 393"/>
                  <a:gd name="T45" fmla="*/ 223 h 272"/>
                  <a:gd name="T46" fmla="*/ 103 w 393"/>
                  <a:gd name="T47" fmla="*/ 232 h 272"/>
                  <a:gd name="T48" fmla="*/ 98 w 393"/>
                  <a:gd name="T49" fmla="*/ 241 h 272"/>
                  <a:gd name="T50" fmla="*/ 98 w 393"/>
                  <a:gd name="T51" fmla="*/ 246 h 272"/>
                  <a:gd name="T52" fmla="*/ 98 w 393"/>
                  <a:gd name="T53" fmla="*/ 254 h 272"/>
                  <a:gd name="T54" fmla="*/ 103 w 393"/>
                  <a:gd name="T55" fmla="*/ 263 h 272"/>
                  <a:gd name="T56" fmla="*/ 112 w 393"/>
                  <a:gd name="T57" fmla="*/ 268 h 272"/>
                  <a:gd name="T58" fmla="*/ 121 w 393"/>
                  <a:gd name="T59" fmla="*/ 268 h 272"/>
                  <a:gd name="T60" fmla="*/ 130 w 393"/>
                  <a:gd name="T61" fmla="*/ 263 h 272"/>
                  <a:gd name="T62" fmla="*/ 241 w 393"/>
                  <a:gd name="T63" fmla="*/ 201 h 272"/>
                  <a:gd name="T64" fmla="*/ 366 w 393"/>
                  <a:gd name="T65" fmla="*/ 272 h 272"/>
                  <a:gd name="T66" fmla="*/ 393 w 393"/>
                  <a:gd name="T67" fmla="*/ 228 h 272"/>
                  <a:gd name="T68" fmla="*/ 268 w 393"/>
                  <a:gd name="T69" fmla="*/ 156 h 272"/>
                  <a:gd name="T70" fmla="*/ 268 w 393"/>
                  <a:gd name="T71" fmla="*/ 22 h 272"/>
                  <a:gd name="T72" fmla="*/ 268 w 393"/>
                  <a:gd name="T73" fmla="*/ 13 h 272"/>
                  <a:gd name="T74" fmla="*/ 264 w 393"/>
                  <a:gd name="T75" fmla="*/ 9 h 272"/>
                  <a:gd name="T76" fmla="*/ 255 w 393"/>
                  <a:gd name="T77" fmla="*/ 4 h 272"/>
                  <a:gd name="T78" fmla="*/ 250 w 393"/>
                  <a:gd name="T79" fmla="*/ 0 h 272"/>
                  <a:gd name="T80" fmla="*/ 241 w 393"/>
                  <a:gd name="T81" fmla="*/ 0 h 272"/>
                  <a:gd name="T82" fmla="*/ 232 w 393"/>
                  <a:gd name="T83" fmla="*/ 4 h 272"/>
                  <a:gd name="T84" fmla="*/ 228 w 393"/>
                  <a:gd name="T85" fmla="*/ 13 h 272"/>
                  <a:gd name="T86" fmla="*/ 228 w 393"/>
                  <a:gd name="T87" fmla="*/ 22 h 272"/>
                  <a:gd name="T88" fmla="*/ 223 w 393"/>
                  <a:gd name="T89" fmla="*/ 129 h 272"/>
                  <a:gd name="T90" fmla="*/ 165 w 393"/>
                  <a:gd name="T91" fmla="*/ 94 h 272"/>
                  <a:gd name="T92" fmla="*/ 170 w 393"/>
                  <a:gd name="T93" fmla="*/ 18 h 272"/>
                  <a:gd name="T94" fmla="*/ 165 w 393"/>
                  <a:gd name="T95" fmla="*/ 9 h 272"/>
                  <a:gd name="T96" fmla="*/ 161 w 393"/>
                  <a:gd name="T97" fmla="*/ 4 h 272"/>
                  <a:gd name="T98" fmla="*/ 156 w 393"/>
                  <a:gd name="T99" fmla="*/ 0 h 272"/>
                  <a:gd name="T100" fmla="*/ 148 w 393"/>
                  <a:gd name="T101" fmla="*/ 0 h 272"/>
                  <a:gd name="T102" fmla="*/ 139 w 393"/>
                  <a:gd name="T103" fmla="*/ 0 h 272"/>
                  <a:gd name="T104" fmla="*/ 134 w 393"/>
                  <a:gd name="T105" fmla="*/ 4 h 272"/>
                  <a:gd name="T106" fmla="*/ 130 w 393"/>
                  <a:gd name="T107" fmla="*/ 9 h 272"/>
                  <a:gd name="T108" fmla="*/ 125 w 393"/>
                  <a:gd name="T109" fmla="*/ 18 h 272"/>
                  <a:gd name="T110" fmla="*/ 121 w 393"/>
                  <a:gd name="T111" fmla="*/ 71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2">
                    <a:moveTo>
                      <a:pt x="121" y="71"/>
                    </a:moveTo>
                    <a:lnTo>
                      <a:pt x="36" y="22"/>
                    </a:lnTo>
                    <a:lnTo>
                      <a:pt x="27" y="18"/>
                    </a:lnTo>
                    <a:lnTo>
                      <a:pt x="18" y="18"/>
                    </a:lnTo>
                    <a:lnTo>
                      <a:pt x="9" y="22"/>
                    </a:lnTo>
                    <a:lnTo>
                      <a:pt x="5" y="31"/>
                    </a:lnTo>
                    <a:lnTo>
                      <a:pt x="0" y="40"/>
                    </a:lnTo>
                    <a:lnTo>
                      <a:pt x="0" y="49"/>
                    </a:lnTo>
                    <a:lnTo>
                      <a:pt x="5" y="58"/>
                    </a:lnTo>
                    <a:lnTo>
                      <a:pt x="9" y="62"/>
                    </a:lnTo>
                    <a:lnTo>
                      <a:pt x="98" y="116"/>
                    </a:lnTo>
                    <a:lnTo>
                      <a:pt x="54" y="143"/>
                    </a:lnTo>
                    <a:lnTo>
                      <a:pt x="45" y="147"/>
                    </a:lnTo>
                    <a:lnTo>
                      <a:pt x="40" y="156"/>
                    </a:lnTo>
                    <a:lnTo>
                      <a:pt x="40" y="165"/>
                    </a:lnTo>
                    <a:lnTo>
                      <a:pt x="40" y="174"/>
                    </a:lnTo>
                    <a:lnTo>
                      <a:pt x="49" y="178"/>
                    </a:lnTo>
                    <a:lnTo>
                      <a:pt x="54" y="183"/>
                    </a:lnTo>
                    <a:lnTo>
                      <a:pt x="63" y="183"/>
                    </a:lnTo>
                    <a:lnTo>
                      <a:pt x="72" y="183"/>
                    </a:lnTo>
                    <a:lnTo>
                      <a:pt x="139" y="143"/>
                    </a:lnTo>
                    <a:lnTo>
                      <a:pt x="197" y="178"/>
                    </a:lnTo>
                    <a:lnTo>
                      <a:pt x="112" y="223"/>
                    </a:lnTo>
                    <a:lnTo>
                      <a:pt x="103" y="232"/>
                    </a:lnTo>
                    <a:lnTo>
                      <a:pt x="98" y="241"/>
                    </a:lnTo>
                    <a:lnTo>
                      <a:pt x="98" y="246"/>
                    </a:lnTo>
                    <a:lnTo>
                      <a:pt x="98" y="254"/>
                    </a:lnTo>
                    <a:lnTo>
                      <a:pt x="103" y="263"/>
                    </a:lnTo>
                    <a:lnTo>
                      <a:pt x="112" y="268"/>
                    </a:lnTo>
                    <a:lnTo>
                      <a:pt x="121" y="268"/>
                    </a:lnTo>
                    <a:lnTo>
                      <a:pt x="130" y="263"/>
                    </a:lnTo>
                    <a:lnTo>
                      <a:pt x="241" y="201"/>
                    </a:lnTo>
                    <a:lnTo>
                      <a:pt x="366" y="272"/>
                    </a:lnTo>
                    <a:lnTo>
                      <a:pt x="393" y="228"/>
                    </a:lnTo>
                    <a:lnTo>
                      <a:pt x="268" y="156"/>
                    </a:lnTo>
                    <a:lnTo>
                      <a:pt x="268" y="22"/>
                    </a:lnTo>
                    <a:lnTo>
                      <a:pt x="268" y="13"/>
                    </a:lnTo>
                    <a:lnTo>
                      <a:pt x="264" y="9"/>
                    </a:lnTo>
                    <a:lnTo>
                      <a:pt x="255" y="4"/>
                    </a:lnTo>
                    <a:lnTo>
                      <a:pt x="250" y="0"/>
                    </a:lnTo>
                    <a:lnTo>
                      <a:pt x="241" y="0"/>
                    </a:lnTo>
                    <a:lnTo>
                      <a:pt x="232" y="4"/>
                    </a:lnTo>
                    <a:lnTo>
                      <a:pt x="228" y="13"/>
                    </a:lnTo>
                    <a:lnTo>
                      <a:pt x="228" y="22"/>
                    </a:lnTo>
                    <a:lnTo>
                      <a:pt x="223" y="129"/>
                    </a:lnTo>
                    <a:lnTo>
                      <a:pt x="165" y="94"/>
                    </a:lnTo>
                    <a:lnTo>
                      <a:pt x="170" y="18"/>
                    </a:lnTo>
                    <a:lnTo>
                      <a:pt x="165" y="9"/>
                    </a:lnTo>
                    <a:lnTo>
                      <a:pt x="161" y="4"/>
                    </a:lnTo>
                    <a:lnTo>
                      <a:pt x="156" y="0"/>
                    </a:lnTo>
                    <a:lnTo>
                      <a:pt x="148" y="0"/>
                    </a:lnTo>
                    <a:lnTo>
                      <a:pt x="139" y="0"/>
                    </a:lnTo>
                    <a:lnTo>
                      <a:pt x="134" y="4"/>
                    </a:lnTo>
                    <a:lnTo>
                      <a:pt x="130" y="9"/>
                    </a:lnTo>
                    <a:lnTo>
                      <a:pt x="125" y="18"/>
                    </a:lnTo>
                    <a:lnTo>
                      <a:pt x="121" y="7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45" name="Freeform 45"/>
              <p:cNvSpPr>
                <a:spLocks/>
              </p:cNvSpPr>
              <p:nvPr/>
            </p:nvSpPr>
            <p:spPr bwMode="auto">
              <a:xfrm>
                <a:off x="982" y="626"/>
                <a:ext cx="393" cy="277"/>
              </a:xfrm>
              <a:custGeom>
                <a:avLst/>
                <a:gdLst>
                  <a:gd name="T0" fmla="*/ 98 w 393"/>
                  <a:gd name="T1" fmla="*/ 156 h 277"/>
                  <a:gd name="T2" fmla="*/ 9 w 393"/>
                  <a:gd name="T3" fmla="*/ 205 h 277"/>
                  <a:gd name="T4" fmla="*/ 0 w 393"/>
                  <a:gd name="T5" fmla="*/ 214 h 277"/>
                  <a:gd name="T6" fmla="*/ 0 w 393"/>
                  <a:gd name="T7" fmla="*/ 223 h 277"/>
                  <a:gd name="T8" fmla="*/ 0 w 393"/>
                  <a:gd name="T9" fmla="*/ 228 h 277"/>
                  <a:gd name="T10" fmla="*/ 0 w 393"/>
                  <a:gd name="T11" fmla="*/ 237 h 277"/>
                  <a:gd name="T12" fmla="*/ 9 w 393"/>
                  <a:gd name="T13" fmla="*/ 246 h 277"/>
                  <a:gd name="T14" fmla="*/ 14 w 393"/>
                  <a:gd name="T15" fmla="*/ 250 h 277"/>
                  <a:gd name="T16" fmla="*/ 23 w 393"/>
                  <a:gd name="T17" fmla="*/ 250 h 277"/>
                  <a:gd name="T18" fmla="*/ 36 w 393"/>
                  <a:gd name="T19" fmla="*/ 250 h 277"/>
                  <a:gd name="T20" fmla="*/ 125 w 393"/>
                  <a:gd name="T21" fmla="*/ 196 h 277"/>
                  <a:gd name="T22" fmla="*/ 125 w 393"/>
                  <a:gd name="T23" fmla="*/ 250 h 277"/>
                  <a:gd name="T24" fmla="*/ 125 w 393"/>
                  <a:gd name="T25" fmla="*/ 263 h 277"/>
                  <a:gd name="T26" fmla="*/ 130 w 393"/>
                  <a:gd name="T27" fmla="*/ 268 h 277"/>
                  <a:gd name="T28" fmla="*/ 139 w 393"/>
                  <a:gd name="T29" fmla="*/ 272 h 277"/>
                  <a:gd name="T30" fmla="*/ 143 w 393"/>
                  <a:gd name="T31" fmla="*/ 277 h 277"/>
                  <a:gd name="T32" fmla="*/ 152 w 393"/>
                  <a:gd name="T33" fmla="*/ 277 h 277"/>
                  <a:gd name="T34" fmla="*/ 161 w 393"/>
                  <a:gd name="T35" fmla="*/ 272 h 277"/>
                  <a:gd name="T36" fmla="*/ 165 w 393"/>
                  <a:gd name="T37" fmla="*/ 263 h 277"/>
                  <a:gd name="T38" fmla="*/ 165 w 393"/>
                  <a:gd name="T39" fmla="*/ 254 h 277"/>
                  <a:gd name="T40" fmla="*/ 165 w 393"/>
                  <a:gd name="T41" fmla="*/ 178 h 277"/>
                  <a:gd name="T42" fmla="*/ 223 w 393"/>
                  <a:gd name="T43" fmla="*/ 143 h 277"/>
                  <a:gd name="T44" fmla="*/ 223 w 393"/>
                  <a:gd name="T45" fmla="*/ 241 h 277"/>
                  <a:gd name="T46" fmla="*/ 223 w 393"/>
                  <a:gd name="T47" fmla="*/ 250 h 277"/>
                  <a:gd name="T48" fmla="*/ 228 w 393"/>
                  <a:gd name="T49" fmla="*/ 259 h 277"/>
                  <a:gd name="T50" fmla="*/ 237 w 393"/>
                  <a:gd name="T51" fmla="*/ 263 h 277"/>
                  <a:gd name="T52" fmla="*/ 246 w 393"/>
                  <a:gd name="T53" fmla="*/ 268 h 277"/>
                  <a:gd name="T54" fmla="*/ 255 w 393"/>
                  <a:gd name="T55" fmla="*/ 268 h 277"/>
                  <a:gd name="T56" fmla="*/ 259 w 393"/>
                  <a:gd name="T57" fmla="*/ 263 h 277"/>
                  <a:gd name="T58" fmla="*/ 264 w 393"/>
                  <a:gd name="T59" fmla="*/ 254 h 277"/>
                  <a:gd name="T60" fmla="*/ 268 w 393"/>
                  <a:gd name="T61" fmla="*/ 246 h 277"/>
                  <a:gd name="T62" fmla="*/ 268 w 393"/>
                  <a:gd name="T63" fmla="*/ 116 h 277"/>
                  <a:gd name="T64" fmla="*/ 393 w 393"/>
                  <a:gd name="T65" fmla="*/ 44 h 277"/>
                  <a:gd name="T66" fmla="*/ 366 w 393"/>
                  <a:gd name="T67" fmla="*/ 0 h 277"/>
                  <a:gd name="T68" fmla="*/ 241 w 393"/>
                  <a:gd name="T69" fmla="*/ 71 h 277"/>
                  <a:gd name="T70" fmla="*/ 125 w 393"/>
                  <a:gd name="T71" fmla="*/ 4 h 277"/>
                  <a:gd name="T72" fmla="*/ 121 w 393"/>
                  <a:gd name="T73" fmla="*/ 0 h 277"/>
                  <a:gd name="T74" fmla="*/ 112 w 393"/>
                  <a:gd name="T75" fmla="*/ 0 h 277"/>
                  <a:gd name="T76" fmla="*/ 103 w 393"/>
                  <a:gd name="T77" fmla="*/ 4 h 277"/>
                  <a:gd name="T78" fmla="*/ 98 w 393"/>
                  <a:gd name="T79" fmla="*/ 9 h 277"/>
                  <a:gd name="T80" fmla="*/ 94 w 393"/>
                  <a:gd name="T81" fmla="*/ 18 h 277"/>
                  <a:gd name="T82" fmla="*/ 94 w 393"/>
                  <a:gd name="T83" fmla="*/ 26 h 277"/>
                  <a:gd name="T84" fmla="*/ 98 w 393"/>
                  <a:gd name="T85" fmla="*/ 35 h 277"/>
                  <a:gd name="T86" fmla="*/ 107 w 393"/>
                  <a:gd name="T87" fmla="*/ 40 h 277"/>
                  <a:gd name="T88" fmla="*/ 197 w 393"/>
                  <a:gd name="T89" fmla="*/ 98 h 277"/>
                  <a:gd name="T90" fmla="*/ 139 w 393"/>
                  <a:gd name="T91" fmla="*/ 129 h 277"/>
                  <a:gd name="T92" fmla="*/ 72 w 393"/>
                  <a:gd name="T93" fmla="*/ 89 h 277"/>
                  <a:gd name="T94" fmla="*/ 63 w 393"/>
                  <a:gd name="T95" fmla="*/ 85 h 277"/>
                  <a:gd name="T96" fmla="*/ 58 w 393"/>
                  <a:gd name="T97" fmla="*/ 85 h 277"/>
                  <a:gd name="T98" fmla="*/ 49 w 393"/>
                  <a:gd name="T99" fmla="*/ 89 h 277"/>
                  <a:gd name="T100" fmla="*/ 45 w 393"/>
                  <a:gd name="T101" fmla="*/ 98 h 277"/>
                  <a:gd name="T102" fmla="*/ 45 w 393"/>
                  <a:gd name="T103" fmla="*/ 102 h 277"/>
                  <a:gd name="T104" fmla="*/ 45 w 393"/>
                  <a:gd name="T105" fmla="*/ 111 h 277"/>
                  <a:gd name="T106" fmla="*/ 45 w 393"/>
                  <a:gd name="T107" fmla="*/ 120 h 277"/>
                  <a:gd name="T108" fmla="*/ 54 w 393"/>
                  <a:gd name="T109" fmla="*/ 125 h 277"/>
                  <a:gd name="T110" fmla="*/ 98 w 393"/>
                  <a:gd name="T111" fmla="*/ 15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7">
                    <a:moveTo>
                      <a:pt x="98" y="156"/>
                    </a:moveTo>
                    <a:lnTo>
                      <a:pt x="9" y="205"/>
                    </a:lnTo>
                    <a:lnTo>
                      <a:pt x="0" y="214"/>
                    </a:lnTo>
                    <a:lnTo>
                      <a:pt x="0" y="223"/>
                    </a:lnTo>
                    <a:lnTo>
                      <a:pt x="0" y="228"/>
                    </a:lnTo>
                    <a:lnTo>
                      <a:pt x="0" y="237"/>
                    </a:lnTo>
                    <a:lnTo>
                      <a:pt x="9" y="246"/>
                    </a:lnTo>
                    <a:lnTo>
                      <a:pt x="14" y="250"/>
                    </a:lnTo>
                    <a:lnTo>
                      <a:pt x="23" y="250"/>
                    </a:lnTo>
                    <a:lnTo>
                      <a:pt x="36" y="250"/>
                    </a:lnTo>
                    <a:lnTo>
                      <a:pt x="125" y="196"/>
                    </a:lnTo>
                    <a:lnTo>
                      <a:pt x="125" y="250"/>
                    </a:lnTo>
                    <a:lnTo>
                      <a:pt x="125" y="263"/>
                    </a:lnTo>
                    <a:lnTo>
                      <a:pt x="130" y="268"/>
                    </a:lnTo>
                    <a:lnTo>
                      <a:pt x="139" y="272"/>
                    </a:lnTo>
                    <a:lnTo>
                      <a:pt x="143" y="277"/>
                    </a:lnTo>
                    <a:lnTo>
                      <a:pt x="152" y="277"/>
                    </a:lnTo>
                    <a:lnTo>
                      <a:pt x="161" y="272"/>
                    </a:lnTo>
                    <a:lnTo>
                      <a:pt x="165" y="263"/>
                    </a:lnTo>
                    <a:lnTo>
                      <a:pt x="165" y="254"/>
                    </a:lnTo>
                    <a:lnTo>
                      <a:pt x="165" y="178"/>
                    </a:lnTo>
                    <a:lnTo>
                      <a:pt x="223" y="143"/>
                    </a:lnTo>
                    <a:lnTo>
                      <a:pt x="223" y="241"/>
                    </a:lnTo>
                    <a:lnTo>
                      <a:pt x="223" y="250"/>
                    </a:lnTo>
                    <a:lnTo>
                      <a:pt x="228" y="259"/>
                    </a:lnTo>
                    <a:lnTo>
                      <a:pt x="237" y="263"/>
                    </a:lnTo>
                    <a:lnTo>
                      <a:pt x="246" y="268"/>
                    </a:lnTo>
                    <a:lnTo>
                      <a:pt x="255" y="268"/>
                    </a:lnTo>
                    <a:lnTo>
                      <a:pt x="259" y="263"/>
                    </a:lnTo>
                    <a:lnTo>
                      <a:pt x="264" y="254"/>
                    </a:lnTo>
                    <a:lnTo>
                      <a:pt x="268" y="246"/>
                    </a:lnTo>
                    <a:lnTo>
                      <a:pt x="268" y="116"/>
                    </a:lnTo>
                    <a:lnTo>
                      <a:pt x="393" y="44"/>
                    </a:lnTo>
                    <a:lnTo>
                      <a:pt x="366" y="0"/>
                    </a:lnTo>
                    <a:lnTo>
                      <a:pt x="241" y="71"/>
                    </a:lnTo>
                    <a:lnTo>
                      <a:pt x="125" y="4"/>
                    </a:lnTo>
                    <a:lnTo>
                      <a:pt x="121" y="0"/>
                    </a:lnTo>
                    <a:lnTo>
                      <a:pt x="112" y="0"/>
                    </a:lnTo>
                    <a:lnTo>
                      <a:pt x="103" y="4"/>
                    </a:lnTo>
                    <a:lnTo>
                      <a:pt x="98" y="9"/>
                    </a:lnTo>
                    <a:lnTo>
                      <a:pt x="94" y="18"/>
                    </a:lnTo>
                    <a:lnTo>
                      <a:pt x="94" y="26"/>
                    </a:lnTo>
                    <a:lnTo>
                      <a:pt x="98" y="35"/>
                    </a:lnTo>
                    <a:lnTo>
                      <a:pt x="107" y="40"/>
                    </a:lnTo>
                    <a:lnTo>
                      <a:pt x="197" y="98"/>
                    </a:lnTo>
                    <a:lnTo>
                      <a:pt x="139" y="129"/>
                    </a:lnTo>
                    <a:lnTo>
                      <a:pt x="72" y="89"/>
                    </a:lnTo>
                    <a:lnTo>
                      <a:pt x="63" y="85"/>
                    </a:lnTo>
                    <a:lnTo>
                      <a:pt x="58" y="85"/>
                    </a:lnTo>
                    <a:lnTo>
                      <a:pt x="49" y="89"/>
                    </a:lnTo>
                    <a:lnTo>
                      <a:pt x="45" y="98"/>
                    </a:lnTo>
                    <a:lnTo>
                      <a:pt x="45" y="102"/>
                    </a:lnTo>
                    <a:lnTo>
                      <a:pt x="45" y="111"/>
                    </a:lnTo>
                    <a:lnTo>
                      <a:pt x="45" y="120"/>
                    </a:lnTo>
                    <a:lnTo>
                      <a:pt x="54" y="125"/>
                    </a:lnTo>
                    <a:lnTo>
                      <a:pt x="98" y="156"/>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46" name="Freeform 46"/>
              <p:cNvSpPr>
                <a:spLocks/>
              </p:cNvSpPr>
              <p:nvPr/>
            </p:nvSpPr>
            <p:spPr bwMode="auto">
              <a:xfrm>
                <a:off x="1210" y="648"/>
                <a:ext cx="299" cy="438"/>
              </a:xfrm>
              <a:custGeom>
                <a:avLst/>
                <a:gdLst>
                  <a:gd name="T0" fmla="*/ 125 w 299"/>
                  <a:gd name="T1" fmla="*/ 313 h 438"/>
                  <a:gd name="T2" fmla="*/ 125 w 299"/>
                  <a:gd name="T3" fmla="*/ 411 h 438"/>
                  <a:gd name="T4" fmla="*/ 129 w 299"/>
                  <a:gd name="T5" fmla="*/ 425 h 438"/>
                  <a:gd name="T6" fmla="*/ 134 w 299"/>
                  <a:gd name="T7" fmla="*/ 429 h 438"/>
                  <a:gd name="T8" fmla="*/ 143 w 299"/>
                  <a:gd name="T9" fmla="*/ 434 h 438"/>
                  <a:gd name="T10" fmla="*/ 147 w 299"/>
                  <a:gd name="T11" fmla="*/ 438 h 438"/>
                  <a:gd name="T12" fmla="*/ 156 w 299"/>
                  <a:gd name="T13" fmla="*/ 434 h 438"/>
                  <a:gd name="T14" fmla="*/ 165 w 299"/>
                  <a:gd name="T15" fmla="*/ 429 h 438"/>
                  <a:gd name="T16" fmla="*/ 174 w 299"/>
                  <a:gd name="T17" fmla="*/ 425 h 438"/>
                  <a:gd name="T18" fmla="*/ 174 w 299"/>
                  <a:gd name="T19" fmla="*/ 411 h 438"/>
                  <a:gd name="T20" fmla="*/ 174 w 299"/>
                  <a:gd name="T21" fmla="*/ 308 h 438"/>
                  <a:gd name="T22" fmla="*/ 223 w 299"/>
                  <a:gd name="T23" fmla="*/ 335 h 438"/>
                  <a:gd name="T24" fmla="*/ 232 w 299"/>
                  <a:gd name="T25" fmla="*/ 340 h 438"/>
                  <a:gd name="T26" fmla="*/ 241 w 299"/>
                  <a:gd name="T27" fmla="*/ 340 h 438"/>
                  <a:gd name="T28" fmla="*/ 250 w 299"/>
                  <a:gd name="T29" fmla="*/ 335 h 438"/>
                  <a:gd name="T30" fmla="*/ 254 w 299"/>
                  <a:gd name="T31" fmla="*/ 331 h 438"/>
                  <a:gd name="T32" fmla="*/ 254 w 299"/>
                  <a:gd name="T33" fmla="*/ 322 h 438"/>
                  <a:gd name="T34" fmla="*/ 254 w 299"/>
                  <a:gd name="T35" fmla="*/ 317 h 438"/>
                  <a:gd name="T36" fmla="*/ 254 w 299"/>
                  <a:gd name="T37" fmla="*/ 308 h 438"/>
                  <a:gd name="T38" fmla="*/ 245 w 299"/>
                  <a:gd name="T39" fmla="*/ 300 h 438"/>
                  <a:gd name="T40" fmla="*/ 178 w 299"/>
                  <a:gd name="T41" fmla="*/ 264 h 438"/>
                  <a:gd name="T42" fmla="*/ 178 w 299"/>
                  <a:gd name="T43" fmla="*/ 192 h 438"/>
                  <a:gd name="T44" fmla="*/ 263 w 299"/>
                  <a:gd name="T45" fmla="*/ 246 h 438"/>
                  <a:gd name="T46" fmla="*/ 272 w 299"/>
                  <a:gd name="T47" fmla="*/ 250 h 438"/>
                  <a:gd name="T48" fmla="*/ 281 w 299"/>
                  <a:gd name="T49" fmla="*/ 250 h 438"/>
                  <a:gd name="T50" fmla="*/ 290 w 299"/>
                  <a:gd name="T51" fmla="*/ 246 h 438"/>
                  <a:gd name="T52" fmla="*/ 294 w 299"/>
                  <a:gd name="T53" fmla="*/ 241 h 438"/>
                  <a:gd name="T54" fmla="*/ 299 w 299"/>
                  <a:gd name="T55" fmla="*/ 232 h 438"/>
                  <a:gd name="T56" fmla="*/ 299 w 299"/>
                  <a:gd name="T57" fmla="*/ 224 h 438"/>
                  <a:gd name="T58" fmla="*/ 294 w 299"/>
                  <a:gd name="T59" fmla="*/ 215 h 438"/>
                  <a:gd name="T60" fmla="*/ 285 w 299"/>
                  <a:gd name="T61" fmla="*/ 210 h 438"/>
                  <a:gd name="T62" fmla="*/ 178 w 299"/>
                  <a:gd name="T63" fmla="*/ 143 h 438"/>
                  <a:gd name="T64" fmla="*/ 178 w 299"/>
                  <a:gd name="T65" fmla="*/ 0 h 438"/>
                  <a:gd name="T66" fmla="*/ 125 w 299"/>
                  <a:gd name="T67" fmla="*/ 0 h 438"/>
                  <a:gd name="T68" fmla="*/ 125 w 299"/>
                  <a:gd name="T69" fmla="*/ 143 h 438"/>
                  <a:gd name="T70" fmla="*/ 9 w 299"/>
                  <a:gd name="T71" fmla="*/ 210 h 438"/>
                  <a:gd name="T72" fmla="*/ 4 w 299"/>
                  <a:gd name="T73" fmla="*/ 215 h 438"/>
                  <a:gd name="T74" fmla="*/ 0 w 299"/>
                  <a:gd name="T75" fmla="*/ 224 h 438"/>
                  <a:gd name="T76" fmla="*/ 0 w 299"/>
                  <a:gd name="T77" fmla="*/ 232 h 438"/>
                  <a:gd name="T78" fmla="*/ 0 w 299"/>
                  <a:gd name="T79" fmla="*/ 237 h 438"/>
                  <a:gd name="T80" fmla="*/ 4 w 299"/>
                  <a:gd name="T81" fmla="*/ 246 h 438"/>
                  <a:gd name="T82" fmla="*/ 13 w 299"/>
                  <a:gd name="T83" fmla="*/ 250 h 438"/>
                  <a:gd name="T84" fmla="*/ 22 w 299"/>
                  <a:gd name="T85" fmla="*/ 250 h 438"/>
                  <a:gd name="T86" fmla="*/ 31 w 299"/>
                  <a:gd name="T87" fmla="*/ 246 h 438"/>
                  <a:gd name="T88" fmla="*/ 125 w 299"/>
                  <a:gd name="T89" fmla="*/ 197 h 438"/>
                  <a:gd name="T90" fmla="*/ 125 w 299"/>
                  <a:gd name="T91" fmla="*/ 264 h 438"/>
                  <a:gd name="T92" fmla="*/ 53 w 299"/>
                  <a:gd name="T93" fmla="*/ 300 h 438"/>
                  <a:gd name="T94" fmla="*/ 49 w 299"/>
                  <a:gd name="T95" fmla="*/ 304 h 438"/>
                  <a:gd name="T96" fmla="*/ 44 w 299"/>
                  <a:gd name="T97" fmla="*/ 313 h 438"/>
                  <a:gd name="T98" fmla="*/ 44 w 299"/>
                  <a:gd name="T99" fmla="*/ 322 h 438"/>
                  <a:gd name="T100" fmla="*/ 49 w 299"/>
                  <a:gd name="T101" fmla="*/ 326 h 438"/>
                  <a:gd name="T102" fmla="*/ 53 w 299"/>
                  <a:gd name="T103" fmla="*/ 331 h 438"/>
                  <a:gd name="T104" fmla="*/ 62 w 299"/>
                  <a:gd name="T105" fmla="*/ 335 h 438"/>
                  <a:gd name="T106" fmla="*/ 67 w 299"/>
                  <a:gd name="T107" fmla="*/ 335 h 438"/>
                  <a:gd name="T108" fmla="*/ 76 w 299"/>
                  <a:gd name="T109" fmla="*/ 335 h 438"/>
                  <a:gd name="T110" fmla="*/ 125 w 299"/>
                  <a:gd name="T111" fmla="*/ 313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99" h="438">
                    <a:moveTo>
                      <a:pt x="125" y="313"/>
                    </a:moveTo>
                    <a:lnTo>
                      <a:pt x="125" y="411"/>
                    </a:lnTo>
                    <a:lnTo>
                      <a:pt x="129" y="425"/>
                    </a:lnTo>
                    <a:lnTo>
                      <a:pt x="134" y="429"/>
                    </a:lnTo>
                    <a:lnTo>
                      <a:pt x="143" y="434"/>
                    </a:lnTo>
                    <a:lnTo>
                      <a:pt x="147" y="438"/>
                    </a:lnTo>
                    <a:lnTo>
                      <a:pt x="156" y="434"/>
                    </a:lnTo>
                    <a:lnTo>
                      <a:pt x="165" y="429"/>
                    </a:lnTo>
                    <a:lnTo>
                      <a:pt x="174" y="425"/>
                    </a:lnTo>
                    <a:lnTo>
                      <a:pt x="174" y="411"/>
                    </a:lnTo>
                    <a:lnTo>
                      <a:pt x="174" y="308"/>
                    </a:lnTo>
                    <a:lnTo>
                      <a:pt x="223" y="335"/>
                    </a:lnTo>
                    <a:lnTo>
                      <a:pt x="232" y="340"/>
                    </a:lnTo>
                    <a:lnTo>
                      <a:pt x="241" y="340"/>
                    </a:lnTo>
                    <a:lnTo>
                      <a:pt x="250" y="335"/>
                    </a:lnTo>
                    <a:lnTo>
                      <a:pt x="254" y="331"/>
                    </a:lnTo>
                    <a:lnTo>
                      <a:pt x="254" y="322"/>
                    </a:lnTo>
                    <a:lnTo>
                      <a:pt x="254" y="317"/>
                    </a:lnTo>
                    <a:lnTo>
                      <a:pt x="254" y="308"/>
                    </a:lnTo>
                    <a:lnTo>
                      <a:pt x="245" y="300"/>
                    </a:lnTo>
                    <a:lnTo>
                      <a:pt x="178" y="264"/>
                    </a:lnTo>
                    <a:lnTo>
                      <a:pt x="178" y="192"/>
                    </a:lnTo>
                    <a:lnTo>
                      <a:pt x="263" y="246"/>
                    </a:lnTo>
                    <a:lnTo>
                      <a:pt x="272" y="250"/>
                    </a:lnTo>
                    <a:lnTo>
                      <a:pt x="281" y="250"/>
                    </a:lnTo>
                    <a:lnTo>
                      <a:pt x="290" y="246"/>
                    </a:lnTo>
                    <a:lnTo>
                      <a:pt x="294" y="241"/>
                    </a:lnTo>
                    <a:lnTo>
                      <a:pt x="299" y="232"/>
                    </a:lnTo>
                    <a:lnTo>
                      <a:pt x="299" y="224"/>
                    </a:lnTo>
                    <a:lnTo>
                      <a:pt x="294" y="215"/>
                    </a:lnTo>
                    <a:lnTo>
                      <a:pt x="285" y="210"/>
                    </a:lnTo>
                    <a:lnTo>
                      <a:pt x="178" y="143"/>
                    </a:lnTo>
                    <a:lnTo>
                      <a:pt x="178" y="0"/>
                    </a:lnTo>
                    <a:lnTo>
                      <a:pt x="125" y="0"/>
                    </a:lnTo>
                    <a:lnTo>
                      <a:pt x="125" y="143"/>
                    </a:lnTo>
                    <a:lnTo>
                      <a:pt x="9" y="210"/>
                    </a:lnTo>
                    <a:lnTo>
                      <a:pt x="4" y="215"/>
                    </a:lnTo>
                    <a:lnTo>
                      <a:pt x="0" y="224"/>
                    </a:lnTo>
                    <a:lnTo>
                      <a:pt x="0" y="232"/>
                    </a:lnTo>
                    <a:lnTo>
                      <a:pt x="0" y="237"/>
                    </a:lnTo>
                    <a:lnTo>
                      <a:pt x="4" y="246"/>
                    </a:lnTo>
                    <a:lnTo>
                      <a:pt x="13" y="250"/>
                    </a:lnTo>
                    <a:lnTo>
                      <a:pt x="22" y="250"/>
                    </a:lnTo>
                    <a:lnTo>
                      <a:pt x="31" y="246"/>
                    </a:lnTo>
                    <a:lnTo>
                      <a:pt x="125" y="197"/>
                    </a:lnTo>
                    <a:lnTo>
                      <a:pt x="125" y="264"/>
                    </a:lnTo>
                    <a:lnTo>
                      <a:pt x="53" y="300"/>
                    </a:lnTo>
                    <a:lnTo>
                      <a:pt x="49" y="304"/>
                    </a:lnTo>
                    <a:lnTo>
                      <a:pt x="44" y="313"/>
                    </a:lnTo>
                    <a:lnTo>
                      <a:pt x="44" y="322"/>
                    </a:lnTo>
                    <a:lnTo>
                      <a:pt x="49" y="326"/>
                    </a:lnTo>
                    <a:lnTo>
                      <a:pt x="53" y="331"/>
                    </a:lnTo>
                    <a:lnTo>
                      <a:pt x="62" y="335"/>
                    </a:lnTo>
                    <a:lnTo>
                      <a:pt x="67" y="335"/>
                    </a:lnTo>
                    <a:lnTo>
                      <a:pt x="76" y="335"/>
                    </a:lnTo>
                    <a:lnTo>
                      <a:pt x="125" y="313"/>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47" name="Freeform 47"/>
              <p:cNvSpPr>
                <a:spLocks/>
              </p:cNvSpPr>
              <p:nvPr/>
            </p:nvSpPr>
            <p:spPr bwMode="auto">
              <a:xfrm>
                <a:off x="1348" y="626"/>
                <a:ext cx="393" cy="272"/>
              </a:xfrm>
              <a:custGeom>
                <a:avLst/>
                <a:gdLst>
                  <a:gd name="T0" fmla="*/ 272 w 393"/>
                  <a:gd name="T1" fmla="*/ 201 h 272"/>
                  <a:gd name="T2" fmla="*/ 357 w 393"/>
                  <a:gd name="T3" fmla="*/ 250 h 272"/>
                  <a:gd name="T4" fmla="*/ 366 w 393"/>
                  <a:gd name="T5" fmla="*/ 254 h 272"/>
                  <a:gd name="T6" fmla="*/ 375 w 393"/>
                  <a:gd name="T7" fmla="*/ 254 h 272"/>
                  <a:gd name="T8" fmla="*/ 384 w 393"/>
                  <a:gd name="T9" fmla="*/ 250 h 272"/>
                  <a:gd name="T10" fmla="*/ 388 w 393"/>
                  <a:gd name="T11" fmla="*/ 241 h 272"/>
                  <a:gd name="T12" fmla="*/ 393 w 393"/>
                  <a:gd name="T13" fmla="*/ 232 h 272"/>
                  <a:gd name="T14" fmla="*/ 393 w 393"/>
                  <a:gd name="T15" fmla="*/ 223 h 272"/>
                  <a:gd name="T16" fmla="*/ 388 w 393"/>
                  <a:gd name="T17" fmla="*/ 214 h 272"/>
                  <a:gd name="T18" fmla="*/ 384 w 393"/>
                  <a:gd name="T19" fmla="*/ 210 h 272"/>
                  <a:gd name="T20" fmla="*/ 295 w 393"/>
                  <a:gd name="T21" fmla="*/ 156 h 272"/>
                  <a:gd name="T22" fmla="*/ 339 w 393"/>
                  <a:gd name="T23" fmla="*/ 129 h 272"/>
                  <a:gd name="T24" fmla="*/ 348 w 393"/>
                  <a:gd name="T25" fmla="*/ 125 h 272"/>
                  <a:gd name="T26" fmla="*/ 353 w 393"/>
                  <a:gd name="T27" fmla="*/ 116 h 272"/>
                  <a:gd name="T28" fmla="*/ 353 w 393"/>
                  <a:gd name="T29" fmla="*/ 107 h 272"/>
                  <a:gd name="T30" fmla="*/ 353 w 393"/>
                  <a:gd name="T31" fmla="*/ 98 h 272"/>
                  <a:gd name="T32" fmla="*/ 344 w 393"/>
                  <a:gd name="T33" fmla="*/ 94 h 272"/>
                  <a:gd name="T34" fmla="*/ 339 w 393"/>
                  <a:gd name="T35" fmla="*/ 89 h 272"/>
                  <a:gd name="T36" fmla="*/ 330 w 393"/>
                  <a:gd name="T37" fmla="*/ 89 h 272"/>
                  <a:gd name="T38" fmla="*/ 321 w 393"/>
                  <a:gd name="T39" fmla="*/ 89 h 272"/>
                  <a:gd name="T40" fmla="*/ 254 w 393"/>
                  <a:gd name="T41" fmla="*/ 129 h 272"/>
                  <a:gd name="T42" fmla="*/ 196 w 393"/>
                  <a:gd name="T43" fmla="*/ 94 h 272"/>
                  <a:gd name="T44" fmla="*/ 281 w 393"/>
                  <a:gd name="T45" fmla="*/ 49 h 272"/>
                  <a:gd name="T46" fmla="*/ 290 w 393"/>
                  <a:gd name="T47" fmla="*/ 40 h 272"/>
                  <a:gd name="T48" fmla="*/ 295 w 393"/>
                  <a:gd name="T49" fmla="*/ 31 h 272"/>
                  <a:gd name="T50" fmla="*/ 295 w 393"/>
                  <a:gd name="T51" fmla="*/ 26 h 272"/>
                  <a:gd name="T52" fmla="*/ 295 w 393"/>
                  <a:gd name="T53" fmla="*/ 18 h 272"/>
                  <a:gd name="T54" fmla="*/ 290 w 393"/>
                  <a:gd name="T55" fmla="*/ 9 h 272"/>
                  <a:gd name="T56" fmla="*/ 281 w 393"/>
                  <a:gd name="T57" fmla="*/ 4 h 272"/>
                  <a:gd name="T58" fmla="*/ 272 w 393"/>
                  <a:gd name="T59" fmla="*/ 4 h 272"/>
                  <a:gd name="T60" fmla="*/ 263 w 393"/>
                  <a:gd name="T61" fmla="*/ 9 h 272"/>
                  <a:gd name="T62" fmla="*/ 152 w 393"/>
                  <a:gd name="T63" fmla="*/ 71 h 272"/>
                  <a:gd name="T64" fmla="*/ 27 w 393"/>
                  <a:gd name="T65" fmla="*/ 0 h 272"/>
                  <a:gd name="T66" fmla="*/ 0 w 393"/>
                  <a:gd name="T67" fmla="*/ 44 h 272"/>
                  <a:gd name="T68" fmla="*/ 125 w 393"/>
                  <a:gd name="T69" fmla="*/ 116 h 272"/>
                  <a:gd name="T70" fmla="*/ 125 w 393"/>
                  <a:gd name="T71" fmla="*/ 250 h 272"/>
                  <a:gd name="T72" fmla="*/ 125 w 393"/>
                  <a:gd name="T73" fmla="*/ 259 h 272"/>
                  <a:gd name="T74" fmla="*/ 129 w 393"/>
                  <a:gd name="T75" fmla="*/ 263 h 272"/>
                  <a:gd name="T76" fmla="*/ 138 w 393"/>
                  <a:gd name="T77" fmla="*/ 268 h 272"/>
                  <a:gd name="T78" fmla="*/ 143 w 393"/>
                  <a:gd name="T79" fmla="*/ 272 h 272"/>
                  <a:gd name="T80" fmla="*/ 152 w 393"/>
                  <a:gd name="T81" fmla="*/ 272 h 272"/>
                  <a:gd name="T82" fmla="*/ 161 w 393"/>
                  <a:gd name="T83" fmla="*/ 268 h 272"/>
                  <a:gd name="T84" fmla="*/ 165 w 393"/>
                  <a:gd name="T85" fmla="*/ 259 h 272"/>
                  <a:gd name="T86" fmla="*/ 165 w 393"/>
                  <a:gd name="T87" fmla="*/ 250 h 272"/>
                  <a:gd name="T88" fmla="*/ 170 w 393"/>
                  <a:gd name="T89" fmla="*/ 143 h 272"/>
                  <a:gd name="T90" fmla="*/ 228 w 393"/>
                  <a:gd name="T91" fmla="*/ 178 h 272"/>
                  <a:gd name="T92" fmla="*/ 223 w 393"/>
                  <a:gd name="T93" fmla="*/ 254 h 272"/>
                  <a:gd name="T94" fmla="*/ 228 w 393"/>
                  <a:gd name="T95" fmla="*/ 263 h 272"/>
                  <a:gd name="T96" fmla="*/ 232 w 393"/>
                  <a:gd name="T97" fmla="*/ 268 h 272"/>
                  <a:gd name="T98" fmla="*/ 237 w 393"/>
                  <a:gd name="T99" fmla="*/ 272 h 272"/>
                  <a:gd name="T100" fmla="*/ 245 w 393"/>
                  <a:gd name="T101" fmla="*/ 272 h 272"/>
                  <a:gd name="T102" fmla="*/ 254 w 393"/>
                  <a:gd name="T103" fmla="*/ 272 h 272"/>
                  <a:gd name="T104" fmla="*/ 259 w 393"/>
                  <a:gd name="T105" fmla="*/ 268 h 272"/>
                  <a:gd name="T106" fmla="*/ 263 w 393"/>
                  <a:gd name="T107" fmla="*/ 263 h 272"/>
                  <a:gd name="T108" fmla="*/ 268 w 393"/>
                  <a:gd name="T109" fmla="*/ 254 h 272"/>
                  <a:gd name="T110" fmla="*/ 272 w 393"/>
                  <a:gd name="T111" fmla="*/ 201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2">
                    <a:moveTo>
                      <a:pt x="272" y="201"/>
                    </a:moveTo>
                    <a:lnTo>
                      <a:pt x="357" y="250"/>
                    </a:lnTo>
                    <a:lnTo>
                      <a:pt x="366" y="254"/>
                    </a:lnTo>
                    <a:lnTo>
                      <a:pt x="375" y="254"/>
                    </a:lnTo>
                    <a:lnTo>
                      <a:pt x="384" y="250"/>
                    </a:lnTo>
                    <a:lnTo>
                      <a:pt x="388" y="241"/>
                    </a:lnTo>
                    <a:lnTo>
                      <a:pt x="393" y="232"/>
                    </a:lnTo>
                    <a:lnTo>
                      <a:pt x="393" y="223"/>
                    </a:lnTo>
                    <a:lnTo>
                      <a:pt x="388" y="214"/>
                    </a:lnTo>
                    <a:lnTo>
                      <a:pt x="384" y="210"/>
                    </a:lnTo>
                    <a:lnTo>
                      <a:pt x="295" y="156"/>
                    </a:lnTo>
                    <a:lnTo>
                      <a:pt x="339" y="129"/>
                    </a:lnTo>
                    <a:lnTo>
                      <a:pt x="348" y="125"/>
                    </a:lnTo>
                    <a:lnTo>
                      <a:pt x="353" y="116"/>
                    </a:lnTo>
                    <a:lnTo>
                      <a:pt x="353" y="107"/>
                    </a:lnTo>
                    <a:lnTo>
                      <a:pt x="353" y="98"/>
                    </a:lnTo>
                    <a:lnTo>
                      <a:pt x="344" y="94"/>
                    </a:lnTo>
                    <a:lnTo>
                      <a:pt x="339" y="89"/>
                    </a:lnTo>
                    <a:lnTo>
                      <a:pt x="330" y="89"/>
                    </a:lnTo>
                    <a:lnTo>
                      <a:pt x="321" y="89"/>
                    </a:lnTo>
                    <a:lnTo>
                      <a:pt x="254" y="129"/>
                    </a:lnTo>
                    <a:lnTo>
                      <a:pt x="196" y="94"/>
                    </a:lnTo>
                    <a:lnTo>
                      <a:pt x="281" y="49"/>
                    </a:lnTo>
                    <a:lnTo>
                      <a:pt x="290" y="40"/>
                    </a:lnTo>
                    <a:lnTo>
                      <a:pt x="295" y="31"/>
                    </a:lnTo>
                    <a:lnTo>
                      <a:pt x="295" y="26"/>
                    </a:lnTo>
                    <a:lnTo>
                      <a:pt x="295" y="18"/>
                    </a:lnTo>
                    <a:lnTo>
                      <a:pt x="290" y="9"/>
                    </a:lnTo>
                    <a:lnTo>
                      <a:pt x="281" y="4"/>
                    </a:lnTo>
                    <a:lnTo>
                      <a:pt x="272" y="4"/>
                    </a:lnTo>
                    <a:lnTo>
                      <a:pt x="263" y="9"/>
                    </a:lnTo>
                    <a:lnTo>
                      <a:pt x="152" y="71"/>
                    </a:lnTo>
                    <a:lnTo>
                      <a:pt x="27" y="0"/>
                    </a:lnTo>
                    <a:lnTo>
                      <a:pt x="0" y="44"/>
                    </a:lnTo>
                    <a:lnTo>
                      <a:pt x="125" y="116"/>
                    </a:lnTo>
                    <a:lnTo>
                      <a:pt x="125" y="250"/>
                    </a:lnTo>
                    <a:lnTo>
                      <a:pt x="125" y="259"/>
                    </a:lnTo>
                    <a:lnTo>
                      <a:pt x="129" y="263"/>
                    </a:lnTo>
                    <a:lnTo>
                      <a:pt x="138" y="268"/>
                    </a:lnTo>
                    <a:lnTo>
                      <a:pt x="143" y="272"/>
                    </a:lnTo>
                    <a:lnTo>
                      <a:pt x="152" y="272"/>
                    </a:lnTo>
                    <a:lnTo>
                      <a:pt x="161" y="268"/>
                    </a:lnTo>
                    <a:lnTo>
                      <a:pt x="165" y="259"/>
                    </a:lnTo>
                    <a:lnTo>
                      <a:pt x="165" y="250"/>
                    </a:lnTo>
                    <a:lnTo>
                      <a:pt x="170" y="143"/>
                    </a:lnTo>
                    <a:lnTo>
                      <a:pt x="228" y="178"/>
                    </a:lnTo>
                    <a:lnTo>
                      <a:pt x="223" y="254"/>
                    </a:lnTo>
                    <a:lnTo>
                      <a:pt x="228" y="263"/>
                    </a:lnTo>
                    <a:lnTo>
                      <a:pt x="232" y="268"/>
                    </a:lnTo>
                    <a:lnTo>
                      <a:pt x="237" y="272"/>
                    </a:lnTo>
                    <a:lnTo>
                      <a:pt x="245" y="272"/>
                    </a:lnTo>
                    <a:lnTo>
                      <a:pt x="254" y="272"/>
                    </a:lnTo>
                    <a:lnTo>
                      <a:pt x="259" y="268"/>
                    </a:lnTo>
                    <a:lnTo>
                      <a:pt x="263" y="263"/>
                    </a:lnTo>
                    <a:lnTo>
                      <a:pt x="268" y="254"/>
                    </a:lnTo>
                    <a:lnTo>
                      <a:pt x="272" y="20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48" name="Freeform 48"/>
              <p:cNvSpPr>
                <a:spLocks/>
              </p:cNvSpPr>
              <p:nvPr/>
            </p:nvSpPr>
            <p:spPr bwMode="auto">
              <a:xfrm>
                <a:off x="1348" y="393"/>
                <a:ext cx="393" cy="277"/>
              </a:xfrm>
              <a:custGeom>
                <a:avLst/>
                <a:gdLst>
                  <a:gd name="T0" fmla="*/ 295 w 393"/>
                  <a:gd name="T1" fmla="*/ 121 h 277"/>
                  <a:gd name="T2" fmla="*/ 384 w 393"/>
                  <a:gd name="T3" fmla="*/ 72 h 277"/>
                  <a:gd name="T4" fmla="*/ 393 w 393"/>
                  <a:gd name="T5" fmla="*/ 63 h 277"/>
                  <a:gd name="T6" fmla="*/ 393 w 393"/>
                  <a:gd name="T7" fmla="*/ 54 h 277"/>
                  <a:gd name="T8" fmla="*/ 393 w 393"/>
                  <a:gd name="T9" fmla="*/ 49 h 277"/>
                  <a:gd name="T10" fmla="*/ 393 w 393"/>
                  <a:gd name="T11" fmla="*/ 40 h 277"/>
                  <a:gd name="T12" fmla="*/ 384 w 393"/>
                  <a:gd name="T13" fmla="*/ 31 h 277"/>
                  <a:gd name="T14" fmla="*/ 379 w 393"/>
                  <a:gd name="T15" fmla="*/ 27 h 277"/>
                  <a:gd name="T16" fmla="*/ 370 w 393"/>
                  <a:gd name="T17" fmla="*/ 27 h 277"/>
                  <a:gd name="T18" fmla="*/ 357 w 393"/>
                  <a:gd name="T19" fmla="*/ 27 h 277"/>
                  <a:gd name="T20" fmla="*/ 268 w 393"/>
                  <a:gd name="T21" fmla="*/ 81 h 277"/>
                  <a:gd name="T22" fmla="*/ 268 w 393"/>
                  <a:gd name="T23" fmla="*/ 27 h 277"/>
                  <a:gd name="T24" fmla="*/ 268 w 393"/>
                  <a:gd name="T25" fmla="*/ 14 h 277"/>
                  <a:gd name="T26" fmla="*/ 263 w 393"/>
                  <a:gd name="T27" fmla="*/ 9 h 277"/>
                  <a:gd name="T28" fmla="*/ 254 w 393"/>
                  <a:gd name="T29" fmla="*/ 5 h 277"/>
                  <a:gd name="T30" fmla="*/ 250 w 393"/>
                  <a:gd name="T31" fmla="*/ 0 h 277"/>
                  <a:gd name="T32" fmla="*/ 241 w 393"/>
                  <a:gd name="T33" fmla="*/ 5 h 277"/>
                  <a:gd name="T34" fmla="*/ 232 w 393"/>
                  <a:gd name="T35" fmla="*/ 5 h 277"/>
                  <a:gd name="T36" fmla="*/ 228 w 393"/>
                  <a:gd name="T37" fmla="*/ 14 h 277"/>
                  <a:gd name="T38" fmla="*/ 228 w 393"/>
                  <a:gd name="T39" fmla="*/ 23 h 277"/>
                  <a:gd name="T40" fmla="*/ 228 w 393"/>
                  <a:gd name="T41" fmla="*/ 99 h 277"/>
                  <a:gd name="T42" fmla="*/ 170 w 393"/>
                  <a:gd name="T43" fmla="*/ 134 h 277"/>
                  <a:gd name="T44" fmla="*/ 170 w 393"/>
                  <a:gd name="T45" fmla="*/ 36 h 277"/>
                  <a:gd name="T46" fmla="*/ 170 w 393"/>
                  <a:gd name="T47" fmla="*/ 27 h 277"/>
                  <a:gd name="T48" fmla="*/ 165 w 393"/>
                  <a:gd name="T49" fmla="*/ 18 h 277"/>
                  <a:gd name="T50" fmla="*/ 156 w 393"/>
                  <a:gd name="T51" fmla="*/ 14 h 277"/>
                  <a:gd name="T52" fmla="*/ 147 w 393"/>
                  <a:gd name="T53" fmla="*/ 9 h 277"/>
                  <a:gd name="T54" fmla="*/ 138 w 393"/>
                  <a:gd name="T55" fmla="*/ 9 h 277"/>
                  <a:gd name="T56" fmla="*/ 134 w 393"/>
                  <a:gd name="T57" fmla="*/ 14 h 277"/>
                  <a:gd name="T58" fmla="*/ 129 w 393"/>
                  <a:gd name="T59" fmla="*/ 23 h 277"/>
                  <a:gd name="T60" fmla="*/ 125 w 393"/>
                  <a:gd name="T61" fmla="*/ 31 h 277"/>
                  <a:gd name="T62" fmla="*/ 125 w 393"/>
                  <a:gd name="T63" fmla="*/ 161 h 277"/>
                  <a:gd name="T64" fmla="*/ 0 w 393"/>
                  <a:gd name="T65" fmla="*/ 233 h 277"/>
                  <a:gd name="T66" fmla="*/ 27 w 393"/>
                  <a:gd name="T67" fmla="*/ 277 h 277"/>
                  <a:gd name="T68" fmla="*/ 152 w 393"/>
                  <a:gd name="T69" fmla="*/ 206 h 277"/>
                  <a:gd name="T70" fmla="*/ 268 w 393"/>
                  <a:gd name="T71" fmla="*/ 273 h 277"/>
                  <a:gd name="T72" fmla="*/ 272 w 393"/>
                  <a:gd name="T73" fmla="*/ 277 h 277"/>
                  <a:gd name="T74" fmla="*/ 281 w 393"/>
                  <a:gd name="T75" fmla="*/ 277 h 277"/>
                  <a:gd name="T76" fmla="*/ 290 w 393"/>
                  <a:gd name="T77" fmla="*/ 273 h 277"/>
                  <a:gd name="T78" fmla="*/ 295 w 393"/>
                  <a:gd name="T79" fmla="*/ 268 h 277"/>
                  <a:gd name="T80" fmla="*/ 299 w 393"/>
                  <a:gd name="T81" fmla="*/ 259 h 277"/>
                  <a:gd name="T82" fmla="*/ 299 w 393"/>
                  <a:gd name="T83" fmla="*/ 251 h 277"/>
                  <a:gd name="T84" fmla="*/ 295 w 393"/>
                  <a:gd name="T85" fmla="*/ 242 h 277"/>
                  <a:gd name="T86" fmla="*/ 286 w 393"/>
                  <a:gd name="T87" fmla="*/ 237 h 277"/>
                  <a:gd name="T88" fmla="*/ 196 w 393"/>
                  <a:gd name="T89" fmla="*/ 179 h 277"/>
                  <a:gd name="T90" fmla="*/ 254 w 393"/>
                  <a:gd name="T91" fmla="*/ 148 h 277"/>
                  <a:gd name="T92" fmla="*/ 321 w 393"/>
                  <a:gd name="T93" fmla="*/ 188 h 277"/>
                  <a:gd name="T94" fmla="*/ 330 w 393"/>
                  <a:gd name="T95" fmla="*/ 192 h 277"/>
                  <a:gd name="T96" fmla="*/ 335 w 393"/>
                  <a:gd name="T97" fmla="*/ 192 h 277"/>
                  <a:gd name="T98" fmla="*/ 344 w 393"/>
                  <a:gd name="T99" fmla="*/ 188 h 277"/>
                  <a:gd name="T100" fmla="*/ 348 w 393"/>
                  <a:gd name="T101" fmla="*/ 179 h 277"/>
                  <a:gd name="T102" fmla="*/ 348 w 393"/>
                  <a:gd name="T103" fmla="*/ 175 h 277"/>
                  <a:gd name="T104" fmla="*/ 348 w 393"/>
                  <a:gd name="T105" fmla="*/ 166 h 277"/>
                  <a:gd name="T106" fmla="*/ 348 w 393"/>
                  <a:gd name="T107" fmla="*/ 157 h 277"/>
                  <a:gd name="T108" fmla="*/ 339 w 393"/>
                  <a:gd name="T109" fmla="*/ 152 h 277"/>
                  <a:gd name="T110" fmla="*/ 295 w 393"/>
                  <a:gd name="T111" fmla="*/ 121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3" h="277">
                    <a:moveTo>
                      <a:pt x="295" y="121"/>
                    </a:moveTo>
                    <a:lnTo>
                      <a:pt x="384" y="72"/>
                    </a:lnTo>
                    <a:lnTo>
                      <a:pt x="393" y="63"/>
                    </a:lnTo>
                    <a:lnTo>
                      <a:pt x="393" y="54"/>
                    </a:lnTo>
                    <a:lnTo>
                      <a:pt x="393" y="49"/>
                    </a:lnTo>
                    <a:lnTo>
                      <a:pt x="393" y="40"/>
                    </a:lnTo>
                    <a:lnTo>
                      <a:pt x="384" y="31"/>
                    </a:lnTo>
                    <a:lnTo>
                      <a:pt x="379" y="27"/>
                    </a:lnTo>
                    <a:lnTo>
                      <a:pt x="370" y="27"/>
                    </a:lnTo>
                    <a:lnTo>
                      <a:pt x="357" y="27"/>
                    </a:lnTo>
                    <a:lnTo>
                      <a:pt x="268" y="81"/>
                    </a:lnTo>
                    <a:lnTo>
                      <a:pt x="268" y="27"/>
                    </a:lnTo>
                    <a:lnTo>
                      <a:pt x="268" y="14"/>
                    </a:lnTo>
                    <a:lnTo>
                      <a:pt x="263" y="9"/>
                    </a:lnTo>
                    <a:lnTo>
                      <a:pt x="254" y="5"/>
                    </a:lnTo>
                    <a:lnTo>
                      <a:pt x="250" y="0"/>
                    </a:lnTo>
                    <a:lnTo>
                      <a:pt x="241" y="5"/>
                    </a:lnTo>
                    <a:lnTo>
                      <a:pt x="232" y="5"/>
                    </a:lnTo>
                    <a:lnTo>
                      <a:pt x="228" y="14"/>
                    </a:lnTo>
                    <a:lnTo>
                      <a:pt x="228" y="23"/>
                    </a:lnTo>
                    <a:lnTo>
                      <a:pt x="228" y="99"/>
                    </a:lnTo>
                    <a:lnTo>
                      <a:pt x="170" y="134"/>
                    </a:lnTo>
                    <a:lnTo>
                      <a:pt x="170" y="36"/>
                    </a:lnTo>
                    <a:lnTo>
                      <a:pt x="170" y="27"/>
                    </a:lnTo>
                    <a:lnTo>
                      <a:pt x="165" y="18"/>
                    </a:lnTo>
                    <a:lnTo>
                      <a:pt x="156" y="14"/>
                    </a:lnTo>
                    <a:lnTo>
                      <a:pt x="147" y="9"/>
                    </a:lnTo>
                    <a:lnTo>
                      <a:pt x="138" y="9"/>
                    </a:lnTo>
                    <a:lnTo>
                      <a:pt x="134" y="14"/>
                    </a:lnTo>
                    <a:lnTo>
                      <a:pt x="129" y="23"/>
                    </a:lnTo>
                    <a:lnTo>
                      <a:pt x="125" y="31"/>
                    </a:lnTo>
                    <a:lnTo>
                      <a:pt x="125" y="161"/>
                    </a:lnTo>
                    <a:lnTo>
                      <a:pt x="0" y="233"/>
                    </a:lnTo>
                    <a:lnTo>
                      <a:pt x="27" y="277"/>
                    </a:lnTo>
                    <a:lnTo>
                      <a:pt x="152" y="206"/>
                    </a:lnTo>
                    <a:lnTo>
                      <a:pt x="268" y="273"/>
                    </a:lnTo>
                    <a:lnTo>
                      <a:pt x="272" y="277"/>
                    </a:lnTo>
                    <a:lnTo>
                      <a:pt x="281" y="277"/>
                    </a:lnTo>
                    <a:lnTo>
                      <a:pt x="290" y="273"/>
                    </a:lnTo>
                    <a:lnTo>
                      <a:pt x="295" y="268"/>
                    </a:lnTo>
                    <a:lnTo>
                      <a:pt x="299" y="259"/>
                    </a:lnTo>
                    <a:lnTo>
                      <a:pt x="299" y="251"/>
                    </a:lnTo>
                    <a:lnTo>
                      <a:pt x="295" y="242"/>
                    </a:lnTo>
                    <a:lnTo>
                      <a:pt x="286" y="237"/>
                    </a:lnTo>
                    <a:lnTo>
                      <a:pt x="196" y="179"/>
                    </a:lnTo>
                    <a:lnTo>
                      <a:pt x="254" y="148"/>
                    </a:lnTo>
                    <a:lnTo>
                      <a:pt x="321" y="188"/>
                    </a:lnTo>
                    <a:lnTo>
                      <a:pt x="330" y="192"/>
                    </a:lnTo>
                    <a:lnTo>
                      <a:pt x="335" y="192"/>
                    </a:lnTo>
                    <a:lnTo>
                      <a:pt x="344" y="188"/>
                    </a:lnTo>
                    <a:lnTo>
                      <a:pt x="348" y="179"/>
                    </a:lnTo>
                    <a:lnTo>
                      <a:pt x="348" y="175"/>
                    </a:lnTo>
                    <a:lnTo>
                      <a:pt x="348" y="166"/>
                    </a:lnTo>
                    <a:lnTo>
                      <a:pt x="348" y="157"/>
                    </a:lnTo>
                    <a:lnTo>
                      <a:pt x="339" y="152"/>
                    </a:lnTo>
                    <a:lnTo>
                      <a:pt x="295" y="121"/>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sp>
            <p:nvSpPr>
              <p:cNvPr id="49" name="Freeform 49"/>
              <p:cNvSpPr>
                <a:spLocks/>
              </p:cNvSpPr>
              <p:nvPr/>
            </p:nvSpPr>
            <p:spPr bwMode="auto">
              <a:xfrm>
                <a:off x="1232" y="536"/>
                <a:ext cx="263" cy="228"/>
              </a:xfrm>
              <a:custGeom>
                <a:avLst/>
                <a:gdLst>
                  <a:gd name="T0" fmla="*/ 0 w 263"/>
                  <a:gd name="T1" fmla="*/ 116 h 228"/>
                  <a:gd name="T2" fmla="*/ 49 w 263"/>
                  <a:gd name="T3" fmla="*/ 67 h 228"/>
                  <a:gd name="T4" fmla="*/ 67 w 263"/>
                  <a:gd name="T5" fmla="*/ 0 h 228"/>
                  <a:gd name="T6" fmla="*/ 134 w 263"/>
                  <a:gd name="T7" fmla="*/ 23 h 228"/>
                  <a:gd name="T8" fmla="*/ 201 w 263"/>
                  <a:gd name="T9" fmla="*/ 0 h 228"/>
                  <a:gd name="T10" fmla="*/ 214 w 263"/>
                  <a:gd name="T11" fmla="*/ 67 h 228"/>
                  <a:gd name="T12" fmla="*/ 263 w 263"/>
                  <a:gd name="T13" fmla="*/ 116 h 228"/>
                  <a:gd name="T14" fmla="*/ 214 w 263"/>
                  <a:gd name="T15" fmla="*/ 161 h 228"/>
                  <a:gd name="T16" fmla="*/ 201 w 263"/>
                  <a:gd name="T17" fmla="*/ 228 h 228"/>
                  <a:gd name="T18" fmla="*/ 134 w 263"/>
                  <a:gd name="T19" fmla="*/ 210 h 228"/>
                  <a:gd name="T20" fmla="*/ 67 w 263"/>
                  <a:gd name="T21" fmla="*/ 228 h 228"/>
                  <a:gd name="T22" fmla="*/ 49 w 263"/>
                  <a:gd name="T23" fmla="*/ 161 h 228"/>
                  <a:gd name="T24" fmla="*/ 0 w 263"/>
                  <a:gd name="T25" fmla="*/ 116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3" h="228">
                    <a:moveTo>
                      <a:pt x="0" y="116"/>
                    </a:moveTo>
                    <a:lnTo>
                      <a:pt x="49" y="67"/>
                    </a:lnTo>
                    <a:lnTo>
                      <a:pt x="67" y="0"/>
                    </a:lnTo>
                    <a:lnTo>
                      <a:pt x="134" y="23"/>
                    </a:lnTo>
                    <a:lnTo>
                      <a:pt x="201" y="0"/>
                    </a:lnTo>
                    <a:lnTo>
                      <a:pt x="214" y="67"/>
                    </a:lnTo>
                    <a:lnTo>
                      <a:pt x="263" y="116"/>
                    </a:lnTo>
                    <a:lnTo>
                      <a:pt x="214" y="161"/>
                    </a:lnTo>
                    <a:lnTo>
                      <a:pt x="201" y="228"/>
                    </a:lnTo>
                    <a:lnTo>
                      <a:pt x="134" y="210"/>
                    </a:lnTo>
                    <a:lnTo>
                      <a:pt x="67" y="228"/>
                    </a:lnTo>
                    <a:lnTo>
                      <a:pt x="49" y="161"/>
                    </a:lnTo>
                    <a:lnTo>
                      <a:pt x="0" y="116"/>
                    </a:lnTo>
                    <a:close/>
                  </a:path>
                </a:pathLst>
              </a:custGeom>
              <a:ln/>
            </p:spPr>
            <p:style>
              <a:lnRef idx="1">
                <a:schemeClr val="dk1"/>
              </a:lnRef>
              <a:fillRef idx="2">
                <a:schemeClr val="dk1"/>
              </a:fillRef>
              <a:effectRef idx="1">
                <a:schemeClr val="dk1"/>
              </a:effectRef>
              <a:fontRef idx="minor">
                <a:schemeClr val="dk1"/>
              </a:fontRef>
            </p:style>
            <p:txBody>
              <a:bodyPr/>
              <a:lstStyle/>
              <a:p>
                <a:endParaRPr lang="zh-CN" altLang="en-US"/>
              </a:p>
            </p:txBody>
          </p:sp>
        </p:grpSp>
      </p:grpSp>
    </p:spTree>
    <p:extLst>
      <p:ext uri="{BB962C8B-B14F-4D97-AF65-F5344CB8AC3E}">
        <p14:creationId xmlns:p14="http://schemas.microsoft.com/office/powerpoint/2010/main" val="3566115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352839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期货管理规定</a:t>
            </a:r>
            <a:endParaRPr lang="zh-CN" altLang="en-US" dirty="0">
              <a:latin typeface="微软雅黑" pitchFamily="34" charset="-122"/>
              <a:ea typeface="微软雅黑" pitchFamily="34" charset="-122"/>
            </a:endParaRPr>
          </a:p>
        </p:txBody>
      </p:sp>
      <p:sp>
        <p:nvSpPr>
          <p:cNvPr id="4" name="TextBox 3"/>
          <p:cNvSpPr txBox="1"/>
          <p:nvPr/>
        </p:nvSpPr>
        <p:spPr>
          <a:xfrm>
            <a:off x="1186915" y="1124744"/>
            <a:ext cx="1440160"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期货的定义：</a:t>
            </a:r>
            <a:endParaRPr lang="zh-CN" altLang="en-US" dirty="0">
              <a:latin typeface="微软雅黑" pitchFamily="34" charset="-122"/>
              <a:ea typeface="微软雅黑" pitchFamily="34" charset="-122"/>
            </a:endParaRPr>
          </a:p>
        </p:txBody>
      </p:sp>
      <p:sp>
        <p:nvSpPr>
          <p:cNvPr id="5" name="TextBox 4"/>
          <p:cNvSpPr txBox="1"/>
          <p:nvPr/>
        </p:nvSpPr>
        <p:spPr>
          <a:xfrm>
            <a:off x="1906994" y="1700808"/>
            <a:ext cx="5905365" cy="2585323"/>
          </a:xfrm>
          <a:prstGeom prst="rect">
            <a:avLst/>
          </a:prstGeom>
          <a:noFill/>
        </p:spPr>
        <p:txBody>
          <a:bodyPr wrap="square" rtlCol="0">
            <a:spAutoFit/>
          </a:bodyPr>
          <a:lstStyle/>
          <a:p>
            <a:pPr>
              <a:lnSpc>
                <a:spcPct val="150000"/>
              </a:lnSpc>
            </a:pPr>
            <a:r>
              <a:rPr lang="en-US" altLang="zh-CN" dirty="0" smtClean="0">
                <a:latin typeface="微软雅黑" pitchFamily="34" charset="-122"/>
                <a:ea typeface="微软雅黑" pitchFamily="34" charset="-122"/>
              </a:rPr>
              <a:t>        </a:t>
            </a:r>
            <a:r>
              <a:rPr lang="zh-CN" altLang="zh-CN" dirty="0" smtClean="0">
                <a:latin typeface="微软雅黑" pitchFamily="34" charset="-122"/>
                <a:ea typeface="微软雅黑" pitchFamily="34" charset="-122"/>
              </a:rPr>
              <a:t>陕西图丰商贸有限公司</a:t>
            </a:r>
            <a:r>
              <a:rPr lang="zh-CN" altLang="zh-CN" dirty="0">
                <a:latin typeface="微软雅黑" pitchFamily="34" charset="-122"/>
                <a:ea typeface="微软雅黑" pitchFamily="34" charset="-122"/>
              </a:rPr>
              <a:t>每年按照四季（春季、夏季、秋季、冬季）召开四次订货会，每次订货会加盟商必须出席并向公司提交确认签字版的《订单》（见下表</a:t>
            </a:r>
            <a:r>
              <a:rPr lang="zh-CN" altLang="zh-CN" dirty="0" smtClean="0">
                <a:latin typeface="微软雅黑" pitchFamily="34" charset="-122"/>
                <a:ea typeface="微软雅黑" pitchFamily="34" charset="-122"/>
              </a:rPr>
              <a:t>），</a:t>
            </a:r>
            <a:r>
              <a:rPr lang="zh-CN" altLang="en-US" dirty="0">
                <a:latin typeface="微软雅黑" pitchFamily="34" charset="-122"/>
                <a:ea typeface="微软雅黑" pitchFamily="34" charset="-122"/>
              </a:rPr>
              <a:t>商品部</a:t>
            </a:r>
            <a:r>
              <a:rPr lang="zh-CN" altLang="zh-CN" dirty="0" smtClean="0">
                <a:latin typeface="微软雅黑" pitchFamily="34" charset="-122"/>
                <a:ea typeface="微软雅黑" pitchFamily="34" charset="-122"/>
              </a:rPr>
              <a:t>在</a:t>
            </a:r>
            <a:r>
              <a:rPr lang="zh-CN" altLang="zh-CN" dirty="0">
                <a:latin typeface="微软雅黑" pitchFamily="34" charset="-122"/>
                <a:ea typeface="微软雅黑" pitchFamily="34" charset="-122"/>
              </a:rPr>
              <a:t>订货会结束后</a:t>
            </a:r>
            <a:r>
              <a:rPr lang="en-US" altLang="zh-CN" dirty="0">
                <a:latin typeface="微软雅黑" pitchFamily="34" charset="-122"/>
                <a:ea typeface="微软雅黑" pitchFamily="34" charset="-122"/>
              </a:rPr>
              <a:t>1</a:t>
            </a:r>
            <a:r>
              <a:rPr lang="zh-CN" altLang="zh-CN" dirty="0">
                <a:latin typeface="微软雅黑" pitchFamily="34" charset="-122"/>
                <a:ea typeface="微软雅黑" pitchFamily="34" charset="-122"/>
              </a:rPr>
              <a:t>个月内下发《保证金确认单》，加盟商确认签字并回传，在规定的时间内</a:t>
            </a:r>
            <a:r>
              <a:rPr lang="zh-CN" altLang="zh-CN" dirty="0" smtClean="0">
                <a:latin typeface="微软雅黑" pitchFamily="34" charset="-122"/>
                <a:ea typeface="微软雅黑" pitchFamily="34" charset="-122"/>
              </a:rPr>
              <a:t>交付</a:t>
            </a:r>
            <a:r>
              <a:rPr lang="en-US" altLang="zh-CN" i="1" u="sng" dirty="0" smtClean="0">
                <a:latin typeface="微软雅黑" pitchFamily="34" charset="-122"/>
                <a:ea typeface="微软雅黑" pitchFamily="34" charset="-122"/>
              </a:rPr>
              <a:t>XX%</a:t>
            </a:r>
            <a:r>
              <a:rPr lang="zh-CN" altLang="zh-CN" dirty="0">
                <a:latin typeface="微软雅黑" pitchFamily="34" charset="-122"/>
                <a:ea typeface="微软雅黑" pitchFamily="34" charset="-122"/>
              </a:rPr>
              <a:t>的期货保证金，方可在系统内生成期货订单。</a:t>
            </a:r>
            <a:endParaRPr lang="zh-CN" altLang="en-US" dirty="0">
              <a:latin typeface="微软雅黑" pitchFamily="34" charset="-122"/>
              <a:ea typeface="微软雅黑" pitchFamily="34" charset="-122"/>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290157912"/>
              </p:ext>
            </p:extLst>
          </p:nvPr>
        </p:nvGraphicFramePr>
        <p:xfrm>
          <a:off x="6996269" y="4941168"/>
          <a:ext cx="1536170" cy="1152128"/>
        </p:xfrm>
        <a:graphic>
          <a:graphicData uri="http://schemas.openxmlformats.org/presentationml/2006/ole">
            <mc:AlternateContent xmlns:mc="http://schemas.openxmlformats.org/markup-compatibility/2006">
              <mc:Choice xmlns:v="urn:schemas-microsoft-com:vml" Requires="v">
                <p:oleObj spid="_x0000_s5221" name="文档" showAsIcon="1" r:id="rId3" imgW="914400" imgH="685800" progId="Word.Document.12">
                  <p:embed/>
                </p:oleObj>
              </mc:Choice>
              <mc:Fallback>
                <p:oleObj name="文档" showAsIcon="1" r:id="rId3" imgW="914400" imgH="685800" progId="Word.Document.12">
                  <p:embed/>
                  <p:pic>
                    <p:nvPicPr>
                      <p:cNvPr id="0" name=""/>
                      <p:cNvPicPr/>
                      <p:nvPr/>
                    </p:nvPicPr>
                    <p:blipFill>
                      <a:blip r:embed="rId4"/>
                      <a:stretch>
                        <a:fillRect/>
                      </a:stretch>
                    </p:blipFill>
                    <p:spPr>
                      <a:xfrm>
                        <a:off x="6996269" y="4941168"/>
                        <a:ext cx="1536170" cy="1152128"/>
                      </a:xfrm>
                      <a:prstGeom prst="rect">
                        <a:avLst/>
                      </a:prstGeom>
                    </p:spPr>
                  </p:pic>
                </p:oleObj>
              </mc:Fallback>
            </mc:AlternateContent>
          </a:graphicData>
        </a:graphic>
      </p:graphicFrame>
    </p:spTree>
    <p:extLst>
      <p:ext uri="{BB962C8B-B14F-4D97-AF65-F5344CB8AC3E}">
        <p14:creationId xmlns:p14="http://schemas.microsoft.com/office/powerpoint/2010/main" val="33886236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16632"/>
            <a:ext cx="352839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期货管理规定</a:t>
            </a:r>
            <a:endParaRPr lang="zh-CN" altLang="en-US" dirty="0">
              <a:latin typeface="微软雅黑" pitchFamily="34" charset="-122"/>
              <a:ea typeface="微软雅黑" pitchFamily="34" charset="-122"/>
            </a:endParaRPr>
          </a:p>
        </p:txBody>
      </p:sp>
      <p:sp>
        <p:nvSpPr>
          <p:cNvPr id="5" name="TextBox 4"/>
          <p:cNvSpPr txBox="1"/>
          <p:nvPr/>
        </p:nvSpPr>
        <p:spPr>
          <a:xfrm>
            <a:off x="1186915" y="836712"/>
            <a:ext cx="1440160"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期货的执行：</a:t>
            </a:r>
            <a:endParaRPr lang="zh-CN" altLang="en-US" dirty="0">
              <a:latin typeface="微软雅黑" pitchFamily="34" charset="-122"/>
              <a:ea typeface="微软雅黑" pitchFamily="34" charset="-122"/>
            </a:endParaRPr>
          </a:p>
        </p:txBody>
      </p:sp>
      <p:sp>
        <p:nvSpPr>
          <p:cNvPr id="6" name="TextBox 5"/>
          <p:cNvSpPr txBox="1"/>
          <p:nvPr/>
        </p:nvSpPr>
        <p:spPr>
          <a:xfrm>
            <a:off x="1259632" y="1412776"/>
            <a:ext cx="6768752" cy="830997"/>
          </a:xfrm>
          <a:prstGeom prst="rect">
            <a:avLst/>
          </a:prstGeom>
          <a:noFill/>
        </p:spPr>
        <p:txBody>
          <a:bodyPr wrap="square" rtlCol="0">
            <a:spAutoFit/>
          </a:bodyPr>
          <a:lstStyle/>
          <a:p>
            <a:pPr lvl="0"/>
            <a:r>
              <a:rPr lang="en-US" altLang="zh-CN" sz="1600" dirty="0" smtClean="0">
                <a:latin typeface="微软雅黑" pitchFamily="34" charset="-122"/>
                <a:ea typeface="微软雅黑" pitchFamily="34" charset="-122"/>
              </a:rPr>
              <a:t>1.</a:t>
            </a:r>
            <a:r>
              <a:rPr lang="zh-CN" altLang="zh-CN" sz="1600" dirty="0" smtClean="0">
                <a:latin typeface="微软雅黑" pitchFamily="34" charset="-122"/>
                <a:ea typeface="微软雅黑" pitchFamily="34" charset="-122"/>
              </a:rPr>
              <a:t>各</a:t>
            </a:r>
            <a:r>
              <a:rPr lang="zh-CN" altLang="zh-CN" sz="1600" dirty="0">
                <a:latin typeface="微软雅黑" pitchFamily="34" charset="-122"/>
                <a:ea typeface="微软雅黑" pitchFamily="34" charset="-122"/>
              </a:rPr>
              <a:t>季节期货产品的交期结束日期为：</a:t>
            </a:r>
          </a:p>
          <a:p>
            <a:r>
              <a:rPr lang="zh-CN" altLang="zh-CN" sz="1600" dirty="0">
                <a:latin typeface="微软雅黑" pitchFamily="34" charset="-122"/>
                <a:ea typeface="微软雅黑" pitchFamily="34" charset="-122"/>
              </a:rPr>
              <a:t>秋季：</a:t>
            </a:r>
            <a:r>
              <a:rPr lang="zh-CN" altLang="zh-CN" sz="1600" dirty="0" smtClean="0">
                <a:latin typeface="微软雅黑" pitchFamily="34" charset="-122"/>
                <a:ea typeface="微软雅黑" pitchFamily="34" charset="-122"/>
              </a:rPr>
              <a:t>每年</a:t>
            </a:r>
            <a:r>
              <a:rPr lang="en-US" altLang="zh-CN" sz="1600" dirty="0" smtClean="0">
                <a:latin typeface="微软雅黑" pitchFamily="34" charset="-122"/>
                <a:ea typeface="微软雅黑" pitchFamily="34" charset="-122"/>
              </a:rPr>
              <a:t>XX</a:t>
            </a:r>
            <a:r>
              <a:rPr lang="zh-CN" altLang="zh-CN" sz="1600" dirty="0" smtClean="0">
                <a:latin typeface="微软雅黑" pitchFamily="34" charset="-122"/>
                <a:ea typeface="微软雅黑" pitchFamily="34" charset="-122"/>
              </a:rPr>
              <a:t>月</a:t>
            </a:r>
            <a:r>
              <a:rPr lang="en-US" altLang="zh-CN" sz="1600" dirty="0" smtClean="0">
                <a:latin typeface="微软雅黑" pitchFamily="34" charset="-122"/>
                <a:ea typeface="微软雅黑" pitchFamily="34" charset="-122"/>
              </a:rPr>
              <a:t>XX</a:t>
            </a:r>
            <a:r>
              <a:rPr lang="zh-CN" altLang="zh-CN" sz="1600" dirty="0" smtClean="0">
                <a:latin typeface="微软雅黑" pitchFamily="34" charset="-122"/>
                <a:ea typeface="微软雅黑" pitchFamily="34" charset="-122"/>
              </a:rPr>
              <a:t>日</a:t>
            </a:r>
            <a:r>
              <a:rPr lang="en-US" altLang="zh-CN" sz="1600" dirty="0" smtClean="0">
                <a:latin typeface="微软雅黑" pitchFamily="34" charset="-122"/>
                <a:ea typeface="微软雅黑" pitchFamily="34" charset="-122"/>
              </a:rPr>
              <a:t>   </a:t>
            </a:r>
            <a:r>
              <a:rPr lang="zh-CN" altLang="zh-CN" sz="1600" dirty="0">
                <a:latin typeface="微软雅黑" pitchFamily="34" charset="-122"/>
                <a:ea typeface="微软雅黑" pitchFamily="34" charset="-122"/>
              </a:rPr>
              <a:t>冬季：</a:t>
            </a:r>
            <a:r>
              <a:rPr lang="zh-CN" altLang="zh-CN" sz="1600" dirty="0" smtClean="0">
                <a:latin typeface="微软雅黑" pitchFamily="34" charset="-122"/>
                <a:ea typeface="微软雅黑" pitchFamily="34" charset="-122"/>
              </a:rPr>
              <a:t>每年</a:t>
            </a:r>
            <a:r>
              <a:rPr lang="en-US" altLang="zh-CN" sz="1600" dirty="0" smtClean="0">
                <a:latin typeface="微软雅黑" pitchFamily="34" charset="-122"/>
                <a:ea typeface="微软雅黑" pitchFamily="34" charset="-122"/>
              </a:rPr>
              <a:t>XX</a:t>
            </a:r>
            <a:r>
              <a:rPr lang="zh-CN" altLang="zh-CN" sz="1600" dirty="0" smtClean="0">
                <a:latin typeface="微软雅黑" pitchFamily="34" charset="-122"/>
                <a:ea typeface="微软雅黑" pitchFamily="34" charset="-122"/>
              </a:rPr>
              <a:t>月</a:t>
            </a:r>
            <a:r>
              <a:rPr lang="en-US" altLang="zh-CN" sz="1600" dirty="0" smtClean="0">
                <a:latin typeface="微软雅黑" pitchFamily="34" charset="-122"/>
                <a:ea typeface="微软雅黑" pitchFamily="34" charset="-122"/>
              </a:rPr>
              <a:t>XX</a:t>
            </a:r>
            <a:r>
              <a:rPr lang="zh-CN" altLang="zh-CN" sz="1600" dirty="0" smtClean="0">
                <a:latin typeface="微软雅黑" pitchFamily="34" charset="-122"/>
                <a:ea typeface="微软雅黑" pitchFamily="34" charset="-122"/>
              </a:rPr>
              <a:t>日</a:t>
            </a:r>
            <a:endParaRPr lang="zh-CN" altLang="zh-CN" sz="1600" dirty="0">
              <a:latin typeface="微软雅黑" pitchFamily="34" charset="-122"/>
              <a:ea typeface="微软雅黑" pitchFamily="34" charset="-122"/>
            </a:endParaRPr>
          </a:p>
          <a:p>
            <a:r>
              <a:rPr lang="zh-CN" altLang="zh-CN" sz="1600" dirty="0">
                <a:latin typeface="微软雅黑" pitchFamily="34" charset="-122"/>
                <a:ea typeface="微软雅黑" pitchFamily="34" charset="-122"/>
              </a:rPr>
              <a:t>春季：</a:t>
            </a:r>
            <a:r>
              <a:rPr lang="zh-CN" altLang="zh-CN" sz="1600" dirty="0" smtClean="0">
                <a:latin typeface="微软雅黑" pitchFamily="34" charset="-122"/>
                <a:ea typeface="微软雅黑" pitchFamily="34" charset="-122"/>
              </a:rPr>
              <a:t>每年</a:t>
            </a:r>
            <a:r>
              <a:rPr lang="en-US" altLang="zh-CN" sz="1600" dirty="0" smtClean="0">
                <a:latin typeface="微软雅黑" pitchFamily="34" charset="-122"/>
                <a:ea typeface="微软雅黑" pitchFamily="34" charset="-122"/>
              </a:rPr>
              <a:t>XX</a:t>
            </a:r>
            <a:r>
              <a:rPr lang="zh-CN" altLang="zh-CN" sz="1600" dirty="0" smtClean="0">
                <a:latin typeface="微软雅黑" pitchFamily="34" charset="-122"/>
                <a:ea typeface="微软雅黑" pitchFamily="34" charset="-122"/>
              </a:rPr>
              <a:t>月</a:t>
            </a:r>
            <a:r>
              <a:rPr lang="en-US" altLang="zh-CN" sz="1600" dirty="0" smtClean="0">
                <a:latin typeface="微软雅黑" pitchFamily="34" charset="-122"/>
                <a:ea typeface="微软雅黑" pitchFamily="34" charset="-122"/>
              </a:rPr>
              <a:t>XX</a:t>
            </a:r>
            <a:r>
              <a:rPr lang="zh-CN" altLang="zh-CN" sz="1600" dirty="0" smtClean="0">
                <a:latin typeface="微软雅黑" pitchFamily="34" charset="-122"/>
                <a:ea typeface="微软雅黑" pitchFamily="34" charset="-122"/>
              </a:rPr>
              <a:t>日</a:t>
            </a:r>
            <a:r>
              <a:rPr lang="en-US" altLang="zh-CN" sz="1600" dirty="0" smtClean="0">
                <a:latin typeface="微软雅黑" pitchFamily="34" charset="-122"/>
                <a:ea typeface="微软雅黑" pitchFamily="34" charset="-122"/>
              </a:rPr>
              <a:t>   </a:t>
            </a:r>
            <a:r>
              <a:rPr lang="zh-CN" altLang="zh-CN" sz="1600" dirty="0">
                <a:latin typeface="微软雅黑" pitchFamily="34" charset="-122"/>
                <a:ea typeface="微软雅黑" pitchFamily="34" charset="-122"/>
              </a:rPr>
              <a:t>夏季：</a:t>
            </a:r>
            <a:r>
              <a:rPr lang="zh-CN" altLang="zh-CN" sz="1600" dirty="0" smtClean="0">
                <a:latin typeface="微软雅黑" pitchFamily="34" charset="-122"/>
                <a:ea typeface="微软雅黑" pitchFamily="34" charset="-122"/>
              </a:rPr>
              <a:t>每年</a:t>
            </a:r>
            <a:r>
              <a:rPr lang="en-US" altLang="zh-CN" sz="1600" dirty="0" smtClean="0">
                <a:latin typeface="微软雅黑" pitchFamily="34" charset="-122"/>
                <a:ea typeface="微软雅黑" pitchFamily="34" charset="-122"/>
              </a:rPr>
              <a:t>XX</a:t>
            </a:r>
            <a:r>
              <a:rPr lang="zh-CN" altLang="zh-CN" sz="1600" dirty="0" smtClean="0">
                <a:latin typeface="微软雅黑" pitchFamily="34" charset="-122"/>
                <a:ea typeface="微软雅黑" pitchFamily="34" charset="-122"/>
              </a:rPr>
              <a:t>月</a:t>
            </a:r>
            <a:r>
              <a:rPr lang="en-US" altLang="zh-CN" sz="1600" dirty="0" smtClean="0">
                <a:latin typeface="微软雅黑" pitchFamily="34" charset="-122"/>
                <a:ea typeface="微软雅黑" pitchFamily="34" charset="-122"/>
              </a:rPr>
              <a:t>XX</a:t>
            </a:r>
            <a:r>
              <a:rPr lang="zh-CN" altLang="zh-CN" sz="1600" dirty="0" smtClean="0">
                <a:latin typeface="微软雅黑" pitchFamily="34" charset="-122"/>
                <a:ea typeface="微软雅黑" pitchFamily="34" charset="-122"/>
              </a:rPr>
              <a:t>日</a:t>
            </a:r>
            <a:r>
              <a:rPr lang="en-US" altLang="zh-CN" sz="1600" dirty="0" smtClean="0">
                <a:latin typeface="微软雅黑" pitchFamily="34" charset="-122"/>
                <a:ea typeface="微软雅黑" pitchFamily="34" charset="-122"/>
              </a:rPr>
              <a:t>  </a:t>
            </a:r>
            <a:r>
              <a:rPr lang="zh-CN" altLang="zh-CN" sz="1600" dirty="0">
                <a:latin typeface="微软雅黑" pitchFamily="34" charset="-122"/>
                <a:ea typeface="微软雅黑" pitchFamily="34" charset="-122"/>
              </a:rPr>
              <a:t>沙滩鞋：</a:t>
            </a:r>
            <a:r>
              <a:rPr lang="zh-CN" altLang="zh-CN" sz="1600" dirty="0" smtClean="0">
                <a:latin typeface="微软雅黑" pitchFamily="34" charset="-122"/>
                <a:ea typeface="微软雅黑" pitchFamily="34" charset="-122"/>
              </a:rPr>
              <a:t>每年</a:t>
            </a:r>
            <a:r>
              <a:rPr lang="en-US" altLang="zh-CN" sz="1600" dirty="0" smtClean="0">
                <a:latin typeface="微软雅黑" pitchFamily="34" charset="-122"/>
                <a:ea typeface="微软雅黑" pitchFamily="34" charset="-122"/>
              </a:rPr>
              <a:t>XX</a:t>
            </a:r>
            <a:r>
              <a:rPr lang="zh-CN" altLang="zh-CN" sz="1600" dirty="0" smtClean="0">
                <a:latin typeface="微软雅黑" pitchFamily="34" charset="-122"/>
                <a:ea typeface="微软雅黑" pitchFamily="34" charset="-122"/>
              </a:rPr>
              <a:t>月</a:t>
            </a:r>
            <a:r>
              <a:rPr lang="en-US" altLang="zh-CN" sz="1600" dirty="0" smtClean="0">
                <a:latin typeface="微软雅黑" pitchFamily="34" charset="-122"/>
                <a:ea typeface="微软雅黑" pitchFamily="34" charset="-122"/>
              </a:rPr>
              <a:t>XX</a:t>
            </a:r>
            <a:r>
              <a:rPr lang="zh-CN" altLang="zh-CN" sz="1600" dirty="0" smtClean="0">
                <a:latin typeface="微软雅黑" pitchFamily="34" charset="-122"/>
                <a:ea typeface="微软雅黑" pitchFamily="34" charset="-122"/>
              </a:rPr>
              <a:t>日</a:t>
            </a:r>
            <a:endParaRPr lang="zh-CN" altLang="en-US" sz="1600" dirty="0">
              <a:latin typeface="微软雅黑" pitchFamily="34" charset="-122"/>
              <a:ea typeface="微软雅黑" pitchFamily="34" charset="-122"/>
            </a:endParaRPr>
          </a:p>
        </p:txBody>
      </p:sp>
      <p:sp>
        <p:nvSpPr>
          <p:cNvPr id="7" name="TextBox 6"/>
          <p:cNvSpPr txBox="1"/>
          <p:nvPr/>
        </p:nvSpPr>
        <p:spPr>
          <a:xfrm>
            <a:off x="1259632" y="2381979"/>
            <a:ext cx="6768752" cy="830997"/>
          </a:xfrm>
          <a:prstGeom prst="rect">
            <a:avLst/>
          </a:prstGeom>
          <a:noFill/>
        </p:spPr>
        <p:txBody>
          <a:bodyPr wrap="square" rtlCol="0">
            <a:spAutoFit/>
          </a:bodyPr>
          <a:lstStyle/>
          <a:p>
            <a:pPr lvl="0"/>
            <a:r>
              <a:rPr lang="en-US" altLang="zh-CN" sz="1600" dirty="0" smtClean="0">
                <a:latin typeface="微软雅黑" pitchFamily="34" charset="-122"/>
                <a:ea typeface="微软雅黑" pitchFamily="34" charset="-122"/>
              </a:rPr>
              <a:t>2.</a:t>
            </a:r>
            <a:r>
              <a:rPr lang="zh-CN" altLang="zh-CN" sz="1600" dirty="0">
                <a:latin typeface="微软雅黑" pitchFamily="34" charset="-122"/>
                <a:ea typeface="微软雅黑" pitchFamily="34" charset="-122"/>
              </a:rPr>
              <a:t>期货保证金在本季货品交期日结束后，期货执行率达到</a:t>
            </a:r>
            <a:r>
              <a:rPr lang="en-US" altLang="zh-CN" sz="1600" dirty="0">
                <a:latin typeface="微软雅黑" pitchFamily="34" charset="-122"/>
                <a:ea typeface="微软雅黑" pitchFamily="34" charset="-122"/>
              </a:rPr>
              <a:t>100%</a:t>
            </a:r>
            <a:r>
              <a:rPr lang="zh-CN" altLang="zh-CN" sz="1600" dirty="0">
                <a:latin typeface="微软雅黑" pitchFamily="34" charset="-122"/>
                <a:ea typeface="微软雅黑" pitchFamily="34" charset="-122"/>
              </a:rPr>
              <a:t>的返还期货保证金，未达成则没收当季的期货保证金，情节严重者取消其参加下季度的订货会资格</a:t>
            </a:r>
            <a:endParaRPr lang="zh-CN" altLang="en-US" sz="1600" dirty="0">
              <a:latin typeface="微软雅黑" pitchFamily="34" charset="-122"/>
              <a:ea typeface="微软雅黑" pitchFamily="34" charset="-122"/>
            </a:endParaRPr>
          </a:p>
        </p:txBody>
      </p:sp>
      <p:sp>
        <p:nvSpPr>
          <p:cNvPr id="8" name="TextBox 7"/>
          <p:cNvSpPr txBox="1"/>
          <p:nvPr/>
        </p:nvSpPr>
        <p:spPr>
          <a:xfrm>
            <a:off x="1259632" y="3429000"/>
            <a:ext cx="6768752" cy="584775"/>
          </a:xfrm>
          <a:prstGeom prst="rect">
            <a:avLst/>
          </a:prstGeom>
          <a:noFill/>
        </p:spPr>
        <p:txBody>
          <a:bodyPr wrap="square" rtlCol="0">
            <a:spAutoFit/>
          </a:bodyPr>
          <a:lstStyle/>
          <a:p>
            <a:pPr lvl="0"/>
            <a:r>
              <a:rPr lang="en-US" altLang="zh-CN" sz="1600" dirty="0" smtClean="0">
                <a:latin typeface="微软雅黑" pitchFamily="34" charset="-122"/>
                <a:ea typeface="微软雅黑" pitchFamily="34" charset="-122"/>
              </a:rPr>
              <a:t>3.</a:t>
            </a:r>
            <a:r>
              <a:rPr lang="zh-CN" altLang="zh-CN" sz="1600" dirty="0">
                <a:latin typeface="微软雅黑" pitchFamily="34" charset="-122"/>
                <a:ea typeface="微软雅黑" pitchFamily="34" charset="-122"/>
              </a:rPr>
              <a:t>在季前加盟商依据自己的库存结构状况与公司商品对接人沟通期货执行的批次、品类，做好期货执行计划，并合理安排资金</a:t>
            </a:r>
            <a:endParaRPr lang="zh-CN" altLang="en-US" sz="1600" dirty="0">
              <a:latin typeface="微软雅黑" pitchFamily="34" charset="-122"/>
              <a:ea typeface="微软雅黑" pitchFamily="34" charset="-122"/>
            </a:endParaRPr>
          </a:p>
        </p:txBody>
      </p:sp>
      <p:sp>
        <p:nvSpPr>
          <p:cNvPr id="9" name="TextBox 8"/>
          <p:cNvSpPr txBox="1"/>
          <p:nvPr/>
        </p:nvSpPr>
        <p:spPr>
          <a:xfrm>
            <a:off x="1263594" y="4212377"/>
            <a:ext cx="6768752" cy="1077218"/>
          </a:xfrm>
          <a:prstGeom prst="rect">
            <a:avLst/>
          </a:prstGeom>
          <a:noFill/>
        </p:spPr>
        <p:txBody>
          <a:bodyPr wrap="square" rtlCol="0">
            <a:spAutoFit/>
          </a:bodyPr>
          <a:lstStyle/>
          <a:p>
            <a:pPr lvl="0"/>
            <a:r>
              <a:rPr lang="en-US" altLang="zh-CN" sz="1600" dirty="0" smtClean="0">
                <a:latin typeface="微软雅黑" pitchFamily="34" charset="-122"/>
                <a:ea typeface="微软雅黑" pitchFamily="34" charset="-122"/>
              </a:rPr>
              <a:t>4.</a:t>
            </a:r>
            <a:r>
              <a:rPr lang="zh-CN" altLang="zh-CN" sz="1600" dirty="0">
                <a:latin typeface="微软雅黑" pitchFamily="34" charset="-122"/>
                <a:ea typeface="微软雅黑" pitchFamily="34" charset="-122"/>
              </a:rPr>
              <a:t>市场部每月月底前下发次月的《月度发货及汇款跟进表》，加盟商签字确认并回传，加盟商按照约定好的汇款进度时间进行汇款，商品专员按照汇款进度达成情况进行发货。若加盟商未按照《汇款进度表》汇款，商品专员有权不按进度发货</a:t>
            </a:r>
            <a:endParaRPr lang="zh-CN" altLang="en-US" sz="1600" dirty="0">
              <a:latin typeface="微软雅黑" pitchFamily="34" charset="-122"/>
              <a:ea typeface="微软雅黑" pitchFamily="34" charset="-122"/>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1192270221"/>
              </p:ext>
            </p:extLst>
          </p:nvPr>
        </p:nvGraphicFramePr>
        <p:xfrm>
          <a:off x="7020272" y="5445224"/>
          <a:ext cx="1632181" cy="1224136"/>
        </p:xfrm>
        <a:graphic>
          <a:graphicData uri="http://schemas.openxmlformats.org/presentationml/2006/ole">
            <mc:AlternateContent xmlns:mc="http://schemas.openxmlformats.org/markup-compatibility/2006">
              <mc:Choice xmlns:v="urn:schemas-microsoft-com:vml" Requires="v">
                <p:oleObj spid="_x0000_s6244" name="文档" showAsIcon="1" r:id="rId3" imgW="914400" imgH="685800" progId="Word.Document.12">
                  <p:embed/>
                </p:oleObj>
              </mc:Choice>
              <mc:Fallback>
                <p:oleObj name="文档" showAsIcon="1" r:id="rId3" imgW="914400" imgH="685800" progId="Word.Document.12">
                  <p:embed/>
                  <p:pic>
                    <p:nvPicPr>
                      <p:cNvPr id="0" name=""/>
                      <p:cNvPicPr/>
                      <p:nvPr/>
                    </p:nvPicPr>
                    <p:blipFill>
                      <a:blip r:embed="rId4"/>
                      <a:stretch>
                        <a:fillRect/>
                      </a:stretch>
                    </p:blipFill>
                    <p:spPr>
                      <a:xfrm>
                        <a:off x="7020272" y="5445224"/>
                        <a:ext cx="1632181" cy="1224136"/>
                      </a:xfrm>
                      <a:prstGeom prst="rect">
                        <a:avLst/>
                      </a:prstGeom>
                    </p:spPr>
                  </p:pic>
                </p:oleObj>
              </mc:Fallback>
            </mc:AlternateContent>
          </a:graphicData>
        </a:graphic>
      </p:graphicFrame>
    </p:spTree>
    <p:extLst>
      <p:ext uri="{BB962C8B-B14F-4D97-AF65-F5344CB8AC3E}">
        <p14:creationId xmlns:p14="http://schemas.microsoft.com/office/powerpoint/2010/main" val="33886236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16632"/>
            <a:ext cx="352839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现货管理规定</a:t>
            </a:r>
            <a:endParaRPr lang="zh-CN" altLang="en-US" dirty="0">
              <a:latin typeface="微软雅黑" pitchFamily="34" charset="-122"/>
              <a:ea typeface="微软雅黑" pitchFamily="34" charset="-122"/>
            </a:endParaRPr>
          </a:p>
        </p:txBody>
      </p:sp>
      <p:sp>
        <p:nvSpPr>
          <p:cNvPr id="5" name="TextBox 4"/>
          <p:cNvSpPr txBox="1"/>
          <p:nvPr/>
        </p:nvSpPr>
        <p:spPr>
          <a:xfrm>
            <a:off x="1186915" y="1124744"/>
            <a:ext cx="1440160"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现货的定义：</a:t>
            </a:r>
            <a:endParaRPr lang="zh-CN" altLang="en-US" dirty="0">
              <a:latin typeface="微软雅黑" pitchFamily="34" charset="-122"/>
              <a:ea typeface="微软雅黑" pitchFamily="34" charset="-122"/>
            </a:endParaRPr>
          </a:p>
        </p:txBody>
      </p:sp>
      <p:sp>
        <p:nvSpPr>
          <p:cNvPr id="6" name="矩形 5"/>
          <p:cNvSpPr/>
          <p:nvPr/>
        </p:nvSpPr>
        <p:spPr>
          <a:xfrm>
            <a:off x="2100995" y="1844824"/>
            <a:ext cx="5328592" cy="1200329"/>
          </a:xfrm>
          <a:prstGeom prst="rect">
            <a:avLst/>
          </a:prstGeom>
        </p:spPr>
        <p:txBody>
          <a:bodyPr wrap="square">
            <a:spAutoFit/>
          </a:bodyPr>
          <a:lstStyle/>
          <a:p>
            <a:pPr>
              <a:lnSpc>
                <a:spcPct val="150000"/>
              </a:lnSpc>
            </a:pPr>
            <a:r>
              <a:rPr lang="en-US" altLang="zh-CN" sz="1600" dirty="0" smtClean="0">
                <a:latin typeface="微软雅黑" pitchFamily="34" charset="-122"/>
                <a:ea typeface="微软雅黑" pitchFamily="34" charset="-122"/>
              </a:rPr>
              <a:t>         </a:t>
            </a:r>
            <a:r>
              <a:rPr lang="zh-CN" altLang="zh-CN" sz="1600" dirty="0" smtClean="0">
                <a:latin typeface="微软雅黑" pitchFamily="34" charset="-122"/>
                <a:ea typeface="微软雅黑" pitchFamily="34" charset="-122"/>
              </a:rPr>
              <a:t>现货</a:t>
            </a:r>
            <a:r>
              <a:rPr lang="zh-CN" altLang="zh-CN" sz="1600" dirty="0">
                <a:latin typeface="微软雅黑" pitchFamily="34" charset="-122"/>
                <a:ea typeface="微软雅黑" pitchFamily="34" charset="-122"/>
              </a:rPr>
              <a:t>特指由于不可抗力因素未能参加订货会的加盟商和新开店的加盟商来公司展厅选择的货品订单以及期货客户的补货</a:t>
            </a:r>
            <a:r>
              <a:rPr lang="zh-CN" altLang="zh-CN" sz="1600" dirty="0" smtClean="0">
                <a:latin typeface="微软雅黑" pitchFamily="34" charset="-122"/>
                <a:ea typeface="微软雅黑" pitchFamily="34" charset="-122"/>
              </a:rPr>
              <a:t>订单</a:t>
            </a:r>
            <a:r>
              <a:rPr lang="zh-CN" altLang="en-US" sz="1600" dirty="0" smtClean="0">
                <a:latin typeface="微软雅黑" pitchFamily="34" charset="-122"/>
                <a:ea typeface="微软雅黑" pitchFamily="34" charset="-122"/>
              </a:rPr>
              <a:t>。</a:t>
            </a:r>
            <a:endParaRPr lang="zh-CN" altLang="en-US" sz="1600" dirty="0">
              <a:latin typeface="微软雅黑" pitchFamily="34" charset="-122"/>
              <a:ea typeface="微软雅黑" pitchFamily="34" charset="-122"/>
            </a:endParaRPr>
          </a:p>
        </p:txBody>
      </p:sp>
    </p:spTree>
    <p:extLst>
      <p:ext uri="{BB962C8B-B14F-4D97-AF65-F5344CB8AC3E}">
        <p14:creationId xmlns:p14="http://schemas.microsoft.com/office/powerpoint/2010/main" val="33886236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16632"/>
            <a:ext cx="352839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现货管理规定</a:t>
            </a:r>
            <a:endParaRPr lang="zh-CN" altLang="en-US" dirty="0">
              <a:latin typeface="微软雅黑" pitchFamily="34" charset="-122"/>
              <a:ea typeface="微软雅黑" pitchFamily="34" charset="-122"/>
            </a:endParaRPr>
          </a:p>
        </p:txBody>
      </p:sp>
      <p:sp>
        <p:nvSpPr>
          <p:cNvPr id="5" name="TextBox 4"/>
          <p:cNvSpPr txBox="1"/>
          <p:nvPr/>
        </p:nvSpPr>
        <p:spPr>
          <a:xfrm>
            <a:off x="1186915" y="908720"/>
            <a:ext cx="1440160"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现货的执行：</a:t>
            </a:r>
            <a:endParaRPr lang="zh-CN" altLang="en-US" dirty="0">
              <a:latin typeface="微软雅黑" pitchFamily="34" charset="-122"/>
              <a:ea typeface="微软雅黑" pitchFamily="34" charset="-122"/>
            </a:endParaRPr>
          </a:p>
        </p:txBody>
      </p:sp>
      <p:sp>
        <p:nvSpPr>
          <p:cNvPr id="2" name="矩形 1"/>
          <p:cNvSpPr/>
          <p:nvPr/>
        </p:nvSpPr>
        <p:spPr>
          <a:xfrm>
            <a:off x="1619672" y="1628800"/>
            <a:ext cx="2816797" cy="338554"/>
          </a:xfrm>
          <a:prstGeom prst="rect">
            <a:avLst/>
          </a:prstGeom>
        </p:spPr>
        <p:txBody>
          <a:bodyPr wrap="none">
            <a:spAutoFit/>
          </a:bodyPr>
          <a:lstStyle/>
          <a:p>
            <a:r>
              <a:rPr lang="en-US" altLang="zh-CN" sz="1600" dirty="0" smtClean="0">
                <a:latin typeface="微软雅黑" pitchFamily="34" charset="-122"/>
                <a:ea typeface="微软雅黑" pitchFamily="34" charset="-122"/>
              </a:rPr>
              <a:t>1.</a:t>
            </a:r>
            <a:r>
              <a:rPr lang="zh-CN" altLang="zh-CN" sz="1600" dirty="0" smtClean="0">
                <a:latin typeface="微软雅黑" pitchFamily="34" charset="-122"/>
                <a:ea typeface="微软雅黑" pitchFamily="34" charset="-122"/>
              </a:rPr>
              <a:t>现货</a:t>
            </a:r>
            <a:r>
              <a:rPr lang="zh-CN" altLang="zh-CN" sz="1600" dirty="0">
                <a:latin typeface="微软雅黑" pitchFamily="34" charset="-122"/>
                <a:ea typeface="微软雅黑" pitchFamily="34" charset="-122"/>
              </a:rPr>
              <a:t>订单实行款到发货</a:t>
            </a:r>
            <a:r>
              <a:rPr lang="zh-CN" altLang="zh-CN" sz="1600" dirty="0" smtClean="0">
                <a:latin typeface="微软雅黑" pitchFamily="34" charset="-122"/>
                <a:ea typeface="微软雅黑" pitchFamily="34" charset="-122"/>
              </a:rPr>
              <a:t>原则</a:t>
            </a:r>
            <a:endParaRPr lang="zh-CN" altLang="en-US" sz="1600" dirty="0">
              <a:latin typeface="微软雅黑" pitchFamily="34" charset="-122"/>
              <a:ea typeface="微软雅黑" pitchFamily="34" charset="-122"/>
            </a:endParaRPr>
          </a:p>
        </p:txBody>
      </p:sp>
      <p:sp>
        <p:nvSpPr>
          <p:cNvPr id="3" name="矩形 2"/>
          <p:cNvSpPr/>
          <p:nvPr/>
        </p:nvSpPr>
        <p:spPr>
          <a:xfrm>
            <a:off x="1620381" y="2204864"/>
            <a:ext cx="6264696" cy="584775"/>
          </a:xfrm>
          <a:prstGeom prst="rect">
            <a:avLst/>
          </a:prstGeom>
        </p:spPr>
        <p:txBody>
          <a:bodyPr wrap="square">
            <a:spAutoFit/>
          </a:bodyPr>
          <a:lstStyle/>
          <a:p>
            <a:r>
              <a:rPr lang="en-US" altLang="zh-CN" sz="1600" dirty="0" smtClean="0">
                <a:latin typeface="微软雅黑" pitchFamily="34" charset="-122"/>
                <a:ea typeface="微软雅黑" pitchFamily="34" charset="-122"/>
              </a:rPr>
              <a:t>2.</a:t>
            </a:r>
            <a:r>
              <a:rPr lang="zh-CN" altLang="zh-CN" sz="1600" dirty="0" smtClean="0">
                <a:latin typeface="微软雅黑" pitchFamily="34" charset="-122"/>
                <a:ea typeface="微软雅黑" pitchFamily="34" charset="-122"/>
              </a:rPr>
              <a:t>期货</a:t>
            </a:r>
            <a:r>
              <a:rPr lang="zh-CN" altLang="zh-CN" sz="1600" dirty="0">
                <a:latin typeface="微软雅黑" pitchFamily="34" charset="-122"/>
                <a:ea typeface="微软雅黑" pitchFamily="34" charset="-122"/>
              </a:rPr>
              <a:t>客户的补货订单必须通过传真的形式传至公司。内容包括：区域、加盟商名称、日期、标准款号、颜色、尺码、数量</a:t>
            </a:r>
            <a:endParaRPr lang="zh-CN" altLang="en-US" sz="1600" dirty="0">
              <a:latin typeface="微软雅黑" pitchFamily="34" charset="-122"/>
              <a:ea typeface="微软雅黑" pitchFamily="34" charset="-122"/>
            </a:endParaRPr>
          </a:p>
        </p:txBody>
      </p:sp>
      <p:sp>
        <p:nvSpPr>
          <p:cNvPr id="7" name="矩形 6"/>
          <p:cNvSpPr/>
          <p:nvPr/>
        </p:nvSpPr>
        <p:spPr>
          <a:xfrm>
            <a:off x="1620381" y="3060249"/>
            <a:ext cx="6264696" cy="338554"/>
          </a:xfrm>
          <a:prstGeom prst="rect">
            <a:avLst/>
          </a:prstGeom>
        </p:spPr>
        <p:txBody>
          <a:bodyPr wrap="square">
            <a:spAutoFit/>
          </a:bodyPr>
          <a:lstStyle/>
          <a:p>
            <a:r>
              <a:rPr lang="en-US" altLang="zh-CN" sz="1600" dirty="0" smtClean="0">
                <a:latin typeface="微软雅黑" pitchFamily="34" charset="-122"/>
                <a:ea typeface="微软雅黑" pitchFamily="34" charset="-122"/>
              </a:rPr>
              <a:t>3.</a:t>
            </a:r>
            <a:r>
              <a:rPr lang="zh-CN" altLang="zh-CN" sz="1600" dirty="0">
                <a:latin typeface="微软雅黑" pitchFamily="34" charset="-122"/>
                <a:ea typeface="微软雅黑" pitchFamily="34" charset="-122"/>
              </a:rPr>
              <a:t>现货订单根据公司的备货状况</a:t>
            </a:r>
            <a:r>
              <a:rPr lang="zh-CN" altLang="zh-CN" sz="1600" dirty="0" smtClean="0">
                <a:latin typeface="微软雅黑" pitchFamily="34" charset="-122"/>
                <a:ea typeface="微软雅黑" pitchFamily="34" charset="-122"/>
              </a:rPr>
              <a:t>给</a:t>
            </a:r>
            <a:r>
              <a:rPr lang="zh-CN" altLang="en-US" sz="1600" dirty="0" smtClean="0">
                <a:latin typeface="微软雅黑" pitchFamily="34" charset="-122"/>
                <a:ea typeface="微软雅黑" pitchFamily="34" charset="-122"/>
              </a:rPr>
              <a:t>予</a:t>
            </a:r>
            <a:r>
              <a:rPr lang="zh-CN" altLang="zh-CN" sz="1600" dirty="0" smtClean="0">
                <a:latin typeface="微软雅黑" pitchFamily="34" charset="-122"/>
                <a:ea typeface="微软雅黑" pitchFamily="34" charset="-122"/>
              </a:rPr>
              <a:t>配送</a:t>
            </a:r>
            <a:r>
              <a:rPr lang="zh-CN" altLang="zh-CN" sz="1600" dirty="0">
                <a:latin typeface="微软雅黑" pitchFamily="34" charset="-122"/>
                <a:ea typeface="微软雅黑" pitchFamily="34" charset="-122"/>
              </a:rPr>
              <a:t>，但不保证</a:t>
            </a:r>
            <a:r>
              <a:rPr lang="zh-CN" altLang="zh-CN" sz="1600" dirty="0" smtClean="0">
                <a:latin typeface="微软雅黑" pitchFamily="34" charset="-122"/>
                <a:ea typeface="微软雅黑" pitchFamily="34" charset="-122"/>
              </a:rPr>
              <a:t>货源</a:t>
            </a:r>
            <a:endParaRPr lang="zh-CN" altLang="en-US" sz="1600" dirty="0">
              <a:latin typeface="微软雅黑" pitchFamily="34" charset="-122"/>
              <a:ea typeface="微软雅黑" pitchFamily="34" charset="-122"/>
            </a:endParaRPr>
          </a:p>
        </p:txBody>
      </p:sp>
      <p:sp>
        <p:nvSpPr>
          <p:cNvPr id="8" name="矩形 7"/>
          <p:cNvSpPr/>
          <p:nvPr/>
        </p:nvSpPr>
        <p:spPr>
          <a:xfrm>
            <a:off x="1620381" y="3645024"/>
            <a:ext cx="6235220" cy="584775"/>
          </a:xfrm>
          <a:prstGeom prst="rect">
            <a:avLst/>
          </a:prstGeom>
        </p:spPr>
        <p:txBody>
          <a:bodyPr wrap="square">
            <a:spAutoFit/>
          </a:bodyPr>
          <a:lstStyle/>
          <a:p>
            <a:r>
              <a:rPr lang="en-US" altLang="zh-CN" sz="1600" dirty="0" smtClean="0">
                <a:latin typeface="微软雅黑" pitchFamily="34" charset="-122"/>
                <a:ea typeface="微软雅黑" pitchFamily="34" charset="-122"/>
              </a:rPr>
              <a:t>4.</a:t>
            </a:r>
            <a:r>
              <a:rPr lang="zh-CN" altLang="zh-CN" sz="1600" dirty="0" smtClean="0">
                <a:latin typeface="微软雅黑" pitchFamily="34" charset="-122"/>
                <a:ea typeface="微软雅黑" pitchFamily="34" charset="-122"/>
              </a:rPr>
              <a:t>新</a:t>
            </a:r>
            <a:r>
              <a:rPr lang="zh-CN" altLang="zh-CN" sz="1600" dirty="0">
                <a:latin typeface="微软雅黑" pitchFamily="34" charset="-122"/>
                <a:ea typeface="微软雅黑" pitchFamily="34" charset="-122"/>
              </a:rPr>
              <a:t>开店加盟商按照公司要求制定《新店开业上货计划表》</a:t>
            </a:r>
            <a:r>
              <a:rPr lang="zh-CN" altLang="zh-CN" sz="1600" dirty="0" smtClean="0">
                <a:latin typeface="微软雅黑" pitchFamily="34" charset="-122"/>
                <a:ea typeface="微软雅黑" pitchFamily="34" charset="-122"/>
              </a:rPr>
              <a:t>，</a:t>
            </a:r>
            <a:r>
              <a:rPr lang="zh-CN" altLang="en-US" sz="1600" dirty="0" smtClean="0">
                <a:latin typeface="微软雅黑" pitchFamily="34" charset="-122"/>
                <a:ea typeface="微软雅黑" pitchFamily="34" charset="-122"/>
              </a:rPr>
              <a:t>若</a:t>
            </a:r>
            <a:r>
              <a:rPr lang="zh-CN" altLang="zh-CN" sz="1600" dirty="0" smtClean="0">
                <a:latin typeface="微软雅黑" pitchFamily="34" charset="-122"/>
                <a:ea typeface="微软雅黑" pitchFamily="34" charset="-122"/>
              </a:rPr>
              <a:t>仓库</a:t>
            </a:r>
            <a:r>
              <a:rPr lang="zh-CN" altLang="zh-CN" sz="1600" dirty="0">
                <a:latin typeface="微软雅黑" pitchFamily="34" charset="-122"/>
                <a:ea typeface="微软雅黑" pitchFamily="34" charset="-122"/>
              </a:rPr>
              <a:t>没有货</a:t>
            </a:r>
            <a:r>
              <a:rPr lang="zh-CN" altLang="zh-CN" sz="1600" dirty="0" smtClean="0">
                <a:latin typeface="微软雅黑" pitchFamily="34" charset="-122"/>
                <a:ea typeface="微软雅黑" pitchFamily="34" charset="-122"/>
              </a:rPr>
              <a:t>，</a:t>
            </a:r>
            <a:r>
              <a:rPr lang="zh-CN" altLang="en-US" sz="1600" dirty="0" smtClean="0">
                <a:latin typeface="微软雅黑" pitchFamily="34" charset="-122"/>
                <a:ea typeface="微软雅黑" pitchFamily="34" charset="-122"/>
              </a:rPr>
              <a:t>分销组</a:t>
            </a:r>
            <a:r>
              <a:rPr lang="zh-CN" altLang="zh-CN" sz="1600" dirty="0" smtClean="0">
                <a:latin typeface="微软雅黑" pitchFamily="34" charset="-122"/>
                <a:ea typeface="微软雅黑" pitchFamily="34" charset="-122"/>
              </a:rPr>
              <a:t>向</a:t>
            </a:r>
            <a:r>
              <a:rPr lang="zh-CN" altLang="en-US" sz="1600" dirty="0" smtClean="0">
                <a:latin typeface="微软雅黑" pitchFamily="34" charset="-122"/>
                <a:ea typeface="微软雅黑" pitchFamily="34" charset="-122"/>
              </a:rPr>
              <a:t>直营组</a:t>
            </a:r>
            <a:r>
              <a:rPr lang="zh-CN" altLang="zh-CN" sz="1600" dirty="0" smtClean="0">
                <a:latin typeface="微软雅黑" pitchFamily="34" charset="-122"/>
                <a:ea typeface="微软雅黑" pitchFamily="34" charset="-122"/>
              </a:rPr>
              <a:t>申请</a:t>
            </a:r>
            <a:r>
              <a:rPr lang="zh-CN" altLang="zh-CN" sz="1600" dirty="0">
                <a:latin typeface="微软雅黑" pitchFamily="34" charset="-122"/>
                <a:ea typeface="微软雅黑" pitchFamily="34" charset="-122"/>
              </a:rPr>
              <a:t>从直营店调货。</a:t>
            </a:r>
            <a:endParaRPr lang="zh-CN" altLang="en-US" sz="1600" dirty="0">
              <a:latin typeface="微软雅黑" pitchFamily="34" charset="-122"/>
              <a:ea typeface="微软雅黑" pitchFamily="34" charset="-122"/>
            </a:endParaRPr>
          </a:p>
        </p:txBody>
      </p:sp>
      <p:sp>
        <p:nvSpPr>
          <p:cNvPr id="9" name="矩形 8"/>
          <p:cNvSpPr/>
          <p:nvPr/>
        </p:nvSpPr>
        <p:spPr>
          <a:xfrm>
            <a:off x="1656183" y="4509120"/>
            <a:ext cx="6199417" cy="615553"/>
          </a:xfrm>
          <a:prstGeom prst="rect">
            <a:avLst/>
          </a:prstGeom>
        </p:spPr>
        <p:txBody>
          <a:bodyPr wrap="square">
            <a:spAutoFit/>
          </a:bodyPr>
          <a:lstStyle/>
          <a:p>
            <a:r>
              <a:rPr lang="en-US" altLang="zh-CN" dirty="0" smtClean="0"/>
              <a:t>5.</a:t>
            </a:r>
            <a:r>
              <a:rPr lang="zh-CN" altLang="zh-CN" sz="1600" dirty="0" smtClean="0">
                <a:latin typeface="微软雅黑" pitchFamily="34" charset="-122"/>
                <a:ea typeface="微软雅黑" pitchFamily="34" charset="-122"/>
              </a:rPr>
              <a:t>因欠款</a:t>
            </a:r>
            <a:r>
              <a:rPr lang="zh-CN" altLang="en-US" sz="1600" dirty="0" smtClean="0">
                <a:latin typeface="微软雅黑" pitchFamily="34" charset="-122"/>
                <a:ea typeface="微软雅黑" pitchFamily="34" charset="-122"/>
              </a:rPr>
              <a:t>或</a:t>
            </a:r>
            <a:r>
              <a:rPr lang="zh-CN" altLang="zh-CN" sz="1600" dirty="0" smtClean="0">
                <a:latin typeface="微软雅黑" pitchFamily="34" charset="-122"/>
                <a:ea typeface="微软雅黑" pitchFamily="34" charset="-122"/>
              </a:rPr>
              <a:t>违反</a:t>
            </a:r>
            <a:r>
              <a:rPr lang="zh-CN" altLang="zh-CN" sz="1600" dirty="0">
                <a:latin typeface="微软雅黑" pitchFamily="34" charset="-122"/>
                <a:ea typeface="微软雅黑" pitchFamily="34" charset="-122"/>
              </a:rPr>
              <a:t>公司市场管理政策或商品管理政策被停发的加盟商，公司不保证货源，造成的一切损失将由加盟商自行承担。</a:t>
            </a:r>
            <a:endParaRPr lang="zh-CN" altLang="en-US" sz="1600" dirty="0">
              <a:latin typeface="微软雅黑" pitchFamily="34" charset="-122"/>
              <a:ea typeface="微软雅黑" pitchFamily="34" charset="-122"/>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2692518270"/>
              </p:ext>
            </p:extLst>
          </p:nvPr>
        </p:nvGraphicFramePr>
        <p:xfrm>
          <a:off x="7236296" y="5517232"/>
          <a:ext cx="1296144" cy="972108"/>
        </p:xfrm>
        <a:graphic>
          <a:graphicData uri="http://schemas.openxmlformats.org/presentationml/2006/ole">
            <mc:AlternateContent xmlns:mc="http://schemas.openxmlformats.org/markup-compatibility/2006">
              <mc:Choice xmlns:v="urn:schemas-microsoft-com:vml" Requires="v">
                <p:oleObj spid="_x0000_s7265" name="文档" showAsIcon="1" r:id="rId3" imgW="914400" imgH="685800" progId="Word.Document.12">
                  <p:embed/>
                </p:oleObj>
              </mc:Choice>
              <mc:Fallback>
                <p:oleObj name="文档" showAsIcon="1" r:id="rId3" imgW="914400" imgH="685800" progId="Word.Document.12">
                  <p:embed/>
                  <p:pic>
                    <p:nvPicPr>
                      <p:cNvPr id="0" name=""/>
                      <p:cNvPicPr/>
                      <p:nvPr/>
                    </p:nvPicPr>
                    <p:blipFill>
                      <a:blip r:embed="rId4"/>
                      <a:stretch>
                        <a:fillRect/>
                      </a:stretch>
                    </p:blipFill>
                    <p:spPr>
                      <a:xfrm>
                        <a:off x="7236296" y="5517232"/>
                        <a:ext cx="1296144" cy="972108"/>
                      </a:xfrm>
                      <a:prstGeom prst="rect">
                        <a:avLst/>
                      </a:prstGeom>
                    </p:spPr>
                  </p:pic>
                </p:oleObj>
              </mc:Fallback>
            </mc:AlternateContent>
          </a:graphicData>
        </a:graphic>
      </p:graphicFrame>
    </p:spTree>
    <p:extLst>
      <p:ext uri="{BB962C8B-B14F-4D97-AF65-F5344CB8AC3E}">
        <p14:creationId xmlns:p14="http://schemas.microsoft.com/office/powerpoint/2010/main" val="133356750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16632"/>
            <a:ext cx="352839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政策货品管理规定</a:t>
            </a:r>
            <a:endParaRPr lang="zh-CN" altLang="en-US" dirty="0">
              <a:latin typeface="微软雅黑" pitchFamily="34" charset="-122"/>
              <a:ea typeface="微软雅黑" pitchFamily="34" charset="-122"/>
            </a:endParaRPr>
          </a:p>
        </p:txBody>
      </p:sp>
      <p:sp>
        <p:nvSpPr>
          <p:cNvPr id="5" name="TextBox 4"/>
          <p:cNvSpPr txBox="1"/>
          <p:nvPr/>
        </p:nvSpPr>
        <p:spPr>
          <a:xfrm>
            <a:off x="1186914" y="1124744"/>
            <a:ext cx="2088941"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政策货品的定义：</a:t>
            </a:r>
            <a:endParaRPr lang="zh-CN" altLang="en-US" dirty="0">
              <a:latin typeface="微软雅黑" pitchFamily="34" charset="-122"/>
              <a:ea typeface="微软雅黑" pitchFamily="34" charset="-122"/>
            </a:endParaRPr>
          </a:p>
        </p:txBody>
      </p:sp>
      <p:sp>
        <p:nvSpPr>
          <p:cNvPr id="6" name="矩形 5"/>
          <p:cNvSpPr/>
          <p:nvPr/>
        </p:nvSpPr>
        <p:spPr>
          <a:xfrm>
            <a:off x="2123728" y="1916832"/>
            <a:ext cx="4572000" cy="1289905"/>
          </a:xfrm>
          <a:prstGeom prst="rect">
            <a:avLst/>
          </a:prstGeom>
        </p:spPr>
        <p:txBody>
          <a:bodyPr>
            <a:spAutoFit/>
          </a:bodyPr>
          <a:lstStyle/>
          <a:p>
            <a:pPr>
              <a:lnSpc>
                <a:spcPct val="150000"/>
              </a:lnSpc>
            </a:pPr>
            <a:r>
              <a:rPr lang="en-US" altLang="zh-CN" dirty="0" smtClean="0">
                <a:latin typeface="微软雅黑" pitchFamily="34" charset="-122"/>
                <a:ea typeface="微软雅黑" pitchFamily="34" charset="-122"/>
              </a:rPr>
              <a:t>         </a:t>
            </a:r>
            <a:r>
              <a:rPr lang="zh-CN" altLang="zh-CN" dirty="0" smtClean="0">
                <a:latin typeface="微软雅黑" pitchFamily="34" charset="-122"/>
                <a:ea typeface="微软雅黑" pitchFamily="34" charset="-122"/>
              </a:rPr>
              <a:t>特指</a:t>
            </a:r>
            <a:r>
              <a:rPr lang="zh-CN" altLang="zh-CN" dirty="0">
                <a:latin typeface="微软雅黑" pitchFamily="34" charset="-122"/>
                <a:ea typeface="微软雅黑" pitchFamily="34" charset="-122"/>
              </a:rPr>
              <a:t>公司根据加盟商的实际情况并结合市场状况，给予部分加盟商政策支持的货品。</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3886236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16632"/>
            <a:ext cx="352839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政策货品管理规定</a:t>
            </a:r>
            <a:endParaRPr lang="zh-CN" altLang="en-US" dirty="0">
              <a:latin typeface="微软雅黑" pitchFamily="34" charset="-122"/>
              <a:ea typeface="微软雅黑" pitchFamily="34" charset="-122"/>
            </a:endParaRPr>
          </a:p>
        </p:txBody>
      </p:sp>
      <p:sp>
        <p:nvSpPr>
          <p:cNvPr id="5" name="TextBox 4"/>
          <p:cNvSpPr txBox="1"/>
          <p:nvPr/>
        </p:nvSpPr>
        <p:spPr>
          <a:xfrm>
            <a:off x="1186914" y="1124744"/>
            <a:ext cx="2088941"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政策货品的执行：</a:t>
            </a:r>
            <a:endParaRPr lang="zh-CN" altLang="en-US" dirty="0">
              <a:latin typeface="微软雅黑" pitchFamily="34" charset="-122"/>
              <a:ea typeface="微软雅黑" pitchFamily="34" charset="-122"/>
            </a:endParaRPr>
          </a:p>
        </p:txBody>
      </p:sp>
      <p:sp>
        <p:nvSpPr>
          <p:cNvPr id="6" name="矩形 5"/>
          <p:cNvSpPr/>
          <p:nvPr/>
        </p:nvSpPr>
        <p:spPr>
          <a:xfrm>
            <a:off x="1619672" y="1772816"/>
            <a:ext cx="4572000" cy="418191"/>
          </a:xfrm>
          <a:prstGeom prst="rect">
            <a:avLst/>
          </a:prstGeom>
        </p:spPr>
        <p:txBody>
          <a:bodyPr>
            <a:spAutoFit/>
          </a:bodyPr>
          <a:lstStyle/>
          <a:p>
            <a:pPr>
              <a:lnSpc>
                <a:spcPct val="150000"/>
              </a:lnSpc>
            </a:pPr>
            <a:r>
              <a:rPr lang="en-US" altLang="zh-CN" sz="1600" dirty="0" smtClean="0">
                <a:latin typeface="微软雅黑" pitchFamily="34" charset="-122"/>
                <a:ea typeface="微软雅黑" pitchFamily="34" charset="-122"/>
              </a:rPr>
              <a:t>1.</a:t>
            </a:r>
            <a:r>
              <a:rPr lang="zh-CN" altLang="en-US" sz="1600" dirty="0" smtClean="0">
                <a:latin typeface="微软雅黑" pitchFamily="34" charset="-122"/>
                <a:ea typeface="微软雅黑" pitchFamily="34" charset="-122"/>
              </a:rPr>
              <a:t>政策</a:t>
            </a:r>
            <a:r>
              <a:rPr lang="zh-CN" altLang="zh-CN" sz="1600" dirty="0" smtClean="0">
                <a:latin typeface="微软雅黑" pitchFamily="34" charset="-122"/>
                <a:ea typeface="微软雅黑" pitchFamily="34" charset="-122"/>
              </a:rPr>
              <a:t>货品</a:t>
            </a:r>
            <a:r>
              <a:rPr lang="zh-CN" altLang="zh-CN" sz="1600" dirty="0">
                <a:latin typeface="微软雅黑" pitchFamily="34" charset="-122"/>
                <a:ea typeface="微软雅黑" pitchFamily="34" charset="-122"/>
              </a:rPr>
              <a:t>实行先发货后汇款原则</a:t>
            </a:r>
            <a:endParaRPr lang="zh-CN" altLang="en-US" sz="1600" dirty="0">
              <a:latin typeface="微软雅黑" pitchFamily="34" charset="-122"/>
              <a:ea typeface="微软雅黑" pitchFamily="34" charset="-122"/>
            </a:endParaRPr>
          </a:p>
        </p:txBody>
      </p:sp>
      <p:sp>
        <p:nvSpPr>
          <p:cNvPr id="2" name="矩形 1"/>
          <p:cNvSpPr/>
          <p:nvPr/>
        </p:nvSpPr>
        <p:spPr>
          <a:xfrm>
            <a:off x="1619672" y="2463920"/>
            <a:ext cx="6120680" cy="338554"/>
          </a:xfrm>
          <a:prstGeom prst="rect">
            <a:avLst/>
          </a:prstGeom>
        </p:spPr>
        <p:txBody>
          <a:bodyPr wrap="square">
            <a:spAutoFit/>
          </a:bodyPr>
          <a:lstStyle/>
          <a:p>
            <a:r>
              <a:rPr lang="en-US" altLang="zh-CN" sz="1600" dirty="0" smtClean="0">
                <a:latin typeface="微软雅黑" pitchFamily="34" charset="-122"/>
                <a:ea typeface="微软雅黑" pitchFamily="34" charset="-122"/>
              </a:rPr>
              <a:t>2.</a:t>
            </a:r>
            <a:r>
              <a:rPr lang="zh-CN" altLang="en-US" sz="1600" dirty="0" smtClean="0">
                <a:latin typeface="微软雅黑" pitchFamily="34" charset="-122"/>
                <a:ea typeface="微软雅黑" pitchFamily="34" charset="-122"/>
              </a:rPr>
              <a:t>政策</a:t>
            </a:r>
            <a:r>
              <a:rPr lang="zh-CN" altLang="zh-CN" sz="1600" dirty="0" smtClean="0">
                <a:latin typeface="微软雅黑" pitchFamily="34" charset="-122"/>
                <a:ea typeface="微软雅黑" pitchFamily="34" charset="-122"/>
              </a:rPr>
              <a:t>货品</a:t>
            </a:r>
            <a:r>
              <a:rPr lang="zh-CN" altLang="zh-CN" sz="1600" dirty="0">
                <a:latin typeface="微软雅黑" pitchFamily="34" charset="-122"/>
                <a:ea typeface="微软雅黑" pitchFamily="34" charset="-122"/>
              </a:rPr>
              <a:t>由公司的备货状况给予配送，加盟商不得</a:t>
            </a:r>
            <a:r>
              <a:rPr lang="zh-CN" altLang="zh-CN" sz="1600" dirty="0" smtClean="0">
                <a:latin typeface="微软雅黑" pitchFamily="34" charset="-122"/>
                <a:ea typeface="微软雅黑" pitchFamily="34" charset="-122"/>
              </a:rPr>
              <a:t>指定</a:t>
            </a:r>
            <a:r>
              <a:rPr lang="zh-CN" altLang="en-US" sz="1600" dirty="0" smtClean="0">
                <a:latin typeface="微软雅黑" pitchFamily="34" charset="-122"/>
                <a:ea typeface="微软雅黑" pitchFamily="34" charset="-122"/>
              </a:rPr>
              <a:t>政策</a:t>
            </a:r>
            <a:r>
              <a:rPr lang="zh-CN" altLang="zh-CN" sz="1600" dirty="0" smtClean="0">
                <a:latin typeface="微软雅黑" pitchFamily="34" charset="-122"/>
                <a:ea typeface="微软雅黑" pitchFamily="34" charset="-122"/>
              </a:rPr>
              <a:t>货品</a:t>
            </a:r>
            <a:endParaRPr lang="zh-CN" altLang="en-US" sz="1600" dirty="0">
              <a:latin typeface="微软雅黑" pitchFamily="34" charset="-122"/>
              <a:ea typeface="微软雅黑" pitchFamily="34" charset="-122"/>
            </a:endParaRPr>
          </a:p>
        </p:txBody>
      </p:sp>
      <p:sp>
        <p:nvSpPr>
          <p:cNvPr id="3" name="矩形 2"/>
          <p:cNvSpPr/>
          <p:nvPr/>
        </p:nvSpPr>
        <p:spPr>
          <a:xfrm>
            <a:off x="1619672" y="3068960"/>
            <a:ext cx="6011201" cy="830997"/>
          </a:xfrm>
          <a:prstGeom prst="rect">
            <a:avLst/>
          </a:prstGeom>
        </p:spPr>
        <p:txBody>
          <a:bodyPr wrap="square">
            <a:spAutoFit/>
          </a:bodyPr>
          <a:lstStyle/>
          <a:p>
            <a:r>
              <a:rPr lang="en-US" altLang="zh-CN" sz="1600" dirty="0" smtClean="0">
                <a:latin typeface="微软雅黑" pitchFamily="34" charset="-122"/>
                <a:ea typeface="微软雅黑" pitchFamily="34" charset="-122"/>
              </a:rPr>
              <a:t>3.</a:t>
            </a:r>
            <a:r>
              <a:rPr lang="zh-CN" altLang="en-US" sz="1600" dirty="0" smtClean="0">
                <a:latin typeface="微软雅黑" pitchFamily="34" charset="-122"/>
                <a:ea typeface="微软雅黑" pitchFamily="34" charset="-122"/>
              </a:rPr>
              <a:t>政策</a:t>
            </a:r>
            <a:r>
              <a:rPr lang="zh-CN" altLang="zh-CN" sz="1600" dirty="0" smtClean="0">
                <a:latin typeface="微软雅黑" pitchFamily="34" charset="-122"/>
                <a:ea typeface="微软雅黑" pitchFamily="34" charset="-122"/>
              </a:rPr>
              <a:t>货品在</a:t>
            </a:r>
            <a:r>
              <a:rPr lang="zh-CN" altLang="en-US" sz="1600" dirty="0" smtClean="0">
                <a:latin typeface="微软雅黑" pitchFamily="34" charset="-122"/>
                <a:ea typeface="微软雅黑" pitchFamily="34" charset="-122"/>
              </a:rPr>
              <a:t>支持</a:t>
            </a:r>
            <a:r>
              <a:rPr lang="zh-CN" altLang="zh-CN" sz="1600" dirty="0" smtClean="0">
                <a:latin typeface="微软雅黑" pitchFamily="34" charset="-122"/>
                <a:ea typeface="微软雅黑" pitchFamily="34" charset="-122"/>
              </a:rPr>
              <a:t>期</a:t>
            </a:r>
            <a:r>
              <a:rPr lang="zh-CN" altLang="zh-CN" sz="1600" dirty="0">
                <a:latin typeface="微软雅黑" pitchFamily="34" charset="-122"/>
                <a:ea typeface="微软雅黑" pitchFamily="34" charset="-122"/>
              </a:rPr>
              <a:t>内，依据加盟商的销售状况给予调换或</a:t>
            </a:r>
            <a:r>
              <a:rPr lang="zh-CN" altLang="zh-CN" sz="1600" dirty="0" smtClean="0">
                <a:latin typeface="微软雅黑" pitchFamily="34" charset="-122"/>
                <a:ea typeface="微软雅黑" pitchFamily="34" charset="-122"/>
              </a:rPr>
              <a:t>退货（</a:t>
            </a:r>
            <a:r>
              <a:rPr lang="zh-CN" altLang="zh-CN" sz="1600" dirty="0">
                <a:latin typeface="微软雅黑" pitchFamily="34" charset="-122"/>
                <a:ea typeface="微软雅黑" pitchFamily="34" charset="-122"/>
              </a:rPr>
              <a:t>若单款销售数量大于此</a:t>
            </a:r>
            <a:r>
              <a:rPr lang="zh-CN" altLang="zh-CN" sz="1600" dirty="0" smtClean="0">
                <a:latin typeface="微软雅黑" pitchFamily="34" charset="-122"/>
                <a:ea typeface="微软雅黑" pitchFamily="34" charset="-122"/>
              </a:rPr>
              <a:t>款</a:t>
            </a:r>
            <a:r>
              <a:rPr lang="zh-CN" altLang="en-US" sz="1600" dirty="0" smtClean="0">
                <a:latin typeface="微软雅黑" pitchFamily="34" charset="-122"/>
                <a:ea typeface="微软雅黑" pitchFamily="34" charset="-122"/>
              </a:rPr>
              <a:t>发货</a:t>
            </a:r>
            <a:r>
              <a:rPr lang="zh-CN" altLang="zh-CN" sz="1600" dirty="0" smtClean="0">
                <a:latin typeface="微软雅黑" pitchFamily="34" charset="-122"/>
                <a:ea typeface="微软雅黑" pitchFamily="34" charset="-122"/>
              </a:rPr>
              <a:t>数量</a:t>
            </a:r>
            <a:r>
              <a:rPr lang="zh-CN" altLang="zh-CN" sz="1600" dirty="0">
                <a:latin typeface="微软雅黑" pitchFamily="34" charset="-122"/>
                <a:ea typeface="微软雅黑" pitchFamily="34" charset="-122"/>
              </a:rPr>
              <a:t>的</a:t>
            </a:r>
            <a:r>
              <a:rPr lang="en-US" altLang="zh-CN" sz="1600" dirty="0">
                <a:latin typeface="微软雅黑" pitchFamily="34" charset="-122"/>
                <a:ea typeface="微软雅黑" pitchFamily="34" charset="-122"/>
              </a:rPr>
              <a:t>50%</a:t>
            </a:r>
            <a:r>
              <a:rPr lang="zh-CN" altLang="zh-CN" sz="1600" dirty="0">
                <a:latin typeface="微软雅黑" pitchFamily="34" charset="-122"/>
                <a:ea typeface="微软雅黑" pitchFamily="34" charset="-122"/>
              </a:rPr>
              <a:t>以上的款式，</a:t>
            </a:r>
            <a:r>
              <a:rPr lang="zh-CN" altLang="zh-CN" sz="1600" dirty="0" smtClean="0">
                <a:latin typeface="微软雅黑" pitchFamily="34" charset="-122"/>
                <a:ea typeface="微软雅黑" pitchFamily="34" charset="-122"/>
              </a:rPr>
              <a:t>公司</a:t>
            </a:r>
            <a:r>
              <a:rPr lang="zh-CN" altLang="en-US" sz="1600" dirty="0" smtClean="0">
                <a:latin typeface="微软雅黑" pitchFamily="34" charset="-122"/>
                <a:ea typeface="微软雅黑" pitchFamily="34" charset="-122"/>
              </a:rPr>
              <a:t>原则上</a:t>
            </a:r>
            <a:r>
              <a:rPr lang="zh-CN" altLang="zh-CN" sz="1600" dirty="0" smtClean="0">
                <a:latin typeface="微软雅黑" pitchFamily="34" charset="-122"/>
                <a:ea typeface="微软雅黑" pitchFamily="34" charset="-122"/>
              </a:rPr>
              <a:t>不</a:t>
            </a:r>
            <a:r>
              <a:rPr lang="zh-CN" altLang="zh-CN" sz="1600" dirty="0">
                <a:latin typeface="微软雅黑" pitchFamily="34" charset="-122"/>
                <a:ea typeface="微软雅黑" pitchFamily="34" charset="-122"/>
              </a:rPr>
              <a:t>给予调换或</a:t>
            </a:r>
            <a:r>
              <a:rPr lang="zh-CN" altLang="zh-CN" sz="1600" dirty="0" smtClean="0">
                <a:latin typeface="微软雅黑" pitchFamily="34" charset="-122"/>
                <a:ea typeface="微软雅黑" pitchFamily="34" charset="-122"/>
              </a:rPr>
              <a:t>退货</a:t>
            </a:r>
            <a:r>
              <a:rPr lang="zh-CN" altLang="en-US" sz="1600" dirty="0" smtClean="0">
                <a:latin typeface="微软雅黑" pitchFamily="34" charset="-122"/>
                <a:ea typeface="微软雅黑" pitchFamily="34" charset="-122"/>
              </a:rPr>
              <a:t>，特殊情况见具体支持政策</a:t>
            </a:r>
            <a:r>
              <a:rPr lang="zh-CN" altLang="zh-CN" sz="1600" dirty="0" smtClean="0">
                <a:latin typeface="微软雅黑" pitchFamily="34" charset="-122"/>
                <a:ea typeface="微软雅黑" pitchFamily="34" charset="-122"/>
              </a:rPr>
              <a:t>）</a:t>
            </a:r>
            <a:endParaRPr lang="zh-CN" altLang="en-US" sz="1600" dirty="0">
              <a:latin typeface="微软雅黑" pitchFamily="34" charset="-122"/>
              <a:ea typeface="微软雅黑" pitchFamily="34" charset="-122"/>
            </a:endParaRPr>
          </a:p>
        </p:txBody>
      </p:sp>
      <p:sp>
        <p:nvSpPr>
          <p:cNvPr id="7" name="矩形 6"/>
          <p:cNvSpPr/>
          <p:nvPr/>
        </p:nvSpPr>
        <p:spPr>
          <a:xfrm>
            <a:off x="1619672" y="4149080"/>
            <a:ext cx="6264696" cy="338554"/>
          </a:xfrm>
          <a:prstGeom prst="rect">
            <a:avLst/>
          </a:prstGeom>
        </p:spPr>
        <p:txBody>
          <a:bodyPr wrap="square">
            <a:spAutoFit/>
          </a:bodyPr>
          <a:lstStyle/>
          <a:p>
            <a:r>
              <a:rPr lang="en-US" altLang="zh-CN" sz="1600" dirty="0" smtClean="0">
                <a:latin typeface="微软雅黑" pitchFamily="34" charset="-122"/>
                <a:ea typeface="微软雅黑" pitchFamily="34" charset="-122"/>
              </a:rPr>
              <a:t>4.</a:t>
            </a:r>
            <a:r>
              <a:rPr lang="zh-CN" altLang="zh-CN" sz="1600" dirty="0" smtClean="0">
                <a:latin typeface="微软雅黑" pitchFamily="34" charset="-122"/>
                <a:ea typeface="微软雅黑" pitchFamily="34" charset="-122"/>
              </a:rPr>
              <a:t>若</a:t>
            </a:r>
            <a:r>
              <a:rPr lang="zh-CN" altLang="en-US" sz="1600" dirty="0" smtClean="0">
                <a:latin typeface="微软雅黑" pitchFamily="34" charset="-122"/>
                <a:ea typeface="微软雅黑" pitchFamily="34" charset="-122"/>
              </a:rPr>
              <a:t>政策</a:t>
            </a:r>
            <a:r>
              <a:rPr lang="zh-CN" altLang="zh-CN" sz="1600" dirty="0" smtClean="0">
                <a:latin typeface="微软雅黑" pitchFamily="34" charset="-122"/>
                <a:ea typeface="微软雅黑" pitchFamily="34" charset="-122"/>
              </a:rPr>
              <a:t>货品超出</a:t>
            </a:r>
            <a:r>
              <a:rPr lang="zh-CN" altLang="en-US" sz="1600" dirty="0" smtClean="0">
                <a:latin typeface="微软雅黑" pitchFamily="34" charset="-122"/>
                <a:ea typeface="微软雅黑" pitchFamily="34" charset="-122"/>
              </a:rPr>
              <a:t>支持</a:t>
            </a:r>
            <a:r>
              <a:rPr lang="zh-CN" altLang="zh-CN" sz="1600" dirty="0" smtClean="0">
                <a:latin typeface="微软雅黑" pitchFamily="34" charset="-122"/>
                <a:ea typeface="微软雅黑" pitchFamily="34" charset="-122"/>
              </a:rPr>
              <a:t>期</a:t>
            </a:r>
            <a:r>
              <a:rPr lang="zh-CN" altLang="zh-CN" sz="1600" dirty="0">
                <a:latin typeface="微软雅黑" pitchFamily="34" charset="-122"/>
                <a:ea typeface="微软雅黑" pitchFamily="34" charset="-122"/>
              </a:rPr>
              <a:t>后且加盟商未返回的，视同加盟商补货对待</a:t>
            </a:r>
            <a:endParaRPr lang="zh-CN" altLang="en-US" sz="1600" dirty="0">
              <a:latin typeface="微软雅黑" pitchFamily="34" charset="-122"/>
              <a:ea typeface="微软雅黑" pitchFamily="34" charset="-122"/>
            </a:endParaRPr>
          </a:p>
        </p:txBody>
      </p:sp>
      <p:sp>
        <p:nvSpPr>
          <p:cNvPr id="8" name="矩形 7"/>
          <p:cNvSpPr/>
          <p:nvPr/>
        </p:nvSpPr>
        <p:spPr>
          <a:xfrm>
            <a:off x="1619672" y="4725144"/>
            <a:ext cx="6192688" cy="584775"/>
          </a:xfrm>
          <a:prstGeom prst="rect">
            <a:avLst/>
          </a:prstGeom>
        </p:spPr>
        <p:txBody>
          <a:bodyPr wrap="square">
            <a:spAutoFit/>
          </a:bodyPr>
          <a:lstStyle/>
          <a:p>
            <a:r>
              <a:rPr lang="en-US" altLang="zh-CN" sz="1600" dirty="0" smtClean="0">
                <a:latin typeface="微软雅黑" pitchFamily="34" charset="-122"/>
                <a:ea typeface="微软雅黑" pitchFamily="34" charset="-122"/>
              </a:rPr>
              <a:t>5.</a:t>
            </a:r>
            <a:r>
              <a:rPr lang="zh-CN" altLang="en-US" sz="1600" dirty="0" smtClean="0">
                <a:latin typeface="微软雅黑" pitchFamily="34" charset="-122"/>
                <a:ea typeface="微软雅黑" pitchFamily="34" charset="-122"/>
              </a:rPr>
              <a:t>政策</a:t>
            </a:r>
            <a:r>
              <a:rPr lang="zh-CN" altLang="zh-CN" sz="1600" dirty="0" smtClean="0">
                <a:latin typeface="微软雅黑" pitchFamily="34" charset="-122"/>
                <a:ea typeface="微软雅黑" pitchFamily="34" charset="-122"/>
              </a:rPr>
              <a:t>货品</a:t>
            </a:r>
            <a:r>
              <a:rPr lang="zh-CN" altLang="zh-CN" sz="1600" dirty="0">
                <a:latin typeface="微软雅黑" pitchFamily="34" charset="-122"/>
                <a:ea typeface="微软雅黑" pitchFamily="34" charset="-122"/>
              </a:rPr>
              <a:t>的返回必须包装完整，鞋盒无涂画，无更改货号，不影响下次</a:t>
            </a:r>
            <a:r>
              <a:rPr lang="zh-CN" altLang="zh-CN" sz="1600" dirty="0" smtClean="0">
                <a:latin typeface="微软雅黑" pitchFamily="34" charset="-122"/>
                <a:ea typeface="微软雅黑" pitchFamily="34" charset="-122"/>
              </a:rPr>
              <a:t>销售</a:t>
            </a:r>
            <a:r>
              <a:rPr lang="zh-CN" altLang="en-US" sz="1600" dirty="0" smtClean="0">
                <a:latin typeface="微软雅黑" pitchFamily="34" charset="-122"/>
                <a:ea typeface="微软雅黑" pitchFamily="34" charset="-122"/>
              </a:rPr>
              <a:t>；</a:t>
            </a:r>
            <a:r>
              <a:rPr lang="zh-CN" altLang="zh-CN" sz="1600" dirty="0" smtClean="0">
                <a:latin typeface="微软雅黑" pitchFamily="34" charset="-122"/>
                <a:ea typeface="微软雅黑" pitchFamily="34" charset="-122"/>
              </a:rPr>
              <a:t>否则</a:t>
            </a:r>
            <a:r>
              <a:rPr lang="zh-CN" altLang="zh-CN" sz="1600" dirty="0">
                <a:latin typeface="微软雅黑" pitchFamily="34" charset="-122"/>
                <a:ea typeface="微软雅黑" pitchFamily="34" charset="-122"/>
              </a:rPr>
              <a:t>公司不予退货，原货返回</a:t>
            </a:r>
            <a:endParaRPr lang="zh-CN" altLang="en-US" sz="1600" dirty="0">
              <a:latin typeface="微软雅黑" pitchFamily="34" charset="-122"/>
              <a:ea typeface="微软雅黑" pitchFamily="34" charset="-122"/>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358285699"/>
              </p:ext>
            </p:extLst>
          </p:nvPr>
        </p:nvGraphicFramePr>
        <p:xfrm>
          <a:off x="7092279" y="5589240"/>
          <a:ext cx="1344149" cy="1008112"/>
        </p:xfrm>
        <a:graphic>
          <a:graphicData uri="http://schemas.openxmlformats.org/presentationml/2006/ole">
            <mc:AlternateContent xmlns:mc="http://schemas.openxmlformats.org/markup-compatibility/2006">
              <mc:Choice xmlns:v="urn:schemas-microsoft-com:vml" Requires="v">
                <p:oleObj spid="_x0000_s8286" name="文档" showAsIcon="1" r:id="rId3" imgW="914400" imgH="685800" progId="Word.Document.12">
                  <p:embed/>
                </p:oleObj>
              </mc:Choice>
              <mc:Fallback>
                <p:oleObj name="文档" showAsIcon="1" r:id="rId3" imgW="914400" imgH="685800" progId="Word.Document.12">
                  <p:embed/>
                  <p:pic>
                    <p:nvPicPr>
                      <p:cNvPr id="0" name=""/>
                      <p:cNvPicPr/>
                      <p:nvPr/>
                    </p:nvPicPr>
                    <p:blipFill>
                      <a:blip r:embed="rId4"/>
                      <a:stretch>
                        <a:fillRect/>
                      </a:stretch>
                    </p:blipFill>
                    <p:spPr>
                      <a:xfrm>
                        <a:off x="7092279" y="5589240"/>
                        <a:ext cx="1344149" cy="1008112"/>
                      </a:xfrm>
                      <a:prstGeom prst="rect">
                        <a:avLst/>
                      </a:prstGeom>
                    </p:spPr>
                  </p:pic>
                </p:oleObj>
              </mc:Fallback>
            </mc:AlternateContent>
          </a:graphicData>
        </a:graphic>
      </p:graphicFrame>
    </p:spTree>
    <p:extLst>
      <p:ext uri="{BB962C8B-B14F-4D97-AF65-F5344CB8AC3E}">
        <p14:creationId xmlns:p14="http://schemas.microsoft.com/office/powerpoint/2010/main" val="427216562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16632"/>
            <a:ext cx="352839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残次品品管理规定</a:t>
            </a:r>
            <a:endParaRPr lang="zh-CN" altLang="en-US" dirty="0">
              <a:latin typeface="微软雅黑" pitchFamily="34" charset="-122"/>
              <a:ea typeface="微软雅黑" pitchFamily="34" charset="-122"/>
            </a:endParaRPr>
          </a:p>
        </p:txBody>
      </p:sp>
      <p:sp>
        <p:nvSpPr>
          <p:cNvPr id="5" name="TextBox 4"/>
          <p:cNvSpPr txBox="1"/>
          <p:nvPr/>
        </p:nvSpPr>
        <p:spPr>
          <a:xfrm>
            <a:off x="1186914" y="1124744"/>
            <a:ext cx="2088941"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残次品的范围：</a:t>
            </a:r>
            <a:endParaRPr lang="zh-CN" altLang="en-US" dirty="0">
              <a:latin typeface="微软雅黑" pitchFamily="34" charset="-122"/>
              <a:ea typeface="微软雅黑" pitchFamily="34" charset="-122"/>
            </a:endParaRPr>
          </a:p>
        </p:txBody>
      </p:sp>
      <p:sp>
        <p:nvSpPr>
          <p:cNvPr id="6" name="矩形 5"/>
          <p:cNvSpPr/>
          <p:nvPr/>
        </p:nvSpPr>
        <p:spPr>
          <a:xfrm>
            <a:off x="2208888" y="2132856"/>
            <a:ext cx="3227165" cy="338554"/>
          </a:xfrm>
          <a:prstGeom prst="rect">
            <a:avLst/>
          </a:prstGeom>
        </p:spPr>
        <p:txBody>
          <a:bodyPr wrap="none">
            <a:spAutoFit/>
          </a:bodyPr>
          <a:lstStyle/>
          <a:p>
            <a:r>
              <a:rPr lang="en-US" altLang="zh-CN" sz="1600" dirty="0" smtClean="0">
                <a:latin typeface="微软雅黑" pitchFamily="34" charset="-122"/>
                <a:ea typeface="微软雅黑" pitchFamily="34" charset="-122"/>
              </a:rPr>
              <a:t>1.</a:t>
            </a:r>
            <a:r>
              <a:rPr lang="zh-CN" altLang="zh-CN" sz="1600" dirty="0" smtClean="0">
                <a:latin typeface="微软雅黑" pitchFamily="34" charset="-122"/>
                <a:ea typeface="微软雅黑" pitchFamily="34" charset="-122"/>
              </a:rPr>
              <a:t>所有</a:t>
            </a:r>
            <a:r>
              <a:rPr lang="zh-CN" altLang="zh-CN" sz="1600" dirty="0">
                <a:latin typeface="微软雅黑" pitchFamily="34" charset="-122"/>
                <a:ea typeface="微软雅黑" pitchFamily="34" charset="-122"/>
              </a:rPr>
              <a:t>未销售的新鞋</a:t>
            </a:r>
            <a:r>
              <a:rPr lang="zh-CN" altLang="zh-CN" sz="1600" dirty="0" smtClean="0">
                <a:latin typeface="微软雅黑" pitchFamily="34" charset="-122"/>
                <a:ea typeface="微软雅黑" pitchFamily="34" charset="-122"/>
              </a:rPr>
              <a:t>残次</a:t>
            </a:r>
            <a:r>
              <a:rPr lang="zh-CN" altLang="en-US" sz="1600" dirty="0" smtClean="0">
                <a:latin typeface="微软雅黑" pitchFamily="34" charset="-122"/>
                <a:ea typeface="微软雅黑" pitchFamily="34" charset="-122"/>
              </a:rPr>
              <a:t>（新残）</a:t>
            </a:r>
            <a:endParaRPr lang="zh-CN" altLang="en-US" sz="1600" dirty="0">
              <a:latin typeface="微软雅黑" pitchFamily="34" charset="-122"/>
              <a:ea typeface="微软雅黑" pitchFamily="34" charset="-122"/>
            </a:endParaRPr>
          </a:p>
        </p:txBody>
      </p:sp>
      <p:sp>
        <p:nvSpPr>
          <p:cNvPr id="7" name="矩形 6"/>
          <p:cNvSpPr/>
          <p:nvPr/>
        </p:nvSpPr>
        <p:spPr>
          <a:xfrm>
            <a:off x="2231384" y="3059668"/>
            <a:ext cx="3021981" cy="338554"/>
          </a:xfrm>
          <a:prstGeom prst="rect">
            <a:avLst/>
          </a:prstGeom>
        </p:spPr>
        <p:txBody>
          <a:bodyPr wrap="none">
            <a:spAutoFit/>
          </a:bodyPr>
          <a:lstStyle/>
          <a:p>
            <a:r>
              <a:rPr lang="en-US" altLang="zh-CN" sz="1600" dirty="0" smtClean="0">
                <a:latin typeface="微软雅黑" pitchFamily="34" charset="-122"/>
                <a:ea typeface="微软雅黑" pitchFamily="34" charset="-122"/>
              </a:rPr>
              <a:t>2.</a:t>
            </a:r>
            <a:r>
              <a:rPr lang="zh-CN" altLang="zh-CN" sz="1600" dirty="0" smtClean="0">
                <a:latin typeface="微软雅黑" pitchFamily="34" charset="-122"/>
                <a:ea typeface="微软雅黑" pitchFamily="34" charset="-122"/>
              </a:rPr>
              <a:t>已经</a:t>
            </a:r>
            <a:r>
              <a:rPr lang="zh-CN" altLang="zh-CN" sz="1600" dirty="0">
                <a:latin typeface="微软雅黑" pitchFamily="34" charset="-122"/>
                <a:ea typeface="微软雅黑" pitchFamily="34" charset="-122"/>
              </a:rPr>
              <a:t>销售的鞋的</a:t>
            </a:r>
            <a:r>
              <a:rPr lang="zh-CN" altLang="zh-CN" sz="1600" dirty="0" smtClean="0">
                <a:latin typeface="微软雅黑" pitchFamily="34" charset="-122"/>
                <a:ea typeface="微软雅黑" pitchFamily="34" charset="-122"/>
              </a:rPr>
              <a:t>残次</a:t>
            </a:r>
            <a:r>
              <a:rPr lang="zh-CN" altLang="en-US" sz="1600" dirty="0" smtClean="0">
                <a:latin typeface="微软雅黑" pitchFamily="34" charset="-122"/>
                <a:ea typeface="微软雅黑" pitchFamily="34" charset="-122"/>
              </a:rPr>
              <a:t>（旧残）</a:t>
            </a:r>
            <a:endParaRPr lang="zh-CN" altLang="en-US" sz="1600" dirty="0">
              <a:latin typeface="微软雅黑" pitchFamily="34" charset="-122"/>
              <a:ea typeface="微软雅黑" pitchFamily="34" charset="-122"/>
            </a:endParaRPr>
          </a:p>
        </p:txBody>
      </p:sp>
    </p:spTree>
    <p:extLst>
      <p:ext uri="{BB962C8B-B14F-4D97-AF65-F5344CB8AC3E}">
        <p14:creationId xmlns:p14="http://schemas.microsoft.com/office/powerpoint/2010/main" val="33886236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352839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残次品品管理规定</a:t>
            </a:r>
            <a:endParaRPr lang="zh-CN" altLang="en-US" dirty="0">
              <a:latin typeface="微软雅黑" pitchFamily="34" charset="-122"/>
              <a:ea typeface="微软雅黑" pitchFamily="34" charset="-122"/>
            </a:endParaRPr>
          </a:p>
        </p:txBody>
      </p:sp>
      <p:sp>
        <p:nvSpPr>
          <p:cNvPr id="3" name="TextBox 2"/>
          <p:cNvSpPr txBox="1"/>
          <p:nvPr/>
        </p:nvSpPr>
        <p:spPr>
          <a:xfrm>
            <a:off x="899592" y="1052736"/>
            <a:ext cx="2088941"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残次品的返回：</a:t>
            </a:r>
            <a:endParaRPr lang="zh-CN" altLang="en-US" dirty="0">
              <a:latin typeface="微软雅黑" pitchFamily="34" charset="-122"/>
              <a:ea typeface="微软雅黑" pitchFamily="34" charset="-122"/>
            </a:endParaRPr>
          </a:p>
        </p:txBody>
      </p:sp>
      <p:sp>
        <p:nvSpPr>
          <p:cNvPr id="4" name="矩形 3"/>
          <p:cNvSpPr/>
          <p:nvPr/>
        </p:nvSpPr>
        <p:spPr>
          <a:xfrm>
            <a:off x="1260342" y="1772816"/>
            <a:ext cx="6624736" cy="830997"/>
          </a:xfrm>
          <a:prstGeom prst="rect">
            <a:avLst/>
          </a:prstGeom>
        </p:spPr>
        <p:txBody>
          <a:bodyPr wrap="square">
            <a:spAutoFit/>
          </a:bodyPr>
          <a:lstStyle/>
          <a:p>
            <a:r>
              <a:rPr lang="en-US" altLang="zh-CN" sz="1600" dirty="0" smtClean="0">
                <a:latin typeface="微软雅黑" pitchFamily="34" charset="-122"/>
                <a:ea typeface="微软雅黑" pitchFamily="34" charset="-122"/>
              </a:rPr>
              <a:t>1.</a:t>
            </a:r>
            <a:r>
              <a:rPr lang="zh-CN" altLang="zh-CN" sz="1600" dirty="0" smtClean="0">
                <a:latin typeface="微软雅黑" pitchFamily="34" charset="-122"/>
                <a:ea typeface="微软雅黑" pitchFamily="34" charset="-122"/>
              </a:rPr>
              <a:t>所有</a:t>
            </a:r>
            <a:r>
              <a:rPr lang="zh-CN" altLang="zh-CN" sz="1600" dirty="0">
                <a:latin typeface="微软雅黑" pitchFamily="34" charset="-122"/>
                <a:ea typeface="微软雅黑" pitchFamily="34" charset="-122"/>
              </a:rPr>
              <a:t>残次品返货后，加盟商必须</a:t>
            </a:r>
            <a:r>
              <a:rPr lang="zh-CN" altLang="zh-CN" sz="1600" dirty="0" smtClean="0">
                <a:latin typeface="微软雅黑" pitchFamily="34" charset="-122"/>
                <a:ea typeface="微软雅黑" pitchFamily="34" charset="-122"/>
              </a:rPr>
              <a:t>以</a:t>
            </a:r>
            <a:r>
              <a:rPr lang="zh-CN" altLang="en-US" sz="1600" dirty="0" smtClean="0">
                <a:latin typeface="微软雅黑" pitchFamily="34" charset="-122"/>
                <a:ea typeface="微软雅黑" pitchFamily="34" charset="-122"/>
              </a:rPr>
              <a:t>传真</a:t>
            </a:r>
            <a:r>
              <a:rPr lang="en-US" altLang="zh-CN" sz="1600" dirty="0" smtClean="0">
                <a:latin typeface="微软雅黑" pitchFamily="34" charset="-122"/>
                <a:ea typeface="微软雅黑" pitchFamily="34" charset="-122"/>
              </a:rPr>
              <a:t>/</a:t>
            </a:r>
            <a:r>
              <a:rPr lang="zh-CN" altLang="zh-CN" sz="1600" dirty="0" smtClean="0">
                <a:latin typeface="微软雅黑" pitchFamily="34" charset="-122"/>
                <a:ea typeface="微软雅黑" pitchFamily="34" charset="-122"/>
              </a:rPr>
              <a:t>短</a:t>
            </a:r>
            <a:r>
              <a:rPr lang="zh-CN" altLang="zh-CN" sz="1600" dirty="0">
                <a:latin typeface="微软雅黑" pitchFamily="34" charset="-122"/>
                <a:ea typeface="微软雅黑" pitchFamily="34" charset="-122"/>
              </a:rPr>
              <a:t>信形式发送至</a:t>
            </a:r>
            <a:r>
              <a:rPr lang="en-US" altLang="zh-CN" sz="1600" dirty="0">
                <a:latin typeface="微软雅黑" pitchFamily="34" charset="-122"/>
                <a:ea typeface="微软雅黑" pitchFamily="34" charset="-122"/>
              </a:rPr>
              <a:t>XXXXXXXX</a:t>
            </a:r>
            <a:r>
              <a:rPr lang="zh-CN" altLang="zh-CN" sz="1600" dirty="0">
                <a:latin typeface="微软雅黑" pitchFamily="34" charset="-122"/>
                <a:ea typeface="微软雅黑" pitchFamily="34" charset="-122"/>
              </a:rPr>
              <a:t>，内容包括：托运部、返货日期、运输单号码、件数、准确的双数。返货没有先付运费货发信息的，公司一律拒收。</a:t>
            </a:r>
            <a:endParaRPr lang="zh-CN" altLang="en-US" sz="1600" dirty="0">
              <a:latin typeface="微软雅黑" pitchFamily="34" charset="-122"/>
              <a:ea typeface="微软雅黑" pitchFamily="34" charset="-122"/>
            </a:endParaRPr>
          </a:p>
        </p:txBody>
      </p:sp>
      <p:sp>
        <p:nvSpPr>
          <p:cNvPr id="5" name="矩形 4"/>
          <p:cNvSpPr/>
          <p:nvPr/>
        </p:nvSpPr>
        <p:spPr>
          <a:xfrm>
            <a:off x="1260342" y="2708920"/>
            <a:ext cx="6552728" cy="830997"/>
          </a:xfrm>
          <a:prstGeom prst="rect">
            <a:avLst/>
          </a:prstGeom>
        </p:spPr>
        <p:txBody>
          <a:bodyPr wrap="square">
            <a:spAutoFit/>
          </a:bodyPr>
          <a:lstStyle/>
          <a:p>
            <a:pPr lvl="0"/>
            <a:r>
              <a:rPr lang="en-US" altLang="zh-CN" sz="1600" dirty="0" smtClean="0">
                <a:latin typeface="微软雅黑" pitchFamily="34" charset="-122"/>
                <a:ea typeface="微软雅黑" pitchFamily="34" charset="-122"/>
              </a:rPr>
              <a:t>2.</a:t>
            </a:r>
            <a:r>
              <a:rPr lang="zh-CN" altLang="zh-CN" sz="1600" dirty="0" smtClean="0">
                <a:latin typeface="微软雅黑" pitchFamily="34" charset="-122"/>
                <a:ea typeface="微软雅黑" pitchFamily="34" charset="-122"/>
              </a:rPr>
              <a:t>返</a:t>
            </a:r>
            <a:r>
              <a:rPr lang="zh-CN" altLang="zh-CN" sz="1600" dirty="0">
                <a:latin typeface="微软雅黑" pitchFamily="34" charset="-122"/>
                <a:ea typeface="微软雅黑" pitchFamily="34" charset="-122"/>
              </a:rPr>
              <a:t>货必须填写公司统一的《残次返货清单》，在清单上写明款号、颜色、数量、问题原因、退残或残修，在鞋盒上必须注明是报修还是报退。需要维修的鞋在需要维修的地方用粉笔或小标签做标记。</a:t>
            </a:r>
          </a:p>
        </p:txBody>
      </p:sp>
      <p:sp>
        <p:nvSpPr>
          <p:cNvPr id="6" name="矩形 5"/>
          <p:cNvSpPr/>
          <p:nvPr/>
        </p:nvSpPr>
        <p:spPr>
          <a:xfrm>
            <a:off x="1260342" y="3717032"/>
            <a:ext cx="6336704" cy="584775"/>
          </a:xfrm>
          <a:prstGeom prst="rect">
            <a:avLst/>
          </a:prstGeom>
        </p:spPr>
        <p:txBody>
          <a:bodyPr wrap="square">
            <a:spAutoFit/>
          </a:bodyPr>
          <a:lstStyle/>
          <a:p>
            <a:r>
              <a:rPr lang="en-US" altLang="zh-CN" sz="1600" dirty="0" smtClean="0">
                <a:latin typeface="微软雅黑" pitchFamily="34" charset="-122"/>
                <a:ea typeface="微软雅黑" pitchFamily="34" charset="-122"/>
              </a:rPr>
              <a:t>3.</a:t>
            </a:r>
            <a:r>
              <a:rPr lang="zh-CN" altLang="zh-CN" sz="1600" dirty="0" smtClean="0">
                <a:latin typeface="微软雅黑" pitchFamily="34" charset="-122"/>
                <a:ea typeface="微软雅黑" pitchFamily="34" charset="-122"/>
              </a:rPr>
              <a:t>公司</a:t>
            </a:r>
            <a:r>
              <a:rPr lang="zh-CN" altLang="zh-CN" sz="1600" dirty="0">
                <a:latin typeface="微软雅黑" pitchFamily="34" charset="-122"/>
                <a:ea typeface="微软雅黑" pitchFamily="34" charset="-122"/>
              </a:rPr>
              <a:t>接到</a:t>
            </a:r>
            <a:r>
              <a:rPr lang="zh-CN" altLang="zh-CN" sz="1600" dirty="0" smtClean="0">
                <a:latin typeface="微软雅黑" pitchFamily="34" charset="-122"/>
                <a:ea typeface="微软雅黑" pitchFamily="34" charset="-122"/>
              </a:rPr>
              <a:t>退货</a:t>
            </a:r>
            <a:r>
              <a:rPr lang="zh-CN" altLang="en-US" sz="1600" dirty="0" smtClean="0">
                <a:latin typeface="微软雅黑" pitchFamily="34" charset="-122"/>
                <a:ea typeface="微软雅黑" pitchFamily="34" charset="-122"/>
              </a:rPr>
              <a:t>传真</a:t>
            </a:r>
            <a:r>
              <a:rPr lang="en-US" altLang="zh-CN" sz="1600" dirty="0" smtClean="0">
                <a:latin typeface="微软雅黑" pitchFamily="34" charset="-122"/>
                <a:ea typeface="微软雅黑" pitchFamily="34" charset="-122"/>
              </a:rPr>
              <a:t>/</a:t>
            </a:r>
            <a:r>
              <a:rPr lang="zh-CN" altLang="zh-CN" sz="1600" dirty="0" smtClean="0">
                <a:latin typeface="微软雅黑" pitchFamily="34" charset="-122"/>
                <a:ea typeface="微软雅黑" pitchFamily="34" charset="-122"/>
              </a:rPr>
              <a:t>短</a:t>
            </a:r>
            <a:r>
              <a:rPr lang="zh-CN" altLang="zh-CN" sz="1600" dirty="0">
                <a:latin typeface="微软雅黑" pitchFamily="34" charset="-122"/>
                <a:ea typeface="微软雅黑" pitchFamily="34" charset="-122"/>
              </a:rPr>
              <a:t>信后，跟踪提货进度；并于收到货品</a:t>
            </a:r>
            <a:r>
              <a:rPr lang="en-US" altLang="zh-CN" sz="1600" dirty="0">
                <a:latin typeface="微软雅黑" pitchFamily="34" charset="-122"/>
                <a:ea typeface="微软雅黑" pitchFamily="34" charset="-122"/>
              </a:rPr>
              <a:t>3</a:t>
            </a:r>
            <a:r>
              <a:rPr lang="zh-CN" altLang="zh-CN" sz="1600" dirty="0">
                <a:latin typeface="微软雅黑" pitchFamily="34" charset="-122"/>
                <a:ea typeface="微软雅黑" pitchFamily="34" charset="-122"/>
              </a:rPr>
              <a:t>日内给加盟商反馈（收到数量、可维修数量、可退</a:t>
            </a:r>
            <a:r>
              <a:rPr lang="zh-CN" altLang="zh-CN" sz="1600" dirty="0" smtClean="0">
                <a:latin typeface="微软雅黑" pitchFamily="34" charset="-122"/>
                <a:ea typeface="微软雅黑" pitchFamily="34" charset="-122"/>
              </a:rPr>
              <a:t>数量</a:t>
            </a:r>
            <a:r>
              <a:rPr lang="zh-CN" altLang="en-US" sz="1600" dirty="0" smtClean="0">
                <a:latin typeface="微软雅黑" pitchFamily="34" charset="-122"/>
                <a:ea typeface="微软雅黑" pitchFamily="34" charset="-122"/>
              </a:rPr>
              <a:t>、可换数量</a:t>
            </a:r>
            <a:r>
              <a:rPr lang="zh-CN" altLang="zh-CN" sz="1600" dirty="0" smtClean="0">
                <a:latin typeface="微软雅黑" pitchFamily="34" charset="-122"/>
                <a:ea typeface="微软雅黑" pitchFamily="34" charset="-122"/>
              </a:rPr>
              <a:t>）</a:t>
            </a:r>
            <a:endParaRPr lang="zh-CN" altLang="en-US" sz="1600" dirty="0">
              <a:latin typeface="微软雅黑" pitchFamily="34" charset="-122"/>
              <a:ea typeface="微软雅黑" pitchFamily="34" charset="-122"/>
            </a:endParaRPr>
          </a:p>
        </p:txBody>
      </p:sp>
      <p:sp>
        <p:nvSpPr>
          <p:cNvPr id="7" name="矩形 6"/>
          <p:cNvSpPr/>
          <p:nvPr/>
        </p:nvSpPr>
        <p:spPr>
          <a:xfrm>
            <a:off x="1260342" y="4581128"/>
            <a:ext cx="6408712" cy="584775"/>
          </a:xfrm>
          <a:prstGeom prst="rect">
            <a:avLst/>
          </a:prstGeom>
        </p:spPr>
        <p:txBody>
          <a:bodyPr wrap="square">
            <a:spAutoFit/>
          </a:bodyPr>
          <a:lstStyle/>
          <a:p>
            <a:r>
              <a:rPr lang="en-US" altLang="zh-CN" sz="1600" dirty="0" smtClean="0">
                <a:latin typeface="微软雅黑" pitchFamily="34" charset="-122"/>
                <a:ea typeface="微软雅黑" pitchFamily="34" charset="-122"/>
              </a:rPr>
              <a:t>4.</a:t>
            </a:r>
            <a:r>
              <a:rPr lang="zh-CN" altLang="zh-CN" sz="1600" dirty="0" smtClean="0">
                <a:latin typeface="微软雅黑" pitchFamily="34" charset="-122"/>
                <a:ea typeface="微软雅黑" pitchFamily="34" charset="-122"/>
              </a:rPr>
              <a:t>凡</a:t>
            </a:r>
            <a:r>
              <a:rPr lang="zh-CN" altLang="en-US" sz="1600" dirty="0" smtClean="0">
                <a:latin typeface="微软雅黑" pitchFamily="34" charset="-122"/>
                <a:ea typeface="微软雅黑" pitchFamily="34" charset="-122"/>
              </a:rPr>
              <a:t>是</a:t>
            </a:r>
            <a:r>
              <a:rPr lang="zh-CN" altLang="zh-CN" sz="1600" dirty="0" smtClean="0">
                <a:latin typeface="微软雅黑" pitchFamily="34" charset="-122"/>
                <a:ea typeface="微软雅黑" pitchFamily="34" charset="-122"/>
              </a:rPr>
              <a:t>维修</a:t>
            </a:r>
            <a:r>
              <a:rPr lang="zh-CN" altLang="zh-CN" sz="1600" dirty="0">
                <a:latin typeface="微软雅黑" pitchFamily="34" charset="-122"/>
                <a:ea typeface="微软雅黑" pitchFamily="34" charset="-122"/>
              </a:rPr>
              <a:t>的鞋，除缺少扣件、需返厂等因素外，维修好的鞋，</a:t>
            </a:r>
            <a:r>
              <a:rPr lang="en-US" altLang="zh-CN" sz="1600" dirty="0">
                <a:latin typeface="微软雅黑" pitchFamily="34" charset="-122"/>
                <a:ea typeface="微软雅黑" pitchFamily="34" charset="-122"/>
              </a:rPr>
              <a:t>3</a:t>
            </a:r>
            <a:r>
              <a:rPr lang="zh-CN" altLang="zh-CN" sz="1600" dirty="0">
                <a:latin typeface="微软雅黑" pitchFamily="34" charset="-122"/>
                <a:ea typeface="微软雅黑" pitchFamily="34" charset="-122"/>
              </a:rPr>
              <a:t>天内发出</a:t>
            </a:r>
            <a:endParaRPr lang="zh-CN" altLang="en-US" sz="1600" dirty="0">
              <a:latin typeface="微软雅黑" pitchFamily="34" charset="-122"/>
              <a:ea typeface="微软雅黑" pitchFamily="34" charset="-122"/>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802502577"/>
              </p:ext>
            </p:extLst>
          </p:nvPr>
        </p:nvGraphicFramePr>
        <p:xfrm>
          <a:off x="7069232" y="5445224"/>
          <a:ext cx="1487675" cy="1115757"/>
        </p:xfrm>
        <a:graphic>
          <a:graphicData uri="http://schemas.openxmlformats.org/presentationml/2006/ole">
            <mc:AlternateContent xmlns:mc="http://schemas.openxmlformats.org/markup-compatibility/2006">
              <mc:Choice xmlns:v="urn:schemas-microsoft-com:vml" Requires="v">
                <p:oleObj spid="_x0000_s9307" name="文档" showAsIcon="1" r:id="rId3" imgW="914400" imgH="685800" progId="Word.Document.12">
                  <p:embed/>
                </p:oleObj>
              </mc:Choice>
              <mc:Fallback>
                <p:oleObj name="文档" showAsIcon="1" r:id="rId3" imgW="914400" imgH="685800" progId="Word.Document.12">
                  <p:embed/>
                  <p:pic>
                    <p:nvPicPr>
                      <p:cNvPr id="0" name=""/>
                      <p:cNvPicPr/>
                      <p:nvPr/>
                    </p:nvPicPr>
                    <p:blipFill>
                      <a:blip r:embed="rId4"/>
                      <a:stretch>
                        <a:fillRect/>
                      </a:stretch>
                    </p:blipFill>
                    <p:spPr>
                      <a:xfrm>
                        <a:off x="7069232" y="5445224"/>
                        <a:ext cx="1487675" cy="1115757"/>
                      </a:xfrm>
                      <a:prstGeom prst="rect">
                        <a:avLst/>
                      </a:prstGeom>
                    </p:spPr>
                  </p:pic>
                </p:oleObj>
              </mc:Fallback>
            </mc:AlternateContent>
          </a:graphicData>
        </a:graphic>
      </p:graphicFrame>
    </p:spTree>
    <p:extLst>
      <p:ext uri="{BB962C8B-B14F-4D97-AF65-F5344CB8AC3E}">
        <p14:creationId xmlns:p14="http://schemas.microsoft.com/office/powerpoint/2010/main" val="397702522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59632" y="764704"/>
            <a:ext cx="6336704" cy="584775"/>
          </a:xfrm>
          <a:prstGeom prst="rect">
            <a:avLst/>
          </a:prstGeom>
          <a:noFill/>
        </p:spPr>
        <p:txBody>
          <a:bodyPr wrap="square" rtlCol="0">
            <a:spAutoFit/>
          </a:bodyPr>
          <a:lstStyle/>
          <a:p>
            <a:pPr algn="ctr"/>
            <a:r>
              <a:rPr lang="zh-CN" altLang="en-US" sz="3200" dirty="0" smtClean="0">
                <a:latin typeface="微软雅黑" pitchFamily="34" charset="-122"/>
                <a:ea typeface="微软雅黑" pitchFamily="34" charset="-122"/>
              </a:rPr>
              <a:t>第三篇  直营货品管理制度</a:t>
            </a:r>
            <a:endParaRPr lang="zh-CN" altLang="en-US" sz="3200" dirty="0">
              <a:latin typeface="微软雅黑" pitchFamily="34" charset="-122"/>
              <a:ea typeface="微软雅黑" pitchFamily="34" charset="-122"/>
            </a:endParaRPr>
          </a:p>
        </p:txBody>
      </p:sp>
      <p:pic>
        <p:nvPicPr>
          <p:cNvPr id="3" name="图片 2"/>
          <p:cNvPicPr/>
          <p:nvPr/>
        </p:nvPicPr>
        <p:blipFill>
          <a:blip r:embed="rId2"/>
          <a:srcRect/>
          <a:stretch>
            <a:fillRect/>
          </a:stretch>
        </p:blipFill>
        <p:spPr bwMode="auto">
          <a:xfrm>
            <a:off x="1403648" y="2060848"/>
            <a:ext cx="6463169" cy="3726274"/>
          </a:xfrm>
          <a:prstGeom prst="rect">
            <a:avLst/>
          </a:prstGeom>
          <a:noFill/>
          <a:ln w="9525">
            <a:noFill/>
            <a:miter lim="800000"/>
            <a:headEnd/>
            <a:tailEnd/>
          </a:ln>
        </p:spPr>
      </p:pic>
    </p:spTree>
    <p:extLst>
      <p:ext uri="{BB962C8B-B14F-4D97-AF65-F5344CB8AC3E}">
        <p14:creationId xmlns:p14="http://schemas.microsoft.com/office/powerpoint/2010/main" val="34016322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864096" cy="369332"/>
          </a:xfrm>
          <a:prstGeom prst="rect">
            <a:avLst/>
          </a:prstGeom>
          <a:noFill/>
        </p:spPr>
        <p:txBody>
          <a:bodyPr wrap="square" rtlCol="0">
            <a:spAutoFit/>
          </a:bodyPr>
          <a:lstStyle/>
          <a:p>
            <a:r>
              <a:rPr lang="zh-CN" altLang="en-US" dirty="0">
                <a:latin typeface="微软雅黑" pitchFamily="34" charset="-122"/>
                <a:ea typeface="微软雅黑" pitchFamily="34" charset="-122"/>
              </a:rPr>
              <a:t>订货</a:t>
            </a:r>
          </a:p>
        </p:txBody>
      </p:sp>
      <p:sp>
        <p:nvSpPr>
          <p:cNvPr id="3" name="矩形 2"/>
          <p:cNvSpPr/>
          <p:nvPr/>
        </p:nvSpPr>
        <p:spPr>
          <a:xfrm>
            <a:off x="1979712" y="2132856"/>
            <a:ext cx="5616624" cy="2062103"/>
          </a:xfrm>
          <a:prstGeom prst="rect">
            <a:avLst/>
          </a:prstGeom>
        </p:spPr>
        <p:txBody>
          <a:bodyPr wrap="square">
            <a:spAutoFit/>
          </a:bodyPr>
          <a:lstStyle/>
          <a:p>
            <a:pPr>
              <a:lnSpc>
                <a:spcPct val="200000"/>
              </a:lnSpc>
            </a:pPr>
            <a:r>
              <a:rPr lang="en-US" altLang="zh-CN" sz="1600" dirty="0" smtClean="0">
                <a:latin typeface="微软雅黑" pitchFamily="34" charset="-122"/>
                <a:ea typeface="微软雅黑" pitchFamily="34" charset="-122"/>
              </a:rPr>
              <a:t>       </a:t>
            </a:r>
            <a:r>
              <a:rPr lang="zh-CN" altLang="zh-CN" sz="1600" dirty="0" smtClean="0">
                <a:latin typeface="微软雅黑" pitchFamily="34" charset="-122"/>
                <a:ea typeface="微软雅黑" pitchFamily="34" charset="-122"/>
              </a:rPr>
              <a:t>订货</a:t>
            </a:r>
            <a:r>
              <a:rPr lang="zh-CN" altLang="zh-CN" sz="1600" dirty="0">
                <a:latin typeface="微软雅黑" pitchFamily="34" charset="-122"/>
                <a:ea typeface="微软雅黑" pitchFamily="34" charset="-122"/>
              </a:rPr>
              <a:t>是每一季商品运营的起点，订货的合理性会直接影响到销售目标的实现，商品运营的效率以及库存的产生。了解和熟悉订货的流程，把握好订货环节的质量，是运营管理的基础和首要的</a:t>
            </a:r>
            <a:r>
              <a:rPr lang="zh-CN" altLang="zh-CN" sz="1600" dirty="0" smtClean="0">
                <a:latin typeface="微软雅黑" pitchFamily="34" charset="-122"/>
                <a:ea typeface="微软雅黑" pitchFamily="34" charset="-122"/>
              </a:rPr>
              <a:t>工作</a:t>
            </a:r>
            <a:r>
              <a:rPr lang="zh-CN" altLang="en-US" sz="1600" dirty="0" smtClean="0">
                <a:latin typeface="微软雅黑" pitchFamily="34" charset="-122"/>
                <a:ea typeface="微软雅黑" pitchFamily="34" charset="-122"/>
              </a:rPr>
              <a:t>。</a:t>
            </a:r>
            <a:endParaRPr lang="zh-CN" altLang="en-US" sz="1600" dirty="0">
              <a:latin typeface="微软雅黑" pitchFamily="34" charset="-122"/>
              <a:ea typeface="微软雅黑" pitchFamily="34" charset="-122"/>
            </a:endParaRPr>
          </a:p>
        </p:txBody>
      </p:sp>
      <p:sp>
        <p:nvSpPr>
          <p:cNvPr id="4" name="TextBox 3"/>
          <p:cNvSpPr txBox="1"/>
          <p:nvPr/>
        </p:nvSpPr>
        <p:spPr>
          <a:xfrm>
            <a:off x="1186914" y="1124744"/>
            <a:ext cx="2088941"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订货的目的：</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97702522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864096" cy="369332"/>
          </a:xfrm>
          <a:prstGeom prst="rect">
            <a:avLst/>
          </a:prstGeom>
          <a:noFill/>
        </p:spPr>
        <p:txBody>
          <a:bodyPr wrap="square" rtlCol="0">
            <a:spAutoFit/>
          </a:bodyPr>
          <a:lstStyle/>
          <a:p>
            <a:r>
              <a:rPr lang="zh-CN" altLang="en-US" dirty="0">
                <a:latin typeface="微软雅黑" pitchFamily="34" charset="-122"/>
                <a:ea typeface="微软雅黑" pitchFamily="34" charset="-122"/>
              </a:rPr>
              <a:t>订货</a:t>
            </a:r>
          </a:p>
        </p:txBody>
      </p:sp>
      <p:sp>
        <p:nvSpPr>
          <p:cNvPr id="3" name="TextBox 2"/>
          <p:cNvSpPr txBox="1"/>
          <p:nvPr/>
        </p:nvSpPr>
        <p:spPr>
          <a:xfrm>
            <a:off x="1186914" y="1124744"/>
            <a:ext cx="2088941"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订货的类型：</a:t>
            </a:r>
            <a:endParaRPr lang="zh-CN" altLang="en-US" dirty="0">
              <a:latin typeface="微软雅黑" pitchFamily="34" charset="-122"/>
              <a:ea typeface="微软雅黑" pitchFamily="34" charset="-122"/>
            </a:endParaRPr>
          </a:p>
        </p:txBody>
      </p:sp>
      <p:sp>
        <p:nvSpPr>
          <p:cNvPr id="4" name="矩形 3"/>
          <p:cNvSpPr/>
          <p:nvPr/>
        </p:nvSpPr>
        <p:spPr>
          <a:xfrm>
            <a:off x="1907704" y="2204864"/>
            <a:ext cx="5397631" cy="338554"/>
          </a:xfrm>
          <a:prstGeom prst="rect">
            <a:avLst/>
          </a:prstGeom>
        </p:spPr>
        <p:txBody>
          <a:bodyPr wrap="none">
            <a:spAutoFit/>
          </a:bodyPr>
          <a:lstStyle/>
          <a:p>
            <a:pPr marL="285750" lvl="0" indent="-285750">
              <a:buFont typeface="Wingdings" pitchFamily="2" charset="2"/>
              <a:buChar char="l"/>
            </a:pPr>
            <a:r>
              <a:rPr lang="zh-CN" altLang="zh-CN" sz="1600" dirty="0">
                <a:latin typeface="微软雅黑" pitchFamily="34" charset="-122"/>
                <a:ea typeface="微软雅黑" pitchFamily="34" charset="-122"/>
              </a:rPr>
              <a:t>期货</a:t>
            </a:r>
            <a:r>
              <a:rPr lang="zh-CN" altLang="zh-CN" sz="1600" dirty="0" smtClean="0">
                <a:latin typeface="微软雅黑" pitchFamily="34" charset="-122"/>
                <a:ea typeface="微软雅黑" pitchFamily="34" charset="-122"/>
              </a:rPr>
              <a:t>订货</a:t>
            </a:r>
            <a:r>
              <a:rPr lang="zh-CN" altLang="en-US" sz="1600" dirty="0" smtClean="0">
                <a:latin typeface="微软雅黑" pitchFamily="34" charset="-122"/>
                <a:ea typeface="微软雅黑" pitchFamily="34" charset="-122"/>
              </a:rPr>
              <a:t>：特指参加总公司举行的订货会所下单的货品</a:t>
            </a:r>
            <a:endParaRPr lang="zh-CN" altLang="zh-CN" sz="1600" dirty="0">
              <a:latin typeface="微软雅黑" pitchFamily="34" charset="-122"/>
              <a:ea typeface="微软雅黑" pitchFamily="34" charset="-122"/>
            </a:endParaRPr>
          </a:p>
        </p:txBody>
      </p:sp>
      <p:sp>
        <p:nvSpPr>
          <p:cNvPr id="5" name="矩形 4"/>
          <p:cNvSpPr/>
          <p:nvPr/>
        </p:nvSpPr>
        <p:spPr>
          <a:xfrm>
            <a:off x="1907704" y="3162454"/>
            <a:ext cx="6013185" cy="338554"/>
          </a:xfrm>
          <a:prstGeom prst="rect">
            <a:avLst/>
          </a:prstGeom>
        </p:spPr>
        <p:txBody>
          <a:bodyPr wrap="none">
            <a:spAutoFit/>
          </a:bodyPr>
          <a:lstStyle/>
          <a:p>
            <a:pPr marL="285750" lvl="0" indent="-285750">
              <a:buFont typeface="Wingdings" pitchFamily="2" charset="2"/>
              <a:buChar char="l"/>
            </a:pPr>
            <a:r>
              <a:rPr lang="zh-CN" altLang="zh-CN" sz="1600" dirty="0">
                <a:latin typeface="微软雅黑" pitchFamily="34" charset="-122"/>
                <a:ea typeface="微软雅黑" pitchFamily="34" charset="-122"/>
              </a:rPr>
              <a:t>补充款式</a:t>
            </a:r>
            <a:r>
              <a:rPr lang="zh-CN" altLang="zh-CN" sz="1600" dirty="0" smtClean="0">
                <a:latin typeface="微软雅黑" pitchFamily="34" charset="-122"/>
                <a:ea typeface="微软雅黑" pitchFamily="34" charset="-122"/>
              </a:rPr>
              <a:t>订货</a:t>
            </a:r>
            <a:r>
              <a:rPr lang="zh-CN" altLang="en-US" sz="1600" dirty="0" smtClean="0">
                <a:latin typeface="微软雅黑" pitchFamily="34" charset="-122"/>
                <a:ea typeface="微软雅黑" pitchFamily="34" charset="-122"/>
              </a:rPr>
              <a:t>：特指公司汇总分销客户订单后补充下单的货品</a:t>
            </a:r>
            <a:endParaRPr lang="zh-CN" altLang="zh-CN" sz="1600" dirty="0">
              <a:latin typeface="微软雅黑" pitchFamily="34" charset="-122"/>
              <a:ea typeface="微软雅黑" pitchFamily="34" charset="-122"/>
            </a:endParaRPr>
          </a:p>
        </p:txBody>
      </p:sp>
      <p:sp>
        <p:nvSpPr>
          <p:cNvPr id="6" name="矩形 5"/>
          <p:cNvSpPr/>
          <p:nvPr/>
        </p:nvSpPr>
        <p:spPr>
          <a:xfrm>
            <a:off x="1920744" y="4077072"/>
            <a:ext cx="5397631" cy="338554"/>
          </a:xfrm>
          <a:prstGeom prst="rect">
            <a:avLst/>
          </a:prstGeom>
        </p:spPr>
        <p:txBody>
          <a:bodyPr wrap="none">
            <a:spAutoFit/>
          </a:bodyPr>
          <a:lstStyle/>
          <a:p>
            <a:pPr marL="285750" indent="-285750">
              <a:buFont typeface="Wingdings" pitchFamily="2" charset="2"/>
              <a:buChar char="l"/>
            </a:pPr>
            <a:r>
              <a:rPr lang="zh-CN" altLang="zh-CN" sz="1600" dirty="0">
                <a:latin typeface="微软雅黑" pitchFamily="34" charset="-122"/>
                <a:ea typeface="微软雅黑" pitchFamily="34" charset="-122"/>
              </a:rPr>
              <a:t>补单</a:t>
            </a:r>
            <a:r>
              <a:rPr lang="zh-CN" altLang="zh-CN" sz="1600" dirty="0" smtClean="0">
                <a:latin typeface="微软雅黑" pitchFamily="34" charset="-122"/>
                <a:ea typeface="微软雅黑" pitchFamily="34" charset="-122"/>
              </a:rPr>
              <a:t>订货</a:t>
            </a:r>
            <a:r>
              <a:rPr lang="zh-CN" altLang="en-US" sz="1600" dirty="0" smtClean="0">
                <a:latin typeface="微软雅黑" pitchFamily="34" charset="-122"/>
                <a:ea typeface="微软雅黑" pitchFamily="34" charset="-122"/>
              </a:rPr>
              <a:t>：特指在销售过程中对畅销款追加下单的货品</a:t>
            </a:r>
            <a:endParaRPr lang="zh-CN" altLang="en-US" sz="1600" dirty="0">
              <a:latin typeface="微软雅黑" pitchFamily="34" charset="-122"/>
              <a:ea typeface="微软雅黑" pitchFamily="34" charset="-122"/>
            </a:endParaRPr>
          </a:p>
        </p:txBody>
      </p:sp>
    </p:spTree>
    <p:extLst>
      <p:ext uri="{BB962C8B-B14F-4D97-AF65-F5344CB8AC3E}">
        <p14:creationId xmlns:p14="http://schemas.microsoft.com/office/powerpoint/2010/main" val="59763074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864096" cy="369332"/>
          </a:xfrm>
          <a:prstGeom prst="rect">
            <a:avLst/>
          </a:prstGeom>
          <a:noFill/>
        </p:spPr>
        <p:txBody>
          <a:bodyPr wrap="square" rtlCol="0">
            <a:spAutoFit/>
          </a:bodyPr>
          <a:lstStyle/>
          <a:p>
            <a:r>
              <a:rPr lang="zh-CN" altLang="en-US" dirty="0">
                <a:latin typeface="微软雅黑" pitchFamily="34" charset="-122"/>
                <a:ea typeface="微软雅黑" pitchFamily="34" charset="-122"/>
              </a:rPr>
              <a:t>订货</a:t>
            </a:r>
          </a:p>
        </p:txBody>
      </p:sp>
      <p:sp>
        <p:nvSpPr>
          <p:cNvPr id="3" name="TextBox 2"/>
          <p:cNvSpPr txBox="1"/>
          <p:nvPr/>
        </p:nvSpPr>
        <p:spPr>
          <a:xfrm>
            <a:off x="755576" y="687808"/>
            <a:ext cx="7272808" cy="1618520"/>
          </a:xfrm>
          <a:prstGeom prst="rect">
            <a:avLst/>
          </a:prstGeom>
          <a:noFill/>
        </p:spPr>
        <p:txBody>
          <a:bodyPr wrap="square" rtlCol="0">
            <a:spAutoFit/>
          </a:bodyPr>
          <a:lstStyle/>
          <a:p>
            <a:pPr>
              <a:lnSpc>
                <a:spcPct val="150000"/>
              </a:lnSpc>
            </a:pPr>
            <a:r>
              <a:rPr lang="zh-CN" altLang="en-US" dirty="0" smtClean="0">
                <a:latin typeface="微软雅黑" pitchFamily="34" charset="-122"/>
                <a:ea typeface="微软雅黑" pitchFamily="34" charset="-122"/>
              </a:rPr>
              <a:t>订货计划的制定：</a:t>
            </a:r>
            <a:endParaRPr lang="en-US" altLang="zh-CN" dirty="0"/>
          </a:p>
          <a:p>
            <a:pPr>
              <a:lnSpc>
                <a:spcPct val="150000"/>
              </a:lnSpc>
            </a:pPr>
            <a:r>
              <a:rPr lang="en-US" altLang="zh-CN" dirty="0"/>
              <a:t> </a:t>
            </a:r>
            <a:r>
              <a:rPr lang="en-US" altLang="zh-CN" dirty="0" smtClean="0"/>
              <a:t>         </a:t>
            </a:r>
            <a:r>
              <a:rPr lang="zh-CN" altLang="zh-CN" sz="1600" dirty="0" smtClean="0">
                <a:latin typeface="微软雅黑" pitchFamily="34" charset="-122"/>
                <a:ea typeface="微软雅黑" pitchFamily="34" charset="-122"/>
              </a:rPr>
              <a:t>销售</a:t>
            </a:r>
            <a:r>
              <a:rPr lang="zh-CN" altLang="zh-CN" sz="1600" dirty="0">
                <a:latin typeface="微软雅黑" pitchFamily="34" charset="-122"/>
                <a:ea typeface="微软雅黑" pitchFamily="34" charset="-122"/>
              </a:rPr>
              <a:t>计划转换为订货</a:t>
            </a:r>
            <a:r>
              <a:rPr lang="zh-CN" altLang="zh-CN" sz="1600" dirty="0" smtClean="0">
                <a:latin typeface="微软雅黑" pitchFamily="34" charset="-122"/>
                <a:ea typeface="微软雅黑" pitchFamily="34" charset="-122"/>
              </a:rPr>
              <a:t>计划</a:t>
            </a:r>
            <a:r>
              <a:rPr lang="zh-CN" altLang="en-US" sz="1600" dirty="0" smtClean="0">
                <a:latin typeface="微软雅黑" pitchFamily="34" charset="-122"/>
                <a:ea typeface="微软雅黑" pitchFamily="34" charset="-122"/>
              </a:rPr>
              <a:t>，</a:t>
            </a:r>
            <a:r>
              <a:rPr lang="zh-CN" altLang="zh-CN" sz="1600" dirty="0" smtClean="0">
                <a:latin typeface="微软雅黑" pitchFamily="34" charset="-122"/>
                <a:ea typeface="微软雅黑" pitchFamily="34" charset="-122"/>
              </a:rPr>
              <a:t>所有</a:t>
            </a:r>
            <a:r>
              <a:rPr lang="zh-CN" altLang="zh-CN" sz="1600" dirty="0">
                <a:latin typeface="微软雅黑" pitchFamily="34" charset="-122"/>
                <a:ea typeface="微软雅黑" pitchFamily="34" charset="-122"/>
              </a:rPr>
              <a:t>的销售额都需要商品的销售来实现，所以订货计划关系到</a:t>
            </a:r>
            <a:r>
              <a:rPr lang="en-US" altLang="zh-CN" sz="1600" dirty="0">
                <a:latin typeface="微软雅黑" pitchFamily="34" charset="-122"/>
                <a:ea typeface="微软雅黑" pitchFamily="34" charset="-122"/>
              </a:rPr>
              <a:t>(</a:t>
            </a:r>
            <a:r>
              <a:rPr lang="zh-CN" altLang="zh-CN" sz="1600" dirty="0">
                <a:latin typeface="微软雅黑" pitchFamily="34" charset="-122"/>
                <a:ea typeface="微软雅黑" pitchFamily="34" charset="-122"/>
              </a:rPr>
              <a:t>直营和客户</a:t>
            </a:r>
            <a:r>
              <a:rPr lang="en-US" altLang="zh-CN" sz="1600" dirty="0">
                <a:latin typeface="微软雅黑" pitchFamily="34" charset="-122"/>
                <a:ea typeface="微软雅黑" pitchFamily="34" charset="-122"/>
              </a:rPr>
              <a:t>)</a:t>
            </a:r>
            <a:r>
              <a:rPr lang="zh-CN" altLang="zh-CN" sz="1600" dirty="0">
                <a:latin typeface="微软雅黑" pitchFamily="34" charset="-122"/>
                <a:ea typeface="微软雅黑" pitchFamily="34" charset="-122"/>
              </a:rPr>
              <a:t>目标</a:t>
            </a:r>
            <a:r>
              <a:rPr lang="zh-CN" altLang="zh-CN" sz="1600" dirty="0" smtClean="0">
                <a:latin typeface="微软雅黑" pitchFamily="34" charset="-122"/>
                <a:ea typeface="微软雅黑" pitchFamily="34" charset="-122"/>
              </a:rPr>
              <a:t>销售</a:t>
            </a:r>
            <a:r>
              <a:rPr lang="zh-CN" altLang="en-US" sz="1600" dirty="0">
                <a:latin typeface="微软雅黑" pitchFamily="34" charset="-122"/>
                <a:ea typeface="微软雅黑" pitchFamily="34" charset="-122"/>
              </a:rPr>
              <a:t>额</a:t>
            </a:r>
            <a:r>
              <a:rPr lang="zh-CN" altLang="zh-CN" sz="1600" dirty="0" smtClean="0">
                <a:latin typeface="微软雅黑" pitchFamily="34" charset="-122"/>
                <a:ea typeface="微软雅黑" pitchFamily="34" charset="-122"/>
              </a:rPr>
              <a:t>、</a:t>
            </a:r>
            <a:r>
              <a:rPr lang="en-US" altLang="zh-CN" sz="1600" dirty="0">
                <a:latin typeface="微软雅黑" pitchFamily="34" charset="-122"/>
                <a:ea typeface="微软雅黑" pitchFamily="34" charset="-122"/>
              </a:rPr>
              <a:t>(</a:t>
            </a:r>
            <a:r>
              <a:rPr lang="zh-CN" altLang="zh-CN" sz="1600" dirty="0">
                <a:latin typeface="微软雅黑" pitchFamily="34" charset="-122"/>
                <a:ea typeface="微软雅黑" pitchFamily="34" charset="-122"/>
              </a:rPr>
              <a:t>直营和客户</a:t>
            </a:r>
            <a:r>
              <a:rPr lang="en-US" altLang="zh-CN" sz="1600" dirty="0">
                <a:latin typeface="微软雅黑" pitchFamily="34" charset="-122"/>
                <a:ea typeface="微软雅黑" pitchFamily="34" charset="-122"/>
              </a:rPr>
              <a:t>)</a:t>
            </a:r>
            <a:r>
              <a:rPr lang="zh-CN" altLang="zh-CN" sz="1600" dirty="0">
                <a:latin typeface="微软雅黑" pitchFamily="34" charset="-122"/>
                <a:ea typeface="微软雅黑" pitchFamily="34" charset="-122"/>
              </a:rPr>
              <a:t>平均销售折扣、新品售罄率以及进货折扣等几个关键</a:t>
            </a:r>
            <a:r>
              <a:rPr lang="zh-CN" altLang="zh-CN" sz="1600" dirty="0" smtClean="0">
                <a:latin typeface="微软雅黑" pitchFamily="34" charset="-122"/>
                <a:ea typeface="微软雅黑" pitchFamily="34" charset="-122"/>
              </a:rPr>
              <a:t>因素</a:t>
            </a:r>
            <a:r>
              <a:rPr lang="zh-CN" altLang="en-US" sz="1600" dirty="0" smtClean="0">
                <a:latin typeface="微软雅黑" pitchFamily="34" charset="-122"/>
                <a:ea typeface="微软雅黑" pitchFamily="34" charset="-122"/>
              </a:rPr>
              <a:t>。</a:t>
            </a:r>
            <a:endParaRPr lang="zh-CN" altLang="en-US" sz="1600" dirty="0">
              <a:latin typeface="微软雅黑" pitchFamily="34" charset="-122"/>
              <a:ea typeface="微软雅黑" pitchFamily="34" charset="-122"/>
            </a:endParaRPr>
          </a:p>
        </p:txBody>
      </p:sp>
      <p:sp>
        <p:nvSpPr>
          <p:cNvPr id="4" name="AutoShape 3"/>
          <p:cNvSpPr>
            <a:spLocks noChangeArrowheads="1"/>
          </p:cNvSpPr>
          <p:nvPr/>
        </p:nvSpPr>
        <p:spPr bwMode="auto">
          <a:xfrm>
            <a:off x="5103168" y="3714328"/>
            <a:ext cx="2286000" cy="26670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eaLnBrk="0" hangingPunct="0"/>
            <a:endParaRPr lang="zh-CN" altLang="zh-CN">
              <a:latin typeface="Verdana" pitchFamily="34" charset="0"/>
            </a:endParaRPr>
          </a:p>
        </p:txBody>
      </p:sp>
      <p:sp>
        <p:nvSpPr>
          <p:cNvPr id="5" name="AutoShape 5"/>
          <p:cNvSpPr>
            <a:spLocks noChangeArrowheads="1"/>
          </p:cNvSpPr>
          <p:nvPr/>
        </p:nvSpPr>
        <p:spPr bwMode="auto">
          <a:xfrm>
            <a:off x="683568" y="3642320"/>
            <a:ext cx="2286000" cy="26670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eaLnBrk="0" hangingPunct="0"/>
            <a:endParaRPr lang="zh-CN" altLang="zh-CN">
              <a:latin typeface="Verdana" pitchFamily="34" charset="0"/>
            </a:endParaRPr>
          </a:p>
        </p:txBody>
      </p:sp>
      <p:sp>
        <p:nvSpPr>
          <p:cNvPr id="6" name="Text Box 6"/>
          <p:cNvSpPr txBox="1">
            <a:spLocks noChangeArrowheads="1"/>
          </p:cNvSpPr>
          <p:nvPr/>
        </p:nvSpPr>
        <p:spPr bwMode="auto">
          <a:xfrm>
            <a:off x="778818" y="3842345"/>
            <a:ext cx="20383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1600" b="1" dirty="0" smtClean="0">
                <a:solidFill>
                  <a:srgbClr val="000000"/>
                </a:solidFill>
                <a:latin typeface="微软雅黑" pitchFamily="34" charset="-122"/>
                <a:ea typeface="微软雅黑" pitchFamily="34" charset="-122"/>
              </a:rPr>
              <a:t>上一年度回顾</a:t>
            </a:r>
            <a:endParaRPr lang="en-US" altLang="zh-CN" sz="1600" b="1" dirty="0">
              <a:solidFill>
                <a:srgbClr val="000000"/>
              </a:solidFill>
              <a:latin typeface="微软雅黑" pitchFamily="34" charset="-122"/>
              <a:ea typeface="微软雅黑" pitchFamily="34" charset="-122"/>
            </a:endParaRPr>
          </a:p>
        </p:txBody>
      </p:sp>
      <p:sp>
        <p:nvSpPr>
          <p:cNvPr id="7" name="Freeform 7"/>
          <p:cNvSpPr>
            <a:spLocks/>
          </p:cNvSpPr>
          <p:nvPr/>
        </p:nvSpPr>
        <p:spPr bwMode="gray">
          <a:xfrm>
            <a:off x="2763193" y="3545483"/>
            <a:ext cx="903288" cy="1241425"/>
          </a:xfrm>
          <a:custGeom>
            <a:avLst/>
            <a:gdLst>
              <a:gd name="T0" fmla="*/ 580 w 580"/>
              <a:gd name="T1" fmla="*/ 0 h 798"/>
              <a:gd name="T2" fmla="*/ 578 w 580"/>
              <a:gd name="T3" fmla="*/ 90 h 798"/>
              <a:gd name="T4" fmla="*/ 568 w 580"/>
              <a:gd name="T5" fmla="*/ 174 h 798"/>
              <a:gd name="T6" fmla="*/ 552 w 580"/>
              <a:gd name="T7" fmla="*/ 252 h 798"/>
              <a:gd name="T8" fmla="*/ 526 w 580"/>
              <a:gd name="T9" fmla="*/ 324 h 798"/>
              <a:gd name="T10" fmla="*/ 494 w 580"/>
              <a:gd name="T11" fmla="*/ 390 h 798"/>
              <a:gd name="T12" fmla="*/ 452 w 580"/>
              <a:gd name="T13" fmla="*/ 450 h 798"/>
              <a:gd name="T14" fmla="*/ 402 w 580"/>
              <a:gd name="T15" fmla="*/ 508 h 798"/>
              <a:gd name="T16" fmla="*/ 342 w 580"/>
              <a:gd name="T17" fmla="*/ 560 h 798"/>
              <a:gd name="T18" fmla="*/ 270 w 580"/>
              <a:gd name="T19" fmla="*/ 610 h 798"/>
              <a:gd name="T20" fmla="*/ 188 w 580"/>
              <a:gd name="T21" fmla="*/ 656 h 798"/>
              <a:gd name="T22" fmla="*/ 188 w 580"/>
              <a:gd name="T23" fmla="*/ 798 h 798"/>
              <a:gd name="T24" fmla="*/ 0 w 580"/>
              <a:gd name="T25" fmla="*/ 514 h 798"/>
              <a:gd name="T26" fmla="*/ 188 w 580"/>
              <a:gd name="T27" fmla="*/ 230 h 798"/>
              <a:gd name="T28" fmla="*/ 188 w 580"/>
              <a:gd name="T29" fmla="*/ 372 h 798"/>
              <a:gd name="T30" fmla="*/ 224 w 580"/>
              <a:gd name="T31" fmla="*/ 368 h 798"/>
              <a:gd name="T32" fmla="*/ 264 w 580"/>
              <a:gd name="T33" fmla="*/ 356 h 798"/>
              <a:gd name="T34" fmla="*/ 306 w 580"/>
              <a:gd name="T35" fmla="*/ 336 h 798"/>
              <a:gd name="T36" fmla="*/ 348 w 580"/>
              <a:gd name="T37" fmla="*/ 310 h 798"/>
              <a:gd name="T38" fmla="*/ 392 w 580"/>
              <a:gd name="T39" fmla="*/ 280 h 798"/>
              <a:gd name="T40" fmla="*/ 432 w 580"/>
              <a:gd name="T41" fmla="*/ 246 h 798"/>
              <a:gd name="T42" fmla="*/ 472 w 580"/>
              <a:gd name="T43" fmla="*/ 208 h 798"/>
              <a:gd name="T44" fmla="*/ 506 w 580"/>
              <a:gd name="T45" fmla="*/ 166 h 798"/>
              <a:gd name="T46" fmla="*/ 536 w 580"/>
              <a:gd name="T47" fmla="*/ 124 h 798"/>
              <a:gd name="T48" fmla="*/ 558 w 580"/>
              <a:gd name="T49" fmla="*/ 82 h 798"/>
              <a:gd name="T50" fmla="*/ 574 w 580"/>
              <a:gd name="T51" fmla="*/ 40 h 798"/>
              <a:gd name="T52" fmla="*/ 578 w 580"/>
              <a:gd name="T53" fmla="*/ 0 h 798"/>
              <a:gd name="T54" fmla="*/ 580 w 580"/>
              <a:gd name="T55" fmla="*/ 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ln/>
        </p:spPr>
        <p:style>
          <a:lnRef idx="1">
            <a:schemeClr val="accent1"/>
          </a:lnRef>
          <a:fillRef idx="2">
            <a:schemeClr val="accent1"/>
          </a:fillRef>
          <a:effectRef idx="1">
            <a:schemeClr val="accent1"/>
          </a:effectRef>
          <a:fontRef idx="minor">
            <a:schemeClr val="dk1"/>
          </a:fontRef>
        </p:style>
        <p:txBody>
          <a:bodyPr/>
          <a:lstStyle/>
          <a:p>
            <a:endParaRPr lang="zh-CN" altLang="en-US"/>
          </a:p>
        </p:txBody>
      </p:sp>
      <p:sp>
        <p:nvSpPr>
          <p:cNvPr id="8" name="AutoShape 8"/>
          <p:cNvSpPr>
            <a:spLocks noChangeAspect="1" noChangeArrowheads="1" noTextEdit="1"/>
          </p:cNvSpPr>
          <p:nvPr/>
        </p:nvSpPr>
        <p:spPr bwMode="gray">
          <a:xfrm flipH="1">
            <a:off x="4409431" y="3542308"/>
            <a:ext cx="909637"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 name="Freeform 9"/>
          <p:cNvSpPr>
            <a:spLocks/>
          </p:cNvSpPr>
          <p:nvPr/>
        </p:nvSpPr>
        <p:spPr bwMode="gray">
          <a:xfrm flipH="1">
            <a:off x="4415781" y="3545483"/>
            <a:ext cx="903287" cy="1241425"/>
          </a:xfrm>
          <a:custGeom>
            <a:avLst/>
            <a:gdLst>
              <a:gd name="T0" fmla="*/ 580 w 580"/>
              <a:gd name="T1" fmla="*/ 0 h 798"/>
              <a:gd name="T2" fmla="*/ 578 w 580"/>
              <a:gd name="T3" fmla="*/ 90 h 798"/>
              <a:gd name="T4" fmla="*/ 568 w 580"/>
              <a:gd name="T5" fmla="*/ 174 h 798"/>
              <a:gd name="T6" fmla="*/ 552 w 580"/>
              <a:gd name="T7" fmla="*/ 252 h 798"/>
              <a:gd name="T8" fmla="*/ 526 w 580"/>
              <a:gd name="T9" fmla="*/ 324 h 798"/>
              <a:gd name="T10" fmla="*/ 494 w 580"/>
              <a:gd name="T11" fmla="*/ 390 h 798"/>
              <a:gd name="T12" fmla="*/ 452 w 580"/>
              <a:gd name="T13" fmla="*/ 450 h 798"/>
              <a:gd name="T14" fmla="*/ 402 w 580"/>
              <a:gd name="T15" fmla="*/ 508 h 798"/>
              <a:gd name="T16" fmla="*/ 342 w 580"/>
              <a:gd name="T17" fmla="*/ 560 h 798"/>
              <a:gd name="T18" fmla="*/ 270 w 580"/>
              <a:gd name="T19" fmla="*/ 610 h 798"/>
              <a:gd name="T20" fmla="*/ 188 w 580"/>
              <a:gd name="T21" fmla="*/ 656 h 798"/>
              <a:gd name="T22" fmla="*/ 188 w 580"/>
              <a:gd name="T23" fmla="*/ 798 h 798"/>
              <a:gd name="T24" fmla="*/ 0 w 580"/>
              <a:gd name="T25" fmla="*/ 514 h 798"/>
              <a:gd name="T26" fmla="*/ 188 w 580"/>
              <a:gd name="T27" fmla="*/ 230 h 798"/>
              <a:gd name="T28" fmla="*/ 188 w 580"/>
              <a:gd name="T29" fmla="*/ 372 h 798"/>
              <a:gd name="T30" fmla="*/ 224 w 580"/>
              <a:gd name="T31" fmla="*/ 368 h 798"/>
              <a:gd name="T32" fmla="*/ 264 w 580"/>
              <a:gd name="T33" fmla="*/ 356 h 798"/>
              <a:gd name="T34" fmla="*/ 306 w 580"/>
              <a:gd name="T35" fmla="*/ 336 h 798"/>
              <a:gd name="T36" fmla="*/ 348 w 580"/>
              <a:gd name="T37" fmla="*/ 310 h 798"/>
              <a:gd name="T38" fmla="*/ 392 w 580"/>
              <a:gd name="T39" fmla="*/ 280 h 798"/>
              <a:gd name="T40" fmla="*/ 432 w 580"/>
              <a:gd name="T41" fmla="*/ 246 h 798"/>
              <a:gd name="T42" fmla="*/ 472 w 580"/>
              <a:gd name="T43" fmla="*/ 208 h 798"/>
              <a:gd name="T44" fmla="*/ 506 w 580"/>
              <a:gd name="T45" fmla="*/ 166 h 798"/>
              <a:gd name="T46" fmla="*/ 536 w 580"/>
              <a:gd name="T47" fmla="*/ 124 h 798"/>
              <a:gd name="T48" fmla="*/ 558 w 580"/>
              <a:gd name="T49" fmla="*/ 82 h 798"/>
              <a:gd name="T50" fmla="*/ 574 w 580"/>
              <a:gd name="T51" fmla="*/ 40 h 798"/>
              <a:gd name="T52" fmla="*/ 578 w 580"/>
              <a:gd name="T53" fmla="*/ 0 h 798"/>
              <a:gd name="T54" fmla="*/ 580 w 580"/>
              <a:gd name="T55" fmla="*/ 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ln/>
        </p:spPr>
        <p:style>
          <a:lnRef idx="1">
            <a:schemeClr val="accent1"/>
          </a:lnRef>
          <a:fillRef idx="2">
            <a:schemeClr val="accent1"/>
          </a:fillRef>
          <a:effectRef idx="1">
            <a:schemeClr val="accent1"/>
          </a:effectRef>
          <a:fontRef idx="minor">
            <a:schemeClr val="dk1"/>
          </a:fontRef>
        </p:style>
        <p:txBody>
          <a:bodyPr/>
          <a:lstStyle/>
          <a:p>
            <a:endParaRPr lang="zh-CN" altLang="en-US"/>
          </a:p>
        </p:txBody>
      </p:sp>
      <p:grpSp>
        <p:nvGrpSpPr>
          <p:cNvPr id="10" name="组合 9"/>
          <p:cNvGrpSpPr/>
          <p:nvPr/>
        </p:nvGrpSpPr>
        <p:grpSpPr>
          <a:xfrm>
            <a:off x="2750096" y="2679714"/>
            <a:ext cx="2514600" cy="840369"/>
            <a:chOff x="3048000" y="1590675"/>
            <a:chExt cx="2998788" cy="1458913"/>
          </a:xfrm>
        </p:grpSpPr>
        <p:grpSp>
          <p:nvGrpSpPr>
            <p:cNvPr id="11" name="Group 11"/>
            <p:cNvGrpSpPr>
              <a:grpSpLocks/>
            </p:cNvGrpSpPr>
            <p:nvPr/>
          </p:nvGrpSpPr>
          <p:grpSpPr bwMode="auto">
            <a:xfrm>
              <a:off x="3048000" y="1590675"/>
              <a:ext cx="2998788" cy="1458913"/>
              <a:chOff x="1973" y="1027"/>
              <a:chExt cx="1926" cy="937"/>
            </a:xfrm>
          </p:grpSpPr>
          <p:sp>
            <p:nvSpPr>
              <p:cNvPr id="13" name="Oval 12"/>
              <p:cNvSpPr>
                <a:spLocks noChangeArrowheads="1"/>
              </p:cNvSpPr>
              <p:nvPr/>
            </p:nvSpPr>
            <p:spPr bwMode="gray">
              <a:xfrm>
                <a:off x="1994" y="1057"/>
                <a:ext cx="1905" cy="907"/>
              </a:xfrm>
              <a:prstGeom prst="ellipse">
                <a:avLst/>
              </a:prstGeom>
              <a:gradFill rotWithShape="1">
                <a:gsLst>
                  <a:gs pos="0">
                    <a:schemeClr val="accent1"/>
                  </a:gs>
                  <a:gs pos="100000">
                    <a:schemeClr val="accent1">
                      <a:gamma/>
                      <a:shade val="48627"/>
                      <a:invGamma/>
                    </a:schemeClr>
                  </a:gs>
                </a:gsLst>
                <a:lin ang="27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Oval 13"/>
              <p:cNvSpPr>
                <a:spLocks noChangeArrowheads="1"/>
              </p:cNvSpPr>
              <p:nvPr/>
            </p:nvSpPr>
            <p:spPr bwMode="gray">
              <a:xfrm>
                <a:off x="1973" y="1027"/>
                <a:ext cx="1905" cy="907"/>
              </a:xfrm>
              <a:prstGeom prst="ellipse">
                <a:avLst/>
              </a:prstGeom>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en-US"/>
              </a:p>
            </p:txBody>
          </p:sp>
        </p:grpSp>
        <p:sp>
          <p:nvSpPr>
            <p:cNvPr id="12" name="Text Box 18"/>
            <p:cNvSpPr txBox="1">
              <a:spLocks noChangeArrowheads="1"/>
            </p:cNvSpPr>
            <p:nvPr/>
          </p:nvSpPr>
          <p:spPr bwMode="auto">
            <a:xfrm>
              <a:off x="3439655" y="1766386"/>
              <a:ext cx="2177767" cy="1015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3200" b="1" dirty="0" smtClean="0">
                  <a:solidFill>
                    <a:srgbClr val="000000"/>
                  </a:solidFill>
                  <a:latin typeface="微软雅黑" pitchFamily="34" charset="-122"/>
                  <a:ea typeface="微软雅黑" pitchFamily="34" charset="-122"/>
                </a:rPr>
                <a:t>订货计划</a:t>
              </a:r>
              <a:endParaRPr lang="en-US" altLang="zh-CN" sz="3200" b="1" dirty="0">
                <a:solidFill>
                  <a:srgbClr val="000000"/>
                </a:solidFill>
                <a:latin typeface="微软雅黑" pitchFamily="34" charset="-122"/>
                <a:ea typeface="微软雅黑" pitchFamily="34" charset="-122"/>
              </a:endParaRPr>
            </a:p>
          </p:txBody>
        </p:sp>
      </p:grpSp>
      <p:sp>
        <p:nvSpPr>
          <p:cNvPr id="15" name="Text Box 19"/>
          <p:cNvSpPr txBox="1">
            <a:spLocks noChangeArrowheads="1"/>
          </p:cNvSpPr>
          <p:nvPr/>
        </p:nvSpPr>
        <p:spPr bwMode="auto">
          <a:xfrm>
            <a:off x="5264696" y="3810526"/>
            <a:ext cx="20383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1600" b="1" dirty="0" smtClean="0">
                <a:solidFill>
                  <a:srgbClr val="000000"/>
                </a:solidFill>
                <a:latin typeface="微软雅黑" pitchFamily="34" charset="-122"/>
                <a:ea typeface="微软雅黑" pitchFamily="34" charset="-122"/>
              </a:rPr>
              <a:t>订货计划分解</a:t>
            </a:r>
            <a:endParaRPr lang="en-US" altLang="zh-CN" sz="1600" b="1" dirty="0">
              <a:solidFill>
                <a:srgbClr val="000000"/>
              </a:solidFill>
              <a:latin typeface="微软雅黑" pitchFamily="34" charset="-122"/>
              <a:ea typeface="微软雅黑" pitchFamily="34" charset="-122"/>
            </a:endParaRPr>
          </a:p>
        </p:txBody>
      </p:sp>
      <p:sp>
        <p:nvSpPr>
          <p:cNvPr id="16" name="TextBox 15"/>
          <p:cNvSpPr txBox="1"/>
          <p:nvPr/>
        </p:nvSpPr>
        <p:spPr>
          <a:xfrm>
            <a:off x="802454" y="4293096"/>
            <a:ext cx="1960739" cy="1708160"/>
          </a:xfrm>
          <a:prstGeom prst="rect">
            <a:avLst/>
          </a:prstGeom>
          <a:noFill/>
        </p:spPr>
        <p:txBody>
          <a:bodyPr wrap="square" rtlCol="0">
            <a:spAutoFit/>
          </a:bodyPr>
          <a:lstStyle/>
          <a:p>
            <a:pPr marL="285750" indent="-285750">
              <a:lnSpc>
                <a:spcPct val="150000"/>
              </a:lnSpc>
              <a:buFont typeface="Wingdings" pitchFamily="2" charset="2"/>
              <a:buChar char="l"/>
            </a:pPr>
            <a:r>
              <a:rPr lang="zh-CN" altLang="en-US" sz="1400" dirty="0" smtClean="0">
                <a:latin typeface="微软雅黑" pitchFamily="34" charset="-122"/>
                <a:ea typeface="微软雅黑" pitchFamily="34" charset="-122"/>
              </a:rPr>
              <a:t>季节货品采购状况</a:t>
            </a:r>
            <a:endParaRPr lang="en-US" altLang="zh-CN" sz="1400" dirty="0" smtClean="0">
              <a:latin typeface="微软雅黑" pitchFamily="34" charset="-122"/>
              <a:ea typeface="微软雅黑" pitchFamily="34" charset="-122"/>
            </a:endParaRPr>
          </a:p>
          <a:p>
            <a:pPr marL="285750" indent="-285750">
              <a:lnSpc>
                <a:spcPct val="150000"/>
              </a:lnSpc>
              <a:buFont typeface="Wingdings" pitchFamily="2" charset="2"/>
              <a:buChar char="l"/>
            </a:pPr>
            <a:r>
              <a:rPr lang="zh-CN" altLang="en-US" sz="1400" dirty="0" smtClean="0">
                <a:latin typeface="微软雅黑" pitchFamily="34" charset="-122"/>
                <a:ea typeface="微软雅黑" pitchFamily="34" charset="-122"/>
              </a:rPr>
              <a:t>季节货品售罄状况</a:t>
            </a:r>
            <a:endParaRPr lang="en-US" altLang="zh-CN" sz="1400" dirty="0" smtClean="0">
              <a:latin typeface="微软雅黑" pitchFamily="34" charset="-122"/>
              <a:ea typeface="微软雅黑" pitchFamily="34" charset="-122"/>
            </a:endParaRPr>
          </a:p>
          <a:p>
            <a:pPr marL="285750" indent="-285750">
              <a:lnSpc>
                <a:spcPct val="150000"/>
              </a:lnSpc>
              <a:buFont typeface="Wingdings" pitchFamily="2" charset="2"/>
              <a:buChar char="l"/>
            </a:pPr>
            <a:r>
              <a:rPr lang="zh-CN" altLang="en-US" sz="1400" dirty="0" smtClean="0">
                <a:latin typeface="微软雅黑" pitchFamily="34" charset="-122"/>
                <a:ea typeface="微软雅黑" pitchFamily="34" charset="-122"/>
              </a:rPr>
              <a:t>季节货品库销状况</a:t>
            </a:r>
            <a:endParaRPr lang="en-US" altLang="zh-CN" sz="1400" dirty="0" smtClean="0">
              <a:latin typeface="微软雅黑" pitchFamily="34" charset="-122"/>
              <a:ea typeface="微软雅黑" pitchFamily="34" charset="-122"/>
            </a:endParaRPr>
          </a:p>
          <a:p>
            <a:pPr marL="285750" indent="-285750">
              <a:lnSpc>
                <a:spcPct val="150000"/>
              </a:lnSpc>
              <a:buFont typeface="Wingdings" pitchFamily="2" charset="2"/>
              <a:buChar char="l"/>
            </a:pPr>
            <a:r>
              <a:rPr lang="zh-CN" altLang="en-US" sz="1400" dirty="0" smtClean="0">
                <a:latin typeface="微软雅黑" pitchFamily="34" charset="-122"/>
                <a:ea typeface="微软雅黑" pitchFamily="34" charset="-122"/>
              </a:rPr>
              <a:t>季节货品毛利状况</a:t>
            </a:r>
            <a:endParaRPr lang="en-US" altLang="zh-CN" sz="1400" dirty="0" smtClean="0">
              <a:latin typeface="微软雅黑" pitchFamily="34" charset="-122"/>
              <a:ea typeface="微软雅黑" pitchFamily="34" charset="-122"/>
            </a:endParaRPr>
          </a:p>
          <a:p>
            <a:pPr marL="285750" indent="-285750">
              <a:lnSpc>
                <a:spcPct val="150000"/>
              </a:lnSpc>
              <a:buFont typeface="Wingdings" pitchFamily="2" charset="2"/>
              <a:buChar char="l"/>
            </a:pPr>
            <a:r>
              <a:rPr lang="zh-CN" altLang="en-US" sz="1400" dirty="0" smtClean="0">
                <a:latin typeface="微软雅黑" pitchFamily="34" charset="-122"/>
                <a:ea typeface="微软雅黑" pitchFamily="34" charset="-122"/>
              </a:rPr>
              <a:t>季节货品尺码状况</a:t>
            </a:r>
            <a:endParaRPr lang="zh-CN" altLang="en-US" sz="1400" dirty="0">
              <a:latin typeface="微软雅黑" pitchFamily="34" charset="-122"/>
              <a:ea typeface="微软雅黑" pitchFamily="34" charset="-122"/>
            </a:endParaRPr>
          </a:p>
        </p:txBody>
      </p:sp>
      <p:sp>
        <p:nvSpPr>
          <p:cNvPr id="17" name="TextBox 16"/>
          <p:cNvSpPr txBox="1"/>
          <p:nvPr/>
        </p:nvSpPr>
        <p:spPr>
          <a:xfrm>
            <a:off x="5336704" y="4279207"/>
            <a:ext cx="1966342" cy="1670073"/>
          </a:xfrm>
          <a:prstGeom prst="rect">
            <a:avLst/>
          </a:prstGeom>
          <a:noFill/>
        </p:spPr>
        <p:txBody>
          <a:bodyPr wrap="square" rtlCol="0">
            <a:spAutoFit/>
          </a:bodyPr>
          <a:lstStyle/>
          <a:p>
            <a:pPr marL="285750" indent="-285750">
              <a:lnSpc>
                <a:spcPct val="150000"/>
              </a:lnSpc>
              <a:buFont typeface="Wingdings" pitchFamily="2" charset="2"/>
              <a:buChar char="l"/>
            </a:pPr>
            <a:r>
              <a:rPr lang="zh-CN" altLang="en-US" sz="1400" dirty="0" smtClean="0">
                <a:latin typeface="微软雅黑" pitchFamily="34" charset="-122"/>
                <a:ea typeface="微软雅黑" pitchFamily="34" charset="-122"/>
              </a:rPr>
              <a:t>计划采购总数量</a:t>
            </a:r>
            <a:endParaRPr lang="en-US" altLang="zh-CN" sz="1400" dirty="0" smtClean="0">
              <a:latin typeface="微软雅黑" pitchFamily="34" charset="-122"/>
              <a:ea typeface="微软雅黑" pitchFamily="34" charset="-122"/>
            </a:endParaRPr>
          </a:p>
          <a:p>
            <a:pPr marL="285750" indent="-285750">
              <a:lnSpc>
                <a:spcPct val="150000"/>
              </a:lnSpc>
              <a:buFont typeface="Wingdings" pitchFamily="2" charset="2"/>
              <a:buChar char="l"/>
            </a:pPr>
            <a:r>
              <a:rPr lang="zh-CN" altLang="en-US" sz="1400" dirty="0" smtClean="0">
                <a:latin typeface="微软雅黑" pitchFamily="34" charset="-122"/>
                <a:ea typeface="微软雅黑" pitchFamily="34" charset="-122"/>
              </a:rPr>
              <a:t>计划采购季节数量</a:t>
            </a:r>
            <a:endParaRPr lang="en-US" altLang="zh-CN" sz="1400" dirty="0" smtClean="0">
              <a:latin typeface="微软雅黑" pitchFamily="34" charset="-122"/>
              <a:ea typeface="微软雅黑" pitchFamily="34" charset="-122"/>
            </a:endParaRPr>
          </a:p>
          <a:p>
            <a:pPr marL="285750" indent="-285750">
              <a:lnSpc>
                <a:spcPct val="150000"/>
              </a:lnSpc>
              <a:buFont typeface="Wingdings" pitchFamily="2" charset="2"/>
              <a:buChar char="l"/>
            </a:pPr>
            <a:r>
              <a:rPr lang="zh-CN" altLang="en-US" sz="1400" dirty="0" smtClean="0">
                <a:latin typeface="微软雅黑" pitchFamily="34" charset="-122"/>
                <a:ea typeface="微软雅黑" pitchFamily="34" charset="-122"/>
              </a:rPr>
              <a:t>计划采购品类数量</a:t>
            </a:r>
            <a:endParaRPr lang="en-US" altLang="zh-CN" sz="1400" dirty="0" smtClean="0">
              <a:latin typeface="微软雅黑" pitchFamily="34" charset="-122"/>
              <a:ea typeface="微软雅黑" pitchFamily="34" charset="-122"/>
            </a:endParaRPr>
          </a:p>
          <a:p>
            <a:pPr marL="285750" indent="-285750">
              <a:lnSpc>
                <a:spcPct val="150000"/>
              </a:lnSpc>
              <a:buFont typeface="Wingdings" pitchFamily="2" charset="2"/>
              <a:buChar char="l"/>
            </a:pPr>
            <a:r>
              <a:rPr lang="zh-CN" altLang="en-US" sz="1400" dirty="0" smtClean="0">
                <a:latin typeface="微软雅黑" pitchFamily="34" charset="-122"/>
                <a:ea typeface="微软雅黑" pitchFamily="34" charset="-122"/>
              </a:rPr>
              <a:t>计划采购系列数量</a:t>
            </a:r>
            <a:endParaRPr lang="en-US" altLang="zh-CN" sz="1400" dirty="0" smtClean="0">
              <a:latin typeface="微软雅黑" pitchFamily="34" charset="-122"/>
              <a:ea typeface="微软雅黑" pitchFamily="34" charset="-122"/>
            </a:endParaRPr>
          </a:p>
          <a:p>
            <a:pPr marL="285750" indent="-285750">
              <a:lnSpc>
                <a:spcPct val="150000"/>
              </a:lnSpc>
              <a:buFont typeface="Wingdings" pitchFamily="2" charset="2"/>
              <a:buChar char="l"/>
            </a:pPr>
            <a:r>
              <a:rPr lang="zh-CN" altLang="en-US" sz="1400" dirty="0" smtClean="0">
                <a:latin typeface="微软雅黑" pitchFamily="34" charset="-122"/>
                <a:ea typeface="微软雅黑" pitchFamily="34" charset="-122"/>
              </a:rPr>
              <a:t>计划采购配码分布</a:t>
            </a:r>
            <a:endParaRPr lang="zh-CN" altLang="en-US" sz="1400" dirty="0">
              <a:latin typeface="微软雅黑" pitchFamily="34" charset="-122"/>
              <a:ea typeface="微软雅黑" pitchFamily="34" charset="-122"/>
            </a:endParaRPr>
          </a:p>
        </p:txBody>
      </p:sp>
      <p:graphicFrame>
        <p:nvGraphicFramePr>
          <p:cNvPr id="18" name="对象 17"/>
          <p:cNvGraphicFramePr>
            <a:graphicFrameLocks noChangeAspect="1"/>
          </p:cNvGraphicFramePr>
          <p:nvPr>
            <p:extLst>
              <p:ext uri="{D42A27DB-BD31-4B8C-83A1-F6EECF244321}">
                <p14:modId xmlns:p14="http://schemas.microsoft.com/office/powerpoint/2010/main" val="731033468"/>
              </p:ext>
            </p:extLst>
          </p:nvPr>
        </p:nvGraphicFramePr>
        <p:xfrm>
          <a:off x="7413639" y="5507216"/>
          <a:ext cx="1549525" cy="1162144"/>
        </p:xfrm>
        <a:graphic>
          <a:graphicData uri="http://schemas.openxmlformats.org/presentationml/2006/ole">
            <mc:AlternateContent xmlns:mc="http://schemas.openxmlformats.org/markup-compatibility/2006">
              <mc:Choice xmlns:v="urn:schemas-microsoft-com:vml" Requires="v">
                <p:oleObj spid="_x0000_s17487" name="工作表" showAsIcon="1" r:id="rId3" imgW="914400" imgH="685800" progId="Excel.Sheet.12">
                  <p:embed/>
                </p:oleObj>
              </mc:Choice>
              <mc:Fallback>
                <p:oleObj name="工作表" showAsIcon="1" r:id="rId3" imgW="914400" imgH="685800" progId="Excel.Sheet.12">
                  <p:embed/>
                  <p:pic>
                    <p:nvPicPr>
                      <p:cNvPr id="0" name=""/>
                      <p:cNvPicPr/>
                      <p:nvPr/>
                    </p:nvPicPr>
                    <p:blipFill>
                      <a:blip r:embed="rId4"/>
                      <a:stretch>
                        <a:fillRect/>
                      </a:stretch>
                    </p:blipFill>
                    <p:spPr>
                      <a:xfrm>
                        <a:off x="7413639" y="5507216"/>
                        <a:ext cx="1549525" cy="1162144"/>
                      </a:xfrm>
                      <a:prstGeom prst="rect">
                        <a:avLst/>
                      </a:prstGeom>
                    </p:spPr>
                  </p:pic>
                </p:oleObj>
              </mc:Fallback>
            </mc:AlternateContent>
          </a:graphicData>
        </a:graphic>
      </p:graphicFrame>
    </p:spTree>
    <p:extLst>
      <p:ext uri="{BB962C8B-B14F-4D97-AF65-F5344CB8AC3E}">
        <p14:creationId xmlns:p14="http://schemas.microsoft.com/office/powerpoint/2010/main" val="597630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1000"/>
                                        <p:tgtEl>
                                          <p:spTgt spid="4"/>
                                        </p:tgtEl>
                                      </p:cBhvr>
                                    </p:animEffect>
                                    <p:anim calcmode="lin" valueType="num">
                                      <p:cBhvr>
                                        <p:cTn id="26" dur="1000" fill="hold"/>
                                        <p:tgtEl>
                                          <p:spTgt spid="4"/>
                                        </p:tgtEl>
                                        <p:attrNameLst>
                                          <p:attrName>ppt_x</p:attrName>
                                        </p:attrNameLst>
                                      </p:cBhvr>
                                      <p:tavLst>
                                        <p:tav tm="0">
                                          <p:val>
                                            <p:strVal val="#ppt_x"/>
                                          </p:val>
                                        </p:tav>
                                        <p:tav tm="100000">
                                          <p:val>
                                            <p:strVal val="#ppt_x"/>
                                          </p:val>
                                        </p:tav>
                                      </p:tavLst>
                                    </p:anim>
                                    <p:anim calcmode="lin" valueType="num">
                                      <p:cBhvr>
                                        <p:cTn id="27" dur="1000" fill="hold"/>
                                        <p:tgtEl>
                                          <p:spTgt spid="4"/>
                                        </p:tgtEl>
                                        <p:attrNameLst>
                                          <p:attrName>ppt_y</p:attrName>
                                        </p:attrNameLst>
                                      </p:cBhvr>
                                      <p:tavLst>
                                        <p:tav tm="0">
                                          <p:val>
                                            <p:strVal val="#ppt_y+.1"/>
                                          </p:val>
                                        </p:tav>
                                        <p:tav tm="100000">
                                          <p:val>
                                            <p:strVal val="#ppt_y"/>
                                          </p:val>
                                        </p:tav>
                                      </p:tavLst>
                                    </p:anim>
                                  </p:childTnLst>
                                </p:cTn>
                              </p:par>
                            </p:childTnLst>
                          </p:cTn>
                        </p:par>
                        <p:par>
                          <p:cTn id="28" fill="hold">
                            <p:stCondLst>
                              <p:cond delay="1000"/>
                            </p:stCondLst>
                            <p:childTnLst>
                              <p:par>
                                <p:cTn id="29" presetID="42" presetClass="entr" presetSubtype="0"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1000"/>
                                        <p:tgtEl>
                                          <p:spTgt spid="15"/>
                                        </p:tgtEl>
                                      </p:cBhvr>
                                    </p:animEffect>
                                    <p:anim calcmode="lin" valueType="num">
                                      <p:cBhvr>
                                        <p:cTn id="37" dur="1000" fill="hold"/>
                                        <p:tgtEl>
                                          <p:spTgt spid="15"/>
                                        </p:tgtEl>
                                        <p:attrNameLst>
                                          <p:attrName>ppt_x</p:attrName>
                                        </p:attrNameLst>
                                      </p:cBhvr>
                                      <p:tavLst>
                                        <p:tav tm="0">
                                          <p:val>
                                            <p:strVal val="#ppt_x"/>
                                          </p:val>
                                        </p:tav>
                                        <p:tav tm="100000">
                                          <p:val>
                                            <p:strVal val="#ppt_x"/>
                                          </p:val>
                                        </p:tav>
                                      </p:tavLst>
                                    </p:anim>
                                    <p:anim calcmode="lin" valueType="num">
                                      <p:cBhvr>
                                        <p:cTn id="3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1000"/>
                                        <p:tgtEl>
                                          <p:spTgt spid="16"/>
                                        </p:tgtEl>
                                      </p:cBhvr>
                                    </p:animEffect>
                                    <p:anim calcmode="lin" valueType="num">
                                      <p:cBhvr>
                                        <p:cTn id="44" dur="1000" fill="hold"/>
                                        <p:tgtEl>
                                          <p:spTgt spid="16"/>
                                        </p:tgtEl>
                                        <p:attrNameLst>
                                          <p:attrName>ppt_x</p:attrName>
                                        </p:attrNameLst>
                                      </p:cBhvr>
                                      <p:tavLst>
                                        <p:tav tm="0">
                                          <p:val>
                                            <p:strVal val="#ppt_x"/>
                                          </p:val>
                                        </p:tav>
                                        <p:tav tm="100000">
                                          <p:val>
                                            <p:strVal val="#ppt_x"/>
                                          </p:val>
                                        </p:tav>
                                      </p:tavLst>
                                    </p:anim>
                                    <p:anim calcmode="lin" valueType="num">
                                      <p:cBhvr>
                                        <p:cTn id="4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1000"/>
                                        <p:tgtEl>
                                          <p:spTgt spid="17"/>
                                        </p:tgtEl>
                                      </p:cBhvr>
                                    </p:animEffect>
                                    <p:anim calcmode="lin" valueType="num">
                                      <p:cBhvr>
                                        <p:cTn id="51" dur="1000" fill="hold"/>
                                        <p:tgtEl>
                                          <p:spTgt spid="17"/>
                                        </p:tgtEl>
                                        <p:attrNameLst>
                                          <p:attrName>ppt_x</p:attrName>
                                        </p:attrNameLst>
                                      </p:cBhvr>
                                      <p:tavLst>
                                        <p:tav tm="0">
                                          <p:val>
                                            <p:strVal val="#ppt_x"/>
                                          </p:val>
                                        </p:tav>
                                        <p:tav tm="100000">
                                          <p:val>
                                            <p:strVal val="#ppt_x"/>
                                          </p:val>
                                        </p:tav>
                                      </p:tavLst>
                                    </p:anim>
                                    <p:anim calcmode="lin" valueType="num">
                                      <p:cBhvr>
                                        <p:cTn id="52"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9" grpId="0" animBg="1"/>
      <p:bldP spid="15" grpId="0"/>
      <p:bldP spid="16" grpId="0"/>
      <p:bldP spid="1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2736304" cy="369332"/>
          </a:xfrm>
          <a:prstGeom prst="rect">
            <a:avLst/>
          </a:prstGeom>
          <a:noFill/>
        </p:spPr>
        <p:txBody>
          <a:bodyPr wrap="square" rtlCol="0">
            <a:spAutoFit/>
          </a:bodyPr>
          <a:lstStyle/>
          <a:p>
            <a:r>
              <a:rPr lang="zh-CN" altLang="en-US" b="1" dirty="0" smtClean="0">
                <a:latin typeface="微软雅黑" pitchFamily="34" charset="-122"/>
                <a:ea typeface="微软雅黑" pitchFamily="34" charset="-122"/>
              </a:rPr>
              <a:t>货品分配</a:t>
            </a:r>
            <a:endParaRPr lang="zh-CN" altLang="en-US" b="1" dirty="0">
              <a:latin typeface="微软雅黑" pitchFamily="34" charset="-122"/>
              <a:ea typeface="微软雅黑" pitchFamily="34" charset="-122"/>
            </a:endParaRPr>
          </a:p>
        </p:txBody>
      </p:sp>
      <p:sp>
        <p:nvSpPr>
          <p:cNvPr id="5" name="TextBox 4"/>
          <p:cNvSpPr txBox="1"/>
          <p:nvPr/>
        </p:nvSpPr>
        <p:spPr>
          <a:xfrm>
            <a:off x="1115616" y="971313"/>
            <a:ext cx="2088941"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货品分配的目的：</a:t>
            </a:r>
            <a:endParaRPr lang="zh-CN" altLang="en-US" dirty="0">
              <a:latin typeface="微软雅黑" pitchFamily="34" charset="-122"/>
              <a:ea typeface="微软雅黑" pitchFamily="34" charset="-122"/>
            </a:endParaRPr>
          </a:p>
        </p:txBody>
      </p:sp>
      <p:sp>
        <p:nvSpPr>
          <p:cNvPr id="6" name="矩形 5"/>
          <p:cNvSpPr/>
          <p:nvPr/>
        </p:nvSpPr>
        <p:spPr>
          <a:xfrm>
            <a:off x="1619672" y="1772816"/>
            <a:ext cx="5904656" cy="1572354"/>
          </a:xfrm>
          <a:prstGeom prst="rect">
            <a:avLst/>
          </a:prstGeom>
        </p:spPr>
        <p:txBody>
          <a:bodyPr wrap="square">
            <a:spAutoFit/>
          </a:bodyPr>
          <a:lstStyle/>
          <a:p>
            <a:pPr>
              <a:lnSpc>
                <a:spcPct val="150000"/>
              </a:lnSpc>
            </a:pPr>
            <a:r>
              <a:rPr lang="en-US" altLang="zh-CN" dirty="0" smtClean="0"/>
              <a:t>         </a:t>
            </a:r>
            <a:r>
              <a:rPr lang="zh-CN" altLang="zh-CN" sz="1600" dirty="0" smtClean="0">
                <a:latin typeface="微软雅黑" pitchFamily="34" charset="-122"/>
                <a:ea typeface="微软雅黑" pitchFamily="34" charset="-122"/>
              </a:rPr>
              <a:t>产品</a:t>
            </a:r>
            <a:r>
              <a:rPr lang="zh-CN" altLang="zh-CN" sz="1600" dirty="0">
                <a:latin typeface="微软雅黑" pitchFamily="34" charset="-122"/>
                <a:ea typeface="微软雅黑" pitchFamily="34" charset="-122"/>
              </a:rPr>
              <a:t>分配是商品运营过程中第一次将产品推向市场，产品分配的合理性，针对性、时效性将直接影响产品的畅滞销程度，店铺的销售业绩升降等，合理的分配，也会降低后期产品做整合及降价促销的压力</a:t>
            </a:r>
            <a:endParaRPr lang="zh-CN" altLang="en-US" sz="1600" dirty="0">
              <a:latin typeface="微软雅黑" pitchFamily="34" charset="-122"/>
              <a:ea typeface="微软雅黑" pitchFamily="34" charset="-122"/>
            </a:endParaRPr>
          </a:p>
        </p:txBody>
      </p:sp>
    </p:spTree>
    <p:extLst>
      <p:ext uri="{BB962C8B-B14F-4D97-AF65-F5344CB8AC3E}">
        <p14:creationId xmlns:p14="http://schemas.microsoft.com/office/powerpoint/2010/main" val="59763074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262080"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货品分配</a:t>
            </a:r>
            <a:endParaRPr lang="zh-CN" altLang="en-US" dirty="0">
              <a:latin typeface="微软雅黑" pitchFamily="34" charset="-122"/>
              <a:ea typeface="微软雅黑" pitchFamily="34" charset="-122"/>
            </a:endParaRPr>
          </a:p>
        </p:txBody>
      </p:sp>
      <p:sp>
        <p:nvSpPr>
          <p:cNvPr id="3" name="TextBox 2"/>
          <p:cNvSpPr txBox="1"/>
          <p:nvPr/>
        </p:nvSpPr>
        <p:spPr>
          <a:xfrm>
            <a:off x="1115616" y="971313"/>
            <a:ext cx="2088941"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分配的流程：</a:t>
            </a:r>
            <a:endParaRPr lang="zh-CN" altLang="en-US" dirty="0">
              <a:latin typeface="微软雅黑" pitchFamily="34" charset="-122"/>
              <a:ea typeface="微软雅黑" pitchFamily="34" charset="-122"/>
            </a:endParaRPr>
          </a:p>
        </p:txBody>
      </p:sp>
      <p:sp>
        <p:nvSpPr>
          <p:cNvPr id="4" name="TextBox 3"/>
          <p:cNvSpPr txBox="1"/>
          <p:nvPr/>
        </p:nvSpPr>
        <p:spPr>
          <a:xfrm>
            <a:off x="1513600" y="1844824"/>
            <a:ext cx="6048672"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1.</a:t>
            </a:r>
            <a:r>
              <a:rPr lang="zh-CN" altLang="en-US" dirty="0" smtClean="0">
                <a:latin typeface="微软雅黑" pitchFamily="34" charset="-122"/>
                <a:ea typeface="微软雅黑" pitchFamily="34" charset="-122"/>
              </a:rPr>
              <a:t>确定店铺分类：旗舰店、精品店、主力销售店、工厂店</a:t>
            </a:r>
            <a:endParaRPr lang="zh-CN" altLang="en-US" dirty="0">
              <a:latin typeface="微软雅黑" pitchFamily="34" charset="-122"/>
              <a:ea typeface="微软雅黑" pitchFamily="34" charset="-122"/>
            </a:endParaRPr>
          </a:p>
        </p:txBody>
      </p:sp>
      <p:sp>
        <p:nvSpPr>
          <p:cNvPr id="5" name="矩形 4"/>
          <p:cNvSpPr/>
          <p:nvPr/>
        </p:nvSpPr>
        <p:spPr>
          <a:xfrm>
            <a:off x="1513600" y="3933056"/>
            <a:ext cx="7067961" cy="338554"/>
          </a:xfrm>
          <a:prstGeom prst="rect">
            <a:avLst/>
          </a:prstGeom>
        </p:spPr>
        <p:txBody>
          <a:bodyPr wrap="none">
            <a:spAutoFit/>
          </a:bodyPr>
          <a:lstStyle/>
          <a:p>
            <a:r>
              <a:rPr lang="en-US" altLang="zh-CN" sz="1600" dirty="0" smtClean="0">
                <a:latin typeface="微软雅黑" pitchFamily="34" charset="-122"/>
                <a:ea typeface="微软雅黑" pitchFamily="34" charset="-122"/>
              </a:rPr>
              <a:t>2.</a:t>
            </a:r>
            <a:r>
              <a:rPr lang="zh-CN" altLang="en-US" sz="1600" dirty="0" smtClean="0">
                <a:latin typeface="微软雅黑" pitchFamily="34" charset="-122"/>
                <a:ea typeface="微软雅黑" pitchFamily="34" charset="-122"/>
              </a:rPr>
              <a:t>充分了解店铺基础资料：营业面积、货架数量、最大陈列</a:t>
            </a:r>
            <a:r>
              <a:rPr lang="en-US" altLang="zh-CN" sz="1600" dirty="0" smtClean="0">
                <a:latin typeface="微软雅黑" pitchFamily="34" charset="-122"/>
                <a:ea typeface="微软雅黑" pitchFamily="34" charset="-122"/>
              </a:rPr>
              <a:t>SKU</a:t>
            </a:r>
            <a:r>
              <a:rPr lang="zh-CN" altLang="en-US" sz="1600" dirty="0" smtClean="0">
                <a:latin typeface="微软雅黑" pitchFamily="34" charset="-122"/>
                <a:ea typeface="微软雅黑" pitchFamily="34" charset="-122"/>
              </a:rPr>
              <a:t>、仓库面积等</a:t>
            </a:r>
            <a:endParaRPr lang="zh-CN" altLang="en-US" sz="1600" dirty="0">
              <a:latin typeface="微软雅黑" pitchFamily="34" charset="-122"/>
              <a:ea typeface="微软雅黑" pitchFamily="34" charset="-122"/>
            </a:endParaRPr>
          </a:p>
        </p:txBody>
      </p:sp>
      <p:graphicFrame>
        <p:nvGraphicFramePr>
          <p:cNvPr id="6" name="对象 5">
            <a:hlinkClick r:id="" action="ppaction://ole?verb=0"/>
          </p:cNvPr>
          <p:cNvGraphicFramePr>
            <a:graphicFrameLocks noChangeAspect="1"/>
          </p:cNvGraphicFramePr>
          <p:nvPr>
            <p:extLst>
              <p:ext uri="{D42A27DB-BD31-4B8C-83A1-F6EECF244321}">
                <p14:modId xmlns:p14="http://schemas.microsoft.com/office/powerpoint/2010/main" val="2932914129"/>
              </p:ext>
            </p:extLst>
          </p:nvPr>
        </p:nvGraphicFramePr>
        <p:xfrm>
          <a:off x="6564221" y="2564904"/>
          <a:ext cx="1536171" cy="1152128"/>
        </p:xfrm>
        <a:graphic>
          <a:graphicData uri="http://schemas.openxmlformats.org/presentationml/2006/ole">
            <mc:AlternateContent xmlns:mc="http://schemas.openxmlformats.org/markup-compatibility/2006">
              <mc:Choice xmlns:v="urn:schemas-microsoft-com:vml" Requires="v">
                <p:oleObj spid="_x0000_s15507" name="演示文稿" showAsIcon="1" r:id="rId3" imgW="914400" imgH="685800" progId="PowerPoint.Show.8">
                  <p:embed/>
                </p:oleObj>
              </mc:Choice>
              <mc:Fallback>
                <p:oleObj name="演示文稿" showAsIcon="1" r:id="rId3" imgW="914400" imgH="685800" progId="PowerPoint.Show.8">
                  <p:embed/>
                  <p:pic>
                    <p:nvPicPr>
                      <p:cNvPr id="0" name=""/>
                      <p:cNvPicPr/>
                      <p:nvPr/>
                    </p:nvPicPr>
                    <p:blipFill>
                      <a:blip r:embed="rId4"/>
                      <a:stretch>
                        <a:fillRect/>
                      </a:stretch>
                    </p:blipFill>
                    <p:spPr>
                      <a:xfrm>
                        <a:off x="6564221" y="2564904"/>
                        <a:ext cx="1536171" cy="1152128"/>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373523566"/>
              </p:ext>
            </p:extLst>
          </p:nvPr>
        </p:nvGraphicFramePr>
        <p:xfrm>
          <a:off x="6732240" y="5013176"/>
          <a:ext cx="1512168" cy="1134126"/>
        </p:xfrm>
        <a:graphic>
          <a:graphicData uri="http://schemas.openxmlformats.org/presentationml/2006/ole">
            <mc:AlternateContent xmlns:mc="http://schemas.openxmlformats.org/markup-compatibility/2006">
              <mc:Choice xmlns:v="urn:schemas-microsoft-com:vml" Requires="v">
                <p:oleObj spid="_x0000_s15508" name="文档" showAsIcon="1" r:id="rId5" imgW="914400" imgH="685800" progId="Word.Document.12">
                  <p:embed/>
                </p:oleObj>
              </mc:Choice>
              <mc:Fallback>
                <p:oleObj name="文档" showAsIcon="1" r:id="rId5" imgW="914400" imgH="685800" progId="Word.Document.12">
                  <p:embed/>
                  <p:pic>
                    <p:nvPicPr>
                      <p:cNvPr id="0" name=""/>
                      <p:cNvPicPr/>
                      <p:nvPr/>
                    </p:nvPicPr>
                    <p:blipFill>
                      <a:blip r:embed="rId6"/>
                      <a:stretch>
                        <a:fillRect/>
                      </a:stretch>
                    </p:blipFill>
                    <p:spPr>
                      <a:xfrm>
                        <a:off x="6732240" y="5013176"/>
                        <a:ext cx="1512168" cy="1134126"/>
                      </a:xfrm>
                      <a:prstGeom prst="rect">
                        <a:avLst/>
                      </a:prstGeom>
                    </p:spPr>
                  </p:pic>
                </p:oleObj>
              </mc:Fallback>
            </mc:AlternateContent>
          </a:graphicData>
        </a:graphic>
      </p:graphicFrame>
    </p:spTree>
    <p:extLst>
      <p:ext uri="{BB962C8B-B14F-4D97-AF65-F5344CB8AC3E}">
        <p14:creationId xmlns:p14="http://schemas.microsoft.com/office/powerpoint/2010/main" val="337853073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440160"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货品分配</a:t>
            </a:r>
            <a:endParaRPr lang="zh-CN" altLang="en-US" dirty="0">
              <a:latin typeface="微软雅黑" pitchFamily="34" charset="-122"/>
              <a:ea typeface="微软雅黑" pitchFamily="34" charset="-122"/>
            </a:endParaRPr>
          </a:p>
        </p:txBody>
      </p:sp>
      <p:sp>
        <p:nvSpPr>
          <p:cNvPr id="3" name="TextBox 2"/>
          <p:cNvSpPr txBox="1"/>
          <p:nvPr/>
        </p:nvSpPr>
        <p:spPr>
          <a:xfrm>
            <a:off x="1115616" y="764704"/>
            <a:ext cx="2088941"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分配的流程：</a:t>
            </a:r>
            <a:endParaRPr lang="zh-CN" altLang="en-US" dirty="0">
              <a:latin typeface="微软雅黑" pitchFamily="34" charset="-122"/>
              <a:ea typeface="微软雅黑" pitchFamily="34" charset="-122"/>
            </a:endParaRPr>
          </a:p>
        </p:txBody>
      </p:sp>
      <p:sp>
        <p:nvSpPr>
          <p:cNvPr id="4" name="TextBox 3"/>
          <p:cNvSpPr txBox="1"/>
          <p:nvPr/>
        </p:nvSpPr>
        <p:spPr>
          <a:xfrm>
            <a:off x="1475656" y="4156729"/>
            <a:ext cx="6048672" cy="338554"/>
          </a:xfrm>
          <a:prstGeom prst="rect">
            <a:avLst/>
          </a:prstGeom>
          <a:noFill/>
        </p:spPr>
        <p:txBody>
          <a:bodyPr wrap="square" rtlCol="0">
            <a:spAutoFit/>
          </a:bodyPr>
          <a:lstStyle/>
          <a:p>
            <a:r>
              <a:rPr lang="en-US" altLang="zh-CN" sz="1600" dirty="0" smtClean="0">
                <a:latin typeface="微软雅黑" pitchFamily="34" charset="-122"/>
                <a:ea typeface="微软雅黑" pitchFamily="34" charset="-122"/>
              </a:rPr>
              <a:t>4.</a:t>
            </a:r>
            <a:r>
              <a:rPr lang="zh-CN" altLang="zh-CN" sz="1600" dirty="0" smtClean="0">
                <a:latin typeface="微软雅黑" pitchFamily="34" charset="-122"/>
                <a:ea typeface="微软雅黑" pitchFamily="34" charset="-122"/>
              </a:rPr>
              <a:t>产品</a:t>
            </a:r>
            <a:r>
              <a:rPr lang="zh-CN" altLang="en-US" sz="1600" dirty="0" smtClean="0">
                <a:latin typeface="微软雅黑" pitchFamily="34" charset="-122"/>
                <a:ea typeface="微软雅黑" pitchFamily="34" charset="-122"/>
              </a:rPr>
              <a:t>上市</a:t>
            </a:r>
            <a:r>
              <a:rPr lang="zh-CN" altLang="zh-CN" sz="1600" dirty="0" smtClean="0">
                <a:latin typeface="微软雅黑" pitchFamily="34" charset="-122"/>
                <a:ea typeface="微软雅黑" pitchFamily="34" charset="-122"/>
              </a:rPr>
              <a:t>的</a:t>
            </a:r>
            <a:r>
              <a:rPr lang="zh-CN" altLang="zh-CN" sz="1600" dirty="0">
                <a:latin typeface="微软雅黑" pitchFamily="34" charset="-122"/>
                <a:ea typeface="微软雅黑" pitchFamily="34" charset="-122"/>
              </a:rPr>
              <a:t>时间</a:t>
            </a:r>
            <a:r>
              <a:rPr lang="zh-CN" altLang="zh-CN" sz="1600" dirty="0" smtClean="0">
                <a:latin typeface="微软雅黑" pitchFamily="34" charset="-122"/>
                <a:ea typeface="微软雅黑" pitchFamily="34" charset="-122"/>
              </a:rPr>
              <a:t>：</a:t>
            </a:r>
            <a:r>
              <a:rPr lang="zh-CN" altLang="en-US" sz="1600" dirty="0" smtClean="0">
                <a:latin typeface="微软雅黑" pitchFamily="34" charset="-122"/>
                <a:ea typeface="微软雅黑" pitchFamily="34" charset="-122"/>
              </a:rPr>
              <a:t>上货计划</a:t>
            </a:r>
            <a:r>
              <a:rPr lang="zh-CN" altLang="zh-CN" sz="1600" dirty="0" smtClean="0">
                <a:latin typeface="微软雅黑" pitchFamily="34" charset="-122"/>
                <a:ea typeface="微软雅黑" pitchFamily="34" charset="-122"/>
              </a:rPr>
              <a:t>、</a:t>
            </a:r>
            <a:r>
              <a:rPr lang="zh-CN" altLang="en-US" sz="1600" dirty="0" smtClean="0">
                <a:latin typeface="微软雅黑" pitchFamily="34" charset="-122"/>
                <a:ea typeface="微软雅黑" pitchFamily="34" charset="-122"/>
              </a:rPr>
              <a:t>日常补充、后期版分货</a:t>
            </a:r>
            <a:endParaRPr lang="zh-CN" altLang="en-US" sz="1600" dirty="0">
              <a:latin typeface="微软雅黑" pitchFamily="34" charset="-122"/>
              <a:ea typeface="微软雅黑" pitchFamily="34" charset="-122"/>
            </a:endParaRPr>
          </a:p>
        </p:txBody>
      </p:sp>
      <p:sp>
        <p:nvSpPr>
          <p:cNvPr id="5" name="矩形 4"/>
          <p:cNvSpPr/>
          <p:nvPr/>
        </p:nvSpPr>
        <p:spPr>
          <a:xfrm>
            <a:off x="1513600" y="1340768"/>
            <a:ext cx="3637534" cy="338554"/>
          </a:xfrm>
          <a:prstGeom prst="rect">
            <a:avLst/>
          </a:prstGeom>
        </p:spPr>
        <p:txBody>
          <a:bodyPr wrap="none">
            <a:spAutoFit/>
          </a:bodyPr>
          <a:lstStyle/>
          <a:p>
            <a:r>
              <a:rPr lang="en-US" altLang="zh-CN" sz="1600" dirty="0" smtClean="0">
                <a:latin typeface="微软雅黑" pitchFamily="34" charset="-122"/>
                <a:ea typeface="微软雅黑" pitchFamily="34" charset="-122"/>
              </a:rPr>
              <a:t>3.</a:t>
            </a:r>
            <a:r>
              <a:rPr lang="zh-CN" altLang="en-US" sz="1600" dirty="0" smtClean="0">
                <a:latin typeface="微软雅黑" pitchFamily="34" charset="-122"/>
                <a:ea typeface="微软雅黑" pitchFamily="34" charset="-122"/>
              </a:rPr>
              <a:t>货品分类：形象款、主推款、基本款</a:t>
            </a:r>
            <a:endParaRPr lang="zh-CN" altLang="en-US" sz="1600" dirty="0">
              <a:latin typeface="微软雅黑" pitchFamily="34" charset="-122"/>
              <a:ea typeface="微软雅黑" pitchFamily="34" charset="-122"/>
            </a:endParaRPr>
          </a:p>
        </p:txBody>
      </p:sp>
      <p:sp>
        <p:nvSpPr>
          <p:cNvPr id="8" name="TextBox 7"/>
          <p:cNvSpPr txBox="1"/>
          <p:nvPr/>
        </p:nvSpPr>
        <p:spPr>
          <a:xfrm>
            <a:off x="1797752" y="4653136"/>
            <a:ext cx="3960440" cy="338554"/>
          </a:xfrm>
          <a:prstGeom prst="rect">
            <a:avLst/>
          </a:prstGeom>
          <a:noFill/>
        </p:spPr>
        <p:txBody>
          <a:bodyPr wrap="square" rtlCol="0">
            <a:spAutoFit/>
          </a:bodyPr>
          <a:lstStyle/>
          <a:p>
            <a:r>
              <a:rPr lang="zh-CN" altLang="en-US" sz="1600" dirty="0" smtClean="0">
                <a:latin typeface="微软雅黑" pitchFamily="34" charset="-122"/>
                <a:ea typeface="微软雅黑" pitchFamily="34" charset="-122"/>
              </a:rPr>
              <a:t>上货计划：在开季前按店铺制作上市计划</a:t>
            </a:r>
            <a:endParaRPr lang="zh-CN" altLang="en-US" sz="1600" dirty="0">
              <a:latin typeface="微软雅黑" pitchFamily="34" charset="-122"/>
              <a:ea typeface="微软雅黑" pitchFamily="34" charset="-122"/>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4273246063"/>
              </p:ext>
            </p:extLst>
          </p:nvPr>
        </p:nvGraphicFramePr>
        <p:xfrm>
          <a:off x="7596336" y="5409018"/>
          <a:ext cx="1316039" cy="987029"/>
        </p:xfrm>
        <a:graphic>
          <a:graphicData uri="http://schemas.openxmlformats.org/presentationml/2006/ole">
            <mc:AlternateContent xmlns:mc="http://schemas.openxmlformats.org/markup-compatibility/2006">
              <mc:Choice xmlns:v="urn:schemas-microsoft-com:vml" Requires="v">
                <p:oleObj spid="_x0000_s20551" name="工作表" showAsIcon="1" r:id="rId3" imgW="914400" imgH="685800" progId="Excel.Sheet.12">
                  <p:embed/>
                </p:oleObj>
              </mc:Choice>
              <mc:Fallback>
                <p:oleObj name="工作表" showAsIcon="1" r:id="rId3" imgW="914400" imgH="685800" progId="Excel.Sheet.12">
                  <p:embed/>
                  <p:pic>
                    <p:nvPicPr>
                      <p:cNvPr id="0" name=""/>
                      <p:cNvPicPr/>
                      <p:nvPr/>
                    </p:nvPicPr>
                    <p:blipFill>
                      <a:blip r:embed="rId4"/>
                      <a:stretch>
                        <a:fillRect/>
                      </a:stretch>
                    </p:blipFill>
                    <p:spPr>
                      <a:xfrm>
                        <a:off x="7596336" y="5409018"/>
                        <a:ext cx="1316039" cy="987029"/>
                      </a:xfrm>
                      <a:prstGeom prst="rect">
                        <a:avLst/>
                      </a:prstGeom>
                    </p:spPr>
                  </p:pic>
                </p:oleObj>
              </mc:Fallback>
            </mc:AlternateContent>
          </a:graphicData>
        </a:graphic>
      </p:graphicFrame>
      <p:sp>
        <p:nvSpPr>
          <p:cNvPr id="10" name="TextBox 9"/>
          <p:cNvSpPr txBox="1"/>
          <p:nvPr/>
        </p:nvSpPr>
        <p:spPr>
          <a:xfrm>
            <a:off x="1797752" y="5157192"/>
            <a:ext cx="5256584" cy="338554"/>
          </a:xfrm>
          <a:prstGeom prst="rect">
            <a:avLst/>
          </a:prstGeom>
          <a:noFill/>
        </p:spPr>
        <p:txBody>
          <a:bodyPr wrap="square" rtlCol="0">
            <a:spAutoFit/>
          </a:bodyPr>
          <a:lstStyle/>
          <a:p>
            <a:r>
              <a:rPr lang="zh-CN" altLang="en-US" sz="1600" dirty="0" smtClean="0">
                <a:latin typeface="微软雅黑" pitchFamily="34" charset="-122"/>
                <a:ea typeface="微软雅黑" pitchFamily="34" charset="-122"/>
              </a:rPr>
              <a:t>日常补货：季节中期每周一和周四对店铺货品进行补充</a:t>
            </a:r>
            <a:endParaRPr lang="zh-CN" altLang="en-US" sz="1600" dirty="0">
              <a:latin typeface="微软雅黑" pitchFamily="34" charset="-122"/>
              <a:ea typeface="微软雅黑" pitchFamily="34" charset="-122"/>
            </a:endParaRPr>
          </a:p>
        </p:txBody>
      </p:sp>
      <p:sp>
        <p:nvSpPr>
          <p:cNvPr id="11" name="TextBox 10"/>
          <p:cNvSpPr txBox="1"/>
          <p:nvPr/>
        </p:nvSpPr>
        <p:spPr>
          <a:xfrm>
            <a:off x="1797752" y="5733256"/>
            <a:ext cx="5616624" cy="338554"/>
          </a:xfrm>
          <a:prstGeom prst="rect">
            <a:avLst/>
          </a:prstGeom>
          <a:noFill/>
        </p:spPr>
        <p:txBody>
          <a:bodyPr wrap="square" rtlCol="0">
            <a:spAutoFit/>
          </a:bodyPr>
          <a:lstStyle/>
          <a:p>
            <a:r>
              <a:rPr lang="zh-CN" altLang="en-US" sz="1600" dirty="0" smtClean="0">
                <a:latin typeface="微软雅黑" pitchFamily="34" charset="-122"/>
                <a:ea typeface="微软雅黑" pitchFamily="34" charset="-122"/>
              </a:rPr>
              <a:t>后期版分货：结合店铺货品饱和程度进行货品分配</a:t>
            </a:r>
            <a:endParaRPr lang="zh-CN" altLang="en-US" sz="1600" dirty="0">
              <a:latin typeface="微软雅黑" pitchFamily="34" charset="-122"/>
              <a:ea typeface="微软雅黑" pitchFamily="34" charset="-122"/>
            </a:endParaRPr>
          </a:p>
        </p:txBody>
      </p:sp>
      <p:sp>
        <p:nvSpPr>
          <p:cNvPr id="12" name="矩形 11"/>
          <p:cNvSpPr/>
          <p:nvPr/>
        </p:nvSpPr>
        <p:spPr>
          <a:xfrm>
            <a:off x="1797752" y="1844824"/>
            <a:ext cx="6230632" cy="584775"/>
          </a:xfrm>
          <a:prstGeom prst="rect">
            <a:avLst/>
          </a:prstGeom>
        </p:spPr>
        <p:txBody>
          <a:bodyPr wrap="square">
            <a:spAutoFit/>
          </a:bodyPr>
          <a:lstStyle/>
          <a:p>
            <a:r>
              <a:rPr lang="zh-CN" altLang="en-US" sz="1600" dirty="0">
                <a:latin typeface="微软雅黑" pitchFamily="34" charset="-122"/>
                <a:ea typeface="微软雅黑" pitchFamily="34" charset="-122"/>
              </a:rPr>
              <a:t>形象</a:t>
            </a:r>
            <a:r>
              <a:rPr lang="zh-CN" altLang="en-US" sz="1600" dirty="0" smtClean="0">
                <a:latin typeface="微软雅黑" pitchFamily="34" charset="-122"/>
                <a:ea typeface="微软雅黑" pitchFamily="34" charset="-122"/>
              </a:rPr>
              <a:t>款：</a:t>
            </a:r>
            <a:r>
              <a:rPr lang="zh-CN" altLang="zh-CN" sz="1600" dirty="0" smtClean="0">
                <a:latin typeface="微软雅黑" pitchFamily="34" charset="-122"/>
                <a:ea typeface="微软雅黑" pitchFamily="34" charset="-122"/>
              </a:rPr>
              <a:t>形象</a:t>
            </a:r>
            <a:r>
              <a:rPr lang="zh-CN" altLang="zh-CN" sz="1600" dirty="0">
                <a:latin typeface="微软雅黑" pitchFamily="34" charset="-122"/>
                <a:ea typeface="微软雅黑" pitchFamily="34" charset="-122"/>
              </a:rPr>
              <a:t>款一般设计比较前卫，点缀性较强，价位高，从而有效提升品牌个性、品位、档次，吸引力</a:t>
            </a:r>
            <a:r>
              <a:rPr lang="zh-CN" altLang="zh-CN" sz="1600" dirty="0" smtClean="0">
                <a:latin typeface="微软雅黑" pitchFamily="34" charset="-122"/>
                <a:ea typeface="微软雅黑" pitchFamily="34" charset="-122"/>
              </a:rPr>
              <a:t>等</a:t>
            </a:r>
            <a:r>
              <a:rPr lang="zh-CN" altLang="en-US" sz="1600" dirty="0" smtClean="0">
                <a:latin typeface="微软雅黑" pitchFamily="34" charset="-122"/>
                <a:ea typeface="微软雅黑" pitchFamily="34" charset="-122"/>
              </a:rPr>
              <a:t>，通常占比</a:t>
            </a:r>
            <a:r>
              <a:rPr lang="en-US" altLang="zh-CN" sz="1600" dirty="0" smtClean="0">
                <a:latin typeface="微软雅黑" pitchFamily="34" charset="-122"/>
                <a:ea typeface="微软雅黑" pitchFamily="34" charset="-122"/>
              </a:rPr>
              <a:t>10%</a:t>
            </a:r>
            <a:endParaRPr lang="zh-CN" altLang="en-US" sz="1600" dirty="0">
              <a:latin typeface="微软雅黑" pitchFamily="34" charset="-122"/>
              <a:ea typeface="微软雅黑" pitchFamily="34" charset="-122"/>
            </a:endParaRPr>
          </a:p>
        </p:txBody>
      </p:sp>
      <p:sp>
        <p:nvSpPr>
          <p:cNvPr id="13" name="矩形 12"/>
          <p:cNvSpPr/>
          <p:nvPr/>
        </p:nvSpPr>
        <p:spPr>
          <a:xfrm>
            <a:off x="1763688" y="2708920"/>
            <a:ext cx="4916731" cy="338554"/>
          </a:xfrm>
          <a:prstGeom prst="rect">
            <a:avLst/>
          </a:prstGeom>
        </p:spPr>
        <p:txBody>
          <a:bodyPr wrap="none">
            <a:spAutoFit/>
          </a:bodyPr>
          <a:lstStyle/>
          <a:p>
            <a:r>
              <a:rPr lang="zh-CN" altLang="en-US" sz="1600" dirty="0">
                <a:latin typeface="微软雅黑" pitchFamily="34" charset="-122"/>
                <a:ea typeface="微软雅黑" pitchFamily="34" charset="-122"/>
              </a:rPr>
              <a:t>主推</a:t>
            </a:r>
            <a:r>
              <a:rPr lang="zh-CN" altLang="en-US" sz="1600" dirty="0" smtClean="0">
                <a:latin typeface="微软雅黑" pitchFamily="34" charset="-122"/>
                <a:ea typeface="微软雅黑" pitchFamily="34" charset="-122"/>
              </a:rPr>
              <a:t>款：</a:t>
            </a:r>
            <a:r>
              <a:rPr lang="zh-CN" altLang="zh-CN" sz="1600" dirty="0" smtClean="0">
                <a:latin typeface="微软雅黑" pitchFamily="34" charset="-122"/>
                <a:ea typeface="微软雅黑" pitchFamily="34" charset="-122"/>
              </a:rPr>
              <a:t>一般</a:t>
            </a:r>
            <a:r>
              <a:rPr lang="zh-CN" altLang="zh-CN" sz="1600" dirty="0">
                <a:latin typeface="微软雅黑" pitchFamily="34" charset="-122"/>
                <a:ea typeface="微软雅黑" pitchFamily="34" charset="-122"/>
              </a:rPr>
              <a:t>为本季主打款，跑</a:t>
            </a:r>
            <a:r>
              <a:rPr lang="zh-CN" altLang="zh-CN" sz="1600" dirty="0" smtClean="0">
                <a:latin typeface="微软雅黑" pitchFamily="34" charset="-122"/>
                <a:ea typeface="微软雅黑" pitchFamily="34" charset="-122"/>
              </a:rPr>
              <a:t>量</a:t>
            </a:r>
            <a:r>
              <a:rPr lang="zh-CN" altLang="en-US" sz="1600" dirty="0" smtClean="0">
                <a:latin typeface="微软雅黑" pitchFamily="34" charset="-122"/>
                <a:ea typeface="微软雅黑" pitchFamily="34" charset="-122"/>
              </a:rPr>
              <a:t>款，通常占比</a:t>
            </a:r>
            <a:r>
              <a:rPr lang="en-US" altLang="zh-CN" sz="1600" dirty="0" smtClean="0">
                <a:latin typeface="微软雅黑" pitchFamily="34" charset="-122"/>
                <a:ea typeface="微软雅黑" pitchFamily="34" charset="-122"/>
              </a:rPr>
              <a:t>30%</a:t>
            </a:r>
            <a:endParaRPr lang="zh-CN" altLang="en-US" sz="1600" dirty="0">
              <a:latin typeface="微软雅黑" pitchFamily="34" charset="-122"/>
              <a:ea typeface="微软雅黑" pitchFamily="34" charset="-122"/>
            </a:endParaRPr>
          </a:p>
        </p:txBody>
      </p:sp>
      <p:sp>
        <p:nvSpPr>
          <p:cNvPr id="14" name="矩形 13"/>
          <p:cNvSpPr/>
          <p:nvPr/>
        </p:nvSpPr>
        <p:spPr>
          <a:xfrm>
            <a:off x="1763689" y="3348281"/>
            <a:ext cx="6120680" cy="584775"/>
          </a:xfrm>
          <a:prstGeom prst="rect">
            <a:avLst/>
          </a:prstGeom>
        </p:spPr>
        <p:txBody>
          <a:bodyPr wrap="square">
            <a:spAutoFit/>
          </a:bodyPr>
          <a:lstStyle/>
          <a:p>
            <a:r>
              <a:rPr lang="zh-CN" altLang="en-US" sz="1600" dirty="0">
                <a:latin typeface="微软雅黑" pitchFamily="34" charset="-122"/>
                <a:ea typeface="微软雅黑" pitchFamily="34" charset="-122"/>
              </a:rPr>
              <a:t>基本</a:t>
            </a:r>
            <a:r>
              <a:rPr lang="zh-CN" altLang="en-US" sz="1600" dirty="0" smtClean="0">
                <a:latin typeface="微软雅黑" pitchFamily="34" charset="-122"/>
                <a:ea typeface="微软雅黑" pitchFamily="34" charset="-122"/>
              </a:rPr>
              <a:t>款：</a:t>
            </a:r>
            <a:r>
              <a:rPr lang="zh-CN" altLang="zh-CN" sz="1600" dirty="0">
                <a:latin typeface="微软雅黑" pitchFamily="34" charset="-122"/>
                <a:ea typeface="微软雅黑" pitchFamily="34" charset="-122"/>
              </a:rPr>
              <a:t>基本款销售周期长，适就顾客范围大，保底销售较有</a:t>
            </a:r>
            <a:r>
              <a:rPr lang="zh-CN" altLang="zh-CN" sz="1600" dirty="0" smtClean="0">
                <a:latin typeface="微软雅黑" pitchFamily="34" charset="-122"/>
                <a:ea typeface="微软雅黑" pitchFamily="34" charset="-122"/>
              </a:rPr>
              <a:t>保障</a:t>
            </a:r>
            <a:r>
              <a:rPr lang="zh-CN" altLang="en-US" sz="1600" dirty="0" smtClean="0">
                <a:latin typeface="微软雅黑" pitchFamily="34" charset="-122"/>
                <a:ea typeface="微软雅黑" pitchFamily="34" charset="-122"/>
              </a:rPr>
              <a:t>，通常占比</a:t>
            </a:r>
            <a:r>
              <a:rPr lang="en-US" altLang="zh-CN" sz="1600" dirty="0" smtClean="0">
                <a:latin typeface="微软雅黑" pitchFamily="34" charset="-122"/>
                <a:ea typeface="微软雅黑" pitchFamily="34" charset="-122"/>
              </a:rPr>
              <a:t>60%</a:t>
            </a:r>
            <a:endParaRPr lang="zh-CN" altLang="en-US" sz="1600" dirty="0">
              <a:latin typeface="微软雅黑" pitchFamily="34" charset="-122"/>
              <a:ea typeface="微软雅黑" pitchFamily="34" charset="-122"/>
            </a:endParaRPr>
          </a:p>
        </p:txBody>
      </p:sp>
    </p:spTree>
    <p:extLst>
      <p:ext uri="{BB962C8B-B14F-4D97-AF65-F5344CB8AC3E}">
        <p14:creationId xmlns:p14="http://schemas.microsoft.com/office/powerpoint/2010/main" val="179479550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440160"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销售跟进</a:t>
            </a:r>
            <a:endParaRPr lang="zh-CN" altLang="en-US" dirty="0">
              <a:latin typeface="微软雅黑" pitchFamily="34" charset="-122"/>
              <a:ea typeface="微软雅黑" pitchFamily="34" charset="-122"/>
            </a:endParaRPr>
          </a:p>
        </p:txBody>
      </p:sp>
      <p:sp>
        <p:nvSpPr>
          <p:cNvPr id="4" name="TextBox 3"/>
          <p:cNvSpPr txBox="1"/>
          <p:nvPr/>
        </p:nvSpPr>
        <p:spPr>
          <a:xfrm>
            <a:off x="827584" y="1484784"/>
            <a:ext cx="2088941"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销售跟进的目的：</a:t>
            </a:r>
            <a:endParaRPr lang="zh-CN" altLang="en-US" dirty="0">
              <a:latin typeface="微软雅黑" pitchFamily="34" charset="-122"/>
              <a:ea typeface="微软雅黑" pitchFamily="34" charset="-122"/>
            </a:endParaRPr>
          </a:p>
        </p:txBody>
      </p:sp>
      <p:sp>
        <p:nvSpPr>
          <p:cNvPr id="5" name="矩形 4"/>
          <p:cNvSpPr/>
          <p:nvPr/>
        </p:nvSpPr>
        <p:spPr>
          <a:xfrm>
            <a:off x="1691680" y="2228671"/>
            <a:ext cx="5904656" cy="1495409"/>
          </a:xfrm>
          <a:prstGeom prst="rect">
            <a:avLst/>
          </a:prstGeom>
        </p:spPr>
        <p:txBody>
          <a:bodyPr wrap="square">
            <a:spAutoFit/>
          </a:bodyPr>
          <a:lstStyle/>
          <a:p>
            <a:pPr>
              <a:lnSpc>
                <a:spcPct val="200000"/>
              </a:lnSpc>
            </a:pPr>
            <a:r>
              <a:rPr lang="en-US" altLang="zh-CN" sz="1600" dirty="0" smtClean="0">
                <a:latin typeface="微软雅黑" pitchFamily="34" charset="-122"/>
                <a:ea typeface="微软雅黑" pitchFamily="34" charset="-122"/>
              </a:rPr>
              <a:t>       </a:t>
            </a:r>
            <a:r>
              <a:rPr lang="zh-CN" altLang="zh-CN" sz="1600" dirty="0" smtClean="0">
                <a:latin typeface="微软雅黑" pitchFamily="34" charset="-122"/>
                <a:ea typeface="微软雅黑" pitchFamily="34" charset="-122"/>
              </a:rPr>
              <a:t>商品</a:t>
            </a:r>
            <a:r>
              <a:rPr lang="zh-CN" altLang="zh-CN" sz="1600" dirty="0">
                <a:latin typeface="微软雅黑" pitchFamily="34" charset="-122"/>
                <a:ea typeface="微软雅黑" pitchFamily="34" charset="-122"/>
              </a:rPr>
              <a:t>经过分配由仓库运输到店铺后，上市的销售反应是畅销、平销、还是滞销，商品销售跟进尤为重要，销售的反馈将决定着商品部管理商品做出相关的快速反应</a:t>
            </a:r>
            <a:endParaRPr lang="zh-CN" altLang="en-US" sz="1600" dirty="0">
              <a:latin typeface="微软雅黑" pitchFamily="34" charset="-122"/>
              <a:ea typeface="微软雅黑" pitchFamily="34" charset="-122"/>
            </a:endParaRPr>
          </a:p>
        </p:txBody>
      </p:sp>
    </p:spTree>
    <p:extLst>
      <p:ext uri="{BB962C8B-B14F-4D97-AF65-F5344CB8AC3E}">
        <p14:creationId xmlns:p14="http://schemas.microsoft.com/office/powerpoint/2010/main" val="337853073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36815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销售跟进</a:t>
            </a:r>
            <a:endParaRPr lang="zh-CN" altLang="en-US" dirty="0">
              <a:latin typeface="微软雅黑" pitchFamily="34" charset="-122"/>
              <a:ea typeface="微软雅黑" pitchFamily="34" charset="-122"/>
            </a:endParaRPr>
          </a:p>
        </p:txBody>
      </p:sp>
      <p:sp>
        <p:nvSpPr>
          <p:cNvPr id="3" name="TextBox 2"/>
          <p:cNvSpPr txBox="1"/>
          <p:nvPr/>
        </p:nvSpPr>
        <p:spPr>
          <a:xfrm>
            <a:off x="962375" y="1115452"/>
            <a:ext cx="2088941"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目标化管理：</a:t>
            </a:r>
            <a:endParaRPr lang="zh-CN" altLang="en-US" dirty="0">
              <a:latin typeface="微软雅黑" pitchFamily="34" charset="-122"/>
              <a:ea typeface="微软雅黑" pitchFamily="34" charset="-122"/>
            </a:endParaRPr>
          </a:p>
        </p:txBody>
      </p:sp>
      <p:sp>
        <p:nvSpPr>
          <p:cNvPr id="4" name="TextBox 3"/>
          <p:cNvSpPr txBox="1"/>
          <p:nvPr/>
        </p:nvSpPr>
        <p:spPr>
          <a:xfrm>
            <a:off x="1610009" y="2060848"/>
            <a:ext cx="5832648" cy="2264851"/>
          </a:xfrm>
          <a:prstGeom prst="rect">
            <a:avLst/>
          </a:prstGeom>
          <a:noFill/>
        </p:spPr>
        <p:txBody>
          <a:bodyPr wrap="square" rtlCol="0">
            <a:spAutoFit/>
          </a:bodyPr>
          <a:lstStyle/>
          <a:p>
            <a:pPr>
              <a:lnSpc>
                <a:spcPct val="150000"/>
              </a:lnSpc>
            </a:pPr>
            <a:r>
              <a:rPr lang="en-US" altLang="zh-CN" sz="1600" dirty="0" smtClean="0">
                <a:latin typeface="微软雅黑" pitchFamily="34" charset="-122"/>
                <a:ea typeface="微软雅黑" pitchFamily="34" charset="-122"/>
              </a:rPr>
              <a:t>       </a:t>
            </a:r>
            <a:r>
              <a:rPr lang="zh-CN" altLang="zh-CN" sz="1600" dirty="0" smtClean="0">
                <a:latin typeface="微软雅黑" pitchFamily="34" charset="-122"/>
                <a:ea typeface="微软雅黑" pitchFamily="34" charset="-122"/>
              </a:rPr>
              <a:t>制定</a:t>
            </a:r>
            <a:r>
              <a:rPr lang="zh-CN" altLang="zh-CN" sz="1600" dirty="0">
                <a:latin typeface="微软雅黑" pitchFamily="34" charset="-122"/>
                <a:ea typeface="微软雅黑" pitchFamily="34" charset="-122"/>
              </a:rPr>
              <a:t>各个类别的</a:t>
            </a:r>
            <a:r>
              <a:rPr lang="zh-CN" altLang="zh-CN" sz="1600" u="sng" dirty="0">
                <a:latin typeface="微软雅黑" pitchFamily="34" charset="-122"/>
                <a:ea typeface="微软雅黑" pitchFamily="34" charset="-122"/>
              </a:rPr>
              <a:t>产品生命周期时间表</a:t>
            </a:r>
            <a:r>
              <a:rPr lang="zh-CN" altLang="zh-CN" sz="1600" dirty="0">
                <a:latin typeface="微软雅黑" pitchFamily="34" charset="-122"/>
                <a:ea typeface="微软雅黑" pitchFamily="34" charset="-122"/>
              </a:rPr>
              <a:t>，制定各类别产品售罄率，确定产品的导入期、成长期、成熟期、衰退期的销售量，将各类别产品分到责任人，由各责任人跟进每个销售期的销售进度，当产品销售量大时，仓库货品量少时，及时制定整合计划，当销售量达不到销售预期时，及时提出预警方案，制定相关促销方案</a:t>
            </a:r>
            <a:endParaRPr lang="zh-CN" altLang="en-US" sz="1600" dirty="0">
              <a:latin typeface="微软雅黑" pitchFamily="34" charset="-122"/>
              <a:ea typeface="微软雅黑" pitchFamily="34" charset="-122"/>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458669037"/>
              </p:ext>
            </p:extLst>
          </p:nvPr>
        </p:nvGraphicFramePr>
        <p:xfrm>
          <a:off x="2130424" y="4941888"/>
          <a:ext cx="1535211" cy="1151408"/>
        </p:xfrm>
        <a:graphic>
          <a:graphicData uri="http://schemas.openxmlformats.org/presentationml/2006/ole">
            <mc:AlternateContent xmlns:mc="http://schemas.openxmlformats.org/markup-compatibility/2006">
              <mc:Choice xmlns:v="urn:schemas-microsoft-com:vml" Requires="v">
                <p:oleObj spid="_x0000_s13446" name="文档" showAsIcon="1" r:id="rId3" imgW="914400" imgH="685800" progId="Word.Document.12">
                  <p:embed/>
                </p:oleObj>
              </mc:Choice>
              <mc:Fallback>
                <p:oleObj name="文档" showAsIcon="1" r:id="rId3" imgW="914400" imgH="685800" progId="Word.Document.12">
                  <p:embed/>
                  <p:pic>
                    <p:nvPicPr>
                      <p:cNvPr id="0" name=""/>
                      <p:cNvPicPr/>
                      <p:nvPr/>
                    </p:nvPicPr>
                    <p:blipFill>
                      <a:blip r:embed="rId4"/>
                      <a:stretch>
                        <a:fillRect/>
                      </a:stretch>
                    </p:blipFill>
                    <p:spPr>
                      <a:xfrm>
                        <a:off x="2130424" y="4941888"/>
                        <a:ext cx="1535211" cy="1151408"/>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956973491"/>
              </p:ext>
            </p:extLst>
          </p:nvPr>
        </p:nvGraphicFramePr>
        <p:xfrm>
          <a:off x="5004047" y="5013176"/>
          <a:ext cx="1344149" cy="1008112"/>
        </p:xfrm>
        <a:graphic>
          <a:graphicData uri="http://schemas.openxmlformats.org/presentationml/2006/ole">
            <mc:AlternateContent xmlns:mc="http://schemas.openxmlformats.org/markup-compatibility/2006">
              <mc:Choice xmlns:v="urn:schemas-microsoft-com:vml" Requires="v">
                <p:oleObj spid="_x0000_s13447" name="工作表" showAsIcon="1" r:id="rId5" imgW="914400" imgH="685800" progId="Excel.Sheet.12">
                  <p:embed/>
                </p:oleObj>
              </mc:Choice>
              <mc:Fallback>
                <p:oleObj name="工作表" showAsIcon="1" r:id="rId5" imgW="914400" imgH="685800" progId="Excel.Sheet.12">
                  <p:embed/>
                  <p:pic>
                    <p:nvPicPr>
                      <p:cNvPr id="0" name=""/>
                      <p:cNvPicPr/>
                      <p:nvPr/>
                    </p:nvPicPr>
                    <p:blipFill>
                      <a:blip r:embed="rId6"/>
                      <a:stretch>
                        <a:fillRect/>
                      </a:stretch>
                    </p:blipFill>
                    <p:spPr>
                      <a:xfrm>
                        <a:off x="5004047" y="5013176"/>
                        <a:ext cx="1344149" cy="1008112"/>
                      </a:xfrm>
                      <a:prstGeom prst="rect">
                        <a:avLst/>
                      </a:prstGeom>
                    </p:spPr>
                  </p:pic>
                </p:oleObj>
              </mc:Fallback>
            </mc:AlternateContent>
          </a:graphicData>
        </a:graphic>
      </p:graphicFrame>
    </p:spTree>
    <p:extLst>
      <p:ext uri="{BB962C8B-B14F-4D97-AF65-F5344CB8AC3E}">
        <p14:creationId xmlns:p14="http://schemas.microsoft.com/office/powerpoint/2010/main" val="337853073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36815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货品分析</a:t>
            </a:r>
            <a:endParaRPr lang="zh-CN" altLang="en-US" dirty="0">
              <a:latin typeface="微软雅黑" pitchFamily="34" charset="-122"/>
              <a:ea typeface="微软雅黑" pitchFamily="34" charset="-122"/>
            </a:endParaRPr>
          </a:p>
        </p:txBody>
      </p:sp>
      <p:sp>
        <p:nvSpPr>
          <p:cNvPr id="3" name="TextBox 2"/>
          <p:cNvSpPr txBox="1"/>
          <p:nvPr/>
        </p:nvSpPr>
        <p:spPr>
          <a:xfrm>
            <a:off x="827584" y="1484784"/>
            <a:ext cx="2088941"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货品分析的目的：</a:t>
            </a:r>
            <a:endParaRPr lang="zh-CN" altLang="en-US" dirty="0">
              <a:latin typeface="微软雅黑" pitchFamily="34" charset="-122"/>
              <a:ea typeface="微软雅黑" pitchFamily="34" charset="-122"/>
            </a:endParaRPr>
          </a:p>
        </p:txBody>
      </p:sp>
      <p:sp>
        <p:nvSpPr>
          <p:cNvPr id="4" name="矩形 3"/>
          <p:cNvSpPr/>
          <p:nvPr/>
        </p:nvSpPr>
        <p:spPr>
          <a:xfrm>
            <a:off x="1763688" y="2348880"/>
            <a:ext cx="5328592" cy="1569660"/>
          </a:xfrm>
          <a:prstGeom prst="rect">
            <a:avLst/>
          </a:prstGeom>
        </p:spPr>
        <p:txBody>
          <a:bodyPr wrap="square">
            <a:spAutoFit/>
          </a:bodyPr>
          <a:lstStyle/>
          <a:p>
            <a:pPr>
              <a:lnSpc>
                <a:spcPct val="200000"/>
              </a:lnSpc>
            </a:pPr>
            <a:r>
              <a:rPr lang="en-US" altLang="zh-CN" sz="1600" dirty="0" smtClean="0">
                <a:latin typeface="微软雅黑" pitchFamily="34" charset="-122"/>
                <a:ea typeface="微软雅黑" pitchFamily="34" charset="-122"/>
              </a:rPr>
              <a:t>       </a:t>
            </a:r>
            <a:r>
              <a:rPr lang="zh-CN" altLang="zh-CN" sz="1600" dirty="0" smtClean="0">
                <a:latin typeface="微软雅黑" pitchFamily="34" charset="-122"/>
                <a:ea typeface="微软雅黑" pitchFamily="34" charset="-122"/>
              </a:rPr>
              <a:t>商品</a:t>
            </a:r>
            <a:r>
              <a:rPr lang="zh-CN" altLang="zh-CN" sz="1600" dirty="0">
                <a:latin typeface="微软雅黑" pitchFamily="34" charset="-122"/>
                <a:ea typeface="微软雅黑" pitchFamily="34" charset="-122"/>
              </a:rPr>
              <a:t>销售分析是商品管理核心工作之一，商品分析犹如黑夜里一盏明亮的灯，它将为商品管理工作明确方向，同时也是为具体怎样去实施提供数据支持</a:t>
            </a:r>
            <a:endParaRPr lang="zh-CN" altLang="en-US" sz="1600" dirty="0">
              <a:latin typeface="微软雅黑" pitchFamily="34" charset="-122"/>
              <a:ea typeface="微软雅黑" pitchFamily="34" charset="-122"/>
            </a:endParaRPr>
          </a:p>
        </p:txBody>
      </p:sp>
    </p:spTree>
    <p:extLst>
      <p:ext uri="{BB962C8B-B14F-4D97-AF65-F5344CB8AC3E}">
        <p14:creationId xmlns:p14="http://schemas.microsoft.com/office/powerpoint/2010/main" val="337853073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224136"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货品分析</a:t>
            </a:r>
            <a:endParaRPr lang="zh-CN" altLang="en-US" dirty="0">
              <a:latin typeface="微软雅黑" pitchFamily="34" charset="-122"/>
              <a:ea typeface="微软雅黑" pitchFamily="34" charset="-122"/>
            </a:endParaRPr>
          </a:p>
        </p:txBody>
      </p:sp>
      <p:sp>
        <p:nvSpPr>
          <p:cNvPr id="42" name="Freeform 76"/>
          <p:cNvSpPr>
            <a:spLocks/>
          </p:cNvSpPr>
          <p:nvPr/>
        </p:nvSpPr>
        <p:spPr bwMode="auto">
          <a:xfrm flipV="1">
            <a:off x="3046890" y="1844824"/>
            <a:ext cx="5259892" cy="1909762"/>
          </a:xfrm>
          <a:custGeom>
            <a:avLst/>
            <a:gdLst>
              <a:gd name="T0" fmla="*/ 929 w 3003"/>
              <a:gd name="T1" fmla="*/ 0 h 1203"/>
              <a:gd name="T2" fmla="*/ 0 w 3003"/>
              <a:gd name="T3" fmla="*/ 669 h 1203"/>
              <a:gd name="T4" fmla="*/ 0 w 3003"/>
              <a:gd name="T5" fmla="*/ 1203 h 1203"/>
              <a:gd name="T6" fmla="*/ 2683 w 3003"/>
              <a:gd name="T7" fmla="*/ 1201 h 1203"/>
              <a:gd name="T8" fmla="*/ 3003 w 3003"/>
              <a:gd name="T9" fmla="*/ 941 h 1203"/>
              <a:gd name="T10" fmla="*/ 2651 w 3003"/>
              <a:gd name="T11" fmla="*/ 673 h 1203"/>
              <a:gd name="T12" fmla="*/ 1610 w 3003"/>
              <a:gd name="T13" fmla="*/ 0 h 1203"/>
              <a:gd name="T14" fmla="*/ 929 w 3003"/>
              <a:gd name="T15" fmla="*/ 0 h 12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03" h="1203">
                <a:moveTo>
                  <a:pt x="929" y="0"/>
                </a:moveTo>
                <a:lnTo>
                  <a:pt x="0" y="669"/>
                </a:lnTo>
                <a:lnTo>
                  <a:pt x="0" y="1203"/>
                </a:lnTo>
                <a:lnTo>
                  <a:pt x="2683" y="1201"/>
                </a:lnTo>
                <a:lnTo>
                  <a:pt x="3003" y="941"/>
                </a:lnTo>
                <a:lnTo>
                  <a:pt x="2651" y="673"/>
                </a:lnTo>
                <a:lnTo>
                  <a:pt x="1610" y="0"/>
                </a:lnTo>
                <a:lnTo>
                  <a:pt x="929" y="0"/>
                </a:lnTo>
                <a:close/>
              </a:path>
            </a:pathLst>
          </a:custGeom>
          <a:ln>
            <a:noFill/>
          </a:ln>
        </p:spPr>
        <p:style>
          <a:lnRef idx="2">
            <a:schemeClr val="accent5"/>
          </a:lnRef>
          <a:fillRef idx="1">
            <a:schemeClr val="lt1"/>
          </a:fillRef>
          <a:effectRef idx="0">
            <a:schemeClr val="accent5"/>
          </a:effectRef>
          <a:fontRef idx="minor">
            <a:schemeClr val="dk1"/>
          </a:fontRef>
        </p:style>
        <p:txBody>
          <a:bodyPr/>
          <a:lstStyle/>
          <a:p>
            <a:endParaRPr lang="zh-CN" altLang="en-US"/>
          </a:p>
        </p:txBody>
      </p:sp>
      <p:sp>
        <p:nvSpPr>
          <p:cNvPr id="43" name="AutoShape 73"/>
          <p:cNvSpPr>
            <a:spLocks noChangeArrowheads="1"/>
          </p:cNvSpPr>
          <p:nvPr/>
        </p:nvSpPr>
        <p:spPr bwMode="auto">
          <a:xfrm>
            <a:off x="1691680" y="1889274"/>
            <a:ext cx="1986253" cy="719137"/>
          </a:xfrm>
          <a:prstGeom prst="homePlate">
            <a:avLst>
              <a:gd name="adj" fmla="val 62583"/>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endParaRPr lang="zh-CN" altLang="en-US"/>
          </a:p>
        </p:txBody>
      </p:sp>
      <p:sp>
        <p:nvSpPr>
          <p:cNvPr id="44" name="AutoShape 74"/>
          <p:cNvSpPr>
            <a:spLocks noChangeArrowheads="1"/>
          </p:cNvSpPr>
          <p:nvPr/>
        </p:nvSpPr>
        <p:spPr bwMode="auto">
          <a:xfrm>
            <a:off x="3131840" y="1889274"/>
            <a:ext cx="2097963" cy="719137"/>
          </a:xfrm>
          <a:prstGeom prst="chevron">
            <a:avLst>
              <a:gd name="adj" fmla="val 62583"/>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endParaRPr lang="zh-CN" altLang="en-US"/>
          </a:p>
        </p:txBody>
      </p:sp>
      <p:sp>
        <p:nvSpPr>
          <p:cNvPr id="45" name="AutoShape 75"/>
          <p:cNvSpPr>
            <a:spLocks noChangeArrowheads="1"/>
          </p:cNvSpPr>
          <p:nvPr/>
        </p:nvSpPr>
        <p:spPr bwMode="auto">
          <a:xfrm>
            <a:off x="4795420" y="1889274"/>
            <a:ext cx="1986253" cy="719137"/>
          </a:xfrm>
          <a:prstGeom prst="chevron">
            <a:avLst>
              <a:gd name="adj" fmla="val 62583"/>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endParaRPr lang="zh-CN" altLang="en-US"/>
          </a:p>
        </p:txBody>
      </p:sp>
      <p:sp>
        <p:nvSpPr>
          <p:cNvPr id="48" name="AutoShape 15"/>
          <p:cNvSpPr>
            <a:spLocks noChangeArrowheads="1"/>
          </p:cNvSpPr>
          <p:nvPr/>
        </p:nvSpPr>
        <p:spPr bwMode="auto">
          <a:xfrm>
            <a:off x="1604298" y="3458309"/>
            <a:ext cx="2020700" cy="719137"/>
          </a:xfrm>
          <a:prstGeom prst="homePlate">
            <a:avLst>
              <a:gd name="adj" fmla="val 50055"/>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endParaRPr lang="zh-CN" altLang="en-US" sz="1600" dirty="0"/>
          </a:p>
        </p:txBody>
      </p:sp>
      <p:sp>
        <p:nvSpPr>
          <p:cNvPr id="49" name="Text Box 16"/>
          <p:cNvSpPr txBox="1">
            <a:spLocks noChangeArrowheads="1"/>
          </p:cNvSpPr>
          <p:nvPr/>
        </p:nvSpPr>
        <p:spPr bwMode="auto">
          <a:xfrm>
            <a:off x="1789454" y="3693974"/>
            <a:ext cx="1043944" cy="246221"/>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lIns="0" tIns="0" rIns="0" bIns="0" anchor="ctr">
            <a:spAutoFit/>
          </a:bodyPr>
          <a:lstStyle/>
          <a:p>
            <a:pPr algn="ctr"/>
            <a:r>
              <a:rPr lang="zh-CN" altLang="en-US" sz="1600" b="1" dirty="0" smtClean="0">
                <a:latin typeface="微软雅黑" pitchFamily="34" charset="-122"/>
                <a:ea typeface="微软雅黑" pitchFamily="34" charset="-122"/>
              </a:rPr>
              <a:t>单店分析</a:t>
            </a:r>
            <a:endParaRPr lang="en-US" altLang="ko-KR" sz="1600" b="1" dirty="0">
              <a:latin typeface="微软雅黑" pitchFamily="34" charset="-122"/>
              <a:ea typeface="微软雅黑" pitchFamily="34" charset="-122"/>
            </a:endParaRPr>
          </a:p>
        </p:txBody>
      </p:sp>
      <p:sp>
        <p:nvSpPr>
          <p:cNvPr id="50" name="AutoShape 17"/>
          <p:cNvSpPr>
            <a:spLocks noChangeArrowheads="1"/>
          </p:cNvSpPr>
          <p:nvPr/>
        </p:nvSpPr>
        <p:spPr bwMode="auto">
          <a:xfrm>
            <a:off x="2856653" y="3458309"/>
            <a:ext cx="2020700" cy="719137"/>
          </a:xfrm>
          <a:prstGeom prst="chevron">
            <a:avLst>
              <a:gd name="adj" fmla="val 50055"/>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endParaRPr lang="zh-CN" altLang="en-US"/>
          </a:p>
        </p:txBody>
      </p:sp>
      <p:sp>
        <p:nvSpPr>
          <p:cNvPr id="51" name="Text Box 18"/>
          <p:cNvSpPr txBox="1">
            <a:spLocks noChangeArrowheads="1"/>
          </p:cNvSpPr>
          <p:nvPr/>
        </p:nvSpPr>
        <p:spPr bwMode="auto">
          <a:xfrm>
            <a:off x="3248493" y="3693973"/>
            <a:ext cx="1043944" cy="246221"/>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lIns="0" tIns="0" rIns="0" bIns="0" anchor="ctr">
            <a:spAutoFit/>
          </a:bodyPr>
          <a:lstStyle/>
          <a:p>
            <a:pPr algn="ctr"/>
            <a:r>
              <a:rPr lang="zh-CN" altLang="en-US" sz="1600" b="1" dirty="0" smtClean="0">
                <a:latin typeface="微软雅黑" pitchFamily="34" charset="-122"/>
                <a:ea typeface="微软雅黑" pitchFamily="34" charset="-122"/>
              </a:rPr>
              <a:t>商品分析</a:t>
            </a:r>
            <a:endParaRPr lang="en-US" altLang="ko-KR" sz="1600" b="1" dirty="0">
              <a:latin typeface="微软雅黑" pitchFamily="34" charset="-122"/>
              <a:ea typeface="微软雅黑" pitchFamily="34" charset="-122"/>
            </a:endParaRPr>
          </a:p>
        </p:txBody>
      </p:sp>
      <p:sp>
        <p:nvSpPr>
          <p:cNvPr id="52" name="AutoShape 19"/>
          <p:cNvSpPr>
            <a:spLocks noChangeArrowheads="1"/>
          </p:cNvSpPr>
          <p:nvPr/>
        </p:nvSpPr>
        <p:spPr bwMode="auto">
          <a:xfrm>
            <a:off x="4107256" y="3458309"/>
            <a:ext cx="2020700" cy="719137"/>
          </a:xfrm>
          <a:prstGeom prst="chevron">
            <a:avLst>
              <a:gd name="adj" fmla="val 50055"/>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endParaRPr lang="zh-CN" altLang="en-US"/>
          </a:p>
        </p:txBody>
      </p:sp>
      <p:sp>
        <p:nvSpPr>
          <p:cNvPr id="53" name="Text Box 20"/>
          <p:cNvSpPr txBox="1">
            <a:spLocks noChangeArrowheads="1"/>
          </p:cNvSpPr>
          <p:nvPr/>
        </p:nvSpPr>
        <p:spPr bwMode="auto">
          <a:xfrm>
            <a:off x="4499992" y="3701668"/>
            <a:ext cx="1104836" cy="223138"/>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lIns="0" tIns="0" rIns="0" bIns="0" anchor="ctr">
            <a:spAutoFit/>
          </a:bodyPr>
          <a:lstStyle/>
          <a:p>
            <a:pPr algn="ctr"/>
            <a:r>
              <a:rPr lang="zh-CN" altLang="en-US" sz="1400" b="1" dirty="0" smtClean="0">
                <a:latin typeface="微软雅黑" pitchFamily="34" charset="-122"/>
                <a:ea typeface="微软雅黑" pitchFamily="34" charset="-122"/>
              </a:rPr>
              <a:t>促销状况分析</a:t>
            </a:r>
            <a:endParaRPr lang="en-US" altLang="ko-KR" sz="1400" b="1" dirty="0">
              <a:latin typeface="微软雅黑" pitchFamily="34" charset="-122"/>
              <a:ea typeface="微软雅黑" pitchFamily="34" charset="-122"/>
            </a:endParaRPr>
          </a:p>
        </p:txBody>
      </p:sp>
      <p:sp>
        <p:nvSpPr>
          <p:cNvPr id="54" name="AutoShape 21"/>
          <p:cNvSpPr>
            <a:spLocks noChangeArrowheads="1"/>
          </p:cNvSpPr>
          <p:nvPr/>
        </p:nvSpPr>
        <p:spPr bwMode="auto">
          <a:xfrm>
            <a:off x="5359612" y="3458309"/>
            <a:ext cx="2020700" cy="719137"/>
          </a:xfrm>
          <a:prstGeom prst="chevron">
            <a:avLst>
              <a:gd name="adj" fmla="val 50055"/>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endParaRPr lang="zh-CN" altLang="en-US"/>
          </a:p>
        </p:txBody>
      </p:sp>
      <p:sp>
        <p:nvSpPr>
          <p:cNvPr id="55" name="Text Box 22"/>
          <p:cNvSpPr txBox="1">
            <a:spLocks noChangeArrowheads="1"/>
          </p:cNvSpPr>
          <p:nvPr/>
        </p:nvSpPr>
        <p:spPr bwMode="auto">
          <a:xfrm>
            <a:off x="5738241" y="3709362"/>
            <a:ext cx="1370176" cy="215444"/>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lIns="0" tIns="0" rIns="0" bIns="0" anchor="ctr">
            <a:spAutoFit/>
          </a:bodyPr>
          <a:lstStyle/>
          <a:p>
            <a:pPr algn="ctr"/>
            <a:r>
              <a:rPr lang="zh-CN" altLang="en-US" sz="1400" b="1" dirty="0" smtClean="0">
                <a:latin typeface="微软雅黑" pitchFamily="34" charset="-122"/>
                <a:ea typeface="微软雅黑" pitchFamily="34" charset="-122"/>
              </a:rPr>
              <a:t>竞争对手分析</a:t>
            </a:r>
            <a:endParaRPr lang="en-US" altLang="ko-KR" sz="1400" b="1" dirty="0">
              <a:latin typeface="微软雅黑" pitchFamily="34" charset="-122"/>
              <a:ea typeface="微软雅黑" pitchFamily="34" charset="-122"/>
            </a:endParaRPr>
          </a:p>
        </p:txBody>
      </p:sp>
      <p:sp>
        <p:nvSpPr>
          <p:cNvPr id="56" name="AutoShape 23"/>
          <p:cNvSpPr>
            <a:spLocks noChangeArrowheads="1"/>
          </p:cNvSpPr>
          <p:nvPr/>
        </p:nvSpPr>
        <p:spPr bwMode="auto">
          <a:xfrm>
            <a:off x="2610193" y="5042485"/>
            <a:ext cx="3329959" cy="719137"/>
          </a:xfrm>
          <a:prstGeom prst="chevron">
            <a:avLst>
              <a:gd name="adj" fmla="val 50055"/>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endParaRPr lang="zh-CN" altLang="en-US" sz="1600" b="1">
              <a:latin typeface="微软雅黑" pitchFamily="34" charset="-122"/>
              <a:ea typeface="微软雅黑" pitchFamily="34" charset="-122"/>
            </a:endParaRPr>
          </a:p>
        </p:txBody>
      </p:sp>
      <p:sp>
        <p:nvSpPr>
          <p:cNvPr id="57" name="Text Box 24"/>
          <p:cNvSpPr txBox="1">
            <a:spLocks noChangeArrowheads="1"/>
          </p:cNvSpPr>
          <p:nvPr/>
        </p:nvSpPr>
        <p:spPr bwMode="auto">
          <a:xfrm>
            <a:off x="3282188" y="5248166"/>
            <a:ext cx="2058519" cy="307777"/>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lIns="0" tIns="0" rIns="0" bIns="0" anchor="ctr">
            <a:spAutoFit/>
          </a:bodyPr>
          <a:lstStyle/>
          <a:p>
            <a:pPr algn="ctr"/>
            <a:r>
              <a:rPr lang="zh-CN" altLang="en-US" sz="2000" b="1" dirty="0" smtClean="0">
                <a:latin typeface="微软雅黑" pitchFamily="34" charset="-122"/>
                <a:ea typeface="微软雅黑" pitchFamily="34" charset="-122"/>
              </a:rPr>
              <a:t>确定下阶段策略</a:t>
            </a:r>
            <a:endParaRPr lang="en-US" altLang="ko-KR" sz="2000" b="1" dirty="0">
              <a:latin typeface="微软雅黑" pitchFamily="34" charset="-122"/>
              <a:ea typeface="微软雅黑" pitchFamily="34" charset="-122"/>
            </a:endParaRPr>
          </a:p>
        </p:txBody>
      </p:sp>
      <p:sp>
        <p:nvSpPr>
          <p:cNvPr id="61" name="Text Box 77"/>
          <p:cNvSpPr txBox="1">
            <a:spLocks noChangeArrowheads="1"/>
          </p:cNvSpPr>
          <p:nvPr/>
        </p:nvSpPr>
        <p:spPr bwMode="auto">
          <a:xfrm>
            <a:off x="1911492" y="2140327"/>
            <a:ext cx="1077218" cy="215444"/>
          </a:xfrm>
          <a:prstGeom prst="rect">
            <a:avLst/>
          </a:prstGeom>
          <a:ln>
            <a:noFill/>
          </a:ln>
        </p:spPr>
        <p:style>
          <a:lnRef idx="2">
            <a:schemeClr val="accent5"/>
          </a:lnRef>
          <a:fillRef idx="1">
            <a:schemeClr val="lt1"/>
          </a:fillRef>
          <a:effectRef idx="0">
            <a:schemeClr val="accent5"/>
          </a:effectRef>
          <a:fontRef idx="minor">
            <a:schemeClr val="dk1"/>
          </a:fontRef>
        </p:style>
        <p:txBody>
          <a:bodyPr wrap="none" lIns="0" tIns="0" rIns="0" bIns="0" anchor="ctr">
            <a:spAutoFit/>
          </a:bodyPr>
          <a:lstStyle/>
          <a:p>
            <a:pPr algn="ctr"/>
            <a:r>
              <a:rPr lang="zh-CN" altLang="en-US" sz="1400" b="1" dirty="0" smtClean="0">
                <a:latin typeface="微软雅黑" pitchFamily="34" charset="-122"/>
                <a:ea typeface="微软雅黑" pitchFamily="34" charset="-122"/>
              </a:rPr>
              <a:t>数据报表制作</a:t>
            </a:r>
            <a:endParaRPr lang="en-US" altLang="ko-KR" sz="1400" b="1" dirty="0">
              <a:latin typeface="微软雅黑" pitchFamily="34" charset="-122"/>
              <a:ea typeface="微软雅黑" pitchFamily="34" charset="-122"/>
            </a:endParaRPr>
          </a:p>
        </p:txBody>
      </p:sp>
      <p:sp>
        <p:nvSpPr>
          <p:cNvPr id="62" name="Text Box 78"/>
          <p:cNvSpPr txBox="1">
            <a:spLocks noChangeArrowheads="1"/>
          </p:cNvSpPr>
          <p:nvPr/>
        </p:nvSpPr>
        <p:spPr bwMode="auto">
          <a:xfrm>
            <a:off x="3747294" y="2140327"/>
            <a:ext cx="1256754" cy="215444"/>
          </a:xfrm>
          <a:prstGeom prst="rect">
            <a:avLst/>
          </a:prstGeom>
          <a:ln>
            <a:noFill/>
          </a:ln>
        </p:spPr>
        <p:style>
          <a:lnRef idx="2">
            <a:schemeClr val="accent5"/>
          </a:lnRef>
          <a:fillRef idx="1">
            <a:schemeClr val="lt1"/>
          </a:fillRef>
          <a:effectRef idx="0">
            <a:schemeClr val="accent5"/>
          </a:effectRef>
          <a:fontRef idx="minor">
            <a:schemeClr val="dk1"/>
          </a:fontRef>
        </p:style>
        <p:txBody>
          <a:bodyPr wrap="none" lIns="0" tIns="0" rIns="0" bIns="0" anchor="ctr">
            <a:spAutoFit/>
          </a:bodyPr>
          <a:lstStyle/>
          <a:p>
            <a:pPr algn="ctr"/>
            <a:r>
              <a:rPr lang="zh-CN" altLang="en-US" sz="1400" b="1" dirty="0" smtClean="0">
                <a:latin typeface="微软雅黑" pitchFamily="34" charset="-122"/>
                <a:ea typeface="微软雅黑" pitchFamily="34" charset="-122"/>
              </a:rPr>
              <a:t>目标达成率分析</a:t>
            </a:r>
            <a:endParaRPr lang="en-US" altLang="ko-KR" sz="1400" b="1" dirty="0">
              <a:latin typeface="微软雅黑" pitchFamily="34" charset="-122"/>
              <a:ea typeface="微软雅黑" pitchFamily="34" charset="-122"/>
            </a:endParaRPr>
          </a:p>
        </p:txBody>
      </p:sp>
      <p:sp>
        <p:nvSpPr>
          <p:cNvPr id="63" name="Text Box 79"/>
          <p:cNvSpPr txBox="1">
            <a:spLocks noChangeArrowheads="1"/>
          </p:cNvSpPr>
          <p:nvPr/>
        </p:nvSpPr>
        <p:spPr bwMode="auto">
          <a:xfrm>
            <a:off x="5309596" y="2140327"/>
            <a:ext cx="1077218" cy="215444"/>
          </a:xfrm>
          <a:prstGeom prst="rect">
            <a:avLst/>
          </a:prstGeom>
          <a:ln>
            <a:noFill/>
          </a:ln>
        </p:spPr>
        <p:style>
          <a:lnRef idx="2">
            <a:schemeClr val="accent5"/>
          </a:lnRef>
          <a:fillRef idx="1">
            <a:schemeClr val="lt1"/>
          </a:fillRef>
          <a:effectRef idx="0">
            <a:schemeClr val="accent5"/>
          </a:effectRef>
          <a:fontRef idx="minor">
            <a:schemeClr val="dk1"/>
          </a:fontRef>
        </p:style>
        <p:txBody>
          <a:bodyPr wrap="none" lIns="0" tIns="0" rIns="0" bIns="0" anchor="ctr">
            <a:spAutoFit/>
          </a:bodyPr>
          <a:lstStyle/>
          <a:p>
            <a:pPr algn="ctr"/>
            <a:r>
              <a:rPr lang="zh-CN" altLang="en-US" sz="1400" b="1" dirty="0" smtClean="0">
                <a:latin typeface="微软雅黑" pitchFamily="34" charset="-122"/>
                <a:ea typeface="微软雅黑" pitchFamily="34" charset="-122"/>
              </a:rPr>
              <a:t>渠道状况分析</a:t>
            </a:r>
            <a:endParaRPr lang="en-US" altLang="ko-KR" sz="1400" b="1" dirty="0">
              <a:latin typeface="微软雅黑" pitchFamily="34" charset="-122"/>
              <a:ea typeface="微软雅黑" pitchFamily="34" charset="-122"/>
            </a:endParaRPr>
          </a:p>
        </p:txBody>
      </p:sp>
      <p:sp>
        <p:nvSpPr>
          <p:cNvPr id="67" name="TextBox 66"/>
          <p:cNvSpPr txBox="1"/>
          <p:nvPr/>
        </p:nvSpPr>
        <p:spPr>
          <a:xfrm>
            <a:off x="1331640" y="1074222"/>
            <a:ext cx="2088232" cy="338554"/>
          </a:xfrm>
          <a:prstGeom prst="rect">
            <a:avLst/>
          </a:prstGeom>
          <a:noFill/>
        </p:spPr>
        <p:txBody>
          <a:bodyPr wrap="square" rtlCol="0">
            <a:spAutoFit/>
          </a:bodyPr>
          <a:lstStyle/>
          <a:p>
            <a:r>
              <a:rPr lang="zh-CN" altLang="en-US" sz="1600" dirty="0" smtClean="0">
                <a:latin typeface="微软雅黑" pitchFamily="34" charset="-122"/>
                <a:ea typeface="微软雅黑" pitchFamily="34" charset="-122"/>
              </a:rPr>
              <a:t>货品分析的流程</a:t>
            </a:r>
            <a:endParaRPr lang="zh-CN" altLang="en-US" sz="1600" dirty="0">
              <a:latin typeface="微软雅黑" pitchFamily="34" charset="-122"/>
              <a:ea typeface="微软雅黑" pitchFamily="34" charset="-122"/>
            </a:endParaRPr>
          </a:p>
        </p:txBody>
      </p:sp>
    </p:spTree>
    <p:extLst>
      <p:ext uri="{BB962C8B-B14F-4D97-AF65-F5344CB8AC3E}">
        <p14:creationId xmlns:p14="http://schemas.microsoft.com/office/powerpoint/2010/main" val="337853073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296144"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货品分析</a:t>
            </a:r>
            <a:endParaRPr lang="zh-CN" altLang="en-US" dirty="0">
              <a:latin typeface="微软雅黑" pitchFamily="34" charset="-122"/>
              <a:ea typeface="微软雅黑"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160359290"/>
              </p:ext>
            </p:extLst>
          </p:nvPr>
        </p:nvGraphicFramePr>
        <p:xfrm>
          <a:off x="899591" y="1484784"/>
          <a:ext cx="7272808" cy="515397"/>
        </p:xfrm>
        <a:graphic>
          <a:graphicData uri="http://schemas.openxmlformats.org/drawingml/2006/table">
            <a:tbl>
              <a:tblPr firstRow="1" firstCol="1" bandRow="1">
                <a:tableStyleId>{9D7B26C5-4107-4FEC-AEDC-1716B250A1EF}</a:tableStyleId>
              </a:tblPr>
              <a:tblGrid>
                <a:gridCol w="1860262"/>
                <a:gridCol w="398543"/>
                <a:gridCol w="5014003"/>
              </a:tblGrid>
              <a:tr h="515397">
                <a:tc>
                  <a:txBody>
                    <a:bodyPr/>
                    <a:lstStyle/>
                    <a:p>
                      <a:pPr algn="ctr">
                        <a:spcAft>
                          <a:spcPts val="0"/>
                        </a:spcAft>
                      </a:pPr>
                      <a:r>
                        <a:rPr lang="zh-CN" sz="1200" kern="100" dirty="0">
                          <a:effectLst/>
                          <a:latin typeface="微软雅黑" pitchFamily="34" charset="-122"/>
                          <a:ea typeface="微软雅黑" pitchFamily="34" charset="-122"/>
                        </a:rPr>
                        <a:t>数据报表制作</a:t>
                      </a:r>
                      <a:endParaRPr lang="zh-CN" sz="1200" kern="100" dirty="0">
                        <a:effectLst/>
                        <a:latin typeface="微软雅黑" pitchFamily="34" charset="-122"/>
                        <a:ea typeface="微软雅黑" pitchFamily="34" charset="-122"/>
                        <a:cs typeface="Times New Roman"/>
                      </a:endParaRPr>
                    </a:p>
                  </a:txBody>
                  <a:tcPr marL="68580" marR="68580" marT="0" marB="0" anchor="ctr"/>
                </a:tc>
                <a:tc>
                  <a:txBody>
                    <a:bodyPr/>
                    <a:lstStyle/>
                    <a:p>
                      <a:pPr algn="ctr">
                        <a:spcAft>
                          <a:spcPts val="0"/>
                        </a:spcAft>
                      </a:pPr>
                      <a:r>
                        <a:rPr lang="en-US" sz="1200" kern="100">
                          <a:effectLst/>
                          <a:latin typeface="微软雅黑" pitchFamily="34" charset="-122"/>
                          <a:ea typeface="微软雅黑" pitchFamily="34" charset="-122"/>
                        </a:rPr>
                        <a:t> </a:t>
                      </a:r>
                      <a:endParaRPr lang="zh-CN" sz="1200" kern="100">
                        <a:effectLst/>
                        <a:latin typeface="微软雅黑" pitchFamily="34" charset="-122"/>
                        <a:ea typeface="微软雅黑" pitchFamily="34" charset="-122"/>
                        <a:cs typeface="Times New Roman"/>
                      </a:endParaRPr>
                    </a:p>
                  </a:txBody>
                  <a:tcPr marL="68580" marR="68580" marT="0" marB="0" anchor="ctr"/>
                </a:tc>
                <a:tc>
                  <a:txBody>
                    <a:bodyPr/>
                    <a:lstStyle/>
                    <a:p>
                      <a:pPr algn="just">
                        <a:spcAft>
                          <a:spcPts val="0"/>
                        </a:spcAft>
                      </a:pPr>
                      <a:r>
                        <a:rPr lang="zh-CN" sz="1200" kern="100" dirty="0">
                          <a:effectLst/>
                          <a:latin typeface="微软雅黑" pitchFamily="34" charset="-122"/>
                          <a:ea typeface="微软雅黑" pitchFamily="34" charset="-122"/>
                        </a:rPr>
                        <a:t>商品部数据分析人员将销售信息分类整理，制作分析报表</a:t>
                      </a:r>
                      <a:endParaRPr lang="zh-CN" sz="1200" kern="100" dirty="0">
                        <a:effectLst/>
                        <a:latin typeface="微软雅黑" pitchFamily="34" charset="-122"/>
                        <a:ea typeface="微软雅黑" pitchFamily="34" charset="-122"/>
                        <a:cs typeface="Times New Roman"/>
                      </a:endParaRPr>
                    </a:p>
                  </a:txBody>
                  <a:tcPr marL="68580" marR="68580" marT="0" marB="0" anchor="ctr"/>
                </a:tc>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3375686843"/>
              </p:ext>
            </p:extLst>
          </p:nvPr>
        </p:nvGraphicFramePr>
        <p:xfrm>
          <a:off x="899591" y="2204864"/>
          <a:ext cx="7272808" cy="542920"/>
        </p:xfrm>
        <a:graphic>
          <a:graphicData uri="http://schemas.openxmlformats.org/drawingml/2006/table">
            <a:tbl>
              <a:tblPr firstRow="1" firstCol="1" bandRow="1">
                <a:tableStyleId>{9D7B26C5-4107-4FEC-AEDC-1716B250A1EF}</a:tableStyleId>
              </a:tblPr>
              <a:tblGrid>
                <a:gridCol w="1841846"/>
                <a:gridCol w="394597"/>
                <a:gridCol w="5036365"/>
              </a:tblGrid>
              <a:tr h="542920">
                <a:tc>
                  <a:txBody>
                    <a:bodyPr/>
                    <a:lstStyle/>
                    <a:p>
                      <a:pPr marL="0" algn="ctr" defTabSz="914400" rtl="0" eaLnBrk="1" latinLnBrk="0" hangingPunct="1">
                        <a:spcAft>
                          <a:spcPts val="0"/>
                        </a:spcAft>
                      </a:pPr>
                      <a:r>
                        <a:rPr lang="zh-CN" sz="1200" b="1" kern="100" dirty="0">
                          <a:solidFill>
                            <a:schemeClr val="tx1"/>
                          </a:solidFill>
                          <a:effectLst/>
                          <a:latin typeface="微软雅黑" pitchFamily="34" charset="-122"/>
                          <a:ea typeface="微软雅黑" pitchFamily="34" charset="-122"/>
                          <a:cs typeface="+mn-cs"/>
                        </a:rPr>
                        <a:t>销售目标达成率分析</a:t>
                      </a:r>
                    </a:p>
                  </a:txBody>
                  <a:tcPr marL="68580" marR="68580" marT="0" marB="0" anchor="ctr"/>
                </a:tc>
                <a:tc>
                  <a:txBody>
                    <a:bodyPr/>
                    <a:lstStyle/>
                    <a:p>
                      <a:pPr marL="0" algn="just" defTabSz="914400" rtl="0" eaLnBrk="1" latinLnBrk="0" hangingPunct="1">
                        <a:spcAft>
                          <a:spcPts val="0"/>
                        </a:spcAft>
                      </a:pPr>
                      <a:r>
                        <a:rPr lang="en-US" sz="1200" b="1" kern="100" dirty="0">
                          <a:solidFill>
                            <a:schemeClr val="tx1"/>
                          </a:solidFill>
                          <a:effectLst/>
                          <a:latin typeface="微软雅黑" pitchFamily="34" charset="-122"/>
                          <a:ea typeface="微软雅黑" pitchFamily="34" charset="-122"/>
                          <a:cs typeface="+mn-cs"/>
                        </a:rPr>
                        <a:t> </a:t>
                      </a:r>
                      <a:endParaRPr lang="zh-CN" sz="1200" b="1" kern="100" dirty="0">
                        <a:solidFill>
                          <a:schemeClr val="tx1"/>
                        </a:solidFill>
                        <a:effectLst/>
                        <a:latin typeface="微软雅黑" pitchFamily="34" charset="-122"/>
                        <a:ea typeface="微软雅黑" pitchFamily="34" charset="-122"/>
                        <a:cs typeface="+mn-cs"/>
                      </a:endParaRPr>
                    </a:p>
                  </a:txBody>
                  <a:tcPr marL="68580" marR="68580" marT="0" marB="0" anchor="ctr"/>
                </a:tc>
                <a:tc>
                  <a:txBody>
                    <a:bodyPr/>
                    <a:lstStyle/>
                    <a:p>
                      <a:pPr marL="0" algn="just" defTabSz="914400" rtl="0" eaLnBrk="1" latinLnBrk="0" hangingPunct="1">
                        <a:spcAft>
                          <a:spcPts val="0"/>
                        </a:spcAft>
                      </a:pPr>
                      <a:r>
                        <a:rPr lang="zh-CN" sz="1200" b="1" kern="100" dirty="0">
                          <a:solidFill>
                            <a:schemeClr val="tx1"/>
                          </a:solidFill>
                          <a:effectLst/>
                          <a:latin typeface="微软雅黑" pitchFamily="34" charset="-122"/>
                          <a:ea typeface="微软雅黑" pitchFamily="34" charset="-122"/>
                          <a:cs typeface="+mn-cs"/>
                        </a:rPr>
                        <a:t>分析当期销售目标的达成情况，同比和环比的上升与下降，并分析原因</a:t>
                      </a:r>
                    </a:p>
                  </a:txBody>
                  <a:tcPr marL="68580" marR="68580" marT="0" marB="0" anchor="ct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5283446"/>
              </p:ext>
            </p:extLst>
          </p:nvPr>
        </p:nvGraphicFramePr>
        <p:xfrm>
          <a:off x="899591" y="2996952"/>
          <a:ext cx="7272809" cy="549275"/>
        </p:xfrm>
        <a:graphic>
          <a:graphicData uri="http://schemas.openxmlformats.org/drawingml/2006/table">
            <a:tbl>
              <a:tblPr firstRow="1" firstCol="1" bandRow="1">
                <a:tableStyleId>{9D7B26C5-4107-4FEC-AEDC-1716B250A1EF}</a:tableStyleId>
              </a:tblPr>
              <a:tblGrid>
                <a:gridCol w="1860264"/>
                <a:gridCol w="398543"/>
                <a:gridCol w="5014002"/>
              </a:tblGrid>
              <a:tr h="549275">
                <a:tc>
                  <a:txBody>
                    <a:bodyPr/>
                    <a:lstStyle/>
                    <a:p>
                      <a:pPr marL="0" algn="ctr" defTabSz="914400" rtl="0" eaLnBrk="1" latinLnBrk="0" hangingPunct="1">
                        <a:spcAft>
                          <a:spcPts val="0"/>
                        </a:spcAft>
                      </a:pPr>
                      <a:r>
                        <a:rPr lang="zh-CN" sz="1200" b="1" kern="100" dirty="0">
                          <a:solidFill>
                            <a:schemeClr val="tx1"/>
                          </a:solidFill>
                          <a:effectLst/>
                          <a:latin typeface="微软雅黑" pitchFamily="34" charset="-122"/>
                          <a:ea typeface="微软雅黑" pitchFamily="34" charset="-122"/>
                          <a:cs typeface="+mn-cs"/>
                        </a:rPr>
                        <a:t>渠道状况分析</a:t>
                      </a:r>
                    </a:p>
                  </a:txBody>
                  <a:tcPr marL="68580" marR="68580" marT="0" marB="0" anchor="ctr"/>
                </a:tc>
                <a:tc>
                  <a:txBody>
                    <a:bodyPr/>
                    <a:lstStyle/>
                    <a:p>
                      <a:pPr marL="0" algn="just" defTabSz="914400" rtl="0" eaLnBrk="1" latinLnBrk="0" hangingPunct="1">
                        <a:spcAft>
                          <a:spcPts val="0"/>
                        </a:spcAft>
                      </a:pPr>
                      <a:r>
                        <a:rPr lang="en-US" sz="1200" b="1" kern="100" dirty="0">
                          <a:solidFill>
                            <a:schemeClr val="tx1"/>
                          </a:solidFill>
                          <a:effectLst/>
                          <a:latin typeface="微软雅黑" pitchFamily="34" charset="-122"/>
                          <a:ea typeface="微软雅黑" pitchFamily="34" charset="-122"/>
                          <a:cs typeface="+mn-cs"/>
                        </a:rPr>
                        <a:t> </a:t>
                      </a:r>
                      <a:endParaRPr lang="zh-CN" sz="1200" b="1" kern="100" dirty="0">
                        <a:solidFill>
                          <a:schemeClr val="tx1"/>
                        </a:solidFill>
                        <a:effectLst/>
                        <a:latin typeface="微软雅黑" pitchFamily="34" charset="-122"/>
                        <a:ea typeface="微软雅黑" pitchFamily="34" charset="-122"/>
                        <a:cs typeface="+mn-cs"/>
                      </a:endParaRPr>
                    </a:p>
                  </a:txBody>
                  <a:tcPr marL="68580" marR="68580" marT="0" marB="0" anchor="ctr"/>
                </a:tc>
                <a:tc>
                  <a:txBody>
                    <a:bodyPr/>
                    <a:lstStyle/>
                    <a:p>
                      <a:pPr marL="0" algn="just" defTabSz="914400" rtl="0" eaLnBrk="1" latinLnBrk="0" hangingPunct="1">
                        <a:spcAft>
                          <a:spcPts val="0"/>
                        </a:spcAft>
                      </a:pPr>
                      <a:r>
                        <a:rPr lang="zh-CN" sz="1200" b="1" kern="100" dirty="0">
                          <a:solidFill>
                            <a:schemeClr val="tx1"/>
                          </a:solidFill>
                          <a:effectLst/>
                          <a:latin typeface="微软雅黑" pitchFamily="34" charset="-122"/>
                          <a:ea typeface="微软雅黑" pitchFamily="34" charset="-122"/>
                          <a:cs typeface="+mn-cs"/>
                        </a:rPr>
                        <a:t>分析渠道中的店铺结构变化，分析各类型店铺的当期销售表现和销售排名，分区域分享业绩上升和下降的原因</a:t>
                      </a:r>
                    </a:p>
                  </a:txBody>
                  <a:tcPr marL="68580" marR="68580" marT="0" marB="0" anchor="ct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41968183"/>
              </p:ext>
            </p:extLst>
          </p:nvPr>
        </p:nvGraphicFramePr>
        <p:xfrm>
          <a:off x="899591" y="3789040"/>
          <a:ext cx="7272809" cy="614928"/>
        </p:xfrm>
        <a:graphic>
          <a:graphicData uri="http://schemas.openxmlformats.org/drawingml/2006/table">
            <a:tbl>
              <a:tblPr firstRow="1" firstCol="1" bandRow="1">
                <a:tableStyleId>{9D7B26C5-4107-4FEC-AEDC-1716B250A1EF}</a:tableStyleId>
              </a:tblPr>
              <a:tblGrid>
                <a:gridCol w="1860264"/>
                <a:gridCol w="398543"/>
                <a:gridCol w="5014002"/>
              </a:tblGrid>
              <a:tr h="614928">
                <a:tc>
                  <a:txBody>
                    <a:bodyPr/>
                    <a:lstStyle/>
                    <a:p>
                      <a:pPr marL="0" algn="ctr" defTabSz="914400" rtl="0" eaLnBrk="1" latinLnBrk="0" hangingPunct="1">
                        <a:spcAft>
                          <a:spcPts val="0"/>
                        </a:spcAft>
                      </a:pPr>
                      <a:r>
                        <a:rPr lang="zh-CN" sz="1200" b="1" kern="100" dirty="0">
                          <a:solidFill>
                            <a:schemeClr val="tx1"/>
                          </a:solidFill>
                          <a:effectLst/>
                          <a:latin typeface="微软雅黑" pitchFamily="34" charset="-122"/>
                          <a:ea typeface="微软雅黑" pitchFamily="34" charset="-122"/>
                          <a:cs typeface="+mn-cs"/>
                        </a:rPr>
                        <a:t>单店分析</a:t>
                      </a:r>
                    </a:p>
                  </a:txBody>
                  <a:tcPr marL="68580" marR="68580" marT="0" marB="0" anchor="ctr"/>
                </a:tc>
                <a:tc>
                  <a:txBody>
                    <a:bodyPr/>
                    <a:lstStyle/>
                    <a:p>
                      <a:pPr marL="0" algn="just" defTabSz="914400" rtl="0" eaLnBrk="1" latinLnBrk="0" hangingPunct="1">
                        <a:spcAft>
                          <a:spcPts val="0"/>
                        </a:spcAft>
                      </a:pPr>
                      <a:r>
                        <a:rPr lang="en-US" sz="1200" b="1" kern="100" dirty="0">
                          <a:solidFill>
                            <a:schemeClr val="tx1"/>
                          </a:solidFill>
                          <a:effectLst/>
                          <a:latin typeface="微软雅黑" pitchFamily="34" charset="-122"/>
                          <a:ea typeface="微软雅黑" pitchFamily="34" charset="-122"/>
                          <a:cs typeface="+mn-cs"/>
                        </a:rPr>
                        <a:t> </a:t>
                      </a:r>
                      <a:endParaRPr lang="zh-CN" sz="1200" b="1" kern="100" dirty="0">
                        <a:solidFill>
                          <a:schemeClr val="tx1"/>
                        </a:solidFill>
                        <a:effectLst/>
                        <a:latin typeface="微软雅黑" pitchFamily="34" charset="-122"/>
                        <a:ea typeface="微软雅黑" pitchFamily="34" charset="-122"/>
                        <a:cs typeface="+mn-cs"/>
                      </a:endParaRPr>
                    </a:p>
                  </a:txBody>
                  <a:tcPr marL="68580" marR="68580" marT="0" marB="0" anchor="ctr"/>
                </a:tc>
                <a:tc>
                  <a:txBody>
                    <a:bodyPr/>
                    <a:lstStyle/>
                    <a:p>
                      <a:pPr marL="0" algn="just" defTabSz="914400" rtl="0" eaLnBrk="1" latinLnBrk="0" hangingPunct="1">
                        <a:spcAft>
                          <a:spcPts val="0"/>
                        </a:spcAft>
                      </a:pPr>
                      <a:r>
                        <a:rPr lang="zh-CN" sz="1200" b="1" kern="100" dirty="0">
                          <a:solidFill>
                            <a:schemeClr val="tx1"/>
                          </a:solidFill>
                          <a:effectLst/>
                          <a:latin typeface="微软雅黑" pitchFamily="34" charset="-122"/>
                          <a:ea typeface="微软雅黑" pitchFamily="34" charset="-122"/>
                          <a:cs typeface="+mn-cs"/>
                        </a:rPr>
                        <a:t>针对重点店铺做细致分析，包括新旧款占比、品类占比等</a:t>
                      </a:r>
                    </a:p>
                  </a:txBody>
                  <a:tcPr marL="68580" marR="68580" marT="0" marB="0" anchor="ct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4242547296"/>
              </p:ext>
            </p:extLst>
          </p:nvPr>
        </p:nvGraphicFramePr>
        <p:xfrm>
          <a:off x="899591" y="4686280"/>
          <a:ext cx="7272808" cy="657860"/>
        </p:xfrm>
        <a:graphic>
          <a:graphicData uri="http://schemas.openxmlformats.org/drawingml/2006/table">
            <a:tbl>
              <a:tblPr firstRow="1" firstCol="1" bandRow="1">
                <a:tableStyleId>{9D7B26C5-4107-4FEC-AEDC-1716B250A1EF}</a:tableStyleId>
              </a:tblPr>
              <a:tblGrid>
                <a:gridCol w="1860264"/>
                <a:gridCol w="398543"/>
                <a:gridCol w="5014001"/>
              </a:tblGrid>
              <a:tr h="657860">
                <a:tc>
                  <a:txBody>
                    <a:bodyPr/>
                    <a:lstStyle/>
                    <a:p>
                      <a:pPr marL="0" algn="ctr" defTabSz="914400" rtl="0" eaLnBrk="1" latinLnBrk="0" hangingPunct="1">
                        <a:spcAft>
                          <a:spcPts val="0"/>
                        </a:spcAft>
                      </a:pPr>
                      <a:r>
                        <a:rPr lang="zh-CN" sz="1200" b="1" kern="100" dirty="0">
                          <a:solidFill>
                            <a:schemeClr val="tx1"/>
                          </a:solidFill>
                          <a:effectLst/>
                          <a:latin typeface="微软雅黑" pitchFamily="34" charset="-122"/>
                          <a:ea typeface="微软雅黑" pitchFamily="34" charset="-122"/>
                          <a:cs typeface="+mn-cs"/>
                        </a:rPr>
                        <a:t>商品分析</a:t>
                      </a:r>
                    </a:p>
                  </a:txBody>
                  <a:tcPr marL="68580" marR="68580" marT="0" marB="0" anchor="ctr"/>
                </a:tc>
                <a:tc>
                  <a:txBody>
                    <a:bodyPr/>
                    <a:lstStyle/>
                    <a:p>
                      <a:pPr marL="0" algn="ctr" defTabSz="914400" rtl="0" eaLnBrk="1" latinLnBrk="0" hangingPunct="1">
                        <a:spcAft>
                          <a:spcPts val="0"/>
                        </a:spcAft>
                      </a:pPr>
                      <a:r>
                        <a:rPr lang="en-US" sz="1200" b="1" kern="100" dirty="0">
                          <a:solidFill>
                            <a:schemeClr val="tx1"/>
                          </a:solidFill>
                          <a:effectLst/>
                          <a:latin typeface="微软雅黑" pitchFamily="34" charset="-122"/>
                          <a:ea typeface="微软雅黑" pitchFamily="34" charset="-122"/>
                          <a:cs typeface="+mn-cs"/>
                        </a:rPr>
                        <a:t> </a:t>
                      </a:r>
                      <a:endParaRPr lang="zh-CN" sz="1200" b="1" kern="100" dirty="0">
                        <a:solidFill>
                          <a:schemeClr val="tx1"/>
                        </a:solidFill>
                        <a:effectLst/>
                        <a:latin typeface="微软雅黑" pitchFamily="34" charset="-122"/>
                        <a:ea typeface="微软雅黑" pitchFamily="34" charset="-122"/>
                        <a:cs typeface="+mn-cs"/>
                      </a:endParaRPr>
                    </a:p>
                  </a:txBody>
                  <a:tcPr marL="68580" marR="68580" marT="0" marB="0" anchor="ctr"/>
                </a:tc>
                <a:tc>
                  <a:txBody>
                    <a:bodyPr/>
                    <a:lstStyle/>
                    <a:p>
                      <a:pPr marL="0" algn="just" defTabSz="914400" rtl="0" eaLnBrk="1" latinLnBrk="0" hangingPunct="1">
                        <a:spcAft>
                          <a:spcPts val="0"/>
                        </a:spcAft>
                      </a:pPr>
                      <a:r>
                        <a:rPr lang="zh-CN" sz="1200" b="1" kern="100" dirty="0">
                          <a:solidFill>
                            <a:schemeClr val="tx1"/>
                          </a:solidFill>
                          <a:effectLst/>
                          <a:latin typeface="微软雅黑" pitchFamily="34" charset="-122"/>
                          <a:ea typeface="微软雅黑" pitchFamily="34" charset="-122"/>
                          <a:cs typeface="+mn-cs"/>
                        </a:rPr>
                        <a:t>了解各品类商品畅、滞销款式的状况以及整体库存较少或较多商品的状况，结合店铺陈列和商品的库存做经营分析，确定下一步的货品调整方案</a:t>
                      </a:r>
                    </a:p>
                  </a:txBody>
                  <a:tcPr marL="68580" marR="68580" marT="0" marB="0" anchor="ctr"/>
                </a:tc>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49239917"/>
              </p:ext>
            </p:extLst>
          </p:nvPr>
        </p:nvGraphicFramePr>
        <p:xfrm>
          <a:off x="899592" y="5622384"/>
          <a:ext cx="7272808" cy="614928"/>
        </p:xfrm>
        <a:graphic>
          <a:graphicData uri="http://schemas.openxmlformats.org/drawingml/2006/table">
            <a:tbl>
              <a:tblPr firstRow="1" firstCol="1" bandRow="1">
                <a:tableStyleId>{9D7B26C5-4107-4FEC-AEDC-1716B250A1EF}</a:tableStyleId>
              </a:tblPr>
              <a:tblGrid>
                <a:gridCol w="1878682"/>
                <a:gridCol w="402489"/>
                <a:gridCol w="4991637"/>
              </a:tblGrid>
              <a:tr h="614928">
                <a:tc>
                  <a:txBody>
                    <a:bodyPr/>
                    <a:lstStyle/>
                    <a:p>
                      <a:pPr marL="0" algn="ctr" defTabSz="914400" rtl="0" eaLnBrk="1" latinLnBrk="0" hangingPunct="1">
                        <a:spcAft>
                          <a:spcPts val="0"/>
                        </a:spcAft>
                      </a:pPr>
                      <a:r>
                        <a:rPr lang="zh-CN" sz="1200" b="1" kern="100" dirty="0">
                          <a:solidFill>
                            <a:schemeClr val="tx1"/>
                          </a:solidFill>
                          <a:effectLst/>
                          <a:latin typeface="微软雅黑" pitchFamily="34" charset="-122"/>
                          <a:ea typeface="微软雅黑" pitchFamily="34" charset="-122"/>
                          <a:cs typeface="+mn-cs"/>
                        </a:rPr>
                        <a:t>促销状况分析</a:t>
                      </a:r>
                    </a:p>
                  </a:txBody>
                  <a:tcPr marL="68580" marR="68580" marT="0" marB="0" anchor="ctr"/>
                </a:tc>
                <a:tc>
                  <a:txBody>
                    <a:bodyPr/>
                    <a:lstStyle/>
                    <a:p>
                      <a:pPr marL="0" algn="just" defTabSz="914400" rtl="0" eaLnBrk="1" latinLnBrk="0" hangingPunct="1">
                        <a:spcAft>
                          <a:spcPts val="0"/>
                        </a:spcAft>
                      </a:pPr>
                      <a:r>
                        <a:rPr lang="en-US" sz="1200" b="1" kern="100" dirty="0">
                          <a:solidFill>
                            <a:schemeClr val="tx1"/>
                          </a:solidFill>
                          <a:effectLst/>
                          <a:latin typeface="微软雅黑" pitchFamily="34" charset="-122"/>
                          <a:ea typeface="微软雅黑" pitchFamily="34" charset="-122"/>
                          <a:cs typeface="+mn-cs"/>
                        </a:rPr>
                        <a:t> </a:t>
                      </a:r>
                      <a:endParaRPr lang="zh-CN" sz="1200" b="1" kern="100" dirty="0">
                        <a:solidFill>
                          <a:schemeClr val="tx1"/>
                        </a:solidFill>
                        <a:effectLst/>
                        <a:latin typeface="微软雅黑" pitchFamily="34" charset="-122"/>
                        <a:ea typeface="微软雅黑" pitchFamily="34" charset="-122"/>
                        <a:cs typeface="+mn-cs"/>
                      </a:endParaRPr>
                    </a:p>
                  </a:txBody>
                  <a:tcPr marL="68580" marR="68580" marT="0" marB="0" anchor="ctr"/>
                </a:tc>
                <a:tc>
                  <a:txBody>
                    <a:bodyPr/>
                    <a:lstStyle/>
                    <a:p>
                      <a:pPr marL="0" algn="just" defTabSz="914400" rtl="0" eaLnBrk="1" latinLnBrk="0" hangingPunct="1">
                        <a:spcAft>
                          <a:spcPts val="0"/>
                        </a:spcAft>
                      </a:pPr>
                      <a:r>
                        <a:rPr lang="zh-CN" sz="1200" b="1" kern="100" dirty="0">
                          <a:solidFill>
                            <a:schemeClr val="tx1"/>
                          </a:solidFill>
                          <a:effectLst/>
                          <a:latin typeface="微软雅黑" pitchFamily="34" charset="-122"/>
                          <a:ea typeface="微软雅黑" pitchFamily="34" charset="-122"/>
                          <a:cs typeface="+mn-cs"/>
                        </a:rPr>
                        <a:t>针对前期举行的促销活动，进行活动的效果分析，找出优势与不足。</a:t>
                      </a:r>
                    </a:p>
                  </a:txBody>
                  <a:tcPr marL="68580" marR="68580" marT="0" marB="0" anchor="ctr"/>
                </a:tc>
              </a:tr>
            </a:tbl>
          </a:graphicData>
        </a:graphic>
      </p:graphicFrame>
      <p:sp>
        <p:nvSpPr>
          <p:cNvPr id="9" name="TextBox 8"/>
          <p:cNvSpPr txBox="1"/>
          <p:nvPr/>
        </p:nvSpPr>
        <p:spPr>
          <a:xfrm>
            <a:off x="899592" y="852615"/>
            <a:ext cx="1440160" cy="369332"/>
          </a:xfrm>
          <a:prstGeom prst="rect">
            <a:avLst/>
          </a:prstGeom>
          <a:noFill/>
        </p:spPr>
        <p:txBody>
          <a:bodyPr wrap="square" rtlCol="0">
            <a:spAutoFit/>
          </a:bodyPr>
          <a:lstStyle/>
          <a:p>
            <a:r>
              <a:rPr lang="zh-CN" altLang="en-US" b="1" dirty="0" smtClean="0">
                <a:latin typeface="微软雅黑" pitchFamily="34" charset="-122"/>
                <a:ea typeface="微软雅黑" pitchFamily="34" charset="-122"/>
              </a:rPr>
              <a:t>流程说明：</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337853073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368152" cy="369332"/>
          </a:xfrm>
          <a:prstGeom prst="rect">
            <a:avLst/>
          </a:prstGeom>
          <a:noFill/>
        </p:spPr>
        <p:txBody>
          <a:bodyPr wrap="square" rtlCol="0">
            <a:spAutoFit/>
          </a:bodyPr>
          <a:lstStyle/>
          <a:p>
            <a:r>
              <a:rPr lang="zh-CN" altLang="zh-CN" dirty="0">
                <a:latin typeface="微软雅黑" pitchFamily="34" charset="-122"/>
                <a:ea typeface="微软雅黑" pitchFamily="34" charset="-122"/>
              </a:rPr>
              <a:t>调货</a:t>
            </a:r>
            <a:r>
              <a:rPr lang="zh-CN"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归货</a:t>
            </a:r>
            <a:r>
              <a:rPr lang="zh-CN" altLang="zh-CN" dirty="0" smtClean="0">
                <a:latin typeface="微软雅黑" pitchFamily="34" charset="-122"/>
                <a:ea typeface="微软雅黑" pitchFamily="34" charset="-122"/>
              </a:rPr>
              <a:t>）</a:t>
            </a:r>
            <a:endParaRPr lang="zh-CN" altLang="en-US" dirty="0">
              <a:latin typeface="微软雅黑" pitchFamily="34" charset="-122"/>
              <a:ea typeface="微软雅黑" pitchFamily="34" charset="-122"/>
            </a:endParaRPr>
          </a:p>
        </p:txBody>
      </p:sp>
      <p:sp>
        <p:nvSpPr>
          <p:cNvPr id="5" name="TextBox 4"/>
          <p:cNvSpPr txBox="1"/>
          <p:nvPr/>
        </p:nvSpPr>
        <p:spPr>
          <a:xfrm>
            <a:off x="827584" y="1484784"/>
            <a:ext cx="2520280" cy="369332"/>
          </a:xfrm>
          <a:prstGeom prst="rect">
            <a:avLst/>
          </a:prstGeom>
          <a:noFill/>
        </p:spPr>
        <p:txBody>
          <a:bodyPr wrap="square" rtlCol="0">
            <a:spAutoFit/>
          </a:bodyPr>
          <a:lstStyle/>
          <a:p>
            <a:r>
              <a:rPr lang="zh-CN" altLang="zh-CN" dirty="0">
                <a:latin typeface="微软雅黑" pitchFamily="34" charset="-122"/>
                <a:ea typeface="微软雅黑" pitchFamily="34" charset="-122"/>
              </a:rPr>
              <a:t>调货（</a:t>
            </a:r>
            <a:r>
              <a:rPr lang="zh-CN" altLang="en-US" dirty="0">
                <a:latin typeface="微软雅黑" pitchFamily="34" charset="-122"/>
                <a:ea typeface="微软雅黑" pitchFamily="34" charset="-122"/>
              </a:rPr>
              <a:t>归货</a:t>
            </a:r>
            <a:r>
              <a:rPr lang="zh-CN"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的目的：</a:t>
            </a:r>
            <a:endParaRPr lang="zh-CN" altLang="en-US" dirty="0">
              <a:latin typeface="微软雅黑" pitchFamily="34" charset="-122"/>
              <a:ea typeface="微软雅黑" pitchFamily="34" charset="-122"/>
            </a:endParaRPr>
          </a:p>
        </p:txBody>
      </p:sp>
      <p:sp>
        <p:nvSpPr>
          <p:cNvPr id="6" name="矩形 5"/>
          <p:cNvSpPr/>
          <p:nvPr/>
        </p:nvSpPr>
        <p:spPr>
          <a:xfrm>
            <a:off x="1453952" y="2636912"/>
            <a:ext cx="6480720" cy="2224776"/>
          </a:xfrm>
          <a:prstGeom prst="rect">
            <a:avLst/>
          </a:prstGeom>
        </p:spPr>
        <p:txBody>
          <a:bodyPr wrap="square">
            <a:spAutoFit/>
          </a:bodyPr>
          <a:lstStyle/>
          <a:p>
            <a:pPr>
              <a:lnSpc>
                <a:spcPct val="200000"/>
              </a:lnSpc>
            </a:pPr>
            <a:r>
              <a:rPr lang="en-US" altLang="zh-CN" dirty="0" smtClean="0">
                <a:latin typeface="微软雅黑" pitchFamily="34" charset="-122"/>
                <a:ea typeface="微软雅黑" pitchFamily="34" charset="-122"/>
              </a:rPr>
              <a:t>         </a:t>
            </a:r>
            <a:r>
              <a:rPr lang="zh-CN" altLang="zh-CN" dirty="0" smtClean="0">
                <a:latin typeface="微软雅黑" pitchFamily="34" charset="-122"/>
                <a:ea typeface="微软雅黑" pitchFamily="34" charset="-122"/>
              </a:rPr>
              <a:t>商品</a:t>
            </a:r>
            <a:r>
              <a:rPr lang="zh-CN" altLang="zh-CN" dirty="0">
                <a:latin typeface="微软雅黑" pitchFamily="34" charset="-122"/>
                <a:ea typeface="微软雅黑" pitchFamily="34" charset="-122"/>
              </a:rPr>
              <a:t>规整是弥补在产品分配不合理时的补救措施之一，是商品产生二次销售机会的主要途径，同时也是在商品销售过程中加速商品消化速度的重要手段，商品整合是商品管理工作核心工作之一</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614546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368152" cy="369332"/>
          </a:xfrm>
          <a:prstGeom prst="rect">
            <a:avLst/>
          </a:prstGeom>
          <a:noFill/>
        </p:spPr>
        <p:txBody>
          <a:bodyPr wrap="square" rtlCol="0">
            <a:spAutoFit/>
          </a:bodyPr>
          <a:lstStyle/>
          <a:p>
            <a:r>
              <a:rPr lang="zh-CN" altLang="zh-CN" dirty="0">
                <a:latin typeface="微软雅黑" pitchFamily="34" charset="-122"/>
                <a:ea typeface="微软雅黑" pitchFamily="34" charset="-122"/>
              </a:rPr>
              <a:t>调货</a:t>
            </a:r>
            <a:r>
              <a:rPr lang="zh-CN"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归货</a:t>
            </a:r>
            <a:r>
              <a:rPr lang="zh-CN" altLang="zh-CN" dirty="0" smtClean="0">
                <a:latin typeface="微软雅黑" pitchFamily="34" charset="-122"/>
                <a:ea typeface="微软雅黑" pitchFamily="34" charset="-122"/>
              </a:rPr>
              <a:t>）</a:t>
            </a:r>
            <a:endParaRPr lang="zh-CN" altLang="en-US" dirty="0">
              <a:latin typeface="微软雅黑" pitchFamily="34" charset="-122"/>
              <a:ea typeface="微软雅黑" pitchFamily="34" charset="-122"/>
            </a:endParaRPr>
          </a:p>
        </p:txBody>
      </p:sp>
      <p:sp>
        <p:nvSpPr>
          <p:cNvPr id="3" name="TextBox 2"/>
          <p:cNvSpPr txBox="1"/>
          <p:nvPr/>
        </p:nvSpPr>
        <p:spPr>
          <a:xfrm>
            <a:off x="827584" y="1412776"/>
            <a:ext cx="2520280" cy="369332"/>
          </a:xfrm>
          <a:prstGeom prst="rect">
            <a:avLst/>
          </a:prstGeom>
          <a:noFill/>
        </p:spPr>
        <p:txBody>
          <a:bodyPr wrap="square" rtlCol="0">
            <a:spAutoFit/>
          </a:bodyPr>
          <a:lstStyle/>
          <a:p>
            <a:r>
              <a:rPr lang="zh-CN" altLang="zh-CN" dirty="0">
                <a:latin typeface="微软雅黑" pitchFamily="34" charset="-122"/>
                <a:ea typeface="微软雅黑" pitchFamily="34" charset="-122"/>
              </a:rPr>
              <a:t>调货（</a:t>
            </a:r>
            <a:r>
              <a:rPr lang="zh-CN" altLang="en-US" dirty="0">
                <a:latin typeface="微软雅黑" pitchFamily="34" charset="-122"/>
                <a:ea typeface="微软雅黑" pitchFamily="34" charset="-122"/>
              </a:rPr>
              <a:t>归货</a:t>
            </a:r>
            <a:r>
              <a:rPr lang="zh-CN"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的类型：</a:t>
            </a:r>
            <a:endParaRPr lang="zh-CN" altLang="en-US" dirty="0">
              <a:latin typeface="微软雅黑" pitchFamily="34" charset="-122"/>
              <a:ea typeface="微软雅黑" pitchFamily="34" charset="-122"/>
            </a:endParaRPr>
          </a:p>
        </p:txBody>
      </p:sp>
      <p:sp>
        <p:nvSpPr>
          <p:cNvPr id="5" name="矩形 4"/>
          <p:cNvSpPr/>
          <p:nvPr/>
        </p:nvSpPr>
        <p:spPr>
          <a:xfrm>
            <a:off x="1763688" y="2060848"/>
            <a:ext cx="6192688" cy="338554"/>
          </a:xfrm>
          <a:prstGeom prst="rect">
            <a:avLst/>
          </a:prstGeom>
        </p:spPr>
        <p:txBody>
          <a:bodyPr wrap="square">
            <a:spAutoFit/>
          </a:bodyPr>
          <a:lstStyle/>
          <a:p>
            <a:r>
              <a:rPr lang="zh-CN" altLang="zh-CN" sz="1600" dirty="0">
                <a:latin typeface="微软雅黑" pitchFamily="34" charset="-122"/>
                <a:ea typeface="微软雅黑" pitchFamily="34" charset="-122"/>
              </a:rPr>
              <a:t>区域之间自行调货（由店长、片管一地多店铺的之间货品调拔）</a:t>
            </a:r>
            <a:endParaRPr lang="zh-CN" altLang="en-US" sz="1600" dirty="0">
              <a:latin typeface="微软雅黑" pitchFamily="34" charset="-122"/>
              <a:ea typeface="微软雅黑" pitchFamily="34" charset="-122"/>
            </a:endParaRPr>
          </a:p>
        </p:txBody>
      </p:sp>
      <p:sp>
        <p:nvSpPr>
          <p:cNvPr id="7" name="TextBox 6"/>
          <p:cNvSpPr txBox="1"/>
          <p:nvPr/>
        </p:nvSpPr>
        <p:spPr>
          <a:xfrm>
            <a:off x="1763688" y="3068960"/>
            <a:ext cx="2736304"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公司做货品整合的调货</a:t>
            </a:r>
            <a:endParaRPr lang="zh-CN" altLang="en-US" dirty="0">
              <a:latin typeface="微软雅黑" pitchFamily="34" charset="-122"/>
              <a:ea typeface="微软雅黑" pitchFamily="34" charset="-122"/>
            </a:endParaRPr>
          </a:p>
        </p:txBody>
      </p:sp>
      <p:sp>
        <p:nvSpPr>
          <p:cNvPr id="8" name="TextBox 7"/>
          <p:cNvSpPr txBox="1"/>
          <p:nvPr/>
        </p:nvSpPr>
        <p:spPr>
          <a:xfrm>
            <a:off x="827584" y="4077072"/>
            <a:ext cx="2520280" cy="369332"/>
          </a:xfrm>
          <a:prstGeom prst="rect">
            <a:avLst/>
          </a:prstGeom>
          <a:noFill/>
        </p:spPr>
        <p:txBody>
          <a:bodyPr wrap="square" rtlCol="0">
            <a:spAutoFit/>
          </a:bodyPr>
          <a:lstStyle/>
          <a:p>
            <a:r>
              <a:rPr lang="zh-CN" altLang="zh-CN" dirty="0">
                <a:latin typeface="微软雅黑" pitchFamily="34" charset="-122"/>
                <a:ea typeface="微软雅黑" pitchFamily="34" charset="-122"/>
              </a:rPr>
              <a:t>调货（</a:t>
            </a:r>
            <a:r>
              <a:rPr lang="zh-CN" altLang="en-US" dirty="0">
                <a:latin typeface="微软雅黑" pitchFamily="34" charset="-122"/>
                <a:ea typeface="微软雅黑" pitchFamily="34" charset="-122"/>
              </a:rPr>
              <a:t>归货</a:t>
            </a:r>
            <a:r>
              <a:rPr lang="zh-CN"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的原则：</a:t>
            </a:r>
            <a:endParaRPr lang="zh-CN" altLang="en-US" dirty="0">
              <a:latin typeface="微软雅黑" pitchFamily="34" charset="-122"/>
              <a:ea typeface="微软雅黑" pitchFamily="34" charset="-122"/>
            </a:endParaRPr>
          </a:p>
        </p:txBody>
      </p:sp>
      <p:sp>
        <p:nvSpPr>
          <p:cNvPr id="9" name="矩形 8"/>
          <p:cNvSpPr/>
          <p:nvPr/>
        </p:nvSpPr>
        <p:spPr>
          <a:xfrm>
            <a:off x="1691680" y="4941168"/>
            <a:ext cx="5904656" cy="646331"/>
          </a:xfrm>
          <a:prstGeom prst="rect">
            <a:avLst/>
          </a:prstGeom>
        </p:spPr>
        <p:txBody>
          <a:bodyPr wrap="square">
            <a:spAutoFit/>
          </a:bodyPr>
          <a:lstStyle/>
          <a:p>
            <a:r>
              <a:rPr lang="zh-CN" altLang="zh-CN" b="1" dirty="0">
                <a:latin typeface="微软雅黑" pitchFamily="34" charset="-122"/>
                <a:ea typeface="微软雅黑" pitchFamily="34" charset="-122"/>
              </a:rPr>
              <a:t>先进行同区域内店铺之间的调货，再进行跨区域店铺之间的调货</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145927919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368152" cy="369332"/>
          </a:xfrm>
          <a:prstGeom prst="rect">
            <a:avLst/>
          </a:prstGeom>
          <a:noFill/>
        </p:spPr>
        <p:txBody>
          <a:bodyPr wrap="square" rtlCol="0">
            <a:spAutoFit/>
          </a:bodyPr>
          <a:lstStyle/>
          <a:p>
            <a:r>
              <a:rPr lang="zh-CN" altLang="zh-CN" dirty="0">
                <a:latin typeface="微软雅黑" pitchFamily="34" charset="-122"/>
                <a:ea typeface="微软雅黑" pitchFamily="34" charset="-122"/>
              </a:rPr>
              <a:t>调货</a:t>
            </a:r>
            <a:r>
              <a:rPr lang="zh-CN"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归货</a:t>
            </a:r>
            <a:r>
              <a:rPr lang="zh-CN" altLang="zh-CN" dirty="0" smtClean="0">
                <a:latin typeface="微软雅黑" pitchFamily="34" charset="-122"/>
                <a:ea typeface="微软雅黑" pitchFamily="34" charset="-122"/>
              </a:rPr>
              <a:t>）</a:t>
            </a:r>
            <a:endParaRPr lang="zh-CN" altLang="en-US" dirty="0">
              <a:latin typeface="微软雅黑" pitchFamily="34" charset="-122"/>
              <a:ea typeface="微软雅黑" pitchFamily="34" charset="-122"/>
            </a:endParaRPr>
          </a:p>
        </p:txBody>
      </p:sp>
      <p:sp>
        <p:nvSpPr>
          <p:cNvPr id="3" name="TextBox 2"/>
          <p:cNvSpPr txBox="1"/>
          <p:nvPr/>
        </p:nvSpPr>
        <p:spPr>
          <a:xfrm>
            <a:off x="827584" y="1124744"/>
            <a:ext cx="2520280" cy="369332"/>
          </a:xfrm>
          <a:prstGeom prst="rect">
            <a:avLst/>
          </a:prstGeom>
          <a:noFill/>
        </p:spPr>
        <p:txBody>
          <a:bodyPr wrap="square" rtlCol="0">
            <a:spAutoFit/>
          </a:bodyPr>
          <a:lstStyle/>
          <a:p>
            <a:r>
              <a:rPr lang="zh-CN" altLang="zh-CN" dirty="0">
                <a:latin typeface="微软雅黑" pitchFamily="34" charset="-122"/>
                <a:ea typeface="微软雅黑" pitchFamily="34" charset="-122"/>
              </a:rPr>
              <a:t>调货（</a:t>
            </a:r>
            <a:r>
              <a:rPr lang="zh-CN" altLang="en-US" dirty="0">
                <a:latin typeface="微软雅黑" pitchFamily="34" charset="-122"/>
                <a:ea typeface="微软雅黑" pitchFamily="34" charset="-122"/>
              </a:rPr>
              <a:t>归货</a:t>
            </a:r>
            <a:r>
              <a:rPr lang="zh-CN"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的标准：</a:t>
            </a:r>
            <a:endParaRPr lang="zh-CN" altLang="en-US" dirty="0">
              <a:latin typeface="微软雅黑" pitchFamily="34" charset="-122"/>
              <a:ea typeface="微软雅黑" pitchFamily="34" charset="-122"/>
            </a:endParaRPr>
          </a:p>
        </p:txBody>
      </p:sp>
      <p:sp>
        <p:nvSpPr>
          <p:cNvPr id="4" name="矩形 3"/>
          <p:cNvSpPr/>
          <p:nvPr/>
        </p:nvSpPr>
        <p:spPr>
          <a:xfrm>
            <a:off x="1619672" y="2060848"/>
            <a:ext cx="5544616" cy="646331"/>
          </a:xfrm>
          <a:prstGeom prst="rect">
            <a:avLst/>
          </a:prstGeom>
        </p:spPr>
        <p:txBody>
          <a:bodyPr wrap="square">
            <a:spAutoFit/>
          </a:bodyPr>
          <a:lstStyle/>
          <a:p>
            <a:r>
              <a:rPr lang="zh-CN" altLang="zh-CN" dirty="0">
                <a:latin typeface="微软雅黑" pitchFamily="34" charset="-122"/>
                <a:ea typeface="微软雅黑" pitchFamily="34" charset="-122"/>
              </a:rPr>
              <a:t>铺货率比较高（单色款达到</a:t>
            </a:r>
            <a:r>
              <a:rPr lang="en-US" altLang="zh-CN" dirty="0">
                <a:latin typeface="微软雅黑" pitchFamily="34" charset="-122"/>
                <a:ea typeface="微软雅黑" pitchFamily="34" charset="-122"/>
              </a:rPr>
              <a:t>90%</a:t>
            </a:r>
            <a:r>
              <a:rPr lang="zh-CN" altLang="zh-CN" dirty="0">
                <a:latin typeface="微软雅黑" pitchFamily="34" charset="-122"/>
                <a:ea typeface="微软雅黑" pitchFamily="34" charset="-122"/>
              </a:rPr>
              <a:t>）仓库库存量少的发生断码现象</a:t>
            </a:r>
            <a:endParaRPr lang="zh-CN" altLang="en-US" dirty="0">
              <a:latin typeface="微软雅黑" pitchFamily="34" charset="-122"/>
              <a:ea typeface="微软雅黑" pitchFamily="34" charset="-122"/>
            </a:endParaRPr>
          </a:p>
        </p:txBody>
      </p:sp>
      <p:sp>
        <p:nvSpPr>
          <p:cNvPr id="5" name="矩形 4"/>
          <p:cNvSpPr/>
          <p:nvPr/>
        </p:nvSpPr>
        <p:spPr>
          <a:xfrm>
            <a:off x="1691680" y="3429000"/>
            <a:ext cx="5616624" cy="646331"/>
          </a:xfrm>
          <a:prstGeom prst="rect">
            <a:avLst/>
          </a:prstGeom>
        </p:spPr>
        <p:txBody>
          <a:bodyPr wrap="square">
            <a:spAutoFit/>
          </a:bodyPr>
          <a:lstStyle/>
          <a:p>
            <a:r>
              <a:rPr lang="zh-CN" altLang="zh-CN" dirty="0">
                <a:latin typeface="微软雅黑" pitchFamily="34" charset="-122"/>
                <a:ea typeface="微软雅黑" pitchFamily="34" charset="-122"/>
              </a:rPr>
              <a:t>仓库有货但区域内部分店铺销售好，部分店铺销售</a:t>
            </a:r>
            <a:r>
              <a:rPr lang="zh-CN" altLang="zh-CN" dirty="0" smtClean="0">
                <a:latin typeface="微软雅黑" pitchFamily="34" charset="-122"/>
                <a:ea typeface="微软雅黑" pitchFamily="34" charset="-122"/>
              </a:rPr>
              <a:t>差的，</a:t>
            </a:r>
            <a:r>
              <a:rPr lang="zh-CN" altLang="zh-CN" dirty="0">
                <a:latin typeface="微软雅黑" pitchFamily="34" charset="-122"/>
                <a:ea typeface="微软雅黑" pitchFamily="34" charset="-122"/>
              </a:rPr>
              <a:t>做货品整合调拔</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45927919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368152" cy="369332"/>
          </a:xfrm>
          <a:prstGeom prst="rect">
            <a:avLst/>
          </a:prstGeom>
          <a:noFill/>
        </p:spPr>
        <p:txBody>
          <a:bodyPr wrap="square" rtlCol="0">
            <a:spAutoFit/>
          </a:bodyPr>
          <a:lstStyle/>
          <a:p>
            <a:r>
              <a:rPr lang="zh-CN" altLang="zh-CN" dirty="0">
                <a:latin typeface="微软雅黑" pitchFamily="34" charset="-122"/>
                <a:ea typeface="微软雅黑" pitchFamily="34" charset="-122"/>
              </a:rPr>
              <a:t>调货</a:t>
            </a:r>
            <a:r>
              <a:rPr lang="zh-CN"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归货</a:t>
            </a:r>
            <a:r>
              <a:rPr lang="zh-CN" altLang="zh-CN" dirty="0" smtClean="0">
                <a:latin typeface="微软雅黑" pitchFamily="34" charset="-122"/>
                <a:ea typeface="微软雅黑" pitchFamily="34" charset="-122"/>
              </a:rPr>
              <a:t>）</a:t>
            </a:r>
            <a:endParaRPr lang="zh-CN" altLang="en-US" dirty="0">
              <a:latin typeface="微软雅黑" pitchFamily="34" charset="-122"/>
              <a:ea typeface="微软雅黑" pitchFamily="34" charset="-122"/>
            </a:endParaRPr>
          </a:p>
        </p:txBody>
      </p:sp>
      <p:sp>
        <p:nvSpPr>
          <p:cNvPr id="4" name="TextBox 3"/>
          <p:cNvSpPr txBox="1"/>
          <p:nvPr/>
        </p:nvSpPr>
        <p:spPr>
          <a:xfrm>
            <a:off x="815863" y="755412"/>
            <a:ext cx="2520280" cy="369332"/>
          </a:xfrm>
          <a:prstGeom prst="rect">
            <a:avLst/>
          </a:prstGeom>
          <a:noFill/>
        </p:spPr>
        <p:txBody>
          <a:bodyPr wrap="square" rtlCol="0">
            <a:spAutoFit/>
          </a:bodyPr>
          <a:lstStyle/>
          <a:p>
            <a:r>
              <a:rPr lang="zh-CN" altLang="zh-CN" dirty="0">
                <a:latin typeface="微软雅黑" pitchFamily="34" charset="-122"/>
                <a:ea typeface="微软雅黑" pitchFamily="34" charset="-122"/>
              </a:rPr>
              <a:t>调货（</a:t>
            </a:r>
            <a:r>
              <a:rPr lang="zh-CN" altLang="en-US" dirty="0">
                <a:latin typeface="微软雅黑" pitchFamily="34" charset="-122"/>
                <a:ea typeface="微软雅黑" pitchFamily="34" charset="-122"/>
              </a:rPr>
              <a:t>归货</a:t>
            </a:r>
            <a:r>
              <a:rPr lang="zh-CN"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的流程：</a:t>
            </a:r>
            <a:endParaRPr lang="zh-CN" altLang="en-US" dirty="0">
              <a:latin typeface="微软雅黑" pitchFamily="34" charset="-122"/>
              <a:ea typeface="微软雅黑" pitchFamily="34" charset="-122"/>
            </a:endParaRPr>
          </a:p>
        </p:txBody>
      </p:sp>
      <p:sp>
        <p:nvSpPr>
          <p:cNvPr id="5" name="TextBox 4"/>
          <p:cNvSpPr txBox="1"/>
          <p:nvPr/>
        </p:nvSpPr>
        <p:spPr>
          <a:xfrm>
            <a:off x="833368" y="1317252"/>
            <a:ext cx="6192688" cy="3905300"/>
          </a:xfrm>
          <a:prstGeom prst="rect">
            <a:avLst/>
          </a:prstGeom>
          <a:noFill/>
        </p:spPr>
        <p:txBody>
          <a:bodyPr wrap="square" rtlCol="0">
            <a:spAutoFit/>
          </a:bodyPr>
          <a:lstStyle/>
          <a:p>
            <a:pPr marL="342900" indent="-342900">
              <a:lnSpc>
                <a:spcPct val="200000"/>
              </a:lnSpc>
              <a:buFont typeface="+mj-lt"/>
              <a:buAutoNum type="arabicPeriod"/>
            </a:pPr>
            <a:r>
              <a:rPr lang="zh-CN" altLang="zh-CN" sz="1400" dirty="0">
                <a:latin typeface="微软雅黑" pitchFamily="34" charset="-122"/>
                <a:ea typeface="微软雅黑" pitchFamily="34" charset="-122"/>
              </a:rPr>
              <a:t>调货前首先制作一份《售罄率分析报表》，查看哪些款式产品近一周及近三周累计销售量大，店铺铺货率高（达到</a:t>
            </a:r>
            <a:r>
              <a:rPr lang="en-US" altLang="zh-CN" sz="1400" dirty="0">
                <a:latin typeface="微软雅黑" pitchFamily="34" charset="-122"/>
                <a:ea typeface="微软雅黑" pitchFamily="34" charset="-122"/>
              </a:rPr>
              <a:t>90%</a:t>
            </a:r>
            <a:r>
              <a:rPr lang="zh-CN" altLang="zh-CN" sz="1400" dirty="0">
                <a:latin typeface="微软雅黑" pitchFamily="34" charset="-122"/>
                <a:ea typeface="微软雅黑" pitchFamily="34" charset="-122"/>
              </a:rPr>
              <a:t>以上）且仓库无库存或库存量很少（单色款低于</a:t>
            </a:r>
            <a:r>
              <a:rPr lang="en-US" altLang="zh-CN" sz="1400" dirty="0">
                <a:latin typeface="微软雅黑" pitchFamily="34" charset="-122"/>
                <a:ea typeface="微软雅黑" pitchFamily="34" charset="-122"/>
              </a:rPr>
              <a:t>30</a:t>
            </a:r>
            <a:r>
              <a:rPr lang="zh-CN" altLang="zh-CN" sz="1400" dirty="0">
                <a:latin typeface="微软雅黑" pitchFamily="34" charset="-122"/>
                <a:ea typeface="微软雅黑" pitchFamily="34" charset="-122"/>
              </a:rPr>
              <a:t>件）的款式列为要做货品整合的</a:t>
            </a:r>
            <a:r>
              <a:rPr lang="zh-CN" altLang="zh-CN" sz="1400" dirty="0" smtClean="0">
                <a:latin typeface="微软雅黑" pitchFamily="34" charset="-122"/>
                <a:ea typeface="微软雅黑" pitchFamily="34" charset="-122"/>
              </a:rPr>
              <a:t>款式</a:t>
            </a:r>
            <a:endParaRPr lang="en-US" altLang="zh-CN" sz="1400" dirty="0" smtClean="0">
              <a:latin typeface="微软雅黑" pitchFamily="34" charset="-122"/>
              <a:ea typeface="微软雅黑" pitchFamily="34" charset="-122"/>
            </a:endParaRPr>
          </a:p>
          <a:p>
            <a:pPr marL="342900" indent="-342900">
              <a:lnSpc>
                <a:spcPct val="200000"/>
              </a:lnSpc>
              <a:buFont typeface="+mj-lt"/>
              <a:buAutoNum type="arabicPeriod"/>
            </a:pPr>
            <a:r>
              <a:rPr lang="zh-CN" altLang="zh-CN" sz="1400" dirty="0">
                <a:latin typeface="微软雅黑" pitchFamily="34" charset="-122"/>
                <a:ea typeface="微软雅黑" pitchFamily="34" charset="-122"/>
              </a:rPr>
              <a:t>然后制作《库存与销售分析报表》，查看哪些店铺销售量大库存量少的，且公司仓库没有货品补充的款式，需要做出货品整合调拔</a:t>
            </a:r>
            <a:r>
              <a:rPr lang="zh-CN" altLang="zh-CN" sz="1400" dirty="0" smtClean="0">
                <a:latin typeface="微软雅黑" pitchFamily="34" charset="-122"/>
                <a:ea typeface="微软雅黑" pitchFamily="34" charset="-122"/>
              </a:rPr>
              <a:t>计划</a:t>
            </a:r>
            <a:endParaRPr lang="en-US" altLang="zh-CN" sz="1400" dirty="0" smtClean="0">
              <a:latin typeface="微软雅黑" pitchFamily="34" charset="-122"/>
              <a:ea typeface="微软雅黑" pitchFamily="34" charset="-122"/>
            </a:endParaRPr>
          </a:p>
          <a:p>
            <a:pPr marL="342900" indent="-342900">
              <a:lnSpc>
                <a:spcPct val="200000"/>
              </a:lnSpc>
              <a:buFont typeface="+mj-lt"/>
              <a:buAutoNum type="arabicPeriod"/>
            </a:pPr>
            <a:r>
              <a:rPr lang="zh-CN" altLang="zh-CN" sz="1400" dirty="0">
                <a:latin typeface="微软雅黑" pitchFamily="34" charset="-122"/>
                <a:ea typeface="微软雅黑" pitchFamily="34" charset="-122"/>
              </a:rPr>
              <a:t>调货的原则是：销售量少的店铺往销售量大的店铺调，必须考虑运输时间及成本，优先在同区域内店铺互相调货，再考虑跨区域调</a:t>
            </a:r>
            <a:r>
              <a:rPr lang="zh-CN" altLang="zh-CN" sz="1400" dirty="0" smtClean="0">
                <a:latin typeface="微软雅黑" pitchFamily="34" charset="-122"/>
                <a:ea typeface="微软雅黑" pitchFamily="34" charset="-122"/>
              </a:rPr>
              <a:t>货</a:t>
            </a:r>
            <a:endParaRPr lang="en-US" altLang="zh-CN" sz="1400" dirty="0" smtClean="0">
              <a:latin typeface="微软雅黑" pitchFamily="34" charset="-122"/>
              <a:ea typeface="微软雅黑" pitchFamily="34" charset="-122"/>
            </a:endParaRPr>
          </a:p>
          <a:p>
            <a:pPr marL="342900" indent="-342900">
              <a:lnSpc>
                <a:spcPct val="200000"/>
              </a:lnSpc>
              <a:buFont typeface="+mj-lt"/>
              <a:buAutoNum type="arabicPeriod"/>
            </a:pPr>
            <a:r>
              <a:rPr lang="zh-CN" altLang="zh-CN" sz="1400" dirty="0">
                <a:latin typeface="微软雅黑" pitchFamily="34" charset="-122"/>
                <a:ea typeface="微软雅黑" pitchFamily="34" charset="-122"/>
              </a:rPr>
              <a:t>调货前需先与调往店铺的店长沟通要调货的款式及数量，然后再考虑到哪些店铺调货，避免所调的货品与店铺实际的需求不符</a:t>
            </a:r>
            <a:endParaRPr lang="zh-CN" altLang="en-US" sz="1400" dirty="0">
              <a:latin typeface="微软雅黑" pitchFamily="34" charset="-122"/>
              <a:ea typeface="微软雅黑" pitchFamily="34" charset="-122"/>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9140479"/>
              </p:ext>
            </p:extLst>
          </p:nvPr>
        </p:nvGraphicFramePr>
        <p:xfrm>
          <a:off x="5868144" y="5661273"/>
          <a:ext cx="1344116" cy="1008087"/>
        </p:xfrm>
        <a:graphic>
          <a:graphicData uri="http://schemas.openxmlformats.org/presentationml/2006/ole">
            <mc:AlternateContent xmlns:mc="http://schemas.openxmlformats.org/markup-compatibility/2006">
              <mc:Choice xmlns:v="urn:schemas-microsoft-com:vml" Requires="v">
                <p:oleObj spid="_x0000_s21606" name="工作表" showAsIcon="1" r:id="rId3" imgW="914400" imgH="685800" progId="Excel.Sheet.12">
                  <p:embed/>
                </p:oleObj>
              </mc:Choice>
              <mc:Fallback>
                <p:oleObj name="工作表" showAsIcon="1" r:id="rId3" imgW="914400" imgH="685800" progId="Excel.Sheet.12">
                  <p:embed/>
                  <p:pic>
                    <p:nvPicPr>
                      <p:cNvPr id="0" name=""/>
                      <p:cNvPicPr/>
                      <p:nvPr/>
                    </p:nvPicPr>
                    <p:blipFill>
                      <a:blip r:embed="rId4"/>
                      <a:stretch>
                        <a:fillRect/>
                      </a:stretch>
                    </p:blipFill>
                    <p:spPr>
                      <a:xfrm>
                        <a:off x="5868144" y="5661273"/>
                        <a:ext cx="1344116" cy="1008087"/>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965387153"/>
              </p:ext>
            </p:extLst>
          </p:nvPr>
        </p:nvGraphicFramePr>
        <p:xfrm>
          <a:off x="7380312" y="5661273"/>
          <a:ext cx="1296144" cy="972108"/>
        </p:xfrm>
        <a:graphic>
          <a:graphicData uri="http://schemas.openxmlformats.org/presentationml/2006/ole">
            <mc:AlternateContent xmlns:mc="http://schemas.openxmlformats.org/markup-compatibility/2006">
              <mc:Choice xmlns:v="urn:schemas-microsoft-com:vml" Requires="v">
                <p:oleObj spid="_x0000_s21607" name="工作表" showAsIcon="1" r:id="rId5" imgW="914400" imgH="685800" progId="Excel.Sheet.12">
                  <p:embed/>
                </p:oleObj>
              </mc:Choice>
              <mc:Fallback>
                <p:oleObj name="工作表" showAsIcon="1" r:id="rId5" imgW="914400" imgH="685800" progId="Excel.Sheet.12">
                  <p:embed/>
                  <p:pic>
                    <p:nvPicPr>
                      <p:cNvPr id="0" name=""/>
                      <p:cNvPicPr/>
                      <p:nvPr/>
                    </p:nvPicPr>
                    <p:blipFill>
                      <a:blip r:embed="rId6"/>
                      <a:stretch>
                        <a:fillRect/>
                      </a:stretch>
                    </p:blipFill>
                    <p:spPr>
                      <a:xfrm>
                        <a:off x="7380312" y="5661273"/>
                        <a:ext cx="1296144" cy="972108"/>
                      </a:xfrm>
                      <a:prstGeom prst="rect">
                        <a:avLst/>
                      </a:prstGeom>
                    </p:spPr>
                  </p:pic>
                </p:oleObj>
              </mc:Fallback>
            </mc:AlternateContent>
          </a:graphicData>
        </a:graphic>
      </p:graphicFrame>
    </p:spTree>
    <p:extLst>
      <p:ext uri="{BB962C8B-B14F-4D97-AF65-F5344CB8AC3E}">
        <p14:creationId xmlns:p14="http://schemas.microsoft.com/office/powerpoint/2010/main" val="145927919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368152" cy="369332"/>
          </a:xfrm>
          <a:prstGeom prst="rect">
            <a:avLst/>
          </a:prstGeom>
          <a:noFill/>
        </p:spPr>
        <p:txBody>
          <a:bodyPr wrap="square" rtlCol="0">
            <a:spAutoFit/>
          </a:bodyPr>
          <a:lstStyle/>
          <a:p>
            <a:r>
              <a:rPr lang="zh-CN" altLang="zh-CN" dirty="0">
                <a:latin typeface="微软雅黑" pitchFamily="34" charset="-122"/>
                <a:ea typeface="微软雅黑" pitchFamily="34" charset="-122"/>
              </a:rPr>
              <a:t>调货</a:t>
            </a:r>
            <a:r>
              <a:rPr lang="zh-CN"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归货</a:t>
            </a:r>
            <a:r>
              <a:rPr lang="zh-CN" altLang="zh-CN" dirty="0" smtClean="0">
                <a:latin typeface="微软雅黑" pitchFamily="34" charset="-122"/>
                <a:ea typeface="微软雅黑" pitchFamily="34" charset="-122"/>
              </a:rPr>
              <a:t>）</a:t>
            </a:r>
            <a:endParaRPr lang="zh-CN" altLang="en-US" dirty="0">
              <a:latin typeface="微软雅黑" pitchFamily="34" charset="-122"/>
              <a:ea typeface="微软雅黑" pitchFamily="34" charset="-122"/>
            </a:endParaRPr>
          </a:p>
        </p:txBody>
      </p:sp>
      <p:sp>
        <p:nvSpPr>
          <p:cNvPr id="4" name="TextBox 3"/>
          <p:cNvSpPr txBox="1"/>
          <p:nvPr/>
        </p:nvSpPr>
        <p:spPr>
          <a:xfrm>
            <a:off x="815862" y="755412"/>
            <a:ext cx="2964049" cy="369332"/>
          </a:xfrm>
          <a:prstGeom prst="rect">
            <a:avLst/>
          </a:prstGeom>
          <a:noFill/>
        </p:spPr>
        <p:txBody>
          <a:bodyPr wrap="square" rtlCol="0">
            <a:spAutoFit/>
          </a:bodyPr>
          <a:lstStyle/>
          <a:p>
            <a:r>
              <a:rPr lang="zh-CN" altLang="zh-CN" dirty="0">
                <a:latin typeface="微软雅黑" pitchFamily="34" charset="-122"/>
                <a:ea typeface="微软雅黑" pitchFamily="34" charset="-122"/>
              </a:rPr>
              <a:t>调货（</a:t>
            </a:r>
            <a:r>
              <a:rPr lang="zh-CN" altLang="en-US" dirty="0">
                <a:latin typeface="微软雅黑" pitchFamily="34" charset="-122"/>
                <a:ea typeface="微软雅黑" pitchFamily="34" charset="-122"/>
              </a:rPr>
              <a:t>归货</a:t>
            </a:r>
            <a:r>
              <a:rPr lang="zh-CN"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的注意事项：</a:t>
            </a:r>
            <a:endParaRPr lang="zh-CN" altLang="en-US" dirty="0">
              <a:latin typeface="微软雅黑" pitchFamily="34" charset="-122"/>
              <a:ea typeface="微软雅黑" pitchFamily="34" charset="-122"/>
            </a:endParaRPr>
          </a:p>
        </p:txBody>
      </p:sp>
      <p:sp>
        <p:nvSpPr>
          <p:cNvPr id="3" name="TextBox 2"/>
          <p:cNvSpPr txBox="1"/>
          <p:nvPr/>
        </p:nvSpPr>
        <p:spPr>
          <a:xfrm>
            <a:off x="1043608" y="1484784"/>
            <a:ext cx="7488832" cy="4293483"/>
          </a:xfrm>
          <a:prstGeom prst="rect">
            <a:avLst/>
          </a:prstGeom>
          <a:noFill/>
        </p:spPr>
        <p:txBody>
          <a:bodyPr wrap="square" rtlCol="0">
            <a:spAutoFit/>
          </a:bodyPr>
          <a:lstStyle/>
          <a:p>
            <a:pPr marL="342900" indent="-342900">
              <a:lnSpc>
                <a:spcPct val="150000"/>
              </a:lnSpc>
              <a:buFont typeface="+mj-lt"/>
              <a:buAutoNum type="arabicPeriod"/>
            </a:pPr>
            <a:r>
              <a:rPr lang="zh-CN" altLang="zh-CN" sz="1400" dirty="0">
                <a:latin typeface="微软雅黑" pitchFamily="34" charset="-122"/>
                <a:ea typeface="微软雅黑" pitchFamily="34" charset="-122"/>
              </a:rPr>
              <a:t>在调整某一款色货品时，尽量将该款色或该款所有颜色从被调货的店铺全部调走（如果调往店铺的其它颜色销售量不大，或调货时偏重哪个码数，则需仔细考虑调货的尺码、数量</a:t>
            </a:r>
            <a:r>
              <a:rPr lang="zh-CN" altLang="zh-CN" sz="1400" dirty="0" smtClean="0">
                <a:latin typeface="微软雅黑" pitchFamily="34" charset="-122"/>
                <a:ea typeface="微软雅黑" pitchFamily="34" charset="-122"/>
              </a:rPr>
              <a:t>）</a:t>
            </a:r>
            <a:endParaRPr lang="en-US" altLang="zh-CN" sz="1400" dirty="0" smtClean="0">
              <a:latin typeface="微软雅黑" pitchFamily="34" charset="-122"/>
              <a:ea typeface="微软雅黑" pitchFamily="34" charset="-122"/>
            </a:endParaRPr>
          </a:p>
          <a:p>
            <a:pPr marL="342900" indent="-342900">
              <a:lnSpc>
                <a:spcPct val="150000"/>
              </a:lnSpc>
              <a:buFont typeface="+mj-lt"/>
              <a:buAutoNum type="arabicPeriod"/>
            </a:pPr>
            <a:r>
              <a:rPr lang="zh-CN" altLang="zh-CN" sz="1400" dirty="0">
                <a:latin typeface="微软雅黑" pitchFamily="34" charset="-122"/>
                <a:ea typeface="微软雅黑" pitchFamily="34" charset="-122"/>
              </a:rPr>
              <a:t>被调货的货品外包装必须完整，且店铺需检查被调走的货品是否存在污渍或产品质量问题（特别是店铺陈列的货品），如果发现质量问题及时与货管联系，说明产品出现质量问题的数量，不得将有质量问题的产品调往其它</a:t>
            </a:r>
            <a:r>
              <a:rPr lang="zh-CN" altLang="zh-CN" sz="1400" dirty="0" smtClean="0">
                <a:latin typeface="微软雅黑" pitchFamily="34" charset="-122"/>
                <a:ea typeface="微软雅黑" pitchFamily="34" charset="-122"/>
              </a:rPr>
              <a:t>店铺</a:t>
            </a:r>
            <a:endParaRPr lang="en-US" altLang="zh-CN" sz="1400" dirty="0" smtClean="0">
              <a:latin typeface="微软雅黑" pitchFamily="34" charset="-122"/>
              <a:ea typeface="微软雅黑" pitchFamily="34" charset="-122"/>
            </a:endParaRPr>
          </a:p>
          <a:p>
            <a:pPr marL="342900" indent="-342900">
              <a:lnSpc>
                <a:spcPct val="150000"/>
              </a:lnSpc>
              <a:buFont typeface="+mj-lt"/>
              <a:buAutoNum type="arabicPeriod"/>
            </a:pPr>
            <a:r>
              <a:rPr lang="zh-CN" altLang="zh-CN" sz="1400" dirty="0">
                <a:latin typeface="微软雅黑" pitchFamily="34" charset="-122"/>
                <a:ea typeface="微软雅黑" pitchFamily="34" charset="-122"/>
              </a:rPr>
              <a:t>所调的货品以最终的实际调出店铺的数量为依据，店铺在点数装箱时，必须有两人在场相互监督复核数量，要求每箱里有装箱单，并将调货的明细单据随货发到收货</a:t>
            </a:r>
            <a:r>
              <a:rPr lang="zh-CN" altLang="zh-CN" sz="1400" dirty="0" smtClean="0">
                <a:latin typeface="微软雅黑" pitchFamily="34" charset="-122"/>
                <a:ea typeface="微软雅黑" pitchFamily="34" charset="-122"/>
              </a:rPr>
              <a:t>店铺</a:t>
            </a:r>
            <a:endParaRPr lang="en-US" altLang="zh-CN" sz="1400" dirty="0" smtClean="0">
              <a:latin typeface="微软雅黑" pitchFamily="34" charset="-122"/>
              <a:ea typeface="微软雅黑" pitchFamily="34" charset="-122"/>
            </a:endParaRPr>
          </a:p>
          <a:p>
            <a:pPr marL="342900" indent="-342900">
              <a:lnSpc>
                <a:spcPct val="150000"/>
              </a:lnSpc>
              <a:buFont typeface="+mj-lt"/>
              <a:buAutoNum type="arabicPeriod"/>
            </a:pPr>
            <a:r>
              <a:rPr lang="zh-CN" altLang="zh-CN" sz="1400" dirty="0">
                <a:latin typeface="微软雅黑" pitchFamily="34" charset="-122"/>
                <a:ea typeface="微软雅黑" pitchFamily="34" charset="-122"/>
              </a:rPr>
              <a:t>货品的运输：店铺的货品调到其它区域时，应选择公司指定的运输公司和运输方式，如更改运输方式，需提前请示公司督导和所要求调货的货管，得到允许方可</a:t>
            </a:r>
            <a:r>
              <a:rPr lang="zh-CN" altLang="zh-CN" sz="1400" dirty="0" smtClean="0">
                <a:latin typeface="微软雅黑" pitchFamily="34" charset="-122"/>
                <a:ea typeface="微软雅黑" pitchFamily="34" charset="-122"/>
              </a:rPr>
              <a:t>更改</a:t>
            </a:r>
            <a:endParaRPr lang="en-US" altLang="zh-CN" sz="1400" dirty="0" smtClean="0">
              <a:latin typeface="微软雅黑" pitchFamily="34" charset="-122"/>
              <a:ea typeface="微软雅黑" pitchFamily="34" charset="-122"/>
            </a:endParaRPr>
          </a:p>
          <a:p>
            <a:pPr marL="342900" indent="-342900">
              <a:lnSpc>
                <a:spcPct val="150000"/>
              </a:lnSpc>
              <a:buFont typeface="+mj-lt"/>
              <a:buAutoNum type="arabicPeriod"/>
            </a:pPr>
            <a:r>
              <a:rPr lang="zh-CN" altLang="zh-CN" sz="1400" dirty="0">
                <a:latin typeface="微软雅黑" pitchFamily="34" charset="-122"/>
                <a:ea typeface="微软雅黑" pitchFamily="34" charset="-122"/>
              </a:rPr>
              <a:t>店铺发货后，应及时将运输单据和调货明细传真回公司货管人员，货管人员需通知收货店铺，并跟踪货品到达店铺时间以及到货的数量是否</a:t>
            </a:r>
            <a:r>
              <a:rPr lang="zh-CN" altLang="zh-CN" sz="1400" dirty="0" smtClean="0">
                <a:latin typeface="微软雅黑" pitchFamily="34" charset="-122"/>
                <a:ea typeface="微软雅黑" pitchFamily="34" charset="-122"/>
              </a:rPr>
              <a:t>准确</a:t>
            </a:r>
            <a:endParaRPr lang="en-US" altLang="zh-CN" sz="1400" dirty="0" smtClean="0">
              <a:latin typeface="微软雅黑" pitchFamily="34" charset="-122"/>
              <a:ea typeface="微软雅黑" pitchFamily="34" charset="-122"/>
            </a:endParaRPr>
          </a:p>
          <a:p>
            <a:pPr marL="342900" indent="-342900">
              <a:lnSpc>
                <a:spcPct val="150000"/>
              </a:lnSpc>
              <a:buFont typeface="+mj-lt"/>
              <a:buAutoNum type="arabicPeriod"/>
            </a:pPr>
            <a:r>
              <a:rPr lang="zh-CN" altLang="zh-CN" sz="1400" dirty="0" smtClean="0">
                <a:latin typeface="微软雅黑" pitchFamily="34" charset="-122"/>
                <a:ea typeface="微软雅黑" pitchFamily="34" charset="-122"/>
              </a:rPr>
              <a:t>收货</a:t>
            </a:r>
            <a:r>
              <a:rPr lang="zh-CN" altLang="zh-CN" sz="1400" dirty="0">
                <a:latin typeface="微软雅黑" pitchFamily="34" charset="-122"/>
                <a:ea typeface="微软雅黑" pitchFamily="34" charset="-122"/>
              </a:rPr>
              <a:t>店铺在收到货时仔细核对到货数量明细是否与手写调拨单和系统的明细一致，如果一致在系统收货确认，并把商品</a:t>
            </a:r>
            <a:r>
              <a:rPr lang="zh-CN" altLang="zh-CN" sz="1400" dirty="0" smtClean="0">
                <a:latin typeface="微软雅黑" pitchFamily="34" charset="-122"/>
                <a:ea typeface="微软雅黑" pitchFamily="34" charset="-122"/>
              </a:rPr>
              <a:t>入库</a:t>
            </a:r>
            <a:endParaRPr lang="zh-CN" altLang="zh-CN" sz="1400" dirty="0">
              <a:latin typeface="微软雅黑" pitchFamily="34" charset="-122"/>
              <a:ea typeface="微软雅黑" pitchFamily="34" charset="-122"/>
            </a:endParaRPr>
          </a:p>
        </p:txBody>
      </p:sp>
    </p:spTree>
    <p:extLst>
      <p:ext uri="{BB962C8B-B14F-4D97-AF65-F5344CB8AC3E}">
        <p14:creationId xmlns:p14="http://schemas.microsoft.com/office/powerpoint/2010/main" val="138937908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36815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追单</a:t>
            </a:r>
            <a:endParaRPr lang="zh-CN" altLang="en-US" dirty="0">
              <a:latin typeface="微软雅黑" pitchFamily="34" charset="-122"/>
              <a:ea typeface="微软雅黑" pitchFamily="34" charset="-122"/>
            </a:endParaRPr>
          </a:p>
        </p:txBody>
      </p:sp>
      <p:sp>
        <p:nvSpPr>
          <p:cNvPr id="5" name="TextBox 4"/>
          <p:cNvSpPr txBox="1"/>
          <p:nvPr/>
        </p:nvSpPr>
        <p:spPr>
          <a:xfrm>
            <a:off x="933302" y="1226865"/>
            <a:ext cx="169448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追单的目的：</a:t>
            </a:r>
            <a:endParaRPr lang="zh-CN" altLang="en-US" dirty="0">
              <a:latin typeface="微软雅黑" pitchFamily="34" charset="-122"/>
              <a:ea typeface="微软雅黑" pitchFamily="34" charset="-122"/>
            </a:endParaRPr>
          </a:p>
        </p:txBody>
      </p:sp>
      <p:sp>
        <p:nvSpPr>
          <p:cNvPr id="3" name="矩形 2"/>
          <p:cNvSpPr/>
          <p:nvPr/>
        </p:nvSpPr>
        <p:spPr>
          <a:xfrm>
            <a:off x="1780542" y="2060848"/>
            <a:ext cx="6175833" cy="2224776"/>
          </a:xfrm>
          <a:prstGeom prst="rect">
            <a:avLst/>
          </a:prstGeom>
        </p:spPr>
        <p:txBody>
          <a:bodyPr wrap="square">
            <a:spAutoFit/>
          </a:bodyPr>
          <a:lstStyle/>
          <a:p>
            <a:pPr>
              <a:lnSpc>
                <a:spcPct val="200000"/>
              </a:lnSpc>
            </a:pPr>
            <a:r>
              <a:rPr lang="en-US" altLang="zh-CN" dirty="0" smtClean="0"/>
              <a:t>         </a:t>
            </a:r>
            <a:r>
              <a:rPr lang="zh-CN" altLang="zh-CN" dirty="0" smtClean="0">
                <a:latin typeface="微软雅黑" pitchFamily="34" charset="-122"/>
                <a:ea typeface="微软雅黑" pitchFamily="34" charset="-122"/>
              </a:rPr>
              <a:t>追</a:t>
            </a:r>
            <a:r>
              <a:rPr lang="zh-CN" altLang="zh-CN" dirty="0">
                <a:latin typeface="微软雅黑" pitchFamily="34" charset="-122"/>
                <a:ea typeface="微软雅黑" pitchFamily="34" charset="-122"/>
              </a:rPr>
              <a:t>单是销售过程中为了满足市场需求扩大销售量，提高销售额而做出的快速反应的重要工作手段，对追单的预估数量的处理能力，能为销售带来支持，如果预估不准确，则会为公司带来更大的库存压力</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38937908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36815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追单</a:t>
            </a:r>
            <a:endParaRPr lang="zh-CN" altLang="en-US" dirty="0">
              <a:latin typeface="微软雅黑" pitchFamily="34" charset="-122"/>
              <a:ea typeface="微软雅黑" pitchFamily="34" charset="-122"/>
            </a:endParaRPr>
          </a:p>
        </p:txBody>
      </p:sp>
      <p:sp>
        <p:nvSpPr>
          <p:cNvPr id="5" name="TextBox 4"/>
          <p:cNvSpPr txBox="1"/>
          <p:nvPr/>
        </p:nvSpPr>
        <p:spPr>
          <a:xfrm>
            <a:off x="933302" y="849487"/>
            <a:ext cx="169448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追单的流程：</a:t>
            </a:r>
            <a:endParaRPr lang="zh-CN" altLang="en-US" dirty="0">
              <a:latin typeface="微软雅黑" pitchFamily="34" charset="-122"/>
              <a:ea typeface="微软雅黑" pitchFamily="34" charset="-122"/>
            </a:endParaRPr>
          </a:p>
        </p:txBody>
      </p:sp>
      <p:sp>
        <p:nvSpPr>
          <p:cNvPr id="3" name="TextBox 2"/>
          <p:cNvSpPr txBox="1"/>
          <p:nvPr/>
        </p:nvSpPr>
        <p:spPr>
          <a:xfrm>
            <a:off x="1043608" y="1480133"/>
            <a:ext cx="7272808" cy="4578561"/>
          </a:xfrm>
          <a:prstGeom prst="rect">
            <a:avLst/>
          </a:prstGeom>
          <a:noFill/>
        </p:spPr>
        <p:txBody>
          <a:bodyPr wrap="square" rtlCol="0">
            <a:spAutoFit/>
          </a:bodyPr>
          <a:lstStyle/>
          <a:p>
            <a:pPr marL="342900" indent="-342900">
              <a:lnSpc>
                <a:spcPct val="150000"/>
              </a:lnSpc>
              <a:buFont typeface="+mj-lt"/>
              <a:buAutoNum type="arabicPeriod"/>
            </a:pPr>
            <a:r>
              <a:rPr lang="zh-CN" altLang="zh-CN" sz="1400" dirty="0">
                <a:latin typeface="微软雅黑" pitchFamily="34" charset="-122"/>
                <a:ea typeface="微软雅黑" pitchFamily="34" charset="-122"/>
              </a:rPr>
              <a:t>追单前，必须制作《售罄率分析报表》，通过报表的分析，根据目前的销售数量和销售进度，结合库存的数量，测算出目前库存可销售的</a:t>
            </a:r>
            <a:r>
              <a:rPr lang="zh-CN" altLang="zh-CN" sz="1400" dirty="0" smtClean="0">
                <a:latin typeface="微软雅黑" pitchFamily="34" charset="-122"/>
                <a:ea typeface="微软雅黑" pitchFamily="34" charset="-122"/>
              </a:rPr>
              <a:t>周转期</a:t>
            </a:r>
            <a:endParaRPr lang="en-US" altLang="zh-CN" sz="1400" dirty="0" smtClean="0">
              <a:latin typeface="微软雅黑" pitchFamily="34" charset="-122"/>
              <a:ea typeface="微软雅黑" pitchFamily="34" charset="-122"/>
            </a:endParaRPr>
          </a:p>
          <a:p>
            <a:pPr marL="342900" indent="-342900">
              <a:lnSpc>
                <a:spcPct val="150000"/>
              </a:lnSpc>
              <a:buFont typeface="+mj-lt"/>
              <a:buAutoNum type="arabicPeriod"/>
            </a:pPr>
            <a:r>
              <a:rPr lang="zh-CN" altLang="zh-CN" sz="1400" dirty="0">
                <a:latin typeface="微软雅黑" pitchFamily="34" charset="-122"/>
                <a:ea typeface="微软雅黑" pitchFamily="34" charset="-122"/>
              </a:rPr>
              <a:t>根据产品的生命周期，测算出该款产品是否还需要向总部追单生产，如果在生命周期内库存量不能满足销售的需求，要计算出需要追单的数量，并将需要追单的数量呈公司领导批准，说明款式销售的数量和追单的原因及追单的</a:t>
            </a:r>
            <a:r>
              <a:rPr lang="zh-CN" altLang="zh-CN" sz="1400" dirty="0" smtClean="0">
                <a:latin typeface="微软雅黑" pitchFamily="34" charset="-122"/>
                <a:ea typeface="微软雅黑" pitchFamily="34" charset="-122"/>
              </a:rPr>
              <a:t>数量</a:t>
            </a:r>
            <a:endParaRPr lang="en-US" altLang="zh-CN" sz="1400" dirty="0" smtClean="0">
              <a:latin typeface="微软雅黑" pitchFamily="34" charset="-122"/>
              <a:ea typeface="微软雅黑" pitchFamily="34" charset="-122"/>
            </a:endParaRPr>
          </a:p>
          <a:p>
            <a:pPr marL="342900" indent="-342900">
              <a:lnSpc>
                <a:spcPct val="150000"/>
              </a:lnSpc>
              <a:buFont typeface="+mj-lt"/>
              <a:buAutoNum type="arabicPeriod"/>
            </a:pPr>
            <a:r>
              <a:rPr lang="zh-CN" altLang="zh-CN" sz="1400" dirty="0">
                <a:latin typeface="微软雅黑" pitchFamily="34" charset="-122"/>
                <a:ea typeface="微软雅黑" pitchFamily="34" charset="-122"/>
              </a:rPr>
              <a:t>计算出追单的数量后，先致电总部商品部片区管理员，说明需要追单的款式、颜色及数量，询问是否可以补单生产及出货的周期有多</a:t>
            </a:r>
            <a:r>
              <a:rPr lang="zh-CN" altLang="zh-CN" sz="1400" dirty="0" smtClean="0">
                <a:latin typeface="微软雅黑" pitchFamily="34" charset="-122"/>
                <a:ea typeface="微软雅黑" pitchFamily="34" charset="-122"/>
              </a:rPr>
              <a:t>长</a:t>
            </a:r>
            <a:endParaRPr lang="en-US" altLang="zh-CN" sz="1400" dirty="0" smtClean="0">
              <a:latin typeface="微软雅黑" pitchFamily="34" charset="-122"/>
              <a:ea typeface="微软雅黑" pitchFamily="34" charset="-122"/>
            </a:endParaRPr>
          </a:p>
          <a:p>
            <a:pPr marL="342900" indent="-342900">
              <a:lnSpc>
                <a:spcPct val="150000"/>
              </a:lnSpc>
              <a:buFont typeface="+mj-lt"/>
              <a:buAutoNum type="arabicPeriod"/>
            </a:pPr>
            <a:r>
              <a:rPr lang="zh-CN" altLang="zh-CN" sz="1400" dirty="0">
                <a:latin typeface="微软雅黑" pitchFamily="34" charset="-122"/>
                <a:ea typeface="微软雅黑" pitchFamily="34" charset="-122"/>
              </a:rPr>
              <a:t>总部回复的生产周期在预计追单量销售的周期内，将追单的量传真到总部商品部，正式下单生产，如果回复的生产周期过长，要结合产品的生命周期，减少数量或者取消追</a:t>
            </a:r>
            <a:r>
              <a:rPr lang="zh-CN" altLang="zh-CN" sz="1400" dirty="0" smtClean="0">
                <a:latin typeface="微软雅黑" pitchFamily="34" charset="-122"/>
                <a:ea typeface="微软雅黑" pitchFamily="34" charset="-122"/>
              </a:rPr>
              <a:t>单</a:t>
            </a:r>
            <a:endParaRPr lang="en-US" altLang="zh-CN" sz="1400" dirty="0" smtClean="0">
              <a:latin typeface="微软雅黑" pitchFamily="34" charset="-122"/>
              <a:ea typeface="微软雅黑" pitchFamily="34" charset="-122"/>
            </a:endParaRPr>
          </a:p>
          <a:p>
            <a:pPr marL="342900" indent="-342900">
              <a:lnSpc>
                <a:spcPct val="150000"/>
              </a:lnSpc>
              <a:buFont typeface="+mj-lt"/>
              <a:buAutoNum type="arabicPeriod"/>
            </a:pPr>
            <a:r>
              <a:rPr lang="zh-CN" altLang="zh-CN" sz="1400" dirty="0">
                <a:latin typeface="微软雅黑" pitchFamily="34" charset="-122"/>
                <a:ea typeface="微软雅黑" pitchFamily="34" charset="-122"/>
              </a:rPr>
              <a:t>追加数量的订单下到总公司后，要定期跟进生产进度，特别是规定出货日期的前几天，则每天要询问生产的进度，尽快要求总部将货品发到我</a:t>
            </a:r>
            <a:r>
              <a:rPr lang="zh-CN" altLang="zh-CN" sz="1400" dirty="0" smtClean="0">
                <a:latin typeface="微软雅黑" pitchFamily="34" charset="-122"/>
                <a:ea typeface="微软雅黑" pitchFamily="34" charset="-122"/>
              </a:rPr>
              <a:t>公司</a:t>
            </a:r>
            <a:endParaRPr lang="en-US" altLang="zh-CN" sz="1400" dirty="0" smtClean="0">
              <a:latin typeface="微软雅黑" pitchFamily="34" charset="-122"/>
              <a:ea typeface="微软雅黑" pitchFamily="34" charset="-122"/>
            </a:endParaRPr>
          </a:p>
          <a:p>
            <a:pPr marL="342900" indent="-342900">
              <a:lnSpc>
                <a:spcPct val="150000"/>
              </a:lnSpc>
              <a:buFont typeface="+mj-lt"/>
              <a:buAutoNum type="arabicPeriod"/>
            </a:pPr>
            <a:r>
              <a:rPr lang="zh-CN" altLang="zh-CN" sz="1400" dirty="0">
                <a:latin typeface="微软雅黑" pitchFamily="34" charset="-122"/>
                <a:ea typeface="微软雅黑" pitchFamily="34" charset="-122"/>
              </a:rPr>
              <a:t>总部发到我公司的追单货品到仓后，要求在第一时间内优先安排这些货品入库，区域管理员则需分析店铺销售及库存情况，及时给店铺配发货品</a:t>
            </a:r>
            <a:endParaRPr lang="zh-CN" altLang="en-US" sz="1400" dirty="0">
              <a:latin typeface="微软雅黑" pitchFamily="34" charset="-122"/>
              <a:ea typeface="微软雅黑" pitchFamily="34" charset="-122"/>
            </a:endParaRPr>
          </a:p>
        </p:txBody>
      </p:sp>
    </p:spTree>
    <p:extLst>
      <p:ext uri="{BB962C8B-B14F-4D97-AF65-F5344CB8AC3E}">
        <p14:creationId xmlns:p14="http://schemas.microsoft.com/office/powerpoint/2010/main" val="138937908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36815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追单</a:t>
            </a:r>
            <a:endParaRPr lang="zh-CN" altLang="en-US" dirty="0">
              <a:latin typeface="微软雅黑" pitchFamily="34" charset="-122"/>
              <a:ea typeface="微软雅黑" pitchFamily="34" charset="-122"/>
            </a:endParaRPr>
          </a:p>
        </p:txBody>
      </p:sp>
      <p:sp>
        <p:nvSpPr>
          <p:cNvPr id="5" name="TextBox 4"/>
          <p:cNvSpPr txBox="1"/>
          <p:nvPr/>
        </p:nvSpPr>
        <p:spPr>
          <a:xfrm>
            <a:off x="935596" y="1628800"/>
            <a:ext cx="169448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追单的配发：</a:t>
            </a:r>
            <a:endParaRPr lang="zh-CN" altLang="en-US" dirty="0">
              <a:latin typeface="微软雅黑" pitchFamily="34" charset="-122"/>
              <a:ea typeface="微软雅黑" pitchFamily="34" charset="-122"/>
            </a:endParaRPr>
          </a:p>
        </p:txBody>
      </p:sp>
      <p:sp>
        <p:nvSpPr>
          <p:cNvPr id="3" name="TextBox 2"/>
          <p:cNvSpPr txBox="1"/>
          <p:nvPr/>
        </p:nvSpPr>
        <p:spPr>
          <a:xfrm>
            <a:off x="1043608" y="2492896"/>
            <a:ext cx="7272808" cy="1286891"/>
          </a:xfrm>
          <a:prstGeom prst="rect">
            <a:avLst/>
          </a:prstGeom>
          <a:noFill/>
        </p:spPr>
        <p:txBody>
          <a:bodyPr wrap="square" rtlCol="0">
            <a:spAutoFit/>
          </a:bodyPr>
          <a:lstStyle/>
          <a:p>
            <a:pPr>
              <a:lnSpc>
                <a:spcPct val="150000"/>
              </a:lnSpc>
            </a:pPr>
            <a:r>
              <a:rPr lang="en-US" altLang="zh-CN" sz="1400" dirty="0" smtClean="0"/>
              <a:t>         </a:t>
            </a:r>
            <a:r>
              <a:rPr lang="zh-CN" altLang="zh-CN" dirty="0" smtClean="0">
                <a:latin typeface="微软雅黑" pitchFamily="34" charset="-122"/>
                <a:ea typeface="微软雅黑" pitchFamily="34" charset="-122"/>
              </a:rPr>
              <a:t>追</a:t>
            </a:r>
            <a:r>
              <a:rPr lang="zh-CN" altLang="zh-CN" dirty="0">
                <a:latin typeface="微软雅黑" pitchFamily="34" charset="-122"/>
                <a:ea typeface="微软雅黑" pitchFamily="34" charset="-122"/>
              </a:rPr>
              <a:t>单从总部发出后，要提前做好配发计划，待货品到仓后，要第一时间安排配发到店铺，避免产品到仓库后由于配货速度慢或未配发影响到产品的销售时间和销售数量</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59188199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36815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调价</a:t>
            </a:r>
            <a:endParaRPr lang="zh-CN" altLang="en-US" dirty="0">
              <a:latin typeface="微软雅黑" pitchFamily="34" charset="-122"/>
              <a:ea typeface="微软雅黑" pitchFamily="34" charset="-122"/>
            </a:endParaRPr>
          </a:p>
        </p:txBody>
      </p:sp>
      <p:sp>
        <p:nvSpPr>
          <p:cNvPr id="5" name="TextBox 4"/>
          <p:cNvSpPr txBox="1"/>
          <p:nvPr/>
        </p:nvSpPr>
        <p:spPr>
          <a:xfrm>
            <a:off x="935596" y="1617336"/>
            <a:ext cx="169448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调价的目的：</a:t>
            </a:r>
            <a:endParaRPr lang="zh-CN" altLang="en-US" dirty="0">
              <a:latin typeface="微软雅黑" pitchFamily="34" charset="-122"/>
              <a:ea typeface="微软雅黑" pitchFamily="34" charset="-122"/>
            </a:endParaRPr>
          </a:p>
        </p:txBody>
      </p:sp>
      <p:sp>
        <p:nvSpPr>
          <p:cNvPr id="3" name="TextBox 2"/>
          <p:cNvSpPr txBox="1"/>
          <p:nvPr/>
        </p:nvSpPr>
        <p:spPr>
          <a:xfrm>
            <a:off x="1043608" y="2492896"/>
            <a:ext cx="7272808" cy="1338828"/>
          </a:xfrm>
          <a:prstGeom prst="rect">
            <a:avLst/>
          </a:prstGeom>
          <a:noFill/>
        </p:spPr>
        <p:txBody>
          <a:bodyPr wrap="square" rtlCol="0">
            <a:spAutoFit/>
          </a:bodyPr>
          <a:lstStyle/>
          <a:p>
            <a:pPr>
              <a:lnSpc>
                <a:spcPct val="150000"/>
              </a:lnSpc>
            </a:pPr>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调价</a:t>
            </a:r>
            <a:r>
              <a:rPr lang="zh-CN" altLang="zh-CN" dirty="0" smtClean="0">
                <a:latin typeface="微软雅黑" pitchFamily="34" charset="-122"/>
                <a:ea typeface="微软雅黑" pitchFamily="34" charset="-122"/>
              </a:rPr>
              <a:t>是</a:t>
            </a:r>
            <a:r>
              <a:rPr lang="zh-CN" altLang="en-US" dirty="0" smtClean="0">
                <a:latin typeface="微软雅黑" pitchFamily="34" charset="-122"/>
                <a:ea typeface="微软雅黑" pitchFamily="34" charset="-122"/>
              </a:rPr>
              <a:t>商品</a:t>
            </a:r>
            <a:r>
              <a:rPr lang="zh-CN" altLang="zh-CN" dirty="0" smtClean="0">
                <a:latin typeface="微软雅黑" pitchFamily="34" charset="-122"/>
                <a:ea typeface="微软雅黑" pitchFamily="34" charset="-122"/>
              </a:rPr>
              <a:t>运营</a:t>
            </a:r>
            <a:r>
              <a:rPr lang="zh-CN" altLang="zh-CN" dirty="0">
                <a:latin typeface="微软雅黑" pitchFamily="34" charset="-122"/>
                <a:ea typeface="微软雅黑" pitchFamily="34" charset="-122"/>
              </a:rPr>
              <a:t>过程中常用</a:t>
            </a:r>
            <a:r>
              <a:rPr lang="zh-CN" altLang="zh-CN" dirty="0" smtClean="0">
                <a:latin typeface="微软雅黑" pitchFamily="34" charset="-122"/>
                <a:ea typeface="微软雅黑" pitchFamily="34" charset="-122"/>
              </a:rPr>
              <a:t>的</a:t>
            </a:r>
            <a:r>
              <a:rPr lang="zh-CN" altLang="en-US" dirty="0" smtClean="0">
                <a:latin typeface="微软雅黑" pitchFamily="34" charset="-122"/>
                <a:ea typeface="微软雅黑" pitchFamily="34" charset="-122"/>
              </a:rPr>
              <a:t>促销</a:t>
            </a:r>
            <a:r>
              <a:rPr lang="zh-CN" altLang="zh-CN" dirty="0" smtClean="0">
                <a:latin typeface="微软雅黑" pitchFamily="34" charset="-122"/>
                <a:ea typeface="微软雅黑" pitchFamily="34" charset="-122"/>
              </a:rPr>
              <a:t>方法</a:t>
            </a:r>
            <a:r>
              <a:rPr lang="zh-CN" altLang="zh-CN" dirty="0">
                <a:latin typeface="微软雅黑" pitchFamily="34" charset="-122"/>
                <a:ea typeface="微软雅黑" pitchFamily="34" charset="-122"/>
              </a:rPr>
              <a:t>之一，</a:t>
            </a:r>
            <a:r>
              <a:rPr lang="zh-CN" altLang="zh-CN" dirty="0" smtClean="0">
                <a:latin typeface="微软雅黑" pitchFamily="34" charset="-122"/>
                <a:ea typeface="微软雅黑" pitchFamily="34" charset="-122"/>
              </a:rPr>
              <a:t>通过</a:t>
            </a:r>
            <a:r>
              <a:rPr lang="zh-CN" altLang="en-US" dirty="0" smtClean="0">
                <a:latin typeface="微软雅黑" pitchFamily="34" charset="-122"/>
                <a:ea typeface="微软雅黑" pitchFamily="34" charset="-122"/>
              </a:rPr>
              <a:t>对滞销品、断码货品、清</a:t>
            </a:r>
            <a:r>
              <a:rPr lang="en-US" altLang="zh-CN" dirty="0" smtClean="0">
                <a:latin typeface="微软雅黑" pitchFamily="34" charset="-122"/>
                <a:ea typeface="微软雅黑" pitchFamily="34" charset="-122"/>
              </a:rPr>
              <a:t>SKU</a:t>
            </a:r>
            <a:r>
              <a:rPr lang="zh-CN" altLang="en-US" dirty="0" smtClean="0">
                <a:latin typeface="微软雅黑" pitchFamily="34" charset="-122"/>
                <a:ea typeface="微软雅黑" pitchFamily="34" charset="-122"/>
              </a:rPr>
              <a:t>货品</a:t>
            </a:r>
            <a:r>
              <a:rPr lang="zh-CN" altLang="zh-CN" dirty="0" smtClean="0">
                <a:latin typeface="微软雅黑" pitchFamily="34" charset="-122"/>
                <a:ea typeface="微软雅黑" pitchFamily="34" charset="-122"/>
              </a:rPr>
              <a:t>等</a:t>
            </a:r>
            <a:r>
              <a:rPr lang="zh-CN" altLang="en-US" dirty="0" smtClean="0">
                <a:latin typeface="微软雅黑" pitchFamily="34" charset="-122"/>
                <a:ea typeface="微软雅黑" pitchFamily="34" charset="-122"/>
              </a:rPr>
              <a:t>款式的价格调整</a:t>
            </a:r>
            <a:r>
              <a:rPr lang="zh-CN" altLang="zh-CN" dirty="0" smtClean="0">
                <a:latin typeface="微软雅黑" pitchFamily="34" charset="-122"/>
                <a:ea typeface="微软雅黑" pitchFamily="34" charset="-122"/>
              </a:rPr>
              <a:t>，强化</a:t>
            </a:r>
            <a:r>
              <a:rPr lang="zh-CN" altLang="en-US" dirty="0" smtClean="0">
                <a:latin typeface="微软雅黑" pitchFamily="34" charset="-122"/>
                <a:ea typeface="微软雅黑" pitchFamily="34" charset="-122"/>
              </a:rPr>
              <a:t>调价款式在终端销售的表现，提高货品售罄率和周转速度</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60021422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36815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调价</a:t>
            </a:r>
            <a:endParaRPr lang="zh-CN" altLang="en-US" dirty="0">
              <a:latin typeface="微软雅黑" pitchFamily="34" charset="-122"/>
              <a:ea typeface="微软雅黑" pitchFamily="34" charset="-122"/>
            </a:endParaRPr>
          </a:p>
        </p:txBody>
      </p:sp>
      <p:sp>
        <p:nvSpPr>
          <p:cNvPr id="5" name="TextBox 4"/>
          <p:cNvSpPr txBox="1"/>
          <p:nvPr/>
        </p:nvSpPr>
        <p:spPr>
          <a:xfrm>
            <a:off x="935596" y="1617336"/>
            <a:ext cx="169448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调价的目的：</a:t>
            </a:r>
            <a:endParaRPr lang="zh-CN" altLang="en-US" dirty="0">
              <a:latin typeface="微软雅黑" pitchFamily="34" charset="-122"/>
              <a:ea typeface="微软雅黑" pitchFamily="34" charset="-122"/>
            </a:endParaRPr>
          </a:p>
        </p:txBody>
      </p:sp>
      <p:sp>
        <p:nvSpPr>
          <p:cNvPr id="3" name="TextBox 2"/>
          <p:cNvSpPr txBox="1"/>
          <p:nvPr/>
        </p:nvSpPr>
        <p:spPr>
          <a:xfrm>
            <a:off x="1043608" y="2492896"/>
            <a:ext cx="7272808" cy="1338828"/>
          </a:xfrm>
          <a:prstGeom prst="rect">
            <a:avLst/>
          </a:prstGeom>
          <a:noFill/>
        </p:spPr>
        <p:txBody>
          <a:bodyPr wrap="square" rtlCol="0">
            <a:spAutoFit/>
          </a:bodyPr>
          <a:lstStyle/>
          <a:p>
            <a:pPr>
              <a:lnSpc>
                <a:spcPct val="150000"/>
              </a:lnSpc>
            </a:pPr>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调价</a:t>
            </a:r>
            <a:r>
              <a:rPr lang="zh-CN" altLang="zh-CN" dirty="0" smtClean="0">
                <a:latin typeface="微软雅黑" pitchFamily="34" charset="-122"/>
                <a:ea typeface="微软雅黑" pitchFamily="34" charset="-122"/>
              </a:rPr>
              <a:t>是</a:t>
            </a:r>
            <a:r>
              <a:rPr lang="zh-CN" altLang="en-US" dirty="0" smtClean="0">
                <a:latin typeface="微软雅黑" pitchFamily="34" charset="-122"/>
                <a:ea typeface="微软雅黑" pitchFamily="34" charset="-122"/>
              </a:rPr>
              <a:t>商品</a:t>
            </a:r>
            <a:r>
              <a:rPr lang="zh-CN" altLang="zh-CN" dirty="0" smtClean="0">
                <a:latin typeface="微软雅黑" pitchFamily="34" charset="-122"/>
                <a:ea typeface="微软雅黑" pitchFamily="34" charset="-122"/>
              </a:rPr>
              <a:t>运营</a:t>
            </a:r>
            <a:r>
              <a:rPr lang="zh-CN" altLang="zh-CN" dirty="0">
                <a:latin typeface="微软雅黑" pitchFamily="34" charset="-122"/>
                <a:ea typeface="微软雅黑" pitchFamily="34" charset="-122"/>
              </a:rPr>
              <a:t>过程中常用</a:t>
            </a:r>
            <a:r>
              <a:rPr lang="zh-CN" altLang="zh-CN" dirty="0" smtClean="0">
                <a:latin typeface="微软雅黑" pitchFamily="34" charset="-122"/>
                <a:ea typeface="微软雅黑" pitchFamily="34" charset="-122"/>
              </a:rPr>
              <a:t>的</a:t>
            </a:r>
            <a:r>
              <a:rPr lang="zh-CN" altLang="en-US" dirty="0" smtClean="0">
                <a:latin typeface="微软雅黑" pitchFamily="34" charset="-122"/>
                <a:ea typeface="微软雅黑" pitchFamily="34" charset="-122"/>
              </a:rPr>
              <a:t>促销</a:t>
            </a:r>
            <a:r>
              <a:rPr lang="zh-CN" altLang="zh-CN" dirty="0" smtClean="0">
                <a:latin typeface="微软雅黑" pitchFamily="34" charset="-122"/>
                <a:ea typeface="微软雅黑" pitchFamily="34" charset="-122"/>
              </a:rPr>
              <a:t>方法</a:t>
            </a:r>
            <a:r>
              <a:rPr lang="zh-CN" altLang="zh-CN" dirty="0">
                <a:latin typeface="微软雅黑" pitchFamily="34" charset="-122"/>
                <a:ea typeface="微软雅黑" pitchFamily="34" charset="-122"/>
              </a:rPr>
              <a:t>之一，</a:t>
            </a:r>
            <a:r>
              <a:rPr lang="zh-CN" altLang="zh-CN" dirty="0" smtClean="0">
                <a:latin typeface="微软雅黑" pitchFamily="34" charset="-122"/>
                <a:ea typeface="微软雅黑" pitchFamily="34" charset="-122"/>
              </a:rPr>
              <a:t>通过</a:t>
            </a:r>
            <a:r>
              <a:rPr lang="zh-CN" altLang="en-US" dirty="0" smtClean="0">
                <a:latin typeface="微软雅黑" pitchFamily="34" charset="-122"/>
                <a:ea typeface="微软雅黑" pitchFamily="34" charset="-122"/>
              </a:rPr>
              <a:t>对滞销品、断码货品、清</a:t>
            </a:r>
            <a:r>
              <a:rPr lang="en-US" altLang="zh-CN" dirty="0" smtClean="0">
                <a:latin typeface="微软雅黑" pitchFamily="34" charset="-122"/>
                <a:ea typeface="微软雅黑" pitchFamily="34" charset="-122"/>
              </a:rPr>
              <a:t>SKU</a:t>
            </a:r>
            <a:r>
              <a:rPr lang="zh-CN" altLang="en-US" dirty="0" smtClean="0">
                <a:latin typeface="微软雅黑" pitchFamily="34" charset="-122"/>
                <a:ea typeface="微软雅黑" pitchFamily="34" charset="-122"/>
              </a:rPr>
              <a:t>货品</a:t>
            </a:r>
            <a:r>
              <a:rPr lang="zh-CN" altLang="zh-CN" dirty="0" smtClean="0">
                <a:latin typeface="微软雅黑" pitchFamily="34" charset="-122"/>
                <a:ea typeface="微软雅黑" pitchFamily="34" charset="-122"/>
              </a:rPr>
              <a:t>等</a:t>
            </a:r>
            <a:r>
              <a:rPr lang="zh-CN" altLang="en-US" dirty="0" smtClean="0">
                <a:latin typeface="微软雅黑" pitchFamily="34" charset="-122"/>
                <a:ea typeface="微软雅黑" pitchFamily="34" charset="-122"/>
              </a:rPr>
              <a:t>款式的价格调整</a:t>
            </a:r>
            <a:r>
              <a:rPr lang="zh-CN" altLang="zh-CN" dirty="0" smtClean="0">
                <a:latin typeface="微软雅黑" pitchFamily="34" charset="-122"/>
                <a:ea typeface="微软雅黑" pitchFamily="34" charset="-122"/>
              </a:rPr>
              <a:t>，强化</a:t>
            </a:r>
            <a:r>
              <a:rPr lang="zh-CN" altLang="en-US" dirty="0" smtClean="0">
                <a:latin typeface="微软雅黑" pitchFamily="34" charset="-122"/>
                <a:ea typeface="微软雅黑" pitchFamily="34" charset="-122"/>
              </a:rPr>
              <a:t>调价款式在终端销售的表现，提高货品售罄率和周转速度</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09187485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36815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调价</a:t>
            </a:r>
            <a:endParaRPr lang="zh-CN" altLang="en-US" dirty="0">
              <a:latin typeface="微软雅黑" pitchFamily="34" charset="-122"/>
              <a:ea typeface="微软雅黑" pitchFamily="34" charset="-122"/>
            </a:endParaRPr>
          </a:p>
        </p:txBody>
      </p:sp>
      <p:sp>
        <p:nvSpPr>
          <p:cNvPr id="5" name="TextBox 4"/>
          <p:cNvSpPr txBox="1"/>
          <p:nvPr/>
        </p:nvSpPr>
        <p:spPr>
          <a:xfrm>
            <a:off x="935596" y="1617336"/>
            <a:ext cx="169448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调价的类型：</a:t>
            </a:r>
            <a:endParaRPr lang="zh-CN" altLang="en-US" dirty="0">
              <a:latin typeface="微软雅黑" pitchFamily="34" charset="-122"/>
              <a:ea typeface="微软雅黑" pitchFamily="34" charset="-122"/>
            </a:endParaRPr>
          </a:p>
        </p:txBody>
      </p:sp>
      <p:sp>
        <p:nvSpPr>
          <p:cNvPr id="3" name="TextBox 2"/>
          <p:cNvSpPr txBox="1"/>
          <p:nvPr/>
        </p:nvSpPr>
        <p:spPr>
          <a:xfrm>
            <a:off x="1259632" y="2478262"/>
            <a:ext cx="4104456" cy="1754326"/>
          </a:xfrm>
          <a:prstGeom prst="rect">
            <a:avLst/>
          </a:prstGeom>
          <a:noFill/>
        </p:spPr>
        <p:txBody>
          <a:bodyPr wrap="square" rtlCol="0">
            <a:spAutoFit/>
          </a:bodyPr>
          <a:lstStyle/>
          <a:p>
            <a:pPr marL="342900" indent="-342900">
              <a:lnSpc>
                <a:spcPct val="200000"/>
              </a:lnSpc>
              <a:buFont typeface="+mj-lt"/>
              <a:buAutoNum type="arabicPeriod"/>
            </a:pPr>
            <a:r>
              <a:rPr lang="zh-CN" altLang="en-US" dirty="0" smtClean="0">
                <a:latin typeface="微软雅黑" pitchFamily="34" charset="-122"/>
                <a:ea typeface="微软雅黑" pitchFamily="34" charset="-122"/>
              </a:rPr>
              <a:t>活动促销价格调整（直营）</a:t>
            </a:r>
            <a:endParaRPr lang="en-US" altLang="zh-CN" dirty="0" smtClean="0">
              <a:latin typeface="微软雅黑" pitchFamily="34" charset="-122"/>
              <a:ea typeface="微软雅黑" pitchFamily="34" charset="-122"/>
            </a:endParaRPr>
          </a:p>
          <a:p>
            <a:pPr marL="342900" indent="-342900">
              <a:lnSpc>
                <a:spcPct val="200000"/>
              </a:lnSpc>
              <a:buFont typeface="+mj-lt"/>
              <a:buAutoNum type="arabicPeriod"/>
            </a:pPr>
            <a:r>
              <a:rPr lang="zh-CN" altLang="en-US" dirty="0">
                <a:latin typeface="微软雅黑" pitchFamily="34" charset="-122"/>
                <a:ea typeface="微软雅黑" pitchFamily="34" charset="-122"/>
              </a:rPr>
              <a:t>畅</a:t>
            </a:r>
            <a:r>
              <a:rPr lang="zh-CN" altLang="en-US" dirty="0" smtClean="0">
                <a:latin typeface="微软雅黑" pitchFamily="34" charset="-122"/>
                <a:ea typeface="微软雅黑" pitchFamily="34" charset="-122"/>
              </a:rPr>
              <a:t>滞销分析价格调整（直营）</a:t>
            </a:r>
            <a:endParaRPr lang="en-US" altLang="zh-CN" dirty="0" smtClean="0">
              <a:latin typeface="微软雅黑" pitchFamily="34" charset="-122"/>
              <a:ea typeface="微软雅黑" pitchFamily="34" charset="-122"/>
            </a:endParaRPr>
          </a:p>
          <a:p>
            <a:pPr marL="342900" indent="-342900">
              <a:lnSpc>
                <a:spcPct val="200000"/>
              </a:lnSpc>
              <a:buFont typeface="+mj-lt"/>
              <a:buAutoNum type="arabicPeriod"/>
            </a:pPr>
            <a:r>
              <a:rPr lang="zh-CN" altLang="en-US" dirty="0" smtClean="0">
                <a:latin typeface="微软雅黑" pitchFamily="34" charset="-122"/>
                <a:ea typeface="微软雅黑" pitchFamily="34" charset="-122"/>
              </a:rPr>
              <a:t>货品支持政策价格调整（分销）</a:t>
            </a:r>
            <a:endParaRPr lang="en-US" altLang="zh-CN" dirty="0" smtClean="0">
              <a:latin typeface="微软雅黑" pitchFamily="34" charset="-122"/>
              <a:ea typeface="微软雅黑" pitchFamily="34" charset="-122"/>
            </a:endParaRPr>
          </a:p>
        </p:txBody>
      </p:sp>
    </p:spTree>
    <p:extLst>
      <p:ext uri="{BB962C8B-B14F-4D97-AF65-F5344CB8AC3E}">
        <p14:creationId xmlns:p14="http://schemas.microsoft.com/office/powerpoint/2010/main" val="109187485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36815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调价</a:t>
            </a:r>
            <a:endParaRPr lang="zh-CN" altLang="en-US" dirty="0">
              <a:latin typeface="微软雅黑" pitchFamily="34" charset="-122"/>
              <a:ea typeface="微软雅黑" pitchFamily="34" charset="-122"/>
            </a:endParaRPr>
          </a:p>
        </p:txBody>
      </p:sp>
      <p:sp>
        <p:nvSpPr>
          <p:cNvPr id="5" name="TextBox 4"/>
          <p:cNvSpPr txBox="1"/>
          <p:nvPr/>
        </p:nvSpPr>
        <p:spPr>
          <a:xfrm>
            <a:off x="935596" y="980728"/>
            <a:ext cx="4500500"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调价的</a:t>
            </a:r>
            <a:r>
              <a:rPr lang="zh-CN" altLang="en-US" dirty="0">
                <a:latin typeface="微软雅黑" pitchFamily="34" charset="-122"/>
                <a:ea typeface="微软雅黑" pitchFamily="34" charset="-122"/>
              </a:rPr>
              <a:t>流程：活动促销</a:t>
            </a:r>
            <a:r>
              <a:rPr lang="zh-CN" altLang="en-US" dirty="0" smtClean="0">
                <a:latin typeface="微软雅黑" pitchFamily="34" charset="-122"/>
                <a:ea typeface="微软雅黑" pitchFamily="34" charset="-122"/>
              </a:rPr>
              <a:t>价格调整</a:t>
            </a:r>
            <a:endParaRPr lang="zh-CN" altLang="en-US" dirty="0">
              <a:latin typeface="微软雅黑" pitchFamily="34" charset="-122"/>
              <a:ea typeface="微软雅黑" pitchFamily="34" charset="-122"/>
            </a:endParaRPr>
          </a:p>
        </p:txBody>
      </p:sp>
      <p:sp>
        <p:nvSpPr>
          <p:cNvPr id="3" name="TextBox 2"/>
          <p:cNvSpPr txBox="1"/>
          <p:nvPr/>
        </p:nvSpPr>
        <p:spPr>
          <a:xfrm>
            <a:off x="1259632" y="2132856"/>
            <a:ext cx="6552728" cy="1987852"/>
          </a:xfrm>
          <a:prstGeom prst="rect">
            <a:avLst/>
          </a:prstGeom>
          <a:noFill/>
        </p:spPr>
        <p:txBody>
          <a:bodyPr wrap="square" rtlCol="0">
            <a:spAutoFit/>
          </a:bodyPr>
          <a:lstStyle/>
          <a:p>
            <a:pPr marL="285750" indent="-285750">
              <a:lnSpc>
                <a:spcPct val="200000"/>
              </a:lnSpc>
              <a:buFont typeface="Wingdings" pitchFamily="2" charset="2"/>
              <a:buChar char="l"/>
            </a:pPr>
            <a:r>
              <a:rPr lang="zh-CN" altLang="en-US" sz="1600" dirty="0" smtClean="0">
                <a:latin typeface="微软雅黑" pitchFamily="34" charset="-122"/>
                <a:ea typeface="微软雅黑" pitchFamily="34" charset="-122"/>
              </a:rPr>
              <a:t>详细阅读直营部提供的活动方案，注意活动店面、活动内容、活动时间</a:t>
            </a:r>
            <a:endParaRPr lang="en-US" altLang="zh-CN" sz="1600" dirty="0" smtClean="0">
              <a:latin typeface="微软雅黑" pitchFamily="34" charset="-122"/>
              <a:ea typeface="微软雅黑" pitchFamily="34" charset="-122"/>
            </a:endParaRPr>
          </a:p>
          <a:p>
            <a:pPr marL="285750" indent="-285750">
              <a:lnSpc>
                <a:spcPct val="200000"/>
              </a:lnSpc>
              <a:buFont typeface="Wingdings" pitchFamily="2" charset="2"/>
              <a:buChar char="l"/>
            </a:pPr>
            <a:r>
              <a:rPr lang="zh-CN" altLang="en-US" sz="1600" dirty="0" smtClean="0">
                <a:latin typeface="微软雅黑" pitchFamily="34" charset="-122"/>
                <a:ea typeface="微软雅黑" pitchFamily="34" charset="-122"/>
              </a:rPr>
              <a:t>与财务部沟通活动方案的系统操作流程</a:t>
            </a:r>
            <a:endParaRPr lang="en-US" altLang="zh-CN" sz="1600" dirty="0" smtClean="0">
              <a:latin typeface="微软雅黑" pitchFamily="34" charset="-122"/>
              <a:ea typeface="微软雅黑" pitchFamily="34" charset="-122"/>
            </a:endParaRPr>
          </a:p>
          <a:p>
            <a:pPr marL="285750" indent="-285750">
              <a:lnSpc>
                <a:spcPct val="200000"/>
              </a:lnSpc>
              <a:buFont typeface="Wingdings" pitchFamily="2" charset="2"/>
              <a:buChar char="l"/>
            </a:pPr>
            <a:r>
              <a:rPr lang="zh-CN" altLang="en-US" sz="1600" dirty="0" smtClean="0">
                <a:latin typeface="微软雅黑" pitchFamily="34" charset="-122"/>
                <a:ea typeface="微软雅黑" pitchFamily="34" charset="-122"/>
              </a:rPr>
              <a:t>填写</a:t>
            </a:r>
            <a:r>
              <a:rPr lang="en-US" altLang="zh-CN" sz="1600" dirty="0" smtClean="0">
                <a:latin typeface="微软雅黑" pitchFamily="34" charset="-122"/>
                <a:ea typeface="微软雅黑" pitchFamily="34" charset="-122"/>
              </a:rPr>
              <a:t>《</a:t>
            </a:r>
            <a:r>
              <a:rPr lang="zh-CN" altLang="en-US" sz="1600" dirty="0" smtClean="0">
                <a:latin typeface="微软雅黑" pitchFamily="34" charset="-122"/>
                <a:ea typeface="微软雅黑" pitchFamily="34" charset="-122"/>
              </a:rPr>
              <a:t>调价单</a:t>
            </a:r>
            <a:r>
              <a:rPr lang="en-US" altLang="zh-CN" sz="1600" dirty="0" smtClean="0">
                <a:latin typeface="微软雅黑" pitchFamily="34" charset="-122"/>
                <a:ea typeface="微软雅黑" pitchFamily="34" charset="-122"/>
              </a:rPr>
              <a:t>》</a:t>
            </a:r>
            <a:r>
              <a:rPr lang="zh-CN" altLang="en-US" sz="1600" dirty="0" smtClean="0">
                <a:latin typeface="微软雅黑" pitchFamily="34" charset="-122"/>
                <a:ea typeface="微软雅黑" pitchFamily="34" charset="-122"/>
              </a:rPr>
              <a:t>，并于活动开始前一天将调价单递交财务</a:t>
            </a:r>
            <a:endParaRPr lang="en-US" altLang="zh-CN" sz="1600" dirty="0" smtClean="0">
              <a:latin typeface="微软雅黑" pitchFamily="34" charset="-122"/>
              <a:ea typeface="微软雅黑" pitchFamily="34" charset="-122"/>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883104445"/>
              </p:ext>
            </p:extLst>
          </p:nvPr>
        </p:nvGraphicFramePr>
        <p:xfrm>
          <a:off x="6804248" y="5085184"/>
          <a:ext cx="1728192" cy="1296144"/>
        </p:xfrm>
        <a:graphic>
          <a:graphicData uri="http://schemas.openxmlformats.org/presentationml/2006/ole">
            <mc:AlternateContent xmlns:mc="http://schemas.openxmlformats.org/markup-compatibility/2006">
              <mc:Choice xmlns:v="urn:schemas-microsoft-com:vml" Requires="v">
                <p:oleObj spid="_x0000_s22569" name="工作表" showAsIcon="1" r:id="rId3" imgW="914400" imgH="685800" progId="Excel.Sheet.12">
                  <p:embed/>
                </p:oleObj>
              </mc:Choice>
              <mc:Fallback>
                <p:oleObj name="工作表" showAsIcon="1" r:id="rId3" imgW="914400" imgH="685800" progId="Excel.Sheet.12">
                  <p:embed/>
                  <p:pic>
                    <p:nvPicPr>
                      <p:cNvPr id="0" name=""/>
                      <p:cNvPicPr/>
                      <p:nvPr/>
                    </p:nvPicPr>
                    <p:blipFill>
                      <a:blip r:embed="rId4"/>
                      <a:stretch>
                        <a:fillRect/>
                      </a:stretch>
                    </p:blipFill>
                    <p:spPr>
                      <a:xfrm>
                        <a:off x="6804248" y="5085184"/>
                        <a:ext cx="1728192" cy="1296144"/>
                      </a:xfrm>
                      <a:prstGeom prst="rect">
                        <a:avLst/>
                      </a:prstGeom>
                    </p:spPr>
                  </p:pic>
                </p:oleObj>
              </mc:Fallback>
            </mc:AlternateContent>
          </a:graphicData>
        </a:graphic>
      </p:graphicFrame>
    </p:spTree>
    <p:extLst>
      <p:ext uri="{BB962C8B-B14F-4D97-AF65-F5344CB8AC3E}">
        <p14:creationId xmlns:p14="http://schemas.microsoft.com/office/powerpoint/2010/main" val="109187485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36815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调价</a:t>
            </a:r>
            <a:endParaRPr lang="zh-CN" altLang="en-US" dirty="0">
              <a:latin typeface="微软雅黑" pitchFamily="34" charset="-122"/>
              <a:ea typeface="微软雅黑" pitchFamily="34" charset="-122"/>
            </a:endParaRPr>
          </a:p>
        </p:txBody>
      </p:sp>
      <p:sp>
        <p:nvSpPr>
          <p:cNvPr id="5" name="TextBox 4"/>
          <p:cNvSpPr txBox="1"/>
          <p:nvPr/>
        </p:nvSpPr>
        <p:spPr>
          <a:xfrm>
            <a:off x="935596" y="980728"/>
            <a:ext cx="4500500"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调价的</a:t>
            </a:r>
            <a:r>
              <a:rPr lang="zh-CN" altLang="en-US" dirty="0">
                <a:latin typeface="微软雅黑" pitchFamily="34" charset="-122"/>
                <a:ea typeface="微软雅黑" pitchFamily="34" charset="-122"/>
              </a:rPr>
              <a:t>流程</a:t>
            </a:r>
            <a:r>
              <a:rPr lang="zh-CN" altLang="en-US" dirty="0" smtClean="0">
                <a:latin typeface="微软雅黑" pitchFamily="34" charset="-122"/>
                <a:ea typeface="微软雅黑" pitchFamily="34" charset="-122"/>
              </a:rPr>
              <a:t>：畅滞销分析价格调整</a:t>
            </a:r>
            <a:endParaRPr lang="zh-CN" altLang="en-US" dirty="0">
              <a:latin typeface="微软雅黑" pitchFamily="34" charset="-122"/>
              <a:ea typeface="微软雅黑" pitchFamily="34" charset="-122"/>
            </a:endParaRPr>
          </a:p>
        </p:txBody>
      </p:sp>
      <p:sp>
        <p:nvSpPr>
          <p:cNvPr id="3" name="TextBox 2"/>
          <p:cNvSpPr txBox="1"/>
          <p:nvPr/>
        </p:nvSpPr>
        <p:spPr>
          <a:xfrm>
            <a:off x="1259632" y="2132856"/>
            <a:ext cx="6552728" cy="1569660"/>
          </a:xfrm>
          <a:prstGeom prst="rect">
            <a:avLst/>
          </a:prstGeom>
          <a:noFill/>
        </p:spPr>
        <p:txBody>
          <a:bodyPr wrap="square" rtlCol="0">
            <a:spAutoFit/>
          </a:bodyPr>
          <a:lstStyle/>
          <a:p>
            <a:pPr marL="285750" indent="-285750">
              <a:lnSpc>
                <a:spcPct val="200000"/>
              </a:lnSpc>
              <a:buFont typeface="Wingdings" pitchFamily="2" charset="2"/>
              <a:buChar char="l"/>
            </a:pPr>
            <a:r>
              <a:rPr lang="zh-CN" altLang="en-US" sz="1600" dirty="0" smtClean="0">
                <a:latin typeface="微软雅黑" pitchFamily="34" charset="-122"/>
                <a:ea typeface="微软雅黑" pitchFamily="34" charset="-122"/>
              </a:rPr>
              <a:t>按上货批次制作</a:t>
            </a:r>
            <a:r>
              <a:rPr lang="en-US" altLang="zh-CN" sz="1600" dirty="0">
                <a:latin typeface="微软雅黑" pitchFamily="34" charset="-122"/>
                <a:ea typeface="微软雅黑" pitchFamily="34" charset="-122"/>
              </a:rPr>
              <a:t>《</a:t>
            </a:r>
            <a:r>
              <a:rPr lang="zh-CN" altLang="en-US" sz="1600" dirty="0" smtClean="0">
                <a:latin typeface="微软雅黑" pitchFamily="34" charset="-122"/>
                <a:ea typeface="微软雅黑" pitchFamily="34" charset="-122"/>
              </a:rPr>
              <a:t>畅滞销分析</a:t>
            </a:r>
            <a:r>
              <a:rPr lang="en-US" altLang="zh-CN" sz="1600" dirty="0" smtClean="0">
                <a:latin typeface="微软雅黑" pitchFamily="34" charset="-122"/>
                <a:ea typeface="微软雅黑" pitchFamily="34" charset="-122"/>
              </a:rPr>
              <a:t>》</a:t>
            </a:r>
          </a:p>
          <a:p>
            <a:pPr marL="285750" indent="-285750">
              <a:lnSpc>
                <a:spcPct val="200000"/>
              </a:lnSpc>
              <a:buFont typeface="Wingdings" pitchFamily="2" charset="2"/>
              <a:buChar char="l"/>
            </a:pPr>
            <a:r>
              <a:rPr lang="zh-CN" altLang="en-US" sz="1600" dirty="0" smtClean="0">
                <a:latin typeface="微软雅黑" pitchFamily="34" charset="-122"/>
                <a:ea typeface="微软雅黑" pitchFamily="34" charset="-122"/>
              </a:rPr>
              <a:t>将样板找出分析货品状况并设立调价幅度</a:t>
            </a:r>
            <a:endParaRPr lang="en-US" altLang="zh-CN" sz="1600" dirty="0" smtClean="0">
              <a:latin typeface="微软雅黑" pitchFamily="34" charset="-122"/>
              <a:ea typeface="微软雅黑" pitchFamily="34" charset="-122"/>
            </a:endParaRPr>
          </a:p>
          <a:p>
            <a:pPr marL="285750" indent="-285750">
              <a:lnSpc>
                <a:spcPct val="200000"/>
              </a:lnSpc>
              <a:buFont typeface="Wingdings" pitchFamily="2" charset="2"/>
              <a:buChar char="l"/>
            </a:pPr>
            <a:r>
              <a:rPr lang="zh-CN" altLang="en-US" sz="1600" dirty="0" smtClean="0">
                <a:latin typeface="微软雅黑" pitchFamily="34" charset="-122"/>
                <a:ea typeface="微软雅黑" pitchFamily="34" charset="-122"/>
              </a:rPr>
              <a:t>填写</a:t>
            </a:r>
            <a:r>
              <a:rPr lang="en-US" altLang="zh-CN" sz="1600" dirty="0" smtClean="0">
                <a:latin typeface="微软雅黑" pitchFamily="34" charset="-122"/>
                <a:ea typeface="微软雅黑" pitchFamily="34" charset="-122"/>
              </a:rPr>
              <a:t>《</a:t>
            </a:r>
            <a:r>
              <a:rPr lang="zh-CN" altLang="en-US" sz="1600" dirty="0" smtClean="0">
                <a:latin typeface="微软雅黑" pitchFamily="34" charset="-122"/>
                <a:ea typeface="微软雅黑" pitchFamily="34" charset="-122"/>
              </a:rPr>
              <a:t>调价单</a:t>
            </a:r>
            <a:r>
              <a:rPr lang="en-US" altLang="zh-CN" sz="1600" dirty="0" smtClean="0">
                <a:latin typeface="微软雅黑" pitchFamily="34" charset="-122"/>
                <a:ea typeface="微软雅黑" pitchFamily="34" charset="-122"/>
              </a:rPr>
              <a:t>》</a:t>
            </a:r>
            <a:r>
              <a:rPr lang="zh-CN" altLang="en-US" sz="1600" dirty="0" smtClean="0">
                <a:latin typeface="微软雅黑" pitchFamily="34" charset="-122"/>
                <a:ea typeface="微软雅黑" pitchFamily="34" charset="-122"/>
              </a:rPr>
              <a:t>，并于价格执行前一天将调价单递交财务</a:t>
            </a:r>
            <a:endParaRPr lang="en-US" altLang="zh-CN" sz="1600" dirty="0" smtClean="0">
              <a:latin typeface="微软雅黑" pitchFamily="34" charset="-122"/>
              <a:ea typeface="微软雅黑" pitchFamily="34" charset="-122"/>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950566347"/>
              </p:ext>
            </p:extLst>
          </p:nvPr>
        </p:nvGraphicFramePr>
        <p:xfrm>
          <a:off x="6732240" y="5085184"/>
          <a:ext cx="1728192" cy="1296144"/>
        </p:xfrm>
        <a:graphic>
          <a:graphicData uri="http://schemas.openxmlformats.org/presentationml/2006/ole">
            <mc:AlternateContent xmlns:mc="http://schemas.openxmlformats.org/markup-compatibility/2006">
              <mc:Choice xmlns:v="urn:schemas-microsoft-com:vml" Requires="v">
                <p:oleObj spid="_x0000_s23630" name="工作表" showAsIcon="1" r:id="rId3" imgW="914400" imgH="685800" progId="Excel.Sheet.12">
                  <p:embed/>
                </p:oleObj>
              </mc:Choice>
              <mc:Fallback>
                <p:oleObj name="工作表" showAsIcon="1" r:id="rId3" imgW="914400" imgH="685800" progId="Excel.Sheet.12">
                  <p:embed/>
                  <p:pic>
                    <p:nvPicPr>
                      <p:cNvPr id="0" name=""/>
                      <p:cNvPicPr/>
                      <p:nvPr/>
                    </p:nvPicPr>
                    <p:blipFill>
                      <a:blip r:embed="rId4"/>
                      <a:stretch>
                        <a:fillRect/>
                      </a:stretch>
                    </p:blipFill>
                    <p:spPr>
                      <a:xfrm>
                        <a:off x="6732240" y="5085184"/>
                        <a:ext cx="1728192" cy="1296144"/>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155673813"/>
              </p:ext>
            </p:extLst>
          </p:nvPr>
        </p:nvGraphicFramePr>
        <p:xfrm>
          <a:off x="5220072" y="5085184"/>
          <a:ext cx="1656184" cy="1242138"/>
        </p:xfrm>
        <a:graphic>
          <a:graphicData uri="http://schemas.openxmlformats.org/presentationml/2006/ole">
            <mc:AlternateContent xmlns:mc="http://schemas.openxmlformats.org/markup-compatibility/2006">
              <mc:Choice xmlns:v="urn:schemas-microsoft-com:vml" Requires="v">
                <p:oleObj spid="_x0000_s23631" name="工作表" showAsIcon="1" r:id="rId5" imgW="914400" imgH="685800" progId="Excel.Sheet.12">
                  <p:embed/>
                </p:oleObj>
              </mc:Choice>
              <mc:Fallback>
                <p:oleObj name="工作表" showAsIcon="1" r:id="rId5" imgW="914400" imgH="685800" progId="Excel.Sheet.12">
                  <p:embed/>
                  <p:pic>
                    <p:nvPicPr>
                      <p:cNvPr id="0" name=""/>
                      <p:cNvPicPr/>
                      <p:nvPr/>
                    </p:nvPicPr>
                    <p:blipFill>
                      <a:blip r:embed="rId6"/>
                      <a:stretch>
                        <a:fillRect/>
                      </a:stretch>
                    </p:blipFill>
                    <p:spPr>
                      <a:xfrm>
                        <a:off x="5220072" y="5085184"/>
                        <a:ext cx="1656184" cy="1242138"/>
                      </a:xfrm>
                      <a:prstGeom prst="rect">
                        <a:avLst/>
                      </a:prstGeom>
                    </p:spPr>
                  </p:pic>
                </p:oleObj>
              </mc:Fallback>
            </mc:AlternateContent>
          </a:graphicData>
        </a:graphic>
      </p:graphicFrame>
    </p:spTree>
    <p:extLst>
      <p:ext uri="{BB962C8B-B14F-4D97-AF65-F5344CB8AC3E}">
        <p14:creationId xmlns:p14="http://schemas.microsoft.com/office/powerpoint/2010/main" val="135368160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36815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调价</a:t>
            </a:r>
            <a:endParaRPr lang="zh-CN" altLang="en-US" dirty="0">
              <a:latin typeface="微软雅黑" pitchFamily="34" charset="-122"/>
              <a:ea typeface="微软雅黑" pitchFamily="34" charset="-122"/>
            </a:endParaRPr>
          </a:p>
        </p:txBody>
      </p:sp>
      <p:sp>
        <p:nvSpPr>
          <p:cNvPr id="5" name="TextBox 4"/>
          <p:cNvSpPr txBox="1"/>
          <p:nvPr/>
        </p:nvSpPr>
        <p:spPr>
          <a:xfrm>
            <a:off x="935596" y="980728"/>
            <a:ext cx="4500500"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调价的</a:t>
            </a:r>
            <a:r>
              <a:rPr lang="zh-CN" altLang="en-US" dirty="0">
                <a:latin typeface="微软雅黑" pitchFamily="34" charset="-122"/>
                <a:ea typeface="微软雅黑" pitchFamily="34" charset="-122"/>
              </a:rPr>
              <a:t>流程</a:t>
            </a:r>
            <a:r>
              <a:rPr lang="zh-CN" altLang="en-US" dirty="0" smtClean="0">
                <a:latin typeface="微软雅黑" pitchFamily="34" charset="-122"/>
                <a:ea typeface="微软雅黑" pitchFamily="34" charset="-122"/>
              </a:rPr>
              <a:t>：货品支持政策价格调整</a:t>
            </a:r>
            <a:endParaRPr lang="zh-CN" altLang="en-US" dirty="0">
              <a:latin typeface="微软雅黑" pitchFamily="34" charset="-122"/>
              <a:ea typeface="微软雅黑" pitchFamily="34" charset="-122"/>
            </a:endParaRPr>
          </a:p>
        </p:txBody>
      </p:sp>
      <p:sp>
        <p:nvSpPr>
          <p:cNvPr id="3" name="TextBox 2"/>
          <p:cNvSpPr txBox="1"/>
          <p:nvPr/>
        </p:nvSpPr>
        <p:spPr>
          <a:xfrm>
            <a:off x="1259632" y="2132856"/>
            <a:ext cx="6552728" cy="1569660"/>
          </a:xfrm>
          <a:prstGeom prst="rect">
            <a:avLst/>
          </a:prstGeom>
          <a:noFill/>
        </p:spPr>
        <p:txBody>
          <a:bodyPr wrap="square" rtlCol="0">
            <a:spAutoFit/>
          </a:bodyPr>
          <a:lstStyle/>
          <a:p>
            <a:pPr marL="285750" indent="-285750">
              <a:lnSpc>
                <a:spcPct val="200000"/>
              </a:lnSpc>
              <a:buFont typeface="Wingdings" pitchFamily="2" charset="2"/>
              <a:buChar char="l"/>
            </a:pPr>
            <a:r>
              <a:rPr lang="zh-CN" altLang="en-US" sz="1600" dirty="0" smtClean="0">
                <a:latin typeface="微软雅黑" pitchFamily="34" charset="-122"/>
                <a:ea typeface="微软雅黑" pitchFamily="34" charset="-122"/>
              </a:rPr>
              <a:t>与市场部沟通设定货品支持政策并起草政策</a:t>
            </a:r>
            <a:endParaRPr lang="en-US" altLang="zh-CN" sz="1600" dirty="0" smtClean="0">
              <a:latin typeface="微软雅黑" pitchFamily="34" charset="-122"/>
              <a:ea typeface="微软雅黑" pitchFamily="34" charset="-122"/>
            </a:endParaRPr>
          </a:p>
          <a:p>
            <a:pPr marL="285750" indent="-285750">
              <a:lnSpc>
                <a:spcPct val="200000"/>
              </a:lnSpc>
              <a:buFont typeface="Wingdings" pitchFamily="2" charset="2"/>
              <a:buChar char="l"/>
            </a:pPr>
            <a:r>
              <a:rPr lang="zh-CN" altLang="en-US" sz="1600" dirty="0" smtClean="0">
                <a:latin typeface="微软雅黑" pitchFamily="34" charset="-122"/>
                <a:ea typeface="微软雅黑" pitchFamily="34" charset="-122"/>
              </a:rPr>
              <a:t>将确认好的政策递交领导审批</a:t>
            </a:r>
            <a:endParaRPr lang="en-US" altLang="zh-CN" sz="1600" dirty="0" smtClean="0">
              <a:latin typeface="微软雅黑" pitchFamily="34" charset="-122"/>
              <a:ea typeface="微软雅黑" pitchFamily="34" charset="-122"/>
            </a:endParaRPr>
          </a:p>
          <a:p>
            <a:pPr marL="285750" indent="-285750">
              <a:lnSpc>
                <a:spcPct val="200000"/>
              </a:lnSpc>
              <a:buFont typeface="Wingdings" pitchFamily="2" charset="2"/>
              <a:buChar char="l"/>
            </a:pPr>
            <a:r>
              <a:rPr lang="zh-CN" altLang="en-US" sz="1600" dirty="0" smtClean="0">
                <a:latin typeface="微软雅黑" pitchFamily="34" charset="-122"/>
                <a:ea typeface="微软雅黑" pitchFamily="34" charset="-122"/>
              </a:rPr>
              <a:t>依据政策内容填写调价单</a:t>
            </a:r>
            <a:endParaRPr lang="en-US" altLang="zh-CN" sz="1600" dirty="0" smtClean="0">
              <a:latin typeface="微软雅黑" pitchFamily="34" charset="-122"/>
              <a:ea typeface="微软雅黑" pitchFamily="34" charset="-122"/>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419856824"/>
              </p:ext>
            </p:extLst>
          </p:nvPr>
        </p:nvGraphicFramePr>
        <p:xfrm>
          <a:off x="4932040" y="5013176"/>
          <a:ext cx="1824203" cy="1368152"/>
        </p:xfrm>
        <a:graphic>
          <a:graphicData uri="http://schemas.openxmlformats.org/presentationml/2006/ole">
            <mc:AlternateContent xmlns:mc="http://schemas.openxmlformats.org/markup-compatibility/2006">
              <mc:Choice xmlns:v="urn:schemas-microsoft-com:vml" Requires="v">
                <p:oleObj spid="_x0000_s24656" name="文档" showAsIcon="1" r:id="rId3" imgW="914400" imgH="685800" progId="Word.Document.12">
                  <p:embed/>
                </p:oleObj>
              </mc:Choice>
              <mc:Fallback>
                <p:oleObj name="文档" showAsIcon="1" r:id="rId3" imgW="914400" imgH="685800" progId="Word.Document.12">
                  <p:embed/>
                  <p:pic>
                    <p:nvPicPr>
                      <p:cNvPr id="0" name=""/>
                      <p:cNvPicPr/>
                      <p:nvPr/>
                    </p:nvPicPr>
                    <p:blipFill>
                      <a:blip r:embed="rId4"/>
                      <a:stretch>
                        <a:fillRect/>
                      </a:stretch>
                    </p:blipFill>
                    <p:spPr>
                      <a:xfrm>
                        <a:off x="4932040" y="5013176"/>
                        <a:ext cx="1824203" cy="1368152"/>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63408234"/>
              </p:ext>
            </p:extLst>
          </p:nvPr>
        </p:nvGraphicFramePr>
        <p:xfrm>
          <a:off x="7020271" y="5013176"/>
          <a:ext cx="1632181" cy="1224136"/>
        </p:xfrm>
        <a:graphic>
          <a:graphicData uri="http://schemas.openxmlformats.org/presentationml/2006/ole">
            <mc:AlternateContent xmlns:mc="http://schemas.openxmlformats.org/markup-compatibility/2006">
              <mc:Choice xmlns:v="urn:schemas-microsoft-com:vml" Requires="v">
                <p:oleObj spid="_x0000_s24657" name="工作表" showAsIcon="1" r:id="rId5" imgW="914400" imgH="685800" progId="Excel.Sheet.12">
                  <p:embed/>
                </p:oleObj>
              </mc:Choice>
              <mc:Fallback>
                <p:oleObj name="工作表" showAsIcon="1" r:id="rId5" imgW="914400" imgH="685800" progId="Excel.Sheet.12">
                  <p:embed/>
                  <p:pic>
                    <p:nvPicPr>
                      <p:cNvPr id="0" name=""/>
                      <p:cNvPicPr/>
                      <p:nvPr/>
                    </p:nvPicPr>
                    <p:blipFill>
                      <a:blip r:embed="rId6"/>
                      <a:stretch>
                        <a:fillRect/>
                      </a:stretch>
                    </p:blipFill>
                    <p:spPr>
                      <a:xfrm>
                        <a:off x="7020271" y="5013176"/>
                        <a:ext cx="1632181" cy="1224136"/>
                      </a:xfrm>
                      <a:prstGeom prst="rect">
                        <a:avLst/>
                      </a:prstGeom>
                    </p:spPr>
                  </p:pic>
                </p:oleObj>
              </mc:Fallback>
            </mc:AlternateContent>
          </a:graphicData>
        </a:graphic>
      </p:graphicFrame>
    </p:spTree>
    <p:extLst>
      <p:ext uri="{BB962C8B-B14F-4D97-AF65-F5344CB8AC3E}">
        <p14:creationId xmlns:p14="http://schemas.microsoft.com/office/powerpoint/2010/main" val="426677166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65997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返货（过季）</a:t>
            </a:r>
            <a:endParaRPr lang="zh-CN" altLang="en-US" dirty="0">
              <a:latin typeface="微软雅黑" pitchFamily="34" charset="-122"/>
              <a:ea typeface="微软雅黑" pitchFamily="34" charset="-122"/>
            </a:endParaRPr>
          </a:p>
        </p:txBody>
      </p:sp>
      <p:sp>
        <p:nvSpPr>
          <p:cNvPr id="5" name="TextBox 4"/>
          <p:cNvSpPr txBox="1"/>
          <p:nvPr/>
        </p:nvSpPr>
        <p:spPr>
          <a:xfrm>
            <a:off x="683568" y="764704"/>
            <a:ext cx="169448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返货的流程：</a:t>
            </a:r>
            <a:endParaRPr lang="zh-CN" altLang="en-US" dirty="0">
              <a:latin typeface="微软雅黑" pitchFamily="34" charset="-122"/>
              <a:ea typeface="微软雅黑" pitchFamily="34" charset="-122"/>
            </a:endParaRPr>
          </a:p>
        </p:txBody>
      </p:sp>
      <p:sp>
        <p:nvSpPr>
          <p:cNvPr id="6" name="AutoShape 73"/>
          <p:cNvSpPr>
            <a:spLocks noChangeArrowheads="1"/>
          </p:cNvSpPr>
          <p:nvPr/>
        </p:nvSpPr>
        <p:spPr bwMode="auto">
          <a:xfrm>
            <a:off x="1691680" y="1889274"/>
            <a:ext cx="1986253" cy="719137"/>
          </a:xfrm>
          <a:prstGeom prst="homePlate">
            <a:avLst>
              <a:gd name="adj" fmla="val 62583"/>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endParaRPr lang="zh-CN" altLang="en-US"/>
          </a:p>
        </p:txBody>
      </p:sp>
      <p:sp>
        <p:nvSpPr>
          <p:cNvPr id="7" name="AutoShape 74"/>
          <p:cNvSpPr>
            <a:spLocks noChangeArrowheads="1"/>
          </p:cNvSpPr>
          <p:nvPr/>
        </p:nvSpPr>
        <p:spPr bwMode="auto">
          <a:xfrm>
            <a:off x="3131840" y="1889274"/>
            <a:ext cx="2097963" cy="719137"/>
          </a:xfrm>
          <a:prstGeom prst="chevron">
            <a:avLst>
              <a:gd name="adj" fmla="val 62583"/>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endParaRPr lang="zh-CN" altLang="en-US"/>
          </a:p>
        </p:txBody>
      </p:sp>
      <p:sp>
        <p:nvSpPr>
          <p:cNvPr id="8" name="AutoShape 75"/>
          <p:cNvSpPr>
            <a:spLocks noChangeArrowheads="1"/>
          </p:cNvSpPr>
          <p:nvPr/>
        </p:nvSpPr>
        <p:spPr bwMode="auto">
          <a:xfrm>
            <a:off x="4795420" y="1889274"/>
            <a:ext cx="1986253" cy="719137"/>
          </a:xfrm>
          <a:prstGeom prst="chevron">
            <a:avLst>
              <a:gd name="adj" fmla="val 62583"/>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endParaRPr lang="zh-CN" altLang="en-US"/>
          </a:p>
        </p:txBody>
      </p:sp>
      <p:sp>
        <p:nvSpPr>
          <p:cNvPr id="9" name="AutoShape 15"/>
          <p:cNvSpPr>
            <a:spLocks noChangeArrowheads="1"/>
          </p:cNvSpPr>
          <p:nvPr/>
        </p:nvSpPr>
        <p:spPr bwMode="auto">
          <a:xfrm>
            <a:off x="1604298" y="3458309"/>
            <a:ext cx="2020700" cy="719137"/>
          </a:xfrm>
          <a:prstGeom prst="homePlate">
            <a:avLst>
              <a:gd name="adj" fmla="val 50055"/>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endParaRPr lang="zh-CN" altLang="en-US" sz="1600" dirty="0"/>
          </a:p>
        </p:txBody>
      </p:sp>
      <p:sp>
        <p:nvSpPr>
          <p:cNvPr id="10" name="Text Box 16"/>
          <p:cNvSpPr txBox="1">
            <a:spLocks noChangeArrowheads="1"/>
          </p:cNvSpPr>
          <p:nvPr/>
        </p:nvSpPr>
        <p:spPr bwMode="auto">
          <a:xfrm>
            <a:off x="1691680" y="3693974"/>
            <a:ext cx="1289025" cy="246221"/>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lIns="0" tIns="0" rIns="0" bIns="0" anchor="ctr">
            <a:spAutoFit/>
          </a:bodyPr>
          <a:lstStyle/>
          <a:p>
            <a:pPr algn="ctr"/>
            <a:r>
              <a:rPr lang="zh-CN" altLang="en-US" sz="1600" b="1" dirty="0" smtClean="0">
                <a:latin typeface="微软雅黑" pitchFamily="34" charset="-122"/>
                <a:ea typeface="微软雅黑" pitchFamily="34" charset="-122"/>
              </a:rPr>
              <a:t>店面整理货品</a:t>
            </a:r>
            <a:endParaRPr lang="en-US" altLang="ko-KR" sz="1600" b="1" dirty="0">
              <a:latin typeface="微软雅黑" pitchFamily="34" charset="-122"/>
              <a:ea typeface="微软雅黑" pitchFamily="34" charset="-122"/>
            </a:endParaRPr>
          </a:p>
        </p:txBody>
      </p:sp>
      <p:sp>
        <p:nvSpPr>
          <p:cNvPr id="11" name="AutoShape 17"/>
          <p:cNvSpPr>
            <a:spLocks noChangeArrowheads="1"/>
          </p:cNvSpPr>
          <p:nvPr/>
        </p:nvSpPr>
        <p:spPr bwMode="auto">
          <a:xfrm>
            <a:off x="2856653" y="3458309"/>
            <a:ext cx="2020700" cy="719137"/>
          </a:xfrm>
          <a:prstGeom prst="chevron">
            <a:avLst>
              <a:gd name="adj" fmla="val 50055"/>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endParaRPr lang="zh-CN" altLang="en-US"/>
          </a:p>
        </p:txBody>
      </p:sp>
      <p:sp>
        <p:nvSpPr>
          <p:cNvPr id="12" name="Text Box 18"/>
          <p:cNvSpPr txBox="1">
            <a:spLocks noChangeArrowheads="1"/>
          </p:cNvSpPr>
          <p:nvPr/>
        </p:nvSpPr>
        <p:spPr bwMode="auto">
          <a:xfrm>
            <a:off x="3248493" y="3693973"/>
            <a:ext cx="1043944" cy="246221"/>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lIns="0" tIns="0" rIns="0" bIns="0" anchor="ctr">
            <a:spAutoFit/>
          </a:bodyPr>
          <a:lstStyle/>
          <a:p>
            <a:pPr algn="ctr"/>
            <a:r>
              <a:rPr lang="zh-CN" altLang="en-US" sz="1600" b="1" dirty="0" smtClean="0">
                <a:latin typeface="微软雅黑" pitchFamily="34" charset="-122"/>
                <a:ea typeface="微软雅黑" pitchFamily="34" charset="-122"/>
              </a:rPr>
              <a:t>店铺发货</a:t>
            </a:r>
            <a:endParaRPr lang="en-US" altLang="ko-KR" sz="1600" b="1" dirty="0">
              <a:latin typeface="微软雅黑" pitchFamily="34" charset="-122"/>
              <a:ea typeface="微软雅黑" pitchFamily="34" charset="-122"/>
            </a:endParaRPr>
          </a:p>
        </p:txBody>
      </p:sp>
      <p:sp>
        <p:nvSpPr>
          <p:cNvPr id="13" name="AutoShape 19"/>
          <p:cNvSpPr>
            <a:spLocks noChangeArrowheads="1"/>
          </p:cNvSpPr>
          <p:nvPr/>
        </p:nvSpPr>
        <p:spPr bwMode="auto">
          <a:xfrm>
            <a:off x="4107256" y="3458309"/>
            <a:ext cx="2020700" cy="719137"/>
          </a:xfrm>
          <a:prstGeom prst="chevron">
            <a:avLst>
              <a:gd name="adj" fmla="val 50055"/>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endParaRPr lang="zh-CN" altLang="en-US"/>
          </a:p>
        </p:txBody>
      </p:sp>
      <p:sp>
        <p:nvSpPr>
          <p:cNvPr id="14" name="Text Box 20"/>
          <p:cNvSpPr txBox="1">
            <a:spLocks noChangeArrowheads="1"/>
          </p:cNvSpPr>
          <p:nvPr/>
        </p:nvSpPr>
        <p:spPr bwMode="auto">
          <a:xfrm>
            <a:off x="4427984" y="3686255"/>
            <a:ext cx="1152128" cy="246221"/>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lIns="0" tIns="0" rIns="0" bIns="0" anchor="ctr">
            <a:spAutoFit/>
          </a:bodyPr>
          <a:lstStyle/>
          <a:p>
            <a:pPr algn="ctr"/>
            <a:r>
              <a:rPr lang="zh-CN" altLang="en-US" sz="1600" b="1" dirty="0" smtClean="0">
                <a:latin typeface="微软雅黑" pitchFamily="34" charset="-122"/>
                <a:ea typeface="微软雅黑" pitchFamily="34" charset="-122"/>
              </a:rPr>
              <a:t>仓库核对</a:t>
            </a:r>
            <a:endParaRPr lang="en-US" altLang="ko-KR" sz="1600" b="1" dirty="0">
              <a:latin typeface="微软雅黑" pitchFamily="34" charset="-122"/>
              <a:ea typeface="微软雅黑" pitchFamily="34" charset="-122"/>
            </a:endParaRPr>
          </a:p>
        </p:txBody>
      </p:sp>
      <p:sp>
        <p:nvSpPr>
          <p:cNvPr id="15" name="AutoShape 21"/>
          <p:cNvSpPr>
            <a:spLocks noChangeArrowheads="1"/>
          </p:cNvSpPr>
          <p:nvPr/>
        </p:nvSpPr>
        <p:spPr bwMode="auto">
          <a:xfrm>
            <a:off x="5359612" y="3458309"/>
            <a:ext cx="2020700" cy="719137"/>
          </a:xfrm>
          <a:prstGeom prst="chevron">
            <a:avLst>
              <a:gd name="adj" fmla="val 50055"/>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endParaRPr lang="zh-CN" altLang="en-US"/>
          </a:p>
        </p:txBody>
      </p:sp>
      <p:sp>
        <p:nvSpPr>
          <p:cNvPr id="16" name="Text Box 22"/>
          <p:cNvSpPr txBox="1">
            <a:spLocks noChangeArrowheads="1"/>
          </p:cNvSpPr>
          <p:nvPr/>
        </p:nvSpPr>
        <p:spPr bwMode="auto">
          <a:xfrm>
            <a:off x="5738241" y="3709362"/>
            <a:ext cx="1370176" cy="215444"/>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lIns="0" tIns="0" rIns="0" bIns="0" anchor="ctr">
            <a:spAutoFit/>
          </a:bodyPr>
          <a:lstStyle/>
          <a:p>
            <a:pPr algn="ctr"/>
            <a:r>
              <a:rPr lang="zh-CN" altLang="en-US" sz="1400" b="1" dirty="0" smtClean="0">
                <a:latin typeface="微软雅黑" pitchFamily="34" charset="-122"/>
                <a:ea typeface="微软雅黑" pitchFamily="34" charset="-122"/>
              </a:rPr>
              <a:t>仓库验收并上账</a:t>
            </a:r>
            <a:endParaRPr lang="en-US" altLang="ko-KR" sz="1400" b="1" dirty="0">
              <a:latin typeface="微软雅黑" pitchFamily="34" charset="-122"/>
              <a:ea typeface="微软雅黑" pitchFamily="34" charset="-122"/>
            </a:endParaRPr>
          </a:p>
        </p:txBody>
      </p:sp>
      <p:sp>
        <p:nvSpPr>
          <p:cNvPr id="17" name="AutoShape 23"/>
          <p:cNvSpPr>
            <a:spLocks noChangeArrowheads="1"/>
          </p:cNvSpPr>
          <p:nvPr/>
        </p:nvSpPr>
        <p:spPr bwMode="auto">
          <a:xfrm>
            <a:off x="2610193" y="5042485"/>
            <a:ext cx="3329959" cy="719137"/>
          </a:xfrm>
          <a:prstGeom prst="chevron">
            <a:avLst>
              <a:gd name="adj" fmla="val 50055"/>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endParaRPr lang="zh-CN" altLang="en-US" sz="1600" b="1">
              <a:latin typeface="微软雅黑" pitchFamily="34" charset="-122"/>
              <a:ea typeface="微软雅黑" pitchFamily="34" charset="-122"/>
            </a:endParaRPr>
          </a:p>
        </p:txBody>
      </p:sp>
      <p:sp>
        <p:nvSpPr>
          <p:cNvPr id="18" name="Text Box 24"/>
          <p:cNvSpPr txBox="1">
            <a:spLocks noChangeArrowheads="1"/>
          </p:cNvSpPr>
          <p:nvPr/>
        </p:nvSpPr>
        <p:spPr bwMode="auto">
          <a:xfrm>
            <a:off x="3282188" y="5248166"/>
            <a:ext cx="2297924" cy="307777"/>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lIns="0" tIns="0" rIns="0" bIns="0" anchor="ctr">
            <a:spAutoFit/>
          </a:bodyPr>
          <a:lstStyle/>
          <a:p>
            <a:pPr algn="ctr"/>
            <a:r>
              <a:rPr lang="zh-CN" altLang="en-US" sz="2000" b="1" dirty="0" smtClean="0">
                <a:latin typeface="微软雅黑" pitchFamily="34" charset="-122"/>
                <a:ea typeface="微软雅黑" pitchFamily="34" charset="-122"/>
              </a:rPr>
              <a:t>反馈收集信息并总结</a:t>
            </a:r>
            <a:endParaRPr lang="en-US" altLang="ko-KR" sz="2000" b="1" dirty="0">
              <a:latin typeface="微软雅黑" pitchFamily="34" charset="-122"/>
              <a:ea typeface="微软雅黑" pitchFamily="34" charset="-122"/>
            </a:endParaRPr>
          </a:p>
        </p:txBody>
      </p:sp>
      <p:sp>
        <p:nvSpPr>
          <p:cNvPr id="19" name="Text Box 77"/>
          <p:cNvSpPr txBox="1">
            <a:spLocks noChangeArrowheads="1"/>
          </p:cNvSpPr>
          <p:nvPr/>
        </p:nvSpPr>
        <p:spPr bwMode="auto">
          <a:xfrm>
            <a:off x="1821724" y="2140326"/>
            <a:ext cx="1256755" cy="215444"/>
          </a:xfrm>
          <a:prstGeom prst="rect">
            <a:avLst/>
          </a:prstGeom>
          <a:ln>
            <a:noFill/>
          </a:ln>
        </p:spPr>
        <p:style>
          <a:lnRef idx="2">
            <a:schemeClr val="accent5"/>
          </a:lnRef>
          <a:fillRef idx="1">
            <a:schemeClr val="lt1"/>
          </a:fillRef>
          <a:effectRef idx="0">
            <a:schemeClr val="accent5"/>
          </a:effectRef>
          <a:fontRef idx="minor">
            <a:schemeClr val="dk1"/>
          </a:fontRef>
        </p:style>
        <p:txBody>
          <a:bodyPr wrap="none" lIns="0" tIns="0" rIns="0" bIns="0" anchor="ctr">
            <a:spAutoFit/>
          </a:bodyPr>
          <a:lstStyle/>
          <a:p>
            <a:pPr algn="ctr"/>
            <a:r>
              <a:rPr lang="zh-CN" altLang="en-US" sz="1400" b="1" dirty="0" smtClean="0">
                <a:latin typeface="微软雅黑" pitchFamily="34" charset="-122"/>
                <a:ea typeface="微软雅黑" pitchFamily="34" charset="-122"/>
              </a:rPr>
              <a:t>梳理需返货货品</a:t>
            </a:r>
            <a:endParaRPr lang="en-US" altLang="ko-KR" sz="1400" b="1" dirty="0">
              <a:latin typeface="微软雅黑" pitchFamily="34" charset="-122"/>
              <a:ea typeface="微软雅黑" pitchFamily="34" charset="-122"/>
            </a:endParaRPr>
          </a:p>
        </p:txBody>
      </p:sp>
      <p:sp>
        <p:nvSpPr>
          <p:cNvPr id="20" name="Text Box 78"/>
          <p:cNvSpPr txBox="1">
            <a:spLocks noChangeArrowheads="1"/>
          </p:cNvSpPr>
          <p:nvPr/>
        </p:nvSpPr>
        <p:spPr bwMode="auto">
          <a:xfrm>
            <a:off x="3797672" y="2140327"/>
            <a:ext cx="1077218" cy="215444"/>
          </a:xfrm>
          <a:prstGeom prst="rect">
            <a:avLst/>
          </a:prstGeom>
          <a:ln>
            <a:noFill/>
          </a:ln>
        </p:spPr>
        <p:style>
          <a:lnRef idx="2">
            <a:schemeClr val="accent5"/>
          </a:lnRef>
          <a:fillRef idx="1">
            <a:schemeClr val="lt1"/>
          </a:fillRef>
          <a:effectRef idx="0">
            <a:schemeClr val="accent5"/>
          </a:effectRef>
          <a:fontRef idx="minor">
            <a:schemeClr val="dk1"/>
          </a:fontRef>
        </p:style>
        <p:txBody>
          <a:bodyPr wrap="none" lIns="0" tIns="0" rIns="0" bIns="0" anchor="ctr">
            <a:spAutoFit/>
          </a:bodyPr>
          <a:lstStyle/>
          <a:p>
            <a:pPr algn="ctr"/>
            <a:r>
              <a:rPr lang="zh-CN" altLang="en-US" sz="1400" b="1" dirty="0" smtClean="0">
                <a:latin typeface="微软雅黑" pitchFamily="34" charset="-122"/>
                <a:ea typeface="微软雅黑" pitchFamily="34" charset="-122"/>
              </a:rPr>
              <a:t>确认返货款号</a:t>
            </a:r>
            <a:endParaRPr lang="en-US" altLang="ko-KR" sz="1400" b="1" dirty="0">
              <a:latin typeface="微软雅黑" pitchFamily="34" charset="-122"/>
              <a:ea typeface="微软雅黑" pitchFamily="34" charset="-122"/>
            </a:endParaRPr>
          </a:p>
        </p:txBody>
      </p:sp>
      <p:sp>
        <p:nvSpPr>
          <p:cNvPr id="21" name="Text Box 79"/>
          <p:cNvSpPr txBox="1">
            <a:spLocks noChangeArrowheads="1"/>
          </p:cNvSpPr>
          <p:nvPr/>
        </p:nvSpPr>
        <p:spPr bwMode="auto">
          <a:xfrm>
            <a:off x="5318646" y="2163410"/>
            <a:ext cx="1269578" cy="169277"/>
          </a:xfrm>
          <a:prstGeom prst="rect">
            <a:avLst/>
          </a:prstGeom>
          <a:ln>
            <a:noFill/>
          </a:ln>
        </p:spPr>
        <p:style>
          <a:lnRef idx="2">
            <a:schemeClr val="accent5"/>
          </a:lnRef>
          <a:fillRef idx="1">
            <a:schemeClr val="lt1"/>
          </a:fillRef>
          <a:effectRef idx="0">
            <a:schemeClr val="accent5"/>
          </a:effectRef>
          <a:fontRef idx="minor">
            <a:schemeClr val="dk1"/>
          </a:fontRef>
        </p:style>
        <p:txBody>
          <a:bodyPr wrap="none" lIns="0" tIns="0" rIns="0" bIns="0" anchor="ctr">
            <a:spAutoFit/>
          </a:bodyPr>
          <a:lstStyle/>
          <a:p>
            <a:pPr algn="ctr"/>
            <a:r>
              <a:rPr lang="zh-CN" altLang="en-US" sz="1100" b="1" dirty="0" smtClean="0">
                <a:latin typeface="微软雅黑" pitchFamily="34" charset="-122"/>
                <a:ea typeface="微软雅黑" pitchFamily="34" charset="-122"/>
              </a:rPr>
              <a:t>制作返货通知并下发</a:t>
            </a:r>
            <a:endParaRPr lang="en-US" altLang="ko-KR" sz="1100" b="1" dirty="0">
              <a:latin typeface="微软雅黑" pitchFamily="34" charset="-122"/>
              <a:ea typeface="微软雅黑" pitchFamily="34" charset="-122"/>
            </a:endParaRPr>
          </a:p>
        </p:txBody>
      </p:sp>
    </p:spTree>
    <p:extLst>
      <p:ext uri="{BB962C8B-B14F-4D97-AF65-F5344CB8AC3E}">
        <p14:creationId xmlns:p14="http://schemas.microsoft.com/office/powerpoint/2010/main" val="416310413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65997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返货（过季）</a:t>
            </a:r>
            <a:endParaRPr lang="zh-CN" altLang="en-US" dirty="0">
              <a:latin typeface="微软雅黑" pitchFamily="34" charset="-122"/>
              <a:ea typeface="微软雅黑" pitchFamily="34" charset="-122"/>
            </a:endParaRPr>
          </a:p>
        </p:txBody>
      </p:sp>
      <p:sp>
        <p:nvSpPr>
          <p:cNvPr id="22" name="TextBox 21"/>
          <p:cNvSpPr txBox="1"/>
          <p:nvPr/>
        </p:nvSpPr>
        <p:spPr>
          <a:xfrm>
            <a:off x="899592" y="852615"/>
            <a:ext cx="1440160" cy="369332"/>
          </a:xfrm>
          <a:prstGeom prst="rect">
            <a:avLst/>
          </a:prstGeom>
          <a:noFill/>
        </p:spPr>
        <p:txBody>
          <a:bodyPr wrap="square" rtlCol="0">
            <a:spAutoFit/>
          </a:bodyPr>
          <a:lstStyle/>
          <a:p>
            <a:r>
              <a:rPr lang="zh-CN" altLang="en-US" b="1" dirty="0" smtClean="0">
                <a:latin typeface="微软雅黑" pitchFamily="34" charset="-122"/>
                <a:ea typeface="微软雅黑" pitchFamily="34" charset="-122"/>
              </a:rPr>
              <a:t>流程说明：</a:t>
            </a:r>
            <a:endParaRPr lang="zh-CN" altLang="en-US" b="1" dirty="0">
              <a:latin typeface="微软雅黑" pitchFamily="34" charset="-122"/>
              <a:ea typeface="微软雅黑" pitchFamily="34" charset="-122"/>
            </a:endParaRPr>
          </a:p>
        </p:txBody>
      </p:sp>
      <p:sp>
        <p:nvSpPr>
          <p:cNvPr id="3" name="矩形 2"/>
          <p:cNvSpPr/>
          <p:nvPr/>
        </p:nvSpPr>
        <p:spPr>
          <a:xfrm>
            <a:off x="1547664" y="1556792"/>
            <a:ext cx="5904656" cy="307777"/>
          </a:xfrm>
          <a:prstGeom prst="rect">
            <a:avLst/>
          </a:prstGeom>
          <a:ln>
            <a:solidFill>
              <a:schemeClr val="tx1"/>
            </a:solidFill>
          </a:ln>
        </p:spPr>
        <p:txBody>
          <a:bodyPr wrap="square">
            <a:spAutoFit/>
          </a:bodyPr>
          <a:lstStyle/>
          <a:p>
            <a:r>
              <a:rPr lang="zh-CN" altLang="zh-CN" sz="1400" dirty="0">
                <a:latin typeface="微软雅黑" pitchFamily="34" charset="-122"/>
                <a:ea typeface="微软雅黑" pitchFamily="34" charset="-122"/>
              </a:rPr>
              <a:t>商品专员在换季时，整理过季商品清单</a:t>
            </a:r>
            <a:r>
              <a:rPr lang="zh-CN" altLang="zh-CN" sz="1400" dirty="0" smtClean="0">
                <a:latin typeface="微软雅黑" pitchFamily="34" charset="-122"/>
                <a:ea typeface="微软雅黑" pitchFamily="34" charset="-122"/>
              </a:rPr>
              <a:t>，</a:t>
            </a:r>
            <a:r>
              <a:rPr lang="zh-CN" altLang="en-US" sz="1400" dirty="0" smtClean="0">
                <a:latin typeface="微软雅黑" pitchFamily="34" charset="-122"/>
                <a:ea typeface="微软雅黑" pitchFamily="34" charset="-122"/>
              </a:rPr>
              <a:t>提交返仓货品款号</a:t>
            </a:r>
            <a:endParaRPr lang="zh-CN" altLang="en-US" sz="1400" dirty="0">
              <a:latin typeface="微软雅黑" pitchFamily="34" charset="-122"/>
              <a:ea typeface="微软雅黑" pitchFamily="34" charset="-122"/>
            </a:endParaRPr>
          </a:p>
        </p:txBody>
      </p:sp>
      <p:sp>
        <p:nvSpPr>
          <p:cNvPr id="4" name="矩形 3"/>
          <p:cNvSpPr/>
          <p:nvPr/>
        </p:nvSpPr>
        <p:spPr>
          <a:xfrm>
            <a:off x="1547189" y="2132857"/>
            <a:ext cx="5905129" cy="307777"/>
          </a:xfrm>
          <a:prstGeom prst="rect">
            <a:avLst/>
          </a:prstGeom>
          <a:ln>
            <a:solidFill>
              <a:schemeClr val="tx1"/>
            </a:solidFill>
          </a:ln>
        </p:spPr>
        <p:txBody>
          <a:bodyPr wrap="square">
            <a:spAutoFit/>
          </a:bodyPr>
          <a:lstStyle/>
          <a:p>
            <a:r>
              <a:rPr lang="zh-CN" altLang="zh-CN" sz="1400" dirty="0">
                <a:latin typeface="微软雅黑" pitchFamily="34" charset="-122"/>
                <a:ea typeface="微软雅黑" pitchFamily="34" charset="-122"/>
              </a:rPr>
              <a:t>商品</a:t>
            </a:r>
            <a:r>
              <a:rPr lang="zh-CN" altLang="zh-CN" sz="1400" dirty="0" smtClean="0">
                <a:latin typeface="微软雅黑" pitchFamily="34" charset="-122"/>
                <a:ea typeface="微软雅黑" pitchFamily="34" charset="-122"/>
              </a:rPr>
              <a:t>主管</a:t>
            </a:r>
            <a:r>
              <a:rPr lang="zh-CN" altLang="en-US" sz="1400" dirty="0" smtClean="0">
                <a:latin typeface="微软雅黑" pitchFamily="34" charset="-122"/>
                <a:ea typeface="微软雅黑" pitchFamily="34" charset="-122"/>
              </a:rPr>
              <a:t>汇同商品专员一起确认返货批次和款号</a:t>
            </a:r>
            <a:endParaRPr lang="zh-CN" altLang="en-US" sz="1400" dirty="0">
              <a:latin typeface="微软雅黑" pitchFamily="34" charset="-122"/>
              <a:ea typeface="微软雅黑" pitchFamily="34" charset="-122"/>
            </a:endParaRPr>
          </a:p>
        </p:txBody>
      </p:sp>
      <p:sp>
        <p:nvSpPr>
          <p:cNvPr id="23" name="矩形 22"/>
          <p:cNvSpPr/>
          <p:nvPr/>
        </p:nvSpPr>
        <p:spPr>
          <a:xfrm>
            <a:off x="1547664" y="2708921"/>
            <a:ext cx="5905129" cy="307777"/>
          </a:xfrm>
          <a:prstGeom prst="rect">
            <a:avLst/>
          </a:prstGeom>
          <a:ln>
            <a:solidFill>
              <a:schemeClr val="tx1"/>
            </a:solidFill>
          </a:ln>
        </p:spPr>
        <p:txBody>
          <a:bodyPr wrap="square">
            <a:spAutoFit/>
          </a:bodyPr>
          <a:lstStyle/>
          <a:p>
            <a:r>
              <a:rPr lang="zh-CN" altLang="zh-CN" sz="1400" dirty="0" smtClean="0">
                <a:latin typeface="微软雅黑" pitchFamily="34" charset="-122"/>
                <a:ea typeface="微软雅黑" pitchFamily="34" charset="-122"/>
              </a:rPr>
              <a:t>商品</a:t>
            </a:r>
            <a:r>
              <a:rPr lang="zh-CN" altLang="en-US" sz="1400" dirty="0" smtClean="0">
                <a:latin typeface="微软雅黑" pitchFamily="34" charset="-122"/>
                <a:ea typeface="微软雅黑" pitchFamily="34" charset="-122"/>
              </a:rPr>
              <a:t>专员分批次制作返货清单、规划返货时间，并下发直营店面与仓库</a:t>
            </a:r>
            <a:endParaRPr lang="zh-CN" altLang="en-US" sz="1400" dirty="0">
              <a:latin typeface="微软雅黑" pitchFamily="34" charset="-122"/>
              <a:ea typeface="微软雅黑" pitchFamily="34" charset="-122"/>
            </a:endParaRPr>
          </a:p>
        </p:txBody>
      </p:sp>
      <p:sp>
        <p:nvSpPr>
          <p:cNvPr id="24" name="矩形 23"/>
          <p:cNvSpPr/>
          <p:nvPr/>
        </p:nvSpPr>
        <p:spPr>
          <a:xfrm>
            <a:off x="1547664" y="3232722"/>
            <a:ext cx="5905129" cy="307777"/>
          </a:xfrm>
          <a:prstGeom prst="rect">
            <a:avLst/>
          </a:prstGeom>
          <a:ln>
            <a:solidFill>
              <a:schemeClr val="tx1"/>
            </a:solidFill>
          </a:ln>
        </p:spPr>
        <p:txBody>
          <a:bodyPr wrap="square">
            <a:spAutoFit/>
          </a:bodyPr>
          <a:lstStyle/>
          <a:p>
            <a:r>
              <a:rPr lang="zh-CN" altLang="en-US" sz="1400" dirty="0" smtClean="0">
                <a:latin typeface="微软雅黑" pitchFamily="34" charset="-122"/>
                <a:ea typeface="微软雅黑" pitchFamily="34" charset="-122"/>
              </a:rPr>
              <a:t>直营店面在收到返货清单后，按时间和款号要求整理货品</a:t>
            </a:r>
            <a:endParaRPr lang="zh-CN" altLang="en-US" sz="1400" dirty="0">
              <a:latin typeface="微软雅黑" pitchFamily="34" charset="-122"/>
              <a:ea typeface="微软雅黑" pitchFamily="34" charset="-122"/>
            </a:endParaRPr>
          </a:p>
        </p:txBody>
      </p:sp>
      <p:sp>
        <p:nvSpPr>
          <p:cNvPr id="25" name="矩形 24"/>
          <p:cNvSpPr/>
          <p:nvPr/>
        </p:nvSpPr>
        <p:spPr>
          <a:xfrm>
            <a:off x="1547664" y="3808786"/>
            <a:ext cx="5905129" cy="307777"/>
          </a:xfrm>
          <a:prstGeom prst="rect">
            <a:avLst/>
          </a:prstGeom>
          <a:ln>
            <a:solidFill>
              <a:schemeClr val="tx1"/>
            </a:solidFill>
          </a:ln>
        </p:spPr>
        <p:txBody>
          <a:bodyPr wrap="square">
            <a:spAutoFit/>
          </a:bodyPr>
          <a:lstStyle/>
          <a:p>
            <a:r>
              <a:rPr lang="zh-CN" altLang="en-US" sz="1400" dirty="0" smtClean="0">
                <a:latin typeface="微软雅黑" pitchFamily="34" charset="-122"/>
                <a:ea typeface="微软雅黑" pitchFamily="34" charset="-122"/>
              </a:rPr>
              <a:t>当直营店面将货品发出后，需通知区域商品负责人</a:t>
            </a:r>
            <a:endParaRPr lang="zh-CN" altLang="en-US" sz="1400" dirty="0">
              <a:latin typeface="微软雅黑" pitchFamily="34" charset="-122"/>
              <a:ea typeface="微软雅黑" pitchFamily="34" charset="-122"/>
            </a:endParaRPr>
          </a:p>
        </p:txBody>
      </p:sp>
      <p:sp>
        <p:nvSpPr>
          <p:cNvPr id="26" name="矩形 25"/>
          <p:cNvSpPr/>
          <p:nvPr/>
        </p:nvSpPr>
        <p:spPr>
          <a:xfrm>
            <a:off x="1547188" y="4312842"/>
            <a:ext cx="5905129" cy="307777"/>
          </a:xfrm>
          <a:prstGeom prst="rect">
            <a:avLst/>
          </a:prstGeom>
          <a:ln>
            <a:solidFill>
              <a:schemeClr val="tx1"/>
            </a:solidFill>
          </a:ln>
        </p:spPr>
        <p:txBody>
          <a:bodyPr wrap="square">
            <a:spAutoFit/>
          </a:bodyPr>
          <a:lstStyle/>
          <a:p>
            <a:r>
              <a:rPr lang="zh-CN" altLang="en-US" sz="1400" dirty="0" smtClean="0">
                <a:latin typeface="微软雅黑" pitchFamily="34" charset="-122"/>
                <a:ea typeface="微软雅黑" pitchFamily="34" charset="-122"/>
              </a:rPr>
              <a:t>仓库收到货品后三天内安排对货品的核对、检验</a:t>
            </a:r>
            <a:endParaRPr lang="zh-CN" altLang="en-US" sz="1400" dirty="0">
              <a:latin typeface="微软雅黑" pitchFamily="34" charset="-122"/>
              <a:ea typeface="微软雅黑" pitchFamily="34" charset="-122"/>
            </a:endParaRPr>
          </a:p>
        </p:txBody>
      </p:sp>
      <p:sp>
        <p:nvSpPr>
          <p:cNvPr id="27" name="矩形 26"/>
          <p:cNvSpPr/>
          <p:nvPr/>
        </p:nvSpPr>
        <p:spPr>
          <a:xfrm>
            <a:off x="1547664" y="4869161"/>
            <a:ext cx="5905129" cy="307777"/>
          </a:xfrm>
          <a:prstGeom prst="rect">
            <a:avLst/>
          </a:prstGeom>
          <a:ln>
            <a:solidFill>
              <a:schemeClr val="tx1"/>
            </a:solidFill>
          </a:ln>
        </p:spPr>
        <p:txBody>
          <a:bodyPr wrap="square">
            <a:spAutoFit/>
          </a:bodyPr>
          <a:lstStyle/>
          <a:p>
            <a:r>
              <a:rPr lang="zh-CN" altLang="en-US" sz="1400" dirty="0" smtClean="0">
                <a:latin typeface="微软雅黑" pitchFamily="34" charset="-122"/>
                <a:ea typeface="微软雅黑" pitchFamily="34" charset="-122"/>
              </a:rPr>
              <a:t>待核对、检验结束后，仓库需在七天内将返货账务处理完毕</a:t>
            </a:r>
            <a:endParaRPr lang="zh-CN" altLang="en-US" sz="1400" dirty="0">
              <a:latin typeface="微软雅黑" pitchFamily="34" charset="-122"/>
              <a:ea typeface="微软雅黑" pitchFamily="34" charset="-122"/>
            </a:endParaRPr>
          </a:p>
        </p:txBody>
      </p:sp>
      <p:sp>
        <p:nvSpPr>
          <p:cNvPr id="28" name="矩形 27"/>
          <p:cNvSpPr/>
          <p:nvPr/>
        </p:nvSpPr>
        <p:spPr>
          <a:xfrm>
            <a:off x="1547187" y="5445224"/>
            <a:ext cx="5905129" cy="307777"/>
          </a:xfrm>
          <a:prstGeom prst="rect">
            <a:avLst/>
          </a:prstGeom>
          <a:ln>
            <a:solidFill>
              <a:schemeClr val="tx1"/>
            </a:solidFill>
          </a:ln>
        </p:spPr>
        <p:txBody>
          <a:bodyPr wrap="square">
            <a:spAutoFit/>
          </a:bodyPr>
          <a:lstStyle/>
          <a:p>
            <a:r>
              <a:rPr lang="zh-CN" altLang="en-US" sz="1400" dirty="0" smtClean="0">
                <a:latin typeface="微软雅黑" pitchFamily="34" charset="-122"/>
                <a:ea typeface="微软雅黑" pitchFamily="34" charset="-122"/>
              </a:rPr>
              <a:t>商品专员收集本次返货信息并总结返货计划执行状况</a:t>
            </a:r>
            <a:endParaRPr lang="zh-CN" altLang="en-US" sz="1400" dirty="0">
              <a:latin typeface="微软雅黑" pitchFamily="34" charset="-122"/>
              <a:ea typeface="微软雅黑" pitchFamily="34" charset="-122"/>
            </a:endParaRPr>
          </a:p>
        </p:txBody>
      </p:sp>
    </p:spTree>
    <p:extLst>
      <p:ext uri="{BB962C8B-B14F-4D97-AF65-F5344CB8AC3E}">
        <p14:creationId xmlns:p14="http://schemas.microsoft.com/office/powerpoint/2010/main" val="183283612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65997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货品总结</a:t>
            </a:r>
            <a:endParaRPr lang="zh-CN" altLang="en-US" dirty="0">
              <a:latin typeface="微软雅黑" pitchFamily="34" charset="-122"/>
              <a:ea typeface="微软雅黑" pitchFamily="34" charset="-122"/>
            </a:endParaRPr>
          </a:p>
        </p:txBody>
      </p:sp>
      <p:sp>
        <p:nvSpPr>
          <p:cNvPr id="40" name="Freeform 3"/>
          <p:cNvSpPr>
            <a:spLocks noEditPoints="1"/>
          </p:cNvSpPr>
          <p:nvPr/>
        </p:nvSpPr>
        <p:spPr bwMode="gray">
          <a:xfrm rot="20241944">
            <a:off x="1615126" y="2411269"/>
            <a:ext cx="6094412" cy="2424112"/>
          </a:xfrm>
          <a:custGeom>
            <a:avLst/>
            <a:gdLst>
              <a:gd name="T0" fmla="*/ 1692 w 4040"/>
              <a:gd name="T1" fmla="*/ 12 h 1888"/>
              <a:gd name="T2" fmla="*/ 1234 w 4040"/>
              <a:gd name="T3" fmla="*/ 74 h 1888"/>
              <a:gd name="T4" fmla="*/ 828 w 4040"/>
              <a:gd name="T5" fmla="*/ 182 h 1888"/>
              <a:gd name="T6" fmla="*/ 486 w 4040"/>
              <a:gd name="T7" fmla="*/ 330 h 1888"/>
              <a:gd name="T8" fmla="*/ 226 w 4040"/>
              <a:gd name="T9" fmla="*/ 510 h 1888"/>
              <a:gd name="T10" fmla="*/ 58 w 4040"/>
              <a:gd name="T11" fmla="*/ 718 h 1888"/>
              <a:gd name="T12" fmla="*/ 0 w 4040"/>
              <a:gd name="T13" fmla="*/ 944 h 1888"/>
              <a:gd name="T14" fmla="*/ 58 w 4040"/>
              <a:gd name="T15" fmla="*/ 1170 h 1888"/>
              <a:gd name="T16" fmla="*/ 226 w 4040"/>
              <a:gd name="T17" fmla="*/ 1378 h 1888"/>
              <a:gd name="T18" fmla="*/ 486 w 4040"/>
              <a:gd name="T19" fmla="*/ 1558 h 1888"/>
              <a:gd name="T20" fmla="*/ 828 w 4040"/>
              <a:gd name="T21" fmla="*/ 1706 h 1888"/>
              <a:gd name="T22" fmla="*/ 1234 w 4040"/>
              <a:gd name="T23" fmla="*/ 1814 h 1888"/>
              <a:gd name="T24" fmla="*/ 1692 w 4040"/>
              <a:gd name="T25" fmla="*/ 1876 h 1888"/>
              <a:gd name="T26" fmla="*/ 2186 w 4040"/>
              <a:gd name="T27" fmla="*/ 1884 h 1888"/>
              <a:gd name="T28" fmla="*/ 2658 w 4040"/>
              <a:gd name="T29" fmla="*/ 1840 h 1888"/>
              <a:gd name="T30" fmla="*/ 3084 w 4040"/>
              <a:gd name="T31" fmla="*/ 1746 h 1888"/>
              <a:gd name="T32" fmla="*/ 3448 w 4040"/>
              <a:gd name="T33" fmla="*/ 1612 h 1888"/>
              <a:gd name="T34" fmla="*/ 3738 w 4040"/>
              <a:gd name="T35" fmla="*/ 1442 h 1888"/>
              <a:gd name="T36" fmla="*/ 3938 w 4040"/>
              <a:gd name="T37" fmla="*/ 1242 h 1888"/>
              <a:gd name="T38" fmla="*/ 4034 w 4040"/>
              <a:gd name="T39" fmla="*/ 1022 h 1888"/>
              <a:gd name="T40" fmla="*/ 4014 w 4040"/>
              <a:gd name="T41" fmla="*/ 790 h 1888"/>
              <a:gd name="T42" fmla="*/ 3882 w 4040"/>
              <a:gd name="T43" fmla="*/ 576 h 1888"/>
              <a:gd name="T44" fmla="*/ 3650 w 4040"/>
              <a:gd name="T45" fmla="*/ 386 h 1888"/>
              <a:gd name="T46" fmla="*/ 3334 w 4040"/>
              <a:gd name="T47" fmla="*/ 228 h 1888"/>
              <a:gd name="T48" fmla="*/ 2948 w 4040"/>
              <a:gd name="T49" fmla="*/ 106 h 1888"/>
              <a:gd name="T50" fmla="*/ 2506 w 4040"/>
              <a:gd name="T51" fmla="*/ 28 h 1888"/>
              <a:gd name="T52" fmla="*/ 2020 w 4040"/>
              <a:gd name="T53" fmla="*/ 0 h 1888"/>
              <a:gd name="T54" fmla="*/ 1606 w 4040"/>
              <a:gd name="T55" fmla="*/ 1736 h 1888"/>
              <a:gd name="T56" fmla="*/ 1164 w 4040"/>
              <a:gd name="T57" fmla="*/ 1678 h 1888"/>
              <a:gd name="T58" fmla="*/ 776 w 4040"/>
              <a:gd name="T59" fmla="*/ 1576 h 1888"/>
              <a:gd name="T60" fmla="*/ 458 w 4040"/>
              <a:gd name="T61" fmla="*/ 1436 h 1888"/>
              <a:gd name="T62" fmla="*/ 224 w 4040"/>
              <a:gd name="T63" fmla="*/ 1266 h 1888"/>
              <a:gd name="T64" fmla="*/ 88 w 4040"/>
              <a:gd name="T65" fmla="*/ 1074 h 1888"/>
              <a:gd name="T66" fmla="*/ 68 w 4040"/>
              <a:gd name="T67" fmla="*/ 864 h 1888"/>
              <a:gd name="T68" fmla="*/ 166 w 4040"/>
              <a:gd name="T69" fmla="*/ 664 h 1888"/>
              <a:gd name="T70" fmla="*/ 370 w 4040"/>
              <a:gd name="T71" fmla="*/ 486 h 1888"/>
              <a:gd name="T72" fmla="*/ 662 w 4040"/>
              <a:gd name="T73" fmla="*/ 336 h 1888"/>
              <a:gd name="T74" fmla="*/ 1028 w 4040"/>
              <a:gd name="T75" fmla="*/ 222 h 1888"/>
              <a:gd name="T76" fmla="*/ 1454 w 4040"/>
              <a:gd name="T77" fmla="*/ 148 h 1888"/>
              <a:gd name="T78" fmla="*/ 1922 w 4040"/>
              <a:gd name="T79" fmla="*/ 120 h 1888"/>
              <a:gd name="T80" fmla="*/ 2392 w 4040"/>
              <a:gd name="T81" fmla="*/ 148 h 1888"/>
              <a:gd name="T82" fmla="*/ 2818 w 4040"/>
              <a:gd name="T83" fmla="*/ 222 h 1888"/>
              <a:gd name="T84" fmla="*/ 3184 w 4040"/>
              <a:gd name="T85" fmla="*/ 336 h 1888"/>
              <a:gd name="T86" fmla="*/ 3476 w 4040"/>
              <a:gd name="T87" fmla="*/ 486 h 1888"/>
              <a:gd name="T88" fmla="*/ 3680 w 4040"/>
              <a:gd name="T89" fmla="*/ 664 h 1888"/>
              <a:gd name="T90" fmla="*/ 3778 w 4040"/>
              <a:gd name="T91" fmla="*/ 864 h 1888"/>
              <a:gd name="T92" fmla="*/ 3758 w 4040"/>
              <a:gd name="T93" fmla="*/ 1074 h 1888"/>
              <a:gd name="T94" fmla="*/ 3622 w 4040"/>
              <a:gd name="T95" fmla="*/ 1266 h 1888"/>
              <a:gd name="T96" fmla="*/ 3388 w 4040"/>
              <a:gd name="T97" fmla="*/ 1436 h 1888"/>
              <a:gd name="T98" fmla="*/ 3070 w 4040"/>
              <a:gd name="T99" fmla="*/ 1576 h 1888"/>
              <a:gd name="T100" fmla="*/ 2682 w 4040"/>
              <a:gd name="T101" fmla="*/ 1678 h 1888"/>
              <a:gd name="T102" fmla="*/ 2240 w 4040"/>
              <a:gd name="T103" fmla="*/ 1736 h 1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040" h="1888">
                <a:moveTo>
                  <a:pt x="2020" y="0"/>
                </a:moveTo>
                <a:lnTo>
                  <a:pt x="1854" y="4"/>
                </a:lnTo>
                <a:lnTo>
                  <a:pt x="1692" y="12"/>
                </a:lnTo>
                <a:lnTo>
                  <a:pt x="1534" y="28"/>
                </a:lnTo>
                <a:lnTo>
                  <a:pt x="1382" y="48"/>
                </a:lnTo>
                <a:lnTo>
                  <a:pt x="1234" y="74"/>
                </a:lnTo>
                <a:lnTo>
                  <a:pt x="1092" y="106"/>
                </a:lnTo>
                <a:lnTo>
                  <a:pt x="956" y="142"/>
                </a:lnTo>
                <a:lnTo>
                  <a:pt x="828" y="182"/>
                </a:lnTo>
                <a:lnTo>
                  <a:pt x="706" y="228"/>
                </a:lnTo>
                <a:lnTo>
                  <a:pt x="592" y="276"/>
                </a:lnTo>
                <a:lnTo>
                  <a:pt x="486" y="330"/>
                </a:lnTo>
                <a:lnTo>
                  <a:pt x="390" y="386"/>
                </a:lnTo>
                <a:lnTo>
                  <a:pt x="302" y="446"/>
                </a:lnTo>
                <a:lnTo>
                  <a:pt x="226" y="510"/>
                </a:lnTo>
                <a:lnTo>
                  <a:pt x="158" y="576"/>
                </a:lnTo>
                <a:lnTo>
                  <a:pt x="102" y="646"/>
                </a:lnTo>
                <a:lnTo>
                  <a:pt x="58" y="718"/>
                </a:lnTo>
                <a:lnTo>
                  <a:pt x="26" y="790"/>
                </a:lnTo>
                <a:lnTo>
                  <a:pt x="6" y="866"/>
                </a:lnTo>
                <a:lnTo>
                  <a:pt x="0" y="944"/>
                </a:lnTo>
                <a:lnTo>
                  <a:pt x="6" y="1022"/>
                </a:lnTo>
                <a:lnTo>
                  <a:pt x="26" y="1098"/>
                </a:lnTo>
                <a:lnTo>
                  <a:pt x="58" y="1170"/>
                </a:lnTo>
                <a:lnTo>
                  <a:pt x="102" y="1242"/>
                </a:lnTo>
                <a:lnTo>
                  <a:pt x="158" y="1312"/>
                </a:lnTo>
                <a:lnTo>
                  <a:pt x="226" y="1378"/>
                </a:lnTo>
                <a:lnTo>
                  <a:pt x="302" y="1442"/>
                </a:lnTo>
                <a:lnTo>
                  <a:pt x="390" y="1502"/>
                </a:lnTo>
                <a:lnTo>
                  <a:pt x="486" y="1558"/>
                </a:lnTo>
                <a:lnTo>
                  <a:pt x="592" y="1612"/>
                </a:lnTo>
                <a:lnTo>
                  <a:pt x="706" y="1660"/>
                </a:lnTo>
                <a:lnTo>
                  <a:pt x="828" y="1706"/>
                </a:lnTo>
                <a:lnTo>
                  <a:pt x="956" y="1746"/>
                </a:lnTo>
                <a:lnTo>
                  <a:pt x="1092" y="1782"/>
                </a:lnTo>
                <a:lnTo>
                  <a:pt x="1234" y="1814"/>
                </a:lnTo>
                <a:lnTo>
                  <a:pt x="1382" y="1840"/>
                </a:lnTo>
                <a:lnTo>
                  <a:pt x="1534" y="1860"/>
                </a:lnTo>
                <a:lnTo>
                  <a:pt x="1692" y="1876"/>
                </a:lnTo>
                <a:lnTo>
                  <a:pt x="1854" y="1884"/>
                </a:lnTo>
                <a:lnTo>
                  <a:pt x="2020" y="1888"/>
                </a:lnTo>
                <a:lnTo>
                  <a:pt x="2186" y="1884"/>
                </a:lnTo>
                <a:lnTo>
                  <a:pt x="2348" y="1876"/>
                </a:lnTo>
                <a:lnTo>
                  <a:pt x="2506" y="1860"/>
                </a:lnTo>
                <a:lnTo>
                  <a:pt x="2658" y="1840"/>
                </a:lnTo>
                <a:lnTo>
                  <a:pt x="2806" y="1814"/>
                </a:lnTo>
                <a:lnTo>
                  <a:pt x="2948" y="1782"/>
                </a:lnTo>
                <a:lnTo>
                  <a:pt x="3084" y="1746"/>
                </a:lnTo>
                <a:lnTo>
                  <a:pt x="3212" y="1706"/>
                </a:lnTo>
                <a:lnTo>
                  <a:pt x="3334" y="1660"/>
                </a:lnTo>
                <a:lnTo>
                  <a:pt x="3448" y="1612"/>
                </a:lnTo>
                <a:lnTo>
                  <a:pt x="3554" y="1558"/>
                </a:lnTo>
                <a:lnTo>
                  <a:pt x="3650" y="1502"/>
                </a:lnTo>
                <a:lnTo>
                  <a:pt x="3738" y="1442"/>
                </a:lnTo>
                <a:lnTo>
                  <a:pt x="3814" y="1378"/>
                </a:lnTo>
                <a:lnTo>
                  <a:pt x="3882" y="1312"/>
                </a:lnTo>
                <a:lnTo>
                  <a:pt x="3938" y="1242"/>
                </a:lnTo>
                <a:lnTo>
                  <a:pt x="3982" y="1170"/>
                </a:lnTo>
                <a:lnTo>
                  <a:pt x="4014" y="1098"/>
                </a:lnTo>
                <a:lnTo>
                  <a:pt x="4034" y="1022"/>
                </a:lnTo>
                <a:lnTo>
                  <a:pt x="4040" y="944"/>
                </a:lnTo>
                <a:lnTo>
                  <a:pt x="4034" y="866"/>
                </a:lnTo>
                <a:lnTo>
                  <a:pt x="4014" y="790"/>
                </a:lnTo>
                <a:lnTo>
                  <a:pt x="3982" y="718"/>
                </a:lnTo>
                <a:lnTo>
                  <a:pt x="3938" y="646"/>
                </a:lnTo>
                <a:lnTo>
                  <a:pt x="3882" y="576"/>
                </a:lnTo>
                <a:lnTo>
                  <a:pt x="3814" y="510"/>
                </a:lnTo>
                <a:lnTo>
                  <a:pt x="3738" y="446"/>
                </a:lnTo>
                <a:lnTo>
                  <a:pt x="3650" y="386"/>
                </a:lnTo>
                <a:lnTo>
                  <a:pt x="3554" y="330"/>
                </a:lnTo>
                <a:lnTo>
                  <a:pt x="3448" y="276"/>
                </a:lnTo>
                <a:lnTo>
                  <a:pt x="3334" y="228"/>
                </a:lnTo>
                <a:lnTo>
                  <a:pt x="3212" y="182"/>
                </a:lnTo>
                <a:lnTo>
                  <a:pt x="3084" y="142"/>
                </a:lnTo>
                <a:lnTo>
                  <a:pt x="2948" y="106"/>
                </a:lnTo>
                <a:lnTo>
                  <a:pt x="2806" y="74"/>
                </a:lnTo>
                <a:lnTo>
                  <a:pt x="2658" y="48"/>
                </a:lnTo>
                <a:lnTo>
                  <a:pt x="2506" y="28"/>
                </a:lnTo>
                <a:lnTo>
                  <a:pt x="2348" y="12"/>
                </a:lnTo>
                <a:lnTo>
                  <a:pt x="2186" y="4"/>
                </a:lnTo>
                <a:lnTo>
                  <a:pt x="2020" y="0"/>
                </a:lnTo>
                <a:close/>
                <a:moveTo>
                  <a:pt x="1922" y="1748"/>
                </a:moveTo>
                <a:lnTo>
                  <a:pt x="1762" y="1746"/>
                </a:lnTo>
                <a:lnTo>
                  <a:pt x="1606" y="1736"/>
                </a:lnTo>
                <a:lnTo>
                  <a:pt x="1454" y="1722"/>
                </a:lnTo>
                <a:lnTo>
                  <a:pt x="1306" y="1702"/>
                </a:lnTo>
                <a:lnTo>
                  <a:pt x="1164" y="1678"/>
                </a:lnTo>
                <a:lnTo>
                  <a:pt x="1028" y="1648"/>
                </a:lnTo>
                <a:lnTo>
                  <a:pt x="898" y="1614"/>
                </a:lnTo>
                <a:lnTo>
                  <a:pt x="776" y="1576"/>
                </a:lnTo>
                <a:lnTo>
                  <a:pt x="662" y="1532"/>
                </a:lnTo>
                <a:lnTo>
                  <a:pt x="554" y="1486"/>
                </a:lnTo>
                <a:lnTo>
                  <a:pt x="458" y="1436"/>
                </a:lnTo>
                <a:lnTo>
                  <a:pt x="370" y="1382"/>
                </a:lnTo>
                <a:lnTo>
                  <a:pt x="292" y="1326"/>
                </a:lnTo>
                <a:lnTo>
                  <a:pt x="224" y="1266"/>
                </a:lnTo>
                <a:lnTo>
                  <a:pt x="166" y="1204"/>
                </a:lnTo>
                <a:lnTo>
                  <a:pt x="122" y="1140"/>
                </a:lnTo>
                <a:lnTo>
                  <a:pt x="88" y="1074"/>
                </a:lnTo>
                <a:lnTo>
                  <a:pt x="68" y="1004"/>
                </a:lnTo>
                <a:lnTo>
                  <a:pt x="62" y="934"/>
                </a:lnTo>
                <a:lnTo>
                  <a:pt x="68" y="864"/>
                </a:lnTo>
                <a:lnTo>
                  <a:pt x="88" y="796"/>
                </a:lnTo>
                <a:lnTo>
                  <a:pt x="122" y="730"/>
                </a:lnTo>
                <a:lnTo>
                  <a:pt x="166" y="664"/>
                </a:lnTo>
                <a:lnTo>
                  <a:pt x="224" y="602"/>
                </a:lnTo>
                <a:lnTo>
                  <a:pt x="292" y="544"/>
                </a:lnTo>
                <a:lnTo>
                  <a:pt x="370" y="486"/>
                </a:lnTo>
                <a:lnTo>
                  <a:pt x="458" y="434"/>
                </a:lnTo>
                <a:lnTo>
                  <a:pt x="554" y="382"/>
                </a:lnTo>
                <a:lnTo>
                  <a:pt x="662" y="336"/>
                </a:lnTo>
                <a:lnTo>
                  <a:pt x="776" y="294"/>
                </a:lnTo>
                <a:lnTo>
                  <a:pt x="898" y="256"/>
                </a:lnTo>
                <a:lnTo>
                  <a:pt x="1028" y="222"/>
                </a:lnTo>
                <a:lnTo>
                  <a:pt x="1164" y="192"/>
                </a:lnTo>
                <a:lnTo>
                  <a:pt x="1306" y="166"/>
                </a:lnTo>
                <a:lnTo>
                  <a:pt x="1454" y="148"/>
                </a:lnTo>
                <a:lnTo>
                  <a:pt x="1606" y="132"/>
                </a:lnTo>
                <a:lnTo>
                  <a:pt x="1762" y="124"/>
                </a:lnTo>
                <a:lnTo>
                  <a:pt x="1922" y="120"/>
                </a:lnTo>
                <a:lnTo>
                  <a:pt x="2084" y="124"/>
                </a:lnTo>
                <a:lnTo>
                  <a:pt x="2240" y="132"/>
                </a:lnTo>
                <a:lnTo>
                  <a:pt x="2392" y="148"/>
                </a:lnTo>
                <a:lnTo>
                  <a:pt x="2540" y="166"/>
                </a:lnTo>
                <a:lnTo>
                  <a:pt x="2682" y="192"/>
                </a:lnTo>
                <a:lnTo>
                  <a:pt x="2818" y="222"/>
                </a:lnTo>
                <a:lnTo>
                  <a:pt x="2948" y="256"/>
                </a:lnTo>
                <a:lnTo>
                  <a:pt x="3070" y="294"/>
                </a:lnTo>
                <a:lnTo>
                  <a:pt x="3184" y="336"/>
                </a:lnTo>
                <a:lnTo>
                  <a:pt x="3292" y="382"/>
                </a:lnTo>
                <a:lnTo>
                  <a:pt x="3388" y="434"/>
                </a:lnTo>
                <a:lnTo>
                  <a:pt x="3476" y="486"/>
                </a:lnTo>
                <a:lnTo>
                  <a:pt x="3554" y="544"/>
                </a:lnTo>
                <a:lnTo>
                  <a:pt x="3622" y="602"/>
                </a:lnTo>
                <a:lnTo>
                  <a:pt x="3680" y="664"/>
                </a:lnTo>
                <a:lnTo>
                  <a:pt x="3724" y="730"/>
                </a:lnTo>
                <a:lnTo>
                  <a:pt x="3758" y="796"/>
                </a:lnTo>
                <a:lnTo>
                  <a:pt x="3778" y="864"/>
                </a:lnTo>
                <a:lnTo>
                  <a:pt x="3784" y="934"/>
                </a:lnTo>
                <a:lnTo>
                  <a:pt x="3778" y="1004"/>
                </a:lnTo>
                <a:lnTo>
                  <a:pt x="3758" y="1074"/>
                </a:lnTo>
                <a:lnTo>
                  <a:pt x="3724" y="1140"/>
                </a:lnTo>
                <a:lnTo>
                  <a:pt x="3680" y="1204"/>
                </a:lnTo>
                <a:lnTo>
                  <a:pt x="3622" y="1266"/>
                </a:lnTo>
                <a:lnTo>
                  <a:pt x="3554" y="1326"/>
                </a:lnTo>
                <a:lnTo>
                  <a:pt x="3476" y="1382"/>
                </a:lnTo>
                <a:lnTo>
                  <a:pt x="3388" y="1436"/>
                </a:lnTo>
                <a:lnTo>
                  <a:pt x="3292" y="1486"/>
                </a:lnTo>
                <a:lnTo>
                  <a:pt x="3184" y="1532"/>
                </a:lnTo>
                <a:lnTo>
                  <a:pt x="3070" y="1576"/>
                </a:lnTo>
                <a:lnTo>
                  <a:pt x="2948" y="1614"/>
                </a:lnTo>
                <a:lnTo>
                  <a:pt x="2818" y="1648"/>
                </a:lnTo>
                <a:lnTo>
                  <a:pt x="2682" y="1678"/>
                </a:lnTo>
                <a:lnTo>
                  <a:pt x="2540" y="1702"/>
                </a:lnTo>
                <a:lnTo>
                  <a:pt x="2392" y="1722"/>
                </a:lnTo>
                <a:lnTo>
                  <a:pt x="2240" y="1736"/>
                </a:lnTo>
                <a:lnTo>
                  <a:pt x="2084" y="1746"/>
                </a:lnTo>
                <a:lnTo>
                  <a:pt x="1922" y="1748"/>
                </a:lnTo>
                <a:close/>
              </a:path>
            </a:pathLst>
          </a:custGeom>
          <a:ln/>
        </p:spPr>
        <p:style>
          <a:lnRef idx="1">
            <a:schemeClr val="accent3"/>
          </a:lnRef>
          <a:fillRef idx="2">
            <a:schemeClr val="accent3"/>
          </a:fillRef>
          <a:effectRef idx="1">
            <a:schemeClr val="accent3"/>
          </a:effectRef>
          <a:fontRef idx="minor">
            <a:schemeClr val="dk1"/>
          </a:fontRef>
        </p:style>
        <p:txBody>
          <a:bodyPr/>
          <a:lstStyle/>
          <a:p>
            <a:endParaRPr lang="zh-CN" altLang="en-US"/>
          </a:p>
        </p:txBody>
      </p:sp>
      <p:grpSp>
        <p:nvGrpSpPr>
          <p:cNvPr id="5" name="组合 4"/>
          <p:cNvGrpSpPr/>
          <p:nvPr/>
        </p:nvGrpSpPr>
        <p:grpSpPr>
          <a:xfrm>
            <a:off x="2468692" y="2368406"/>
            <a:ext cx="1141412" cy="1101725"/>
            <a:chOff x="2468692" y="2368406"/>
            <a:chExt cx="1141412" cy="1101725"/>
          </a:xfrm>
        </p:grpSpPr>
        <p:sp>
          <p:nvSpPr>
            <p:cNvPr id="41" name="Oval 5"/>
            <p:cNvSpPr>
              <a:spLocks noChangeArrowheads="1"/>
            </p:cNvSpPr>
            <p:nvPr/>
          </p:nvSpPr>
          <p:spPr bwMode="gray">
            <a:xfrm>
              <a:off x="2468692" y="2368406"/>
              <a:ext cx="1141412" cy="1101725"/>
            </a:xfrm>
            <a:prstGeom prst="ellipse">
              <a:avLst/>
            </a:prstGeom>
            <a:ln/>
          </p:spPr>
          <p:style>
            <a:lnRef idx="1">
              <a:schemeClr val="accent2"/>
            </a:lnRef>
            <a:fillRef idx="2">
              <a:schemeClr val="accent2"/>
            </a:fillRef>
            <a:effectRef idx="1">
              <a:schemeClr val="accent2"/>
            </a:effectRef>
            <a:fontRef idx="minor">
              <a:schemeClr val="dk1"/>
            </a:fontRef>
          </p:style>
          <p:txBody>
            <a:bodyPr wrap="none" anchor="ctr"/>
            <a:lstStyle/>
            <a:p>
              <a:pPr eaLnBrk="1" hangingPunct="1"/>
              <a:endParaRPr lang="zh-CN" altLang="en-US" sz="1800">
                <a:solidFill>
                  <a:schemeClr val="tx1"/>
                </a:solidFill>
              </a:endParaRPr>
            </a:p>
          </p:txBody>
        </p:sp>
        <p:sp>
          <p:nvSpPr>
            <p:cNvPr id="45" name="Text Box 9"/>
            <p:cNvSpPr txBox="1">
              <a:spLocks noChangeArrowheads="1"/>
            </p:cNvSpPr>
            <p:nvPr/>
          </p:nvSpPr>
          <p:spPr bwMode="white">
            <a:xfrm>
              <a:off x="2483768" y="2780928"/>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817" dir="2708076" algn="ctr" rotWithShape="0">
                      <a:schemeClr val="bg2"/>
                    </a:outerShdw>
                  </a:effectLst>
                </a14:hiddenEffects>
              </a:ext>
            </a:extLst>
          </p:spPr>
          <p:txBody>
            <a:bodyPr wrap="none">
              <a:spAutoFit/>
            </a:bodyPr>
            <a:lstStyle/>
            <a:p>
              <a:pPr algn="l"/>
              <a:r>
                <a:rPr lang="zh-CN" altLang="en-US" sz="1200" b="1" dirty="0" smtClean="0">
                  <a:latin typeface="微软雅黑" pitchFamily="34" charset="-122"/>
                  <a:ea typeface="微软雅黑" pitchFamily="34" charset="-122"/>
                </a:rPr>
                <a:t>存货数据整理</a:t>
              </a:r>
              <a:endParaRPr lang="zh-CN" altLang="en-US" sz="1200" b="1" dirty="0">
                <a:latin typeface="微软雅黑" pitchFamily="34" charset="-122"/>
                <a:ea typeface="微软雅黑" pitchFamily="34" charset="-122"/>
              </a:endParaRPr>
            </a:p>
          </p:txBody>
        </p:sp>
      </p:grpSp>
      <p:grpSp>
        <p:nvGrpSpPr>
          <p:cNvPr id="9" name="组合 8"/>
          <p:cNvGrpSpPr/>
          <p:nvPr/>
        </p:nvGrpSpPr>
        <p:grpSpPr>
          <a:xfrm>
            <a:off x="4976172" y="1503219"/>
            <a:ext cx="1107996" cy="1103312"/>
            <a:chOff x="4976172" y="1503219"/>
            <a:chExt cx="1107996" cy="1103312"/>
          </a:xfrm>
        </p:grpSpPr>
        <p:sp>
          <p:nvSpPr>
            <p:cNvPr id="44" name="Oval 8"/>
            <p:cNvSpPr>
              <a:spLocks noChangeArrowheads="1"/>
            </p:cNvSpPr>
            <p:nvPr/>
          </p:nvSpPr>
          <p:spPr bwMode="gray">
            <a:xfrm>
              <a:off x="4989567" y="1503219"/>
              <a:ext cx="1079500" cy="1103312"/>
            </a:xfrm>
            <a:prstGeom prst="ellipse">
              <a:avLst/>
            </a:prstGeom>
            <a:ln/>
          </p:spPr>
          <p:style>
            <a:lnRef idx="1">
              <a:schemeClr val="accent2"/>
            </a:lnRef>
            <a:fillRef idx="2">
              <a:schemeClr val="accent2"/>
            </a:fillRef>
            <a:effectRef idx="1">
              <a:schemeClr val="accent2"/>
            </a:effectRef>
            <a:fontRef idx="minor">
              <a:schemeClr val="dk1"/>
            </a:fontRef>
          </p:style>
          <p:txBody>
            <a:bodyPr wrap="none" anchor="ctr"/>
            <a:lstStyle/>
            <a:p>
              <a:pPr eaLnBrk="1" hangingPunct="1"/>
              <a:endParaRPr lang="zh-CN" altLang="en-US" sz="1800">
                <a:solidFill>
                  <a:schemeClr val="tx1"/>
                </a:solidFill>
              </a:endParaRPr>
            </a:p>
          </p:txBody>
        </p:sp>
        <p:sp>
          <p:nvSpPr>
            <p:cNvPr id="46" name="Text Box 11"/>
            <p:cNvSpPr txBox="1">
              <a:spLocks noChangeArrowheads="1"/>
            </p:cNvSpPr>
            <p:nvPr/>
          </p:nvSpPr>
          <p:spPr bwMode="white">
            <a:xfrm>
              <a:off x="4976172" y="1879456"/>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817" dir="2708076" algn="ctr" rotWithShape="0">
                      <a:schemeClr val="bg2"/>
                    </a:outerShdw>
                  </a:effectLst>
                </a14:hiddenEffects>
              </a:ext>
            </a:extLst>
          </p:spPr>
          <p:txBody>
            <a:bodyPr wrap="none">
              <a:spAutoFit/>
            </a:bodyPr>
            <a:lstStyle/>
            <a:p>
              <a:pPr algn="l"/>
              <a:r>
                <a:rPr lang="zh-CN" altLang="en-US" sz="1200" b="1" dirty="0" smtClean="0">
                  <a:latin typeface="微软雅黑" pitchFamily="34" charset="-122"/>
                  <a:ea typeface="微软雅黑" pitchFamily="34" charset="-122"/>
                </a:rPr>
                <a:t>存货分类整理</a:t>
              </a:r>
              <a:endParaRPr lang="zh-CN" altLang="en-US" sz="1200" b="1" dirty="0">
                <a:latin typeface="微软雅黑" pitchFamily="34" charset="-122"/>
                <a:ea typeface="微软雅黑" pitchFamily="34" charset="-122"/>
              </a:endParaRPr>
            </a:p>
          </p:txBody>
        </p:sp>
      </p:grpSp>
      <p:grpSp>
        <p:nvGrpSpPr>
          <p:cNvPr id="7" name="组合 6"/>
          <p:cNvGrpSpPr/>
          <p:nvPr/>
        </p:nvGrpSpPr>
        <p:grpSpPr>
          <a:xfrm>
            <a:off x="4283968" y="4046394"/>
            <a:ext cx="1261884" cy="1101725"/>
            <a:chOff x="4283968" y="4046394"/>
            <a:chExt cx="1261884" cy="1101725"/>
          </a:xfrm>
        </p:grpSpPr>
        <p:sp>
          <p:nvSpPr>
            <p:cNvPr id="43" name="Oval 7"/>
            <p:cNvSpPr>
              <a:spLocks noChangeArrowheads="1"/>
            </p:cNvSpPr>
            <p:nvPr/>
          </p:nvSpPr>
          <p:spPr bwMode="gray">
            <a:xfrm>
              <a:off x="4340900" y="4046394"/>
              <a:ext cx="1141412" cy="1101725"/>
            </a:xfrm>
            <a:prstGeom prst="ellipse">
              <a:avLst/>
            </a:prstGeom>
            <a:ln/>
          </p:spPr>
          <p:style>
            <a:lnRef idx="1">
              <a:schemeClr val="accent2"/>
            </a:lnRef>
            <a:fillRef idx="2">
              <a:schemeClr val="accent2"/>
            </a:fillRef>
            <a:effectRef idx="1">
              <a:schemeClr val="accent2"/>
            </a:effectRef>
            <a:fontRef idx="minor">
              <a:schemeClr val="dk1"/>
            </a:fontRef>
          </p:style>
          <p:txBody>
            <a:bodyPr wrap="none" anchor="ctr"/>
            <a:lstStyle/>
            <a:p>
              <a:pPr eaLnBrk="1" hangingPunct="1"/>
              <a:endParaRPr lang="zh-CN" altLang="en-US" sz="1800">
                <a:solidFill>
                  <a:schemeClr val="tx1"/>
                </a:solidFill>
              </a:endParaRPr>
            </a:p>
          </p:txBody>
        </p:sp>
        <p:sp>
          <p:nvSpPr>
            <p:cNvPr id="47" name="Text Box 12"/>
            <p:cNvSpPr txBox="1">
              <a:spLocks noChangeArrowheads="1"/>
            </p:cNvSpPr>
            <p:nvPr/>
          </p:nvSpPr>
          <p:spPr bwMode="white">
            <a:xfrm>
              <a:off x="4283968" y="4448145"/>
              <a:ext cx="12618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817" dir="2708076" algn="ctr" rotWithShape="0">
                      <a:schemeClr val="bg2"/>
                    </a:outerShdw>
                  </a:effectLst>
                </a14:hiddenEffects>
              </a:ext>
            </a:extLst>
          </p:spPr>
          <p:txBody>
            <a:bodyPr wrap="none">
              <a:spAutoFit/>
            </a:bodyPr>
            <a:lstStyle/>
            <a:p>
              <a:pPr algn="l"/>
              <a:r>
                <a:rPr lang="zh-CN" altLang="en-US" sz="1200" b="1" dirty="0" smtClean="0">
                  <a:latin typeface="微软雅黑" pitchFamily="34" charset="-122"/>
                  <a:ea typeface="微软雅黑" pitchFamily="34" charset="-122"/>
                </a:rPr>
                <a:t>召开商品总结会</a:t>
              </a:r>
              <a:endParaRPr lang="zh-CN" altLang="en-US" sz="1200" b="1" dirty="0">
                <a:latin typeface="微软雅黑" pitchFamily="34" charset="-122"/>
                <a:ea typeface="微软雅黑" pitchFamily="34" charset="-122"/>
              </a:endParaRPr>
            </a:p>
          </p:txBody>
        </p:sp>
      </p:grpSp>
      <p:grpSp>
        <p:nvGrpSpPr>
          <p:cNvPr id="6" name="组合 5"/>
          <p:cNvGrpSpPr/>
          <p:nvPr/>
        </p:nvGrpSpPr>
        <p:grpSpPr>
          <a:xfrm>
            <a:off x="1604596" y="4333731"/>
            <a:ext cx="1141413" cy="1101725"/>
            <a:chOff x="1604596" y="4333731"/>
            <a:chExt cx="1141413" cy="1101725"/>
          </a:xfrm>
        </p:grpSpPr>
        <p:sp>
          <p:nvSpPr>
            <p:cNvPr id="42" name="Oval 6"/>
            <p:cNvSpPr>
              <a:spLocks noChangeArrowheads="1"/>
            </p:cNvSpPr>
            <p:nvPr/>
          </p:nvSpPr>
          <p:spPr bwMode="gray">
            <a:xfrm>
              <a:off x="1604596" y="4333731"/>
              <a:ext cx="1141413" cy="1101725"/>
            </a:xfrm>
            <a:prstGeom prst="ellipse">
              <a:avLst/>
            </a:prstGeom>
            <a:ln/>
          </p:spPr>
          <p:style>
            <a:lnRef idx="1">
              <a:schemeClr val="accent2"/>
            </a:lnRef>
            <a:fillRef idx="2">
              <a:schemeClr val="accent2"/>
            </a:fillRef>
            <a:effectRef idx="1">
              <a:schemeClr val="accent2"/>
            </a:effectRef>
            <a:fontRef idx="minor">
              <a:schemeClr val="dk1"/>
            </a:fontRef>
          </p:style>
          <p:txBody>
            <a:bodyPr wrap="none" anchor="ctr"/>
            <a:lstStyle/>
            <a:p>
              <a:pPr eaLnBrk="1" hangingPunct="1"/>
              <a:endParaRPr lang="zh-CN" altLang="en-US" sz="1800">
                <a:solidFill>
                  <a:schemeClr val="tx1"/>
                </a:solidFill>
              </a:endParaRPr>
            </a:p>
          </p:txBody>
        </p:sp>
        <p:sp>
          <p:nvSpPr>
            <p:cNvPr id="48" name="Text Box 13"/>
            <p:cNvSpPr txBox="1">
              <a:spLocks noChangeArrowheads="1"/>
            </p:cNvSpPr>
            <p:nvPr/>
          </p:nvSpPr>
          <p:spPr bwMode="white">
            <a:xfrm>
              <a:off x="1763688" y="4736177"/>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817" dir="2708076" algn="ctr" rotWithShape="0">
                      <a:schemeClr val="bg2"/>
                    </a:outerShdw>
                  </a:effectLst>
                </a14:hiddenEffects>
              </a:ext>
            </a:extLst>
          </p:spPr>
          <p:txBody>
            <a:bodyPr wrap="none">
              <a:spAutoFit/>
            </a:bodyPr>
            <a:lstStyle/>
            <a:p>
              <a:pPr algn="l"/>
              <a:r>
                <a:rPr lang="zh-CN" altLang="en-US" sz="1200" b="1" dirty="0" smtClean="0">
                  <a:latin typeface="微软雅黑" pitchFamily="34" charset="-122"/>
                  <a:ea typeface="微软雅黑" pitchFamily="34" charset="-122"/>
                </a:rPr>
                <a:t>存货梳理</a:t>
              </a:r>
              <a:endParaRPr lang="zh-CN" altLang="en-US" sz="1200" b="1" dirty="0">
                <a:latin typeface="微软雅黑" pitchFamily="34" charset="-122"/>
                <a:ea typeface="微软雅黑" pitchFamily="34" charset="-122"/>
              </a:endParaRPr>
            </a:p>
          </p:txBody>
        </p:sp>
      </p:grpSp>
      <p:grpSp>
        <p:nvGrpSpPr>
          <p:cNvPr id="49" name="Group 14"/>
          <p:cNvGrpSpPr>
            <a:grpSpLocks/>
          </p:cNvGrpSpPr>
          <p:nvPr/>
        </p:nvGrpSpPr>
        <p:grpSpPr bwMode="auto">
          <a:xfrm>
            <a:off x="1100540" y="2062020"/>
            <a:ext cx="4127499" cy="1604963"/>
            <a:chOff x="559" y="1545"/>
            <a:chExt cx="2600" cy="1011"/>
          </a:xfrm>
        </p:grpSpPr>
        <p:grpSp>
          <p:nvGrpSpPr>
            <p:cNvPr id="50" name="Group 15"/>
            <p:cNvGrpSpPr>
              <a:grpSpLocks/>
            </p:cNvGrpSpPr>
            <p:nvPr/>
          </p:nvGrpSpPr>
          <p:grpSpPr bwMode="auto">
            <a:xfrm>
              <a:off x="1639" y="1545"/>
              <a:ext cx="1520" cy="1011"/>
              <a:chOff x="1639" y="1545"/>
              <a:chExt cx="1520" cy="1011"/>
            </a:xfrm>
          </p:grpSpPr>
          <p:sp>
            <p:nvSpPr>
              <p:cNvPr id="52" name="Text Box 16"/>
              <p:cNvSpPr txBox="1">
                <a:spLocks noChangeArrowheads="1"/>
              </p:cNvSpPr>
              <p:nvPr/>
            </p:nvSpPr>
            <p:spPr bwMode="auto">
              <a:xfrm>
                <a:off x="2163" y="2304"/>
                <a:ext cx="99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wrap="square">
                <a:spAutoFit/>
              </a:bodyPr>
              <a:lstStyle/>
              <a:p>
                <a:pPr algn="ctr"/>
                <a:r>
                  <a:rPr lang="zh-CN" altLang="en-US" sz="2000" b="1" dirty="0" smtClean="0">
                    <a:solidFill>
                      <a:schemeClr val="tx1"/>
                    </a:solidFill>
                    <a:latin typeface="微软雅黑" pitchFamily="34" charset="-122"/>
                    <a:ea typeface="微软雅黑" pitchFamily="34" charset="-122"/>
                  </a:rPr>
                  <a:t>货品总结</a:t>
                </a:r>
                <a:endParaRPr lang="zh-CN" altLang="en-US" sz="2000" b="1" dirty="0">
                  <a:solidFill>
                    <a:schemeClr val="tx1"/>
                  </a:solidFill>
                  <a:latin typeface="微软雅黑" pitchFamily="34" charset="-122"/>
                  <a:ea typeface="微软雅黑" pitchFamily="34" charset="-122"/>
                </a:endParaRPr>
              </a:p>
            </p:txBody>
          </p:sp>
          <p:sp>
            <p:nvSpPr>
              <p:cNvPr id="53" name="Line 17"/>
              <p:cNvSpPr>
                <a:spLocks noChangeShapeType="1"/>
              </p:cNvSpPr>
              <p:nvPr/>
            </p:nvSpPr>
            <p:spPr bwMode="black">
              <a:xfrm>
                <a:off x="1639" y="1545"/>
                <a:ext cx="1022" cy="788"/>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anchor="ctr"/>
              <a:lstStyle/>
              <a:p>
                <a:endParaRPr lang="zh-CN" altLang="en-US"/>
              </a:p>
            </p:txBody>
          </p:sp>
        </p:grpSp>
        <p:cxnSp>
          <p:nvCxnSpPr>
            <p:cNvPr id="51" name="AutoShape 18"/>
            <p:cNvCxnSpPr>
              <a:cxnSpLocks noChangeShapeType="1"/>
            </p:cNvCxnSpPr>
            <p:nvPr/>
          </p:nvCxnSpPr>
          <p:spPr bwMode="black">
            <a:xfrm flipH="1">
              <a:off x="559" y="1545"/>
              <a:ext cx="1087" cy="0"/>
            </a:xfrm>
            <a:prstGeom prst="straightConnector1">
              <a:avLst/>
            </a:prstGeom>
            <a:ln>
              <a:headEnd/>
              <a:tailEnd/>
            </a:ln>
          </p:spPr>
          <p:style>
            <a:lnRef idx="3">
              <a:schemeClr val="dk1"/>
            </a:lnRef>
            <a:fillRef idx="0">
              <a:schemeClr val="dk1"/>
            </a:fillRef>
            <a:effectRef idx="2">
              <a:schemeClr val="dk1"/>
            </a:effectRef>
            <a:fontRef idx="minor">
              <a:schemeClr val="tx1"/>
            </a:fontRef>
          </p:style>
        </p:cxnSp>
      </p:grpSp>
      <p:sp>
        <p:nvSpPr>
          <p:cNvPr id="54" name="Text Box 19"/>
          <p:cNvSpPr txBox="1">
            <a:spLocks noChangeArrowheads="1"/>
          </p:cNvSpPr>
          <p:nvPr/>
        </p:nvSpPr>
        <p:spPr bwMode="auto">
          <a:xfrm>
            <a:off x="1028532" y="1482583"/>
            <a:ext cx="191218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3200" b="1" dirty="0" smtClean="0">
                <a:latin typeface="Verdana" pitchFamily="34" charset="0"/>
                <a:ea typeface="华文行楷" pitchFamily="2" charset="-122"/>
              </a:rPr>
              <a:t>流  程</a:t>
            </a:r>
            <a:endParaRPr lang="zh-CN" altLang="en-US" sz="3200" b="1" dirty="0">
              <a:latin typeface="Verdana" pitchFamily="34" charset="0"/>
              <a:ea typeface="华文行楷" pitchFamily="2" charset="-122"/>
            </a:endParaRPr>
          </a:p>
        </p:txBody>
      </p:sp>
      <p:grpSp>
        <p:nvGrpSpPr>
          <p:cNvPr id="8" name="组合 7"/>
          <p:cNvGrpSpPr/>
          <p:nvPr/>
        </p:nvGrpSpPr>
        <p:grpSpPr>
          <a:xfrm>
            <a:off x="6470000" y="2584306"/>
            <a:ext cx="1198344" cy="1101725"/>
            <a:chOff x="6470000" y="2584306"/>
            <a:chExt cx="1198344" cy="1101725"/>
          </a:xfrm>
        </p:grpSpPr>
        <p:sp>
          <p:nvSpPr>
            <p:cNvPr id="55" name="Oval 20"/>
            <p:cNvSpPr>
              <a:spLocks noChangeArrowheads="1"/>
            </p:cNvSpPr>
            <p:nvPr/>
          </p:nvSpPr>
          <p:spPr bwMode="gray">
            <a:xfrm>
              <a:off x="6501140" y="2584306"/>
              <a:ext cx="1141412" cy="1101725"/>
            </a:xfrm>
            <a:prstGeom prst="ellipse">
              <a:avLst/>
            </a:prstGeom>
            <a:ln/>
          </p:spPr>
          <p:style>
            <a:lnRef idx="1">
              <a:schemeClr val="accent2"/>
            </a:lnRef>
            <a:fillRef idx="2">
              <a:schemeClr val="accent2"/>
            </a:fillRef>
            <a:effectRef idx="1">
              <a:schemeClr val="accent2"/>
            </a:effectRef>
            <a:fontRef idx="minor">
              <a:schemeClr val="dk1"/>
            </a:fontRef>
          </p:style>
          <p:txBody>
            <a:bodyPr wrap="none" anchor="ctr"/>
            <a:lstStyle/>
            <a:p>
              <a:pPr eaLnBrk="1" hangingPunct="1"/>
              <a:endParaRPr lang="zh-CN" altLang="en-US" sz="1800">
                <a:solidFill>
                  <a:schemeClr val="tx1"/>
                </a:solidFill>
              </a:endParaRPr>
            </a:p>
          </p:txBody>
        </p:sp>
        <p:sp>
          <p:nvSpPr>
            <p:cNvPr id="56" name="Text Box 21"/>
            <p:cNvSpPr txBox="1">
              <a:spLocks noChangeArrowheads="1"/>
            </p:cNvSpPr>
            <p:nvPr/>
          </p:nvSpPr>
          <p:spPr bwMode="white">
            <a:xfrm>
              <a:off x="6470000" y="2946258"/>
              <a:ext cx="11983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817" dir="2708076" algn="ctr" rotWithShape="0">
                      <a:schemeClr val="bg2"/>
                    </a:outerShdw>
                  </a:effectLst>
                </a14:hiddenEffects>
              </a:ext>
            </a:extLst>
          </p:spPr>
          <p:txBody>
            <a:bodyPr wrap="square">
              <a:spAutoFit/>
            </a:bodyPr>
            <a:lstStyle/>
            <a:p>
              <a:pPr algn="ctr"/>
              <a:r>
                <a:rPr lang="zh-CN" altLang="en-US" sz="1200" b="1" dirty="0" smtClean="0">
                  <a:latin typeface="微软雅黑" pitchFamily="34" charset="-122"/>
                  <a:ea typeface="微软雅黑" pitchFamily="34" charset="-122"/>
                </a:rPr>
                <a:t>制定存货消化方案</a:t>
              </a:r>
              <a:endParaRPr lang="zh-CN" altLang="en-US" sz="1200" b="1" dirty="0">
                <a:latin typeface="微软雅黑" pitchFamily="34" charset="-122"/>
                <a:ea typeface="微软雅黑" pitchFamily="34" charset="-122"/>
              </a:endParaRPr>
            </a:p>
          </p:txBody>
        </p:sp>
      </p:grpSp>
    </p:spTree>
    <p:extLst>
      <p:ext uri="{BB962C8B-B14F-4D97-AF65-F5344CB8AC3E}">
        <p14:creationId xmlns:p14="http://schemas.microsoft.com/office/powerpoint/2010/main" val="2570019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ppt_x"/>
                                          </p:val>
                                        </p:tav>
                                        <p:tav tm="100000">
                                          <p:val>
                                            <p:strVal val="#ppt_x"/>
                                          </p:val>
                                        </p:tav>
                                      </p:tavLst>
                                    </p:anim>
                                    <p:anim calcmode="lin" valueType="num">
                                      <p:cBhvr additive="base">
                                        <p:cTn id="8"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slide(fromBottom)">
                                      <p:cBhvr>
                                        <p:cTn id="13" dur="500"/>
                                        <p:tgtEl>
                                          <p:spTgt spid="49"/>
                                        </p:tgtEl>
                                      </p:cBhvr>
                                    </p:animEffect>
                                  </p:childTnLst>
                                </p:cTn>
                              </p:par>
                            </p:childTnLst>
                          </p:cTn>
                        </p:par>
                      </p:childTnLst>
                    </p:cTn>
                  </p:par>
                  <p:par>
                    <p:cTn id="14" fill="hold">
                      <p:stCondLst>
                        <p:cond delay="indefinite"/>
                      </p:stCondLst>
                      <p:childTnLst>
                        <p:par>
                          <p:cTn id="15" fill="hold">
                            <p:stCondLst>
                              <p:cond delay="0"/>
                            </p:stCondLst>
                            <p:childTnLst>
                              <p:par>
                                <p:cTn id="16" presetID="15"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 calcmode="lin" valueType="num">
                                      <p:cBhvr>
                                        <p:cTn id="18" dur="1000" fill="hold"/>
                                        <p:tgtEl>
                                          <p:spTgt spid="40"/>
                                        </p:tgtEl>
                                        <p:attrNameLst>
                                          <p:attrName>ppt_w</p:attrName>
                                        </p:attrNameLst>
                                      </p:cBhvr>
                                      <p:tavLst>
                                        <p:tav tm="0">
                                          <p:val>
                                            <p:fltVal val="0"/>
                                          </p:val>
                                        </p:tav>
                                        <p:tav tm="100000">
                                          <p:val>
                                            <p:strVal val="#ppt_w"/>
                                          </p:val>
                                        </p:tav>
                                      </p:tavLst>
                                    </p:anim>
                                    <p:anim calcmode="lin" valueType="num">
                                      <p:cBhvr>
                                        <p:cTn id="19" dur="1000" fill="hold"/>
                                        <p:tgtEl>
                                          <p:spTgt spid="40"/>
                                        </p:tgtEl>
                                        <p:attrNameLst>
                                          <p:attrName>ppt_h</p:attrName>
                                        </p:attrNameLst>
                                      </p:cBhvr>
                                      <p:tavLst>
                                        <p:tav tm="0">
                                          <p:val>
                                            <p:fltVal val="0"/>
                                          </p:val>
                                        </p:tav>
                                        <p:tav tm="100000">
                                          <p:val>
                                            <p:strVal val="#ppt_h"/>
                                          </p:val>
                                        </p:tav>
                                      </p:tavLst>
                                    </p:anim>
                                    <p:anim calcmode="lin" valueType="num">
                                      <p:cBhvr>
                                        <p:cTn id="20" dur="1000" fill="hold"/>
                                        <p:tgtEl>
                                          <p:spTgt spid="40"/>
                                        </p:tgtEl>
                                        <p:attrNameLst>
                                          <p:attrName>ppt_x</p:attrName>
                                        </p:attrNameLst>
                                      </p:cBhvr>
                                      <p:tavLst>
                                        <p:tav tm="0" fmla="#ppt_x+(cos(-2*pi*(1-$))*-#ppt_x-sin(-2*pi*(1-$))*(1-#ppt_y))*(1-$)">
                                          <p:val>
                                            <p:fltVal val="0"/>
                                          </p:val>
                                        </p:tav>
                                        <p:tav tm="100000">
                                          <p:val>
                                            <p:fltVal val="1"/>
                                          </p:val>
                                        </p:tav>
                                      </p:tavLst>
                                    </p:anim>
                                    <p:anim calcmode="lin" valueType="num">
                                      <p:cBhvr>
                                        <p:cTn id="21" dur="1000" fill="hold"/>
                                        <p:tgtEl>
                                          <p:spTgt spid="40"/>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5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16632"/>
            <a:ext cx="165997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返货（过季）</a:t>
            </a:r>
            <a:endParaRPr lang="zh-CN" altLang="en-US" dirty="0">
              <a:latin typeface="微软雅黑" pitchFamily="34" charset="-122"/>
              <a:ea typeface="微软雅黑" pitchFamily="34" charset="-122"/>
            </a:endParaRPr>
          </a:p>
        </p:txBody>
      </p:sp>
      <p:sp>
        <p:nvSpPr>
          <p:cNvPr id="22" name="TextBox 21"/>
          <p:cNvSpPr txBox="1"/>
          <p:nvPr/>
        </p:nvSpPr>
        <p:spPr>
          <a:xfrm>
            <a:off x="899592" y="852615"/>
            <a:ext cx="1440160" cy="369332"/>
          </a:xfrm>
          <a:prstGeom prst="rect">
            <a:avLst/>
          </a:prstGeom>
          <a:noFill/>
        </p:spPr>
        <p:txBody>
          <a:bodyPr wrap="square" rtlCol="0">
            <a:spAutoFit/>
          </a:bodyPr>
          <a:lstStyle/>
          <a:p>
            <a:r>
              <a:rPr lang="zh-CN" altLang="en-US" b="1" dirty="0" smtClean="0">
                <a:latin typeface="微软雅黑" pitchFamily="34" charset="-122"/>
                <a:ea typeface="微软雅黑" pitchFamily="34" charset="-122"/>
              </a:rPr>
              <a:t>流程说明：</a:t>
            </a:r>
            <a:endParaRPr lang="zh-CN" altLang="en-US" b="1" dirty="0">
              <a:latin typeface="微软雅黑" pitchFamily="34" charset="-122"/>
              <a:ea typeface="微软雅黑" pitchFamily="34" charset="-122"/>
            </a:endParaRPr>
          </a:p>
        </p:txBody>
      </p:sp>
      <p:sp>
        <p:nvSpPr>
          <p:cNvPr id="3" name="矩形 2"/>
          <p:cNvSpPr/>
          <p:nvPr/>
        </p:nvSpPr>
        <p:spPr>
          <a:xfrm>
            <a:off x="1547663" y="1681644"/>
            <a:ext cx="5905129" cy="523220"/>
          </a:xfrm>
          <a:prstGeom prst="rect">
            <a:avLst/>
          </a:prstGeom>
          <a:ln>
            <a:solidFill>
              <a:schemeClr val="tx1"/>
            </a:solidFill>
          </a:ln>
        </p:spPr>
        <p:txBody>
          <a:bodyPr wrap="square">
            <a:spAutoFit/>
          </a:bodyPr>
          <a:lstStyle/>
          <a:p>
            <a:r>
              <a:rPr lang="zh-CN" altLang="zh-CN" sz="1400" dirty="0">
                <a:latin typeface="微软雅黑" pitchFamily="34" charset="-122"/>
                <a:ea typeface="微软雅黑" pitchFamily="34" charset="-122"/>
              </a:rPr>
              <a:t>根据订货、库存状况，对过去一季的销售状况，促销状况，商品销售结构</a:t>
            </a:r>
            <a:r>
              <a:rPr lang="zh-CN" altLang="zh-CN" sz="1400" dirty="0" smtClean="0">
                <a:latin typeface="微软雅黑" pitchFamily="34" charset="-122"/>
                <a:ea typeface="微软雅黑" pitchFamily="34" charset="-122"/>
              </a:rPr>
              <a:t>，</a:t>
            </a:r>
            <a:r>
              <a:rPr lang="zh-CN" altLang="en-US" sz="1400" dirty="0" smtClean="0">
                <a:latin typeface="微软雅黑" pitchFamily="34" charset="-122"/>
                <a:ea typeface="微软雅黑" pitchFamily="34" charset="-122"/>
              </a:rPr>
              <a:t>毛利状况、</a:t>
            </a:r>
            <a:r>
              <a:rPr lang="zh-CN" altLang="zh-CN" sz="1400" dirty="0" smtClean="0">
                <a:latin typeface="微软雅黑" pitchFamily="34" charset="-122"/>
                <a:ea typeface="微软雅黑" pitchFamily="34" charset="-122"/>
              </a:rPr>
              <a:t>订货</a:t>
            </a:r>
            <a:r>
              <a:rPr lang="zh-CN" altLang="zh-CN" sz="1400" dirty="0">
                <a:latin typeface="微软雅黑" pitchFamily="34" charset="-122"/>
                <a:ea typeface="微软雅黑" pitchFamily="34" charset="-122"/>
              </a:rPr>
              <a:t>和销售的关系等角度进行</a:t>
            </a:r>
            <a:r>
              <a:rPr lang="zh-CN" altLang="zh-CN" sz="1400" dirty="0" smtClean="0">
                <a:latin typeface="微软雅黑" pitchFamily="34" charset="-122"/>
                <a:ea typeface="微软雅黑" pitchFamily="34" charset="-122"/>
              </a:rPr>
              <a:t>分析</a:t>
            </a:r>
            <a:r>
              <a:rPr lang="zh-CN" altLang="en-US" sz="1400" dirty="0" smtClean="0">
                <a:latin typeface="微软雅黑" pitchFamily="34" charset="-122"/>
                <a:ea typeface="微软雅黑" pitchFamily="34" charset="-122"/>
              </a:rPr>
              <a:t>（季度分析报告）</a:t>
            </a:r>
            <a:endParaRPr lang="zh-CN" altLang="en-US" sz="1400" dirty="0">
              <a:latin typeface="微软雅黑" pitchFamily="34" charset="-122"/>
              <a:ea typeface="微软雅黑" pitchFamily="34" charset="-122"/>
            </a:endParaRPr>
          </a:p>
        </p:txBody>
      </p:sp>
      <p:sp>
        <p:nvSpPr>
          <p:cNvPr id="4" name="矩形 3"/>
          <p:cNvSpPr/>
          <p:nvPr/>
        </p:nvSpPr>
        <p:spPr>
          <a:xfrm>
            <a:off x="1547189" y="2526576"/>
            <a:ext cx="5905129" cy="523220"/>
          </a:xfrm>
          <a:prstGeom prst="rect">
            <a:avLst/>
          </a:prstGeom>
          <a:ln>
            <a:solidFill>
              <a:schemeClr val="tx1"/>
            </a:solidFill>
          </a:ln>
        </p:spPr>
        <p:txBody>
          <a:bodyPr wrap="square">
            <a:spAutoFit/>
          </a:bodyPr>
          <a:lstStyle/>
          <a:p>
            <a:r>
              <a:rPr lang="zh-CN" altLang="zh-CN" sz="1400" dirty="0">
                <a:latin typeface="微软雅黑" pitchFamily="34" charset="-122"/>
                <a:ea typeface="微软雅黑" pitchFamily="34" charset="-122"/>
              </a:rPr>
              <a:t>按照商品库存结构以及销售状况，将商品区分出，有效库存和无效库存，正价货品和特价货品等</a:t>
            </a:r>
            <a:endParaRPr lang="zh-CN" altLang="en-US" sz="1400" dirty="0">
              <a:latin typeface="微软雅黑" pitchFamily="34" charset="-122"/>
              <a:ea typeface="微软雅黑" pitchFamily="34" charset="-122"/>
            </a:endParaRPr>
          </a:p>
        </p:txBody>
      </p:sp>
      <p:sp>
        <p:nvSpPr>
          <p:cNvPr id="23" name="矩形 22"/>
          <p:cNvSpPr/>
          <p:nvPr/>
        </p:nvSpPr>
        <p:spPr>
          <a:xfrm>
            <a:off x="1547664" y="3318664"/>
            <a:ext cx="5905129" cy="523220"/>
          </a:xfrm>
          <a:prstGeom prst="rect">
            <a:avLst/>
          </a:prstGeom>
          <a:ln>
            <a:solidFill>
              <a:schemeClr val="tx1"/>
            </a:solidFill>
          </a:ln>
        </p:spPr>
        <p:txBody>
          <a:bodyPr wrap="square">
            <a:spAutoFit/>
          </a:bodyPr>
          <a:lstStyle/>
          <a:p>
            <a:r>
              <a:rPr lang="zh-CN" altLang="zh-CN" sz="1400" dirty="0">
                <a:latin typeface="微软雅黑" pitchFamily="34" charset="-122"/>
                <a:ea typeface="微软雅黑" pitchFamily="34" charset="-122"/>
              </a:rPr>
              <a:t>商品部总结商品订销</a:t>
            </a:r>
            <a:r>
              <a:rPr lang="zh-CN" altLang="zh-CN" sz="1400" dirty="0" smtClean="0">
                <a:latin typeface="微软雅黑" pitchFamily="34" charset="-122"/>
                <a:ea typeface="微软雅黑" pitchFamily="34" charset="-122"/>
              </a:rPr>
              <a:t>状况</a:t>
            </a:r>
            <a:r>
              <a:rPr lang="zh-CN" altLang="en-US" sz="1400" dirty="0" smtClean="0">
                <a:latin typeface="微软雅黑" pitchFamily="34" charset="-122"/>
                <a:ea typeface="微软雅黑" pitchFamily="34" charset="-122"/>
              </a:rPr>
              <a:t>、毛利状况</a:t>
            </a:r>
            <a:r>
              <a:rPr lang="zh-CN" altLang="zh-CN" sz="1400" dirty="0" smtClean="0">
                <a:latin typeface="微软雅黑" pitchFamily="34" charset="-122"/>
                <a:ea typeface="微软雅黑" pitchFamily="34" charset="-122"/>
              </a:rPr>
              <a:t>，</a:t>
            </a:r>
            <a:r>
              <a:rPr lang="zh-CN" altLang="zh-CN" sz="1400" dirty="0">
                <a:latin typeface="微软雅黑" pitchFamily="34" charset="-122"/>
                <a:ea typeface="微软雅黑" pitchFamily="34" charset="-122"/>
              </a:rPr>
              <a:t>运营</a:t>
            </a:r>
            <a:r>
              <a:rPr lang="zh-CN" altLang="zh-CN" sz="1400" dirty="0" smtClean="0">
                <a:latin typeface="微软雅黑" pitchFamily="34" charset="-122"/>
                <a:ea typeface="微软雅黑" pitchFamily="34" charset="-122"/>
              </a:rPr>
              <a:t>中心</a:t>
            </a:r>
            <a:r>
              <a:rPr lang="zh-CN" altLang="en-US" sz="1400" dirty="0" smtClean="0">
                <a:latin typeface="微软雅黑" pitchFamily="34" charset="-122"/>
                <a:ea typeface="微软雅黑" pitchFamily="34" charset="-122"/>
              </a:rPr>
              <a:t>（直营、分销）</a:t>
            </a:r>
            <a:r>
              <a:rPr lang="zh-CN" altLang="zh-CN" sz="1400" dirty="0" smtClean="0">
                <a:latin typeface="微软雅黑" pitchFamily="34" charset="-122"/>
                <a:ea typeface="微软雅黑" pitchFamily="34" charset="-122"/>
              </a:rPr>
              <a:t>各部从</a:t>
            </a:r>
            <a:r>
              <a:rPr lang="zh-CN" altLang="zh-CN" sz="1400" dirty="0">
                <a:latin typeface="微软雅黑" pitchFamily="34" charset="-122"/>
                <a:ea typeface="微软雅黑" pitchFamily="34" charset="-122"/>
              </a:rPr>
              <a:t>自身的角度，对一季的销售进行</a:t>
            </a:r>
            <a:r>
              <a:rPr lang="zh-CN" altLang="zh-CN" sz="1400" dirty="0" smtClean="0">
                <a:latin typeface="微软雅黑" pitchFamily="34" charset="-122"/>
                <a:ea typeface="微软雅黑" pitchFamily="34" charset="-122"/>
              </a:rPr>
              <a:t>总结</a:t>
            </a:r>
            <a:endParaRPr lang="zh-CN" altLang="en-US" sz="1400" dirty="0">
              <a:latin typeface="微软雅黑" pitchFamily="34" charset="-122"/>
              <a:ea typeface="微软雅黑" pitchFamily="34" charset="-122"/>
            </a:endParaRPr>
          </a:p>
        </p:txBody>
      </p:sp>
      <p:sp>
        <p:nvSpPr>
          <p:cNvPr id="24" name="矩形 23"/>
          <p:cNvSpPr/>
          <p:nvPr/>
        </p:nvSpPr>
        <p:spPr>
          <a:xfrm>
            <a:off x="1547664" y="4129916"/>
            <a:ext cx="5905129" cy="307777"/>
          </a:xfrm>
          <a:prstGeom prst="rect">
            <a:avLst/>
          </a:prstGeom>
          <a:ln>
            <a:solidFill>
              <a:schemeClr val="tx1"/>
            </a:solidFill>
          </a:ln>
        </p:spPr>
        <p:txBody>
          <a:bodyPr wrap="square">
            <a:spAutoFit/>
          </a:bodyPr>
          <a:lstStyle/>
          <a:p>
            <a:r>
              <a:rPr lang="zh-CN" altLang="zh-CN" sz="1400" dirty="0" smtClean="0">
                <a:latin typeface="微软雅黑" pitchFamily="34" charset="-122"/>
                <a:ea typeface="微软雅黑" pitchFamily="34" charset="-122"/>
              </a:rPr>
              <a:t>商品</a:t>
            </a:r>
            <a:r>
              <a:rPr lang="zh-CN" altLang="en-US" sz="1400" dirty="0">
                <a:latin typeface="微软雅黑" pitchFamily="34" charset="-122"/>
                <a:ea typeface="微软雅黑" pitchFamily="34" charset="-122"/>
              </a:rPr>
              <a:t>部</a:t>
            </a:r>
            <a:r>
              <a:rPr lang="zh-CN" altLang="zh-CN" sz="1400" dirty="0" smtClean="0">
                <a:latin typeface="微软雅黑" pitchFamily="34" charset="-122"/>
                <a:ea typeface="微软雅黑" pitchFamily="34" charset="-122"/>
              </a:rPr>
              <a:t>提交</a:t>
            </a:r>
            <a:r>
              <a:rPr lang="zh-CN" altLang="zh-CN" sz="1400" dirty="0">
                <a:latin typeface="微软雅黑" pitchFamily="34" charset="-122"/>
                <a:ea typeface="微软雅黑" pitchFamily="34" charset="-122"/>
              </a:rPr>
              <a:t>存货处理建议，通过讨论、决策、确定库存</a:t>
            </a:r>
            <a:r>
              <a:rPr lang="zh-CN" altLang="zh-CN" sz="1400" dirty="0" smtClean="0">
                <a:latin typeface="微软雅黑" pitchFamily="34" charset="-122"/>
                <a:ea typeface="微软雅黑" pitchFamily="34" charset="-122"/>
              </a:rPr>
              <a:t>货品</a:t>
            </a:r>
            <a:r>
              <a:rPr lang="zh-CN" altLang="en-US" sz="1400" dirty="0" smtClean="0">
                <a:latin typeface="微软雅黑" pitchFamily="34" charset="-122"/>
                <a:ea typeface="微软雅黑" pitchFamily="34" charset="-122"/>
              </a:rPr>
              <a:t>消化</a:t>
            </a:r>
            <a:r>
              <a:rPr lang="zh-CN" altLang="zh-CN" sz="1400" dirty="0" smtClean="0">
                <a:latin typeface="微软雅黑" pitchFamily="34" charset="-122"/>
                <a:ea typeface="微软雅黑" pitchFamily="34" charset="-122"/>
              </a:rPr>
              <a:t>方式</a:t>
            </a:r>
            <a:endParaRPr lang="zh-CN" altLang="en-US" sz="1400" dirty="0">
              <a:latin typeface="微软雅黑" pitchFamily="34" charset="-122"/>
              <a:ea typeface="微软雅黑" pitchFamily="34" charset="-122"/>
            </a:endParaRPr>
          </a:p>
        </p:txBody>
      </p:sp>
      <p:sp>
        <p:nvSpPr>
          <p:cNvPr id="25" name="矩形 24"/>
          <p:cNvSpPr/>
          <p:nvPr/>
        </p:nvSpPr>
        <p:spPr>
          <a:xfrm>
            <a:off x="1547191" y="4777988"/>
            <a:ext cx="5905129" cy="523220"/>
          </a:xfrm>
          <a:prstGeom prst="rect">
            <a:avLst/>
          </a:prstGeom>
          <a:ln>
            <a:solidFill>
              <a:schemeClr val="tx1"/>
            </a:solidFill>
          </a:ln>
        </p:spPr>
        <p:txBody>
          <a:bodyPr wrap="square">
            <a:spAutoFit/>
          </a:bodyPr>
          <a:lstStyle/>
          <a:p>
            <a:r>
              <a:rPr lang="zh-CN" altLang="zh-CN" sz="1400" dirty="0">
                <a:latin typeface="微软雅黑" pitchFamily="34" charset="-122"/>
                <a:ea typeface="微软雅黑" pitchFamily="34" charset="-122"/>
              </a:rPr>
              <a:t>根据确定的存货处理方案，将过季库存商品调整相应的仓位，按照品类和销售定位的分开</a:t>
            </a:r>
            <a:r>
              <a:rPr lang="zh-CN" altLang="zh-CN" sz="1400" dirty="0" smtClean="0">
                <a:latin typeface="微软雅黑" pitchFamily="34" charset="-122"/>
                <a:ea typeface="微软雅黑" pitchFamily="34" charset="-122"/>
              </a:rPr>
              <a:t>存放</a:t>
            </a:r>
            <a:r>
              <a:rPr lang="zh-CN" altLang="en-US" sz="1400" dirty="0" smtClean="0">
                <a:latin typeface="微软雅黑" pitchFamily="34" charset="-122"/>
                <a:ea typeface="微软雅黑" pitchFamily="34" charset="-122"/>
              </a:rPr>
              <a:t>（仓库）</a:t>
            </a:r>
            <a:endParaRPr lang="zh-CN" altLang="en-US" sz="1400" dirty="0">
              <a:latin typeface="微软雅黑" pitchFamily="34" charset="-122"/>
              <a:ea typeface="微软雅黑" pitchFamily="34" charset="-122"/>
            </a:endParaRPr>
          </a:p>
        </p:txBody>
      </p:sp>
    </p:spTree>
    <p:extLst>
      <p:ext uri="{BB962C8B-B14F-4D97-AF65-F5344CB8AC3E}">
        <p14:creationId xmlns:p14="http://schemas.microsoft.com/office/powerpoint/2010/main" val="246412148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意尔康模版-2</Template>
  <TotalTime>1568</TotalTime>
  <Words>6275</Words>
  <Application>Microsoft Office PowerPoint</Application>
  <PresentationFormat>全屏显示(4:3)</PresentationFormat>
  <Paragraphs>630</Paragraphs>
  <Slides>52</Slides>
  <Notes>0</Notes>
  <HiddenSlides>0</HiddenSlides>
  <MMClips>0</MMClips>
  <ScaleCrop>false</ScaleCrop>
  <HeadingPairs>
    <vt:vector size="6" baseType="variant">
      <vt:variant>
        <vt:lpstr>主题</vt:lpstr>
      </vt:variant>
      <vt:variant>
        <vt:i4>1</vt:i4>
      </vt:variant>
      <vt:variant>
        <vt:lpstr>嵌入 OLE 服务器</vt:lpstr>
      </vt:variant>
      <vt:variant>
        <vt:i4>3</vt:i4>
      </vt:variant>
      <vt:variant>
        <vt:lpstr>幻灯片标题</vt:lpstr>
      </vt:variant>
      <vt:variant>
        <vt:i4>52</vt:i4>
      </vt:variant>
    </vt:vector>
  </HeadingPairs>
  <TitlesOfParts>
    <vt:vector size="56" baseType="lpstr">
      <vt:lpstr>Office 主题</vt:lpstr>
      <vt:lpstr>文档</vt:lpstr>
      <vt:lpstr>工作表</vt:lpstr>
      <vt:lpstr>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Sky123.Org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Sky123.Org</dc:creator>
  <cp:lastModifiedBy>Sky123.Org</cp:lastModifiedBy>
  <cp:revision>111</cp:revision>
  <dcterms:created xsi:type="dcterms:W3CDTF">2014-06-11T01:51:04Z</dcterms:created>
  <dcterms:modified xsi:type="dcterms:W3CDTF">2014-06-14T07:42:38Z</dcterms:modified>
</cp:coreProperties>
</file>