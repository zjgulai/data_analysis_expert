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48" r:id="rId1"/>
  </p:sldMasterIdLst>
  <p:notesMasterIdLst>
    <p:notesMasterId r:id="rId41"/>
  </p:notesMasterIdLst>
  <p:handoutMasterIdLst>
    <p:handoutMasterId r:id="rId42"/>
  </p:handoutMasterIdLst>
  <p:sldIdLst>
    <p:sldId id="256" r:id="rId2"/>
    <p:sldId id="258" r:id="rId3"/>
    <p:sldId id="287" r:id="rId4"/>
    <p:sldId id="274" r:id="rId5"/>
    <p:sldId id="275" r:id="rId6"/>
    <p:sldId id="259" r:id="rId7"/>
    <p:sldId id="260" r:id="rId8"/>
    <p:sldId id="279" r:id="rId9"/>
    <p:sldId id="296" r:id="rId10"/>
    <p:sldId id="261" r:id="rId11"/>
    <p:sldId id="292" r:id="rId12"/>
    <p:sldId id="283" r:id="rId13"/>
    <p:sldId id="284" r:id="rId14"/>
    <p:sldId id="295" r:id="rId15"/>
    <p:sldId id="262" r:id="rId16"/>
    <p:sldId id="263" r:id="rId17"/>
    <p:sldId id="264" r:id="rId18"/>
    <p:sldId id="268" r:id="rId19"/>
    <p:sldId id="269" r:id="rId20"/>
    <p:sldId id="270" r:id="rId21"/>
    <p:sldId id="271" r:id="rId22"/>
    <p:sldId id="272" r:id="rId23"/>
    <p:sldId id="294" r:id="rId24"/>
    <p:sldId id="273" r:id="rId25"/>
    <p:sldId id="286" r:id="rId26"/>
    <p:sldId id="278" r:id="rId27"/>
    <p:sldId id="285" r:id="rId28"/>
    <p:sldId id="293" r:id="rId29"/>
    <p:sldId id="298" r:id="rId30"/>
    <p:sldId id="299" r:id="rId31"/>
    <p:sldId id="300" r:id="rId32"/>
    <p:sldId id="303" r:id="rId33"/>
    <p:sldId id="304" r:id="rId34"/>
    <p:sldId id="305" r:id="rId35"/>
    <p:sldId id="306" r:id="rId36"/>
    <p:sldId id="307" r:id="rId37"/>
    <p:sldId id="308" r:id="rId38"/>
    <p:sldId id="302" r:id="rId39"/>
    <p:sldId id="291"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AE9EC"/>
    <a:srgbClr val="9BEDEF"/>
    <a:srgbClr val="F8FE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88889" autoAdjust="0"/>
  </p:normalViewPr>
  <p:slideViewPr>
    <p:cSldViewPr>
      <p:cViewPr varScale="1">
        <p:scale>
          <a:sx n="109" d="100"/>
          <a:sy n="109" d="100"/>
        </p:scale>
        <p:origin x="60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36"/>
    </mc:Choice>
    <mc:Fallback>
      <c:style val="36"/>
    </mc:Fallback>
  </mc:AlternateContent>
  <c:chart>
    <c:title>
      <c:tx>
        <c:rich>
          <a:bodyPr/>
          <a:lstStyle/>
          <a:p>
            <a:pPr>
              <a:defRPr/>
            </a:pPr>
            <a:r>
              <a:rPr lang="zh-CN"/>
              <a:t>分析雷达</a:t>
            </a:r>
            <a:endParaRPr lang="en-US"/>
          </a:p>
        </c:rich>
      </c:tx>
      <c:overlay val="0"/>
    </c:title>
    <c:autoTitleDeleted val="0"/>
    <c:plotArea>
      <c:layout/>
      <c:radarChart>
        <c:radarStyle val="marker"/>
        <c:varyColors val="0"/>
        <c:ser>
          <c:idx val="0"/>
          <c:order val="0"/>
          <c:tx>
            <c:strRef>
              <c:f>Sheet1!$B$1</c:f>
              <c:strCache>
                <c:ptCount val="1"/>
                <c:pt idx="0">
                  <c:v>系列 1</c:v>
                </c:pt>
              </c:strCache>
            </c:strRef>
          </c:tx>
          <c:cat>
            <c:strRef>
              <c:f>Sheet1!$A$2:$A$6</c:f>
              <c:strCache>
                <c:ptCount val="5"/>
                <c:pt idx="0">
                  <c:v>销售</c:v>
                </c:pt>
                <c:pt idx="1">
                  <c:v>库存</c:v>
                </c:pt>
                <c:pt idx="2">
                  <c:v>进货</c:v>
                </c:pt>
                <c:pt idx="3">
                  <c:v>会员</c:v>
                </c:pt>
                <c:pt idx="4">
                  <c:v>周转</c:v>
                </c:pt>
              </c:strCache>
            </c:strRef>
          </c:cat>
          <c:val>
            <c:numRef>
              <c:f>Sheet1!$B$2:$B$6</c:f>
              <c:numCache>
                <c:formatCode>General</c:formatCode>
                <c:ptCount val="5"/>
                <c:pt idx="0">
                  <c:v>20</c:v>
                </c:pt>
                <c:pt idx="1">
                  <c:v>25</c:v>
                </c:pt>
                <c:pt idx="2">
                  <c:v>30</c:v>
                </c:pt>
                <c:pt idx="3">
                  <c:v>10</c:v>
                </c:pt>
                <c:pt idx="4">
                  <c:v>15</c:v>
                </c:pt>
              </c:numCache>
            </c:numRef>
          </c:val>
          <c:extLst>
            <c:ext xmlns:c16="http://schemas.microsoft.com/office/drawing/2014/chart" uri="{C3380CC4-5D6E-409C-BE32-E72D297353CC}">
              <c16:uniqueId val="{00000000-6182-48E5-8944-CEA9CDE1E920}"/>
            </c:ext>
          </c:extLst>
        </c:ser>
        <c:dLbls>
          <c:showLegendKey val="0"/>
          <c:showVal val="0"/>
          <c:showCatName val="0"/>
          <c:showSerName val="0"/>
          <c:showPercent val="0"/>
          <c:showBubbleSize val="0"/>
        </c:dLbls>
        <c:axId val="100000512"/>
        <c:axId val="100002048"/>
      </c:radarChart>
      <c:catAx>
        <c:axId val="100000512"/>
        <c:scaling>
          <c:orientation val="minMax"/>
        </c:scaling>
        <c:delete val="0"/>
        <c:axPos val="b"/>
        <c:majorGridlines/>
        <c:numFmt formatCode="General" sourceLinked="1"/>
        <c:majorTickMark val="out"/>
        <c:minorTickMark val="none"/>
        <c:tickLblPos val="nextTo"/>
        <c:crossAx val="100002048"/>
        <c:crosses val="autoZero"/>
        <c:auto val="1"/>
        <c:lblAlgn val="ctr"/>
        <c:lblOffset val="100"/>
        <c:noMultiLvlLbl val="0"/>
      </c:catAx>
      <c:valAx>
        <c:axId val="100002048"/>
        <c:scaling>
          <c:orientation val="minMax"/>
        </c:scaling>
        <c:delete val="0"/>
        <c:axPos val="l"/>
        <c:majorGridlines/>
        <c:numFmt formatCode="General" sourceLinked="1"/>
        <c:majorTickMark val="cross"/>
        <c:minorTickMark val="none"/>
        <c:tickLblPos val="nextTo"/>
        <c:crossAx val="100000512"/>
        <c:crosses val="autoZero"/>
        <c:crossBetween val="between"/>
      </c:valAx>
    </c:plotArea>
    <c:legend>
      <c:legendPos val="r"/>
      <c:overlay val="0"/>
    </c:legend>
    <c:plotVisOnly val="1"/>
    <c:dispBlanksAs val="gap"/>
    <c:showDLblsOverMax val="0"/>
  </c:chart>
  <c:txPr>
    <a:bodyPr/>
    <a:lstStyle/>
    <a:p>
      <a:pPr>
        <a:defRPr sz="1800"/>
      </a:pPr>
      <a:endParaRPr lang="zh-CN"/>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5FABF67-E946-41B0-8642-D8BB390A4FD5}" type="datetimeFigureOut">
              <a:rPr lang="zh-CN" altLang="en-US" smtClean="0"/>
              <a:pPr/>
              <a:t>2022/4/15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B7E0550-7F0E-4921-BF15-3CD2ADBB55D4}" type="slidenum">
              <a:rPr lang="zh-CN" altLang="en-US" smtClean="0"/>
              <a:pPr/>
              <a:t>‹#›</a:t>
            </a:fld>
            <a:endParaRPr lang="zh-CN" altLang="en-US"/>
          </a:p>
        </p:txBody>
      </p:sp>
    </p:spTree>
    <p:extLst>
      <p:ext uri="{BB962C8B-B14F-4D97-AF65-F5344CB8AC3E}">
        <p14:creationId xmlns:p14="http://schemas.microsoft.com/office/powerpoint/2010/main" val="28651166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90BF4DC9-47CB-44FA-9BAB-93FDD9F43453}" type="datetimeFigureOut">
              <a:rPr lang="en-US"/>
              <a:pPr>
                <a:defRPr/>
              </a:pPr>
              <a:t>4/15/2022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2D2C14F2-9DB8-4520-A2D7-529655DC60DB}" type="slidenum">
              <a:rPr lang="en-US"/>
              <a:pPr>
                <a:defRPr/>
              </a:pPr>
              <a:t>‹#›</a:t>
            </a:fld>
            <a:endParaRPr lang="en-US"/>
          </a:p>
        </p:txBody>
      </p:sp>
    </p:spTree>
    <p:extLst>
      <p:ext uri="{BB962C8B-B14F-4D97-AF65-F5344CB8AC3E}">
        <p14:creationId xmlns:p14="http://schemas.microsoft.com/office/powerpoint/2010/main" val="3155297743"/>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a:latin typeface="宋体" charset="-122"/>
            </a:endParaRPr>
          </a:p>
        </p:txBody>
      </p:sp>
      <p:sp>
        <p:nvSpPr>
          <p:cNvPr id="1536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03A0DB1-F97F-489F-A093-1E2284FF575B}" type="slidenum">
              <a:rPr lang="en-US" altLang="zh-CN"/>
              <a:pPr fontAlgn="base">
                <a:spcBef>
                  <a:spcPct val="0"/>
                </a:spcBef>
                <a:spcAft>
                  <a:spcPct val="0"/>
                </a:spcAft>
                <a:defRPr/>
              </a:pPr>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3</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4</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5</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6</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7</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8</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10</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11</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12</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13</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14</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15</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16</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17</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18</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19</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20</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21</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22</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23</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24</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25</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26</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27</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28</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2D2C14F2-9DB8-4520-A2D7-529655DC60DB}" type="slidenum">
              <a:rPr lang="en-US" smtClean="0"/>
              <a:pPr>
                <a:defRPr/>
              </a:pPr>
              <a:t>38</a:t>
            </a:fld>
            <a:endParaRPr lang="en-US"/>
          </a:p>
        </p:txBody>
      </p:sp>
    </p:spTree>
    <p:extLst>
      <p:ext uri="{BB962C8B-B14F-4D97-AF65-F5344CB8AC3E}">
        <p14:creationId xmlns:p14="http://schemas.microsoft.com/office/powerpoint/2010/main" val="15630478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Image Placeholder 1"/>
          <p:cNvSpPr>
            <a:spLocks noGrp="1" noRot="1" noChangeAspec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a:latin typeface="宋体" charset="-122"/>
            </a:endParaRPr>
          </a:p>
        </p:txBody>
      </p:sp>
      <p:sp>
        <p:nvSpPr>
          <p:cNvPr id="15363"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03A0DB1-F97F-489F-A093-1E2284FF575B}" type="slidenum">
              <a:rPr lang="en-US" altLang="zh-CN"/>
              <a:pPr fontAlgn="base">
                <a:spcBef>
                  <a:spcPct val="0"/>
                </a:spcBef>
                <a:spcAft>
                  <a:spcPct val="0"/>
                </a:spcAft>
                <a:defRPr/>
              </a:pPr>
              <a:t>39</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bwMode="gray">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zh-CN" altLang="en-US"/>
              <a:t>单击此处编辑母版标题样式</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95000"/>
                    <a:lumOff val="5000"/>
                  </a:schemeClr>
                </a:solidFill>
                <a:effectLst>
                  <a:outerShdw blurRad="25400" dist="25400" dir="2700000" algn="tl" rotWithShape="0">
                    <a:schemeClr val="bg1">
                      <a:alpha val="80000"/>
                    </a:scheme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6444208" y="6381328"/>
            <a:ext cx="2133600" cy="365125"/>
          </a:xfrm>
        </p:spPr>
        <p:txBody>
          <a:bodyPr/>
          <a:lstStyle>
            <a:lvl1pPr>
              <a:defRPr/>
            </a:lvl1pPr>
          </a:lstStyle>
          <a:p>
            <a:pPr>
              <a:defRPr/>
            </a:pPr>
            <a:fld id="{80D1D0DD-5D5C-45A9-AD1D-975C73E8B128}" type="datetime1">
              <a:rPr lang="en-US" altLang="zh-CN" smtClean="0"/>
              <a:pPr>
                <a:defRPr/>
              </a:pPr>
              <a:t>4/15/2022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a:xfrm>
            <a:off x="251520" y="6381328"/>
            <a:ext cx="504056" cy="365125"/>
          </a:xfrm>
        </p:spPr>
        <p:txBody>
          <a:bodyPr/>
          <a:lstStyle>
            <a:lvl1pPr>
              <a:defRPr/>
            </a:lvl1pPr>
          </a:lstStyle>
          <a:p>
            <a:pPr>
              <a:defRPr/>
            </a:pPr>
            <a:fld id="{44D15FF0-D00C-40C6-9BE2-7A6EE525D4D9}"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5004048" y="6381328"/>
            <a:ext cx="2133600" cy="365125"/>
          </a:xfrm>
        </p:spPr>
        <p:txBody>
          <a:bodyPr/>
          <a:lstStyle>
            <a:lvl1pPr>
              <a:defRPr/>
            </a:lvl1pPr>
          </a:lstStyle>
          <a:p>
            <a:pPr>
              <a:defRPr/>
            </a:pPr>
            <a:fld id="{89994E5F-2913-4CBB-98E0-F117FB2A1B80}" type="datetime1">
              <a:rPr lang="en-US" altLang="zh-CN" smtClean="0"/>
              <a:pPr>
                <a:defRPr/>
              </a:pPr>
              <a:t>4/15/2022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251520" y="6381328"/>
            <a:ext cx="576064" cy="365125"/>
          </a:xfrm>
        </p:spPr>
        <p:txBody>
          <a:bodyPr/>
          <a:lstStyle>
            <a:lvl1pPr>
              <a:defRPr/>
            </a:lvl1pPr>
          </a:lstStyle>
          <a:p>
            <a:pPr>
              <a:defRPr/>
            </a:pPr>
            <a:fld id="{1B91950A-4E9C-4796-AD8F-2DC670054CD8}" type="slidenum">
              <a:rPr lang="en-US"/>
              <a:pPr>
                <a:defRPr/>
              </a:pPr>
              <a:t>‹#›</a:t>
            </a:fld>
            <a:endParaRPr lang="en-US"/>
          </a:p>
        </p:txBody>
      </p:sp>
      <p:cxnSp>
        <p:nvCxnSpPr>
          <p:cNvPr id="12" name="直接连接符 11"/>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lvl1pPr>
              <a:defRPr/>
            </a:lvl1pPr>
          </a:lstStyle>
          <a:p>
            <a:pPr>
              <a:defRPr/>
            </a:pPr>
            <a:fld id="{4EBE3280-B689-42F7-86D7-655089739911}" type="datetime1">
              <a:rPr lang="en-US" altLang="zh-CN" smtClean="0"/>
              <a:pPr>
                <a:defRPr/>
              </a:pPr>
              <a:t>4/15/2022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6EF8587-2127-404E-9A8D-2E88D205D724}" type="slidenum">
              <a:rPr lang="en-US"/>
              <a:pPr>
                <a:defRPr/>
              </a:pPr>
              <a:t>‹#›</a:t>
            </a:fld>
            <a:endParaRPr 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8" name="直接连接符 7"/>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3"/>
          <p:cNvSpPr>
            <a:spLocks noGrp="1"/>
          </p:cNvSpPr>
          <p:nvPr>
            <p:ph type="dt" sz="half" idx="10"/>
          </p:nvPr>
        </p:nvSpPr>
        <p:spPr/>
        <p:txBody>
          <a:bodyPr/>
          <a:lstStyle>
            <a:lvl1pPr>
              <a:defRPr/>
            </a:lvl1pPr>
          </a:lstStyle>
          <a:p>
            <a:pPr>
              <a:defRPr/>
            </a:pPr>
            <a:fld id="{DE7869F4-7942-4DE7-9020-CAEF44F17335}" type="datetime1">
              <a:rPr lang="en-US" altLang="zh-CN" smtClean="0"/>
              <a:pPr>
                <a:defRPr/>
              </a:pPr>
              <a:t>4/15/2022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A2F5F5F-0177-4934-98F8-88D88AE7B7E8}" type="slidenum">
              <a:rPr lang="en-US"/>
              <a:pPr>
                <a:defRPr/>
              </a:pPr>
              <a:t>‹#›</a:t>
            </a:fld>
            <a:endParaRPr 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9" name="直接连接符 8"/>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3"/>
          <p:cNvSpPr>
            <a:spLocks noGrp="1"/>
          </p:cNvSpPr>
          <p:nvPr>
            <p:ph type="dt" sz="half" idx="10"/>
          </p:nvPr>
        </p:nvSpPr>
        <p:spPr/>
        <p:txBody>
          <a:bodyPr/>
          <a:lstStyle>
            <a:lvl1pPr>
              <a:defRPr/>
            </a:lvl1pPr>
          </a:lstStyle>
          <a:p>
            <a:pPr>
              <a:defRPr/>
            </a:pPr>
            <a:fld id="{4A8979A0-DA6D-4838-8A27-760D20F44AF4}" type="datetime1">
              <a:rPr lang="en-US" altLang="zh-CN" smtClean="0"/>
              <a:pPr>
                <a:defRPr/>
              </a:pPr>
              <a:t>4/15/2022</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EAD08128-C1AE-4401-8B20-0A4512613D52}" type="slidenum">
              <a:rPr lang="en-US"/>
              <a:pPr>
                <a:defRPr/>
              </a:pPr>
              <a:t>‹#›</a:t>
            </a:fld>
            <a:endParaRPr lang="en-US"/>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11" name="直接连接符 10"/>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3"/>
          <p:cNvSpPr>
            <a:spLocks noGrp="1"/>
          </p:cNvSpPr>
          <p:nvPr>
            <p:ph type="dt" sz="half" idx="10"/>
          </p:nvPr>
        </p:nvSpPr>
        <p:spPr/>
        <p:txBody>
          <a:bodyPr/>
          <a:lstStyle>
            <a:lvl1pPr>
              <a:defRPr/>
            </a:lvl1pPr>
          </a:lstStyle>
          <a:p>
            <a:pPr>
              <a:defRPr/>
            </a:pPr>
            <a:fld id="{056F54E9-C53A-4320-90CF-EA7D9E32A8AD}" type="datetime1">
              <a:rPr lang="en-US" altLang="zh-CN" smtClean="0"/>
              <a:pPr>
                <a:defRPr/>
              </a:pPr>
              <a:t>4/15/2022</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BF0492B-1D62-436D-8BFE-A5AC750517C1}" type="slidenum">
              <a:rPr lang="en-US"/>
              <a:pPr>
                <a:defRPr/>
              </a:pPr>
              <a:t>‹#›</a:t>
            </a:fld>
            <a:endParaRPr lang="en-US"/>
          </a:p>
        </p:txBody>
      </p:sp>
      <p:pic>
        <p:nvPicPr>
          <p:cNvPr id="6" name="图片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7" name="直接连接符 6"/>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FE5A668-1D49-4A5F-B15E-5FA9C0874A47}" type="datetime1">
              <a:rPr lang="en-US" altLang="zh-CN" smtClean="0"/>
              <a:pPr>
                <a:defRPr/>
              </a:pPr>
              <a:t>4/15/2022</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0B444B49-1AF3-49F6-AC56-552E5953FEA0}" type="slidenum">
              <a:rPr lang="en-US"/>
              <a:pPr>
                <a:defRPr/>
              </a:pPr>
              <a:t>‹#›</a:t>
            </a:fld>
            <a:endParaRPr lang="en-US"/>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6" name="直接连接符 5"/>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 name="直接连接符 6"/>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C0AD21EC-3061-43A8-8FE5-5E80851550BC}" type="datetime1">
              <a:rPr lang="en-US" altLang="zh-CN" smtClean="0"/>
              <a:pPr>
                <a:defRPr/>
              </a:pPr>
              <a:t>4/15/2022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206E6CC3-C294-4E94-9C97-AA578970362F}" type="slidenum">
              <a:rPr lang="en-US"/>
              <a:pPr>
                <a:defRPr/>
              </a:pPr>
              <a:t>‹#›</a:t>
            </a:fld>
            <a:endParaRPr 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9" name="直接连接符 8"/>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3"/>
          <p:cNvSpPr>
            <a:spLocks noGrp="1"/>
          </p:cNvSpPr>
          <p:nvPr>
            <p:ph type="dt" sz="half" idx="10"/>
          </p:nvPr>
        </p:nvSpPr>
        <p:spPr/>
        <p:txBody>
          <a:bodyPr/>
          <a:lstStyle>
            <a:lvl1pPr>
              <a:defRPr/>
            </a:lvl1pPr>
          </a:lstStyle>
          <a:p>
            <a:pPr>
              <a:defRPr/>
            </a:pPr>
            <a:fld id="{CBCD9FC3-185C-4C19-A7CA-D670596848F3}" type="datetime1">
              <a:rPr lang="en-US" altLang="zh-CN" smtClean="0"/>
              <a:pPr>
                <a:defRPr/>
              </a:pPr>
              <a:t>4/15/2022</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F11B2C6-A545-453F-8926-4A4B664B9C1F}" type="slidenum">
              <a:rPr lang="en-US"/>
              <a:pPr>
                <a:defRPr/>
              </a:pPr>
              <a:t>‹#›</a:t>
            </a:fld>
            <a:endParaRPr 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9" name="直接连接符 8"/>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lvl5pPr>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B711E060-2FC8-4962-8E9C-1190E7F37DD7}" type="datetime1">
              <a:rPr lang="en-US" altLang="zh-CN" smtClean="0"/>
              <a:pPr>
                <a:defRPr/>
              </a:pPr>
              <a:t>4/15/2022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B300788-9695-4CE9-A45D-AFAFB2193CC8}" type="slidenum">
              <a:rPr lang="en-US"/>
              <a:pPr>
                <a:defRPr/>
              </a:pPr>
              <a:t>‹#›</a:t>
            </a:fld>
            <a:endParaRPr 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8" name="直接连接符 7"/>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lvl5pPr>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fld id="{458B7424-532E-437A-9E3B-F201F5C6DB44}" type="datetime1">
              <a:rPr lang="en-US" altLang="zh-CN" smtClean="0"/>
              <a:pPr>
                <a:defRPr/>
              </a:pPr>
              <a:t>4/15/2022</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558ACA3-734D-4394-8417-98779D10C09B}" type="slidenum">
              <a:rPr lang="en-US"/>
              <a:pPr>
                <a:defRPr/>
              </a:pPr>
              <a:t>‹#›</a:t>
            </a:fld>
            <a:endParaRPr 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028384" y="6494380"/>
            <a:ext cx="1008112" cy="321873"/>
          </a:xfrm>
          <a:prstGeom prst="rect">
            <a:avLst/>
          </a:prstGeom>
        </p:spPr>
      </p:pic>
      <p:cxnSp>
        <p:nvCxnSpPr>
          <p:cNvPr id="8" name="直接连接符 7"/>
          <p:cNvCxnSpPr/>
          <p:nvPr userDrawn="1"/>
        </p:nvCxnSpPr>
        <p:spPr>
          <a:xfrm>
            <a:off x="7020272" y="6494380"/>
            <a:ext cx="1944216" cy="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323528" y="692696"/>
            <a:ext cx="6984776" cy="0"/>
          </a:xfrm>
          <a:prstGeom prst="line">
            <a:avLst/>
          </a:prstGeom>
          <a:ln w="25400">
            <a:solidFill>
              <a:schemeClr val="accent6"/>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accent4">
                    <a:lumMod val="50000"/>
                  </a:schemeClr>
                </a:solidFill>
                <a:latin typeface="+mj-lt"/>
                <a:ea typeface="+mn-ea"/>
              </a:defRPr>
            </a:lvl1pPr>
          </a:lstStyle>
          <a:p>
            <a:pPr>
              <a:defRPr/>
            </a:pPr>
            <a:fld id="{7FC947D8-62A6-4DA7-849D-585F461B2DEB}" type="datetime1">
              <a:rPr lang="en-US" altLang="zh-CN" smtClean="0"/>
              <a:pPr>
                <a:defRPr/>
              </a:pPr>
              <a:t>4/15/2022</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t"/>
          <a:lstStyle>
            <a:lvl1pPr algn="ctr" fontAlgn="auto">
              <a:spcBef>
                <a:spcPts val="0"/>
              </a:spcBef>
              <a:spcAft>
                <a:spcPts val="0"/>
              </a:spcAft>
              <a:defRPr sz="1200">
                <a:solidFill>
                  <a:schemeClr val="accent4">
                    <a:lumMod val="50000"/>
                  </a:schemeClr>
                </a:solidFill>
                <a:latin typeface="+mj-lt"/>
                <a:ea typeface="+mn-ea"/>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accent4">
                    <a:lumMod val="50000"/>
                  </a:schemeClr>
                </a:solidFill>
                <a:latin typeface="+mj-lt"/>
                <a:ea typeface="+mn-ea"/>
              </a:defRPr>
            </a:lvl1pPr>
          </a:lstStyle>
          <a:p>
            <a:pPr>
              <a:defRPr/>
            </a:pPr>
            <a:fld id="{A73D68AD-B27F-4AAA-BCEF-A0B9593448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Lst>
  <p:hf hdr="0" ftr="0" dt="0"/>
  <p:txStyles>
    <p:titleStyle>
      <a:lvl1pPr algn="ctr" rtl="0" eaLnBrk="0" fontAlgn="base" hangingPunct="0">
        <a:spcBef>
          <a:spcPct val="0"/>
        </a:spcBef>
        <a:spcAft>
          <a:spcPct val="0"/>
        </a:spcAft>
        <a:defRPr sz="4400" kern="1200">
          <a:ln w="1905">
            <a:solidFill>
              <a:schemeClr val="tx1">
                <a:lumMod val="85000"/>
                <a:lumOff val="15000"/>
              </a:schemeClr>
            </a:solidFill>
          </a:ln>
          <a:solidFill>
            <a:srgbClr val="0D0D0D"/>
          </a:solidFill>
          <a:effectLst>
            <a:outerShdw blurRad="25400" dist="25400" dir="2700000" algn="tl" rotWithShape="0">
              <a:schemeClr val="bg1">
                <a:lumMod val="95000"/>
                <a:alpha val="80000"/>
              </a:schemeClr>
            </a:outerShdw>
          </a:effectLst>
          <a:latin typeface="Franklin Gothic Medium" pitchFamily="34" charset="0"/>
          <a:ea typeface="+mj-ea"/>
          <a:cs typeface="+mj-cs"/>
        </a:defRPr>
      </a:lvl1pPr>
      <a:lvl2pPr algn="ctr" rtl="0" eaLnBrk="0" fontAlgn="base" hangingPunct="0">
        <a:spcBef>
          <a:spcPct val="0"/>
        </a:spcBef>
        <a:spcAft>
          <a:spcPct val="0"/>
        </a:spcAft>
        <a:defRPr sz="4400">
          <a:solidFill>
            <a:srgbClr val="0D0D0D"/>
          </a:solidFill>
          <a:latin typeface="Franklin Gothic Medium" pitchFamily="34" charset="0"/>
        </a:defRPr>
      </a:lvl2pPr>
      <a:lvl3pPr algn="ctr" rtl="0" eaLnBrk="0" fontAlgn="base" hangingPunct="0">
        <a:spcBef>
          <a:spcPct val="0"/>
        </a:spcBef>
        <a:spcAft>
          <a:spcPct val="0"/>
        </a:spcAft>
        <a:defRPr sz="4400">
          <a:solidFill>
            <a:srgbClr val="0D0D0D"/>
          </a:solidFill>
          <a:latin typeface="Franklin Gothic Medium" pitchFamily="34" charset="0"/>
        </a:defRPr>
      </a:lvl3pPr>
      <a:lvl4pPr algn="ctr" rtl="0" eaLnBrk="0" fontAlgn="base" hangingPunct="0">
        <a:spcBef>
          <a:spcPct val="0"/>
        </a:spcBef>
        <a:spcAft>
          <a:spcPct val="0"/>
        </a:spcAft>
        <a:defRPr sz="4400">
          <a:solidFill>
            <a:srgbClr val="0D0D0D"/>
          </a:solidFill>
          <a:latin typeface="Franklin Gothic Medium" pitchFamily="34" charset="0"/>
        </a:defRPr>
      </a:lvl4pPr>
      <a:lvl5pPr algn="ctr" rtl="0" eaLnBrk="0" fontAlgn="base" hangingPunct="0">
        <a:spcBef>
          <a:spcPct val="0"/>
        </a:spcBef>
        <a:spcAft>
          <a:spcPct val="0"/>
        </a:spcAft>
        <a:defRPr sz="4400">
          <a:solidFill>
            <a:srgbClr val="0D0D0D"/>
          </a:solidFill>
          <a:latin typeface="Franklin Gothic Medium" pitchFamily="34" charset="0"/>
        </a:defRPr>
      </a:lvl5pPr>
      <a:lvl6pPr marL="457200" algn="ctr" rtl="0" fontAlgn="base">
        <a:spcBef>
          <a:spcPct val="0"/>
        </a:spcBef>
        <a:spcAft>
          <a:spcPct val="0"/>
        </a:spcAft>
        <a:defRPr sz="4400">
          <a:solidFill>
            <a:srgbClr val="0D0D0D"/>
          </a:solidFill>
          <a:latin typeface="Franklin Gothic Medium" pitchFamily="34" charset="0"/>
        </a:defRPr>
      </a:lvl6pPr>
      <a:lvl7pPr marL="914400" algn="ctr" rtl="0" fontAlgn="base">
        <a:spcBef>
          <a:spcPct val="0"/>
        </a:spcBef>
        <a:spcAft>
          <a:spcPct val="0"/>
        </a:spcAft>
        <a:defRPr sz="4400">
          <a:solidFill>
            <a:srgbClr val="0D0D0D"/>
          </a:solidFill>
          <a:latin typeface="Franklin Gothic Medium" pitchFamily="34" charset="0"/>
        </a:defRPr>
      </a:lvl7pPr>
      <a:lvl8pPr marL="1371600" algn="ctr" rtl="0" fontAlgn="base">
        <a:spcBef>
          <a:spcPct val="0"/>
        </a:spcBef>
        <a:spcAft>
          <a:spcPct val="0"/>
        </a:spcAft>
        <a:defRPr sz="4400">
          <a:solidFill>
            <a:srgbClr val="0D0D0D"/>
          </a:solidFill>
          <a:latin typeface="Franklin Gothic Medium" pitchFamily="34" charset="0"/>
        </a:defRPr>
      </a:lvl8pPr>
      <a:lvl9pPr marL="1828800" algn="ctr" rtl="0" fontAlgn="base">
        <a:spcBef>
          <a:spcPct val="0"/>
        </a:spcBef>
        <a:spcAft>
          <a:spcPct val="0"/>
        </a:spcAft>
        <a:defRPr sz="4400">
          <a:solidFill>
            <a:srgbClr val="0D0D0D"/>
          </a:solidFill>
          <a:latin typeface="Franklin Gothic Medium" pitchFamily="34" charset="0"/>
        </a:defRPr>
      </a:lvl9pPr>
    </p:titleStyle>
    <p:bodyStyle>
      <a:lvl1pPr marL="342900" indent="-342900" algn="l" rtl="0" eaLnBrk="0" fontAlgn="base" hangingPunct="0">
        <a:spcBef>
          <a:spcPct val="20000"/>
        </a:spcBef>
        <a:spcAft>
          <a:spcPct val="0"/>
        </a:spcAft>
        <a:buBlip>
          <a:blip r:embed="rId14"/>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15"/>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14"/>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15"/>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1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15"/>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1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15"/>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1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0.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WordArt 10"/>
          <p:cNvSpPr>
            <a:spLocks noChangeArrowheads="1" noChangeShapeType="1" noTextEdit="1"/>
          </p:cNvSpPr>
          <p:nvPr/>
        </p:nvSpPr>
        <p:spPr bwMode="auto">
          <a:xfrm>
            <a:off x="827584" y="2204864"/>
            <a:ext cx="5544616" cy="864096"/>
          </a:xfrm>
          <a:prstGeom prst="rect">
            <a:avLst/>
          </a:prstGeom>
        </p:spPr>
        <p:txBody>
          <a:bodyPr wrap="none" fromWordArt="1">
            <a:prstTxWarp prst="textPlain">
              <a:avLst>
                <a:gd name="adj" fmla="val 46093"/>
              </a:avLst>
            </a:prstTxWarp>
          </a:bodyPr>
          <a:lstStyle/>
          <a:p>
            <a:r>
              <a:rPr lang="zh-CN" altLang="en-US" b="1" kern="10" dirty="0">
                <a:ln w="9525">
                  <a:noFill/>
                  <a:round/>
                  <a:headEnd/>
                  <a:tailEnd/>
                </a:ln>
                <a:solidFill>
                  <a:schemeClr val="tx1">
                    <a:lumMod val="75000"/>
                    <a:lumOff val="25000"/>
                  </a:schemeClr>
                </a:solidFill>
                <a:latin typeface="黑体"/>
                <a:ea typeface="黑体"/>
              </a:rPr>
              <a:t>数据分析指标</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936104"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a:t>
            </a:fld>
            <a:r>
              <a:rPr lang="en-US" dirty="0"/>
              <a:t>&gt;</a:t>
            </a:r>
          </a:p>
        </p:txBody>
      </p:sp>
      <p:sp>
        <p:nvSpPr>
          <p:cNvPr id="3" name="内容占位符 2"/>
          <p:cNvSpPr>
            <a:spLocks noGrp="1"/>
          </p:cNvSpPr>
          <p:nvPr>
            <p:ph idx="1"/>
          </p:nvPr>
        </p:nvSpPr>
        <p:spPr>
          <a:xfrm>
            <a:off x="357158" y="1851945"/>
            <a:ext cx="6033282" cy="2219997"/>
          </a:xfrm>
          <a:effectLst/>
        </p:spPr>
        <p:txBody>
          <a:bodyPr>
            <a:normAutofit/>
          </a:bodyPr>
          <a:lstStyle/>
          <a:p>
            <a:pPr>
              <a:lnSpc>
                <a:spcPct val="150000"/>
              </a:lnSpc>
              <a:buFont typeface="Arial" charset="0"/>
              <a:buNone/>
            </a:pPr>
            <a:r>
              <a:rPr lang="zh-CN" altLang="en-US" sz="1800" b="0" dirty="0">
                <a:solidFill>
                  <a:schemeClr val="tx1">
                    <a:lumMod val="75000"/>
                    <a:lumOff val="25000"/>
                  </a:schemeClr>
                </a:solidFill>
                <a:latin typeface="+mn-ea"/>
              </a:rPr>
              <a:t>      </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cs typeface="Meiryo UI" pitchFamily="34" charset="-128"/>
              </a:rPr>
              <a:t>数据分析这个工作其实不只是在医药行业，在其他行业也同样开始得到青睐。随着医药行业高速发展的今天，企业每天给我们提供了很多各种各样的数据。我们在这里要思考的问题是？</a:t>
            </a:r>
            <a:endPar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cs typeface="Meiryo UI" pitchFamily="34" charset="-128"/>
            </a:endParaRPr>
          </a:p>
          <a:p>
            <a:pPr>
              <a:lnSpc>
                <a:spcPct val="150000"/>
              </a:lnSpc>
              <a:buFont typeface="Arial" charset="0"/>
              <a:buNone/>
            </a:pPr>
            <a:endParaRPr lang="en-US" altLang="zh-CN" sz="1800" dirty="0">
              <a:effectLst>
                <a:outerShdw blurRad="38100" dist="38100" dir="2700000" algn="tl">
                  <a:srgbClr val="000000">
                    <a:alpha val="43137"/>
                  </a:srgbClr>
                </a:outerShdw>
              </a:effectLst>
              <a:latin typeface="Cambria Math" pitchFamily="18" charset="0"/>
              <a:ea typeface="Cambria Math" pitchFamily="18" charset="0"/>
            </a:endParaRPr>
          </a:p>
          <a:p>
            <a:pPr>
              <a:lnSpc>
                <a:spcPct val="150000"/>
              </a:lnSpc>
              <a:buFont typeface="Arial" charset="0"/>
              <a:buNone/>
            </a:pPr>
            <a:endParaRPr lang="en-US" altLang="zh-CN" sz="1800" dirty="0">
              <a:effectLst>
                <a:outerShdw blurRad="38100" dist="38100" dir="2700000" algn="tl">
                  <a:srgbClr val="000000">
                    <a:alpha val="43137"/>
                  </a:srgbClr>
                </a:outerShdw>
              </a:effectLst>
            </a:endParaRPr>
          </a:p>
        </p:txBody>
      </p:sp>
      <p:pic>
        <p:nvPicPr>
          <p:cNvPr id="4" name="Picture 3"/>
          <p:cNvPicPr>
            <a:picLocks noChangeAspect="1" noChangeArrowheads="1"/>
          </p:cNvPicPr>
          <p:nvPr/>
        </p:nvPicPr>
        <p:blipFill>
          <a:blip r:embed="rId3"/>
          <a:srcRect/>
          <a:stretch>
            <a:fillRect/>
          </a:stretch>
        </p:blipFill>
        <p:spPr bwMode="auto">
          <a:xfrm>
            <a:off x="6715140" y="2143116"/>
            <a:ext cx="1928813" cy="2921000"/>
          </a:xfrm>
          <a:prstGeom prst="rect">
            <a:avLst/>
          </a:prstGeom>
          <a:ln w="9525">
            <a:noFill/>
            <a:miter lim="800000"/>
            <a:headEnd/>
            <a:tailEnd/>
          </a:ln>
        </p:spPr>
      </p:pic>
      <p:sp>
        <p:nvSpPr>
          <p:cNvPr id="5" name="TextBox 4"/>
          <p:cNvSpPr txBox="1"/>
          <p:nvPr/>
        </p:nvSpPr>
        <p:spPr>
          <a:xfrm>
            <a:off x="467544" y="241484"/>
            <a:ext cx="2232248"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前言</a:t>
            </a:r>
            <a:r>
              <a:rPr lang="en-US" altLang="zh-CN" sz="2800" b="1" dirty="0">
                <a:solidFill>
                  <a:schemeClr val="tx1">
                    <a:lumMod val="75000"/>
                    <a:lumOff val="25000"/>
                  </a:schemeClr>
                </a:solidFill>
                <a:latin typeface="黑体" pitchFamily="49" charset="-122"/>
                <a:ea typeface="黑体" pitchFamily="49" charset="-122"/>
                <a:cs typeface="Meiryo UI" pitchFamily="34" charset="-128"/>
              </a:rPr>
              <a:t>:</a:t>
            </a:r>
            <a:endParaRPr lang="zh-CN" altLang="en-US" sz="2400" b="1" dirty="0">
              <a:solidFill>
                <a:schemeClr val="tx1">
                  <a:lumMod val="75000"/>
                  <a:lumOff val="25000"/>
                </a:schemeClr>
              </a:solidFill>
              <a:latin typeface="黑体" pitchFamily="49" charset="-122"/>
              <a:ea typeface="黑体" pitchFamily="49" charset="-122"/>
              <a:cs typeface="Meiryo UI" pitchFamily="34" charset="-128"/>
            </a:endParaRPr>
          </a:p>
        </p:txBody>
      </p:sp>
      <p:sp>
        <p:nvSpPr>
          <p:cNvPr id="6" name="矩形 5"/>
          <p:cNvSpPr/>
          <p:nvPr/>
        </p:nvSpPr>
        <p:spPr>
          <a:xfrm>
            <a:off x="714348" y="4214818"/>
            <a:ext cx="5572164" cy="923330"/>
          </a:xfrm>
          <a:prstGeom prst="rect">
            <a:avLst/>
          </a:prstGeom>
        </p:spPr>
        <p:txBody>
          <a:bodyPr wrap="square">
            <a:spAutoFit/>
          </a:bodyPr>
          <a:lstStyle/>
          <a:p>
            <a:pPr>
              <a:lnSpc>
                <a:spcPct val="150000"/>
              </a:lnSpc>
              <a:buFont typeface="Arial" charset="0"/>
              <a:buNone/>
            </a:pPr>
            <a:r>
              <a:rPr lang="zh-CN" altLang="en-US"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cs typeface="Meiryo UI" pitchFamily="34" charset="-128"/>
              </a:rPr>
              <a:t>如何去利用这些数据来进行组合，进行分析。</a:t>
            </a:r>
            <a:endPar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cs typeface="Meiryo UI" pitchFamily="34" charset="-128"/>
            </a:endParaRPr>
          </a:p>
          <a:p>
            <a:pPr>
              <a:lnSpc>
                <a:spcPct val="150000"/>
              </a:lnSpc>
              <a:buFont typeface="Arial" charset="0"/>
              <a:buNone/>
            </a:pPr>
            <a:r>
              <a:rPr lang="zh-CN" altLang="en-US"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cs typeface="Meiryo UI" pitchFamily="34" charset="-128"/>
              </a:rPr>
              <a:t>由此得到一些有价值的讯息来指导企业进行经营活动。</a:t>
            </a:r>
            <a:endPar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cs typeface="Meiryo UI" pitchFamily="34" charset="-128"/>
            </a:endParaRPr>
          </a:p>
        </p:txBody>
      </p:sp>
    </p:spTree>
    <p:extLst>
      <p:ext uri="{BB962C8B-B14F-4D97-AF65-F5344CB8AC3E}">
        <p14:creationId xmlns:p14="http://schemas.microsoft.com/office/powerpoint/2010/main" val="1681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fltVal val="0"/>
                                          </p:val>
                                        </p:tav>
                                        <p:tav tm="100000">
                                          <p:val>
                                            <p:strVal val="#ppt_w"/>
                                          </p:val>
                                        </p:tav>
                                      </p:tavLst>
                                    </p:anim>
                                    <p:anim calcmode="lin" valueType="num">
                                      <p:cBhvr>
                                        <p:cTn id="13" dur="1000" fill="hold"/>
                                        <p:tgtEl>
                                          <p:spTgt spid="4"/>
                                        </p:tgtEl>
                                        <p:attrNameLst>
                                          <p:attrName>ppt_h</p:attrName>
                                        </p:attrNameLst>
                                      </p:cBhvr>
                                      <p:tavLst>
                                        <p:tav tm="0">
                                          <p:val>
                                            <p:fltVal val="0"/>
                                          </p:val>
                                        </p:tav>
                                        <p:tav tm="100000">
                                          <p:val>
                                            <p:strVal val="#ppt_h"/>
                                          </p:val>
                                        </p:tav>
                                      </p:tavLst>
                                    </p:anim>
                                    <p:anim calcmode="lin" valueType="num">
                                      <p:cBhvr>
                                        <p:cTn id="14" dur="1000" fill="hold"/>
                                        <p:tgtEl>
                                          <p:spTgt spid="4"/>
                                        </p:tgtEl>
                                        <p:attrNameLst>
                                          <p:attrName>style.rotation</p:attrName>
                                        </p:attrNameLst>
                                      </p:cBhvr>
                                      <p:tavLst>
                                        <p:tav tm="0">
                                          <p:val>
                                            <p:fltVal val="90"/>
                                          </p:val>
                                        </p:tav>
                                        <p:tav tm="100000">
                                          <p:val>
                                            <p:fltVal val="0"/>
                                          </p:val>
                                        </p:tav>
                                      </p:tavLst>
                                    </p:anim>
                                    <p:animEffect transition="in" filter="fade">
                                      <p:cBhvr>
                                        <p:cTn id="15" dur="1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936104"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3</a:t>
            </a:fld>
            <a:r>
              <a:rPr lang="en-US" dirty="0"/>
              <a:t>&gt;</a:t>
            </a:r>
          </a:p>
        </p:txBody>
      </p:sp>
      <p:sp>
        <p:nvSpPr>
          <p:cNvPr id="5" name="TextBox 4"/>
          <p:cNvSpPr txBox="1"/>
          <p:nvPr/>
        </p:nvSpPr>
        <p:spPr>
          <a:xfrm>
            <a:off x="467544" y="241484"/>
            <a:ext cx="3168352"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货品分析的目的</a:t>
            </a:r>
            <a:r>
              <a:rPr lang="en-US" altLang="zh-CN" sz="2800" b="1" dirty="0">
                <a:solidFill>
                  <a:schemeClr val="tx1">
                    <a:lumMod val="75000"/>
                    <a:lumOff val="25000"/>
                  </a:schemeClr>
                </a:solidFill>
                <a:latin typeface="黑体" pitchFamily="49" charset="-122"/>
                <a:ea typeface="黑体" pitchFamily="49" charset="-122"/>
                <a:cs typeface="Meiryo UI" pitchFamily="34" charset="-128"/>
              </a:rPr>
              <a:t>:</a:t>
            </a:r>
            <a:endParaRPr lang="zh-CN" altLang="en-US" sz="2400" b="1" dirty="0">
              <a:solidFill>
                <a:schemeClr val="tx1">
                  <a:lumMod val="75000"/>
                  <a:lumOff val="25000"/>
                </a:schemeClr>
              </a:solidFill>
              <a:latin typeface="黑体" pitchFamily="49" charset="-122"/>
              <a:ea typeface="黑体" pitchFamily="49" charset="-122"/>
              <a:cs typeface="Meiryo UI" pitchFamily="34" charset="-128"/>
            </a:endParaRPr>
          </a:p>
        </p:txBody>
      </p:sp>
      <p:grpSp>
        <p:nvGrpSpPr>
          <p:cNvPr id="7" name="组合 6"/>
          <p:cNvGrpSpPr/>
          <p:nvPr/>
        </p:nvGrpSpPr>
        <p:grpSpPr>
          <a:xfrm>
            <a:off x="1821629" y="1714489"/>
            <a:ext cx="5500741" cy="906659"/>
            <a:chOff x="357182" y="357191"/>
            <a:chExt cx="5500741" cy="906659"/>
          </a:xfrm>
          <a:scene3d>
            <a:camera prst="orthographicFront"/>
            <a:lightRig rig="flat" dir="t"/>
          </a:scene3d>
        </p:grpSpPr>
        <p:sp>
          <p:nvSpPr>
            <p:cNvPr id="14" name="圆角矩形 13"/>
            <p:cNvSpPr/>
            <p:nvPr/>
          </p:nvSpPr>
          <p:spPr>
            <a:xfrm>
              <a:off x="357182" y="357191"/>
              <a:ext cx="5500741" cy="906659"/>
            </a:xfrm>
            <a:prstGeom prst="roundRect">
              <a:avLst/>
            </a:prstGeom>
            <a:sp3d prstMaterial="dkEdge">
              <a:bevelT w="8200" h="38100"/>
            </a:sp3d>
          </p:spPr>
          <p:style>
            <a:lnRef idx="1">
              <a:schemeClr val="accent1"/>
            </a:lnRef>
            <a:fillRef idx="2">
              <a:schemeClr val="accent1"/>
            </a:fillRef>
            <a:effectRef idx="1">
              <a:schemeClr val="accent1"/>
            </a:effectRef>
            <a:fontRef idx="minor">
              <a:schemeClr val="dk1"/>
            </a:fontRef>
          </p:style>
        </p:sp>
        <p:sp>
          <p:nvSpPr>
            <p:cNvPr id="15" name="圆角矩形 4"/>
            <p:cNvSpPr/>
            <p:nvPr/>
          </p:nvSpPr>
          <p:spPr>
            <a:xfrm>
              <a:off x="401441" y="401450"/>
              <a:ext cx="5412223" cy="818141"/>
            </a:xfrm>
            <a:prstGeom prst="rect">
              <a:avLst/>
            </a:prstGeom>
            <a:effectLst>
              <a:outerShdw blurRad="50800" dist="38100" dir="5400000" algn="t" rotWithShape="0">
                <a:prstClr val="black">
                  <a:alpha val="40000"/>
                </a:prstClr>
              </a:outerShdw>
            </a:effectLst>
            <a:sp3d/>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zh-CN" altLang="en-US" sz="2000" b="1" kern="1200" dirty="0">
                  <a:solidFill>
                    <a:schemeClr val="tx1">
                      <a:lumMod val="75000"/>
                      <a:lumOff val="25000"/>
                    </a:schemeClr>
                  </a:solidFill>
                  <a:latin typeface="华文细黑" pitchFamily="2" charset="-122"/>
                  <a:ea typeface="华文细黑" pitchFamily="2" charset="-122"/>
                </a:rPr>
                <a:t>预测货品风险，给与经营者一定的建议和方案。</a:t>
              </a:r>
            </a:p>
          </p:txBody>
        </p:sp>
      </p:grpSp>
      <p:grpSp>
        <p:nvGrpSpPr>
          <p:cNvPr id="8" name="组合 7"/>
          <p:cNvGrpSpPr/>
          <p:nvPr/>
        </p:nvGrpSpPr>
        <p:grpSpPr>
          <a:xfrm>
            <a:off x="1821660" y="4221781"/>
            <a:ext cx="5500679" cy="921730"/>
            <a:chOff x="357213" y="2864483"/>
            <a:chExt cx="5500679" cy="921730"/>
          </a:xfrm>
          <a:scene3d>
            <a:camera prst="orthographicFront"/>
            <a:lightRig rig="flat" dir="t"/>
          </a:scene3d>
        </p:grpSpPr>
        <p:sp>
          <p:nvSpPr>
            <p:cNvPr id="12" name="圆角矩形 11"/>
            <p:cNvSpPr/>
            <p:nvPr/>
          </p:nvSpPr>
          <p:spPr>
            <a:xfrm>
              <a:off x="357213" y="2864483"/>
              <a:ext cx="5500679" cy="921730"/>
            </a:xfrm>
            <a:prstGeom prst="roundRect">
              <a:avLst/>
            </a:prstGeom>
            <a:sp3d prstMaterial="dkEdge">
              <a:bevelT w="8200" h="38100"/>
            </a:sp3d>
          </p:spPr>
          <p:style>
            <a:lnRef idx="1">
              <a:schemeClr val="dk1"/>
            </a:lnRef>
            <a:fillRef idx="2">
              <a:schemeClr val="dk1"/>
            </a:fillRef>
            <a:effectRef idx="1">
              <a:schemeClr val="dk1"/>
            </a:effectRef>
            <a:fontRef idx="minor">
              <a:schemeClr val="dk1"/>
            </a:fontRef>
          </p:style>
        </p:sp>
        <p:sp>
          <p:nvSpPr>
            <p:cNvPr id="13" name="圆角矩形 6"/>
            <p:cNvSpPr/>
            <p:nvPr/>
          </p:nvSpPr>
          <p:spPr>
            <a:xfrm>
              <a:off x="402208" y="2909478"/>
              <a:ext cx="5410689" cy="831740"/>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zh-CN" altLang="en-US" sz="2000" b="1" kern="1200" dirty="0">
                  <a:solidFill>
                    <a:schemeClr val="tx1">
                      <a:lumMod val="75000"/>
                      <a:lumOff val="25000"/>
                    </a:schemeClr>
                  </a:solidFill>
                  <a:latin typeface="华文细黑" pitchFamily="2" charset="-122"/>
                  <a:ea typeface="华文细黑" pitchFamily="2" charset="-122"/>
                </a:rPr>
                <a:t>加快货品资金周转，提高投资回报率。</a:t>
              </a:r>
              <a:endParaRPr lang="zh-CN" altLang="en-US" sz="2000" kern="1200" dirty="0">
                <a:solidFill>
                  <a:schemeClr val="tx1">
                    <a:lumMod val="75000"/>
                    <a:lumOff val="25000"/>
                  </a:schemeClr>
                </a:solidFill>
                <a:latin typeface="华文细黑" pitchFamily="2" charset="-122"/>
                <a:ea typeface="华文细黑" pitchFamily="2" charset="-122"/>
              </a:endParaRPr>
            </a:p>
          </p:txBody>
        </p:sp>
      </p:grpSp>
      <p:grpSp>
        <p:nvGrpSpPr>
          <p:cNvPr id="9" name="组合 8"/>
          <p:cNvGrpSpPr/>
          <p:nvPr/>
        </p:nvGrpSpPr>
        <p:grpSpPr>
          <a:xfrm>
            <a:off x="1821629" y="3000371"/>
            <a:ext cx="5500741" cy="874802"/>
            <a:chOff x="357182" y="1643073"/>
            <a:chExt cx="5500741" cy="874802"/>
          </a:xfrm>
          <a:scene3d>
            <a:camera prst="orthographicFront"/>
            <a:lightRig rig="flat" dir="t"/>
          </a:scene3d>
        </p:grpSpPr>
        <p:sp>
          <p:nvSpPr>
            <p:cNvPr id="10" name="圆角矩形 9"/>
            <p:cNvSpPr/>
            <p:nvPr/>
          </p:nvSpPr>
          <p:spPr>
            <a:xfrm>
              <a:off x="357182" y="1643073"/>
              <a:ext cx="5500741" cy="874802"/>
            </a:xfrm>
            <a:prstGeom prst="roundRect">
              <a:avLst/>
            </a:prstGeom>
            <a:sp3d prstMaterial="dkEdge">
              <a:bevelT w="8200" h="38100"/>
            </a:sp3d>
          </p:spPr>
          <p:style>
            <a:lnRef idx="1">
              <a:schemeClr val="accent2"/>
            </a:lnRef>
            <a:fillRef idx="2">
              <a:schemeClr val="accent2"/>
            </a:fillRef>
            <a:effectRef idx="1">
              <a:schemeClr val="accent2"/>
            </a:effectRef>
            <a:fontRef idx="minor">
              <a:schemeClr val="dk1"/>
            </a:fontRef>
          </p:style>
        </p:sp>
        <p:sp>
          <p:nvSpPr>
            <p:cNvPr id="11" name="圆角矩形 8"/>
            <p:cNvSpPr/>
            <p:nvPr/>
          </p:nvSpPr>
          <p:spPr>
            <a:xfrm>
              <a:off x="399886" y="1685777"/>
              <a:ext cx="5415333" cy="789394"/>
            </a:xfrm>
            <a:prstGeom prst="rect">
              <a:avLst/>
            </a:prstGeom>
            <a:sp3d/>
          </p:spPr>
          <p:style>
            <a:lnRef idx="0">
              <a:scrgbClr r="0" g="0" b="0"/>
            </a:lnRef>
            <a:fillRef idx="0">
              <a:scrgbClr r="0" g="0" b="0"/>
            </a:fillRef>
            <a:effectRef idx="0">
              <a:scrgbClr r="0" g="0" b="0"/>
            </a:effectRef>
            <a:fontRef idx="minor">
              <a:schemeClr val="dk1"/>
            </a:fontRef>
          </p:style>
          <p:txBody>
            <a:bodyPr spcFirstLastPara="0" vert="horz" wrap="square" lIns="91440" tIns="91440" rIns="91440" bIns="91440" numCol="1" spcCol="1270" anchor="ctr" anchorCtr="0">
              <a:noAutofit/>
            </a:bodyPr>
            <a:lstStyle/>
            <a:p>
              <a:pPr lvl="0" algn="l" defTabSz="1066800">
                <a:lnSpc>
                  <a:spcPct val="90000"/>
                </a:lnSpc>
                <a:spcBef>
                  <a:spcPct val="0"/>
                </a:spcBef>
                <a:spcAft>
                  <a:spcPct val="35000"/>
                </a:spcAft>
              </a:pPr>
              <a:r>
                <a:rPr lang="zh-CN" altLang="en-US" sz="2000" b="1" kern="1200" dirty="0">
                  <a:solidFill>
                    <a:schemeClr val="tx1">
                      <a:lumMod val="75000"/>
                      <a:lumOff val="25000"/>
                    </a:schemeClr>
                  </a:solidFill>
                  <a:latin typeface="华文细黑" pitchFamily="2" charset="-122"/>
                  <a:ea typeface="华文细黑" pitchFamily="2" charset="-122"/>
                </a:rPr>
                <a:t>加强货品管理，提高库存质量，提升销售。</a:t>
              </a:r>
            </a:p>
          </p:txBody>
        </p:sp>
      </p:grpSp>
    </p:spTree>
    <p:extLst>
      <p:ext uri="{BB962C8B-B14F-4D97-AF65-F5344CB8AC3E}">
        <p14:creationId xmlns:p14="http://schemas.microsoft.com/office/powerpoint/2010/main" val="52800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iterate type="lt">
                                    <p:tmPct val="5000"/>
                                  </p:iterate>
                                  <p:childTnLst>
                                    <p:set>
                                      <p:cBhvr>
                                        <p:cTn id="14" dur="1" fill="hold">
                                          <p:stCondLst>
                                            <p:cond delay="0"/>
                                          </p:stCondLst>
                                        </p:cTn>
                                        <p:tgtEl>
                                          <p:spTgt spid="9"/>
                                        </p:tgtEl>
                                        <p:attrNameLst>
                                          <p:attrName>style.visibility</p:attrName>
                                        </p:attrNameLst>
                                      </p:cBhvr>
                                      <p:to>
                                        <p:strVal val="visible"/>
                                      </p:to>
                                    </p:set>
                                    <p:anim calcmode="lin" valueType="num">
                                      <p:cBhvr>
                                        <p:cTn id="15" dur="1000" fill="hold"/>
                                        <p:tgtEl>
                                          <p:spTgt spid="9"/>
                                        </p:tgtEl>
                                        <p:attrNameLst>
                                          <p:attrName>ppt_w</p:attrName>
                                        </p:attrNameLst>
                                      </p:cBhvr>
                                      <p:tavLst>
                                        <p:tav tm="0">
                                          <p:val>
                                            <p:fltVal val="0"/>
                                          </p:val>
                                        </p:tav>
                                        <p:tav tm="100000">
                                          <p:val>
                                            <p:strVal val="#ppt_w"/>
                                          </p:val>
                                        </p:tav>
                                      </p:tavLst>
                                    </p:anim>
                                    <p:anim calcmode="lin" valueType="num">
                                      <p:cBhvr>
                                        <p:cTn id="16" dur="1000" fill="hold"/>
                                        <p:tgtEl>
                                          <p:spTgt spid="9"/>
                                        </p:tgtEl>
                                        <p:attrNameLst>
                                          <p:attrName>ppt_h</p:attrName>
                                        </p:attrNameLst>
                                      </p:cBhvr>
                                      <p:tavLst>
                                        <p:tav tm="0">
                                          <p:val>
                                            <p:fltVal val="0"/>
                                          </p:val>
                                        </p:tav>
                                        <p:tav tm="100000">
                                          <p:val>
                                            <p:strVal val="#ppt_h"/>
                                          </p:val>
                                        </p:tav>
                                      </p:tavLst>
                                    </p:anim>
                                    <p:anim calcmode="lin" valueType="num">
                                      <p:cBhvr>
                                        <p:cTn id="17" dur="1000" fill="hold"/>
                                        <p:tgtEl>
                                          <p:spTgt spid="9"/>
                                        </p:tgtEl>
                                        <p:attrNameLst>
                                          <p:attrName>style.rotation</p:attrName>
                                        </p:attrNameLst>
                                      </p:cBhvr>
                                      <p:tavLst>
                                        <p:tav tm="0">
                                          <p:val>
                                            <p:fltVal val="90"/>
                                          </p:val>
                                        </p:tav>
                                        <p:tav tm="100000">
                                          <p:val>
                                            <p:fltVal val="0"/>
                                          </p:val>
                                        </p:tav>
                                      </p:tavLst>
                                    </p:anim>
                                    <p:animEffect transition="in" filter="fade">
                                      <p:cBhvr>
                                        <p:cTn id="18" dur="10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iterate type="lt">
                                    <p:tmPct val="5000"/>
                                  </p:iterate>
                                  <p:childTnLst>
                                    <p:set>
                                      <p:cBhvr>
                                        <p:cTn id="22" dur="1" fill="hold">
                                          <p:stCondLst>
                                            <p:cond delay="0"/>
                                          </p:stCondLst>
                                        </p:cTn>
                                        <p:tgtEl>
                                          <p:spTgt spid="8"/>
                                        </p:tgtEl>
                                        <p:attrNameLst>
                                          <p:attrName>style.visibility</p:attrName>
                                        </p:attrNameLst>
                                      </p:cBhvr>
                                      <p:to>
                                        <p:strVal val="visible"/>
                                      </p:to>
                                    </p:set>
                                    <p:anim calcmode="lin" valueType="num">
                                      <p:cBhvr>
                                        <p:cTn id="23" dur="1000" fill="hold"/>
                                        <p:tgtEl>
                                          <p:spTgt spid="8"/>
                                        </p:tgtEl>
                                        <p:attrNameLst>
                                          <p:attrName>ppt_w</p:attrName>
                                        </p:attrNameLst>
                                      </p:cBhvr>
                                      <p:tavLst>
                                        <p:tav tm="0">
                                          <p:val>
                                            <p:fltVal val="0"/>
                                          </p:val>
                                        </p:tav>
                                        <p:tav tm="100000">
                                          <p:val>
                                            <p:strVal val="#ppt_w"/>
                                          </p:val>
                                        </p:tav>
                                      </p:tavLst>
                                    </p:anim>
                                    <p:anim calcmode="lin" valueType="num">
                                      <p:cBhvr>
                                        <p:cTn id="24" dur="1000" fill="hold"/>
                                        <p:tgtEl>
                                          <p:spTgt spid="8"/>
                                        </p:tgtEl>
                                        <p:attrNameLst>
                                          <p:attrName>ppt_h</p:attrName>
                                        </p:attrNameLst>
                                      </p:cBhvr>
                                      <p:tavLst>
                                        <p:tav tm="0">
                                          <p:val>
                                            <p:fltVal val="0"/>
                                          </p:val>
                                        </p:tav>
                                        <p:tav tm="100000">
                                          <p:val>
                                            <p:strVal val="#ppt_h"/>
                                          </p:val>
                                        </p:tav>
                                      </p:tavLst>
                                    </p:anim>
                                    <p:anim calcmode="lin" valueType="num">
                                      <p:cBhvr>
                                        <p:cTn id="25" dur="1000" fill="hold"/>
                                        <p:tgtEl>
                                          <p:spTgt spid="8"/>
                                        </p:tgtEl>
                                        <p:attrNameLst>
                                          <p:attrName>style.rotation</p:attrName>
                                        </p:attrNameLst>
                                      </p:cBhvr>
                                      <p:tavLst>
                                        <p:tav tm="0">
                                          <p:val>
                                            <p:fltVal val="90"/>
                                          </p:val>
                                        </p:tav>
                                        <p:tav tm="100000">
                                          <p:val>
                                            <p:fltVal val="0"/>
                                          </p:val>
                                        </p:tav>
                                      </p:tavLst>
                                    </p:anim>
                                    <p:animEffect transition="in" filter="fade">
                                      <p:cBhvr>
                                        <p:cTn id="26"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936104"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4</a:t>
            </a:fld>
            <a:r>
              <a:rPr lang="en-US" dirty="0"/>
              <a:t>&gt;</a:t>
            </a:r>
          </a:p>
        </p:txBody>
      </p:sp>
      <p:sp>
        <p:nvSpPr>
          <p:cNvPr id="3" name="TextBox 2"/>
          <p:cNvSpPr txBox="1"/>
          <p:nvPr/>
        </p:nvSpPr>
        <p:spPr>
          <a:xfrm>
            <a:off x="467544" y="241484"/>
            <a:ext cx="6048672"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rPr>
              <a:t>分析工具</a:t>
            </a:r>
            <a:r>
              <a:rPr lang="en-US" altLang="zh-CN" sz="2800" b="1" dirty="0">
                <a:solidFill>
                  <a:schemeClr val="tx1">
                    <a:lumMod val="75000"/>
                    <a:lumOff val="25000"/>
                  </a:schemeClr>
                </a:solidFill>
                <a:latin typeface="黑体" pitchFamily="49" charset="-122"/>
                <a:ea typeface="黑体" pitchFamily="49" charset="-122"/>
              </a:rPr>
              <a:t>---</a:t>
            </a:r>
            <a:r>
              <a:rPr lang="zh-CN" altLang="en-US" sz="2800" b="1" dirty="0">
                <a:solidFill>
                  <a:schemeClr val="tx1">
                    <a:lumMod val="75000"/>
                    <a:lumOff val="25000"/>
                  </a:schemeClr>
                </a:solidFill>
                <a:latin typeface="黑体" pitchFamily="49" charset="-122"/>
                <a:ea typeface="黑体" pitchFamily="49" charset="-122"/>
              </a:rPr>
              <a:t>商品透析</a:t>
            </a:r>
            <a:r>
              <a:rPr lang="en-US" altLang="zh-CN" sz="2800" b="1" dirty="0">
                <a:solidFill>
                  <a:schemeClr val="tx1">
                    <a:lumMod val="75000"/>
                    <a:lumOff val="25000"/>
                  </a:schemeClr>
                </a:solidFill>
                <a:latin typeface="黑体" pitchFamily="49" charset="-122"/>
                <a:ea typeface="黑体" pitchFamily="49" charset="-122"/>
              </a:rPr>
              <a:t>KPI</a:t>
            </a:r>
            <a:r>
              <a:rPr lang="zh-CN" altLang="en-US" sz="2800" b="1" dirty="0">
                <a:solidFill>
                  <a:schemeClr val="tx1">
                    <a:lumMod val="75000"/>
                    <a:lumOff val="25000"/>
                  </a:schemeClr>
                </a:solidFill>
                <a:latin typeface="黑体" pitchFamily="49" charset="-122"/>
                <a:ea typeface="黑体" pitchFamily="49" charset="-122"/>
              </a:rPr>
              <a:t>数据分析</a:t>
            </a:r>
            <a:endParaRPr lang="en-US" altLang="zh-CN" sz="2800" b="1" dirty="0">
              <a:solidFill>
                <a:schemeClr val="tx1">
                  <a:lumMod val="75000"/>
                  <a:lumOff val="25000"/>
                </a:schemeClr>
              </a:solidFill>
              <a:latin typeface="黑体" pitchFamily="49" charset="-122"/>
              <a:ea typeface="黑体" pitchFamily="49" charset="-122"/>
            </a:endParaRPr>
          </a:p>
        </p:txBody>
      </p:sp>
      <p:sp>
        <p:nvSpPr>
          <p:cNvPr id="4" name="TextBox 3"/>
          <p:cNvSpPr txBox="1"/>
          <p:nvPr/>
        </p:nvSpPr>
        <p:spPr>
          <a:xfrm>
            <a:off x="611560" y="1052736"/>
            <a:ext cx="2304256" cy="461665"/>
          </a:xfrm>
          <a:prstGeom prst="rect">
            <a:avLst/>
          </a:prstGeom>
          <a:noFill/>
        </p:spPr>
        <p:txBody>
          <a:bodyPr wrap="square" rtlCol="0">
            <a:spAutoFit/>
          </a:bodyPr>
          <a:lstStyle/>
          <a:p>
            <a:r>
              <a:rPr lang="zh-CN" altLang="en-US" sz="2400" b="1" i="1" dirty="0">
                <a:solidFill>
                  <a:srgbClr val="FF0000"/>
                </a:solidFill>
                <a:latin typeface="华文细黑" pitchFamily="2" charset="-122"/>
                <a:ea typeface="华文细黑" pitchFamily="2" charset="-122"/>
              </a:rPr>
              <a:t>什么是</a:t>
            </a:r>
            <a:r>
              <a:rPr lang="en-US" altLang="zh-CN" sz="2400" b="1" i="1" dirty="0">
                <a:solidFill>
                  <a:srgbClr val="FF0000"/>
                </a:solidFill>
              </a:rPr>
              <a:t>KPI?</a:t>
            </a:r>
            <a:endParaRPr lang="zh-CN" altLang="en-US" sz="2400" b="1" i="1" dirty="0">
              <a:solidFill>
                <a:srgbClr val="FF0000"/>
              </a:solidFill>
            </a:endParaRPr>
          </a:p>
        </p:txBody>
      </p:sp>
      <p:sp>
        <p:nvSpPr>
          <p:cNvPr id="9" name="Text Box 7"/>
          <p:cNvSpPr txBox="1">
            <a:spLocks noChangeArrowheads="1"/>
          </p:cNvSpPr>
          <p:nvPr/>
        </p:nvSpPr>
        <p:spPr bwMode="auto">
          <a:xfrm>
            <a:off x="467544" y="1797819"/>
            <a:ext cx="309562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20000"/>
              </a:spcBef>
            </a:pPr>
            <a:r>
              <a:rPr lang="en-US" altLang="zh-CN" sz="2000" b="1" dirty="0">
                <a:solidFill>
                  <a:srgbClr val="FF0000"/>
                </a:solidFill>
                <a:latin typeface="Arial" charset="0"/>
                <a:ea typeface="华文细黑" pitchFamily="2" charset="-122"/>
              </a:rPr>
              <a:t>K</a:t>
            </a:r>
            <a:r>
              <a:rPr lang="en-US" altLang="zh-CN" sz="2000" dirty="0">
                <a:solidFill>
                  <a:schemeClr val="tx1">
                    <a:lumMod val="75000"/>
                    <a:lumOff val="25000"/>
                  </a:schemeClr>
                </a:solidFill>
                <a:latin typeface="Arial" charset="0"/>
                <a:ea typeface="华文细黑" pitchFamily="2" charset="-122"/>
              </a:rPr>
              <a:t>ey</a:t>
            </a:r>
            <a:r>
              <a:rPr lang="en-US" altLang="zh-CN" sz="2000" dirty="0">
                <a:solidFill>
                  <a:schemeClr val="bg1"/>
                </a:solidFill>
                <a:latin typeface="Arial" charset="0"/>
                <a:ea typeface="华文细黑" pitchFamily="2" charset="-122"/>
              </a:rPr>
              <a:t> </a:t>
            </a:r>
            <a:r>
              <a:rPr lang="zh-CN" altLang="en-US" sz="2000" dirty="0">
                <a:solidFill>
                  <a:schemeClr val="tx1">
                    <a:lumMod val="75000"/>
                    <a:lumOff val="25000"/>
                  </a:schemeClr>
                </a:solidFill>
                <a:latin typeface="华文细黑" pitchFamily="2" charset="-122"/>
                <a:ea typeface="华文细黑" pitchFamily="2" charset="-122"/>
              </a:rPr>
              <a:t>关键</a:t>
            </a:r>
          </a:p>
          <a:p>
            <a:pPr eaLnBrk="1" hangingPunct="1">
              <a:spcBef>
                <a:spcPct val="20000"/>
              </a:spcBef>
            </a:pPr>
            <a:r>
              <a:rPr lang="en-US" altLang="zh-CN" sz="2000" b="1" dirty="0">
                <a:solidFill>
                  <a:srgbClr val="FF0000"/>
                </a:solidFill>
                <a:latin typeface="Arial" charset="0"/>
                <a:ea typeface="华文细黑" pitchFamily="2" charset="-122"/>
              </a:rPr>
              <a:t>P</a:t>
            </a:r>
            <a:r>
              <a:rPr lang="en-US" altLang="zh-CN" sz="2000" dirty="0">
                <a:solidFill>
                  <a:schemeClr val="tx1">
                    <a:lumMod val="75000"/>
                    <a:lumOff val="25000"/>
                  </a:schemeClr>
                </a:solidFill>
                <a:latin typeface="Arial" charset="0"/>
                <a:ea typeface="华文细黑" pitchFamily="2" charset="-122"/>
              </a:rPr>
              <a:t>erformance</a:t>
            </a:r>
            <a:r>
              <a:rPr lang="en-US" altLang="zh-CN" sz="2000" dirty="0">
                <a:solidFill>
                  <a:schemeClr val="bg1"/>
                </a:solidFill>
                <a:latin typeface="Arial" charset="0"/>
                <a:ea typeface="华文细黑" pitchFamily="2" charset="-122"/>
              </a:rPr>
              <a:t> </a:t>
            </a:r>
            <a:r>
              <a:rPr lang="zh-CN" altLang="en-US" sz="2000" dirty="0">
                <a:solidFill>
                  <a:schemeClr val="tx1">
                    <a:lumMod val="75000"/>
                    <a:lumOff val="25000"/>
                  </a:schemeClr>
                </a:solidFill>
                <a:latin typeface="Arial" charset="0"/>
                <a:ea typeface="华文细黑" pitchFamily="2" charset="-122"/>
              </a:rPr>
              <a:t>表现</a:t>
            </a:r>
          </a:p>
          <a:p>
            <a:pPr eaLnBrk="1" hangingPunct="1">
              <a:spcBef>
                <a:spcPct val="20000"/>
              </a:spcBef>
            </a:pPr>
            <a:r>
              <a:rPr lang="en-US" altLang="zh-CN" sz="2000" b="1" dirty="0">
                <a:solidFill>
                  <a:srgbClr val="FF0000"/>
                </a:solidFill>
                <a:latin typeface="Arial" charset="0"/>
                <a:ea typeface="华文细黑" pitchFamily="2" charset="-122"/>
              </a:rPr>
              <a:t>I</a:t>
            </a:r>
            <a:r>
              <a:rPr lang="en-US" altLang="zh-CN" sz="2000" dirty="0">
                <a:solidFill>
                  <a:schemeClr val="tx1">
                    <a:lumMod val="75000"/>
                    <a:lumOff val="25000"/>
                  </a:schemeClr>
                </a:solidFill>
                <a:latin typeface="Arial" charset="0"/>
                <a:ea typeface="华文细黑" pitchFamily="2" charset="-122"/>
              </a:rPr>
              <a:t>ndication</a:t>
            </a:r>
            <a:r>
              <a:rPr lang="en-US" altLang="zh-CN" sz="2000" dirty="0">
                <a:latin typeface="Arial" charset="0"/>
                <a:ea typeface="华文细黑" pitchFamily="2" charset="-122"/>
              </a:rPr>
              <a:t> </a:t>
            </a:r>
            <a:r>
              <a:rPr lang="zh-CN" altLang="en-US" sz="2000" dirty="0">
                <a:solidFill>
                  <a:schemeClr val="tx1">
                    <a:lumMod val="75000"/>
                    <a:lumOff val="25000"/>
                  </a:schemeClr>
                </a:solidFill>
                <a:latin typeface="Arial" charset="0"/>
                <a:ea typeface="华文细黑" pitchFamily="2" charset="-122"/>
              </a:rPr>
              <a:t>迹象、标杆</a:t>
            </a:r>
          </a:p>
        </p:txBody>
      </p:sp>
      <p:sp>
        <p:nvSpPr>
          <p:cNvPr id="10" name="Text Box 10"/>
          <p:cNvSpPr txBox="1">
            <a:spLocks noChangeArrowheads="1"/>
          </p:cNvSpPr>
          <p:nvPr/>
        </p:nvSpPr>
        <p:spPr bwMode="auto">
          <a:xfrm>
            <a:off x="3800475" y="1628800"/>
            <a:ext cx="4156075" cy="771525"/>
          </a:xfrm>
          <a:prstGeom prst="rect">
            <a:avLst/>
          </a:prstGeom>
          <a:solidFill>
            <a:schemeClr val="bg1"/>
          </a:solidFill>
          <a:ln w="9525" algn="ctr">
            <a:solidFill>
              <a:srgbClr val="FF0000"/>
            </a:solidFill>
            <a:prstDash val="dash"/>
            <a:miter lim="800000"/>
            <a:headEnd/>
            <a:tailEnd/>
          </a:ln>
        </p:spPr>
        <p:txBody>
          <a:bodyPr wrap="none">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spcBef>
                <a:spcPct val="20000"/>
              </a:spcBef>
            </a:pPr>
            <a:r>
              <a:rPr lang="zh-CN" altLang="en-US" sz="3200" dirty="0">
                <a:solidFill>
                  <a:schemeClr val="tx1">
                    <a:lumMod val="75000"/>
                    <a:lumOff val="25000"/>
                  </a:schemeClr>
                </a:solidFill>
                <a:latin typeface="Arial" charset="0"/>
                <a:ea typeface="华文细黑" pitchFamily="2" charset="-122"/>
              </a:rPr>
              <a:t>工作的</a:t>
            </a:r>
            <a:r>
              <a:rPr lang="zh-CN" altLang="en-US" sz="4400" b="1" dirty="0">
                <a:solidFill>
                  <a:srgbClr val="FF0000"/>
                </a:solidFill>
                <a:latin typeface="Arial" charset="0"/>
                <a:ea typeface="华文细黑" pitchFamily="2" charset="-122"/>
              </a:rPr>
              <a:t>量化</a:t>
            </a:r>
            <a:r>
              <a:rPr lang="zh-CN" altLang="en-US" sz="3200" dirty="0">
                <a:solidFill>
                  <a:schemeClr val="tx1">
                    <a:lumMod val="75000"/>
                    <a:lumOff val="25000"/>
                  </a:schemeClr>
                </a:solidFill>
                <a:latin typeface="Arial" charset="0"/>
                <a:ea typeface="华文细黑" pitchFamily="2" charset="-122"/>
              </a:rPr>
              <a:t>管理工具</a:t>
            </a:r>
          </a:p>
        </p:txBody>
      </p:sp>
      <p:sp>
        <p:nvSpPr>
          <p:cNvPr id="11" name="Text Box 6"/>
          <p:cNvSpPr txBox="1">
            <a:spLocks noChangeArrowheads="1"/>
          </p:cNvSpPr>
          <p:nvPr/>
        </p:nvSpPr>
        <p:spPr bwMode="auto">
          <a:xfrm>
            <a:off x="395139" y="3913188"/>
            <a:ext cx="6913562" cy="1877437"/>
          </a:xfrm>
          <a:prstGeom prst="rect">
            <a:avLst/>
          </a:prstGeom>
          <a:solidFill>
            <a:srgbClr val="CAE9EC"/>
          </a:solidFill>
          <a:ln w="9525">
            <a:solidFill>
              <a:schemeClr val="tx1"/>
            </a:solidFill>
            <a:miter lim="800000"/>
            <a:headEnd/>
            <a:tailEnd/>
          </a:ln>
          <a:effectLst>
            <a:outerShdw blurRad="50800" dist="38100" dir="5400000" algn="t" rotWithShape="0">
              <a:prstClr val="black">
                <a:alpha val="40000"/>
              </a:prstClr>
            </a:outerShdw>
          </a:effec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45000"/>
              </a:lnSpc>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设定标准的量化考核标杆</a:t>
            </a:r>
            <a:r>
              <a:rPr lang="zh-CN" altLang="en-US" sz="2000" dirty="0">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有目的的收集终端</a:t>
            </a:r>
          </a:p>
          <a:p>
            <a:pPr eaLnBrk="1" hangingPunct="1">
              <a:lnSpc>
                <a:spcPct val="145000"/>
              </a:lnSpc>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各</a:t>
            </a:r>
            <a:r>
              <a:rPr lang="en-US" altLang="zh-CN" sz="2000" dirty="0">
                <a:solidFill>
                  <a:srgbClr val="FF0000"/>
                </a:solidFill>
                <a:effectLst>
                  <a:outerShdw blurRad="38100" dist="38100" dir="2700000" algn="tl">
                    <a:srgbClr val="000000">
                      <a:alpha val="43137"/>
                    </a:srgbClr>
                  </a:outerShdw>
                </a:effectLst>
              </a:rPr>
              <a:t>I</a:t>
            </a:r>
            <a:r>
              <a:rPr lang="en-US" altLang="zh-CN" sz="2000" dirty="0">
                <a:solidFill>
                  <a:schemeClr val="tx1">
                    <a:lumMod val="75000"/>
                    <a:lumOff val="25000"/>
                  </a:schemeClr>
                </a:solidFill>
                <a:effectLst>
                  <a:outerShdw blurRad="38100" dist="38100" dir="2700000" algn="tl">
                    <a:srgbClr val="000000">
                      <a:alpha val="43137"/>
                    </a:srgbClr>
                  </a:outerShdw>
                </a:effectLst>
              </a:rPr>
              <a:t>ndication</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项运作数据</a:t>
            </a:r>
            <a:r>
              <a:rPr lang="zh-CN" altLang="en-US" sz="2000" dirty="0">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结合科学的分析公式和市场预测</a:t>
            </a:r>
            <a:r>
              <a:rPr lang="zh-CN" altLang="en-US" sz="2000" dirty="0">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找出</a:t>
            </a:r>
            <a:r>
              <a:rPr lang="zh-CN" altLang="en-US"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绩效数据规律</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进行标杆比对</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，从而进一步诊断终端存在的问题，</a:t>
            </a:r>
            <a:r>
              <a:rPr lang="zh-CN" altLang="en-US"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有方向性的进行整改和提升。</a:t>
            </a:r>
          </a:p>
        </p:txBody>
      </p:sp>
      <p:pic>
        <p:nvPicPr>
          <p:cNvPr id="12" name="Picture 9" descr="01-09-011-06"/>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092950" y="3913188"/>
            <a:ext cx="1536700" cy="241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467544" y="2924944"/>
            <a:ext cx="3384376" cy="400110"/>
          </a:xfrm>
          <a:prstGeom prst="rect">
            <a:avLst/>
          </a:prstGeom>
          <a:noFill/>
        </p:spPr>
        <p:txBody>
          <a:bodyPr wrap="square" rtlCol="0">
            <a:spAutoFit/>
          </a:bodyPr>
          <a:lstStyle/>
          <a:p>
            <a:r>
              <a:rPr lang="zh-CN" altLang="en-US" sz="2000" b="1" dirty="0">
                <a:solidFill>
                  <a:srgbClr val="FF0000"/>
                </a:solidFill>
                <a:latin typeface="华文细黑" pitchFamily="2" charset="-122"/>
                <a:ea typeface="华文细黑" pitchFamily="2" charset="-122"/>
              </a:rPr>
              <a:t>关键绩效指标</a:t>
            </a:r>
          </a:p>
        </p:txBody>
      </p:sp>
    </p:spTree>
    <p:extLst>
      <p:ext uri="{BB962C8B-B14F-4D97-AF65-F5344CB8AC3E}">
        <p14:creationId xmlns:p14="http://schemas.microsoft.com/office/powerpoint/2010/main" val="1764182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ppt_w</p:attrName>
                                        </p:attrNameLst>
                                      </p:cBhvr>
                                      <p:tavLst>
                                        <p:tav tm="0" fmla="#ppt_w*sin(2.5*pi*$)">
                                          <p:val>
                                            <p:fltVal val="0"/>
                                          </p:val>
                                        </p:tav>
                                        <p:tav tm="100000">
                                          <p:val>
                                            <p:fltVal val="1"/>
                                          </p:val>
                                        </p:tav>
                                      </p:tavLst>
                                    </p:anim>
                                    <p:anim calcmode="lin" valueType="num">
                                      <p:cBhvr>
                                        <p:cTn id="9" dur="1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iterate type="lt">
                                    <p:tmPct val="5000"/>
                                  </p:iterate>
                                  <p:childTnLst>
                                    <p:set>
                                      <p:cBhvr>
                                        <p:cTn id="22" dur="1" fill="hold">
                                          <p:stCondLst>
                                            <p:cond delay="0"/>
                                          </p:stCondLst>
                                        </p:cTn>
                                        <p:tgtEl>
                                          <p:spTgt spid="10"/>
                                        </p:tgtEl>
                                        <p:attrNameLst>
                                          <p:attrName>style.visibility</p:attrName>
                                        </p:attrNameLst>
                                      </p:cBhvr>
                                      <p:to>
                                        <p:strVal val="visible"/>
                                      </p:to>
                                    </p:set>
                                    <p:anim calcmode="lin" valueType="num">
                                      <p:cBhvr>
                                        <p:cTn id="23" dur="1000" fill="hold"/>
                                        <p:tgtEl>
                                          <p:spTgt spid="10"/>
                                        </p:tgtEl>
                                        <p:attrNameLst>
                                          <p:attrName>ppt_w</p:attrName>
                                        </p:attrNameLst>
                                      </p:cBhvr>
                                      <p:tavLst>
                                        <p:tav tm="0">
                                          <p:val>
                                            <p:fltVal val="0"/>
                                          </p:val>
                                        </p:tav>
                                        <p:tav tm="100000">
                                          <p:val>
                                            <p:strVal val="#ppt_w"/>
                                          </p:val>
                                        </p:tav>
                                      </p:tavLst>
                                    </p:anim>
                                    <p:anim calcmode="lin" valueType="num">
                                      <p:cBhvr>
                                        <p:cTn id="24" dur="1000" fill="hold"/>
                                        <p:tgtEl>
                                          <p:spTgt spid="10"/>
                                        </p:tgtEl>
                                        <p:attrNameLst>
                                          <p:attrName>ppt_h</p:attrName>
                                        </p:attrNameLst>
                                      </p:cBhvr>
                                      <p:tavLst>
                                        <p:tav tm="0">
                                          <p:val>
                                            <p:fltVal val="0"/>
                                          </p:val>
                                        </p:tav>
                                        <p:tav tm="100000">
                                          <p:val>
                                            <p:strVal val="#ppt_h"/>
                                          </p:val>
                                        </p:tav>
                                      </p:tavLst>
                                    </p:anim>
                                    <p:anim calcmode="lin" valueType="num">
                                      <p:cBhvr>
                                        <p:cTn id="25" dur="1000" fill="hold"/>
                                        <p:tgtEl>
                                          <p:spTgt spid="10"/>
                                        </p:tgtEl>
                                        <p:attrNameLst>
                                          <p:attrName>style.rotation</p:attrName>
                                        </p:attrNameLst>
                                      </p:cBhvr>
                                      <p:tavLst>
                                        <p:tav tm="0">
                                          <p:val>
                                            <p:fltVal val="90"/>
                                          </p:val>
                                        </p:tav>
                                        <p:tav tm="100000">
                                          <p:val>
                                            <p:fltVal val="0"/>
                                          </p:val>
                                        </p:tav>
                                      </p:tavLst>
                                    </p:anim>
                                    <p:animEffect transition="in" filter="fade">
                                      <p:cBhvr>
                                        <p:cTn id="26" dur="10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childTnLst>
                                </p:cTn>
                              </p:par>
                            </p:childTnLst>
                          </p:cTn>
                        </p:par>
                        <p:par>
                          <p:cTn id="32" fill="hold">
                            <p:stCondLst>
                              <p:cond delay="1000"/>
                            </p:stCondLst>
                            <p:childTnLst>
                              <p:par>
                                <p:cTn id="33" presetID="6" presetClass="entr" presetSubtype="16" fill="hold" grpId="0" nodeType="after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circle(in)">
                                      <p:cBhvr>
                                        <p:cTn id="35"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animBg="1"/>
      <p:bldP spid="11" grpId="0" animBg="1"/>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936104"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5</a:t>
            </a:fld>
            <a:r>
              <a:rPr lang="en-US" dirty="0"/>
              <a:t>&gt;</a:t>
            </a:r>
          </a:p>
        </p:txBody>
      </p:sp>
      <p:sp>
        <p:nvSpPr>
          <p:cNvPr id="3" name="TextBox 2"/>
          <p:cNvSpPr txBox="1"/>
          <p:nvPr/>
        </p:nvSpPr>
        <p:spPr>
          <a:xfrm>
            <a:off x="467544" y="241484"/>
            <a:ext cx="5472608"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rPr>
              <a:t>绩效</a:t>
            </a:r>
            <a:r>
              <a:rPr lang="en-US" altLang="zh-CN" sz="2800" b="1" dirty="0">
                <a:solidFill>
                  <a:schemeClr val="tx1">
                    <a:lumMod val="75000"/>
                    <a:lumOff val="25000"/>
                  </a:schemeClr>
                </a:solidFill>
                <a:latin typeface="黑体" pitchFamily="49" charset="-122"/>
                <a:ea typeface="黑体" pitchFamily="49" charset="-122"/>
              </a:rPr>
              <a:t>KPI</a:t>
            </a:r>
            <a:r>
              <a:rPr lang="zh-CN" altLang="en-US" sz="2800" b="1" dirty="0">
                <a:solidFill>
                  <a:schemeClr val="tx1">
                    <a:lumMod val="75000"/>
                    <a:lumOff val="25000"/>
                  </a:schemeClr>
                </a:solidFill>
                <a:latin typeface="黑体" pitchFamily="49" charset="-122"/>
                <a:ea typeface="黑体" pitchFamily="49" charset="-122"/>
              </a:rPr>
              <a:t>管理的重要性</a:t>
            </a:r>
            <a:r>
              <a:rPr lang="zh-CN" altLang="en-US" sz="2800" b="1" dirty="0">
                <a:solidFill>
                  <a:schemeClr val="tx1">
                    <a:lumMod val="75000"/>
                    <a:lumOff val="25000"/>
                  </a:schemeClr>
                </a:solidFill>
                <a:latin typeface="黑体" pitchFamily="49" charset="-122"/>
                <a:ea typeface="黑体" pitchFamily="49" charset="-122"/>
                <a:cs typeface="Meiryo UI" pitchFamily="34" charset="-128"/>
              </a:rPr>
              <a:t>：</a:t>
            </a:r>
            <a:endParaRPr lang="en-US" altLang="zh-CN" sz="2800" b="1" dirty="0">
              <a:solidFill>
                <a:schemeClr val="tx1">
                  <a:lumMod val="75000"/>
                  <a:lumOff val="25000"/>
                </a:schemeClr>
              </a:solidFill>
              <a:latin typeface="黑体" pitchFamily="49" charset="-122"/>
              <a:ea typeface="黑体" pitchFamily="49" charset="-122"/>
            </a:endParaRPr>
          </a:p>
        </p:txBody>
      </p:sp>
      <p:sp>
        <p:nvSpPr>
          <p:cNvPr id="6" name="Text Box 3"/>
          <p:cNvSpPr txBox="1">
            <a:spLocks noChangeArrowheads="1"/>
          </p:cNvSpPr>
          <p:nvPr/>
        </p:nvSpPr>
        <p:spPr bwMode="auto">
          <a:xfrm>
            <a:off x="572497" y="1052736"/>
            <a:ext cx="6327373"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p>
            <a:pPr marL="342900" indent="-342900">
              <a:lnSpc>
                <a:spcPct val="200000"/>
              </a:lnSpc>
              <a:spcBef>
                <a:spcPct val="5000"/>
              </a:spcBef>
              <a:buSzPct val="80000"/>
              <a:buFont typeface="Wingdings" pitchFamily="2" charset="2"/>
              <a:buChar char="Ø"/>
            </a:pPr>
            <a:r>
              <a:rPr lang="zh-CN" altLang="en-US" sz="2400" dirty="0">
                <a:solidFill>
                  <a:schemeClr val="bg2">
                    <a:lumMod val="25000"/>
                  </a:schemeClr>
                </a:solidFill>
                <a:latin typeface="华文细黑" pitchFamily="2" charset="-122"/>
                <a:ea typeface="华文细黑" pitchFamily="2" charset="-122"/>
              </a:rPr>
              <a:t>  </a:t>
            </a:r>
            <a:r>
              <a:rPr lang="zh-CN" altLang="en-US"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明确主管的主要责任，明确员工的业绩衡量指标；</a:t>
            </a:r>
            <a:endParaRPr lang="en-US" altLang="zh-CN"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342900" indent="-342900">
              <a:lnSpc>
                <a:spcPct val="200000"/>
              </a:lnSpc>
              <a:spcBef>
                <a:spcPct val="5000"/>
              </a:spcBef>
              <a:buSzPct val="80000"/>
              <a:buFont typeface="Wingdings" pitchFamily="2" charset="2"/>
              <a:buChar char="Ø"/>
            </a:pPr>
            <a:r>
              <a:rPr lang="zh-CN" altLang="en-US"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  告别“混沌”经营的不利局面</a:t>
            </a:r>
          </a:p>
          <a:p>
            <a:pPr marL="342900" indent="-342900">
              <a:lnSpc>
                <a:spcPct val="200000"/>
              </a:lnSpc>
              <a:spcBef>
                <a:spcPct val="5000"/>
              </a:spcBef>
              <a:buClr>
                <a:schemeClr val="tx1"/>
              </a:buClr>
              <a:buSzPct val="80000"/>
              <a:buFont typeface="Wingdings" pitchFamily="2" charset="2"/>
              <a:buChar char="Ø"/>
            </a:pPr>
            <a:r>
              <a:rPr lang="zh-CN" altLang="en-US"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  明确切实可行的</a:t>
            </a:r>
            <a:r>
              <a:rPr lang="en-US" altLang="zh-CN"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KPI</a:t>
            </a:r>
            <a:r>
              <a:rPr lang="zh-CN" altLang="en-US"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，是做好绩效管理的关键</a:t>
            </a:r>
          </a:p>
          <a:p>
            <a:pPr marL="342900" indent="-342900">
              <a:lnSpc>
                <a:spcPct val="200000"/>
              </a:lnSpc>
              <a:spcBef>
                <a:spcPct val="5000"/>
              </a:spcBef>
              <a:buClr>
                <a:schemeClr val="tx1"/>
              </a:buClr>
              <a:buSzPct val="80000"/>
              <a:buFont typeface="Wingdings" pitchFamily="2" charset="2"/>
              <a:buChar char="Ø"/>
            </a:pPr>
            <a:r>
              <a:rPr lang="zh-CN" altLang="en-US"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  提升终端管理控制能力</a:t>
            </a:r>
          </a:p>
          <a:p>
            <a:pPr marL="342900" indent="-342900">
              <a:lnSpc>
                <a:spcPct val="200000"/>
              </a:lnSpc>
              <a:spcBef>
                <a:spcPct val="5000"/>
              </a:spcBef>
              <a:buSzPct val="80000"/>
              <a:buFont typeface="Wingdings" pitchFamily="2" charset="2"/>
              <a:buChar char="Ø"/>
            </a:pPr>
            <a:r>
              <a:rPr lang="zh-CN" altLang="en-US"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  有效利用和分配资源</a:t>
            </a:r>
          </a:p>
          <a:p>
            <a:pPr marL="342900" indent="-342900">
              <a:lnSpc>
                <a:spcPct val="200000"/>
              </a:lnSpc>
              <a:spcBef>
                <a:spcPct val="5000"/>
              </a:spcBef>
              <a:buSzPct val="80000"/>
              <a:buFont typeface="Wingdings" pitchFamily="2" charset="2"/>
              <a:buChar char="Ø"/>
            </a:pPr>
            <a:r>
              <a:rPr lang="zh-CN" altLang="en-US"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  经营危局的预警机制</a:t>
            </a:r>
          </a:p>
          <a:p>
            <a:pPr marL="342900" indent="-342900">
              <a:lnSpc>
                <a:spcPct val="200000"/>
              </a:lnSpc>
              <a:spcBef>
                <a:spcPct val="5000"/>
              </a:spcBef>
              <a:buSzPct val="80000"/>
              <a:buFont typeface="Wingdings" pitchFamily="2" charset="2"/>
              <a:buChar char="Ø"/>
            </a:pPr>
            <a:r>
              <a:rPr lang="zh-CN" altLang="en-US" sz="2000" dirty="0">
                <a:solidFill>
                  <a:schemeClr val="bg2">
                    <a:lumMod val="25000"/>
                  </a:schemeClr>
                </a:solidFill>
                <a:effectLst>
                  <a:outerShdw blurRad="38100" dist="38100" dir="2700000" algn="tl">
                    <a:srgbClr val="000000">
                      <a:alpha val="43137"/>
                    </a:srgbClr>
                  </a:outerShdw>
                </a:effectLst>
                <a:latin typeface="华文细黑" pitchFamily="2" charset="-122"/>
                <a:ea typeface="华文细黑" pitchFamily="2" charset="-122"/>
              </a:rPr>
              <a:t>  激励员工的绩效考核管理</a:t>
            </a:r>
          </a:p>
        </p:txBody>
      </p:sp>
      <p:pic>
        <p:nvPicPr>
          <p:cNvPr id="7" name="Picture 4" descr="MCBS00871A00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3950" y="4292947"/>
            <a:ext cx="156845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2010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936104"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6</a:t>
            </a:fld>
            <a:r>
              <a:rPr lang="en-US" dirty="0"/>
              <a:t>&gt;</a:t>
            </a:r>
          </a:p>
        </p:txBody>
      </p:sp>
      <p:sp>
        <p:nvSpPr>
          <p:cNvPr id="3" name="TextBox 2"/>
          <p:cNvSpPr txBox="1"/>
          <p:nvPr/>
        </p:nvSpPr>
        <p:spPr>
          <a:xfrm>
            <a:off x="467544" y="241484"/>
            <a:ext cx="2232248"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常用</a:t>
            </a:r>
            <a:r>
              <a:rPr lang="en-US" altLang="zh-CN" sz="2800" b="1" dirty="0">
                <a:solidFill>
                  <a:schemeClr val="tx1">
                    <a:lumMod val="75000"/>
                    <a:lumOff val="25000"/>
                  </a:schemeClr>
                </a:solidFill>
                <a:latin typeface="黑体" pitchFamily="49" charset="-122"/>
                <a:ea typeface="黑体" pitchFamily="49" charset="-122"/>
                <a:cs typeface="Meiryo UI" pitchFamily="34" charset="-128"/>
              </a:rPr>
              <a:t>KPI</a:t>
            </a:r>
            <a:r>
              <a:rPr lang="zh-CN" altLang="en-US" sz="2800" b="1" dirty="0">
                <a:solidFill>
                  <a:schemeClr val="tx1">
                    <a:lumMod val="75000"/>
                    <a:lumOff val="25000"/>
                  </a:schemeClr>
                </a:solidFill>
                <a:latin typeface="黑体" pitchFamily="49" charset="-122"/>
                <a:ea typeface="黑体" pitchFamily="49" charset="-122"/>
                <a:cs typeface="Meiryo UI" pitchFamily="34" charset="-128"/>
              </a:rPr>
              <a:t>指标：</a:t>
            </a:r>
          </a:p>
        </p:txBody>
      </p:sp>
      <p:sp>
        <p:nvSpPr>
          <p:cNvPr id="7" name="TextBox 3"/>
          <p:cNvSpPr txBox="1">
            <a:spLocks noChangeArrowheads="1"/>
          </p:cNvSpPr>
          <p:nvPr/>
        </p:nvSpPr>
        <p:spPr bwMode="auto">
          <a:xfrm>
            <a:off x="878036" y="1412776"/>
            <a:ext cx="1991251" cy="3847207"/>
          </a:xfrm>
          <a:prstGeom prst="rect">
            <a:avLst/>
          </a:prstGeom>
          <a:noFill/>
          <a:ln w="9525">
            <a:noFill/>
            <a:miter lim="800000"/>
            <a:headEnd/>
            <a:tailEnd/>
          </a:ln>
          <a:effectLst/>
        </p:spPr>
        <p:txBody>
          <a:bodyPr wrap="none">
            <a:spAutoFit/>
          </a:bodyPr>
          <a:lstStyle/>
          <a:p>
            <a:r>
              <a:rPr lang="zh-CN" altLang="en-US"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一、销售</a:t>
            </a:r>
            <a:endParaRPr lang="en-US" altLang="zh-CN"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r>
              <a:rPr lang="en-US" altLang="zh-CN" sz="2000" b="1" dirty="0">
                <a:solidFill>
                  <a:schemeClr val="tx1">
                    <a:lumMod val="75000"/>
                    <a:lumOff val="25000"/>
                  </a:schemeClr>
                </a:solidFill>
                <a:latin typeface="华文细黑" pitchFamily="2" charset="-122"/>
                <a:ea typeface="华文细黑" pitchFamily="2" charset="-122"/>
              </a:rPr>
              <a:t>       </a:t>
            </a:r>
            <a:r>
              <a:rPr lang="en-US" altLang="zh-CN" sz="1600" b="1" dirty="0">
                <a:solidFill>
                  <a:schemeClr val="tx1">
                    <a:lumMod val="75000"/>
                    <a:lumOff val="25000"/>
                  </a:schemeClr>
                </a:solidFill>
                <a:latin typeface="华文细黑" pitchFamily="2" charset="-122"/>
                <a:ea typeface="华文细黑" pitchFamily="2" charset="-122"/>
              </a:rPr>
              <a:t> 1</a:t>
            </a:r>
            <a:r>
              <a:rPr lang="zh-CN" altLang="en-US" sz="1600" b="1" dirty="0">
                <a:solidFill>
                  <a:schemeClr val="tx1">
                    <a:lumMod val="75000"/>
                    <a:lumOff val="25000"/>
                  </a:schemeClr>
                </a:solidFill>
                <a:latin typeface="华文细黑" pitchFamily="2" charset="-122"/>
                <a:ea typeface="华文细黑" pitchFamily="2" charset="-122"/>
              </a:rPr>
              <a:t>、售罄率</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2</a:t>
            </a:r>
            <a:r>
              <a:rPr lang="zh-CN" altLang="en-US" sz="1600" b="1" dirty="0">
                <a:solidFill>
                  <a:schemeClr val="tx1">
                    <a:lumMod val="75000"/>
                    <a:lumOff val="25000"/>
                  </a:schemeClr>
                </a:solidFill>
                <a:latin typeface="华文细黑" pitchFamily="2" charset="-122"/>
                <a:ea typeface="华文细黑" pitchFamily="2" charset="-122"/>
              </a:rPr>
              <a:t>、动销率</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3</a:t>
            </a:r>
            <a:r>
              <a:rPr lang="zh-CN" altLang="en-US" sz="1600" b="1" dirty="0">
                <a:solidFill>
                  <a:schemeClr val="tx1">
                    <a:lumMod val="75000"/>
                    <a:lumOff val="25000"/>
                  </a:schemeClr>
                </a:solidFill>
                <a:latin typeface="华文细黑" pitchFamily="2" charset="-122"/>
                <a:ea typeface="华文细黑" pitchFamily="2" charset="-122"/>
              </a:rPr>
              <a:t>、竞争力</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4</a:t>
            </a:r>
            <a:r>
              <a:rPr lang="zh-CN" altLang="en-US" sz="1600" b="1" dirty="0">
                <a:solidFill>
                  <a:schemeClr val="tx1">
                    <a:lumMod val="75000"/>
                    <a:lumOff val="25000"/>
                  </a:schemeClr>
                </a:solidFill>
                <a:latin typeface="华文细黑" pitchFamily="2" charset="-122"/>
                <a:ea typeface="华文细黑" pitchFamily="2" charset="-122"/>
              </a:rPr>
              <a:t>、销售贡献率</a:t>
            </a:r>
            <a:endParaRPr lang="en-US" altLang="zh-CN" sz="1600" b="1" dirty="0">
              <a:solidFill>
                <a:schemeClr val="tx1">
                  <a:lumMod val="75000"/>
                  <a:lumOff val="25000"/>
                </a:schemeClr>
              </a:solidFill>
              <a:latin typeface="华文细黑" pitchFamily="2" charset="-122"/>
              <a:ea typeface="华文细黑" pitchFamily="2" charset="-122"/>
            </a:endParaRPr>
          </a:p>
          <a:p>
            <a:endParaRPr lang="en-US" altLang="zh-CN" sz="1600" b="1" dirty="0">
              <a:solidFill>
                <a:schemeClr val="tx1">
                  <a:lumMod val="75000"/>
                  <a:lumOff val="25000"/>
                </a:schemeClr>
              </a:solidFill>
              <a:latin typeface="华文细黑" pitchFamily="2" charset="-122"/>
              <a:ea typeface="华文细黑" pitchFamily="2" charset="-122"/>
            </a:endParaRPr>
          </a:p>
          <a:p>
            <a:r>
              <a:rPr lang="zh-CN" altLang="en-US"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二、财务</a:t>
            </a:r>
            <a:endParaRPr lang="en-US" altLang="zh-CN"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r>
              <a:rPr lang="en-US" altLang="zh-CN" sz="2000" b="1" dirty="0">
                <a:solidFill>
                  <a:schemeClr val="tx1">
                    <a:lumMod val="75000"/>
                    <a:lumOff val="25000"/>
                  </a:schemeClr>
                </a:solidFill>
                <a:latin typeface="华文细黑" pitchFamily="2" charset="-122"/>
                <a:ea typeface="华文细黑" pitchFamily="2" charset="-122"/>
              </a:rPr>
              <a:t>   </a:t>
            </a:r>
            <a:r>
              <a:rPr lang="en-US" altLang="zh-CN" sz="1600" b="1" dirty="0">
                <a:solidFill>
                  <a:schemeClr val="tx1">
                    <a:lumMod val="75000"/>
                    <a:lumOff val="25000"/>
                  </a:schemeClr>
                </a:solidFill>
                <a:latin typeface="华文细黑" pitchFamily="2" charset="-122"/>
                <a:ea typeface="华文细黑" pitchFamily="2" charset="-122"/>
              </a:rPr>
              <a:t>     1</a:t>
            </a:r>
            <a:r>
              <a:rPr lang="zh-CN" altLang="en-US" sz="1600" b="1" dirty="0">
                <a:solidFill>
                  <a:schemeClr val="tx1">
                    <a:lumMod val="75000"/>
                    <a:lumOff val="25000"/>
                  </a:schemeClr>
                </a:solidFill>
                <a:latin typeface="华文细黑" pitchFamily="2" charset="-122"/>
                <a:ea typeface="华文细黑" pitchFamily="2" charset="-122"/>
              </a:rPr>
              <a:t>、盈亏平衡点</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2</a:t>
            </a:r>
            <a:r>
              <a:rPr lang="zh-CN" altLang="en-US" sz="1600" b="1" dirty="0">
                <a:solidFill>
                  <a:schemeClr val="tx1">
                    <a:lumMod val="75000"/>
                    <a:lumOff val="25000"/>
                  </a:schemeClr>
                </a:solidFill>
                <a:latin typeface="华文细黑" pitchFamily="2" charset="-122"/>
                <a:ea typeface="华文细黑" pitchFamily="2" charset="-122"/>
              </a:rPr>
              <a:t>、毛利率</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3</a:t>
            </a:r>
            <a:r>
              <a:rPr lang="zh-CN" altLang="en-US" sz="1600" b="1" dirty="0">
                <a:solidFill>
                  <a:schemeClr val="tx1">
                    <a:lumMod val="75000"/>
                    <a:lumOff val="25000"/>
                  </a:schemeClr>
                </a:solidFill>
                <a:latin typeface="华文细黑" pitchFamily="2" charset="-122"/>
                <a:ea typeface="华文细黑" pitchFamily="2" charset="-122"/>
              </a:rPr>
              <a:t>、净利率</a:t>
            </a:r>
            <a:endParaRPr lang="en-US" altLang="zh-CN" sz="1600" b="1" dirty="0">
              <a:solidFill>
                <a:schemeClr val="tx1">
                  <a:lumMod val="75000"/>
                  <a:lumOff val="25000"/>
                </a:schemeClr>
              </a:solidFill>
              <a:latin typeface="华文细黑" pitchFamily="2" charset="-122"/>
              <a:ea typeface="华文细黑" pitchFamily="2" charset="-122"/>
            </a:endParaRPr>
          </a:p>
          <a:p>
            <a:endParaRPr lang="en-US" altLang="zh-CN" sz="1600" b="1" dirty="0">
              <a:solidFill>
                <a:schemeClr val="tx1">
                  <a:lumMod val="75000"/>
                  <a:lumOff val="25000"/>
                </a:schemeClr>
              </a:solidFill>
              <a:latin typeface="华文细黑" pitchFamily="2" charset="-122"/>
              <a:ea typeface="华文细黑" pitchFamily="2" charset="-122"/>
            </a:endParaRPr>
          </a:p>
          <a:p>
            <a:r>
              <a:rPr lang="zh-CN" altLang="en-US"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三、铺货</a:t>
            </a:r>
            <a:endParaRPr lang="en-US" altLang="zh-CN"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1</a:t>
            </a:r>
            <a:r>
              <a:rPr lang="zh-CN" altLang="en-US" sz="1600" b="1" dirty="0">
                <a:solidFill>
                  <a:schemeClr val="tx1">
                    <a:lumMod val="75000"/>
                    <a:lumOff val="25000"/>
                  </a:schemeClr>
                </a:solidFill>
                <a:latin typeface="华文细黑" pitchFamily="2" charset="-122"/>
                <a:ea typeface="华文细黑" pitchFamily="2" charset="-122"/>
              </a:rPr>
              <a:t>、新品铺货率</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2</a:t>
            </a:r>
            <a:r>
              <a:rPr lang="zh-CN" altLang="en-US" sz="1600" b="1" dirty="0">
                <a:solidFill>
                  <a:schemeClr val="tx1">
                    <a:lumMod val="75000"/>
                    <a:lumOff val="25000"/>
                  </a:schemeClr>
                </a:solidFill>
                <a:latin typeface="华文细黑" pitchFamily="2" charset="-122"/>
                <a:ea typeface="华文细黑" pitchFamily="2" charset="-122"/>
              </a:rPr>
              <a:t>、新老品占比</a:t>
            </a:r>
            <a:endParaRPr lang="en-US" altLang="zh-CN" sz="1600" b="1" dirty="0">
              <a:solidFill>
                <a:schemeClr val="tx1">
                  <a:lumMod val="75000"/>
                  <a:lumOff val="25000"/>
                </a:schemeClr>
              </a:solidFill>
              <a:latin typeface="华文细黑" pitchFamily="2" charset="-122"/>
              <a:ea typeface="华文细黑" pitchFamily="2" charset="-122"/>
            </a:endParaRPr>
          </a:p>
        </p:txBody>
      </p:sp>
      <p:sp>
        <p:nvSpPr>
          <p:cNvPr id="8" name="TextBox 3"/>
          <p:cNvSpPr txBox="1">
            <a:spLocks noChangeArrowheads="1"/>
          </p:cNvSpPr>
          <p:nvPr/>
        </p:nvSpPr>
        <p:spPr bwMode="auto">
          <a:xfrm>
            <a:off x="4765416" y="1412776"/>
            <a:ext cx="1633781" cy="3477875"/>
          </a:xfrm>
          <a:prstGeom prst="rect">
            <a:avLst/>
          </a:prstGeom>
          <a:noFill/>
          <a:ln w="9525">
            <a:noFill/>
            <a:miter lim="800000"/>
            <a:headEnd/>
            <a:tailEnd/>
          </a:ln>
          <a:effectLst/>
        </p:spPr>
        <p:txBody>
          <a:bodyPr wrap="none">
            <a:spAutoFit/>
          </a:bodyPr>
          <a:lstStyle/>
          <a:p>
            <a:r>
              <a:rPr lang="zh-CN" altLang="en-US"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四、店铺</a:t>
            </a:r>
            <a:endParaRPr lang="en-US" altLang="zh-CN"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1</a:t>
            </a:r>
            <a:r>
              <a:rPr lang="zh-CN" altLang="en-US" sz="1600" b="1" dirty="0">
                <a:solidFill>
                  <a:schemeClr val="tx1">
                    <a:lumMod val="75000"/>
                    <a:lumOff val="25000"/>
                  </a:schemeClr>
                </a:solidFill>
                <a:latin typeface="华文细黑" pitchFamily="2" charset="-122"/>
                <a:ea typeface="华文细黑" pitchFamily="2" charset="-122"/>
              </a:rPr>
              <a:t>、人效</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2</a:t>
            </a:r>
            <a:r>
              <a:rPr lang="zh-CN" altLang="en-US" sz="1600" b="1" dirty="0">
                <a:solidFill>
                  <a:schemeClr val="tx1">
                    <a:lumMod val="75000"/>
                    <a:lumOff val="25000"/>
                  </a:schemeClr>
                </a:solidFill>
                <a:latin typeface="华文细黑" pitchFamily="2" charset="-122"/>
                <a:ea typeface="华文细黑" pitchFamily="2" charset="-122"/>
              </a:rPr>
              <a:t>、坪效</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3</a:t>
            </a:r>
            <a:r>
              <a:rPr lang="zh-CN" altLang="en-US" sz="1600" b="1" dirty="0">
                <a:solidFill>
                  <a:schemeClr val="tx1">
                    <a:lumMod val="75000"/>
                    <a:lumOff val="25000"/>
                  </a:schemeClr>
                </a:solidFill>
                <a:latin typeface="华文细黑" pitchFamily="2" charset="-122"/>
                <a:ea typeface="华文细黑" pitchFamily="2" charset="-122"/>
              </a:rPr>
              <a:t>、客单价</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4</a:t>
            </a:r>
            <a:r>
              <a:rPr lang="zh-CN" altLang="en-US" sz="1600" b="1" dirty="0">
                <a:solidFill>
                  <a:schemeClr val="tx1">
                    <a:lumMod val="75000"/>
                    <a:lumOff val="25000"/>
                  </a:schemeClr>
                </a:solidFill>
                <a:latin typeface="华文细黑" pitchFamily="2" charset="-122"/>
                <a:ea typeface="华文细黑" pitchFamily="2" charset="-122"/>
              </a:rPr>
              <a:t>、客单量</a:t>
            </a:r>
            <a:endParaRPr lang="en-US" altLang="zh-CN" sz="1600" b="1" dirty="0">
              <a:solidFill>
                <a:schemeClr val="tx1">
                  <a:lumMod val="75000"/>
                  <a:lumOff val="25000"/>
                </a:schemeClr>
              </a:solidFill>
              <a:latin typeface="华文细黑" pitchFamily="2" charset="-122"/>
              <a:ea typeface="华文细黑" pitchFamily="2" charset="-122"/>
            </a:endParaRPr>
          </a:p>
          <a:p>
            <a:endParaRPr lang="en-US" altLang="zh-CN" sz="1600" b="1" dirty="0">
              <a:solidFill>
                <a:schemeClr val="tx1">
                  <a:lumMod val="75000"/>
                  <a:lumOff val="25000"/>
                </a:schemeClr>
              </a:solidFill>
              <a:latin typeface="华文细黑" pitchFamily="2" charset="-122"/>
              <a:ea typeface="华文细黑" pitchFamily="2" charset="-122"/>
            </a:endParaRPr>
          </a:p>
          <a:p>
            <a:r>
              <a:rPr lang="zh-CN" altLang="en-US"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五、库存</a:t>
            </a:r>
            <a:endParaRPr lang="en-US" altLang="zh-CN"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1</a:t>
            </a:r>
            <a:r>
              <a:rPr lang="zh-CN" altLang="en-US" sz="1600" b="1" dirty="0">
                <a:solidFill>
                  <a:schemeClr val="tx1">
                    <a:lumMod val="75000"/>
                    <a:lumOff val="25000"/>
                  </a:schemeClr>
                </a:solidFill>
                <a:latin typeface="华文细黑" pitchFamily="2" charset="-122"/>
                <a:ea typeface="华文细黑" pitchFamily="2" charset="-122"/>
              </a:rPr>
              <a:t>、周转率</a:t>
            </a:r>
            <a:endParaRPr lang="en-US" altLang="zh-CN" sz="1600" b="1"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4</a:t>
            </a:r>
            <a:r>
              <a:rPr lang="zh-CN" altLang="en-US" sz="1600" b="1" dirty="0">
                <a:solidFill>
                  <a:schemeClr val="tx1">
                    <a:lumMod val="75000"/>
                    <a:lumOff val="25000"/>
                  </a:schemeClr>
                </a:solidFill>
                <a:latin typeface="华文细黑" pitchFamily="2" charset="-122"/>
                <a:ea typeface="华文细黑" pitchFamily="2" charset="-122"/>
              </a:rPr>
              <a:t>、库存率</a:t>
            </a:r>
            <a:endParaRPr lang="en-US" altLang="zh-CN" sz="1600" b="1" dirty="0">
              <a:solidFill>
                <a:schemeClr val="tx1">
                  <a:lumMod val="75000"/>
                  <a:lumOff val="25000"/>
                </a:schemeClr>
              </a:solidFill>
              <a:latin typeface="华文细黑" pitchFamily="2" charset="-122"/>
              <a:ea typeface="华文细黑" pitchFamily="2" charset="-122"/>
            </a:endParaRPr>
          </a:p>
          <a:p>
            <a:endParaRPr lang="en-US" altLang="zh-CN" sz="1600" b="1" dirty="0">
              <a:solidFill>
                <a:schemeClr val="tx1">
                  <a:lumMod val="75000"/>
                  <a:lumOff val="25000"/>
                </a:schemeClr>
              </a:solidFill>
              <a:latin typeface="华文细黑" pitchFamily="2" charset="-122"/>
              <a:ea typeface="华文细黑" pitchFamily="2" charset="-122"/>
            </a:endParaRPr>
          </a:p>
          <a:p>
            <a:r>
              <a:rPr lang="zh-CN" altLang="en-US"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六、订货</a:t>
            </a:r>
            <a:endParaRPr lang="en-US" altLang="zh-CN" sz="2000"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1</a:t>
            </a:r>
            <a:r>
              <a:rPr lang="zh-CN" altLang="en-US" sz="1600" b="1">
                <a:solidFill>
                  <a:schemeClr val="tx1">
                    <a:lumMod val="75000"/>
                    <a:lumOff val="25000"/>
                  </a:schemeClr>
                </a:solidFill>
                <a:latin typeface="华文细黑" pitchFamily="2" charset="-122"/>
                <a:ea typeface="华文细黑" pitchFamily="2" charset="-122"/>
              </a:rPr>
              <a:t>、存销</a:t>
            </a:r>
            <a:r>
              <a:rPr lang="zh-CN" altLang="en-US" sz="1600" b="1" dirty="0">
                <a:solidFill>
                  <a:schemeClr val="tx1">
                    <a:lumMod val="75000"/>
                    <a:lumOff val="25000"/>
                  </a:schemeClr>
                </a:solidFill>
                <a:latin typeface="华文细黑" pitchFamily="2" charset="-122"/>
                <a:ea typeface="华文细黑" pitchFamily="2" charset="-122"/>
              </a:rPr>
              <a:t>比</a:t>
            </a:r>
            <a:endParaRPr lang="en-US" altLang="zh-CN" sz="1600" dirty="0">
              <a:solidFill>
                <a:schemeClr val="tx1">
                  <a:lumMod val="75000"/>
                  <a:lumOff val="25000"/>
                </a:schemeClr>
              </a:solidFill>
              <a:latin typeface="华文细黑" pitchFamily="2" charset="-122"/>
              <a:ea typeface="华文细黑" pitchFamily="2" charset="-122"/>
            </a:endParaRPr>
          </a:p>
          <a:p>
            <a:r>
              <a:rPr lang="en-US" altLang="zh-CN" sz="1600" b="1" dirty="0">
                <a:solidFill>
                  <a:schemeClr val="tx1">
                    <a:lumMod val="75000"/>
                    <a:lumOff val="25000"/>
                  </a:schemeClr>
                </a:solidFill>
                <a:latin typeface="华文细黑" pitchFamily="2" charset="-122"/>
                <a:ea typeface="华文细黑" pitchFamily="2" charset="-122"/>
              </a:rPr>
              <a:t>         3</a:t>
            </a:r>
            <a:r>
              <a:rPr lang="zh-CN" altLang="en-US" sz="1600" b="1" dirty="0">
                <a:solidFill>
                  <a:schemeClr val="tx1">
                    <a:lumMod val="75000"/>
                    <a:lumOff val="25000"/>
                  </a:schemeClr>
                </a:solidFill>
                <a:latin typeface="华文细黑" pitchFamily="2" charset="-122"/>
                <a:ea typeface="华文细黑" pitchFamily="2" charset="-122"/>
              </a:rPr>
              <a:t>、进销比</a:t>
            </a:r>
          </a:p>
        </p:txBody>
      </p:sp>
    </p:spTree>
    <p:extLst>
      <p:ext uri="{BB962C8B-B14F-4D97-AF65-F5344CB8AC3E}">
        <p14:creationId xmlns:p14="http://schemas.microsoft.com/office/powerpoint/2010/main" val="195891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fade">
                                      <p:cBhvr>
                                        <p:cTn id="10" dur="1000"/>
                                        <p:tgtEl>
                                          <p:spTgt spid="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Effect transition="in" filter="fade">
                                      <p:cBhvr>
                                        <p:cTn id="13" dur="1000"/>
                                        <p:tgtEl>
                                          <p:spTgt spid="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
                                            <p:txEl>
                                              <p:pRg st="3" end="3"/>
                                            </p:txEl>
                                          </p:spTgt>
                                        </p:tgtEl>
                                        <p:attrNameLst>
                                          <p:attrName>style.visibility</p:attrName>
                                        </p:attrNameLst>
                                      </p:cBhvr>
                                      <p:to>
                                        <p:strVal val="visible"/>
                                      </p:to>
                                    </p:set>
                                    <p:animEffect transition="in" filter="fade">
                                      <p:cBhvr>
                                        <p:cTn id="16" dur="1000"/>
                                        <p:tgtEl>
                                          <p:spTgt spid="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animEffect transition="in" filter="fade">
                                      <p:cBhvr>
                                        <p:cTn id="19" dur="1000"/>
                                        <p:tgtEl>
                                          <p:spTgt spid="7">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xEl>
                                              <p:pRg st="6" end="6"/>
                                            </p:txEl>
                                          </p:spTgt>
                                        </p:tgtEl>
                                        <p:attrNameLst>
                                          <p:attrName>style.visibility</p:attrName>
                                        </p:attrNameLst>
                                      </p:cBhvr>
                                      <p:to>
                                        <p:strVal val="visible"/>
                                      </p:to>
                                    </p:set>
                                    <p:animEffect transition="in" filter="fade">
                                      <p:cBhvr>
                                        <p:cTn id="24" dur="1000"/>
                                        <p:tgtEl>
                                          <p:spTgt spid="7">
                                            <p:txEl>
                                              <p:pRg st="6" end="6"/>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animEffect transition="in" filter="fade">
                                      <p:cBhvr>
                                        <p:cTn id="27" dur="1000"/>
                                        <p:tgtEl>
                                          <p:spTgt spid="7">
                                            <p:txEl>
                                              <p:pRg st="7" end="7"/>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xEl>
                                              <p:pRg st="8" end="8"/>
                                            </p:txEl>
                                          </p:spTgt>
                                        </p:tgtEl>
                                        <p:attrNameLst>
                                          <p:attrName>style.visibility</p:attrName>
                                        </p:attrNameLst>
                                      </p:cBhvr>
                                      <p:to>
                                        <p:strVal val="visible"/>
                                      </p:to>
                                    </p:set>
                                    <p:animEffect transition="in" filter="fade">
                                      <p:cBhvr>
                                        <p:cTn id="30" dur="1000"/>
                                        <p:tgtEl>
                                          <p:spTgt spid="7">
                                            <p:txEl>
                                              <p:pRg st="8" end="8"/>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
                                            <p:txEl>
                                              <p:pRg st="9" end="9"/>
                                            </p:txEl>
                                          </p:spTgt>
                                        </p:tgtEl>
                                        <p:attrNameLst>
                                          <p:attrName>style.visibility</p:attrName>
                                        </p:attrNameLst>
                                      </p:cBhvr>
                                      <p:to>
                                        <p:strVal val="visible"/>
                                      </p:to>
                                    </p:set>
                                    <p:animEffect transition="in" filter="fade">
                                      <p:cBhvr>
                                        <p:cTn id="33" dur="1000"/>
                                        <p:tgtEl>
                                          <p:spTgt spid="7">
                                            <p:txEl>
                                              <p:pRg st="9" end="9"/>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7">
                                            <p:txEl>
                                              <p:pRg st="11" end="11"/>
                                            </p:txEl>
                                          </p:spTgt>
                                        </p:tgtEl>
                                        <p:attrNameLst>
                                          <p:attrName>style.visibility</p:attrName>
                                        </p:attrNameLst>
                                      </p:cBhvr>
                                      <p:to>
                                        <p:strVal val="visible"/>
                                      </p:to>
                                    </p:set>
                                    <p:animEffect transition="in" filter="fade">
                                      <p:cBhvr>
                                        <p:cTn id="38" dur="1000"/>
                                        <p:tgtEl>
                                          <p:spTgt spid="7">
                                            <p:txEl>
                                              <p:pRg st="11" end="1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7">
                                            <p:txEl>
                                              <p:pRg st="12" end="12"/>
                                            </p:txEl>
                                          </p:spTgt>
                                        </p:tgtEl>
                                        <p:attrNameLst>
                                          <p:attrName>style.visibility</p:attrName>
                                        </p:attrNameLst>
                                      </p:cBhvr>
                                      <p:to>
                                        <p:strVal val="visible"/>
                                      </p:to>
                                    </p:set>
                                    <p:animEffect transition="in" filter="fade">
                                      <p:cBhvr>
                                        <p:cTn id="41" dur="1000"/>
                                        <p:tgtEl>
                                          <p:spTgt spid="7">
                                            <p:txEl>
                                              <p:pRg st="12" end="12"/>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7">
                                            <p:txEl>
                                              <p:pRg st="13" end="13"/>
                                            </p:txEl>
                                          </p:spTgt>
                                        </p:tgtEl>
                                        <p:attrNameLst>
                                          <p:attrName>style.visibility</p:attrName>
                                        </p:attrNameLst>
                                      </p:cBhvr>
                                      <p:to>
                                        <p:strVal val="visible"/>
                                      </p:to>
                                    </p:set>
                                    <p:animEffect transition="in" filter="fade">
                                      <p:cBhvr>
                                        <p:cTn id="44" dur="1000"/>
                                        <p:tgtEl>
                                          <p:spTgt spid="7">
                                            <p:txEl>
                                              <p:pRg st="13" end="13"/>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8">
                                            <p:txEl>
                                              <p:pRg st="0" end="0"/>
                                            </p:txEl>
                                          </p:spTgt>
                                        </p:tgtEl>
                                        <p:attrNameLst>
                                          <p:attrName>style.visibility</p:attrName>
                                        </p:attrNameLst>
                                      </p:cBhvr>
                                      <p:to>
                                        <p:strVal val="visible"/>
                                      </p:to>
                                    </p:set>
                                    <p:animEffect transition="in" filter="fade">
                                      <p:cBhvr>
                                        <p:cTn id="49" dur="1000"/>
                                        <p:tgtEl>
                                          <p:spTgt spid="8">
                                            <p:txEl>
                                              <p:pRg st="0" end="0"/>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8">
                                            <p:txEl>
                                              <p:pRg st="1" end="1"/>
                                            </p:txEl>
                                          </p:spTgt>
                                        </p:tgtEl>
                                        <p:attrNameLst>
                                          <p:attrName>style.visibility</p:attrName>
                                        </p:attrNameLst>
                                      </p:cBhvr>
                                      <p:to>
                                        <p:strVal val="visible"/>
                                      </p:to>
                                    </p:set>
                                    <p:animEffect transition="in" filter="fade">
                                      <p:cBhvr>
                                        <p:cTn id="52" dur="1000"/>
                                        <p:tgtEl>
                                          <p:spTgt spid="8">
                                            <p:txEl>
                                              <p:pRg st="1" end="1"/>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8">
                                            <p:txEl>
                                              <p:pRg st="2" end="2"/>
                                            </p:txEl>
                                          </p:spTgt>
                                        </p:tgtEl>
                                        <p:attrNameLst>
                                          <p:attrName>style.visibility</p:attrName>
                                        </p:attrNameLst>
                                      </p:cBhvr>
                                      <p:to>
                                        <p:strVal val="visible"/>
                                      </p:to>
                                    </p:set>
                                    <p:animEffect transition="in" filter="fade">
                                      <p:cBhvr>
                                        <p:cTn id="55" dur="1000"/>
                                        <p:tgtEl>
                                          <p:spTgt spid="8">
                                            <p:txEl>
                                              <p:pRg st="2" end="2"/>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8">
                                            <p:txEl>
                                              <p:pRg st="3" end="3"/>
                                            </p:txEl>
                                          </p:spTgt>
                                        </p:tgtEl>
                                        <p:attrNameLst>
                                          <p:attrName>style.visibility</p:attrName>
                                        </p:attrNameLst>
                                      </p:cBhvr>
                                      <p:to>
                                        <p:strVal val="visible"/>
                                      </p:to>
                                    </p:set>
                                    <p:animEffect transition="in" filter="fade">
                                      <p:cBhvr>
                                        <p:cTn id="58" dur="1000"/>
                                        <p:tgtEl>
                                          <p:spTgt spid="8">
                                            <p:txEl>
                                              <p:pRg st="3" end="3"/>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8">
                                            <p:txEl>
                                              <p:pRg st="4" end="4"/>
                                            </p:txEl>
                                          </p:spTgt>
                                        </p:tgtEl>
                                        <p:attrNameLst>
                                          <p:attrName>style.visibility</p:attrName>
                                        </p:attrNameLst>
                                      </p:cBhvr>
                                      <p:to>
                                        <p:strVal val="visible"/>
                                      </p:to>
                                    </p:set>
                                    <p:animEffect transition="in" filter="fade">
                                      <p:cBhvr>
                                        <p:cTn id="61" dur="1000"/>
                                        <p:tgtEl>
                                          <p:spTgt spid="8">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8">
                                            <p:txEl>
                                              <p:pRg st="6" end="6"/>
                                            </p:txEl>
                                          </p:spTgt>
                                        </p:tgtEl>
                                        <p:attrNameLst>
                                          <p:attrName>style.visibility</p:attrName>
                                        </p:attrNameLst>
                                      </p:cBhvr>
                                      <p:to>
                                        <p:strVal val="visible"/>
                                      </p:to>
                                    </p:set>
                                    <p:animEffect transition="in" filter="fade">
                                      <p:cBhvr>
                                        <p:cTn id="66" dur="1000"/>
                                        <p:tgtEl>
                                          <p:spTgt spid="8">
                                            <p:txEl>
                                              <p:pRg st="6" end="6"/>
                                            </p:txEl>
                                          </p:spTgt>
                                        </p:tgtEl>
                                      </p:cBhvr>
                                    </p:animEffect>
                                  </p:childTnLst>
                                </p:cTn>
                              </p:par>
                              <p:par>
                                <p:cTn id="67" presetID="10" presetClass="entr" presetSubtype="0" fill="hold" nodeType="withEffect">
                                  <p:stCondLst>
                                    <p:cond delay="0"/>
                                  </p:stCondLst>
                                  <p:childTnLst>
                                    <p:set>
                                      <p:cBhvr>
                                        <p:cTn id="68" dur="1" fill="hold">
                                          <p:stCondLst>
                                            <p:cond delay="0"/>
                                          </p:stCondLst>
                                        </p:cTn>
                                        <p:tgtEl>
                                          <p:spTgt spid="8">
                                            <p:txEl>
                                              <p:pRg st="7" end="7"/>
                                            </p:txEl>
                                          </p:spTgt>
                                        </p:tgtEl>
                                        <p:attrNameLst>
                                          <p:attrName>style.visibility</p:attrName>
                                        </p:attrNameLst>
                                      </p:cBhvr>
                                      <p:to>
                                        <p:strVal val="visible"/>
                                      </p:to>
                                    </p:set>
                                    <p:animEffect transition="in" filter="fade">
                                      <p:cBhvr>
                                        <p:cTn id="69" dur="1000"/>
                                        <p:tgtEl>
                                          <p:spTgt spid="8">
                                            <p:txEl>
                                              <p:pRg st="7" end="7"/>
                                            </p:txEl>
                                          </p:spTgt>
                                        </p:tgtEl>
                                      </p:cBhvr>
                                    </p:animEffect>
                                  </p:childTnLst>
                                </p:cTn>
                              </p:par>
                              <p:par>
                                <p:cTn id="70" presetID="10" presetClass="entr" presetSubtype="0" fill="hold" nodeType="withEffect">
                                  <p:stCondLst>
                                    <p:cond delay="0"/>
                                  </p:stCondLst>
                                  <p:childTnLst>
                                    <p:set>
                                      <p:cBhvr>
                                        <p:cTn id="71" dur="1" fill="hold">
                                          <p:stCondLst>
                                            <p:cond delay="0"/>
                                          </p:stCondLst>
                                        </p:cTn>
                                        <p:tgtEl>
                                          <p:spTgt spid="8">
                                            <p:txEl>
                                              <p:pRg st="8" end="8"/>
                                            </p:txEl>
                                          </p:spTgt>
                                        </p:tgtEl>
                                        <p:attrNameLst>
                                          <p:attrName>style.visibility</p:attrName>
                                        </p:attrNameLst>
                                      </p:cBhvr>
                                      <p:to>
                                        <p:strVal val="visible"/>
                                      </p:to>
                                    </p:set>
                                    <p:animEffect transition="in" filter="fade">
                                      <p:cBhvr>
                                        <p:cTn id="72" dur="1000"/>
                                        <p:tgtEl>
                                          <p:spTgt spid="8">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8">
                                            <p:txEl>
                                              <p:pRg st="10" end="10"/>
                                            </p:txEl>
                                          </p:spTgt>
                                        </p:tgtEl>
                                        <p:attrNameLst>
                                          <p:attrName>style.visibility</p:attrName>
                                        </p:attrNameLst>
                                      </p:cBhvr>
                                      <p:to>
                                        <p:strVal val="visible"/>
                                      </p:to>
                                    </p:set>
                                    <p:animEffect transition="in" filter="fade">
                                      <p:cBhvr>
                                        <p:cTn id="77" dur="1000"/>
                                        <p:tgtEl>
                                          <p:spTgt spid="8">
                                            <p:txEl>
                                              <p:pRg st="10" end="10"/>
                                            </p:txEl>
                                          </p:spTgt>
                                        </p:tgtEl>
                                      </p:cBhvr>
                                    </p:animEffect>
                                  </p:childTnLst>
                                </p:cTn>
                              </p:par>
                              <p:par>
                                <p:cTn id="78" presetID="10" presetClass="entr" presetSubtype="0" fill="hold" nodeType="withEffect">
                                  <p:stCondLst>
                                    <p:cond delay="0"/>
                                  </p:stCondLst>
                                  <p:childTnLst>
                                    <p:set>
                                      <p:cBhvr>
                                        <p:cTn id="79" dur="1" fill="hold">
                                          <p:stCondLst>
                                            <p:cond delay="0"/>
                                          </p:stCondLst>
                                        </p:cTn>
                                        <p:tgtEl>
                                          <p:spTgt spid="8">
                                            <p:txEl>
                                              <p:pRg st="11" end="11"/>
                                            </p:txEl>
                                          </p:spTgt>
                                        </p:tgtEl>
                                        <p:attrNameLst>
                                          <p:attrName>style.visibility</p:attrName>
                                        </p:attrNameLst>
                                      </p:cBhvr>
                                      <p:to>
                                        <p:strVal val="visible"/>
                                      </p:to>
                                    </p:set>
                                    <p:animEffect transition="in" filter="fade">
                                      <p:cBhvr>
                                        <p:cTn id="80" dur="1000"/>
                                        <p:tgtEl>
                                          <p:spTgt spid="8">
                                            <p:txEl>
                                              <p:pRg st="11" end="11"/>
                                            </p:txEl>
                                          </p:spTgt>
                                        </p:tgtEl>
                                      </p:cBhvr>
                                    </p:animEffect>
                                  </p:childTnLst>
                                </p:cTn>
                              </p:par>
                              <p:par>
                                <p:cTn id="81" presetID="10" presetClass="entr" presetSubtype="0" fill="hold" nodeType="withEffect">
                                  <p:stCondLst>
                                    <p:cond delay="0"/>
                                  </p:stCondLst>
                                  <p:childTnLst>
                                    <p:set>
                                      <p:cBhvr>
                                        <p:cTn id="82" dur="1" fill="hold">
                                          <p:stCondLst>
                                            <p:cond delay="0"/>
                                          </p:stCondLst>
                                        </p:cTn>
                                        <p:tgtEl>
                                          <p:spTgt spid="8">
                                            <p:txEl>
                                              <p:pRg st="12" end="12"/>
                                            </p:txEl>
                                          </p:spTgt>
                                        </p:tgtEl>
                                        <p:attrNameLst>
                                          <p:attrName>style.visibility</p:attrName>
                                        </p:attrNameLst>
                                      </p:cBhvr>
                                      <p:to>
                                        <p:strVal val="visible"/>
                                      </p:to>
                                    </p:set>
                                    <p:animEffect transition="in" filter="fade">
                                      <p:cBhvr>
                                        <p:cTn id="83" dur="10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936104"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7</a:t>
            </a:fld>
            <a:r>
              <a:rPr lang="en-US" dirty="0"/>
              <a:t>&gt;</a:t>
            </a:r>
          </a:p>
        </p:txBody>
      </p:sp>
      <p:sp>
        <p:nvSpPr>
          <p:cNvPr id="3" name="TextBox 2"/>
          <p:cNvSpPr txBox="1"/>
          <p:nvPr/>
        </p:nvSpPr>
        <p:spPr>
          <a:xfrm>
            <a:off x="467544" y="241484"/>
            <a:ext cx="2232248"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售罄率：</a:t>
            </a:r>
          </a:p>
        </p:txBody>
      </p:sp>
      <p:sp>
        <p:nvSpPr>
          <p:cNvPr id="8" name="内容占位符 2"/>
          <p:cNvSpPr>
            <a:spLocks noGrp="1"/>
          </p:cNvSpPr>
          <p:nvPr>
            <p:ph idx="1"/>
          </p:nvPr>
        </p:nvSpPr>
        <p:spPr>
          <a:xfrm>
            <a:off x="251520" y="908720"/>
            <a:ext cx="8424936" cy="3312368"/>
          </a:xfrm>
          <a:effectLst/>
        </p:spPr>
        <p:txBody>
          <a:bodyPr>
            <a:normAutofit/>
          </a:bodyPr>
          <a:lstStyle/>
          <a:p>
            <a:pPr>
              <a:lnSpc>
                <a:spcPct val="150000"/>
              </a:lnSpc>
            </a:pP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售罄率</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销售数量</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进货数量</a:t>
            </a:r>
            <a:endPar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18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反映商品在一定时间内的销售速度。</a:t>
            </a:r>
            <a:endParaRPr lang="en-US" altLang="zh-CN" sz="18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新品上市</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30</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天：售罄率</a:t>
            </a:r>
            <a:r>
              <a:rPr 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30</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35%</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（新品上市阶段）</a:t>
            </a:r>
          </a:p>
          <a:p>
            <a:pPr>
              <a:lnSpc>
                <a:spcPct val="150000"/>
              </a:lnSpc>
            </a:pP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新品上市</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60</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天：售罄率</a:t>
            </a:r>
            <a:r>
              <a:rPr 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50</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55%</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（利润高峰阶段）</a:t>
            </a:r>
          </a:p>
          <a:p>
            <a:pPr>
              <a:lnSpc>
                <a:spcPct val="150000"/>
              </a:lnSpc>
            </a:pP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新品上市</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90</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天：售罄率</a:t>
            </a:r>
            <a:r>
              <a:rPr 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65</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75%</a:t>
            </a:r>
            <a:r>
              <a:rPr lang="zh-CN" altLang="en-US"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（货品退市阶段）</a:t>
            </a:r>
            <a:endParaRPr lang="en-US" altLang="zh-CN" sz="18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
        <p:nvSpPr>
          <p:cNvPr id="6" name="矩形 4"/>
          <p:cNvSpPr>
            <a:spLocks noChangeArrowheads="1"/>
          </p:cNvSpPr>
          <p:nvPr/>
        </p:nvSpPr>
        <p:spPr bwMode="auto">
          <a:xfrm>
            <a:off x="323528" y="4359295"/>
            <a:ext cx="8136904" cy="14407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70000"/>
              </a:lnSpc>
            </a:pPr>
            <a:r>
              <a:rPr lang="zh-CN" altLang="en-US" b="1" dirty="0">
                <a:solidFill>
                  <a:srgbClr val="000066"/>
                </a:solidFill>
                <a:latin typeface="仿宋_GB2312" pitchFamily="49" charset="-122"/>
                <a:ea typeface="仿宋_GB2312" pitchFamily="49" charset="-122"/>
              </a:rPr>
              <a:t> </a:t>
            </a:r>
            <a:r>
              <a:rPr lang="zh-CN" altLang="en-US"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售罄率与销售利润（季度）：</a:t>
            </a:r>
            <a:endPar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70000"/>
              </a:lnSpc>
            </a:pPr>
            <a:r>
              <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  </a:t>
            </a:r>
            <a:r>
              <a:rPr lang="zh-CN" altLang="en-US"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售罄率</a:t>
            </a:r>
            <a:r>
              <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&lt;65%</a:t>
            </a:r>
            <a:r>
              <a:rPr lang="zh-CN" altLang="en-US"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，则库存大量积压；大量打折导致亏损。</a:t>
            </a:r>
          </a:p>
          <a:p>
            <a:pPr>
              <a:lnSpc>
                <a:spcPct val="170000"/>
              </a:lnSpc>
            </a:pPr>
            <a:r>
              <a:rPr lang="zh-CN" altLang="en-US"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  售罄率</a:t>
            </a:r>
            <a:r>
              <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&gt;85%</a:t>
            </a:r>
            <a:r>
              <a:rPr lang="zh-CN" altLang="en-US"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，则说明进货量太少，出现脱销，销售利润不能最大化。</a:t>
            </a:r>
          </a:p>
        </p:txBody>
      </p:sp>
    </p:spTree>
    <p:extLst>
      <p:ext uri="{BB962C8B-B14F-4D97-AF65-F5344CB8AC3E}">
        <p14:creationId xmlns:p14="http://schemas.microsoft.com/office/powerpoint/2010/main" val="195891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10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1000"/>
                                        <p:tgtEl>
                                          <p:spTgt spid="8">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xEl>
                                              <p:pRg st="4" end="4"/>
                                            </p:txEl>
                                          </p:spTgt>
                                        </p:tgtEl>
                                        <p:attrNameLst>
                                          <p:attrName>style.visibility</p:attrName>
                                        </p:attrNameLst>
                                      </p:cBhvr>
                                      <p:to>
                                        <p:strVal val="visible"/>
                                      </p:to>
                                    </p:set>
                                    <p:animEffect transition="in" filter="fade">
                                      <p:cBhvr>
                                        <p:cTn id="20" dur="1000"/>
                                        <p:tgtEl>
                                          <p:spTgt spid="8">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xEl>
                                              <p:pRg st="5" end="5"/>
                                            </p:txEl>
                                          </p:spTgt>
                                        </p:tgtEl>
                                        <p:attrNameLst>
                                          <p:attrName>style.visibility</p:attrName>
                                        </p:attrNameLst>
                                      </p:cBhvr>
                                      <p:to>
                                        <p:strVal val="visible"/>
                                      </p:to>
                                    </p:set>
                                    <p:animEffect transition="in" filter="fade">
                                      <p:cBhvr>
                                        <p:cTn id="23" dur="1000"/>
                                        <p:tgtEl>
                                          <p:spTgt spid="8">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fade">
                                      <p:cBhvr>
                                        <p:cTn id="28" dur="1000"/>
                                        <p:tgtEl>
                                          <p:spTgt spid="6">
                                            <p:txEl>
                                              <p:pRg st="0" end="0"/>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6">
                                            <p:txEl>
                                              <p:pRg st="1" end="1"/>
                                            </p:txEl>
                                          </p:spTgt>
                                        </p:tgtEl>
                                        <p:attrNameLst>
                                          <p:attrName>style.visibility</p:attrName>
                                        </p:attrNameLst>
                                      </p:cBhvr>
                                      <p:to>
                                        <p:strVal val="visible"/>
                                      </p:to>
                                    </p:set>
                                    <p:animEffect transition="in" filter="fade">
                                      <p:cBhvr>
                                        <p:cTn id="31" dur="1000"/>
                                        <p:tgtEl>
                                          <p:spTgt spid="6">
                                            <p:txEl>
                                              <p:p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6">
                                            <p:txEl>
                                              <p:pRg st="2" end="2"/>
                                            </p:txEl>
                                          </p:spTgt>
                                        </p:tgtEl>
                                        <p:attrNameLst>
                                          <p:attrName>style.visibility</p:attrName>
                                        </p:attrNameLst>
                                      </p:cBhvr>
                                      <p:to>
                                        <p:strVal val="visible"/>
                                      </p:to>
                                    </p:set>
                                    <p:animEffect transition="in" filter="fade">
                                      <p:cBhvr>
                                        <p:cTn id="34" dur="1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936104"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8</a:t>
            </a:fld>
            <a:r>
              <a:rPr lang="en-US" dirty="0"/>
              <a:t>&gt;</a:t>
            </a:r>
          </a:p>
        </p:txBody>
      </p:sp>
      <p:sp>
        <p:nvSpPr>
          <p:cNvPr id="3" name="TextBox 2"/>
          <p:cNvSpPr txBox="1"/>
          <p:nvPr/>
        </p:nvSpPr>
        <p:spPr>
          <a:xfrm>
            <a:off x="467544" y="241484"/>
            <a:ext cx="6264696"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2" charset="-122"/>
                <a:ea typeface="黑体" pitchFamily="2" charset="-122"/>
              </a:rPr>
              <a:t>售罄率基本判定标杆与</a:t>
            </a:r>
            <a:r>
              <a:rPr lang="en-US" altLang="zh-CN" sz="2800" b="1" dirty="0">
                <a:solidFill>
                  <a:schemeClr val="tx1">
                    <a:lumMod val="75000"/>
                    <a:lumOff val="25000"/>
                  </a:schemeClr>
                </a:solidFill>
                <a:latin typeface="黑体" pitchFamily="2" charset="-122"/>
                <a:ea typeface="黑体" pitchFamily="2" charset="-122"/>
              </a:rPr>
              <a:t>ABC</a:t>
            </a:r>
            <a:r>
              <a:rPr lang="zh-CN" altLang="en-US" sz="2800" b="1" dirty="0">
                <a:solidFill>
                  <a:schemeClr val="tx1">
                    <a:lumMod val="75000"/>
                    <a:lumOff val="25000"/>
                  </a:schemeClr>
                </a:solidFill>
                <a:latin typeface="黑体" pitchFamily="2" charset="-122"/>
                <a:ea typeface="黑体" pitchFamily="2" charset="-122"/>
              </a:rPr>
              <a:t>分类管理法</a:t>
            </a:r>
            <a:r>
              <a:rPr lang="zh-CN" altLang="en-US" sz="2800" b="1" dirty="0">
                <a:solidFill>
                  <a:schemeClr val="tx1">
                    <a:lumMod val="75000"/>
                    <a:lumOff val="25000"/>
                  </a:schemeClr>
                </a:solidFill>
                <a:latin typeface="黑体" pitchFamily="49" charset="-122"/>
                <a:ea typeface="黑体" pitchFamily="49" charset="-122"/>
                <a:cs typeface="Meiryo UI" pitchFamily="34" charset="-128"/>
              </a:rPr>
              <a:t>：</a:t>
            </a:r>
            <a:endParaRPr lang="zh-CN" altLang="en-US" sz="2800" b="1" dirty="0">
              <a:solidFill>
                <a:schemeClr val="tx1">
                  <a:lumMod val="75000"/>
                  <a:lumOff val="25000"/>
                </a:schemeClr>
              </a:solidFill>
              <a:latin typeface="黑体" pitchFamily="2" charset="-122"/>
              <a:ea typeface="黑体" pitchFamily="2" charset="-122"/>
            </a:endParaRPr>
          </a:p>
        </p:txBody>
      </p:sp>
      <p:grpSp>
        <p:nvGrpSpPr>
          <p:cNvPr id="7" name="Group 4"/>
          <p:cNvGrpSpPr>
            <a:grpSpLocks/>
          </p:cNvGrpSpPr>
          <p:nvPr/>
        </p:nvGrpSpPr>
        <p:grpSpPr bwMode="auto">
          <a:xfrm>
            <a:off x="611188" y="1728788"/>
            <a:ext cx="2514600" cy="3922628"/>
            <a:chOff x="384" y="1056"/>
            <a:chExt cx="1584" cy="2557"/>
          </a:xfrm>
        </p:grpSpPr>
        <p:sp>
          <p:nvSpPr>
            <p:cNvPr id="9" name="Rectangle 5"/>
            <p:cNvSpPr>
              <a:spLocks noChangeArrowheads="1"/>
            </p:cNvSpPr>
            <p:nvPr/>
          </p:nvSpPr>
          <p:spPr bwMode="auto">
            <a:xfrm>
              <a:off x="384" y="1056"/>
              <a:ext cx="1584" cy="2496"/>
            </a:xfrm>
            <a:prstGeom prst="rect">
              <a:avLst/>
            </a:prstGeom>
            <a:solidFill>
              <a:srgbClr val="85DFFF"/>
            </a:solidFill>
            <a:ln w="9525">
              <a:solidFill>
                <a:schemeClr val="tx1"/>
              </a:solidFill>
              <a:miter lim="800000"/>
              <a:headEnd/>
              <a:tailEnd/>
            </a:ln>
          </p:spPr>
          <p:txBody>
            <a:bodyPr wrap="none" anchor="ctr"/>
            <a:lstStyle/>
            <a:p>
              <a:pPr algn="ctr"/>
              <a:endParaRPr lang="zh-CN" altLang="en-US">
                <a:latin typeface="Arial" charset="0"/>
                <a:ea typeface="华文彩云" pitchFamily="2" charset="-122"/>
              </a:endParaRPr>
            </a:p>
          </p:txBody>
        </p:sp>
        <p:sp>
          <p:nvSpPr>
            <p:cNvPr id="10" name="Text Box 6"/>
            <p:cNvSpPr txBox="1">
              <a:spLocks noChangeArrowheads="1"/>
            </p:cNvSpPr>
            <p:nvPr/>
          </p:nvSpPr>
          <p:spPr bwMode="auto">
            <a:xfrm>
              <a:off x="384" y="1085"/>
              <a:ext cx="1488" cy="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400" b="1" dirty="0">
                  <a:latin typeface="黑体" pitchFamily="2" charset="-122"/>
                  <a:ea typeface="黑体" pitchFamily="2" charset="-122"/>
                </a:rPr>
                <a:t>    </a:t>
              </a:r>
              <a:r>
                <a:rPr lang="zh-CN" altLang="en-US" sz="2400" b="1" dirty="0">
                  <a:solidFill>
                    <a:srgbClr val="FF0000"/>
                  </a:solidFill>
                  <a:latin typeface="华文细黑" pitchFamily="2" charset="-122"/>
                  <a:ea typeface="华文细黑" pitchFamily="2" charset="-122"/>
                </a:rPr>
                <a:t>滞销品</a:t>
              </a:r>
            </a:p>
            <a:p>
              <a:pPr eaLnBrk="1" hangingPunct="1">
                <a:lnSpc>
                  <a:spcPct val="150000"/>
                </a:lnSpc>
              </a:pPr>
              <a:r>
                <a:rPr lang="zh-CN" altLang="en-US" sz="2400" b="1" dirty="0">
                  <a:latin typeface="黑体" pitchFamily="2" charset="-122"/>
                  <a:ea typeface="黑体" pitchFamily="2" charset="-122"/>
                </a:rPr>
                <a:t> </a:t>
              </a:r>
              <a:r>
                <a:rPr lang="zh-CN" altLang="en-US" sz="2000" b="1" dirty="0">
                  <a:solidFill>
                    <a:schemeClr val="tx1">
                      <a:lumMod val="75000"/>
                      <a:lumOff val="25000"/>
                    </a:schemeClr>
                  </a:solidFill>
                  <a:latin typeface="华文细黑" pitchFamily="2" charset="-122"/>
                  <a:ea typeface="华文细黑" pitchFamily="2" charset="-122"/>
                </a:rPr>
                <a:t>售罄率</a:t>
              </a:r>
              <a:r>
                <a:rPr lang="en-US" altLang="zh-CN" sz="2000" b="1" dirty="0">
                  <a:solidFill>
                    <a:schemeClr val="tx1">
                      <a:lumMod val="75000"/>
                      <a:lumOff val="25000"/>
                    </a:schemeClr>
                  </a:solidFill>
                  <a:latin typeface="华文细黑" pitchFamily="2" charset="-122"/>
                  <a:ea typeface="华文细黑" pitchFamily="2" charset="-122"/>
                </a:rPr>
                <a:t>25%-50%</a:t>
              </a:r>
            </a:p>
            <a:p>
              <a:pPr eaLnBrk="1" hangingPunct="1">
                <a:lnSpc>
                  <a:spcPct val="150000"/>
                </a:lnSpc>
                <a:buFontTx/>
                <a:buBlip>
                  <a:blip r:embed="rId3"/>
                </a:buBlip>
              </a:pPr>
              <a:r>
                <a:rPr lang="en-US" altLang="zh-CN" sz="2400" dirty="0">
                  <a:solidFill>
                    <a:srgbClr val="A50021"/>
                  </a:solidFill>
                  <a:latin typeface="华文细黑" pitchFamily="2" charset="-122"/>
                  <a:ea typeface="华文细黑" pitchFamily="2" charset="-122"/>
                </a:rPr>
                <a:t> </a:t>
              </a:r>
              <a:r>
                <a:rPr lang="zh-CN" altLang="en-US" sz="2000" b="1" dirty="0">
                  <a:solidFill>
                    <a:schemeClr val="tx1">
                      <a:lumMod val="75000"/>
                      <a:lumOff val="25000"/>
                    </a:schemeClr>
                  </a:solidFill>
                  <a:latin typeface="华文细黑" pitchFamily="2" charset="-122"/>
                  <a:ea typeface="华文细黑" pitchFamily="2" charset="-122"/>
                </a:rPr>
                <a:t>季节因素</a:t>
              </a: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销售天数</a:t>
              </a: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适时促销</a:t>
              </a: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陈列调整</a:t>
              </a: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组合配搭</a:t>
              </a: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特殊激励</a:t>
              </a:r>
            </a:p>
          </p:txBody>
        </p:sp>
      </p:grpSp>
      <p:grpSp>
        <p:nvGrpSpPr>
          <p:cNvPr id="11" name="Group 7"/>
          <p:cNvGrpSpPr>
            <a:grpSpLocks/>
          </p:cNvGrpSpPr>
          <p:nvPr/>
        </p:nvGrpSpPr>
        <p:grpSpPr bwMode="auto">
          <a:xfrm>
            <a:off x="3497560" y="1700213"/>
            <a:ext cx="2514600" cy="3849687"/>
            <a:chOff x="2130" y="1056"/>
            <a:chExt cx="1584" cy="2496"/>
          </a:xfrm>
        </p:grpSpPr>
        <p:sp>
          <p:nvSpPr>
            <p:cNvPr id="12" name="Rectangle 8"/>
            <p:cNvSpPr>
              <a:spLocks noChangeArrowheads="1"/>
            </p:cNvSpPr>
            <p:nvPr/>
          </p:nvSpPr>
          <p:spPr bwMode="auto">
            <a:xfrm>
              <a:off x="2130" y="1056"/>
              <a:ext cx="1584" cy="2496"/>
            </a:xfrm>
            <a:prstGeom prst="rect">
              <a:avLst/>
            </a:prstGeom>
            <a:solidFill>
              <a:srgbClr val="CCFFCC"/>
            </a:solidFill>
            <a:ln w="9525">
              <a:solidFill>
                <a:schemeClr val="tx1"/>
              </a:solidFill>
              <a:miter lim="800000"/>
              <a:headEnd/>
              <a:tailEnd/>
            </a:ln>
          </p:spPr>
          <p:txBody>
            <a:bodyPr wrap="none" anchor="ctr"/>
            <a:lstStyle/>
            <a:p>
              <a:endParaRPr lang="zh-CN" altLang="en-US"/>
            </a:p>
          </p:txBody>
        </p:sp>
        <p:sp>
          <p:nvSpPr>
            <p:cNvPr id="13" name="Text Box 9"/>
            <p:cNvSpPr txBox="1">
              <a:spLocks noChangeArrowheads="1"/>
            </p:cNvSpPr>
            <p:nvPr/>
          </p:nvSpPr>
          <p:spPr bwMode="auto">
            <a:xfrm>
              <a:off x="2208" y="1103"/>
              <a:ext cx="1488" cy="206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400" b="1" dirty="0">
                  <a:latin typeface="黑体" pitchFamily="2" charset="-122"/>
                  <a:ea typeface="黑体" pitchFamily="2" charset="-122"/>
                </a:rPr>
                <a:t>    </a:t>
              </a:r>
              <a:r>
                <a:rPr lang="zh-CN" altLang="en-US" sz="2400" b="1" dirty="0">
                  <a:solidFill>
                    <a:srgbClr val="FF0000"/>
                  </a:solidFill>
                  <a:latin typeface="华文细黑" pitchFamily="2" charset="-122"/>
                  <a:ea typeface="华文细黑" pitchFamily="2" charset="-122"/>
                </a:rPr>
                <a:t>平销品</a:t>
              </a:r>
            </a:p>
            <a:p>
              <a:pPr eaLnBrk="1" hangingPunct="1">
                <a:lnSpc>
                  <a:spcPct val="150000"/>
                </a:lnSpc>
              </a:pPr>
              <a:r>
                <a:rPr lang="zh-CN" altLang="en-US" sz="2400" b="1" dirty="0">
                  <a:latin typeface="华文细黑" pitchFamily="2" charset="-122"/>
                  <a:ea typeface="华文细黑" pitchFamily="2" charset="-122"/>
                </a:rPr>
                <a:t> </a:t>
              </a:r>
              <a:r>
                <a:rPr lang="zh-CN" altLang="en-US" sz="2000" b="1" dirty="0">
                  <a:solidFill>
                    <a:schemeClr val="tx1">
                      <a:lumMod val="75000"/>
                      <a:lumOff val="25000"/>
                    </a:schemeClr>
                  </a:solidFill>
                  <a:latin typeface="华文细黑" pitchFamily="2" charset="-122"/>
                  <a:ea typeface="华文细黑" pitchFamily="2" charset="-122"/>
                </a:rPr>
                <a:t>售罄率</a:t>
              </a:r>
              <a:r>
                <a:rPr lang="en-US" altLang="zh-CN" sz="2000" b="1" dirty="0">
                  <a:solidFill>
                    <a:schemeClr val="tx1">
                      <a:lumMod val="75000"/>
                      <a:lumOff val="25000"/>
                    </a:schemeClr>
                  </a:solidFill>
                  <a:latin typeface="华文细黑" pitchFamily="2" charset="-122"/>
                  <a:ea typeface="华文细黑" pitchFamily="2" charset="-122"/>
                </a:rPr>
                <a:t>50-75%</a:t>
              </a:r>
            </a:p>
            <a:p>
              <a:pPr eaLnBrk="1" hangingPunct="1">
                <a:lnSpc>
                  <a:spcPct val="150000"/>
                </a:lnSpc>
              </a:pPr>
              <a:endParaRPr lang="en-US" altLang="zh-CN" b="1" dirty="0">
                <a:solidFill>
                  <a:srgbClr val="A50021"/>
                </a:solidFill>
                <a:latin typeface="华文细黑" pitchFamily="2" charset="-122"/>
                <a:ea typeface="华文细黑" pitchFamily="2" charset="-122"/>
              </a:endParaRPr>
            </a:p>
            <a:p>
              <a:pPr eaLnBrk="1" hangingPunct="1">
                <a:lnSpc>
                  <a:spcPct val="150000"/>
                </a:lnSpc>
                <a:buFontTx/>
                <a:buBlip>
                  <a:blip r:embed="rId3"/>
                </a:buBlip>
              </a:pPr>
              <a:r>
                <a:rPr lang="en-US" altLang="zh-CN" sz="2400" b="1" dirty="0">
                  <a:solidFill>
                    <a:srgbClr val="A50021"/>
                  </a:solidFill>
                  <a:latin typeface="华文细黑" pitchFamily="2" charset="-122"/>
                  <a:ea typeface="华文细黑" pitchFamily="2" charset="-122"/>
                </a:rPr>
                <a:t> </a:t>
              </a:r>
              <a:r>
                <a:rPr lang="zh-CN" altLang="en-US" sz="2000" b="1" dirty="0">
                  <a:solidFill>
                    <a:schemeClr val="tx1">
                      <a:lumMod val="75000"/>
                      <a:lumOff val="25000"/>
                    </a:schemeClr>
                  </a:solidFill>
                  <a:latin typeface="华文细黑" pitchFamily="2" charset="-122"/>
                  <a:ea typeface="华文细黑" pitchFamily="2" charset="-122"/>
                </a:rPr>
                <a:t>密切关注</a:t>
              </a: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销售周期</a:t>
              </a:r>
            </a:p>
            <a:p>
              <a:pPr eaLnBrk="1" hangingPunct="1"/>
              <a:endParaRPr lang="zh-CN" altLang="en-US" sz="2400" dirty="0">
                <a:latin typeface="黑体" pitchFamily="2" charset="-122"/>
                <a:ea typeface="黑体" pitchFamily="2" charset="-122"/>
              </a:endParaRPr>
            </a:p>
            <a:p>
              <a:pPr eaLnBrk="1" hangingPunct="1"/>
              <a:endParaRPr lang="zh-CN" altLang="en-US" sz="2400" b="1" dirty="0">
                <a:latin typeface="黑体" pitchFamily="2" charset="-122"/>
                <a:ea typeface="黑体" pitchFamily="2" charset="-122"/>
              </a:endParaRPr>
            </a:p>
          </p:txBody>
        </p:sp>
      </p:grpSp>
      <p:sp>
        <p:nvSpPr>
          <p:cNvPr id="14" name="Text Box 11"/>
          <p:cNvSpPr txBox="1">
            <a:spLocks noChangeArrowheads="1"/>
          </p:cNvSpPr>
          <p:nvPr/>
        </p:nvSpPr>
        <p:spPr bwMode="auto">
          <a:xfrm>
            <a:off x="1563826" y="5724525"/>
            <a:ext cx="63401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algn="ctr" eaLnBrk="1" hangingPunct="1"/>
            <a:r>
              <a:rPr lang="zh-CN" altLang="en-US" sz="1600" b="1" dirty="0">
                <a:solidFill>
                  <a:srgbClr val="FF0000"/>
                </a:solidFill>
                <a:latin typeface="Arial" charset="0"/>
                <a:ea typeface="华文细黑" pitchFamily="2" charset="-122"/>
              </a:rPr>
              <a:t>售罄率需与销售天数、销售折扣等综合判断，同时管控力度也有不同</a:t>
            </a:r>
            <a:endParaRPr lang="en-US" altLang="zh-CN" sz="1600" b="1" dirty="0">
              <a:solidFill>
                <a:srgbClr val="FF0000"/>
              </a:solidFill>
              <a:latin typeface="Arial" charset="0"/>
              <a:ea typeface="华文细黑" pitchFamily="2" charset="-122"/>
            </a:endParaRPr>
          </a:p>
        </p:txBody>
      </p:sp>
      <p:sp>
        <p:nvSpPr>
          <p:cNvPr id="15" name="Text Box 14"/>
          <p:cNvSpPr txBox="1">
            <a:spLocks noChangeArrowheads="1"/>
          </p:cNvSpPr>
          <p:nvPr/>
        </p:nvSpPr>
        <p:spPr bwMode="auto">
          <a:xfrm>
            <a:off x="6877050" y="1069975"/>
            <a:ext cx="1130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en-US" altLang="zh-CN" sz="2000" b="1" dirty="0">
                <a:effectLst>
                  <a:outerShdw blurRad="38100" dist="38100" dir="2700000" algn="tl">
                    <a:srgbClr val="000000">
                      <a:alpha val="43137"/>
                    </a:srgbClr>
                  </a:outerShdw>
                </a:effectLst>
                <a:latin typeface="Arial" charset="0"/>
                <a:ea typeface="华文细黑" pitchFamily="2" charset="-122"/>
              </a:rPr>
              <a:t>A</a:t>
            </a:r>
            <a:r>
              <a:rPr lang="zh-CN" altLang="en-US" sz="2000" b="1" dirty="0">
                <a:effectLst>
                  <a:outerShdw blurRad="38100" dist="38100" dir="2700000" algn="tl">
                    <a:srgbClr val="000000">
                      <a:alpha val="43137"/>
                    </a:srgbClr>
                  </a:outerShdw>
                </a:effectLst>
                <a:latin typeface="Arial" charset="0"/>
                <a:ea typeface="华文细黑" pitchFamily="2" charset="-122"/>
              </a:rPr>
              <a:t>类库存</a:t>
            </a:r>
          </a:p>
        </p:txBody>
      </p:sp>
      <p:sp>
        <p:nvSpPr>
          <p:cNvPr id="16" name="Text Box 15"/>
          <p:cNvSpPr txBox="1">
            <a:spLocks noChangeArrowheads="1"/>
          </p:cNvSpPr>
          <p:nvPr/>
        </p:nvSpPr>
        <p:spPr bwMode="auto">
          <a:xfrm>
            <a:off x="4214810" y="1069975"/>
            <a:ext cx="1130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en-US" altLang="zh-CN" sz="2000" b="1" dirty="0">
                <a:effectLst>
                  <a:outerShdw blurRad="38100" dist="38100" dir="2700000" algn="tl">
                    <a:srgbClr val="000000">
                      <a:alpha val="43137"/>
                    </a:srgbClr>
                  </a:outerShdw>
                </a:effectLst>
                <a:latin typeface="Arial" charset="0"/>
                <a:ea typeface="华文细黑" pitchFamily="2" charset="-122"/>
              </a:rPr>
              <a:t>B</a:t>
            </a:r>
            <a:r>
              <a:rPr lang="zh-CN" altLang="en-US" sz="2000" b="1" dirty="0">
                <a:effectLst>
                  <a:outerShdw blurRad="38100" dist="38100" dir="2700000" algn="tl">
                    <a:srgbClr val="000000">
                      <a:alpha val="43137"/>
                    </a:srgbClr>
                  </a:outerShdw>
                </a:effectLst>
                <a:latin typeface="Arial" charset="0"/>
                <a:ea typeface="华文细黑" pitchFamily="2" charset="-122"/>
              </a:rPr>
              <a:t>类库存</a:t>
            </a:r>
          </a:p>
        </p:txBody>
      </p:sp>
      <p:sp>
        <p:nvSpPr>
          <p:cNvPr id="17" name="Text Box 16"/>
          <p:cNvSpPr txBox="1">
            <a:spLocks noChangeArrowheads="1"/>
          </p:cNvSpPr>
          <p:nvPr/>
        </p:nvSpPr>
        <p:spPr bwMode="auto">
          <a:xfrm>
            <a:off x="1227122" y="1069975"/>
            <a:ext cx="11303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en-US" altLang="zh-CN" sz="2000" b="1" dirty="0">
                <a:effectLst>
                  <a:outerShdw blurRad="38100" dist="38100" dir="2700000" algn="tl">
                    <a:srgbClr val="000000">
                      <a:alpha val="43137"/>
                    </a:srgbClr>
                  </a:outerShdw>
                </a:effectLst>
                <a:latin typeface="Arial" charset="0"/>
                <a:ea typeface="华文细黑" pitchFamily="2" charset="-122"/>
              </a:rPr>
              <a:t>C</a:t>
            </a:r>
            <a:r>
              <a:rPr lang="zh-CN" altLang="en-US" sz="2000" b="1" dirty="0">
                <a:effectLst>
                  <a:outerShdw blurRad="38100" dist="38100" dir="2700000" algn="tl">
                    <a:srgbClr val="000000">
                      <a:alpha val="43137"/>
                    </a:srgbClr>
                  </a:outerShdw>
                </a:effectLst>
                <a:latin typeface="Arial" charset="0"/>
                <a:ea typeface="华文细黑" pitchFamily="2" charset="-122"/>
              </a:rPr>
              <a:t>类库存</a:t>
            </a:r>
          </a:p>
        </p:txBody>
      </p:sp>
      <p:grpSp>
        <p:nvGrpSpPr>
          <p:cNvPr id="4" name="组合 3"/>
          <p:cNvGrpSpPr/>
          <p:nvPr/>
        </p:nvGrpSpPr>
        <p:grpSpPr>
          <a:xfrm>
            <a:off x="6273800" y="1412776"/>
            <a:ext cx="2514600" cy="4145062"/>
            <a:chOff x="6273800" y="1412776"/>
            <a:chExt cx="2514600" cy="4145062"/>
          </a:xfrm>
        </p:grpSpPr>
        <p:sp>
          <p:nvSpPr>
            <p:cNvPr id="6" name="Rectangle 2"/>
            <p:cNvSpPr>
              <a:spLocks noChangeArrowheads="1"/>
            </p:cNvSpPr>
            <p:nvPr/>
          </p:nvSpPr>
          <p:spPr bwMode="auto">
            <a:xfrm>
              <a:off x="6273800" y="1698625"/>
              <a:ext cx="2514600" cy="3859213"/>
            </a:xfrm>
            <a:prstGeom prst="rect">
              <a:avLst/>
            </a:prstGeom>
            <a:solidFill>
              <a:srgbClr val="F1D673"/>
            </a:solidFill>
            <a:ln w="9525">
              <a:solidFill>
                <a:schemeClr val="tx1"/>
              </a:solidFill>
              <a:miter lim="800000"/>
              <a:headEnd/>
              <a:tailEnd/>
            </a:ln>
          </p:spPr>
          <p:txBody>
            <a:bodyPr wrap="none" anchor="ctr"/>
            <a:lstStyle/>
            <a:p>
              <a:endParaRPr lang="zh-CN" altLang="en-US"/>
            </a:p>
          </p:txBody>
        </p:sp>
        <p:sp>
          <p:nvSpPr>
            <p:cNvPr id="18" name="Text Box 10"/>
            <p:cNvSpPr txBox="1">
              <a:spLocks noChangeArrowheads="1"/>
            </p:cNvSpPr>
            <p:nvPr/>
          </p:nvSpPr>
          <p:spPr bwMode="auto">
            <a:xfrm>
              <a:off x="6324600" y="1412776"/>
              <a:ext cx="2362200" cy="32316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lang="zh-CN" altLang="en-US" sz="2400" b="1" dirty="0">
                  <a:latin typeface="黑体" pitchFamily="2" charset="-122"/>
                  <a:ea typeface="黑体" pitchFamily="2" charset="-122"/>
                </a:rPr>
                <a:t>   </a:t>
              </a:r>
            </a:p>
            <a:p>
              <a:pPr eaLnBrk="1" hangingPunct="1"/>
              <a:r>
                <a:rPr lang="zh-CN" altLang="en-US" sz="2400" b="1" dirty="0">
                  <a:latin typeface="黑体" pitchFamily="2" charset="-122"/>
                  <a:ea typeface="黑体" pitchFamily="2" charset="-122"/>
                </a:rPr>
                <a:t>    </a:t>
              </a:r>
              <a:r>
                <a:rPr lang="zh-CN" altLang="en-US" sz="2400" b="1" dirty="0">
                  <a:solidFill>
                    <a:srgbClr val="FF0000"/>
                  </a:solidFill>
                  <a:latin typeface="华文细黑" pitchFamily="2" charset="-122"/>
                  <a:ea typeface="华文细黑" pitchFamily="2" charset="-122"/>
                </a:rPr>
                <a:t>畅销品</a:t>
              </a:r>
            </a:p>
            <a:p>
              <a:pPr eaLnBrk="1" hangingPunct="1">
                <a:lnSpc>
                  <a:spcPct val="150000"/>
                </a:lnSpc>
              </a:pPr>
              <a:r>
                <a:rPr lang="zh-CN" altLang="en-US" sz="2400" b="1" dirty="0">
                  <a:latin typeface="华文细黑" pitchFamily="2" charset="-122"/>
                  <a:ea typeface="华文细黑" pitchFamily="2" charset="-122"/>
                </a:rPr>
                <a:t> </a:t>
              </a:r>
              <a:r>
                <a:rPr lang="zh-CN" altLang="en-US" sz="2000" b="1" dirty="0">
                  <a:solidFill>
                    <a:schemeClr val="tx1">
                      <a:lumMod val="75000"/>
                      <a:lumOff val="25000"/>
                    </a:schemeClr>
                  </a:solidFill>
                  <a:latin typeface="华文细黑" pitchFamily="2" charset="-122"/>
                  <a:ea typeface="华文细黑" pitchFamily="2" charset="-122"/>
                </a:rPr>
                <a:t>售罄率</a:t>
              </a:r>
              <a:r>
                <a:rPr lang="en-US" altLang="zh-CN" sz="2000" b="1" dirty="0">
                  <a:solidFill>
                    <a:schemeClr val="tx1">
                      <a:lumMod val="75000"/>
                      <a:lumOff val="25000"/>
                    </a:schemeClr>
                  </a:solidFill>
                  <a:latin typeface="华文细黑" pitchFamily="2" charset="-122"/>
                  <a:ea typeface="华文细黑" pitchFamily="2" charset="-122"/>
                </a:rPr>
                <a:t>75%</a:t>
              </a:r>
              <a:r>
                <a:rPr lang="zh-CN" altLang="en-US" sz="2000" b="1" dirty="0">
                  <a:solidFill>
                    <a:schemeClr val="tx1">
                      <a:lumMod val="75000"/>
                      <a:lumOff val="25000"/>
                    </a:schemeClr>
                  </a:solidFill>
                  <a:latin typeface="华文细黑" pitchFamily="2" charset="-122"/>
                  <a:ea typeface="华文细黑" pitchFamily="2" charset="-122"/>
                </a:rPr>
                <a:t>以上</a:t>
              </a:r>
            </a:p>
            <a:p>
              <a:pPr eaLnBrk="1" hangingPunct="1">
                <a:lnSpc>
                  <a:spcPct val="150000"/>
                </a:lnSpc>
              </a:pPr>
              <a:endParaRPr lang="zh-CN" altLang="en-US" sz="2000" b="1" dirty="0">
                <a:solidFill>
                  <a:schemeClr val="tx1">
                    <a:lumMod val="75000"/>
                    <a:lumOff val="25000"/>
                  </a:schemeClr>
                </a:solidFill>
                <a:latin typeface="华文细黑" pitchFamily="2" charset="-122"/>
                <a:ea typeface="华文细黑" pitchFamily="2" charset="-122"/>
              </a:endParaRP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及时补货</a:t>
              </a: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销售周期</a:t>
              </a:r>
            </a:p>
            <a:p>
              <a:pPr eaLnBrk="1" hangingPunct="1">
                <a:lnSpc>
                  <a:spcPct val="150000"/>
                </a:lnSpc>
                <a:buFontTx/>
                <a:buBlip>
                  <a:blip r:embed="rId3"/>
                </a:buBlip>
              </a:pPr>
              <a:r>
                <a:rPr lang="zh-CN" altLang="en-US" sz="2000" b="1" dirty="0">
                  <a:solidFill>
                    <a:schemeClr val="tx1">
                      <a:lumMod val="75000"/>
                      <a:lumOff val="25000"/>
                    </a:schemeClr>
                  </a:solidFill>
                  <a:latin typeface="华文细黑" pitchFamily="2" charset="-122"/>
                  <a:ea typeface="华文细黑" pitchFamily="2" charset="-122"/>
                </a:rPr>
                <a:t> 调整陈列</a:t>
              </a:r>
            </a:p>
          </p:txBody>
        </p:sp>
      </p:grpSp>
    </p:spTree>
    <p:extLst>
      <p:ext uri="{BB962C8B-B14F-4D97-AF65-F5344CB8AC3E}">
        <p14:creationId xmlns:p14="http://schemas.microsoft.com/office/powerpoint/2010/main" val="1885527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par>
                                <p:cTn id="11" presetID="31" presetClass="entr" presetSubtype="0" fill="hold" grpId="0" nodeType="withEffect">
                                  <p:stCondLst>
                                    <p:cond delay="0"/>
                                  </p:stCondLst>
                                  <p:iterate type="lt">
                                    <p:tmPct val="5000"/>
                                  </p:iterate>
                                  <p:childTnLst>
                                    <p:set>
                                      <p:cBhvr>
                                        <p:cTn id="12" dur="1" fill="hold">
                                          <p:stCondLst>
                                            <p:cond delay="0"/>
                                          </p:stCondLst>
                                        </p:cTn>
                                        <p:tgtEl>
                                          <p:spTgt spid="16"/>
                                        </p:tgtEl>
                                        <p:attrNameLst>
                                          <p:attrName>style.visibility</p:attrName>
                                        </p:attrNameLst>
                                      </p:cBhvr>
                                      <p:to>
                                        <p:strVal val="visible"/>
                                      </p:to>
                                    </p:set>
                                    <p:anim calcmode="lin" valueType="num">
                                      <p:cBhvr>
                                        <p:cTn id="13" dur="1000" fill="hold"/>
                                        <p:tgtEl>
                                          <p:spTgt spid="16"/>
                                        </p:tgtEl>
                                        <p:attrNameLst>
                                          <p:attrName>ppt_w</p:attrName>
                                        </p:attrNameLst>
                                      </p:cBhvr>
                                      <p:tavLst>
                                        <p:tav tm="0">
                                          <p:val>
                                            <p:fltVal val="0"/>
                                          </p:val>
                                        </p:tav>
                                        <p:tav tm="100000">
                                          <p:val>
                                            <p:strVal val="#ppt_w"/>
                                          </p:val>
                                        </p:tav>
                                      </p:tavLst>
                                    </p:anim>
                                    <p:anim calcmode="lin" valueType="num">
                                      <p:cBhvr>
                                        <p:cTn id="14" dur="1000" fill="hold"/>
                                        <p:tgtEl>
                                          <p:spTgt spid="16"/>
                                        </p:tgtEl>
                                        <p:attrNameLst>
                                          <p:attrName>ppt_h</p:attrName>
                                        </p:attrNameLst>
                                      </p:cBhvr>
                                      <p:tavLst>
                                        <p:tav tm="0">
                                          <p:val>
                                            <p:fltVal val="0"/>
                                          </p:val>
                                        </p:tav>
                                        <p:tav tm="100000">
                                          <p:val>
                                            <p:strVal val="#ppt_h"/>
                                          </p:val>
                                        </p:tav>
                                      </p:tavLst>
                                    </p:anim>
                                    <p:anim calcmode="lin" valueType="num">
                                      <p:cBhvr>
                                        <p:cTn id="15" dur="1000" fill="hold"/>
                                        <p:tgtEl>
                                          <p:spTgt spid="16"/>
                                        </p:tgtEl>
                                        <p:attrNameLst>
                                          <p:attrName>style.rotation</p:attrName>
                                        </p:attrNameLst>
                                      </p:cBhvr>
                                      <p:tavLst>
                                        <p:tav tm="0">
                                          <p:val>
                                            <p:fltVal val="90"/>
                                          </p:val>
                                        </p:tav>
                                        <p:tav tm="100000">
                                          <p:val>
                                            <p:fltVal val="0"/>
                                          </p:val>
                                        </p:tav>
                                      </p:tavLst>
                                    </p:anim>
                                    <p:animEffect transition="in" filter="fade">
                                      <p:cBhvr>
                                        <p:cTn id="16" dur="1000"/>
                                        <p:tgtEl>
                                          <p:spTgt spid="16"/>
                                        </p:tgtEl>
                                      </p:cBhvr>
                                    </p:animEffect>
                                  </p:childTnLst>
                                </p:cTn>
                              </p:par>
                              <p:par>
                                <p:cTn id="17" presetID="31" presetClass="entr" presetSubtype="0" fill="hold" grpId="0" nodeType="withEffect">
                                  <p:stCondLst>
                                    <p:cond delay="0"/>
                                  </p:stCondLst>
                                  <p:iterate type="lt">
                                    <p:tmPct val="5000"/>
                                  </p:iterate>
                                  <p:childTnLst>
                                    <p:set>
                                      <p:cBhvr>
                                        <p:cTn id="18" dur="1" fill="hold">
                                          <p:stCondLst>
                                            <p:cond delay="0"/>
                                          </p:stCondLst>
                                        </p:cTn>
                                        <p:tgtEl>
                                          <p:spTgt spid="17"/>
                                        </p:tgtEl>
                                        <p:attrNameLst>
                                          <p:attrName>style.visibility</p:attrName>
                                        </p:attrNameLst>
                                      </p:cBhvr>
                                      <p:to>
                                        <p:strVal val="visible"/>
                                      </p:to>
                                    </p:set>
                                    <p:anim calcmode="lin" valueType="num">
                                      <p:cBhvr>
                                        <p:cTn id="19" dur="1000" fill="hold"/>
                                        <p:tgtEl>
                                          <p:spTgt spid="17"/>
                                        </p:tgtEl>
                                        <p:attrNameLst>
                                          <p:attrName>ppt_w</p:attrName>
                                        </p:attrNameLst>
                                      </p:cBhvr>
                                      <p:tavLst>
                                        <p:tav tm="0">
                                          <p:val>
                                            <p:fltVal val="0"/>
                                          </p:val>
                                        </p:tav>
                                        <p:tav tm="100000">
                                          <p:val>
                                            <p:strVal val="#ppt_w"/>
                                          </p:val>
                                        </p:tav>
                                      </p:tavLst>
                                    </p:anim>
                                    <p:anim calcmode="lin" valueType="num">
                                      <p:cBhvr>
                                        <p:cTn id="20" dur="1000" fill="hold"/>
                                        <p:tgtEl>
                                          <p:spTgt spid="17"/>
                                        </p:tgtEl>
                                        <p:attrNameLst>
                                          <p:attrName>ppt_h</p:attrName>
                                        </p:attrNameLst>
                                      </p:cBhvr>
                                      <p:tavLst>
                                        <p:tav tm="0">
                                          <p:val>
                                            <p:fltVal val="0"/>
                                          </p:val>
                                        </p:tav>
                                        <p:tav tm="100000">
                                          <p:val>
                                            <p:strVal val="#ppt_h"/>
                                          </p:val>
                                        </p:tav>
                                      </p:tavLst>
                                    </p:anim>
                                    <p:anim calcmode="lin" valueType="num">
                                      <p:cBhvr>
                                        <p:cTn id="21" dur="1000" fill="hold"/>
                                        <p:tgtEl>
                                          <p:spTgt spid="17"/>
                                        </p:tgtEl>
                                        <p:attrNameLst>
                                          <p:attrName>style.rotation</p:attrName>
                                        </p:attrNameLst>
                                      </p:cBhvr>
                                      <p:tavLst>
                                        <p:tav tm="0">
                                          <p:val>
                                            <p:fltVal val="90"/>
                                          </p:val>
                                        </p:tav>
                                        <p:tav tm="100000">
                                          <p:val>
                                            <p:fltVal val="0"/>
                                          </p:val>
                                        </p:tav>
                                      </p:tavLst>
                                    </p:anim>
                                    <p:animEffect transition="in" filter="fade">
                                      <p:cBhvr>
                                        <p:cTn id="22" dur="10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9</a:t>
            </a:fld>
            <a:endParaRPr lang="en-US"/>
          </a:p>
        </p:txBody>
      </p:sp>
      <p:sp>
        <p:nvSpPr>
          <p:cNvPr id="5" name="TextBox 4"/>
          <p:cNvSpPr txBox="1"/>
          <p:nvPr/>
        </p:nvSpPr>
        <p:spPr>
          <a:xfrm>
            <a:off x="467544" y="241484"/>
            <a:ext cx="6264696"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2" charset="-122"/>
                <a:ea typeface="黑体" pitchFamily="2" charset="-122"/>
              </a:rPr>
              <a:t>附：库存形成因素</a:t>
            </a:r>
            <a:r>
              <a:rPr lang="zh-CN" altLang="en-US" sz="2800" b="1" dirty="0">
                <a:solidFill>
                  <a:schemeClr val="tx1">
                    <a:lumMod val="75000"/>
                    <a:lumOff val="25000"/>
                  </a:schemeClr>
                </a:solidFill>
                <a:latin typeface="黑体" pitchFamily="49" charset="-122"/>
                <a:ea typeface="黑体" pitchFamily="49" charset="-122"/>
                <a:cs typeface="Meiryo UI" pitchFamily="34" charset="-128"/>
              </a:rPr>
              <a:t>：</a:t>
            </a:r>
            <a:endParaRPr lang="zh-CN" altLang="en-US" sz="2800" b="1" dirty="0">
              <a:solidFill>
                <a:schemeClr val="tx1">
                  <a:lumMod val="75000"/>
                  <a:lumOff val="25000"/>
                </a:schemeClr>
              </a:solidFill>
              <a:latin typeface="黑体" pitchFamily="2" charset="-122"/>
              <a:ea typeface="黑体" pitchFamily="2" charset="-122"/>
            </a:endParaRPr>
          </a:p>
        </p:txBody>
      </p:sp>
      <p:sp>
        <p:nvSpPr>
          <p:cNvPr id="6" name="TextBox 5"/>
          <p:cNvSpPr txBox="1"/>
          <p:nvPr/>
        </p:nvSpPr>
        <p:spPr>
          <a:xfrm>
            <a:off x="821832" y="1324823"/>
            <a:ext cx="3623890" cy="3416320"/>
          </a:xfrm>
          <a:prstGeom prst="rect">
            <a:avLst/>
          </a:prstGeom>
          <a:noFill/>
        </p:spPr>
        <p:txBody>
          <a:bodyPr wrap="square" rtlCol="0">
            <a:spAutoFit/>
          </a:bodyPr>
          <a:lstStyle/>
          <a:p>
            <a:pPr>
              <a:lnSpc>
                <a:spcPct val="150000"/>
              </a:lnSpc>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库存形</a:t>
            </a:r>
            <a:r>
              <a:rPr lang="zh-CN" altLang="en-US"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成因素：</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库存结构不合理</a:t>
            </a:r>
            <a:r>
              <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上货波段时间不合理</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商品选样失败</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天气变化异常</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总量预算超标</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陈列调整不灵活</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
        <p:nvSpPr>
          <p:cNvPr id="7" name="TextBox 6"/>
          <p:cNvSpPr txBox="1"/>
          <p:nvPr/>
        </p:nvSpPr>
        <p:spPr>
          <a:xfrm>
            <a:off x="4805762" y="1720867"/>
            <a:ext cx="3623890" cy="3000821"/>
          </a:xfrm>
          <a:prstGeom prst="rect">
            <a:avLst/>
          </a:prstGeom>
          <a:noFill/>
        </p:spPr>
        <p:txBody>
          <a:bodyPr wrap="square" rtlCol="0">
            <a:spAutoFit/>
          </a:bodyPr>
          <a:lstStyle/>
          <a:p>
            <a:pPr marL="285750" indent="-285750">
              <a:lnSpc>
                <a:spcPct val="150000"/>
              </a:lnSpc>
              <a:buFont typeface="Arial" pitchFamily="34" charset="0"/>
              <a:buChar char="•"/>
            </a:pPr>
            <a:endParaRPr lang="en-US" altLang="zh-CN" dirty="0">
              <a:solidFill>
                <a:schemeClr val="tx1">
                  <a:lumMod val="75000"/>
                  <a:lumOff val="25000"/>
                </a:schemeClr>
              </a:solidFill>
              <a:latin typeface="微软雅黑" pitchFamily="34" charset="-122"/>
              <a:ea typeface="微软雅黑" pitchFamily="34"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人员销售不到位</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店铺促销不及时</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整体经济异常</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en-US"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市场推广不力</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缺乏整体商品企划</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285750" indent="-285750">
              <a:lnSpc>
                <a:spcPct val="150000"/>
              </a:lnSpc>
              <a:buFont typeface="Arial" pitchFamily="34" charset="0"/>
              <a:buChar char="•"/>
            </a:pPr>
            <a:r>
              <a:rPr lang="zh-CN" altLang="en-US"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进</a:t>
            </a: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销环节脱节</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4249179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152128"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10</a:t>
            </a:fld>
            <a:r>
              <a:rPr lang="en-US" dirty="0"/>
              <a:t>&gt;</a:t>
            </a:r>
          </a:p>
        </p:txBody>
      </p:sp>
      <p:sp>
        <p:nvSpPr>
          <p:cNvPr id="3" name="TextBox 2"/>
          <p:cNvSpPr txBox="1"/>
          <p:nvPr/>
        </p:nvSpPr>
        <p:spPr>
          <a:xfrm>
            <a:off x="467544" y="241484"/>
            <a:ext cx="2232248"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动销率：</a:t>
            </a:r>
          </a:p>
        </p:txBody>
      </p:sp>
      <p:sp>
        <p:nvSpPr>
          <p:cNvPr id="6" name="内容占位符 2"/>
          <p:cNvSpPr txBox="1">
            <a:spLocks/>
          </p:cNvSpPr>
          <p:nvPr/>
        </p:nvSpPr>
        <p:spPr>
          <a:xfrm>
            <a:off x="611560" y="1052736"/>
            <a:ext cx="7848872" cy="1296144"/>
          </a:xfrm>
          <a:prstGeom prst="rect">
            <a:avLst/>
          </a:prstGeom>
        </p:spPr>
        <p:txBody>
          <a:bodyPr vert="horz" lIns="91440" tIns="45720" rIns="91440" bIns="45720" rtlCol="0">
            <a:normAutofit/>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marL="0" indent="0">
              <a:lnSpc>
                <a:spcPct val="150000"/>
              </a:lnSpc>
              <a:buNone/>
            </a:pPr>
            <a:r>
              <a:rPr lang="zh-CN" altLang="en-US" sz="2400" dirty="0">
                <a:solidFill>
                  <a:schemeClr val="tx1">
                    <a:lumMod val="75000"/>
                    <a:lumOff val="25000"/>
                  </a:schemeClr>
                </a:solidFill>
                <a:latin typeface="华文细黑" pitchFamily="2" charset="-122"/>
                <a:ea typeface="华文细黑" pitchFamily="2" charset="-122"/>
              </a:rPr>
              <a:t>动销率</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有动销的</a:t>
            </a:r>
            <a:r>
              <a:rPr lang="en-US" altLang="zh-CN" sz="2400" dirty="0">
                <a:solidFill>
                  <a:schemeClr val="tx1">
                    <a:lumMod val="75000"/>
                    <a:lumOff val="25000"/>
                  </a:schemeClr>
                </a:solidFill>
                <a:latin typeface="华文细黑" pitchFamily="2" charset="-122"/>
                <a:ea typeface="华文细黑" pitchFamily="2" charset="-122"/>
              </a:rPr>
              <a:t>SKU</a:t>
            </a:r>
            <a:r>
              <a:rPr lang="zh-CN" altLang="en-US" sz="2400" dirty="0">
                <a:solidFill>
                  <a:schemeClr val="tx1">
                    <a:lumMod val="75000"/>
                    <a:lumOff val="25000"/>
                  </a:schemeClr>
                </a:solidFill>
                <a:latin typeface="华文细黑" pitchFamily="2" charset="-122"/>
                <a:ea typeface="华文细黑" pitchFamily="2" charset="-122"/>
              </a:rPr>
              <a:t>数</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现有库存的</a:t>
            </a:r>
            <a:r>
              <a:rPr lang="en-US" altLang="zh-CN" sz="2400" dirty="0">
                <a:solidFill>
                  <a:schemeClr val="tx1">
                    <a:lumMod val="75000"/>
                    <a:lumOff val="25000"/>
                  </a:schemeClr>
                </a:solidFill>
                <a:latin typeface="华文细黑" pitchFamily="2" charset="-122"/>
                <a:ea typeface="华文细黑" pitchFamily="2" charset="-122"/>
              </a:rPr>
              <a:t>SKU</a:t>
            </a:r>
            <a:r>
              <a:rPr lang="zh-CN" altLang="en-US" sz="2400" dirty="0">
                <a:solidFill>
                  <a:schemeClr val="tx1">
                    <a:lumMod val="75000"/>
                    <a:lumOff val="25000"/>
                  </a:schemeClr>
                </a:solidFill>
                <a:latin typeface="华文细黑" pitchFamily="2" charset="-122"/>
                <a:ea typeface="华文细黑" pitchFamily="2" charset="-122"/>
              </a:rPr>
              <a:t>数</a:t>
            </a:r>
            <a:endParaRPr lang="en-US" altLang="zh-CN" sz="2400" dirty="0">
              <a:solidFill>
                <a:schemeClr val="tx1">
                  <a:lumMod val="75000"/>
                  <a:lumOff val="25000"/>
                </a:schemeClr>
              </a:solidFill>
              <a:latin typeface="华文细黑" pitchFamily="2" charset="-122"/>
              <a:ea typeface="华文细黑" pitchFamily="2" charset="-122"/>
            </a:endParaRPr>
          </a:p>
          <a:p>
            <a:pPr marL="0" indent="0">
              <a:lnSpc>
                <a:spcPct val="150000"/>
              </a:lnSpc>
              <a:buNone/>
            </a:pPr>
            <a:r>
              <a:rPr lang="zh-CN" altLang="en-US" sz="1800" dirty="0">
                <a:solidFill>
                  <a:srgbClr val="FF0000"/>
                </a:solidFill>
                <a:latin typeface="华文细黑" pitchFamily="2" charset="-122"/>
                <a:ea typeface="华文细黑" pitchFamily="2" charset="-122"/>
              </a:rPr>
              <a:t>评价门店各种品类商品销售情况的指标</a:t>
            </a:r>
            <a:endParaRPr lang="en-US" altLang="zh-CN" sz="1800" dirty="0">
              <a:solidFill>
                <a:srgbClr val="FF0000"/>
              </a:solidFill>
              <a:latin typeface="华文细黑" pitchFamily="2" charset="-122"/>
              <a:ea typeface="华文细黑" pitchFamily="2" charset="-122"/>
            </a:endParaRPr>
          </a:p>
        </p:txBody>
      </p:sp>
      <p:sp>
        <p:nvSpPr>
          <p:cNvPr id="9" name="Rectangle 3"/>
          <p:cNvSpPr>
            <a:spLocks noChangeArrowheads="1"/>
          </p:cNvSpPr>
          <p:nvPr/>
        </p:nvSpPr>
        <p:spPr bwMode="auto">
          <a:xfrm>
            <a:off x="899592" y="2420888"/>
            <a:ext cx="6672783" cy="172819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182880" tIns="91440" anchor="ctr"/>
          <a:lstStyle/>
          <a:p>
            <a:pPr marL="342900" indent="-342900">
              <a:lnSpc>
                <a:spcPct val="150000"/>
              </a:lnSpc>
              <a:spcBef>
                <a:spcPct val="20000"/>
              </a:spcBef>
              <a:buClr>
                <a:srgbClr val="FF0000"/>
              </a:buClr>
              <a:buFont typeface="Wingdings 2" pitchFamily="18" charset="2"/>
              <a:buNone/>
              <a:defRPr/>
            </a:pPr>
            <a:r>
              <a:rPr lang="zh-CN" altLang="en-US" sz="2000" b="1"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管制</a:t>
            </a:r>
            <a:r>
              <a:rPr lang="en-US" altLang="zh-CN" sz="2000" b="1"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SKU</a:t>
            </a:r>
            <a:r>
              <a:rPr lang="zh-CN" altLang="en-US" sz="2000" b="1"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动销率的目的</a:t>
            </a:r>
            <a:r>
              <a:rPr lang="zh-CN" altLang="en-US" sz="2200" b="1"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endParaRPr lang="en-US" altLang="zh-CN" sz="2200" b="1"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en-US" altLang="zh-CN" sz="1600" dirty="0">
                <a:solidFill>
                  <a:schemeClr val="tx1">
                    <a:lumMod val="75000"/>
                    <a:lumOff val="25000"/>
                  </a:schemeClr>
                </a:solidFill>
                <a:latin typeface="华文细黑" pitchFamily="2" charset="-122"/>
                <a:ea typeface="华文细黑" pitchFamily="2" charset="-122"/>
              </a:rPr>
              <a:t>1</a:t>
            </a:r>
            <a:r>
              <a:rPr lang="zh-CN" altLang="zh-CN" sz="1600" dirty="0">
                <a:solidFill>
                  <a:schemeClr val="tx1">
                    <a:lumMod val="75000"/>
                    <a:lumOff val="25000"/>
                  </a:schemeClr>
                </a:solidFill>
                <a:latin typeface="华文细黑" pitchFamily="2" charset="-122"/>
                <a:ea typeface="华文细黑" pitchFamily="2" charset="-122"/>
              </a:rPr>
              <a:t>）了解仓库实际商品项数的动销情况，找到不动销商品</a:t>
            </a:r>
            <a:r>
              <a:rPr lang="en-US" altLang="zh-CN" sz="1600" dirty="0">
                <a:solidFill>
                  <a:schemeClr val="tx1">
                    <a:lumMod val="75000"/>
                    <a:lumOff val="25000"/>
                  </a:schemeClr>
                </a:solidFill>
                <a:latin typeface="华文细黑" pitchFamily="2" charset="-122"/>
                <a:ea typeface="华文细黑" pitchFamily="2" charset="-122"/>
              </a:rPr>
              <a:t>SKU</a:t>
            </a:r>
            <a:r>
              <a:rPr lang="zh-CN" altLang="zh-CN" sz="1600" dirty="0">
                <a:solidFill>
                  <a:schemeClr val="tx1">
                    <a:lumMod val="75000"/>
                    <a:lumOff val="25000"/>
                  </a:schemeClr>
                </a:solidFill>
                <a:latin typeface="华文细黑" pitchFamily="2" charset="-122"/>
                <a:ea typeface="华文细黑" pitchFamily="2" charset="-122"/>
              </a:rPr>
              <a:t>的占比。</a:t>
            </a:r>
          </a:p>
          <a:p>
            <a:pPr>
              <a:lnSpc>
                <a:spcPct val="150000"/>
              </a:lnSpc>
            </a:pPr>
            <a:r>
              <a:rPr lang="en-US" altLang="zh-CN" sz="1600" dirty="0">
                <a:solidFill>
                  <a:schemeClr val="tx1">
                    <a:lumMod val="75000"/>
                    <a:lumOff val="25000"/>
                  </a:schemeClr>
                </a:solidFill>
                <a:latin typeface="华文细黑" pitchFamily="2" charset="-122"/>
                <a:ea typeface="华文细黑" pitchFamily="2" charset="-122"/>
              </a:rPr>
              <a:t>2</a:t>
            </a:r>
            <a:r>
              <a:rPr lang="zh-CN" altLang="zh-CN" sz="1600" dirty="0">
                <a:solidFill>
                  <a:schemeClr val="tx1">
                    <a:lumMod val="75000"/>
                    <a:lumOff val="25000"/>
                  </a:schemeClr>
                </a:solidFill>
                <a:latin typeface="华文细黑" pitchFamily="2" charset="-122"/>
                <a:ea typeface="华文细黑" pitchFamily="2" charset="-122"/>
              </a:rPr>
              <a:t>）有助于实施公司品类管理战略。</a:t>
            </a:r>
          </a:p>
          <a:p>
            <a:pPr>
              <a:lnSpc>
                <a:spcPct val="150000"/>
              </a:lnSpc>
            </a:pPr>
            <a:r>
              <a:rPr lang="en-US" altLang="zh-CN" sz="1600" dirty="0">
                <a:solidFill>
                  <a:schemeClr val="tx1">
                    <a:lumMod val="75000"/>
                    <a:lumOff val="25000"/>
                  </a:schemeClr>
                </a:solidFill>
                <a:latin typeface="华文细黑" pitchFamily="2" charset="-122"/>
                <a:ea typeface="华文细黑" pitchFamily="2" charset="-122"/>
              </a:rPr>
              <a:t>3</a:t>
            </a:r>
            <a:r>
              <a:rPr lang="zh-CN" altLang="zh-CN" sz="1600" dirty="0">
                <a:solidFill>
                  <a:schemeClr val="tx1">
                    <a:lumMod val="75000"/>
                    <a:lumOff val="25000"/>
                  </a:schemeClr>
                </a:solidFill>
                <a:latin typeface="华文细黑" pitchFamily="2" charset="-122"/>
                <a:ea typeface="华文细黑" pitchFamily="2" charset="-122"/>
              </a:rPr>
              <a:t>）通过</a:t>
            </a:r>
            <a:r>
              <a:rPr lang="en-US" altLang="zh-CN" sz="1600" dirty="0">
                <a:solidFill>
                  <a:schemeClr val="tx1">
                    <a:lumMod val="75000"/>
                    <a:lumOff val="25000"/>
                  </a:schemeClr>
                </a:solidFill>
                <a:latin typeface="华文细黑" pitchFamily="2" charset="-122"/>
                <a:ea typeface="华文细黑" pitchFamily="2" charset="-122"/>
              </a:rPr>
              <a:t>SKU</a:t>
            </a:r>
            <a:r>
              <a:rPr lang="zh-CN" altLang="zh-CN" sz="1600" dirty="0">
                <a:solidFill>
                  <a:schemeClr val="tx1">
                    <a:lumMod val="75000"/>
                    <a:lumOff val="25000"/>
                  </a:schemeClr>
                </a:solidFill>
                <a:latin typeface="华文细黑" pitchFamily="2" charset="-122"/>
                <a:ea typeface="华文细黑" pitchFamily="2" charset="-122"/>
              </a:rPr>
              <a:t>的分析与调整，提高仓库的坪效、品效。</a:t>
            </a:r>
          </a:p>
        </p:txBody>
      </p:sp>
      <p:sp>
        <p:nvSpPr>
          <p:cNvPr id="10" name="TextBox 9"/>
          <p:cNvSpPr txBox="1"/>
          <p:nvPr/>
        </p:nvSpPr>
        <p:spPr>
          <a:xfrm>
            <a:off x="611560" y="4338970"/>
            <a:ext cx="7488832" cy="1661993"/>
          </a:xfrm>
          <a:prstGeom prst="rect">
            <a:avLst/>
          </a:prstGeom>
          <a:noFill/>
          <a:effectLst/>
        </p:spPr>
        <p:txBody>
          <a:bodyPr wrap="square" rtlCol="0">
            <a:spAutoFit/>
          </a:bodyPr>
          <a:lstStyle/>
          <a:p>
            <a:pPr>
              <a:lnSpc>
                <a:spcPct val="150000"/>
              </a:lnSpc>
            </a:pPr>
            <a:r>
              <a:rPr lang="zh-CN" altLang="en-US"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动销率理解误区：</a:t>
            </a:r>
            <a:endParaRPr lang="en-US" altLang="zh-CN"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1</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）动销率越高越好。</a:t>
            </a:r>
          </a:p>
          <a:p>
            <a:pPr>
              <a:lnSpc>
                <a:spcPct val="150000"/>
              </a:lnSpc>
            </a:pP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2</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）动销率等于</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100%</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就是正常，动销率小于</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100%</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就是滞销商品惹得祸。</a:t>
            </a:r>
          </a:p>
          <a:p>
            <a:pPr>
              <a:lnSpc>
                <a:spcPct val="150000"/>
              </a:lnSpc>
            </a:pP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3</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）仅仅被百分比所迷惑，只看数据的表面，不透过表面找到问题的实质。</a:t>
            </a:r>
          </a:p>
        </p:txBody>
      </p:sp>
    </p:spTree>
    <p:extLst>
      <p:ext uri="{BB962C8B-B14F-4D97-AF65-F5344CB8AC3E}">
        <p14:creationId xmlns:p14="http://schemas.microsoft.com/office/powerpoint/2010/main" val="195891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10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10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152128"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11</a:t>
            </a:fld>
            <a:r>
              <a:rPr lang="en-US" dirty="0"/>
              <a:t>&gt;</a:t>
            </a:r>
          </a:p>
        </p:txBody>
      </p:sp>
      <p:sp>
        <p:nvSpPr>
          <p:cNvPr id="3" name="TextBox 2"/>
          <p:cNvSpPr txBox="1"/>
          <p:nvPr/>
        </p:nvSpPr>
        <p:spPr>
          <a:xfrm>
            <a:off x="467544" y="241484"/>
            <a:ext cx="4824536"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动销率会出现的三种情况：</a:t>
            </a:r>
          </a:p>
        </p:txBody>
      </p:sp>
      <p:sp>
        <p:nvSpPr>
          <p:cNvPr id="4" name="矩形 3"/>
          <p:cNvSpPr/>
          <p:nvPr/>
        </p:nvSpPr>
        <p:spPr>
          <a:xfrm>
            <a:off x="323528" y="1124744"/>
            <a:ext cx="1872208" cy="3600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a:solidFill>
                  <a:schemeClr val="tx1">
                    <a:lumMod val="75000"/>
                    <a:lumOff val="25000"/>
                  </a:schemeClr>
                </a:solidFill>
                <a:latin typeface="华文细黑" pitchFamily="2" charset="-122"/>
                <a:ea typeface="华文细黑" pitchFamily="2" charset="-122"/>
              </a:rPr>
              <a:t>动销率</a:t>
            </a:r>
            <a:r>
              <a:rPr lang="en-US" altLang="zh-CN" sz="2000" b="1" dirty="0">
                <a:solidFill>
                  <a:schemeClr val="tx1">
                    <a:lumMod val="75000"/>
                    <a:lumOff val="25000"/>
                  </a:schemeClr>
                </a:solidFill>
                <a:latin typeface="华文细黑" pitchFamily="2" charset="-122"/>
                <a:ea typeface="华文细黑" pitchFamily="2" charset="-122"/>
              </a:rPr>
              <a:t>&gt;100%</a:t>
            </a:r>
            <a:endParaRPr lang="zh-CN" altLang="en-US" sz="2000" b="1" dirty="0">
              <a:solidFill>
                <a:schemeClr val="tx1">
                  <a:lumMod val="75000"/>
                  <a:lumOff val="25000"/>
                </a:schemeClr>
              </a:solidFill>
              <a:latin typeface="华文细黑" pitchFamily="2" charset="-122"/>
              <a:ea typeface="华文细黑" pitchFamily="2" charset="-122"/>
            </a:endParaRPr>
          </a:p>
        </p:txBody>
      </p:sp>
      <p:sp>
        <p:nvSpPr>
          <p:cNvPr id="5" name="TextBox 4"/>
          <p:cNvSpPr txBox="1"/>
          <p:nvPr/>
        </p:nvSpPr>
        <p:spPr>
          <a:xfrm>
            <a:off x="611560" y="1620028"/>
            <a:ext cx="7920880" cy="872868"/>
          </a:xfrm>
          <a:prstGeom prst="rect">
            <a:avLst/>
          </a:prstGeom>
          <a:noFill/>
          <a:effectLst/>
        </p:spPr>
        <p:txBody>
          <a:bodyPr wrap="square" rtlCol="0">
            <a:spAutoFit/>
          </a:bodyPr>
          <a:lstStyle/>
          <a:p>
            <a:pPr>
              <a:lnSpc>
                <a:spcPct val="150000"/>
              </a:lnSpc>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说明了在某个时段该商品种类的销售品项数高于目前现有库存的品项数，说明了该商品种类出现了品项数的流失现象。</a:t>
            </a:r>
            <a:endParaRPr lang="zh-CN" altLang="en-US"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
        <p:nvSpPr>
          <p:cNvPr id="11" name="矩形 10"/>
          <p:cNvSpPr/>
          <p:nvPr/>
        </p:nvSpPr>
        <p:spPr>
          <a:xfrm>
            <a:off x="363893" y="2780928"/>
            <a:ext cx="1872208" cy="3600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a:solidFill>
                  <a:schemeClr val="tx1">
                    <a:lumMod val="75000"/>
                    <a:lumOff val="25000"/>
                  </a:schemeClr>
                </a:solidFill>
                <a:latin typeface="华文细黑" pitchFamily="2" charset="-122"/>
                <a:ea typeface="华文细黑" pitchFamily="2" charset="-122"/>
              </a:rPr>
              <a:t>动销率</a:t>
            </a:r>
            <a:r>
              <a:rPr lang="en-US" altLang="zh-CN" sz="2000" b="1" dirty="0">
                <a:solidFill>
                  <a:schemeClr val="tx1">
                    <a:lumMod val="75000"/>
                    <a:lumOff val="25000"/>
                  </a:schemeClr>
                </a:solidFill>
                <a:latin typeface="华文细黑" pitchFamily="2" charset="-122"/>
                <a:ea typeface="华文细黑" pitchFamily="2" charset="-122"/>
              </a:rPr>
              <a:t>&lt;100%</a:t>
            </a:r>
            <a:endParaRPr lang="zh-CN" altLang="en-US" sz="2000" b="1" dirty="0">
              <a:solidFill>
                <a:schemeClr val="tx1">
                  <a:lumMod val="75000"/>
                  <a:lumOff val="25000"/>
                </a:schemeClr>
              </a:solidFill>
              <a:latin typeface="华文细黑" pitchFamily="2" charset="-122"/>
              <a:ea typeface="华文细黑" pitchFamily="2" charset="-122"/>
            </a:endParaRPr>
          </a:p>
        </p:txBody>
      </p:sp>
      <p:sp>
        <p:nvSpPr>
          <p:cNvPr id="12" name="TextBox 11"/>
          <p:cNvSpPr txBox="1"/>
          <p:nvPr/>
        </p:nvSpPr>
        <p:spPr>
          <a:xfrm>
            <a:off x="683568" y="3204204"/>
            <a:ext cx="7920880" cy="872868"/>
          </a:xfrm>
          <a:prstGeom prst="rect">
            <a:avLst/>
          </a:prstGeom>
          <a:noFill/>
          <a:effectLst/>
        </p:spPr>
        <p:txBody>
          <a:bodyPr wrap="square" rtlCol="0">
            <a:spAutoFit/>
          </a:bodyPr>
          <a:lstStyle/>
          <a:p>
            <a:pPr>
              <a:lnSpc>
                <a:spcPct val="150000"/>
              </a:lnSpc>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从数据的表面上看，该类商品存在滞销商品，至少在查询的界定期间存在一定比例的滞销单品</a:t>
            </a:r>
            <a:r>
              <a:rPr lang="zh-CN" altLang="en-US"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endPar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
        <p:nvSpPr>
          <p:cNvPr id="13" name="矩形 12"/>
          <p:cNvSpPr/>
          <p:nvPr/>
        </p:nvSpPr>
        <p:spPr>
          <a:xfrm>
            <a:off x="395536" y="4365104"/>
            <a:ext cx="1872208" cy="36004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000" b="1" dirty="0">
                <a:solidFill>
                  <a:schemeClr val="tx1">
                    <a:lumMod val="75000"/>
                    <a:lumOff val="25000"/>
                  </a:schemeClr>
                </a:solidFill>
                <a:latin typeface="华文细黑" pitchFamily="2" charset="-122"/>
                <a:ea typeface="华文细黑" pitchFamily="2" charset="-122"/>
              </a:rPr>
              <a:t>动销率</a:t>
            </a:r>
            <a:r>
              <a:rPr lang="en-US" altLang="zh-CN" sz="2000" b="1" dirty="0">
                <a:solidFill>
                  <a:schemeClr val="tx1">
                    <a:lumMod val="75000"/>
                    <a:lumOff val="25000"/>
                  </a:schemeClr>
                </a:solidFill>
                <a:latin typeface="华文细黑" pitchFamily="2" charset="-122"/>
                <a:ea typeface="华文细黑" pitchFamily="2" charset="-122"/>
              </a:rPr>
              <a:t>=100%</a:t>
            </a:r>
            <a:endParaRPr lang="zh-CN" altLang="en-US" sz="2000" b="1" dirty="0">
              <a:solidFill>
                <a:schemeClr val="tx1">
                  <a:lumMod val="75000"/>
                  <a:lumOff val="25000"/>
                </a:schemeClr>
              </a:solidFill>
              <a:latin typeface="华文细黑" pitchFamily="2" charset="-122"/>
              <a:ea typeface="华文细黑" pitchFamily="2" charset="-122"/>
            </a:endParaRPr>
          </a:p>
        </p:txBody>
      </p:sp>
      <p:sp>
        <p:nvSpPr>
          <p:cNvPr id="14" name="TextBox 13"/>
          <p:cNvSpPr txBox="1"/>
          <p:nvPr/>
        </p:nvSpPr>
        <p:spPr>
          <a:xfrm>
            <a:off x="683568" y="4860388"/>
            <a:ext cx="7920880" cy="872868"/>
          </a:xfrm>
          <a:prstGeom prst="rect">
            <a:avLst/>
          </a:prstGeom>
          <a:noFill/>
          <a:effectLst/>
        </p:spPr>
        <p:txBody>
          <a:bodyPr wrap="square" rtlCol="0">
            <a:spAutoFit/>
          </a:bodyPr>
          <a:lstStyle/>
          <a:p>
            <a:pPr>
              <a:lnSpc>
                <a:spcPct val="150000"/>
              </a:lnSpc>
            </a:pP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动销率等于</a:t>
            </a:r>
            <a:r>
              <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100%</a:t>
            </a: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表面上说明该类商品都适合商圈内消费的需求，从数据的背后说明该类商品在品项数方面还有开发的空间。</a:t>
            </a:r>
          </a:p>
        </p:txBody>
      </p:sp>
    </p:spTree>
    <p:extLst>
      <p:ext uri="{BB962C8B-B14F-4D97-AF65-F5344CB8AC3E}">
        <p14:creationId xmlns:p14="http://schemas.microsoft.com/office/powerpoint/2010/main" val="2365455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iterate type="lt">
                                    <p:tmPct val="5000"/>
                                  </p:iterate>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iterate type="lt">
                                    <p:tmPct val="5000"/>
                                  </p:iterate>
                                  <p:childTnLst>
                                    <p:set>
                                      <p:cBhvr>
                                        <p:cTn id="19" dur="1" fill="hold">
                                          <p:stCondLst>
                                            <p:cond delay="0"/>
                                          </p:stCondLst>
                                        </p:cTn>
                                        <p:tgtEl>
                                          <p:spTgt spid="11"/>
                                        </p:tgtEl>
                                        <p:attrNameLst>
                                          <p:attrName>style.visibility</p:attrName>
                                        </p:attrNameLst>
                                      </p:cBhvr>
                                      <p:to>
                                        <p:strVal val="visible"/>
                                      </p:to>
                                    </p:set>
                                    <p:anim calcmode="lin" valueType="num">
                                      <p:cBhvr>
                                        <p:cTn id="20" dur="1000" fill="hold"/>
                                        <p:tgtEl>
                                          <p:spTgt spid="11"/>
                                        </p:tgtEl>
                                        <p:attrNameLst>
                                          <p:attrName>ppt_w</p:attrName>
                                        </p:attrNameLst>
                                      </p:cBhvr>
                                      <p:tavLst>
                                        <p:tav tm="0">
                                          <p:val>
                                            <p:fltVal val="0"/>
                                          </p:val>
                                        </p:tav>
                                        <p:tav tm="100000">
                                          <p:val>
                                            <p:strVal val="#ppt_w"/>
                                          </p:val>
                                        </p:tav>
                                      </p:tavLst>
                                    </p:anim>
                                    <p:anim calcmode="lin" valueType="num">
                                      <p:cBhvr>
                                        <p:cTn id="21" dur="1000" fill="hold"/>
                                        <p:tgtEl>
                                          <p:spTgt spid="11"/>
                                        </p:tgtEl>
                                        <p:attrNameLst>
                                          <p:attrName>ppt_h</p:attrName>
                                        </p:attrNameLst>
                                      </p:cBhvr>
                                      <p:tavLst>
                                        <p:tav tm="0">
                                          <p:val>
                                            <p:fltVal val="0"/>
                                          </p:val>
                                        </p:tav>
                                        <p:tav tm="100000">
                                          <p:val>
                                            <p:strVal val="#ppt_h"/>
                                          </p:val>
                                        </p:tav>
                                      </p:tavLst>
                                    </p:anim>
                                    <p:anim calcmode="lin" valueType="num">
                                      <p:cBhvr>
                                        <p:cTn id="22" dur="1000" fill="hold"/>
                                        <p:tgtEl>
                                          <p:spTgt spid="11"/>
                                        </p:tgtEl>
                                        <p:attrNameLst>
                                          <p:attrName>style.rotation</p:attrName>
                                        </p:attrNameLst>
                                      </p:cBhvr>
                                      <p:tavLst>
                                        <p:tav tm="0">
                                          <p:val>
                                            <p:fltVal val="90"/>
                                          </p:val>
                                        </p:tav>
                                        <p:tav tm="100000">
                                          <p:val>
                                            <p:fltVal val="0"/>
                                          </p:val>
                                        </p:tav>
                                      </p:tavLst>
                                    </p:anim>
                                    <p:animEffect transition="in" filter="fade">
                                      <p:cBhvr>
                                        <p:cTn id="23" dur="10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31" presetClass="entr" presetSubtype="0" fill="hold" grpId="0" nodeType="clickEffect">
                                  <p:stCondLst>
                                    <p:cond delay="0"/>
                                  </p:stCondLst>
                                  <p:iterate type="lt">
                                    <p:tmPct val="5000"/>
                                  </p:iterate>
                                  <p:childTnLst>
                                    <p:set>
                                      <p:cBhvr>
                                        <p:cTn id="32" dur="1" fill="hold">
                                          <p:stCondLst>
                                            <p:cond delay="0"/>
                                          </p:stCondLst>
                                        </p:cTn>
                                        <p:tgtEl>
                                          <p:spTgt spid="13"/>
                                        </p:tgtEl>
                                        <p:attrNameLst>
                                          <p:attrName>style.visibility</p:attrName>
                                        </p:attrNameLst>
                                      </p:cBhvr>
                                      <p:to>
                                        <p:strVal val="visible"/>
                                      </p:to>
                                    </p:set>
                                    <p:anim calcmode="lin" valueType="num">
                                      <p:cBhvr>
                                        <p:cTn id="33" dur="1000" fill="hold"/>
                                        <p:tgtEl>
                                          <p:spTgt spid="13"/>
                                        </p:tgtEl>
                                        <p:attrNameLst>
                                          <p:attrName>ppt_w</p:attrName>
                                        </p:attrNameLst>
                                      </p:cBhvr>
                                      <p:tavLst>
                                        <p:tav tm="0">
                                          <p:val>
                                            <p:fltVal val="0"/>
                                          </p:val>
                                        </p:tav>
                                        <p:tav tm="100000">
                                          <p:val>
                                            <p:strVal val="#ppt_w"/>
                                          </p:val>
                                        </p:tav>
                                      </p:tavLst>
                                    </p:anim>
                                    <p:anim calcmode="lin" valueType="num">
                                      <p:cBhvr>
                                        <p:cTn id="34" dur="1000" fill="hold"/>
                                        <p:tgtEl>
                                          <p:spTgt spid="13"/>
                                        </p:tgtEl>
                                        <p:attrNameLst>
                                          <p:attrName>ppt_h</p:attrName>
                                        </p:attrNameLst>
                                      </p:cBhvr>
                                      <p:tavLst>
                                        <p:tav tm="0">
                                          <p:val>
                                            <p:fltVal val="0"/>
                                          </p:val>
                                        </p:tav>
                                        <p:tav tm="100000">
                                          <p:val>
                                            <p:strVal val="#ppt_h"/>
                                          </p:val>
                                        </p:tav>
                                      </p:tavLst>
                                    </p:anim>
                                    <p:anim calcmode="lin" valueType="num">
                                      <p:cBhvr>
                                        <p:cTn id="35" dur="1000" fill="hold"/>
                                        <p:tgtEl>
                                          <p:spTgt spid="13"/>
                                        </p:tgtEl>
                                        <p:attrNameLst>
                                          <p:attrName>style.rotation</p:attrName>
                                        </p:attrNameLst>
                                      </p:cBhvr>
                                      <p:tavLst>
                                        <p:tav tm="0">
                                          <p:val>
                                            <p:fltVal val="90"/>
                                          </p:val>
                                        </p:tav>
                                        <p:tav tm="100000">
                                          <p:val>
                                            <p:fltVal val="0"/>
                                          </p:val>
                                        </p:tav>
                                      </p:tavLst>
                                    </p:anim>
                                    <p:animEffect transition="in" filter="fade">
                                      <p:cBhvr>
                                        <p:cTn id="36" dur="10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11" grpId="0" animBg="1"/>
      <p:bldP spid="12" grpId="0"/>
      <p:bldP spid="13" grpId="0" animBg="1"/>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12</a:t>
            </a:fld>
            <a:r>
              <a:rPr lang="en-US" dirty="0"/>
              <a:t>&gt;</a:t>
            </a:r>
          </a:p>
        </p:txBody>
      </p:sp>
      <p:sp>
        <p:nvSpPr>
          <p:cNvPr id="3" name="TextBox 2"/>
          <p:cNvSpPr txBox="1"/>
          <p:nvPr/>
        </p:nvSpPr>
        <p:spPr>
          <a:xfrm>
            <a:off x="467544" y="241484"/>
            <a:ext cx="2232248"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竞争力：</a:t>
            </a:r>
          </a:p>
        </p:txBody>
      </p:sp>
      <p:sp>
        <p:nvSpPr>
          <p:cNvPr id="5" name="Rectangle 3"/>
          <p:cNvSpPr txBox="1">
            <a:spLocks noChangeArrowheads="1"/>
          </p:cNvSpPr>
          <p:nvPr/>
        </p:nvSpPr>
        <p:spPr>
          <a:xfrm>
            <a:off x="457200" y="1370013"/>
            <a:ext cx="8075613" cy="1987550"/>
          </a:xfrm>
          <a:prstGeom prst="rect">
            <a:avLst/>
          </a:prstGeom>
        </p:spPr>
        <p:txBody>
          <a:bodyPr vert="horz" lIns="91440" tIns="45720" rIns="91440" bIns="45720" rtlCol="0">
            <a:normAutofit/>
          </a:bodyPr>
          <a:lstStyle>
            <a:lvl1pPr marL="342900" indent="-342900" algn="l" rtl="0" eaLnBrk="0" fontAlgn="base" hangingPunct="0">
              <a:spcBef>
                <a:spcPct val="20000"/>
              </a:spcBef>
              <a:spcAft>
                <a:spcPct val="0"/>
              </a:spcAft>
              <a:buBlip>
                <a:blip r:embed="rId4"/>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5"/>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4"/>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5"/>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5"/>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5"/>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marL="0" indent="0">
              <a:lnSpc>
                <a:spcPct val="150000"/>
              </a:lnSpc>
              <a:buNone/>
            </a:pPr>
            <a:r>
              <a:rPr lang="zh-CN" altLang="en-US" sz="2400" dirty="0">
                <a:solidFill>
                  <a:schemeClr val="tx1">
                    <a:lumMod val="75000"/>
                    <a:lumOff val="25000"/>
                  </a:schemeClr>
                </a:solidFill>
                <a:latin typeface="华文细黑" pitchFamily="2" charset="-122"/>
                <a:ea typeface="华文细黑" pitchFamily="2" charset="-122"/>
              </a:rPr>
              <a:t>竞争力</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自有店铺销售额</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主要竞争对手店铺销售额</a:t>
            </a:r>
          </a:p>
          <a:p>
            <a:pPr>
              <a:lnSpc>
                <a:spcPct val="150000"/>
              </a:lnSpc>
            </a:pPr>
            <a:r>
              <a:rPr lang="zh-CN" altLang="en-US" sz="1800" dirty="0">
                <a:solidFill>
                  <a:srgbClr val="FF0000"/>
                </a:solidFill>
                <a:latin typeface="华文细黑" pitchFamily="2" charset="-122"/>
                <a:ea typeface="华文细黑" pitchFamily="2" charset="-122"/>
              </a:rPr>
              <a:t>指标显示出了自有店铺相对于主要竞争对手店铺的产出能力。</a:t>
            </a:r>
          </a:p>
        </p:txBody>
      </p:sp>
      <p:graphicFrame>
        <p:nvGraphicFramePr>
          <p:cNvPr id="7" name="Object 4"/>
          <p:cNvGraphicFramePr>
            <a:graphicFrameLocks noGrp="1" noChangeAspect="1"/>
          </p:cNvGraphicFramePr>
          <p:nvPr>
            <p:ph sz="half" idx="4294967295"/>
            <p:extLst>
              <p:ext uri="{D42A27DB-BD31-4B8C-83A1-F6EECF244321}">
                <p14:modId xmlns:p14="http://schemas.microsoft.com/office/powerpoint/2010/main" val="551665639"/>
              </p:ext>
            </p:extLst>
          </p:nvPr>
        </p:nvGraphicFramePr>
        <p:xfrm>
          <a:off x="1187450" y="2924944"/>
          <a:ext cx="6840538" cy="2540000"/>
        </p:xfrm>
        <a:graphic>
          <a:graphicData uri="http://schemas.openxmlformats.org/presentationml/2006/ole">
            <mc:AlternateContent xmlns:mc="http://schemas.openxmlformats.org/markup-compatibility/2006">
              <mc:Choice xmlns:v="urn:schemas-microsoft-com:vml" Requires="v">
                <p:oleObj spid="_x0000_s1086" name="图表" r:id="rId6" imgW="9524905" imgH="4057793" progId="MSGraph.Chart.8">
                  <p:embed followColorScheme="full"/>
                </p:oleObj>
              </mc:Choice>
              <mc:Fallback>
                <p:oleObj name="图表" r:id="rId6" imgW="9524905" imgH="4057793" progId="MSGraph.Chart.8">
                  <p:embed followColorScheme="full"/>
                  <p:pic>
                    <p:nvPicPr>
                      <p:cNvPr id="0" name="Picture 60"/>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7450" y="2924944"/>
                        <a:ext cx="6840538" cy="2540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5"/>
          <p:cNvSpPr txBox="1">
            <a:spLocks noChangeArrowheads="1"/>
          </p:cNvSpPr>
          <p:nvPr/>
        </p:nvSpPr>
        <p:spPr bwMode="auto">
          <a:xfrm>
            <a:off x="395288" y="5804669"/>
            <a:ext cx="45370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4500" b="1">
                <a:solidFill>
                  <a:schemeClr val="bg1"/>
                </a:solidFill>
                <a:latin typeface="Times New Roman" pitchFamily="18" charset="0"/>
                <a:ea typeface="文鼎CS行楷" pitchFamily="49" charset="-122"/>
              </a:defRPr>
            </a:lvl1pPr>
            <a:lvl2pPr marL="742950" indent="-285750" eaLnBrk="0" hangingPunct="0">
              <a:defRPr kumimoji="1" sz="4500" b="1">
                <a:solidFill>
                  <a:schemeClr val="bg1"/>
                </a:solidFill>
                <a:latin typeface="Times New Roman" pitchFamily="18" charset="0"/>
                <a:ea typeface="文鼎CS行楷" pitchFamily="49" charset="-122"/>
              </a:defRPr>
            </a:lvl2pPr>
            <a:lvl3pPr marL="1143000" indent="-228600" eaLnBrk="0" hangingPunct="0">
              <a:defRPr kumimoji="1" sz="4500" b="1">
                <a:solidFill>
                  <a:schemeClr val="bg1"/>
                </a:solidFill>
                <a:latin typeface="Times New Roman" pitchFamily="18" charset="0"/>
                <a:ea typeface="文鼎CS行楷" pitchFamily="49" charset="-122"/>
              </a:defRPr>
            </a:lvl3pPr>
            <a:lvl4pPr marL="1600200" indent="-228600" eaLnBrk="0" hangingPunct="0">
              <a:defRPr kumimoji="1" sz="4500" b="1">
                <a:solidFill>
                  <a:schemeClr val="bg1"/>
                </a:solidFill>
                <a:latin typeface="Times New Roman" pitchFamily="18" charset="0"/>
                <a:ea typeface="文鼎CS行楷" pitchFamily="49" charset="-122"/>
              </a:defRPr>
            </a:lvl4pPr>
            <a:lvl5pPr marL="2057400" indent="-228600" eaLnBrk="0" hangingPunct="0">
              <a:defRPr kumimoji="1" sz="4500" b="1">
                <a:solidFill>
                  <a:schemeClr val="bg1"/>
                </a:solidFill>
                <a:latin typeface="Times New Roman" pitchFamily="18" charset="0"/>
                <a:ea typeface="文鼎CS行楷" pitchFamily="49" charset="-122"/>
              </a:defRPr>
            </a:lvl5pPr>
            <a:lvl6pPr marL="2514600" indent="-228600" algn="ctr" eaLnBrk="0" fontAlgn="base" hangingPunct="0">
              <a:spcBef>
                <a:spcPct val="0"/>
              </a:spcBef>
              <a:spcAft>
                <a:spcPct val="0"/>
              </a:spcAft>
              <a:defRPr kumimoji="1" sz="4500" b="1">
                <a:solidFill>
                  <a:schemeClr val="bg1"/>
                </a:solidFill>
                <a:latin typeface="Times New Roman" pitchFamily="18" charset="0"/>
                <a:ea typeface="文鼎CS行楷" pitchFamily="49" charset="-122"/>
              </a:defRPr>
            </a:lvl6pPr>
            <a:lvl7pPr marL="2971800" indent="-228600" algn="ctr" eaLnBrk="0" fontAlgn="base" hangingPunct="0">
              <a:spcBef>
                <a:spcPct val="0"/>
              </a:spcBef>
              <a:spcAft>
                <a:spcPct val="0"/>
              </a:spcAft>
              <a:defRPr kumimoji="1" sz="4500" b="1">
                <a:solidFill>
                  <a:schemeClr val="bg1"/>
                </a:solidFill>
                <a:latin typeface="Times New Roman" pitchFamily="18" charset="0"/>
                <a:ea typeface="文鼎CS行楷" pitchFamily="49" charset="-122"/>
              </a:defRPr>
            </a:lvl7pPr>
            <a:lvl8pPr marL="3429000" indent="-228600" algn="ctr" eaLnBrk="0" fontAlgn="base" hangingPunct="0">
              <a:spcBef>
                <a:spcPct val="0"/>
              </a:spcBef>
              <a:spcAft>
                <a:spcPct val="0"/>
              </a:spcAft>
              <a:defRPr kumimoji="1" sz="4500" b="1">
                <a:solidFill>
                  <a:schemeClr val="bg1"/>
                </a:solidFill>
                <a:latin typeface="Times New Roman" pitchFamily="18" charset="0"/>
                <a:ea typeface="文鼎CS行楷" pitchFamily="49" charset="-122"/>
              </a:defRPr>
            </a:lvl8pPr>
            <a:lvl9pPr marL="3886200" indent="-228600" algn="ctr" eaLnBrk="0" fontAlgn="base" hangingPunct="0">
              <a:spcBef>
                <a:spcPct val="0"/>
              </a:spcBef>
              <a:spcAft>
                <a:spcPct val="0"/>
              </a:spcAft>
              <a:defRPr kumimoji="1" sz="4500" b="1">
                <a:solidFill>
                  <a:schemeClr val="bg1"/>
                </a:solidFill>
                <a:latin typeface="Times New Roman" pitchFamily="18" charset="0"/>
                <a:ea typeface="文鼎CS行楷" pitchFamily="49" charset="-122"/>
              </a:defRPr>
            </a:lvl9pPr>
          </a:lstStyle>
          <a:p>
            <a:pPr algn="l" eaLnBrk="1" hangingPunct="1">
              <a:spcBef>
                <a:spcPct val="50000"/>
              </a:spcBef>
            </a:pPr>
            <a:r>
              <a:rPr kumimoji="0" lang="zh-CN" altLang="en-US" sz="1400" dirty="0">
                <a:solidFill>
                  <a:schemeClr val="tx1"/>
                </a:solidFill>
                <a:latin typeface="华文中宋" pitchFamily="2" charset="-122"/>
                <a:ea typeface="华文中宋" pitchFamily="2" charset="-122"/>
              </a:rPr>
              <a:t>数据来源：</a:t>
            </a:r>
            <a:r>
              <a:rPr kumimoji="0" lang="en-US" altLang="zh-CN" sz="1400" dirty="0">
                <a:solidFill>
                  <a:schemeClr val="tx1"/>
                </a:solidFill>
                <a:latin typeface="华文中宋" pitchFamily="2" charset="-122"/>
                <a:ea typeface="华文中宋" pitchFamily="2" charset="-122"/>
              </a:rPr>
              <a:t>XX</a:t>
            </a:r>
            <a:r>
              <a:rPr kumimoji="0" lang="zh-CN" altLang="en-US" sz="1400" dirty="0">
                <a:solidFill>
                  <a:schemeClr val="tx1"/>
                </a:solidFill>
                <a:latin typeface="华文中宋" pitchFamily="2" charset="-122"/>
                <a:ea typeface="华文中宋" pitchFamily="2" charset="-122"/>
              </a:rPr>
              <a:t>地区</a:t>
            </a:r>
            <a:r>
              <a:rPr kumimoji="0" lang="en-US" altLang="zh-CN" sz="1400" dirty="0">
                <a:solidFill>
                  <a:schemeClr val="tx1"/>
                </a:solidFill>
                <a:latin typeface="华文中宋" pitchFamily="2" charset="-122"/>
                <a:ea typeface="华文中宋" pitchFamily="2" charset="-122"/>
              </a:rPr>
              <a:t>AD2008</a:t>
            </a:r>
            <a:r>
              <a:rPr kumimoji="0" lang="zh-CN" altLang="en-US" sz="1400" dirty="0">
                <a:solidFill>
                  <a:schemeClr val="tx1"/>
                </a:solidFill>
                <a:latin typeface="华文中宋" pitchFamily="2" charset="-122"/>
                <a:ea typeface="华文中宋" pitchFamily="2" charset="-122"/>
              </a:rPr>
              <a:t>年</a:t>
            </a:r>
            <a:r>
              <a:rPr kumimoji="0" lang="en-US" altLang="zh-CN" sz="1400" dirty="0">
                <a:solidFill>
                  <a:schemeClr val="tx1"/>
                </a:solidFill>
                <a:latin typeface="华文中宋" pitchFamily="2" charset="-122"/>
                <a:ea typeface="华文中宋" pitchFamily="2" charset="-122"/>
              </a:rPr>
              <a:t>12</a:t>
            </a:r>
            <a:r>
              <a:rPr kumimoji="0" lang="zh-CN" altLang="en-US" sz="1400" dirty="0">
                <a:solidFill>
                  <a:schemeClr val="tx1"/>
                </a:solidFill>
                <a:latin typeface="华文中宋" pitchFamily="2" charset="-122"/>
                <a:ea typeface="华文中宋" pitchFamily="2" charset="-122"/>
              </a:rPr>
              <a:t>月店铺销售报表</a:t>
            </a:r>
          </a:p>
        </p:txBody>
      </p:sp>
    </p:spTree>
    <p:extLst>
      <p:ext uri="{BB962C8B-B14F-4D97-AF65-F5344CB8AC3E}">
        <p14:creationId xmlns:p14="http://schemas.microsoft.com/office/powerpoint/2010/main" val="480766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OleChart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2" descr="www.tuweimei.comComp_190022_19WJGh0e6GhVwk2Mn5tgVRsgyQifTu.jpg"/>
          <p:cNvPicPr>
            <a:picLocks noGrp="1" noChangeAspect="1"/>
          </p:cNvPicPr>
          <p:nvPr isPhoto="1"/>
        </p:nvPicPr>
        <p:blipFill>
          <a:blip r:embed="rId3">
            <a:extLst>
              <a:ext uri="{28A0092B-C50C-407E-A947-70E740481C1C}">
                <a14:useLocalDpi xmlns:a14="http://schemas.microsoft.com/office/drawing/2010/main" val="0"/>
              </a:ext>
            </a:extLst>
          </a:blip>
          <a:srcRect/>
          <a:stretch>
            <a:fillRect/>
          </a:stretch>
        </p:blipFill>
        <p:spPr bwMode="auto">
          <a:xfrm>
            <a:off x="5500694" y="3500458"/>
            <a:ext cx="3243263" cy="2857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13</a:t>
            </a:fld>
            <a:r>
              <a:rPr lang="en-US" dirty="0"/>
              <a:t>&gt;</a:t>
            </a:r>
          </a:p>
        </p:txBody>
      </p:sp>
      <p:sp>
        <p:nvSpPr>
          <p:cNvPr id="3" name="TextBox 2"/>
          <p:cNvSpPr txBox="1"/>
          <p:nvPr/>
        </p:nvSpPr>
        <p:spPr>
          <a:xfrm>
            <a:off x="467544" y="241484"/>
            <a:ext cx="2232248"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竞争力：</a:t>
            </a:r>
          </a:p>
        </p:txBody>
      </p:sp>
      <p:sp>
        <p:nvSpPr>
          <p:cNvPr id="9" name="Rectangle 2"/>
          <p:cNvSpPr txBox="1">
            <a:spLocks noChangeArrowheads="1"/>
          </p:cNvSpPr>
          <p:nvPr/>
        </p:nvSpPr>
        <p:spPr>
          <a:xfrm>
            <a:off x="357158" y="1266527"/>
            <a:ext cx="7772400" cy="5330825"/>
          </a:xfrm>
          <a:prstGeom prst="rect">
            <a:avLst/>
          </a:prstGeom>
          <a:effectLst/>
        </p:spPr>
        <p:txBody>
          <a:bodyPr vert="horz" lIns="91440" tIns="45720" rIns="91440" bIns="45720" rtlCol="0">
            <a:normAutofit/>
          </a:bodyPr>
          <a:lstStyle>
            <a:lvl1pPr marL="342900" indent="-342900" algn="l" rtl="0" eaLnBrk="0" fontAlgn="base" hangingPunct="0">
              <a:spcBef>
                <a:spcPct val="20000"/>
              </a:spcBef>
              <a:spcAft>
                <a:spcPct val="0"/>
              </a:spcAft>
              <a:buBlip>
                <a:blip r:embed="rId4"/>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5"/>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4"/>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5"/>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5"/>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5"/>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a:lnSpc>
                <a:spcPct val="150000"/>
              </a:lnSpc>
            </a:pP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竞争力：指一个品牌能够比竞争对手品牌更有效地向消费者（或市场）提供产品或者服务，并且能够获得自身发展的能力或者综合素质。也就是有竞争力者需占据更多市场份额，并且需能获取利润保证自身发展。</a:t>
            </a:r>
          </a:p>
          <a:p>
            <a:pPr>
              <a:lnSpc>
                <a:spcPct val="150000"/>
              </a:lnSpc>
            </a:pP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指标显示出了自有店铺相对于主要竞争对手店铺的产出能力，比例越高，说明自有店铺的经营优势越大。</a:t>
            </a:r>
          </a:p>
        </p:txBody>
      </p:sp>
    </p:spTree>
    <p:extLst>
      <p:ext uri="{BB962C8B-B14F-4D97-AF65-F5344CB8AC3E}">
        <p14:creationId xmlns:p14="http://schemas.microsoft.com/office/powerpoint/2010/main" val="380303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1" y="6448251"/>
            <a:ext cx="1061459"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14</a:t>
            </a:fld>
            <a:r>
              <a:rPr lang="en-US" dirty="0"/>
              <a:t>&gt;</a:t>
            </a:r>
          </a:p>
        </p:txBody>
      </p:sp>
      <p:sp>
        <p:nvSpPr>
          <p:cNvPr id="3" name="TextBox 2"/>
          <p:cNvSpPr txBox="1"/>
          <p:nvPr/>
        </p:nvSpPr>
        <p:spPr>
          <a:xfrm>
            <a:off x="467544" y="241484"/>
            <a:ext cx="3024336"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销售贡献率：</a:t>
            </a:r>
          </a:p>
        </p:txBody>
      </p:sp>
      <p:sp>
        <p:nvSpPr>
          <p:cNvPr id="5" name="TextBox 4"/>
          <p:cNvSpPr txBox="1"/>
          <p:nvPr/>
        </p:nvSpPr>
        <p:spPr>
          <a:xfrm>
            <a:off x="611560" y="1268760"/>
            <a:ext cx="7920880" cy="1015663"/>
          </a:xfrm>
          <a:prstGeom prst="rect">
            <a:avLst/>
          </a:prstGeom>
          <a:noFill/>
          <a:effectLst/>
        </p:spPr>
        <p:txBody>
          <a:bodyPr wrap="square" rtlCol="0">
            <a:spAutoFit/>
          </a:bodyPr>
          <a:lstStyle/>
          <a:p>
            <a:pPr>
              <a:spcBef>
                <a:spcPts val="400"/>
              </a:spcBef>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销售贡献率即某项目销售所占的比重或所占市场份额，可以是品牌、品类、季节、价格带、新老客户销售占比等等主要为结构性数据，其作用为营运决策或订货分解等提供参考数据；</a:t>
            </a:r>
          </a:p>
        </p:txBody>
      </p:sp>
      <p:sp>
        <p:nvSpPr>
          <p:cNvPr id="6" name="TextBox 5"/>
          <p:cNvSpPr txBox="1"/>
          <p:nvPr/>
        </p:nvSpPr>
        <p:spPr>
          <a:xfrm>
            <a:off x="432318" y="2638360"/>
            <a:ext cx="8073997" cy="369332"/>
          </a:xfrm>
          <a:prstGeom prst="rect">
            <a:avLst/>
          </a:prstGeom>
          <a:noFill/>
          <a:effectLst/>
        </p:spPr>
        <p:txBody>
          <a:bodyPr wrap="square" rtlCol="0">
            <a:spAutoFit/>
          </a:bodyPr>
          <a:lstStyle/>
          <a:p>
            <a:r>
              <a:rPr lang="zh-CN" altLang="en-US"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忽视该数据带来的可能后果：</a:t>
            </a:r>
            <a:endParaRPr lang="en-US" altLang="zh-CN"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p:txBody>
      </p:sp>
      <p:grpSp>
        <p:nvGrpSpPr>
          <p:cNvPr id="22" name="组合 21"/>
          <p:cNvGrpSpPr/>
          <p:nvPr/>
        </p:nvGrpSpPr>
        <p:grpSpPr>
          <a:xfrm>
            <a:off x="755576" y="3275510"/>
            <a:ext cx="7467600" cy="3105818"/>
            <a:chOff x="914400" y="1774825"/>
            <a:chExt cx="7467600" cy="3886200"/>
          </a:xfrm>
        </p:grpSpPr>
        <p:sp>
          <p:nvSpPr>
            <p:cNvPr id="7" name="AutoShape 4"/>
            <p:cNvSpPr>
              <a:spLocks noChangeArrowheads="1"/>
            </p:cNvSpPr>
            <p:nvPr/>
          </p:nvSpPr>
          <p:spPr bwMode="auto">
            <a:xfrm>
              <a:off x="914400" y="2841625"/>
              <a:ext cx="1752600" cy="533400"/>
            </a:xfrm>
            <a:prstGeom prst="roundRect">
              <a:avLst>
                <a:gd name="adj" fmla="val 16667"/>
              </a:avLst>
            </a:prstGeom>
            <a:solidFill>
              <a:srgbClr val="EAEAEA"/>
            </a:solidFill>
            <a:ln w="9525" algn="ctr">
              <a:solidFill>
                <a:schemeClr val="tx1"/>
              </a:solidFill>
              <a:round/>
              <a:headEnd/>
              <a:tailEnd/>
            </a:ln>
          </p:spPr>
          <p:txBody>
            <a:bodyPr wrap="none" anchor="ctr"/>
            <a:lstStyle/>
            <a:p>
              <a:pPr algn="ctr"/>
              <a:r>
                <a:rPr lang="zh-CN" altLang="en-US" b="1">
                  <a:latin typeface="Arial" charset="0"/>
                  <a:ea typeface="华文细黑" pitchFamily="2" charset="-122"/>
                </a:rPr>
                <a:t>品类结构缺失</a:t>
              </a:r>
            </a:p>
          </p:txBody>
        </p:sp>
        <p:sp>
          <p:nvSpPr>
            <p:cNvPr id="8" name="AutoShape 5"/>
            <p:cNvSpPr>
              <a:spLocks noChangeArrowheads="1"/>
            </p:cNvSpPr>
            <p:nvPr/>
          </p:nvSpPr>
          <p:spPr bwMode="auto">
            <a:xfrm>
              <a:off x="914400" y="3756025"/>
              <a:ext cx="1752600" cy="533400"/>
            </a:xfrm>
            <a:prstGeom prst="roundRect">
              <a:avLst>
                <a:gd name="adj" fmla="val 16667"/>
              </a:avLst>
            </a:prstGeom>
            <a:solidFill>
              <a:srgbClr val="EAEAEA"/>
            </a:solidFill>
            <a:ln w="9525" algn="ctr">
              <a:solidFill>
                <a:schemeClr val="tx1"/>
              </a:solidFill>
              <a:round/>
              <a:headEnd/>
              <a:tailEnd/>
            </a:ln>
          </p:spPr>
          <p:txBody>
            <a:bodyPr wrap="none" anchor="ctr"/>
            <a:lstStyle/>
            <a:p>
              <a:pPr algn="ctr"/>
              <a:r>
                <a:rPr lang="zh-CN" altLang="en-US" b="1">
                  <a:latin typeface="Arial" charset="0"/>
                  <a:ea typeface="华文细黑" pitchFamily="2" charset="-122"/>
                </a:rPr>
                <a:t>价格结构混乱</a:t>
              </a:r>
            </a:p>
          </p:txBody>
        </p:sp>
        <p:sp>
          <p:nvSpPr>
            <p:cNvPr id="9" name="AutoShape 6"/>
            <p:cNvSpPr>
              <a:spLocks noChangeArrowheads="1"/>
            </p:cNvSpPr>
            <p:nvPr/>
          </p:nvSpPr>
          <p:spPr bwMode="auto">
            <a:xfrm>
              <a:off x="914400" y="4670425"/>
              <a:ext cx="1752600" cy="533400"/>
            </a:xfrm>
            <a:prstGeom prst="roundRect">
              <a:avLst>
                <a:gd name="adj" fmla="val 16667"/>
              </a:avLst>
            </a:prstGeom>
            <a:solidFill>
              <a:srgbClr val="EAEAEA"/>
            </a:solidFill>
            <a:ln w="9525" algn="ctr">
              <a:solidFill>
                <a:schemeClr val="tx1"/>
              </a:solidFill>
              <a:round/>
              <a:headEnd/>
              <a:tailEnd/>
            </a:ln>
          </p:spPr>
          <p:txBody>
            <a:bodyPr wrap="none" anchor="ctr"/>
            <a:lstStyle/>
            <a:p>
              <a:pPr algn="ctr"/>
              <a:r>
                <a:rPr lang="zh-CN" altLang="en-US" b="1" dirty="0">
                  <a:latin typeface="Arial" charset="0"/>
                  <a:ea typeface="华文细黑" pitchFamily="2" charset="-122"/>
                </a:rPr>
                <a:t>陈列结构失调</a:t>
              </a:r>
            </a:p>
          </p:txBody>
        </p:sp>
        <p:sp>
          <p:nvSpPr>
            <p:cNvPr id="10" name="Rectangle 8"/>
            <p:cNvSpPr>
              <a:spLocks noChangeArrowheads="1"/>
            </p:cNvSpPr>
            <p:nvPr/>
          </p:nvSpPr>
          <p:spPr bwMode="auto">
            <a:xfrm>
              <a:off x="4114800" y="1774825"/>
              <a:ext cx="2133600" cy="838200"/>
            </a:xfrm>
            <a:prstGeom prst="rect">
              <a:avLst/>
            </a:prstGeom>
            <a:solidFill>
              <a:schemeClr val="bg1"/>
            </a:solidFill>
            <a:ln w="9525" algn="ctr">
              <a:solidFill>
                <a:schemeClr val="tx1"/>
              </a:solidFill>
              <a:miter lim="800000"/>
              <a:headEnd/>
              <a:tailEnd/>
            </a:ln>
          </p:spPr>
          <p:txBody>
            <a:bodyPr wrap="none" anchor="ctr"/>
            <a:lstStyle/>
            <a:p>
              <a:r>
                <a:rPr lang="zh-CN" altLang="en-US" dirty="0">
                  <a:solidFill>
                    <a:srgbClr val="903441"/>
                  </a:solidFill>
                  <a:latin typeface="Arial" charset="0"/>
                  <a:ea typeface="华文细黑" pitchFamily="2" charset="-122"/>
                </a:rPr>
                <a:t>顾客流失</a:t>
              </a:r>
              <a:r>
                <a:rPr lang="en-US" altLang="zh-CN" dirty="0">
                  <a:solidFill>
                    <a:srgbClr val="903441"/>
                  </a:solidFill>
                  <a:latin typeface="Arial" charset="0"/>
                  <a:ea typeface="华文细黑" pitchFamily="2" charset="-122"/>
                </a:rPr>
                <a:t>/</a:t>
              </a:r>
              <a:r>
                <a:rPr lang="zh-CN" altLang="en-US" dirty="0">
                  <a:solidFill>
                    <a:srgbClr val="903441"/>
                  </a:solidFill>
                  <a:latin typeface="Arial" charset="0"/>
                  <a:ea typeface="华文细黑" pitchFamily="2" charset="-122"/>
                </a:rPr>
                <a:t>不适销</a:t>
              </a:r>
              <a:r>
                <a:rPr lang="en-US" altLang="zh-CN" dirty="0">
                  <a:solidFill>
                    <a:srgbClr val="903441"/>
                  </a:solidFill>
                  <a:latin typeface="Arial" charset="0"/>
                  <a:ea typeface="华文细黑" pitchFamily="2" charset="-122"/>
                </a:rPr>
                <a:t>/</a:t>
              </a:r>
            </a:p>
            <a:p>
              <a:r>
                <a:rPr lang="zh-CN" altLang="en-US" dirty="0">
                  <a:solidFill>
                    <a:srgbClr val="903441"/>
                  </a:solidFill>
                  <a:latin typeface="Arial" charset="0"/>
                  <a:ea typeface="华文细黑" pitchFamily="2" charset="-122"/>
                </a:rPr>
                <a:t>店铺平效低下</a:t>
              </a:r>
            </a:p>
          </p:txBody>
        </p:sp>
        <p:sp>
          <p:nvSpPr>
            <p:cNvPr id="11" name="Rectangle 9"/>
            <p:cNvSpPr>
              <a:spLocks noChangeArrowheads="1"/>
            </p:cNvSpPr>
            <p:nvPr/>
          </p:nvSpPr>
          <p:spPr bwMode="auto">
            <a:xfrm>
              <a:off x="4114800" y="2689225"/>
              <a:ext cx="2133600" cy="838200"/>
            </a:xfrm>
            <a:prstGeom prst="rect">
              <a:avLst/>
            </a:prstGeom>
            <a:solidFill>
              <a:schemeClr val="bg1"/>
            </a:solidFill>
            <a:ln w="9525" algn="ctr">
              <a:solidFill>
                <a:schemeClr val="tx1"/>
              </a:solidFill>
              <a:miter lim="800000"/>
              <a:headEnd/>
              <a:tailEnd/>
            </a:ln>
          </p:spPr>
          <p:txBody>
            <a:bodyPr wrap="none" anchor="ctr"/>
            <a:lstStyle/>
            <a:p>
              <a:r>
                <a:rPr lang="zh-CN" altLang="en-US" dirty="0">
                  <a:solidFill>
                    <a:srgbClr val="903441"/>
                  </a:solidFill>
                  <a:latin typeface="Arial" charset="0"/>
                  <a:ea typeface="华文细黑" pitchFamily="2" charset="-122"/>
                </a:rPr>
                <a:t>无法配搭销售</a:t>
              </a:r>
              <a:r>
                <a:rPr lang="en-US" altLang="zh-CN" dirty="0">
                  <a:solidFill>
                    <a:srgbClr val="903441"/>
                  </a:solidFill>
                  <a:latin typeface="Arial" charset="0"/>
                  <a:ea typeface="华文细黑" pitchFamily="2" charset="-122"/>
                </a:rPr>
                <a:t>/</a:t>
              </a:r>
              <a:r>
                <a:rPr lang="zh-CN" altLang="en-US" dirty="0">
                  <a:solidFill>
                    <a:srgbClr val="903441"/>
                  </a:solidFill>
                  <a:latin typeface="Arial" charset="0"/>
                  <a:ea typeface="华文细黑" pitchFamily="2" charset="-122"/>
                </a:rPr>
                <a:t>高单</a:t>
              </a:r>
            </a:p>
            <a:p>
              <a:r>
                <a:rPr lang="zh-CN" altLang="en-US" dirty="0">
                  <a:solidFill>
                    <a:srgbClr val="903441"/>
                  </a:solidFill>
                  <a:latin typeface="Arial" charset="0"/>
                  <a:ea typeface="华文细黑" pitchFamily="2" charset="-122"/>
                </a:rPr>
                <a:t>率低</a:t>
              </a:r>
              <a:r>
                <a:rPr lang="en-US" altLang="zh-CN" dirty="0">
                  <a:solidFill>
                    <a:srgbClr val="903441"/>
                  </a:solidFill>
                  <a:latin typeface="Arial" charset="0"/>
                  <a:ea typeface="华文细黑" pitchFamily="2" charset="-122"/>
                </a:rPr>
                <a:t>/</a:t>
              </a:r>
              <a:r>
                <a:rPr lang="zh-CN" altLang="en-US" dirty="0">
                  <a:solidFill>
                    <a:srgbClr val="903441"/>
                  </a:solidFill>
                  <a:latin typeface="Arial" charset="0"/>
                  <a:ea typeface="华文细黑" pitchFamily="2" charset="-122"/>
                </a:rPr>
                <a:t>店铺平效低下</a:t>
              </a:r>
            </a:p>
          </p:txBody>
        </p:sp>
        <p:sp>
          <p:nvSpPr>
            <p:cNvPr id="12" name="Rectangle 10"/>
            <p:cNvSpPr>
              <a:spLocks noChangeArrowheads="1"/>
            </p:cNvSpPr>
            <p:nvPr/>
          </p:nvSpPr>
          <p:spPr bwMode="auto">
            <a:xfrm>
              <a:off x="4114800" y="3603625"/>
              <a:ext cx="2133600" cy="838200"/>
            </a:xfrm>
            <a:prstGeom prst="rect">
              <a:avLst/>
            </a:prstGeom>
            <a:solidFill>
              <a:schemeClr val="bg1"/>
            </a:solidFill>
            <a:ln w="9525" algn="ctr">
              <a:solidFill>
                <a:schemeClr val="tx1"/>
              </a:solidFill>
              <a:miter lim="800000"/>
              <a:headEnd/>
              <a:tailEnd/>
            </a:ln>
          </p:spPr>
          <p:txBody>
            <a:bodyPr wrap="none" anchor="ctr"/>
            <a:lstStyle/>
            <a:p>
              <a:r>
                <a:rPr lang="zh-CN" altLang="en-US" dirty="0">
                  <a:solidFill>
                    <a:srgbClr val="903441"/>
                  </a:solidFill>
                  <a:latin typeface="Arial" charset="0"/>
                  <a:ea typeface="华文细黑" pitchFamily="2" charset="-122"/>
                </a:rPr>
                <a:t>自我价格冲击</a:t>
              </a:r>
              <a:r>
                <a:rPr lang="en-US" altLang="zh-CN" dirty="0">
                  <a:solidFill>
                    <a:srgbClr val="903441"/>
                  </a:solidFill>
                  <a:latin typeface="Arial" charset="0"/>
                  <a:ea typeface="华文细黑" pitchFamily="2" charset="-122"/>
                </a:rPr>
                <a:t>/ </a:t>
              </a:r>
              <a:r>
                <a:rPr lang="zh-CN" altLang="en-US" dirty="0">
                  <a:solidFill>
                    <a:srgbClr val="903441"/>
                  </a:solidFill>
                  <a:latin typeface="Arial" charset="0"/>
                  <a:ea typeface="华文细黑" pitchFamily="2" charset="-122"/>
                </a:rPr>
                <a:t>成交</a:t>
              </a:r>
            </a:p>
            <a:p>
              <a:r>
                <a:rPr lang="zh-CN" altLang="en-US" dirty="0">
                  <a:solidFill>
                    <a:srgbClr val="903441"/>
                  </a:solidFill>
                  <a:latin typeface="Arial" charset="0"/>
                  <a:ea typeface="华文细黑" pitchFamily="2" charset="-122"/>
                </a:rPr>
                <a:t>率低</a:t>
              </a:r>
              <a:r>
                <a:rPr lang="en-US" altLang="zh-CN" dirty="0">
                  <a:solidFill>
                    <a:srgbClr val="903441"/>
                  </a:solidFill>
                  <a:latin typeface="Arial" charset="0"/>
                  <a:ea typeface="华文细黑" pitchFamily="2" charset="-122"/>
                </a:rPr>
                <a:t>/</a:t>
              </a:r>
              <a:r>
                <a:rPr lang="zh-CN" altLang="en-US" dirty="0">
                  <a:solidFill>
                    <a:srgbClr val="903441"/>
                  </a:solidFill>
                  <a:latin typeface="Arial" charset="0"/>
                  <a:ea typeface="华文细黑" pitchFamily="2" charset="-122"/>
                </a:rPr>
                <a:t>利润低下</a:t>
              </a:r>
            </a:p>
          </p:txBody>
        </p:sp>
        <p:sp>
          <p:nvSpPr>
            <p:cNvPr id="13" name="Rectangle 11"/>
            <p:cNvSpPr>
              <a:spLocks noChangeArrowheads="1"/>
            </p:cNvSpPr>
            <p:nvPr/>
          </p:nvSpPr>
          <p:spPr bwMode="auto">
            <a:xfrm>
              <a:off x="4114800" y="4518025"/>
              <a:ext cx="2133600" cy="838200"/>
            </a:xfrm>
            <a:prstGeom prst="rect">
              <a:avLst/>
            </a:prstGeom>
            <a:solidFill>
              <a:schemeClr val="bg1"/>
            </a:solidFill>
            <a:ln w="9525" algn="ctr">
              <a:solidFill>
                <a:schemeClr val="tx1"/>
              </a:solidFill>
              <a:miter lim="800000"/>
              <a:headEnd/>
              <a:tailEnd/>
            </a:ln>
          </p:spPr>
          <p:txBody>
            <a:bodyPr wrap="none" anchor="ctr"/>
            <a:lstStyle/>
            <a:p>
              <a:r>
                <a:rPr lang="zh-CN" altLang="en-US" dirty="0">
                  <a:solidFill>
                    <a:srgbClr val="903441"/>
                  </a:solidFill>
                  <a:latin typeface="Arial" charset="0"/>
                  <a:ea typeface="华文细黑" pitchFamily="2" charset="-122"/>
                </a:rPr>
                <a:t>库存风险大</a:t>
              </a:r>
              <a:r>
                <a:rPr lang="en-US" altLang="zh-CN" dirty="0">
                  <a:solidFill>
                    <a:srgbClr val="903441"/>
                  </a:solidFill>
                  <a:latin typeface="Arial" charset="0"/>
                  <a:ea typeface="华文细黑" pitchFamily="2" charset="-122"/>
                </a:rPr>
                <a:t>/</a:t>
              </a:r>
              <a:r>
                <a:rPr lang="zh-CN" altLang="en-US" dirty="0">
                  <a:solidFill>
                    <a:srgbClr val="903441"/>
                  </a:solidFill>
                  <a:latin typeface="Arial" charset="0"/>
                  <a:ea typeface="华文细黑" pitchFamily="2" charset="-122"/>
                </a:rPr>
                <a:t>陈列单</a:t>
              </a:r>
            </a:p>
            <a:p>
              <a:r>
                <a:rPr lang="zh-CN" altLang="en-US" dirty="0">
                  <a:solidFill>
                    <a:srgbClr val="903441"/>
                  </a:solidFill>
                  <a:latin typeface="Arial" charset="0"/>
                  <a:ea typeface="华文细黑" pitchFamily="2" charset="-122"/>
                </a:rPr>
                <a:t>调</a:t>
              </a:r>
            </a:p>
          </p:txBody>
        </p:sp>
        <p:cxnSp>
          <p:nvCxnSpPr>
            <p:cNvPr id="14" name="AutoShape 13"/>
            <p:cNvCxnSpPr>
              <a:cxnSpLocks noChangeShapeType="1"/>
              <a:stCxn id="7" idx="3"/>
              <a:endCxn id="11" idx="1"/>
            </p:cNvCxnSpPr>
            <p:nvPr/>
          </p:nvCxnSpPr>
          <p:spPr bwMode="auto">
            <a:xfrm>
              <a:off x="2667000" y="3108325"/>
              <a:ext cx="1447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5" name="AutoShape 14"/>
            <p:cNvCxnSpPr>
              <a:cxnSpLocks noChangeShapeType="1"/>
              <a:stCxn id="8" idx="3"/>
              <a:endCxn id="12" idx="1"/>
            </p:cNvCxnSpPr>
            <p:nvPr/>
          </p:nvCxnSpPr>
          <p:spPr bwMode="auto">
            <a:xfrm>
              <a:off x="2667000" y="4022725"/>
              <a:ext cx="1447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6" name="AutoShape 15"/>
            <p:cNvCxnSpPr>
              <a:cxnSpLocks noChangeShapeType="1"/>
              <a:stCxn id="9" idx="3"/>
              <a:endCxn id="13" idx="1"/>
            </p:cNvCxnSpPr>
            <p:nvPr/>
          </p:nvCxnSpPr>
          <p:spPr bwMode="auto">
            <a:xfrm>
              <a:off x="2667000" y="4937125"/>
              <a:ext cx="1447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7" name="AutoShape 17"/>
            <p:cNvCxnSpPr>
              <a:cxnSpLocks noChangeShapeType="1"/>
              <a:endCxn id="13" idx="3"/>
            </p:cNvCxnSpPr>
            <p:nvPr/>
          </p:nvCxnSpPr>
          <p:spPr bwMode="auto">
            <a:xfrm>
              <a:off x="6248400" y="2193925"/>
              <a:ext cx="1588" cy="2743200"/>
            </a:xfrm>
            <a:prstGeom prst="bentConnector3">
              <a:avLst>
                <a:gd name="adj1" fmla="val 14400005"/>
              </a:avLst>
            </a:prstGeom>
            <a:noFill/>
            <a:ln w="9525">
              <a:solidFill>
                <a:schemeClr val="tx1"/>
              </a:solidFill>
              <a:miter lim="800000"/>
              <a:headEnd/>
              <a:tailEnd/>
            </a:ln>
            <a:extLst>
              <a:ext uri="{909E8E84-426E-40DD-AFC4-6F175D3DCCD1}">
                <a14:hiddenFill xmlns:a14="http://schemas.microsoft.com/office/drawing/2010/main">
                  <a:noFill/>
                </a14:hiddenFill>
              </a:ext>
            </a:extLst>
          </p:spPr>
        </p:cxnSp>
        <p:sp>
          <p:nvSpPr>
            <p:cNvPr id="18" name="AutoShape 18"/>
            <p:cNvSpPr>
              <a:spLocks noChangeArrowheads="1"/>
            </p:cNvSpPr>
            <p:nvPr/>
          </p:nvSpPr>
          <p:spPr bwMode="auto">
            <a:xfrm>
              <a:off x="7315200" y="2841625"/>
              <a:ext cx="1066800" cy="2819400"/>
            </a:xfrm>
            <a:prstGeom prst="downArrowCallout">
              <a:avLst>
                <a:gd name="adj1" fmla="val 25000"/>
                <a:gd name="adj2" fmla="val 25000"/>
                <a:gd name="adj3" fmla="val 44048"/>
                <a:gd name="adj4" fmla="val 66667"/>
              </a:avLst>
            </a:prstGeom>
            <a:ln>
              <a:headEnd/>
              <a:tailEnd/>
            </a:ln>
          </p:spPr>
          <p:style>
            <a:lnRef idx="1">
              <a:schemeClr val="accent5"/>
            </a:lnRef>
            <a:fillRef idx="3">
              <a:schemeClr val="accent5"/>
            </a:fillRef>
            <a:effectRef idx="2">
              <a:schemeClr val="accent5"/>
            </a:effectRef>
            <a:fontRef idx="minor">
              <a:schemeClr val="lt1"/>
            </a:fontRef>
          </p:style>
          <p:txBody>
            <a:bodyPr wrap="none" anchor="ctr"/>
            <a:lstStyle/>
            <a:p>
              <a:pPr algn="ctr"/>
              <a:r>
                <a:rPr lang="zh-CN" altLang="en-US" sz="2000" dirty="0">
                  <a:solidFill>
                    <a:schemeClr val="bg1"/>
                  </a:solidFill>
                  <a:latin typeface="华文细黑" pitchFamily="2" charset="-122"/>
                  <a:ea typeface="华文细黑" pitchFamily="2" charset="-122"/>
                </a:rPr>
                <a:t>利润下滑</a:t>
              </a:r>
            </a:p>
          </p:txBody>
        </p:sp>
        <p:sp>
          <p:nvSpPr>
            <p:cNvPr id="19" name="AutoShape 19"/>
            <p:cNvSpPr>
              <a:spLocks noChangeArrowheads="1"/>
            </p:cNvSpPr>
            <p:nvPr/>
          </p:nvSpPr>
          <p:spPr bwMode="auto">
            <a:xfrm>
              <a:off x="6477000" y="3527425"/>
              <a:ext cx="838200" cy="457200"/>
            </a:xfrm>
            <a:prstGeom prst="rightArrow">
              <a:avLst>
                <a:gd name="adj1" fmla="val 50000"/>
                <a:gd name="adj2" fmla="val 45833"/>
              </a:avLst>
            </a:prstGeom>
            <a:solidFill>
              <a:schemeClr val="accent1"/>
            </a:solidFill>
            <a:ln w="9525" algn="ctr">
              <a:solidFill>
                <a:schemeClr val="tx1"/>
              </a:solidFill>
              <a:miter lim="800000"/>
              <a:headEnd/>
              <a:tailEnd/>
            </a:ln>
          </p:spPr>
          <p:txBody>
            <a:bodyPr wrap="none" anchor="ctr"/>
            <a:lstStyle/>
            <a:p>
              <a:endParaRPr lang="zh-CN" altLang="en-US"/>
            </a:p>
          </p:txBody>
        </p:sp>
        <p:sp>
          <p:nvSpPr>
            <p:cNvPr id="20" name="AutoShape 26"/>
            <p:cNvSpPr>
              <a:spLocks noChangeArrowheads="1"/>
            </p:cNvSpPr>
            <p:nvPr/>
          </p:nvSpPr>
          <p:spPr bwMode="auto">
            <a:xfrm>
              <a:off x="914400" y="1927225"/>
              <a:ext cx="1752600" cy="533400"/>
            </a:xfrm>
            <a:prstGeom prst="roundRect">
              <a:avLst>
                <a:gd name="adj" fmla="val 16667"/>
              </a:avLst>
            </a:prstGeom>
            <a:solidFill>
              <a:srgbClr val="EAEAEA"/>
            </a:solidFill>
            <a:ln w="9525" algn="ctr">
              <a:solidFill>
                <a:schemeClr val="tx1"/>
              </a:solidFill>
              <a:round/>
              <a:headEnd/>
              <a:tailEnd/>
            </a:ln>
          </p:spPr>
          <p:txBody>
            <a:bodyPr wrap="none" anchor="ctr"/>
            <a:lstStyle/>
            <a:p>
              <a:pPr algn="ctr"/>
              <a:r>
                <a:rPr lang="zh-CN" altLang="en-US" b="1" dirty="0">
                  <a:latin typeface="Arial" charset="0"/>
                  <a:ea typeface="华文细黑" pitchFamily="2" charset="-122"/>
                </a:rPr>
                <a:t>系列结构错位</a:t>
              </a:r>
            </a:p>
          </p:txBody>
        </p:sp>
        <p:cxnSp>
          <p:nvCxnSpPr>
            <p:cNvPr id="21" name="AutoShape 27"/>
            <p:cNvCxnSpPr>
              <a:cxnSpLocks noChangeShapeType="1"/>
            </p:cNvCxnSpPr>
            <p:nvPr/>
          </p:nvCxnSpPr>
          <p:spPr bwMode="auto">
            <a:xfrm>
              <a:off x="2667000" y="2155825"/>
              <a:ext cx="1447800"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36953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circle(in)">
                                      <p:cBhvr>
                                        <p:cTn id="17" dur="2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1" y="6448251"/>
            <a:ext cx="1061459"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15</a:t>
            </a:fld>
            <a:r>
              <a:rPr lang="en-US" dirty="0"/>
              <a:t>&gt;</a:t>
            </a:r>
          </a:p>
        </p:txBody>
      </p:sp>
      <p:sp>
        <p:nvSpPr>
          <p:cNvPr id="3" name="TextBox 2"/>
          <p:cNvSpPr txBox="1"/>
          <p:nvPr/>
        </p:nvSpPr>
        <p:spPr>
          <a:xfrm>
            <a:off x="467544" y="241484"/>
            <a:ext cx="2232248"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盈亏平衡点：</a:t>
            </a:r>
          </a:p>
        </p:txBody>
      </p:sp>
      <p:sp>
        <p:nvSpPr>
          <p:cNvPr id="4" name="内容占位符 2"/>
          <p:cNvSpPr txBox="1">
            <a:spLocks/>
          </p:cNvSpPr>
          <p:nvPr/>
        </p:nvSpPr>
        <p:spPr>
          <a:xfrm>
            <a:off x="251520" y="1357313"/>
            <a:ext cx="8208912" cy="4525962"/>
          </a:xfrm>
          <a:prstGeom prst="rect">
            <a:avLst/>
          </a:prstGeom>
          <a:effectLst/>
        </p:spPr>
        <p:txBody>
          <a:bodyPr vert="horz" lIns="91440" tIns="45720" rIns="91440" bIns="45720" rtlCol="0">
            <a:normAutofit/>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a:lnSpc>
                <a:spcPct val="150000"/>
              </a:lnSpc>
            </a:pPr>
            <a:r>
              <a:rPr lang="zh-CN" altLang="en-US" sz="2400" dirty="0">
                <a:solidFill>
                  <a:schemeClr val="tx1">
                    <a:lumMod val="75000"/>
                    <a:lumOff val="25000"/>
                  </a:schemeClr>
                </a:solidFill>
                <a:latin typeface="华文细黑" pitchFamily="2" charset="-122"/>
                <a:ea typeface="华文细黑" pitchFamily="2" charset="-122"/>
              </a:rPr>
              <a:t>总收入</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总支出</a:t>
            </a:r>
            <a:endParaRPr lang="en-US" altLang="zh-CN" sz="2400" dirty="0">
              <a:solidFill>
                <a:schemeClr val="tx1">
                  <a:lumMod val="75000"/>
                  <a:lumOff val="25000"/>
                </a:schemeClr>
              </a:solidFill>
              <a:latin typeface="华文细黑" pitchFamily="2" charset="-122"/>
              <a:ea typeface="华文细黑" pitchFamily="2" charset="-122"/>
            </a:endParaRPr>
          </a:p>
          <a:p>
            <a:pPr>
              <a:lnSpc>
                <a:spcPct val="150000"/>
              </a:lnSpc>
            </a:pPr>
            <a:r>
              <a:rPr lang="zh-CN" altLang="en-US" sz="2400" dirty="0">
                <a:solidFill>
                  <a:schemeClr val="tx1">
                    <a:lumMod val="75000"/>
                    <a:lumOff val="25000"/>
                  </a:schemeClr>
                </a:solidFill>
                <a:latin typeface="华文细黑" pitchFamily="2" charset="-122"/>
                <a:ea typeface="华文细黑" pitchFamily="2" charset="-122"/>
              </a:rPr>
              <a:t>总销售</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商品成本</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运营成本</a:t>
            </a:r>
            <a:r>
              <a:rPr lang="zh-CN" altLang="en-US" sz="1050" dirty="0">
                <a:solidFill>
                  <a:srgbClr val="FF0000"/>
                </a:solidFill>
                <a:latin typeface="华文细黑" pitchFamily="2" charset="-122"/>
                <a:ea typeface="华文细黑" pitchFamily="2" charset="-122"/>
              </a:rPr>
              <a:t>（</a:t>
            </a:r>
            <a:r>
              <a:rPr lang="zh-CN" altLang="en-US" sz="1600" dirty="0">
                <a:solidFill>
                  <a:srgbClr val="FF0000"/>
                </a:solidFill>
                <a:latin typeface="华文细黑" pitchFamily="2" charset="-122"/>
                <a:ea typeface="华文细黑" pitchFamily="2" charset="-122"/>
              </a:rPr>
              <a:t>房租、水电、扣点、工资、店铺损耗费等</a:t>
            </a:r>
            <a:r>
              <a:rPr lang="zh-CN" altLang="en-US" sz="1050" dirty="0">
                <a:solidFill>
                  <a:srgbClr val="FF0000"/>
                </a:solidFill>
                <a:latin typeface="华文细黑" pitchFamily="2" charset="-122"/>
                <a:ea typeface="华文细黑" pitchFamily="2" charset="-122"/>
              </a:rPr>
              <a:t>）</a:t>
            </a:r>
            <a:endParaRPr lang="en-US" altLang="zh-CN" sz="2000" dirty="0">
              <a:solidFill>
                <a:srgbClr val="FF0000"/>
              </a:solidFill>
              <a:latin typeface="华文细黑" pitchFamily="2" charset="-122"/>
              <a:ea typeface="华文细黑" pitchFamily="2" charset="-122"/>
            </a:endParaRPr>
          </a:p>
          <a:p>
            <a:pPr>
              <a:lnSpc>
                <a:spcPct val="150000"/>
              </a:lnSpc>
              <a:buFont typeface="Arial" charset="0"/>
              <a:buNone/>
            </a:pPr>
            <a:endParaRPr lang="en-US" altLang="zh-CN" sz="2000" dirty="0">
              <a:solidFill>
                <a:srgbClr val="FF0000"/>
              </a:solidFill>
              <a:latin typeface="华文细黑" pitchFamily="2" charset="-122"/>
              <a:ea typeface="华文细黑" pitchFamily="2" charset="-122"/>
            </a:endParaRPr>
          </a:p>
          <a:p>
            <a:pPr>
              <a:lnSpc>
                <a:spcPct val="150000"/>
              </a:lnSpc>
              <a:buFont typeface="Arial" charset="0"/>
              <a:buNone/>
            </a:pPr>
            <a:r>
              <a:rPr lang="zh-CN" altLang="en-US" sz="2000" dirty="0">
                <a:solidFill>
                  <a:schemeClr val="tx1">
                    <a:lumMod val="75000"/>
                    <a:lumOff val="25000"/>
                  </a:schemeClr>
                </a:solidFill>
                <a:latin typeface="华文细黑" pitchFamily="2" charset="-122"/>
                <a:ea typeface="华文细黑" pitchFamily="2" charset="-122"/>
              </a:rPr>
              <a:t>      </a:t>
            </a: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通俗的说：也就是计算出我们这个单店要做多少销售才能保证店铺刚好盈亏平衡。</a:t>
            </a:r>
            <a:endPar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1958910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16</a:t>
            </a:fld>
            <a:r>
              <a:rPr lang="en-US" dirty="0"/>
              <a:t>&gt;</a:t>
            </a:r>
          </a:p>
        </p:txBody>
      </p:sp>
      <p:sp>
        <p:nvSpPr>
          <p:cNvPr id="5" name="TextBox 4"/>
          <p:cNvSpPr txBox="1"/>
          <p:nvPr/>
        </p:nvSpPr>
        <p:spPr>
          <a:xfrm>
            <a:off x="467544" y="241484"/>
            <a:ext cx="3168352"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盈亏平衡点计算：</a:t>
            </a:r>
          </a:p>
        </p:txBody>
      </p:sp>
      <p:sp>
        <p:nvSpPr>
          <p:cNvPr id="6" name="内容占位符 2"/>
          <p:cNvSpPr txBox="1">
            <a:spLocks/>
          </p:cNvSpPr>
          <p:nvPr/>
        </p:nvSpPr>
        <p:spPr>
          <a:xfrm>
            <a:off x="251520" y="919262"/>
            <a:ext cx="8208912" cy="5534074"/>
          </a:xfrm>
          <a:prstGeom prst="rect">
            <a:avLst/>
          </a:prstGeom>
          <a:effectLst/>
        </p:spPr>
        <p:txBody>
          <a:bodyPr vert="horz" lIns="91440" tIns="45720" rIns="91440" bIns="45720" rtlCol="0">
            <a:noAutofit/>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fontAlgn="auto" latinLnBrk="1">
              <a:spcAft>
                <a:spcPts val="0"/>
              </a:spcAft>
              <a:buNone/>
              <a:defRPr/>
            </a:pPr>
            <a:r>
              <a:rPr lang="en-US" altLang="zh-CN" sz="24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1 </a:t>
            </a:r>
            <a:r>
              <a:rPr lang="zh-CN" altLang="en-US" sz="24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、假如</a:t>
            </a:r>
          </a:p>
          <a:p>
            <a:pPr fontAlgn="auto" latinLnBrk="1">
              <a:spcAft>
                <a:spcPts val="0"/>
              </a:spcAft>
              <a:buNone/>
              <a:defRPr/>
            </a:pPr>
            <a:r>
              <a:rPr lang="zh-CN" altLang="en-US" sz="2000" b="0" dirty="0">
                <a:effectLst>
                  <a:outerShdw blurRad="38100" dist="38100" dir="2700000" algn="tl">
                    <a:srgbClr val="000000">
                      <a:alpha val="43137"/>
                    </a:srgbClr>
                  </a:outerShdw>
                </a:effectLst>
                <a:latin typeface="华文细黑" pitchFamily="2" charset="-122"/>
                <a:ea typeface="华文细黑" pitchFamily="2" charset="-122"/>
              </a:rPr>
              <a:t>　</a:t>
            </a:r>
            <a:r>
              <a:rPr lang="zh-CN" altLang="en-US" sz="1600" b="0" dirty="0">
                <a:effectLst>
                  <a:outerShdw blurRad="38100" dist="38100" dir="2700000" algn="tl">
                    <a:srgbClr val="000000">
                      <a:alpha val="43137"/>
                    </a:srgbClr>
                  </a:outerShdw>
                </a:effectLst>
                <a:latin typeface="华文细黑" pitchFamily="2" charset="-122"/>
                <a:ea typeface="华文细黑" pitchFamily="2" charset="-122"/>
              </a:rPr>
              <a:t>              </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S—</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实际销售额 　    </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P—</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产品销售吊牌总额</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endPar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fontAlgn="auto" latinLnBrk="1">
              <a:spcAft>
                <a:spcPts val="0"/>
              </a:spcAft>
              <a:buNone/>
              <a:defRPr/>
            </a:pP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F—</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固定成本总额　 </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C—</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平均销售折扣</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endPar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fontAlgn="auto" latinLnBrk="1">
              <a:spcAft>
                <a:spcPts val="0"/>
              </a:spcAft>
              <a:buNone/>
              <a:defRPr/>
            </a:pP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T—</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货品供货折扣　 </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V—</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商品成本</a:t>
            </a:r>
          </a:p>
          <a:p>
            <a:pPr fontAlgn="auto" latinLnBrk="1">
              <a:spcAft>
                <a:spcPts val="0"/>
              </a:spcAft>
              <a:buNone/>
              <a:defRPr/>
            </a:pP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P=S/C</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V=P*T</a:t>
            </a:r>
            <a:endPar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fontAlgn="auto" latinLnBrk="1">
              <a:spcAft>
                <a:spcPts val="0"/>
              </a:spcAft>
              <a:buNone/>
              <a:defRPr/>
            </a:pPr>
            <a:r>
              <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2</a:t>
            </a: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、总成本</a:t>
            </a:r>
            <a:r>
              <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总收入</a:t>
            </a:r>
          </a:p>
          <a:p>
            <a:pPr fontAlgn="auto" latinLnBrk="1">
              <a:spcAft>
                <a:spcPts val="0"/>
              </a:spcAft>
              <a:buNone/>
              <a:defRPr/>
            </a:pPr>
            <a:r>
              <a:rPr lang="zh-CN" altLang="en-US" sz="2000" b="0" dirty="0">
                <a:effectLst>
                  <a:outerShdw blurRad="38100" dist="38100" dir="2700000" algn="tl">
                    <a:srgbClr val="000000">
                      <a:alpha val="43137"/>
                    </a:srgbClr>
                  </a:outerShdw>
                </a:effectLst>
                <a:latin typeface="华文细黑" pitchFamily="2" charset="-122"/>
                <a:ea typeface="华文细黑" pitchFamily="2" charset="-122"/>
              </a:rPr>
              <a:t>　</a:t>
            </a:r>
            <a:r>
              <a:rPr lang="zh-CN" altLang="en-US" sz="1600" b="0" dirty="0">
                <a:effectLst>
                  <a:outerShdw blurRad="38100" dist="38100" dir="2700000" algn="tl">
                    <a:srgbClr val="000000">
                      <a:alpha val="43137"/>
                    </a:srgbClr>
                  </a:outerShdw>
                </a:effectLst>
                <a:latin typeface="华文细黑" pitchFamily="2" charset="-122"/>
                <a:ea typeface="华文细黑" pitchFamily="2" charset="-122"/>
              </a:rPr>
              <a:t>             </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总成本</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=F+V     </a:t>
            </a:r>
          </a:p>
          <a:p>
            <a:pPr fontAlgn="auto" latinLnBrk="1">
              <a:spcAft>
                <a:spcPts val="0"/>
              </a:spcAft>
              <a:buNone/>
              <a:defRPr/>
            </a:pP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=F+P*T</a:t>
            </a:r>
          </a:p>
          <a:p>
            <a:pPr fontAlgn="auto" latinLnBrk="1">
              <a:spcAft>
                <a:spcPts val="0"/>
              </a:spcAft>
              <a:buNone/>
              <a:defRPr/>
            </a:pP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=F+S/C*T</a:t>
            </a:r>
            <a:endPar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fontAlgn="auto" latinLnBrk="1">
              <a:spcAft>
                <a:spcPts val="0"/>
              </a:spcAft>
              <a:buNone/>
              <a:defRPr/>
            </a:pP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总收入</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总成本</a:t>
            </a:r>
          </a:p>
          <a:p>
            <a:pPr fontAlgn="auto" latinLnBrk="1">
              <a:spcAft>
                <a:spcPts val="0"/>
              </a:spcAft>
              <a:buNone/>
              <a:defRPr/>
            </a:pP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S=F+S/C*T</a:t>
            </a:r>
          </a:p>
          <a:p>
            <a:pPr fontAlgn="auto" latinLnBrk="1">
              <a:spcAft>
                <a:spcPts val="0"/>
              </a:spcAft>
              <a:buNone/>
              <a:defRPr/>
            </a:pP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1=F/S+T/C</a:t>
            </a:r>
          </a:p>
          <a:p>
            <a:pPr fontAlgn="auto" latinLnBrk="1">
              <a:spcAft>
                <a:spcPts val="0"/>
              </a:spcAft>
              <a:buNone/>
              <a:defRPr/>
            </a:pP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1-T/C=F/S   </a:t>
            </a:r>
            <a:endPar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fontAlgn="auto" latinLnBrk="1">
              <a:spcAft>
                <a:spcPts val="0"/>
              </a:spcAft>
              <a:buNone/>
              <a:defRPr/>
            </a:pP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S=F/</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1-T/C</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运营成本</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毛利率</a:t>
            </a:r>
            <a:endPar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fontAlgn="auto" latinLnBrk="1">
              <a:spcAft>
                <a:spcPts val="0"/>
              </a:spcAft>
              <a:buNone/>
              <a:defRPr/>
            </a:pPr>
            <a:endPar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fontAlgn="auto" latinLnBrk="1">
              <a:spcAft>
                <a:spcPts val="0"/>
              </a:spcAft>
              <a:buFont typeface="Arial" pitchFamily="34" charset="0"/>
              <a:buNone/>
              <a:defRPr/>
            </a:pP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盈亏平衡点</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运营成本</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1-</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成本折扣</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平均销售折扣）</a:t>
            </a:r>
            <a:r>
              <a:rPr lang="en-US" altLang="zh-CN"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endParaRPr lang="zh-CN" altLang="en-US" sz="1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3468403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10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1000"/>
                                        <p:tgtEl>
                                          <p:spTgt spid="6">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fade">
                                      <p:cBhvr>
                                        <p:cTn id="16" dur="1000"/>
                                        <p:tgtEl>
                                          <p:spTgt spid="6">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animEffect transition="in" filter="fade">
                                      <p:cBhvr>
                                        <p:cTn id="19" dur="1000"/>
                                        <p:tgtEl>
                                          <p:spTgt spid="6">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xEl>
                                              <p:pRg st="5" end="5"/>
                                            </p:txEl>
                                          </p:spTgt>
                                        </p:tgtEl>
                                        <p:attrNameLst>
                                          <p:attrName>style.visibility</p:attrName>
                                        </p:attrNameLst>
                                      </p:cBhvr>
                                      <p:to>
                                        <p:strVal val="visible"/>
                                      </p:to>
                                    </p:set>
                                    <p:animEffect transition="in" filter="fade">
                                      <p:cBhvr>
                                        <p:cTn id="24" dur="1000"/>
                                        <p:tgtEl>
                                          <p:spTgt spid="6">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animEffect transition="in" filter="fade">
                                      <p:cBhvr>
                                        <p:cTn id="27" dur="1000"/>
                                        <p:tgtEl>
                                          <p:spTgt spid="6">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6">
                                            <p:txEl>
                                              <p:pRg st="7" end="7"/>
                                            </p:txEl>
                                          </p:spTgt>
                                        </p:tgtEl>
                                        <p:attrNameLst>
                                          <p:attrName>style.visibility</p:attrName>
                                        </p:attrNameLst>
                                      </p:cBhvr>
                                      <p:to>
                                        <p:strVal val="visible"/>
                                      </p:to>
                                    </p:set>
                                    <p:animEffect transition="in" filter="fade">
                                      <p:cBhvr>
                                        <p:cTn id="30" dur="1000"/>
                                        <p:tgtEl>
                                          <p:spTgt spid="6">
                                            <p:txEl>
                                              <p:pRg st="7" end="7"/>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6">
                                            <p:txEl>
                                              <p:pRg st="8" end="8"/>
                                            </p:txEl>
                                          </p:spTgt>
                                        </p:tgtEl>
                                        <p:attrNameLst>
                                          <p:attrName>style.visibility</p:attrName>
                                        </p:attrNameLst>
                                      </p:cBhvr>
                                      <p:to>
                                        <p:strVal val="visible"/>
                                      </p:to>
                                    </p:set>
                                    <p:animEffect transition="in" filter="fade">
                                      <p:cBhvr>
                                        <p:cTn id="33" dur="1000"/>
                                        <p:tgtEl>
                                          <p:spTgt spid="6">
                                            <p:txEl>
                                              <p:pRg st="8" end="8"/>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6">
                                            <p:txEl>
                                              <p:pRg st="9" end="9"/>
                                            </p:txEl>
                                          </p:spTgt>
                                        </p:tgtEl>
                                        <p:attrNameLst>
                                          <p:attrName>style.visibility</p:attrName>
                                        </p:attrNameLst>
                                      </p:cBhvr>
                                      <p:to>
                                        <p:strVal val="visible"/>
                                      </p:to>
                                    </p:set>
                                    <p:animEffect transition="in" filter="fade">
                                      <p:cBhvr>
                                        <p:cTn id="36" dur="1000"/>
                                        <p:tgtEl>
                                          <p:spTgt spid="6">
                                            <p:txEl>
                                              <p:pRg st="9" end="9"/>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6">
                                            <p:txEl>
                                              <p:pRg st="10" end="10"/>
                                            </p:txEl>
                                          </p:spTgt>
                                        </p:tgtEl>
                                        <p:attrNameLst>
                                          <p:attrName>style.visibility</p:attrName>
                                        </p:attrNameLst>
                                      </p:cBhvr>
                                      <p:to>
                                        <p:strVal val="visible"/>
                                      </p:to>
                                    </p:set>
                                    <p:animEffect transition="in" filter="fade">
                                      <p:cBhvr>
                                        <p:cTn id="39" dur="1000"/>
                                        <p:tgtEl>
                                          <p:spTgt spid="6">
                                            <p:txEl>
                                              <p:pRg st="10" end="10"/>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6">
                                            <p:txEl>
                                              <p:pRg st="11" end="11"/>
                                            </p:txEl>
                                          </p:spTgt>
                                        </p:tgtEl>
                                        <p:attrNameLst>
                                          <p:attrName>style.visibility</p:attrName>
                                        </p:attrNameLst>
                                      </p:cBhvr>
                                      <p:to>
                                        <p:strVal val="visible"/>
                                      </p:to>
                                    </p:set>
                                    <p:animEffect transition="in" filter="fade">
                                      <p:cBhvr>
                                        <p:cTn id="42" dur="1000"/>
                                        <p:tgtEl>
                                          <p:spTgt spid="6">
                                            <p:txEl>
                                              <p:pRg st="11" end="11"/>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6">
                                            <p:txEl>
                                              <p:pRg st="12" end="12"/>
                                            </p:txEl>
                                          </p:spTgt>
                                        </p:tgtEl>
                                        <p:attrNameLst>
                                          <p:attrName>style.visibility</p:attrName>
                                        </p:attrNameLst>
                                      </p:cBhvr>
                                      <p:to>
                                        <p:strVal val="visible"/>
                                      </p:to>
                                    </p:set>
                                    <p:animEffect transition="in" filter="fade">
                                      <p:cBhvr>
                                        <p:cTn id="45" dur="1000"/>
                                        <p:tgtEl>
                                          <p:spTgt spid="6">
                                            <p:txEl>
                                              <p:pRg st="12" end="12"/>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6">
                                            <p:txEl>
                                              <p:pRg st="13" end="13"/>
                                            </p:txEl>
                                          </p:spTgt>
                                        </p:tgtEl>
                                        <p:attrNameLst>
                                          <p:attrName>style.visibility</p:attrName>
                                        </p:attrNameLst>
                                      </p:cBhvr>
                                      <p:to>
                                        <p:strVal val="visible"/>
                                      </p:to>
                                    </p:set>
                                    <p:animEffect transition="in" filter="fade">
                                      <p:cBhvr>
                                        <p:cTn id="48" dur="1000"/>
                                        <p:tgtEl>
                                          <p:spTgt spid="6">
                                            <p:txEl>
                                              <p:pRg st="13" end="13"/>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6">
                                            <p:txEl>
                                              <p:pRg st="15" end="15"/>
                                            </p:txEl>
                                          </p:spTgt>
                                        </p:tgtEl>
                                        <p:attrNameLst>
                                          <p:attrName>style.visibility</p:attrName>
                                        </p:attrNameLst>
                                      </p:cBhvr>
                                      <p:to>
                                        <p:strVal val="visible"/>
                                      </p:to>
                                    </p:set>
                                    <p:animEffect transition="in" filter="fade">
                                      <p:cBhvr>
                                        <p:cTn id="51" dur="1000"/>
                                        <p:tgtEl>
                                          <p:spTgt spid="6">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17</a:t>
            </a:fld>
            <a:r>
              <a:rPr lang="en-US" dirty="0"/>
              <a:t>&gt;</a:t>
            </a:r>
          </a:p>
        </p:txBody>
      </p:sp>
      <p:sp>
        <p:nvSpPr>
          <p:cNvPr id="3" name="TextBox 2"/>
          <p:cNvSpPr txBox="1"/>
          <p:nvPr/>
        </p:nvSpPr>
        <p:spPr>
          <a:xfrm>
            <a:off x="467544" y="241484"/>
            <a:ext cx="3384376"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毛利率、净利率：</a:t>
            </a:r>
          </a:p>
        </p:txBody>
      </p:sp>
      <p:sp>
        <p:nvSpPr>
          <p:cNvPr id="4" name="内容占位符 2"/>
          <p:cNvSpPr txBox="1">
            <a:spLocks/>
          </p:cNvSpPr>
          <p:nvPr/>
        </p:nvSpPr>
        <p:spPr>
          <a:xfrm>
            <a:off x="251520" y="980728"/>
            <a:ext cx="8208912" cy="5184576"/>
          </a:xfrm>
          <a:prstGeom prst="rect">
            <a:avLst/>
          </a:prstGeom>
          <a:effectLst/>
        </p:spPr>
        <p:txBody>
          <a:bodyPr vert="horz" lIns="91440" tIns="45720" rIns="91440" bIns="45720" rtlCol="0">
            <a:normAutofit fontScale="85000" lnSpcReduction="10000"/>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marL="0" indent="0">
              <a:lnSpc>
                <a:spcPct val="150000"/>
              </a:lnSpc>
              <a:buNone/>
            </a:pPr>
            <a:r>
              <a:rPr lang="zh-CN" altLang="en-US" sz="2400" u="sng"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毛利率：</a:t>
            </a:r>
            <a:endParaRPr lang="en-US" altLang="zh-CN" sz="2400" u="sng"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毛利率</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毛利额</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实际销售额</a:t>
            </a:r>
            <a:endPar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毛利额</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实际销售</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商品成本（</a:t>
            </a:r>
            <a:r>
              <a:rPr lang="zh-CN" altLang="en-US" sz="24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商品的利润</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endPar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一般来说</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零售毛利率在</a:t>
            </a:r>
            <a:r>
              <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40%</a:t>
            </a: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左右</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批发毛利率在</a:t>
            </a:r>
            <a:r>
              <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15%</a:t>
            </a: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左右</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endParaRPr lang="en-US" altLang="zh-CN"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400" u="sng"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净利率：</a:t>
            </a:r>
            <a:endParaRPr lang="en-US" altLang="zh-CN" sz="2400" u="sng"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2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净利率</a:t>
            </a:r>
            <a:r>
              <a:rPr lang="en-US" altLang="zh-CN" sz="2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净利额</a:t>
            </a:r>
            <a:r>
              <a:rPr lang="en-US" altLang="zh-CN" sz="2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实际销售额</a:t>
            </a:r>
            <a:endParaRPr lang="en-US" altLang="zh-CN" sz="26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净利额</a:t>
            </a:r>
            <a:r>
              <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毛利</a:t>
            </a:r>
            <a:r>
              <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运营成本（</a:t>
            </a: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真正的利润</a:t>
            </a: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endPar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endParaRPr lang="en-US" altLang="zh-CN" sz="2000" dirty="0">
              <a:solidFill>
                <a:srgbClr val="FF0000"/>
              </a:solidFill>
              <a:latin typeface="华文细黑" pitchFamily="2" charset="-122"/>
              <a:ea typeface="华文细黑" pitchFamily="2" charset="-122"/>
            </a:endParaRPr>
          </a:p>
        </p:txBody>
      </p:sp>
    </p:spTree>
    <p:extLst>
      <p:ext uri="{BB962C8B-B14F-4D97-AF65-F5344CB8AC3E}">
        <p14:creationId xmlns:p14="http://schemas.microsoft.com/office/powerpoint/2010/main" val="298056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iterate type="lt">
                                    <p:tmPct val="5000"/>
                                  </p:iterate>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10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1000"/>
                                        <p:tgtEl>
                                          <p:spTgt spid="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10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1000"/>
                                        <p:tgtEl>
                                          <p:spTgt spid="4">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1000"/>
                                        <p:tgtEl>
                                          <p:spTgt spid="4">
                                            <p:txEl>
                                              <p:pRg st="5" end="5"/>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animEffect transition="in" filter="fade">
                                      <p:cBhvr>
                                        <p:cTn id="29" dur="1000"/>
                                        <p:tgtEl>
                                          <p:spTgt spid="4">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nodeType="clickEffect">
                                  <p:stCondLst>
                                    <p:cond delay="0"/>
                                  </p:stCondLst>
                                  <p:iterate type="lt">
                                    <p:tmPct val="5000"/>
                                  </p:iterate>
                                  <p:childTnLst>
                                    <p:set>
                                      <p:cBhvr>
                                        <p:cTn id="33" dur="1" fill="hold">
                                          <p:stCondLst>
                                            <p:cond delay="0"/>
                                          </p:stCondLst>
                                        </p:cTn>
                                        <p:tgtEl>
                                          <p:spTgt spid="4">
                                            <p:txEl>
                                              <p:pRg st="8" end="8"/>
                                            </p:txEl>
                                          </p:spTgt>
                                        </p:tgtEl>
                                        <p:attrNameLst>
                                          <p:attrName>style.visibility</p:attrName>
                                        </p:attrNameLst>
                                      </p:cBhvr>
                                      <p:to>
                                        <p:strVal val="visible"/>
                                      </p:to>
                                    </p:set>
                                    <p:anim calcmode="lin" valueType="num">
                                      <p:cBhvr>
                                        <p:cTn id="34" dur="1000" fill="hold"/>
                                        <p:tgtEl>
                                          <p:spTgt spid="4">
                                            <p:txEl>
                                              <p:pRg st="8" end="8"/>
                                            </p:txEl>
                                          </p:spTgt>
                                        </p:tgtEl>
                                        <p:attrNameLst>
                                          <p:attrName>ppt_w</p:attrName>
                                        </p:attrNameLst>
                                      </p:cBhvr>
                                      <p:tavLst>
                                        <p:tav tm="0">
                                          <p:val>
                                            <p:fltVal val="0"/>
                                          </p:val>
                                        </p:tav>
                                        <p:tav tm="100000">
                                          <p:val>
                                            <p:strVal val="#ppt_w"/>
                                          </p:val>
                                        </p:tav>
                                      </p:tavLst>
                                    </p:anim>
                                    <p:anim calcmode="lin" valueType="num">
                                      <p:cBhvr>
                                        <p:cTn id="35" dur="1000" fill="hold"/>
                                        <p:tgtEl>
                                          <p:spTgt spid="4">
                                            <p:txEl>
                                              <p:pRg st="8" end="8"/>
                                            </p:txEl>
                                          </p:spTgt>
                                        </p:tgtEl>
                                        <p:attrNameLst>
                                          <p:attrName>ppt_h</p:attrName>
                                        </p:attrNameLst>
                                      </p:cBhvr>
                                      <p:tavLst>
                                        <p:tav tm="0">
                                          <p:val>
                                            <p:fltVal val="0"/>
                                          </p:val>
                                        </p:tav>
                                        <p:tav tm="100000">
                                          <p:val>
                                            <p:strVal val="#ppt_h"/>
                                          </p:val>
                                        </p:tav>
                                      </p:tavLst>
                                    </p:anim>
                                    <p:anim calcmode="lin" valueType="num">
                                      <p:cBhvr>
                                        <p:cTn id="36" dur="1000" fill="hold"/>
                                        <p:tgtEl>
                                          <p:spTgt spid="4">
                                            <p:txEl>
                                              <p:pRg st="8" end="8"/>
                                            </p:txEl>
                                          </p:spTgt>
                                        </p:tgtEl>
                                        <p:attrNameLst>
                                          <p:attrName>style.rotation</p:attrName>
                                        </p:attrNameLst>
                                      </p:cBhvr>
                                      <p:tavLst>
                                        <p:tav tm="0">
                                          <p:val>
                                            <p:fltVal val="90"/>
                                          </p:val>
                                        </p:tav>
                                        <p:tav tm="100000">
                                          <p:val>
                                            <p:fltVal val="0"/>
                                          </p:val>
                                        </p:tav>
                                      </p:tavLst>
                                    </p:anim>
                                    <p:animEffect transition="in" filter="fade">
                                      <p:cBhvr>
                                        <p:cTn id="37" dur="1000"/>
                                        <p:tgtEl>
                                          <p:spTgt spid="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1000"/>
                                        <p:tgtEl>
                                          <p:spTgt spid="4">
                                            <p:txEl>
                                              <p:pRg st="9" end="9"/>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4">
                                            <p:txEl>
                                              <p:pRg st="10" end="10"/>
                                            </p:txEl>
                                          </p:spTgt>
                                        </p:tgtEl>
                                        <p:attrNameLst>
                                          <p:attrName>style.visibility</p:attrName>
                                        </p:attrNameLst>
                                      </p:cBhvr>
                                      <p:to>
                                        <p:strVal val="visible"/>
                                      </p:to>
                                    </p:set>
                                    <p:animEffect transition="in" filter="fade">
                                      <p:cBhvr>
                                        <p:cTn id="45" dur="10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152128"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18</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人效：</a:t>
            </a:r>
          </a:p>
        </p:txBody>
      </p:sp>
      <p:sp>
        <p:nvSpPr>
          <p:cNvPr id="4" name="内容占位符 2"/>
          <p:cNvSpPr txBox="1">
            <a:spLocks/>
          </p:cNvSpPr>
          <p:nvPr/>
        </p:nvSpPr>
        <p:spPr>
          <a:xfrm>
            <a:off x="611560" y="1357313"/>
            <a:ext cx="7848872" cy="4525962"/>
          </a:xfrm>
          <a:prstGeom prst="rect">
            <a:avLst/>
          </a:prstGeom>
          <a:effectLst/>
        </p:spPr>
        <p:txBody>
          <a:bodyPr vert="horz" lIns="91440" tIns="45720" rIns="91440" bIns="45720" rtlCol="0">
            <a:normAutofit/>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a:lnSpc>
                <a:spcPct val="150000"/>
              </a:lnSpc>
            </a:pP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人效</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营业收入</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营业人数</a:t>
            </a:r>
            <a:endPar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反映员工产品知识及销售技巧，及排班合理性</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endParaRPr lang="en-US" altLang="zh-CN" sz="2000" b="0" dirty="0">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高：人员效能发挥大</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低：人员低效能</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p:txBody>
      </p:sp>
      <p:sp>
        <p:nvSpPr>
          <p:cNvPr id="5" name="矩形 4"/>
          <p:cNvSpPr/>
          <p:nvPr/>
        </p:nvSpPr>
        <p:spPr>
          <a:xfrm>
            <a:off x="2555776" y="5013176"/>
            <a:ext cx="3096344" cy="504056"/>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zh-CN" altLang="en-US" sz="2400" b="1" dirty="0">
                <a:solidFill>
                  <a:schemeClr val="tx1">
                    <a:lumMod val="75000"/>
                    <a:lumOff val="25000"/>
                  </a:schemeClr>
                </a:solidFill>
                <a:latin typeface="华文细黑" pitchFamily="2" charset="-122"/>
                <a:ea typeface="华文细黑" pitchFamily="2" charset="-122"/>
              </a:rPr>
              <a:t>思考：人效怎么用？</a:t>
            </a:r>
          </a:p>
        </p:txBody>
      </p:sp>
      <p:pic>
        <p:nvPicPr>
          <p:cNvPr id="6" name="Picture 3"/>
          <p:cNvPicPr>
            <a:picLocks noChangeAspect="1" noChangeArrowheads="1"/>
          </p:cNvPicPr>
          <p:nvPr/>
        </p:nvPicPr>
        <p:blipFill>
          <a:blip r:embed="rId5" cstate="print"/>
          <a:srcRect/>
          <a:stretch>
            <a:fillRect/>
          </a:stretch>
        </p:blipFill>
        <p:spPr bwMode="auto">
          <a:xfrm>
            <a:off x="5725498" y="4461761"/>
            <a:ext cx="934734" cy="1415564"/>
          </a:xfrm>
          <a:prstGeom prst="rect">
            <a:avLst/>
          </a:prstGeom>
          <a:ln w="9525">
            <a:noFill/>
            <a:miter lim="800000"/>
            <a:headEnd/>
            <a:tailEnd/>
          </a:ln>
        </p:spPr>
      </p:pic>
    </p:spTree>
    <p:extLst>
      <p:ext uri="{BB962C8B-B14F-4D97-AF65-F5344CB8AC3E}">
        <p14:creationId xmlns:p14="http://schemas.microsoft.com/office/powerpoint/2010/main" val="298056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fade">
                                      <p:cBhvr>
                                        <p:cTn id="20" dur="1000"/>
                                        <p:tgtEl>
                                          <p:spTgt spid="4">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childTnLst>
                                </p:cTn>
                              </p:par>
                              <p:par>
                                <p:cTn id="26" presetID="10"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19</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坪效：</a:t>
            </a:r>
          </a:p>
        </p:txBody>
      </p:sp>
      <p:sp>
        <p:nvSpPr>
          <p:cNvPr id="5" name="内容占位符 2"/>
          <p:cNvSpPr txBox="1">
            <a:spLocks/>
          </p:cNvSpPr>
          <p:nvPr/>
        </p:nvSpPr>
        <p:spPr>
          <a:xfrm>
            <a:off x="611560" y="1357313"/>
            <a:ext cx="7848872" cy="4525962"/>
          </a:xfrm>
          <a:prstGeom prst="rect">
            <a:avLst/>
          </a:prstGeom>
          <a:effectLst/>
        </p:spPr>
        <p:txBody>
          <a:bodyPr vert="horz" lIns="91440" tIns="45720" rIns="91440" bIns="45720" rtlCol="0">
            <a:normAutofit/>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a:lnSpc>
                <a:spcPct val="150000"/>
              </a:lnSpc>
            </a:pP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坪效</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营业收入</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营业面积</a:t>
            </a:r>
            <a:endPar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endPar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      分析店铺面积的生产力，了解店铺销售真实情况，是衡量店铺选址及店铺规模的重要指标</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endParaRPr lang="en-US" altLang="zh-CN" sz="2000" b="0" dirty="0">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高：反映店铺面积利用好</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低：反映店铺面积利用低</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4248136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5" end="5"/>
                                            </p:txEl>
                                          </p:spTgt>
                                        </p:tgtEl>
                                        <p:attrNameLst>
                                          <p:attrName>style.visibility</p:attrName>
                                        </p:attrNameLst>
                                      </p:cBhvr>
                                      <p:to>
                                        <p:strVal val="visible"/>
                                      </p:to>
                                    </p:set>
                                    <p:animEffect transition="in" filter="fade">
                                      <p:cBhvr>
                                        <p:cTn id="20" dur="10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20</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客单价（</a:t>
            </a:r>
            <a:r>
              <a:rPr lang="en-US" altLang="zh-CN" sz="2800" b="1" dirty="0">
                <a:solidFill>
                  <a:schemeClr val="tx1">
                    <a:lumMod val="75000"/>
                    <a:lumOff val="25000"/>
                  </a:schemeClr>
                </a:solidFill>
                <a:latin typeface="黑体" pitchFamily="49" charset="-122"/>
                <a:ea typeface="黑体" pitchFamily="49" charset="-122"/>
                <a:cs typeface="Meiryo UI" pitchFamily="34" charset="-128"/>
              </a:rPr>
              <a:t>ATV)</a:t>
            </a:r>
            <a:r>
              <a:rPr lang="zh-CN" altLang="en-US" sz="2800" b="1" dirty="0">
                <a:solidFill>
                  <a:schemeClr val="tx1">
                    <a:lumMod val="75000"/>
                    <a:lumOff val="25000"/>
                  </a:schemeClr>
                </a:solidFill>
                <a:latin typeface="黑体" pitchFamily="49" charset="-122"/>
                <a:ea typeface="黑体" pitchFamily="49" charset="-122"/>
                <a:cs typeface="Meiryo UI" pitchFamily="34" charset="-128"/>
              </a:rPr>
              <a:t>：</a:t>
            </a:r>
          </a:p>
        </p:txBody>
      </p:sp>
      <p:sp>
        <p:nvSpPr>
          <p:cNvPr id="4" name="内容占位符 2"/>
          <p:cNvSpPr txBox="1">
            <a:spLocks/>
          </p:cNvSpPr>
          <p:nvPr/>
        </p:nvSpPr>
        <p:spPr>
          <a:xfrm>
            <a:off x="564670" y="908720"/>
            <a:ext cx="7848872" cy="1224136"/>
          </a:xfrm>
          <a:prstGeom prst="rect">
            <a:avLst/>
          </a:prstGeom>
        </p:spPr>
        <p:txBody>
          <a:bodyPr vert="horz" lIns="91440" tIns="45720" rIns="91440" bIns="45720" rtlCol="0">
            <a:normAutofit/>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a:lnSpc>
                <a:spcPct val="150000"/>
              </a:lnSpc>
            </a:pPr>
            <a:r>
              <a:rPr lang="zh-CN" altLang="en-US" sz="2000" dirty="0">
                <a:solidFill>
                  <a:schemeClr val="tx1">
                    <a:lumMod val="75000"/>
                    <a:lumOff val="25000"/>
                  </a:schemeClr>
                </a:solidFill>
                <a:latin typeface="华文细黑" pitchFamily="2" charset="-122"/>
                <a:ea typeface="华文细黑" pitchFamily="2" charset="-122"/>
              </a:rPr>
              <a:t>客单价</a:t>
            </a:r>
            <a:r>
              <a:rPr lang="en-US" altLang="zh-CN" sz="2000" dirty="0">
                <a:solidFill>
                  <a:schemeClr val="tx1">
                    <a:lumMod val="75000"/>
                    <a:lumOff val="25000"/>
                  </a:schemeClr>
                </a:solidFill>
                <a:latin typeface="华文细黑" pitchFamily="2" charset="-122"/>
                <a:ea typeface="华文细黑" pitchFamily="2" charset="-122"/>
              </a:rPr>
              <a:t>=</a:t>
            </a:r>
            <a:r>
              <a:rPr lang="zh-CN" altLang="en-US" sz="2000" dirty="0">
                <a:solidFill>
                  <a:schemeClr val="tx1">
                    <a:lumMod val="75000"/>
                    <a:lumOff val="25000"/>
                  </a:schemeClr>
                </a:solidFill>
                <a:latin typeface="华文细黑" pitchFamily="2" charset="-122"/>
                <a:ea typeface="华文细黑" pitchFamily="2" charset="-122"/>
              </a:rPr>
              <a:t>营业收入</a:t>
            </a:r>
            <a:r>
              <a:rPr lang="en-US" altLang="zh-CN" sz="2000" dirty="0">
                <a:solidFill>
                  <a:schemeClr val="tx1">
                    <a:lumMod val="75000"/>
                    <a:lumOff val="25000"/>
                  </a:schemeClr>
                </a:solidFill>
                <a:latin typeface="华文细黑" pitchFamily="2" charset="-122"/>
                <a:ea typeface="华文细黑" pitchFamily="2" charset="-122"/>
              </a:rPr>
              <a:t>/</a:t>
            </a:r>
            <a:r>
              <a:rPr lang="zh-CN" altLang="en-US" sz="2000" dirty="0">
                <a:solidFill>
                  <a:schemeClr val="tx1">
                    <a:lumMod val="75000"/>
                    <a:lumOff val="25000"/>
                  </a:schemeClr>
                </a:solidFill>
                <a:latin typeface="华文细黑" pitchFamily="2" charset="-122"/>
                <a:ea typeface="华文细黑" pitchFamily="2" charset="-122"/>
              </a:rPr>
              <a:t>销售单数</a:t>
            </a:r>
            <a:endParaRPr lang="en-US" altLang="zh-CN" sz="2000" dirty="0">
              <a:solidFill>
                <a:srgbClr val="FF0000"/>
              </a:solidFill>
              <a:latin typeface="华文细黑" pitchFamily="2" charset="-122"/>
              <a:ea typeface="华文细黑" pitchFamily="2" charset="-122"/>
            </a:endParaRPr>
          </a:p>
          <a:p>
            <a:pPr>
              <a:lnSpc>
                <a:spcPct val="150000"/>
              </a:lnSpc>
              <a:buFont typeface="Arial" charset="0"/>
              <a:buNone/>
            </a:pPr>
            <a:r>
              <a:rPr lang="zh-CN" altLang="en-US" sz="2000" dirty="0">
                <a:solidFill>
                  <a:srgbClr val="FF0000"/>
                </a:solidFill>
                <a:latin typeface="华文细黑" pitchFamily="2" charset="-122"/>
                <a:ea typeface="华文细黑" pitchFamily="2" charset="-122"/>
              </a:rPr>
              <a:t>了解消费者的承受能力及货品与顾客能力匹配</a:t>
            </a:r>
            <a:endParaRPr lang="en-US" altLang="zh-CN" sz="2000" dirty="0">
              <a:solidFill>
                <a:srgbClr val="FF0000"/>
              </a:solidFill>
              <a:latin typeface="华文细黑" pitchFamily="2" charset="-122"/>
              <a:ea typeface="华文细黑" pitchFamily="2" charset="-122"/>
            </a:endParaRPr>
          </a:p>
        </p:txBody>
      </p:sp>
      <p:sp>
        <p:nvSpPr>
          <p:cNvPr id="5" name="TextBox 4"/>
          <p:cNvSpPr txBox="1"/>
          <p:nvPr/>
        </p:nvSpPr>
        <p:spPr>
          <a:xfrm>
            <a:off x="432318" y="2368159"/>
            <a:ext cx="8073997" cy="1846659"/>
          </a:xfrm>
          <a:prstGeom prst="rect">
            <a:avLst/>
          </a:prstGeom>
          <a:noFill/>
          <a:effectLst/>
        </p:spPr>
        <p:txBody>
          <a:bodyPr wrap="square" rtlCol="0">
            <a:spAutoFit/>
          </a:bodyPr>
          <a:lstStyle/>
          <a:p>
            <a:r>
              <a:rPr lang="zh-CN" altLang="en-US"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如何提高商品客单价？</a:t>
            </a:r>
            <a:endParaRPr lang="en-US" altLang="zh-CN"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客单价主要取决于</a:t>
            </a:r>
            <a:r>
              <a:rPr lang="zh-CN" altLang="en-US"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企业</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的</a:t>
            </a:r>
            <a:r>
              <a:rPr lang="zh-CN" altLang="en-US"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价格策略</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价格带</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的合理配置、</a:t>
            </a:r>
            <a:r>
              <a:rPr lang="zh-CN" altLang="en-US"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商品陈列</a:t>
            </a:r>
            <a:r>
              <a:rPr lang="zh-CN"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的位置及商品的</a:t>
            </a:r>
            <a:r>
              <a:rPr lang="zh-CN" altLang="en-US"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质量</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等。作为顾客店内购买行为结果的客单价，一般是由</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6</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个主要因素构成：</a:t>
            </a:r>
            <a:r>
              <a:rPr lang="zh-CN"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动线长度、停留率、注目率、购买率、购买个数和商品单价</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。销售企业在提高客单价的过程中，重要的是要根据</a:t>
            </a:r>
            <a:r>
              <a:rPr lang="zh-CN" altLang="en-US"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顾客</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上述行为因素开发具体的、可操作的营销方法。</a:t>
            </a:r>
            <a:endParaRPr lang="en-US" altLang="zh-CN" sz="1600" b="1" i="1"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
        <p:nvSpPr>
          <p:cNvPr id="6" name="Text Box 10"/>
          <p:cNvSpPr txBox="1">
            <a:spLocks noChangeArrowheads="1"/>
          </p:cNvSpPr>
          <p:nvPr/>
        </p:nvSpPr>
        <p:spPr bwMode="auto">
          <a:xfrm>
            <a:off x="571472" y="4500570"/>
            <a:ext cx="7209901" cy="1200329"/>
          </a:xfrm>
          <a:prstGeom prst="rect">
            <a:avLst/>
          </a:prstGeom>
          <a:solidFill>
            <a:schemeClr val="bg1"/>
          </a:solidFill>
          <a:ln w="9525" algn="ctr">
            <a:solidFill>
              <a:srgbClr val="FF0000"/>
            </a:solidFill>
            <a:prstDash val="dash"/>
            <a:miter lim="800000"/>
            <a:headEnd/>
            <a:tailEnd/>
          </a:ln>
        </p:spPr>
        <p:txBody>
          <a:bodyPr wrap="square">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50000"/>
              </a:lnSpc>
              <a:spcBef>
                <a:spcPct val="20000"/>
              </a:spcBef>
            </a:pPr>
            <a:r>
              <a:rPr lang="zh-CN" altLang="en-US"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注：</a:t>
            </a:r>
            <a:r>
              <a:rPr lang="zh-CN"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在分析门店客流量、客单价时，特别要注重门店开始促销活动期间及促销活动前的对分析，促销活动的开展是否对于提高门店客流量、客单价起到了一定的作用。 </a:t>
            </a:r>
          </a:p>
        </p:txBody>
      </p:sp>
    </p:spTree>
    <p:extLst>
      <p:ext uri="{BB962C8B-B14F-4D97-AF65-F5344CB8AC3E}">
        <p14:creationId xmlns:p14="http://schemas.microsoft.com/office/powerpoint/2010/main" val="252217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fade">
                                      <p:cBhvr>
                                        <p:cTn id="17" dur="1000"/>
                                        <p:tgtEl>
                                          <p:spTgt spid="5">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fade">
                                      <p:cBhvr>
                                        <p:cTn id="20" dur="1000"/>
                                        <p:tgtEl>
                                          <p:spTgt spid="5">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152128"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21</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客单量：</a:t>
            </a:r>
          </a:p>
        </p:txBody>
      </p:sp>
      <p:sp>
        <p:nvSpPr>
          <p:cNvPr id="4" name="内容占位符 2"/>
          <p:cNvSpPr txBox="1">
            <a:spLocks/>
          </p:cNvSpPr>
          <p:nvPr/>
        </p:nvSpPr>
        <p:spPr>
          <a:xfrm>
            <a:off x="611560" y="1357313"/>
            <a:ext cx="7848872" cy="3367831"/>
          </a:xfrm>
          <a:prstGeom prst="rect">
            <a:avLst/>
          </a:prstGeom>
          <a:effectLst/>
        </p:spPr>
        <p:txBody>
          <a:bodyPr vert="horz" lIns="91440" tIns="45720" rIns="91440" bIns="45720" rtlCol="0">
            <a:normAutofit/>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pPr>
              <a:lnSpc>
                <a:spcPct val="150000"/>
              </a:lnSpc>
            </a:pP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客单量</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销售件数</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销售单数</a:t>
            </a:r>
            <a:endPar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了解货品销售搭配情况及顾客的消费心里，检讨附加销售技巧</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endParaRPr lang="en-US" altLang="zh-CN" sz="2000" b="0" dirty="0">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高：附加销售能力高，商品组合好</a:t>
            </a:r>
            <a:endPar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buFont typeface="Arial" charset="0"/>
              <a:buNone/>
            </a:pPr>
            <a:r>
              <a:rPr lang="zh-CN" altLang="en-US"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低：附件销售能力差，商品组合差</a:t>
            </a:r>
            <a:endPar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
        <p:nvSpPr>
          <p:cNvPr id="5" name="Text Box 10"/>
          <p:cNvSpPr txBox="1">
            <a:spLocks noChangeArrowheads="1"/>
          </p:cNvSpPr>
          <p:nvPr/>
        </p:nvSpPr>
        <p:spPr bwMode="auto">
          <a:xfrm>
            <a:off x="683569" y="5055567"/>
            <a:ext cx="6120680" cy="416845"/>
          </a:xfrm>
          <a:prstGeom prst="rect">
            <a:avLst/>
          </a:prstGeom>
          <a:solidFill>
            <a:schemeClr val="bg1"/>
          </a:solidFill>
          <a:ln w="9525" algn="ctr">
            <a:solidFill>
              <a:srgbClr val="FF0000"/>
            </a:solidFill>
            <a:prstDash val="dash"/>
            <a:miter lim="800000"/>
            <a:headEnd/>
            <a:tailEnd/>
          </a:ln>
        </p:spPr>
        <p:txBody>
          <a:bodyPr wrap="square">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50000"/>
              </a:lnSpc>
              <a:spcBef>
                <a:spcPct val="20000"/>
              </a:spcBef>
            </a:pPr>
            <a:r>
              <a:rPr lang="zh-CN" altLang="en-US"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注：客单量和客单价是衡量门店运营的重要指标，两者密不可分</a:t>
            </a:r>
            <a:endParaRPr lang="zh-CN"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252217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xEl>
                                              <p:pRg st="5" end="5"/>
                                            </p:txEl>
                                          </p:spTgt>
                                        </p:tgtEl>
                                        <p:attrNameLst>
                                          <p:attrName>style.visibility</p:attrName>
                                        </p:attrNameLst>
                                      </p:cBhvr>
                                      <p:to>
                                        <p:strVal val="visible"/>
                                      </p:to>
                                    </p:set>
                                    <p:animEffect transition="in" filter="fade">
                                      <p:cBhvr>
                                        <p:cTn id="20" dur="1000"/>
                                        <p:tgtEl>
                                          <p:spTgt spid="4">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08112"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22</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商品周转率：</a:t>
            </a:r>
          </a:p>
        </p:txBody>
      </p:sp>
      <p:sp>
        <p:nvSpPr>
          <p:cNvPr id="5" name="Rectangle 3"/>
          <p:cNvSpPr>
            <a:spLocks noChangeArrowheads="1"/>
          </p:cNvSpPr>
          <p:nvPr/>
        </p:nvSpPr>
        <p:spPr bwMode="auto">
          <a:xfrm>
            <a:off x="755576" y="1268760"/>
            <a:ext cx="6672783" cy="1152128"/>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lIns="182880" tIns="91440" anchor="ctr"/>
          <a:lstStyle/>
          <a:p>
            <a:pPr marL="342900" indent="-342900">
              <a:spcBef>
                <a:spcPct val="20000"/>
              </a:spcBef>
              <a:buClr>
                <a:srgbClr val="FF0000"/>
              </a:buClr>
              <a:buFont typeface="Wingdings 2" pitchFamily="18" charset="2"/>
              <a:buNone/>
              <a:defRPr/>
            </a:pPr>
            <a:r>
              <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r>
              <a:rPr lang="zh-CN"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商品周转率即是指商品从入库到售出所经过的时间和效率。衡量商品周转水平的最主要指标是：周转次数和周转天数。</a:t>
            </a:r>
            <a:endParaRPr lang="zh-CN" altLang="en-US" sz="2000" b="1"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
        <p:nvSpPr>
          <p:cNvPr id="6" name="TextBox 5"/>
          <p:cNvSpPr txBox="1"/>
          <p:nvPr/>
        </p:nvSpPr>
        <p:spPr>
          <a:xfrm>
            <a:off x="683568" y="2572306"/>
            <a:ext cx="7632848" cy="3785652"/>
          </a:xfrm>
          <a:prstGeom prst="rect">
            <a:avLst/>
          </a:prstGeom>
          <a:noFill/>
          <a:effectLst/>
        </p:spPr>
        <p:txBody>
          <a:bodyPr wrap="square" rtlCol="0">
            <a:spAutoFit/>
          </a:bodyPr>
          <a:lstStyle/>
          <a:p>
            <a:pPr>
              <a:lnSpc>
                <a:spcPct val="150000"/>
              </a:lnSpc>
            </a:pPr>
            <a:r>
              <a:rPr lang="zh-CN" altLang="en-US"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商品周转率计算式：</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1</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商品周转率数量法</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：商品周转率</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商品出库总和</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平均库存数</a:t>
            </a:r>
          </a:p>
          <a:p>
            <a:pPr>
              <a:lnSpc>
                <a:spcPct val="150000"/>
              </a:lnSpc>
            </a:pP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2</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商品周转率金额法</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p>
          <a:p>
            <a:pPr>
              <a:lnSpc>
                <a:spcPct val="150000"/>
              </a:lnSpc>
            </a:pP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商品周转率</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全年纯销售额（销售价）</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平均库存额（购进价）</a:t>
            </a:r>
          </a:p>
          <a:p>
            <a:pPr>
              <a:lnSpc>
                <a:spcPct val="150000"/>
              </a:lnSpc>
            </a:pP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商品周转率</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总进价额</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平均库存商品购进价</a:t>
            </a:r>
          </a:p>
          <a:p>
            <a:pPr>
              <a:lnSpc>
                <a:spcPct val="150000"/>
              </a:lnSpc>
            </a:pP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商品周转率</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销售总额</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改为销售价的平均库存额</a:t>
            </a:r>
            <a:endPar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endPar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3</a:t>
            </a: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商品周转周期</a:t>
            </a:r>
            <a:r>
              <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天</a:t>
            </a:r>
            <a:r>
              <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p>
          <a:p>
            <a:pPr>
              <a:lnSpc>
                <a:spcPct val="150000"/>
              </a:lnSpc>
            </a:pP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商品周转周期</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（平均库存额</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纯销售额）</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x365</a:t>
            </a:r>
            <a:endPar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endParaRPr lang="zh-CN" altLang="en-US"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252217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1000"/>
                                        <p:tgtEl>
                                          <p:spTgt spid="6">
                                            <p:txEl>
                                              <p:p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6">
                                            <p:txEl>
                                              <p:pRg st="2" end="2"/>
                                            </p:txEl>
                                          </p:spTgt>
                                        </p:tgtEl>
                                        <p:attrNameLst>
                                          <p:attrName>style.visibility</p:attrName>
                                        </p:attrNameLst>
                                      </p:cBhvr>
                                      <p:to>
                                        <p:strVal val="visible"/>
                                      </p:to>
                                    </p:set>
                                    <p:animEffect transition="in" filter="fade">
                                      <p:cBhvr>
                                        <p:cTn id="20" dur="1000"/>
                                        <p:tgtEl>
                                          <p:spTgt spid="6">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animEffect transition="in" filter="fade">
                                      <p:cBhvr>
                                        <p:cTn id="23" dur="1000"/>
                                        <p:tgtEl>
                                          <p:spTgt spid="6">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4" end="4"/>
                                            </p:txEl>
                                          </p:spTgt>
                                        </p:tgtEl>
                                        <p:attrNameLst>
                                          <p:attrName>style.visibility</p:attrName>
                                        </p:attrNameLst>
                                      </p:cBhvr>
                                      <p:to>
                                        <p:strVal val="visible"/>
                                      </p:to>
                                    </p:set>
                                    <p:animEffect transition="in" filter="fade">
                                      <p:cBhvr>
                                        <p:cTn id="26" dur="1000"/>
                                        <p:tgtEl>
                                          <p:spTgt spid="6">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animEffect transition="in" filter="fade">
                                      <p:cBhvr>
                                        <p:cTn id="29" dur="1000"/>
                                        <p:tgtEl>
                                          <p:spTgt spid="6">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6">
                                            <p:txEl>
                                              <p:pRg st="7" end="7"/>
                                            </p:txEl>
                                          </p:spTgt>
                                        </p:tgtEl>
                                        <p:attrNameLst>
                                          <p:attrName>style.visibility</p:attrName>
                                        </p:attrNameLst>
                                      </p:cBhvr>
                                      <p:to>
                                        <p:strVal val="visible"/>
                                      </p:to>
                                    </p:set>
                                    <p:animEffect transition="in" filter="fade">
                                      <p:cBhvr>
                                        <p:cTn id="32" dur="1000"/>
                                        <p:tgtEl>
                                          <p:spTgt spid="6">
                                            <p:txEl>
                                              <p:pRg st="7" end="7"/>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6">
                                            <p:txEl>
                                              <p:pRg st="8" end="8"/>
                                            </p:txEl>
                                          </p:spTgt>
                                        </p:tgtEl>
                                        <p:attrNameLst>
                                          <p:attrName>style.visibility</p:attrName>
                                        </p:attrNameLst>
                                      </p:cBhvr>
                                      <p:to>
                                        <p:strVal val="visible"/>
                                      </p:to>
                                    </p:set>
                                    <p:animEffect transition="in" filter="fade">
                                      <p:cBhvr>
                                        <p:cTn id="35" dur="10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08112"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23</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如何提高商品周转：</a:t>
            </a:r>
          </a:p>
        </p:txBody>
      </p:sp>
      <p:sp>
        <p:nvSpPr>
          <p:cNvPr id="7" name="Text Box 10"/>
          <p:cNvSpPr txBox="1">
            <a:spLocks noChangeArrowheads="1"/>
          </p:cNvSpPr>
          <p:nvPr/>
        </p:nvSpPr>
        <p:spPr bwMode="auto">
          <a:xfrm>
            <a:off x="386435" y="1052736"/>
            <a:ext cx="7209901" cy="1384995"/>
          </a:xfrm>
          <a:prstGeom prst="rect">
            <a:avLst/>
          </a:prstGeom>
          <a:solidFill>
            <a:schemeClr val="bg1"/>
          </a:solidFill>
          <a:ln w="9525" algn="ctr">
            <a:solidFill>
              <a:srgbClr val="FF0000"/>
            </a:solidFill>
            <a:prstDash val="dash"/>
            <a:miter lim="800000"/>
            <a:headEnd/>
            <a:tailEnd/>
          </a:ln>
        </p:spPr>
        <p:txBody>
          <a:bodyPr wrap="square">
            <a:spAutoFit/>
          </a:bodyPr>
          <a:lstStyle>
            <a:lvl1pPr marL="342900" indent="-342900"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spcBef>
                <a:spcPct val="20000"/>
              </a:spcBef>
            </a:pPr>
            <a:r>
              <a:rPr lang="zh-CN" altLang="en-US" sz="2000" b="1" dirty="0">
                <a:solidFill>
                  <a:srgbClr val="FF0000"/>
                </a:solidFill>
                <a:effectLst>
                  <a:outerShdw blurRad="38100" dist="38100" dir="2700000" algn="tl">
                    <a:srgbClr val="000000">
                      <a:alpha val="43137"/>
                    </a:srgbClr>
                  </a:outerShdw>
                </a:effectLst>
                <a:latin typeface="Arial" charset="0"/>
                <a:ea typeface="华文细黑" pitchFamily="2" charset="-122"/>
              </a:rPr>
              <a:t>为什么要提高商品周转？</a:t>
            </a:r>
            <a:endParaRPr lang="en-US" altLang="zh-CN" sz="2000" b="1" dirty="0">
              <a:solidFill>
                <a:srgbClr val="FF0000"/>
              </a:solidFill>
              <a:effectLst>
                <a:outerShdw blurRad="38100" dist="38100" dir="2700000" algn="tl">
                  <a:srgbClr val="000000">
                    <a:alpha val="43137"/>
                  </a:srgbClr>
                </a:outerShdw>
              </a:effectLst>
              <a:latin typeface="Arial" charset="0"/>
              <a:ea typeface="华文细黑" pitchFamily="2" charset="-122"/>
            </a:endParaRPr>
          </a:p>
          <a:p>
            <a:pPr eaLnBrk="1" hangingPunct="1">
              <a:lnSpc>
                <a:spcPct val="150000"/>
              </a:lnSpc>
              <a:spcBef>
                <a:spcPct val="20000"/>
              </a:spcBef>
            </a:pPr>
            <a:r>
              <a:rPr lang="en-US" altLang="zh-CN" sz="2000" dirty="0">
                <a:effectLst>
                  <a:outerShdw blurRad="38100" dist="38100" dir="2700000" algn="tl">
                    <a:srgbClr val="000000">
                      <a:alpha val="43137"/>
                    </a:srgbClr>
                  </a:outerShdw>
                </a:effectLst>
              </a:rPr>
              <a:t>    </a:t>
            </a:r>
            <a:r>
              <a:rPr lang="zh-CN"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周转加快直接关系到资金使用效率的提高，同时</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减少库存</a:t>
            </a:r>
            <a:r>
              <a:rPr lang="zh-CN"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降低费用，提高供应链的运作效率</a:t>
            </a:r>
            <a:r>
              <a:rPr lang="zh-CN"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p>
        </p:txBody>
      </p:sp>
      <p:sp>
        <p:nvSpPr>
          <p:cNvPr id="4" name="TextBox 3"/>
          <p:cNvSpPr txBox="1"/>
          <p:nvPr/>
        </p:nvSpPr>
        <p:spPr>
          <a:xfrm>
            <a:off x="386435" y="2564904"/>
            <a:ext cx="8073997" cy="3739485"/>
          </a:xfrm>
          <a:prstGeom prst="rect">
            <a:avLst/>
          </a:prstGeom>
          <a:noFill/>
          <a:effectLst/>
        </p:spPr>
        <p:txBody>
          <a:bodyPr wrap="square" rtlCol="0">
            <a:spAutoFit/>
          </a:bodyPr>
          <a:lstStyle/>
          <a:p>
            <a:r>
              <a:rPr lang="zh-CN" altLang="en-US"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如何提高商品周转？</a:t>
            </a:r>
            <a:endParaRPr lang="en-US" altLang="zh-CN" b="1"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提高商品周转水平是一个系统工程，核心是两个内容</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p>
          <a:p>
            <a:pPr>
              <a:lnSpc>
                <a:spcPct val="150000"/>
              </a:lnSpc>
            </a:pPr>
            <a:r>
              <a:rPr lang="en-US"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1</a:t>
            </a:r>
            <a:r>
              <a:rPr lang="zh-CN" altLang="en-US"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是有效的商品评价体系</a:t>
            </a:r>
            <a:r>
              <a:rPr lang="zh-CN" altLang="en-US"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a:t>
            </a:r>
            <a:endParaRPr lang="en-US" altLang="zh-CN" sz="16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进行</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2/8</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分析或</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ABC</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分析，进行商品的汰换，剔除滞销品；采用商品贡献率比较法（商品贡献率</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销售占比</a:t>
            </a:r>
            <a:r>
              <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毛利率）衡量商品的重要程度；通过品类管理技术的应用来改善商品结构，加强库存管理等。</a:t>
            </a:r>
            <a:endPar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endParaRPr lang="en-US"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en-US"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2</a:t>
            </a:r>
            <a:r>
              <a:rPr lang="zh-CN" altLang="en-US"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a:t>
            </a:r>
            <a:r>
              <a:rPr lang="zh-CN" altLang="zh-CN"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提高供应链的速度</a:t>
            </a:r>
            <a:r>
              <a:rPr lang="zh-CN" altLang="en-US"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endParaRPr lang="en-US" altLang="zh-CN"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zh-CN"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建立完善信息管理系统，提高效率；努力实现快速反馈，加快衔接速度；加强物流配送能力，提高周转效率。</a:t>
            </a:r>
            <a:endParaRPr lang="zh-CN" altLang="en-US" sz="16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228478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animEffect transition="in" filter="fade">
                                      <p:cBhvr>
                                        <p:cTn id="15" dur="1000"/>
                                        <p:tgtEl>
                                          <p:spTgt spid="4">
                                            <p:txEl>
                                              <p:pRg st="1" end="1"/>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4">
                                            <p:txEl>
                                              <p:pRg st="2" end="2"/>
                                            </p:txEl>
                                          </p:spTgt>
                                        </p:tgtEl>
                                        <p:attrNameLst>
                                          <p:attrName>style.visibility</p:attrName>
                                        </p:attrNameLst>
                                      </p:cBhvr>
                                      <p:to>
                                        <p:strVal val="visible"/>
                                      </p:to>
                                    </p:set>
                                    <p:animEffect transition="in" filter="fade">
                                      <p:cBhvr>
                                        <p:cTn id="18" dur="1000"/>
                                        <p:tgtEl>
                                          <p:spTgt spid="4">
                                            <p:txEl>
                                              <p:pRg st="2" end="2"/>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4">
                                            <p:txEl>
                                              <p:pRg st="5" end="5"/>
                                            </p:txEl>
                                          </p:spTgt>
                                        </p:tgtEl>
                                        <p:attrNameLst>
                                          <p:attrName>style.visibility</p:attrName>
                                        </p:attrNameLst>
                                      </p:cBhvr>
                                      <p:to>
                                        <p:strVal val="visible"/>
                                      </p:to>
                                    </p:set>
                                    <p:animEffect transition="in" filter="fade">
                                      <p:cBhvr>
                                        <p:cTn id="24" dur="1000"/>
                                        <p:tgtEl>
                                          <p:spTgt spid="4">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animEffect transition="in" filter="fade">
                                      <p:cBhvr>
                                        <p:cTn id="27" dur="10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24</a:t>
            </a:fld>
            <a:r>
              <a:rPr lang="en-US" dirty="0"/>
              <a:t>&gt;</a:t>
            </a:r>
          </a:p>
        </p:txBody>
      </p:sp>
      <p:sp>
        <p:nvSpPr>
          <p:cNvPr id="3" name="TextBox 2"/>
          <p:cNvSpPr txBox="1"/>
          <p:nvPr/>
        </p:nvSpPr>
        <p:spPr>
          <a:xfrm>
            <a:off x="467543" y="241484"/>
            <a:ext cx="4371355"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存销比（</a:t>
            </a:r>
            <a:r>
              <a:rPr lang="zh-CN" altLang="en-US" sz="2400" b="1" dirty="0">
                <a:solidFill>
                  <a:srgbClr val="FF0000"/>
                </a:solidFill>
                <a:latin typeface="黑体" pitchFamily="49" charset="-122"/>
                <a:ea typeface="黑体" pitchFamily="49" charset="-122"/>
                <a:cs typeface="Meiryo UI" pitchFamily="34" charset="-128"/>
              </a:rPr>
              <a:t>库存预警指标</a:t>
            </a:r>
            <a:r>
              <a:rPr lang="zh-CN" altLang="en-US" sz="2800" b="1" dirty="0">
                <a:solidFill>
                  <a:schemeClr val="tx1">
                    <a:lumMod val="75000"/>
                    <a:lumOff val="25000"/>
                  </a:schemeClr>
                </a:solidFill>
                <a:latin typeface="黑体" pitchFamily="49" charset="-122"/>
                <a:ea typeface="黑体" pitchFamily="49" charset="-122"/>
                <a:cs typeface="Meiryo UI" pitchFamily="34" charset="-128"/>
              </a:rPr>
              <a:t>）：</a:t>
            </a:r>
          </a:p>
        </p:txBody>
      </p:sp>
      <p:sp>
        <p:nvSpPr>
          <p:cNvPr id="4" name="内容占位符 2"/>
          <p:cNvSpPr txBox="1">
            <a:spLocks/>
          </p:cNvSpPr>
          <p:nvPr/>
        </p:nvSpPr>
        <p:spPr>
          <a:xfrm>
            <a:off x="611560" y="1052736"/>
            <a:ext cx="7848872" cy="2262981"/>
          </a:xfrm>
          <a:prstGeom prst="rect">
            <a:avLst/>
          </a:prstGeom>
          <a:effectLst/>
        </p:spPr>
        <p:txBody>
          <a:bodyPr vert="horz" lIns="91440" tIns="45720" rIns="91440" bIns="45720" rtlCol="0">
            <a:normAutofit/>
          </a:bodyPr>
          <a:lstStyle>
            <a:lvl1pPr marL="342900" indent="-342900" algn="l" rtl="0" eaLnBrk="0" fontAlgn="base" hangingPunct="0">
              <a:spcBef>
                <a:spcPct val="20000"/>
              </a:spcBef>
              <a:spcAft>
                <a:spcPct val="0"/>
              </a:spcAft>
              <a:buBlip>
                <a:blip r:embed="rId3"/>
              </a:buBlip>
              <a:defRPr sz="3200" b="1" kern="1200">
                <a:solidFill>
                  <a:srgbClr val="161514"/>
                </a:solidFill>
                <a:effectLst>
                  <a:outerShdw blurRad="50800" dist="38100" dir="2700000" algn="tl" rotWithShape="0">
                    <a:schemeClr val="bg1">
                      <a:alpha val="40000"/>
                    </a:schemeClr>
                  </a:outerShdw>
                </a:effectLst>
                <a:latin typeface="+mn-lt"/>
                <a:ea typeface="+mn-ea"/>
                <a:cs typeface="+mn-cs"/>
              </a:defRPr>
            </a:lvl1pPr>
            <a:lvl2pPr marL="742950" indent="-285750" algn="l" rtl="0" eaLnBrk="0" fontAlgn="base" hangingPunct="0">
              <a:spcBef>
                <a:spcPct val="20000"/>
              </a:spcBef>
              <a:spcAft>
                <a:spcPct val="0"/>
              </a:spcAft>
              <a:buBlip>
                <a:blip r:embed="rId4"/>
              </a:buBlip>
              <a:defRPr sz="2800" kern="1200">
                <a:solidFill>
                  <a:srgbClr val="161514"/>
                </a:solidFill>
                <a:effectLst>
                  <a:outerShdw blurRad="50800" dist="38100" dir="2700000" algn="tl" rotWithShape="0">
                    <a:schemeClr val="bg1">
                      <a:alpha val="40000"/>
                    </a:schemeClr>
                  </a:outerShdw>
                </a:effectLst>
                <a:latin typeface="+mn-lt"/>
                <a:ea typeface="+mn-ea"/>
                <a:cs typeface="+mn-cs"/>
              </a:defRPr>
            </a:lvl2pPr>
            <a:lvl3pPr marL="1143000" indent="-228600" algn="l" rtl="0" eaLnBrk="0" fontAlgn="base" hangingPunct="0">
              <a:spcBef>
                <a:spcPct val="20000"/>
              </a:spcBef>
              <a:spcAft>
                <a:spcPct val="0"/>
              </a:spcAft>
              <a:buBlip>
                <a:blip r:embed="rId3"/>
              </a:buBlip>
              <a:defRPr sz="2400" kern="1200">
                <a:solidFill>
                  <a:srgbClr val="161514"/>
                </a:solidFill>
                <a:effectLst>
                  <a:outerShdw blurRad="50800" dist="38100" dir="2700000" algn="tl" rotWithShape="0">
                    <a:schemeClr val="bg1">
                      <a:alpha val="40000"/>
                    </a:schemeClr>
                  </a:outerShdw>
                </a:effectLst>
                <a:latin typeface="+mn-lt"/>
                <a:ea typeface="+mn-ea"/>
                <a:cs typeface="+mn-cs"/>
              </a:defRPr>
            </a:lvl3pPr>
            <a:lvl4pPr marL="1600200" indent="-228600" algn="l" rtl="0" eaLnBrk="0" fontAlgn="base" hangingPunct="0">
              <a:spcBef>
                <a:spcPct val="20000"/>
              </a:spcBef>
              <a:spcAft>
                <a:spcPct val="0"/>
              </a:spcAft>
              <a:buBlip>
                <a:blip r:embed="rId4"/>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4pPr>
            <a:lvl5pPr marL="2057400" indent="-228600" algn="l" rtl="0" eaLnBrk="0" fontAlgn="base" hangingPunct="0">
              <a:spcBef>
                <a:spcPct val="20000"/>
              </a:spcBef>
              <a:spcAft>
                <a:spcPct val="0"/>
              </a:spcAft>
              <a:buBlip>
                <a:blip r:embed="rId3"/>
              </a:buBlip>
              <a:defRPr sz="2000" kern="1200">
                <a:solidFill>
                  <a:srgbClr val="161514"/>
                </a:solidFill>
                <a:effectLst>
                  <a:outerShdw blurRad="50800" dist="38100" dir="2700000" algn="tl" rotWithShape="0">
                    <a:schemeClr val="bg1">
                      <a:alpha val="40000"/>
                    </a:schemeClr>
                  </a:outerShdw>
                </a:effectLst>
                <a:latin typeface="+mn-lt"/>
                <a:ea typeface="+mn-ea"/>
                <a:cs typeface="+mn-cs"/>
              </a:defRPr>
            </a:lvl5pPr>
            <a:lvl6pPr marL="2514600" indent="-228600" algn="l" defTabSz="914400" rtl="0" eaLnBrk="1" latinLnBrk="0" hangingPunct="1">
              <a:spcBef>
                <a:spcPct val="20000"/>
              </a:spcBef>
              <a:buFontTx/>
              <a:buBlip>
                <a:blip r:embed="rId4"/>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6pPr>
            <a:lvl7pPr marL="2971800" indent="-228600" algn="l" defTabSz="914400" rtl="0" eaLnBrk="1" latinLnBrk="0" hangingPunct="1">
              <a:spcBef>
                <a:spcPct val="20000"/>
              </a:spcBef>
              <a:buFontTx/>
              <a:buBlip>
                <a:blip r:embed="rId3"/>
              </a:buBlip>
              <a:defRPr sz="18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7pPr>
            <a:lvl8pPr marL="3429000" indent="-228600" algn="l" defTabSz="914400" rtl="0" eaLnBrk="1" latinLnBrk="0" hangingPunct="1">
              <a:spcBef>
                <a:spcPct val="20000"/>
              </a:spcBef>
              <a:buFontTx/>
              <a:buBlip>
                <a:blip r:embed="rId4"/>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8pPr>
            <a:lvl9pPr marL="3886200" indent="-228600" algn="l" defTabSz="914400" rtl="0" eaLnBrk="1" latinLnBrk="0" hangingPunct="1">
              <a:spcBef>
                <a:spcPct val="20000"/>
              </a:spcBef>
              <a:buFontTx/>
              <a:buBlip>
                <a:blip r:embed="rId3"/>
              </a:buBlip>
              <a:defRPr sz="1600" kern="1200" baseline="0">
                <a:solidFill>
                  <a:schemeClr val="bg2">
                    <a:lumMod val="10000"/>
                  </a:schemeClr>
                </a:solidFill>
                <a:effectLst>
                  <a:outerShdw blurRad="50800" dist="38100" dir="2700000" algn="tl" rotWithShape="0">
                    <a:schemeClr val="bg1">
                      <a:alpha val="40000"/>
                    </a:schemeClr>
                  </a:outerShdw>
                </a:effectLst>
                <a:latin typeface="+mn-lt"/>
                <a:ea typeface="+mn-ea"/>
                <a:cs typeface="+mn-cs"/>
              </a:defRPr>
            </a:lvl9pPr>
          </a:lstStyle>
          <a:p>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存销比</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目前的库存数</a:t>
            </a:r>
            <a:r>
              <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上个月的销售数量</a:t>
            </a:r>
            <a:endParaRPr lang="en-US" altLang="zh-CN" sz="24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endPar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反映的是商品在目前的销售情况下，还能支持多久的一个库存总量问题。</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endParaRPr lang="en-US" altLang="zh-CN" sz="2000" b="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一般来说</a:t>
            </a:r>
            <a:r>
              <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2.5-4</a:t>
            </a:r>
            <a:r>
              <a:rPr lang="zh-CN" altLang="en-US"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是属于正常的范围（月存销比）</a:t>
            </a:r>
            <a:endParaRPr lang="en-US" altLang="zh-CN" sz="2000" b="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a:p>
            <a:pPr marL="0" indent="0">
              <a:buNone/>
            </a:pPr>
            <a:endParaRPr lang="en-US" altLang="zh-CN" sz="2000" dirty="0">
              <a:solidFill>
                <a:srgbClr val="FF0000"/>
              </a:solidFill>
              <a:latin typeface="华文细黑" pitchFamily="2" charset="-122"/>
              <a:ea typeface="华文细黑" pitchFamily="2" charset="-122"/>
            </a:endParaRPr>
          </a:p>
        </p:txBody>
      </p:sp>
      <p:sp>
        <p:nvSpPr>
          <p:cNvPr id="5" name="Text Box 2"/>
          <p:cNvSpPr txBox="1">
            <a:spLocks noChangeArrowheads="1"/>
          </p:cNvSpPr>
          <p:nvPr/>
        </p:nvSpPr>
        <p:spPr bwMode="auto">
          <a:xfrm>
            <a:off x="434976" y="4329484"/>
            <a:ext cx="11737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kumimoji="1" lang="zh-CN" altLang="en-US" sz="2000" b="1" dirty="0">
                <a:solidFill>
                  <a:schemeClr val="tx1">
                    <a:lumMod val="75000"/>
                    <a:lumOff val="25000"/>
                  </a:schemeClr>
                </a:solidFill>
                <a:latin typeface="华文细黑" pitchFamily="2" charset="-122"/>
                <a:ea typeface="华文细黑" pitchFamily="2" charset="-122"/>
              </a:rPr>
              <a:t>存销比 </a:t>
            </a:r>
            <a:r>
              <a:rPr kumimoji="1" lang="en-US" altLang="zh-CN" sz="2000" b="1" dirty="0">
                <a:solidFill>
                  <a:schemeClr val="tx1">
                    <a:lumMod val="75000"/>
                    <a:lumOff val="25000"/>
                  </a:schemeClr>
                </a:solidFill>
                <a:latin typeface="华文细黑" pitchFamily="2" charset="-122"/>
                <a:ea typeface="华文细黑" pitchFamily="2" charset="-122"/>
              </a:rPr>
              <a:t>=</a:t>
            </a:r>
          </a:p>
        </p:txBody>
      </p:sp>
      <p:grpSp>
        <p:nvGrpSpPr>
          <p:cNvPr id="6" name="Group 3"/>
          <p:cNvGrpSpPr>
            <a:grpSpLocks/>
          </p:cNvGrpSpPr>
          <p:nvPr/>
        </p:nvGrpSpPr>
        <p:grpSpPr bwMode="auto">
          <a:xfrm>
            <a:off x="2284413" y="4160967"/>
            <a:ext cx="5210175" cy="711943"/>
            <a:chOff x="1632" y="1272"/>
            <a:chExt cx="2986" cy="611"/>
          </a:xfrm>
        </p:grpSpPr>
        <p:sp>
          <p:nvSpPr>
            <p:cNvPr id="7" name="Text Box 4"/>
            <p:cNvSpPr txBox="1">
              <a:spLocks noChangeArrowheads="1"/>
            </p:cNvSpPr>
            <p:nvPr/>
          </p:nvSpPr>
          <p:spPr bwMode="auto">
            <a:xfrm>
              <a:off x="1632" y="1272"/>
              <a:ext cx="2928" cy="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r>
                <a:rPr kumimoji="1" lang="zh-CN" altLang="en-US" sz="2000" b="1" dirty="0">
                  <a:solidFill>
                    <a:schemeClr val="tx1">
                      <a:lumMod val="75000"/>
                      <a:lumOff val="25000"/>
                    </a:schemeClr>
                  </a:solidFill>
                  <a:latin typeface="华文细黑" pitchFamily="2" charset="-122"/>
                  <a:ea typeface="华文细黑" pitchFamily="2" charset="-122"/>
                </a:rPr>
                <a:t>（期初库存</a:t>
              </a:r>
              <a:r>
                <a:rPr kumimoji="1" lang="en-US" altLang="zh-CN" sz="2000" b="1" dirty="0">
                  <a:solidFill>
                    <a:schemeClr val="tx1">
                      <a:lumMod val="75000"/>
                      <a:lumOff val="25000"/>
                    </a:schemeClr>
                  </a:solidFill>
                  <a:latin typeface="华文细黑" pitchFamily="2" charset="-122"/>
                  <a:ea typeface="华文细黑" pitchFamily="2" charset="-122"/>
                </a:rPr>
                <a:t>+</a:t>
              </a:r>
              <a:r>
                <a:rPr kumimoji="1" lang="zh-CN" altLang="en-US" sz="2000" b="1" dirty="0">
                  <a:solidFill>
                    <a:schemeClr val="tx1">
                      <a:lumMod val="75000"/>
                      <a:lumOff val="25000"/>
                    </a:schemeClr>
                  </a:solidFill>
                  <a:latin typeface="华文细黑" pitchFamily="2" charset="-122"/>
                  <a:ea typeface="华文细黑" pitchFamily="2" charset="-122"/>
                </a:rPr>
                <a:t>期末库存</a:t>
              </a:r>
              <a:r>
                <a:rPr kumimoji="1" lang="en-US" altLang="zh-CN" sz="2000" b="1" dirty="0">
                  <a:solidFill>
                    <a:schemeClr val="tx1">
                      <a:lumMod val="75000"/>
                      <a:lumOff val="25000"/>
                    </a:schemeClr>
                  </a:solidFill>
                  <a:latin typeface="华文细黑" pitchFamily="2" charset="-122"/>
                  <a:ea typeface="华文细黑" pitchFamily="2" charset="-122"/>
                </a:rPr>
                <a:t>)/2</a:t>
              </a:r>
              <a:endParaRPr kumimoji="1" lang="zh-CN" altLang="en-US" sz="2000" b="1" u="sng" dirty="0">
                <a:solidFill>
                  <a:schemeClr val="tx1">
                    <a:lumMod val="75000"/>
                    <a:lumOff val="25000"/>
                  </a:schemeClr>
                </a:solidFill>
                <a:latin typeface="华文细黑" pitchFamily="2" charset="-122"/>
                <a:ea typeface="华文细黑" pitchFamily="2" charset="-122"/>
              </a:endParaRPr>
            </a:p>
            <a:p>
              <a:pPr eaLnBrk="1" hangingPunct="1"/>
              <a:r>
                <a:rPr kumimoji="1" lang="en-US" altLang="zh-CN" sz="2000" b="1" dirty="0">
                  <a:latin typeface="华文细黑" pitchFamily="2" charset="-122"/>
                  <a:ea typeface="华文细黑" pitchFamily="2" charset="-122"/>
                </a:rPr>
                <a:t>      </a:t>
              </a:r>
              <a:r>
                <a:rPr kumimoji="1" lang="zh-CN" altLang="en-US" sz="2000" b="1" dirty="0">
                  <a:solidFill>
                    <a:schemeClr val="tx1">
                      <a:lumMod val="75000"/>
                      <a:lumOff val="25000"/>
                    </a:schemeClr>
                  </a:solidFill>
                  <a:latin typeface="华文细黑" pitchFamily="2" charset="-122"/>
                  <a:ea typeface="华文细黑" pitchFamily="2" charset="-122"/>
                </a:rPr>
                <a:t>月销售额</a:t>
              </a:r>
            </a:p>
          </p:txBody>
        </p:sp>
        <p:sp>
          <p:nvSpPr>
            <p:cNvPr id="8" name="Rectangle 5"/>
            <p:cNvSpPr>
              <a:spLocks noChangeArrowheads="1"/>
            </p:cNvSpPr>
            <p:nvPr/>
          </p:nvSpPr>
          <p:spPr bwMode="auto">
            <a:xfrm>
              <a:off x="4512" y="1513"/>
              <a:ext cx="106"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10000"/>
                </a:lnSpc>
              </a:pPr>
              <a:endParaRPr kumimoji="1" lang="en-US" altLang="zh-CN" sz="2000" b="1">
                <a:latin typeface="华文细黑" pitchFamily="2" charset="-122"/>
                <a:ea typeface="华文细黑" pitchFamily="2" charset="-122"/>
              </a:endParaRPr>
            </a:p>
          </p:txBody>
        </p:sp>
      </p:grpSp>
      <p:sp>
        <p:nvSpPr>
          <p:cNvPr id="9" name="Rectangle 11"/>
          <p:cNvSpPr>
            <a:spLocks noChangeArrowheads="1"/>
          </p:cNvSpPr>
          <p:nvPr/>
        </p:nvSpPr>
        <p:spPr bwMode="auto">
          <a:xfrm>
            <a:off x="5580112" y="4365104"/>
            <a:ext cx="92044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kumimoji="1" lang="zh-CN" altLang="en-US" sz="2000" dirty="0">
                <a:solidFill>
                  <a:schemeClr val="tx1">
                    <a:lumMod val="75000"/>
                    <a:lumOff val="25000"/>
                  </a:schemeClr>
                </a:solidFill>
                <a:latin typeface="华文细黑" pitchFamily="2" charset="-122"/>
                <a:ea typeface="华文细黑" pitchFamily="2" charset="-122"/>
              </a:rPr>
              <a:t>*</a:t>
            </a:r>
            <a:r>
              <a:rPr kumimoji="1" lang="en-US" altLang="zh-CN" sz="2000" dirty="0">
                <a:solidFill>
                  <a:schemeClr val="tx1">
                    <a:lumMod val="75000"/>
                    <a:lumOff val="25000"/>
                  </a:schemeClr>
                </a:solidFill>
                <a:latin typeface="华文细黑" pitchFamily="2" charset="-122"/>
                <a:ea typeface="华文细黑" pitchFamily="2" charset="-122"/>
              </a:rPr>
              <a:t>100%</a:t>
            </a:r>
            <a:endParaRPr kumimoji="1" lang="zh-CN" altLang="en-US" sz="2000" dirty="0">
              <a:solidFill>
                <a:schemeClr val="tx1">
                  <a:lumMod val="75000"/>
                  <a:lumOff val="25000"/>
                </a:schemeClr>
              </a:solidFill>
              <a:latin typeface="华文细黑" pitchFamily="2" charset="-122"/>
              <a:ea typeface="华文细黑" pitchFamily="2" charset="-122"/>
            </a:endParaRPr>
          </a:p>
        </p:txBody>
      </p:sp>
      <p:sp>
        <p:nvSpPr>
          <p:cNvPr id="10" name="Line 10"/>
          <p:cNvSpPr>
            <a:spLocks noChangeShapeType="1"/>
          </p:cNvSpPr>
          <p:nvPr/>
        </p:nvSpPr>
        <p:spPr bwMode="auto">
          <a:xfrm>
            <a:off x="1907827" y="4544960"/>
            <a:ext cx="352826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TextBox 10"/>
          <p:cNvSpPr txBox="1"/>
          <p:nvPr/>
        </p:nvSpPr>
        <p:spPr>
          <a:xfrm>
            <a:off x="467544" y="3645024"/>
            <a:ext cx="2808312" cy="400110"/>
          </a:xfrm>
          <a:prstGeom prst="rect">
            <a:avLst/>
          </a:prstGeom>
          <a:noFill/>
        </p:spPr>
        <p:txBody>
          <a:bodyPr wrap="square" rtlCol="0">
            <a:spAutoFit/>
          </a:bodyPr>
          <a:lstStyle/>
          <a:p>
            <a:r>
              <a:rPr lang="zh-CN" altLang="en-US" sz="2000" b="1" dirty="0">
                <a:solidFill>
                  <a:schemeClr val="tx1">
                    <a:lumMod val="75000"/>
                    <a:lumOff val="25000"/>
                  </a:schemeClr>
                </a:solidFill>
                <a:latin typeface="华文细黑" pitchFamily="2" charset="-122"/>
                <a:ea typeface="华文细黑" pitchFamily="2" charset="-122"/>
              </a:rPr>
              <a:t>另一种算法：</a:t>
            </a:r>
          </a:p>
        </p:txBody>
      </p:sp>
      <p:sp>
        <p:nvSpPr>
          <p:cNvPr id="12" name="Text Box 9"/>
          <p:cNvSpPr txBox="1">
            <a:spLocks noChangeArrowheads="1"/>
          </p:cNvSpPr>
          <p:nvPr/>
        </p:nvSpPr>
        <p:spPr bwMode="auto">
          <a:xfrm>
            <a:off x="683270" y="4869160"/>
            <a:ext cx="7777162" cy="1477328"/>
          </a:xfrm>
          <a:prstGeom prst="rect">
            <a:avLst/>
          </a:prstGeom>
          <a:solidFill>
            <a:srgbClr val="CCFFCC"/>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50000"/>
              </a:lnSpc>
            </a:pPr>
            <a:r>
              <a:rPr kumimoji="1" lang="zh-CN" altLang="en-US"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特别提醒</a:t>
            </a:r>
            <a:r>
              <a:rPr kumimoji="1" lang="en-US" altLang="zh-CN"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a:t>
            </a:r>
          </a:p>
          <a:p>
            <a:pPr eaLnBrk="1" hangingPunct="1">
              <a:lnSpc>
                <a:spcPct val="150000"/>
              </a:lnSpc>
            </a:pPr>
            <a:r>
              <a:rPr kumimoji="1" lang="zh-CN" altLang="en-US"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    存销比行业内一般最低在</a:t>
            </a:r>
            <a:r>
              <a:rPr kumimoji="1" lang="en-US" altLang="zh-CN"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150%-200%,</a:t>
            </a:r>
            <a:r>
              <a:rPr kumimoji="1" lang="zh-CN" altLang="en-US"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最高</a:t>
            </a:r>
            <a:r>
              <a:rPr kumimoji="1" lang="en-US" altLang="zh-CN"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400%-600%</a:t>
            </a:r>
            <a:r>
              <a:rPr kumimoji="1" lang="zh-CN" altLang="en-US"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之间</a:t>
            </a:r>
            <a:r>
              <a:rPr kumimoji="1" lang="en-US" altLang="zh-CN"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a:t>
            </a:r>
            <a:r>
              <a:rPr kumimoji="1" lang="zh-CN" altLang="en-US"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rPr>
              <a:t>根据不同销售时段调整标准；</a:t>
            </a:r>
            <a:endParaRPr kumimoji="1" lang="en-US" altLang="zh-CN" sz="2000" dirty="0">
              <a:solidFill>
                <a:srgbClr val="A33B4A"/>
              </a:solidFill>
              <a:effectLst>
                <a:outerShdw blurRad="50800" dist="38100" dir="5400000" algn="t" rotWithShape="0">
                  <a:prstClr val="black">
                    <a:alpha val="40000"/>
                  </a:prst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252217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1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1" presetClass="entr" presetSubtype="0" fill="hold" nodeType="clickEffect">
                                  <p:stCondLst>
                                    <p:cond delay="0"/>
                                  </p:stCondLst>
                                  <p:iterate type="lt">
                                    <p:tmPct val="5000"/>
                                  </p:iterate>
                                  <p:childTnLst>
                                    <p:set>
                                      <p:cBhvr>
                                        <p:cTn id="21" dur="1" fill="hold">
                                          <p:stCondLst>
                                            <p:cond delay="0"/>
                                          </p:stCondLst>
                                        </p:cTn>
                                        <p:tgtEl>
                                          <p:spTgt spid="11">
                                            <p:txEl>
                                              <p:pRg st="0" end="0"/>
                                            </p:txEl>
                                          </p:spTgt>
                                        </p:tgtEl>
                                        <p:attrNameLst>
                                          <p:attrName>style.visibility</p:attrName>
                                        </p:attrNameLst>
                                      </p:cBhvr>
                                      <p:to>
                                        <p:strVal val="visible"/>
                                      </p:to>
                                    </p:set>
                                    <p:anim calcmode="lin" valueType="num">
                                      <p:cBhvr>
                                        <p:cTn id="22" dur="1000" fill="hold"/>
                                        <p:tgtEl>
                                          <p:spTgt spid="11">
                                            <p:txEl>
                                              <p:pRg st="0" end="0"/>
                                            </p:txEl>
                                          </p:spTgt>
                                        </p:tgtEl>
                                        <p:attrNameLst>
                                          <p:attrName>ppt_w</p:attrName>
                                        </p:attrNameLst>
                                      </p:cBhvr>
                                      <p:tavLst>
                                        <p:tav tm="0">
                                          <p:val>
                                            <p:fltVal val="0"/>
                                          </p:val>
                                        </p:tav>
                                        <p:tav tm="100000">
                                          <p:val>
                                            <p:strVal val="#ppt_w"/>
                                          </p:val>
                                        </p:tav>
                                      </p:tavLst>
                                    </p:anim>
                                    <p:anim calcmode="lin" valueType="num">
                                      <p:cBhvr>
                                        <p:cTn id="23" dur="1000" fill="hold"/>
                                        <p:tgtEl>
                                          <p:spTgt spid="11">
                                            <p:txEl>
                                              <p:pRg st="0" end="0"/>
                                            </p:txEl>
                                          </p:spTgt>
                                        </p:tgtEl>
                                        <p:attrNameLst>
                                          <p:attrName>ppt_h</p:attrName>
                                        </p:attrNameLst>
                                      </p:cBhvr>
                                      <p:tavLst>
                                        <p:tav tm="0">
                                          <p:val>
                                            <p:fltVal val="0"/>
                                          </p:val>
                                        </p:tav>
                                        <p:tav tm="100000">
                                          <p:val>
                                            <p:strVal val="#ppt_h"/>
                                          </p:val>
                                        </p:tav>
                                      </p:tavLst>
                                    </p:anim>
                                    <p:anim calcmode="lin" valueType="num">
                                      <p:cBhvr>
                                        <p:cTn id="24" dur="1000" fill="hold"/>
                                        <p:tgtEl>
                                          <p:spTgt spid="11">
                                            <p:txEl>
                                              <p:pRg st="0" end="0"/>
                                            </p:txEl>
                                          </p:spTgt>
                                        </p:tgtEl>
                                        <p:attrNameLst>
                                          <p:attrName>style.rotation</p:attrName>
                                        </p:attrNameLst>
                                      </p:cBhvr>
                                      <p:tavLst>
                                        <p:tav tm="0">
                                          <p:val>
                                            <p:fltVal val="90"/>
                                          </p:val>
                                        </p:tav>
                                        <p:tav tm="100000">
                                          <p:val>
                                            <p:fltVal val="0"/>
                                          </p:val>
                                        </p:tav>
                                      </p:tavLst>
                                    </p:anim>
                                    <p:animEffect transition="in" filter="fade">
                                      <p:cBhvr>
                                        <p:cTn id="25" dur="1000"/>
                                        <p:tgtEl>
                                          <p:spTgt spid="11">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1000"/>
                                        <p:tgtEl>
                                          <p:spTgt spid="5"/>
                                        </p:tgtEl>
                                      </p:cBhvr>
                                    </p:animEffect>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animBg="1"/>
      <p:bldP spid="1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25</a:t>
            </a:fld>
            <a:r>
              <a:rPr lang="en-US" dirty="0"/>
              <a:t>&gt;</a:t>
            </a:r>
          </a:p>
        </p:txBody>
      </p:sp>
      <p:sp>
        <p:nvSpPr>
          <p:cNvPr id="8" name="Rectangle 5"/>
          <p:cNvSpPr>
            <a:spLocks noChangeArrowheads="1"/>
          </p:cNvSpPr>
          <p:nvPr/>
        </p:nvSpPr>
        <p:spPr bwMode="auto">
          <a:xfrm>
            <a:off x="7309633" y="4441784"/>
            <a:ext cx="184956" cy="43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10000"/>
              </a:lnSpc>
            </a:pPr>
            <a:endParaRPr kumimoji="1" lang="en-US" altLang="zh-CN" sz="2000" b="1">
              <a:latin typeface="华文细黑" pitchFamily="2" charset="-122"/>
              <a:ea typeface="华文细黑" pitchFamily="2" charset="-122"/>
            </a:endParaRPr>
          </a:p>
        </p:txBody>
      </p:sp>
      <p:graphicFrame>
        <p:nvGraphicFramePr>
          <p:cNvPr id="13" name="表格 12"/>
          <p:cNvGraphicFramePr>
            <a:graphicFrameLocks noGrp="1"/>
          </p:cNvGraphicFramePr>
          <p:nvPr>
            <p:extLst>
              <p:ext uri="{D42A27DB-BD31-4B8C-83A1-F6EECF244321}">
                <p14:modId xmlns:p14="http://schemas.microsoft.com/office/powerpoint/2010/main" val="53889260"/>
              </p:ext>
            </p:extLst>
          </p:nvPr>
        </p:nvGraphicFramePr>
        <p:xfrm>
          <a:off x="1071563" y="1281311"/>
          <a:ext cx="6929436" cy="1571625"/>
        </p:xfrm>
        <a:graphic>
          <a:graphicData uri="http://schemas.openxmlformats.org/drawingml/2006/table">
            <a:tbl>
              <a:tblPr>
                <a:tableStyleId>{35758FB7-9AC5-4552-8A53-C91805E547FA}</a:tableStyleId>
              </a:tblPr>
              <a:tblGrid>
                <a:gridCol w="1857374">
                  <a:extLst>
                    <a:ext uri="{9D8B030D-6E8A-4147-A177-3AD203B41FA5}">
                      <a16:colId xmlns:a16="http://schemas.microsoft.com/office/drawing/2014/main" val="20000"/>
                    </a:ext>
                  </a:extLst>
                </a:gridCol>
                <a:gridCol w="1357312">
                  <a:extLst>
                    <a:ext uri="{9D8B030D-6E8A-4147-A177-3AD203B41FA5}">
                      <a16:colId xmlns:a16="http://schemas.microsoft.com/office/drawing/2014/main" val="20001"/>
                    </a:ext>
                  </a:extLst>
                </a:gridCol>
                <a:gridCol w="1357313">
                  <a:extLst>
                    <a:ext uri="{9D8B030D-6E8A-4147-A177-3AD203B41FA5}">
                      <a16:colId xmlns:a16="http://schemas.microsoft.com/office/drawing/2014/main" val="20002"/>
                    </a:ext>
                  </a:extLst>
                </a:gridCol>
                <a:gridCol w="2357437">
                  <a:extLst>
                    <a:ext uri="{9D8B030D-6E8A-4147-A177-3AD203B41FA5}">
                      <a16:colId xmlns:a16="http://schemas.microsoft.com/office/drawing/2014/main" val="20003"/>
                    </a:ext>
                  </a:extLst>
                </a:gridCol>
              </a:tblGrid>
              <a:tr h="90779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effectLst/>
                        </a:rPr>
                        <a:t>缺货</a:t>
                      </a:r>
                      <a:r>
                        <a:rPr kumimoji="0" lang="en-US" altLang="zh-CN" sz="2000" u="none" strike="noStrike" cap="none" normalizeH="0" baseline="0" dirty="0">
                          <a:ln>
                            <a:noFill/>
                          </a:ln>
                          <a:effectLst/>
                        </a:rPr>
                        <a:t>/</a:t>
                      </a:r>
                      <a:r>
                        <a:rPr kumimoji="0" lang="zh-CN" altLang="en-US" sz="2000" u="none" strike="noStrike" cap="none" normalizeH="0" baseline="0" dirty="0">
                          <a:ln>
                            <a:noFill/>
                          </a:ln>
                          <a:effectLst/>
                        </a:rPr>
                        <a:t>大量折扣</a:t>
                      </a:r>
                      <a:endParaRPr kumimoji="0" lang="zh-CN" altLang="en-US" sz="2000" b="1" i="0" u="none" strike="noStrike" cap="none" normalizeH="0" baseline="0" dirty="0">
                        <a:ln>
                          <a:noFill/>
                        </a:ln>
                        <a:solidFill>
                          <a:srgbClr val="FFFFFF"/>
                        </a:solidFill>
                        <a:effectLst/>
                        <a:latin typeface="华文细黑" pitchFamily="2" charset="-122"/>
                        <a:ea typeface="华文细黑" pitchFamily="2" charset="-122"/>
                      </a:endParaRPr>
                    </a:p>
                  </a:txBody>
                  <a:tcPr marL="91439" marR="91439"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effectLst/>
                        </a:rPr>
                        <a:t>   优秀</a:t>
                      </a:r>
                      <a:endParaRPr kumimoji="0" lang="zh-CN" altLang="en-US" sz="2000" b="1" i="0" u="none" strike="noStrike" cap="none" normalizeH="0" baseline="0" dirty="0">
                        <a:ln>
                          <a:noFill/>
                        </a:ln>
                        <a:solidFill>
                          <a:srgbClr val="FFFFFF"/>
                        </a:solidFill>
                        <a:effectLst/>
                        <a:latin typeface="华文细黑" pitchFamily="2" charset="-122"/>
                        <a:ea typeface="华文细黑" pitchFamily="2" charset="-122"/>
                      </a:endParaRPr>
                    </a:p>
                  </a:txBody>
                  <a:tcPr marL="91439" marR="91439"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effectLst/>
                        </a:rPr>
                        <a:t>  良好</a:t>
                      </a:r>
                      <a:endParaRPr kumimoji="0" lang="zh-CN" altLang="en-US" sz="2000" b="1" i="0" u="none" strike="noStrike" cap="none" normalizeH="0" baseline="0" dirty="0">
                        <a:ln>
                          <a:noFill/>
                        </a:ln>
                        <a:solidFill>
                          <a:srgbClr val="FFFFFF"/>
                        </a:solidFill>
                        <a:effectLst/>
                        <a:latin typeface="华文细黑" pitchFamily="2" charset="-122"/>
                        <a:ea typeface="华文细黑" pitchFamily="2" charset="-122"/>
                      </a:endParaRPr>
                    </a:p>
                  </a:txBody>
                  <a:tcPr marL="91439" marR="91439"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effectLst/>
                        </a:rPr>
                        <a:t>库存偏大</a:t>
                      </a:r>
                      <a:r>
                        <a:rPr kumimoji="0" lang="en-US" altLang="zh-CN" sz="2000" u="none" strike="noStrike" cap="none" normalizeH="0" baseline="0" dirty="0">
                          <a:ln>
                            <a:noFill/>
                          </a:ln>
                          <a:effectLst/>
                        </a:rPr>
                        <a:t>/</a:t>
                      </a:r>
                      <a:r>
                        <a:rPr kumimoji="0" lang="zh-CN" altLang="en-US" sz="2000" u="none" strike="noStrike" cap="none" normalizeH="0" baseline="0" dirty="0">
                          <a:ln>
                            <a:noFill/>
                          </a:ln>
                          <a:effectLst/>
                        </a:rPr>
                        <a:t>结构不合理</a:t>
                      </a:r>
                      <a:endParaRPr kumimoji="0" lang="zh-CN" altLang="en-US" sz="2000" b="1" i="0" u="none" strike="noStrike" cap="none" normalizeH="0" baseline="0" dirty="0">
                        <a:ln>
                          <a:noFill/>
                        </a:ln>
                        <a:solidFill>
                          <a:srgbClr val="FFFFFF"/>
                        </a:solidFill>
                        <a:effectLst/>
                        <a:latin typeface="华文细黑" pitchFamily="2" charset="-122"/>
                        <a:ea typeface="华文细黑" pitchFamily="2" charset="-122"/>
                      </a:endParaRPr>
                    </a:p>
                  </a:txBody>
                  <a:tcPr marL="91439" marR="91439" anchor="ctr" horzOverflow="overflow"/>
                </a:tc>
                <a:extLst>
                  <a:ext uri="{0D108BD9-81ED-4DB2-BD59-A6C34878D82A}">
                    <a16:rowId xmlns:a16="http://schemas.microsoft.com/office/drawing/2014/main" val="10000"/>
                  </a:ext>
                </a:extLst>
              </a:tr>
              <a:tr h="66383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rPr>
                        <a:t> 0-3.0</a:t>
                      </a:r>
                      <a:endParaRPr kumimoji="0" lang="zh-CN" altLang="en-US" sz="2000" b="0" i="0" u="none" strike="noStrike" cap="none" normalizeH="0" baseline="0" dirty="0">
                        <a:ln>
                          <a:noFill/>
                        </a:ln>
                        <a:solidFill>
                          <a:srgbClr val="000000"/>
                        </a:solidFill>
                        <a:effectLst/>
                        <a:latin typeface="华文细黑" pitchFamily="2" charset="-122"/>
                        <a:ea typeface="华文细黑" pitchFamily="2" charset="-122"/>
                      </a:endParaRPr>
                    </a:p>
                  </a:txBody>
                  <a:tcPr marL="91439" marR="91439"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rPr>
                        <a:t> 3.0-4.0</a:t>
                      </a:r>
                      <a:endParaRPr kumimoji="0" lang="zh-CN" altLang="en-US" sz="2000" b="0" i="0" u="none" strike="noStrike" cap="none" normalizeH="0" baseline="0" dirty="0">
                        <a:ln>
                          <a:noFill/>
                        </a:ln>
                        <a:solidFill>
                          <a:srgbClr val="000000"/>
                        </a:solidFill>
                        <a:effectLst/>
                        <a:latin typeface="华文细黑" pitchFamily="2" charset="-122"/>
                        <a:ea typeface="华文细黑" pitchFamily="2" charset="-122"/>
                      </a:endParaRPr>
                    </a:p>
                  </a:txBody>
                  <a:tcPr marL="91439" marR="91439"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2000" u="none" strike="noStrike" cap="none" normalizeH="0" baseline="0" dirty="0">
                          <a:ln>
                            <a:noFill/>
                          </a:ln>
                          <a:effectLst/>
                        </a:rPr>
                        <a:t>4.0-5.0</a:t>
                      </a:r>
                      <a:endParaRPr kumimoji="0" lang="zh-CN" altLang="en-US" sz="2000" b="0" i="0" u="none" strike="noStrike" cap="none" normalizeH="0" baseline="0" dirty="0">
                        <a:ln>
                          <a:noFill/>
                        </a:ln>
                        <a:solidFill>
                          <a:srgbClr val="000000"/>
                        </a:solidFill>
                        <a:effectLst/>
                        <a:latin typeface="华文细黑" pitchFamily="2" charset="-122"/>
                        <a:ea typeface="华文细黑" pitchFamily="2" charset="-122"/>
                      </a:endParaRPr>
                    </a:p>
                  </a:txBody>
                  <a:tcPr marL="91439" marR="91439" anchor="ct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2000" u="none" strike="noStrike" cap="none" normalizeH="0" baseline="0" dirty="0">
                          <a:ln>
                            <a:noFill/>
                          </a:ln>
                          <a:effectLst/>
                        </a:rPr>
                        <a:t> ＞</a:t>
                      </a:r>
                      <a:r>
                        <a:rPr kumimoji="0" lang="en-US" altLang="zh-CN" sz="2000" u="none" strike="noStrike" cap="none" normalizeH="0" baseline="0" dirty="0">
                          <a:ln>
                            <a:noFill/>
                          </a:ln>
                          <a:effectLst/>
                        </a:rPr>
                        <a:t>5.0</a:t>
                      </a:r>
                      <a:endParaRPr kumimoji="0" lang="zh-CN" altLang="en-US" sz="2000" b="0" i="0" u="none" strike="noStrike" cap="none" normalizeH="0" baseline="0" dirty="0">
                        <a:ln>
                          <a:noFill/>
                        </a:ln>
                        <a:solidFill>
                          <a:srgbClr val="000000"/>
                        </a:solidFill>
                        <a:effectLst/>
                        <a:latin typeface="华文细黑" pitchFamily="2" charset="-122"/>
                        <a:ea typeface="华文细黑" pitchFamily="2" charset="-122"/>
                      </a:endParaRPr>
                    </a:p>
                  </a:txBody>
                  <a:tcPr marL="91439" marR="91439" anchor="ctr" horzOverflow="overflow"/>
                </a:tc>
                <a:extLst>
                  <a:ext uri="{0D108BD9-81ED-4DB2-BD59-A6C34878D82A}">
                    <a16:rowId xmlns:a16="http://schemas.microsoft.com/office/drawing/2014/main" val="10001"/>
                  </a:ext>
                </a:extLst>
              </a:tr>
            </a:tbl>
          </a:graphicData>
        </a:graphic>
      </p:graphicFrame>
      <p:sp>
        <p:nvSpPr>
          <p:cNvPr id="14" name="Text Box 3"/>
          <p:cNvSpPr txBox="1">
            <a:spLocks noChangeArrowheads="1"/>
          </p:cNvSpPr>
          <p:nvPr/>
        </p:nvSpPr>
        <p:spPr bwMode="auto">
          <a:xfrm>
            <a:off x="1000125" y="3003649"/>
            <a:ext cx="7143750" cy="28623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lnSpc>
                <a:spcPct val="180000"/>
              </a:lnSpc>
              <a:buFont typeface="Wingdings" pitchFamily="2" charset="2"/>
              <a:buChar char="l"/>
            </a:pPr>
            <a:r>
              <a:rPr lang="zh-CN" altLang="en-US" sz="2000" b="1" dirty="0">
                <a:solidFill>
                  <a:schemeClr val="tx1">
                    <a:lumMod val="75000"/>
                    <a:lumOff val="25000"/>
                  </a:schemeClr>
                </a:solidFill>
                <a:latin typeface="仿宋_GB2312" pitchFamily="49" charset="-122"/>
                <a:ea typeface="仿宋_GB2312" pitchFamily="49" charset="-122"/>
              </a:rPr>
              <a:t> </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库销比过高，意味着库存总量或者结构不合理，资金效率</a:t>
            </a: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eaLnBrk="1" hangingPunct="1">
              <a:lnSpc>
                <a:spcPct val="180000"/>
              </a:lnSpc>
              <a:buFont typeface="Wingdings" pitchFamily="2" charset="2"/>
              <a:buChar char="l"/>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库销比过低，意味着库存不足，利润难以最大化</a:t>
            </a: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eaLnBrk="1" hangingPunct="1">
              <a:lnSpc>
                <a:spcPct val="180000"/>
              </a:lnSpc>
              <a:buFont typeface="Wingdings" pitchFamily="2" charset="2"/>
              <a:buChar char="l"/>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库销比反映的是总量问题，总量合理未必结构合理</a:t>
            </a: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eaLnBrk="1" hangingPunct="1">
              <a:lnSpc>
                <a:spcPct val="180000"/>
              </a:lnSpc>
              <a:buFont typeface="Wingdings" pitchFamily="2" charset="2"/>
              <a:buChar char="l"/>
            </a:pPr>
            <a:r>
              <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 </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库存结构</a:t>
            </a:r>
            <a:r>
              <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大类结构比、新老货比、大类的性别比、系列结构比、价位带分布等</a:t>
            </a:r>
          </a:p>
        </p:txBody>
      </p:sp>
      <p:sp>
        <p:nvSpPr>
          <p:cNvPr id="16" name="TextBox 15"/>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存销比衡量参考标准：</a:t>
            </a:r>
          </a:p>
        </p:txBody>
      </p:sp>
    </p:spTree>
    <p:extLst>
      <p:ext uri="{BB962C8B-B14F-4D97-AF65-F5344CB8AC3E}">
        <p14:creationId xmlns:p14="http://schemas.microsoft.com/office/powerpoint/2010/main" val="1621246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26</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库存率：</a:t>
            </a:r>
          </a:p>
        </p:txBody>
      </p:sp>
      <p:sp>
        <p:nvSpPr>
          <p:cNvPr id="10" name="Text Box 20"/>
          <p:cNvSpPr txBox="1">
            <a:spLocks noChangeArrowheads="1"/>
          </p:cNvSpPr>
          <p:nvPr/>
        </p:nvSpPr>
        <p:spPr bwMode="auto">
          <a:xfrm>
            <a:off x="731851" y="1124744"/>
            <a:ext cx="4198585" cy="1687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Verdana" pitchFamily="34" charset="0"/>
                <a:ea typeface="宋体" pitchFamily="2" charset="-122"/>
              </a:defRPr>
            </a:lvl1pPr>
            <a:lvl2pPr marL="742950" indent="-285750" eaLnBrk="0" hangingPunct="0">
              <a:defRPr>
                <a:solidFill>
                  <a:schemeClr val="tx1"/>
                </a:solidFill>
                <a:latin typeface="Verdana" pitchFamily="34" charset="0"/>
                <a:ea typeface="宋体" pitchFamily="2" charset="-122"/>
              </a:defRPr>
            </a:lvl2pPr>
            <a:lvl3pPr marL="1143000" indent="-228600" eaLnBrk="0" hangingPunct="0">
              <a:defRPr>
                <a:solidFill>
                  <a:schemeClr val="tx1"/>
                </a:solidFill>
                <a:latin typeface="Verdana" pitchFamily="34" charset="0"/>
                <a:ea typeface="宋体" pitchFamily="2" charset="-122"/>
              </a:defRPr>
            </a:lvl3pPr>
            <a:lvl4pPr marL="1600200" indent="-228600" eaLnBrk="0" hangingPunct="0">
              <a:defRPr>
                <a:solidFill>
                  <a:schemeClr val="tx1"/>
                </a:solidFill>
                <a:latin typeface="Verdana" pitchFamily="34" charset="0"/>
                <a:ea typeface="宋体" pitchFamily="2" charset="-122"/>
              </a:defRPr>
            </a:lvl4pPr>
            <a:lvl5pPr marL="2057400" indent="-228600" eaLnBrk="0" hangingPunct="0">
              <a:defRPr>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a:solidFill>
                  <a:schemeClr val="tx1"/>
                </a:solidFill>
                <a:latin typeface="Verdana" pitchFamily="34" charset="0"/>
                <a:ea typeface="宋体" pitchFamily="2" charset="-122"/>
              </a:defRPr>
            </a:lvl9pPr>
          </a:lstStyle>
          <a:p>
            <a:pPr eaLnBrk="1" hangingPunct="1">
              <a:lnSpc>
                <a:spcPct val="150000"/>
              </a:lnSpc>
            </a:pPr>
            <a:r>
              <a:rPr kumimoji="1" lang="zh-CN" altLang="en-US" sz="2400" b="1" dirty="0">
                <a:solidFill>
                  <a:schemeClr val="tx1">
                    <a:lumMod val="75000"/>
                    <a:lumOff val="25000"/>
                  </a:schemeClr>
                </a:solidFill>
                <a:latin typeface="华文细黑" pitchFamily="2" charset="-122"/>
                <a:ea typeface="华文细黑" pitchFamily="2" charset="-122"/>
              </a:rPr>
              <a:t>库存率 </a:t>
            </a:r>
            <a:r>
              <a:rPr kumimoji="1" lang="en-US" altLang="zh-CN" sz="2400" b="1" dirty="0">
                <a:solidFill>
                  <a:schemeClr val="tx1">
                    <a:lumMod val="75000"/>
                    <a:lumOff val="25000"/>
                  </a:schemeClr>
                </a:solidFill>
                <a:latin typeface="华文细黑" pitchFamily="2" charset="-122"/>
                <a:ea typeface="华文细黑" pitchFamily="2" charset="-122"/>
              </a:rPr>
              <a:t>=</a:t>
            </a:r>
            <a:r>
              <a:rPr kumimoji="1" lang="en-US" altLang="zh-CN" sz="2400" b="1" dirty="0">
                <a:latin typeface="华文细黑" pitchFamily="2" charset="-122"/>
                <a:ea typeface="华文细黑" pitchFamily="2" charset="-122"/>
              </a:rPr>
              <a:t> </a:t>
            </a:r>
            <a:r>
              <a:rPr lang="en-US" altLang="zh-CN" sz="2400" b="1" dirty="0">
                <a:solidFill>
                  <a:schemeClr val="tx1">
                    <a:lumMod val="75000"/>
                    <a:lumOff val="25000"/>
                  </a:schemeClr>
                </a:solidFill>
                <a:latin typeface="华文细黑" pitchFamily="2" charset="-122"/>
                <a:ea typeface="华文细黑" pitchFamily="2" charset="-122"/>
              </a:rPr>
              <a:t>1 – (  </a:t>
            </a:r>
            <a:r>
              <a:rPr lang="zh-CN" altLang="en-US" sz="2400" b="1" dirty="0">
                <a:solidFill>
                  <a:schemeClr val="tx1">
                    <a:lumMod val="75000"/>
                    <a:lumOff val="25000"/>
                  </a:schemeClr>
                </a:solidFill>
                <a:latin typeface="华文细黑" pitchFamily="2" charset="-122"/>
                <a:ea typeface="华文细黑" pitchFamily="2" charset="-122"/>
              </a:rPr>
              <a:t>产销率  </a:t>
            </a:r>
            <a:r>
              <a:rPr lang="en-US" altLang="zh-CN" sz="2400" b="1" dirty="0">
                <a:solidFill>
                  <a:schemeClr val="tx1">
                    <a:lumMod val="75000"/>
                    <a:lumOff val="25000"/>
                  </a:schemeClr>
                </a:solidFill>
                <a:latin typeface="华文细黑" pitchFamily="2" charset="-122"/>
                <a:ea typeface="华文细黑" pitchFamily="2" charset="-122"/>
              </a:rPr>
              <a:t>)</a:t>
            </a:r>
          </a:p>
          <a:p>
            <a:pPr eaLnBrk="1" hangingPunct="1">
              <a:lnSpc>
                <a:spcPct val="150000"/>
              </a:lnSpc>
            </a:pPr>
            <a:r>
              <a:rPr lang="zh-CN" altLang="en-US" sz="2400" b="1" dirty="0">
                <a:solidFill>
                  <a:schemeClr val="tx1">
                    <a:lumMod val="75000"/>
                    <a:lumOff val="25000"/>
                  </a:schemeClr>
                </a:solidFill>
                <a:latin typeface="华文细黑" pitchFamily="2" charset="-122"/>
                <a:ea typeface="华文细黑" pitchFamily="2" charset="-122"/>
              </a:rPr>
              <a:t>或者：</a:t>
            </a:r>
            <a:endParaRPr lang="en-US" altLang="zh-CN" sz="2400" b="1" dirty="0">
              <a:solidFill>
                <a:schemeClr val="tx1">
                  <a:lumMod val="75000"/>
                  <a:lumOff val="25000"/>
                </a:schemeClr>
              </a:solidFill>
              <a:latin typeface="华文细黑" pitchFamily="2" charset="-122"/>
              <a:ea typeface="华文细黑" pitchFamily="2" charset="-122"/>
            </a:endParaRPr>
          </a:p>
          <a:p>
            <a:pPr eaLnBrk="1" hangingPunct="1">
              <a:lnSpc>
                <a:spcPct val="150000"/>
              </a:lnSpc>
            </a:pPr>
            <a:r>
              <a:rPr lang="zh-CN" altLang="en-US" sz="2400" b="1" dirty="0">
                <a:solidFill>
                  <a:schemeClr val="tx1">
                    <a:lumMod val="75000"/>
                    <a:lumOff val="25000"/>
                  </a:schemeClr>
                </a:solidFill>
                <a:latin typeface="华文细黑" pitchFamily="2" charset="-122"/>
                <a:ea typeface="华文细黑" pitchFamily="2" charset="-122"/>
              </a:rPr>
              <a:t>库存率</a:t>
            </a:r>
            <a:r>
              <a:rPr lang="en-US" altLang="zh-CN" sz="2400" b="1" dirty="0">
                <a:solidFill>
                  <a:schemeClr val="tx1">
                    <a:lumMod val="75000"/>
                    <a:lumOff val="25000"/>
                  </a:schemeClr>
                </a:solidFill>
                <a:latin typeface="华文细黑" pitchFamily="2" charset="-122"/>
                <a:ea typeface="华文细黑" pitchFamily="2" charset="-122"/>
              </a:rPr>
              <a:t>=</a:t>
            </a:r>
            <a:r>
              <a:rPr lang="zh-CN" altLang="en-US" sz="2400" b="1" dirty="0">
                <a:solidFill>
                  <a:schemeClr val="tx1">
                    <a:lumMod val="75000"/>
                    <a:lumOff val="25000"/>
                  </a:schemeClr>
                </a:solidFill>
                <a:latin typeface="华文细黑" pitchFamily="2" charset="-122"/>
                <a:ea typeface="华文细黑" pitchFamily="2" charset="-122"/>
              </a:rPr>
              <a:t>期末库存</a:t>
            </a:r>
            <a:r>
              <a:rPr lang="en-US" altLang="zh-CN" sz="2400" b="1" dirty="0">
                <a:solidFill>
                  <a:schemeClr val="tx1">
                    <a:lumMod val="75000"/>
                    <a:lumOff val="25000"/>
                  </a:schemeClr>
                </a:solidFill>
                <a:latin typeface="华文细黑" pitchFamily="2" charset="-122"/>
                <a:ea typeface="华文细黑" pitchFamily="2" charset="-122"/>
              </a:rPr>
              <a:t>/</a:t>
            </a:r>
            <a:r>
              <a:rPr lang="zh-CN" altLang="en-US" sz="2400" b="1" dirty="0">
                <a:solidFill>
                  <a:schemeClr val="tx1">
                    <a:lumMod val="75000"/>
                    <a:lumOff val="25000"/>
                  </a:schemeClr>
                </a:solidFill>
                <a:latin typeface="华文细黑" pitchFamily="2" charset="-122"/>
                <a:ea typeface="华文细黑" pitchFamily="2" charset="-122"/>
              </a:rPr>
              <a:t>货品订货量</a:t>
            </a:r>
            <a:endParaRPr lang="en-US" altLang="zh-CN" sz="2400" b="1" dirty="0">
              <a:solidFill>
                <a:schemeClr val="tx1">
                  <a:lumMod val="75000"/>
                  <a:lumOff val="25000"/>
                </a:schemeClr>
              </a:solidFill>
              <a:latin typeface="华文细黑" pitchFamily="2" charset="-122"/>
              <a:ea typeface="华文细黑" pitchFamily="2" charset="-122"/>
            </a:endParaRPr>
          </a:p>
        </p:txBody>
      </p:sp>
      <p:sp>
        <p:nvSpPr>
          <p:cNvPr id="11" name="TextBox 10"/>
          <p:cNvSpPr txBox="1"/>
          <p:nvPr/>
        </p:nvSpPr>
        <p:spPr>
          <a:xfrm>
            <a:off x="827584" y="3068960"/>
            <a:ext cx="6336704" cy="2862322"/>
          </a:xfrm>
          <a:prstGeom prst="rect">
            <a:avLst/>
          </a:prstGeom>
          <a:noFill/>
          <a:effectLst/>
        </p:spPr>
        <p:txBody>
          <a:bodyPr wrap="square" rtlCol="0">
            <a:spAutoFit/>
          </a:bodyPr>
          <a:lstStyle/>
          <a:p>
            <a:pPr>
              <a:lnSpc>
                <a:spcPct val="150000"/>
              </a:lnSpc>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库存率是反应期末库存压力的关键指标，一般来说；</a:t>
            </a: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库存率高说明库存压力大，资金积压；</a:t>
            </a: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库存率低说明库存压力小，但利润没有实现最大化；</a:t>
            </a: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因此，太低则生意不能最大化，太高则浪费库存资金</a:t>
            </a: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endPar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a:lnSpc>
                <a:spcPct val="150000"/>
              </a:lnSpc>
            </a:pPr>
            <a:r>
              <a:rPr lang="zh-CN" altLang="en-US"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理论上，库存率控制在</a:t>
            </a:r>
            <a:r>
              <a:rPr lang="en-US" altLang="zh-CN"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12%-15%</a:t>
            </a:r>
            <a:r>
              <a:rPr lang="zh-CN" altLang="en-US"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rPr>
              <a:t>被视为理想状态</a:t>
            </a:r>
            <a:endParaRPr lang="en-US" altLang="zh-CN" sz="2000" dirty="0">
              <a:solidFill>
                <a:srgbClr val="FF0000"/>
              </a:solidFill>
              <a:effectLst>
                <a:outerShdw blurRad="38100" dist="38100" dir="2700000" algn="tl">
                  <a:srgbClr val="000000">
                    <a:alpha val="43137"/>
                  </a:srgbClr>
                </a:outerShdw>
              </a:effectLst>
              <a:latin typeface="华文细黑" pitchFamily="2" charset="-122"/>
              <a:ea typeface="华文细黑" pitchFamily="2" charset="-122"/>
            </a:endParaRPr>
          </a:p>
        </p:txBody>
      </p:sp>
    </p:spTree>
    <p:extLst>
      <p:ext uri="{BB962C8B-B14F-4D97-AF65-F5344CB8AC3E}">
        <p14:creationId xmlns:p14="http://schemas.microsoft.com/office/powerpoint/2010/main" val="881865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1000"/>
                                        <p:tgtEl>
                                          <p:spTgt spid="1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1" end="1"/>
                                            </p:txEl>
                                          </p:spTgt>
                                        </p:tgtEl>
                                        <p:attrNameLst>
                                          <p:attrName>style.visibility</p:attrName>
                                        </p:attrNameLst>
                                      </p:cBhvr>
                                      <p:to>
                                        <p:strVal val="visible"/>
                                      </p:to>
                                    </p:set>
                                    <p:animEffect transition="in" filter="fade">
                                      <p:cBhvr>
                                        <p:cTn id="10" dur="1000"/>
                                        <p:tgtEl>
                                          <p:spTgt spid="1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Effect transition="in" filter="fade">
                                      <p:cBhvr>
                                        <p:cTn id="13" dur="1000"/>
                                        <p:tgtEl>
                                          <p:spTgt spid="10">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fade">
                                      <p:cBhvr>
                                        <p:cTn id="18" dur="1000"/>
                                        <p:tgtEl>
                                          <p:spTgt spid="11">
                                            <p:txEl>
                                              <p:pRg st="0" end="0"/>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11">
                                            <p:txEl>
                                              <p:pRg st="1" end="1"/>
                                            </p:txEl>
                                          </p:spTgt>
                                        </p:tgtEl>
                                        <p:attrNameLst>
                                          <p:attrName>style.visibility</p:attrName>
                                        </p:attrNameLst>
                                      </p:cBhvr>
                                      <p:to>
                                        <p:strVal val="visible"/>
                                      </p:to>
                                    </p:set>
                                    <p:animEffect transition="in" filter="fade">
                                      <p:cBhvr>
                                        <p:cTn id="21" dur="1000"/>
                                        <p:tgtEl>
                                          <p:spTgt spid="11">
                                            <p:txEl>
                                              <p:pRg st="1" end="1"/>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11">
                                            <p:txEl>
                                              <p:pRg st="2" end="2"/>
                                            </p:txEl>
                                          </p:spTgt>
                                        </p:tgtEl>
                                        <p:attrNameLst>
                                          <p:attrName>style.visibility</p:attrName>
                                        </p:attrNameLst>
                                      </p:cBhvr>
                                      <p:to>
                                        <p:strVal val="visible"/>
                                      </p:to>
                                    </p:set>
                                    <p:animEffect transition="in" filter="fade">
                                      <p:cBhvr>
                                        <p:cTn id="24" dur="1000"/>
                                        <p:tgtEl>
                                          <p:spTgt spid="11">
                                            <p:txEl>
                                              <p:pRg st="2" end="2"/>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11">
                                            <p:txEl>
                                              <p:pRg st="3" end="3"/>
                                            </p:txEl>
                                          </p:spTgt>
                                        </p:tgtEl>
                                        <p:attrNameLst>
                                          <p:attrName>style.visibility</p:attrName>
                                        </p:attrNameLst>
                                      </p:cBhvr>
                                      <p:to>
                                        <p:strVal val="visible"/>
                                      </p:to>
                                    </p:set>
                                    <p:animEffect transition="in" filter="fade">
                                      <p:cBhvr>
                                        <p:cTn id="27" dur="1000"/>
                                        <p:tgtEl>
                                          <p:spTgt spid="11">
                                            <p:txEl>
                                              <p:pRg st="3" end="3"/>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xEl>
                                              <p:pRg st="5" end="5"/>
                                            </p:txEl>
                                          </p:spTgt>
                                        </p:tgtEl>
                                        <p:attrNameLst>
                                          <p:attrName>style.visibility</p:attrName>
                                        </p:attrNameLst>
                                      </p:cBhvr>
                                      <p:to>
                                        <p:strVal val="visible"/>
                                      </p:to>
                                    </p:set>
                                    <p:animEffect transition="in" filter="fade">
                                      <p:cBhvr>
                                        <p:cTn id="30" dur="100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27</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进销比（采销比）：</a:t>
            </a:r>
          </a:p>
        </p:txBody>
      </p:sp>
      <p:sp>
        <p:nvSpPr>
          <p:cNvPr id="4" name="TextBox 3"/>
          <p:cNvSpPr txBox="1"/>
          <p:nvPr/>
        </p:nvSpPr>
        <p:spPr>
          <a:xfrm>
            <a:off x="683568" y="1268760"/>
            <a:ext cx="4536504" cy="461665"/>
          </a:xfrm>
          <a:prstGeom prst="rect">
            <a:avLst/>
          </a:prstGeom>
          <a:noFill/>
        </p:spPr>
        <p:txBody>
          <a:bodyPr wrap="square" rtlCol="0">
            <a:spAutoFit/>
          </a:bodyPr>
          <a:lstStyle/>
          <a:p>
            <a:r>
              <a:rPr lang="zh-CN" altLang="en-US" sz="2400" dirty="0">
                <a:solidFill>
                  <a:schemeClr val="tx1">
                    <a:lumMod val="75000"/>
                    <a:lumOff val="25000"/>
                  </a:schemeClr>
                </a:solidFill>
                <a:latin typeface="华文细黑" pitchFamily="2" charset="-122"/>
                <a:ea typeface="华文细黑" pitchFamily="2" charset="-122"/>
              </a:rPr>
              <a:t>进销比</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进货总量</a:t>
            </a:r>
            <a:r>
              <a:rPr lang="en-US" altLang="zh-CN" sz="2400" dirty="0">
                <a:solidFill>
                  <a:schemeClr val="tx1">
                    <a:lumMod val="75000"/>
                    <a:lumOff val="25000"/>
                  </a:schemeClr>
                </a:solidFill>
                <a:latin typeface="华文细黑" pitchFamily="2" charset="-122"/>
                <a:ea typeface="华文细黑" pitchFamily="2" charset="-122"/>
              </a:rPr>
              <a:t>/</a:t>
            </a:r>
            <a:r>
              <a:rPr lang="zh-CN" altLang="en-US" sz="2400" dirty="0">
                <a:solidFill>
                  <a:schemeClr val="tx1">
                    <a:lumMod val="75000"/>
                    <a:lumOff val="25000"/>
                  </a:schemeClr>
                </a:solidFill>
                <a:latin typeface="华文细黑" pitchFamily="2" charset="-122"/>
                <a:ea typeface="华文细黑" pitchFamily="2" charset="-122"/>
              </a:rPr>
              <a:t>销售总量</a:t>
            </a:r>
          </a:p>
        </p:txBody>
      </p:sp>
      <p:grpSp>
        <p:nvGrpSpPr>
          <p:cNvPr id="13" name="组合 12"/>
          <p:cNvGrpSpPr/>
          <p:nvPr/>
        </p:nvGrpSpPr>
        <p:grpSpPr>
          <a:xfrm>
            <a:off x="1285852" y="1928802"/>
            <a:ext cx="2857520" cy="3143272"/>
            <a:chOff x="1285852" y="1928802"/>
            <a:chExt cx="2857520" cy="3143272"/>
          </a:xfrm>
        </p:grpSpPr>
        <p:grpSp>
          <p:nvGrpSpPr>
            <p:cNvPr id="11" name="组合 10"/>
            <p:cNvGrpSpPr/>
            <p:nvPr/>
          </p:nvGrpSpPr>
          <p:grpSpPr>
            <a:xfrm>
              <a:off x="1285852" y="1928802"/>
              <a:ext cx="2857520" cy="3143272"/>
              <a:chOff x="1285852" y="1928802"/>
              <a:chExt cx="2857520" cy="3143272"/>
            </a:xfrm>
          </p:grpSpPr>
          <p:sp>
            <p:nvSpPr>
              <p:cNvPr id="22" name="圆角矩形 21"/>
              <p:cNvSpPr/>
              <p:nvPr/>
            </p:nvSpPr>
            <p:spPr>
              <a:xfrm>
                <a:off x="1285852" y="2285992"/>
                <a:ext cx="2857520" cy="2786082"/>
              </a:xfrm>
              <a:prstGeom prst="roundRect">
                <a:avLst>
                  <a:gd name="adj" fmla="val 5727"/>
                </a:avLst>
              </a:prstGeom>
              <a:solidFill>
                <a:schemeClr val="tx2">
                  <a:lumMod val="20000"/>
                  <a:lumOff val="80000"/>
                </a:schemeClr>
              </a:solidFill>
              <a:ln>
                <a:noFill/>
              </a:ln>
              <a:effectLst>
                <a:outerShdw blurRad="50800" dist="38100" dir="2700000" algn="tl" rotWithShape="0">
                  <a:prstClr val="black">
                    <a:alpha val="40000"/>
                  </a:prstClr>
                </a:outerShdw>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TextBox 22"/>
              <p:cNvSpPr txBox="1"/>
              <p:nvPr/>
            </p:nvSpPr>
            <p:spPr>
              <a:xfrm>
                <a:off x="1714480" y="1928802"/>
                <a:ext cx="2000264" cy="510778"/>
              </a:xfrm>
              <a:prstGeom prst="roundRect">
                <a:avLst/>
              </a:prstGeom>
            </p:spPr>
            <p:style>
              <a:lnRef idx="3">
                <a:schemeClr val="lt1"/>
              </a:lnRef>
              <a:fillRef idx="1">
                <a:schemeClr val="accent1"/>
              </a:fillRef>
              <a:effectRef idx="1">
                <a:schemeClr val="accent1"/>
              </a:effectRef>
              <a:fontRef idx="minor">
                <a:schemeClr val="lt1"/>
              </a:fontRef>
            </p:style>
            <p:txBody>
              <a:bodyPr wrap="square" rtlCol="0" anchor="ctr" anchorCtr="0">
                <a:spAutoFit/>
              </a:bodyPr>
              <a:lstStyle/>
              <a:p>
                <a:pPr algn="ctr"/>
                <a:r>
                  <a:rPr lang="zh-CN" altLang="en-US" sz="2400" b="1" dirty="0">
                    <a:solidFill>
                      <a:schemeClr val="bg1"/>
                    </a:solidFill>
                    <a:effectLst>
                      <a:outerShdw blurRad="38100" dist="38100" dir="2700000" algn="tl">
                        <a:srgbClr val="000000">
                          <a:alpha val="43137"/>
                        </a:srgbClr>
                      </a:outerShdw>
                    </a:effectLst>
                    <a:latin typeface="微软雅黑" pitchFamily="34" charset="-122"/>
                    <a:ea typeface="微软雅黑" pitchFamily="34" charset="-122"/>
                  </a:rPr>
                  <a:t>进销比   </a:t>
                </a:r>
              </a:p>
            </p:txBody>
          </p:sp>
        </p:grpSp>
        <p:sp>
          <p:nvSpPr>
            <p:cNvPr id="25" name="TextBox 24"/>
            <p:cNvSpPr txBox="1"/>
            <p:nvPr/>
          </p:nvSpPr>
          <p:spPr>
            <a:xfrm>
              <a:off x="1500166" y="3092767"/>
              <a:ext cx="2428892" cy="1323439"/>
            </a:xfrm>
            <a:prstGeom prst="rect">
              <a:avLst/>
            </a:prstGeom>
            <a:noFill/>
          </p:spPr>
          <p:txBody>
            <a:bodyPr wrap="square" rtlCol="0">
              <a:spAutoFit/>
            </a:bodyPr>
            <a:lstStyle/>
            <a:p>
              <a:r>
                <a:rPr lang="zh-CN" altLang="en-US" sz="2000" dirty="0">
                  <a:solidFill>
                    <a:schemeClr val="tx1">
                      <a:lumMod val="75000"/>
                      <a:lumOff val="25000"/>
                    </a:schemeClr>
                  </a:solidFill>
                  <a:latin typeface="华文细黑" pitchFamily="2" charset="-122"/>
                  <a:ea typeface="华文细黑" pitchFamily="2" charset="-122"/>
                </a:rPr>
                <a:t>以销售为参照，考核进货规模</a:t>
              </a:r>
            </a:p>
            <a:p>
              <a:pPr algn="ctr"/>
              <a:endParaRPr lang="en-US" altLang="zh-CN" sz="2000" dirty="0">
                <a:solidFill>
                  <a:schemeClr val="tx1">
                    <a:lumMod val="75000"/>
                    <a:lumOff val="25000"/>
                  </a:schemeClr>
                </a:solidFill>
                <a:latin typeface="华文细黑" pitchFamily="2" charset="-122"/>
                <a:ea typeface="华文细黑" pitchFamily="2" charset="-122"/>
              </a:endParaRPr>
            </a:p>
            <a:p>
              <a:pPr algn="ctr"/>
              <a:r>
                <a:rPr lang="zh-CN" altLang="en-US" sz="2000" dirty="0">
                  <a:solidFill>
                    <a:schemeClr val="tx1">
                      <a:lumMod val="75000"/>
                      <a:lumOff val="25000"/>
                    </a:schemeClr>
                  </a:solidFill>
                  <a:latin typeface="华文细黑" pitchFamily="2" charset="-122"/>
                  <a:ea typeface="华文细黑" pitchFamily="2" charset="-122"/>
                </a:rPr>
                <a:t>进的货是不是多了</a:t>
              </a:r>
            </a:p>
          </p:txBody>
        </p:sp>
      </p:grpSp>
      <p:grpSp>
        <p:nvGrpSpPr>
          <p:cNvPr id="14" name="组合 13"/>
          <p:cNvGrpSpPr/>
          <p:nvPr/>
        </p:nvGrpSpPr>
        <p:grpSpPr>
          <a:xfrm>
            <a:off x="5040000" y="1928802"/>
            <a:ext cx="2857520" cy="3143272"/>
            <a:chOff x="5040000" y="1928802"/>
            <a:chExt cx="2857520" cy="3143272"/>
          </a:xfrm>
        </p:grpSpPr>
        <p:grpSp>
          <p:nvGrpSpPr>
            <p:cNvPr id="12" name="组合 11"/>
            <p:cNvGrpSpPr/>
            <p:nvPr/>
          </p:nvGrpSpPr>
          <p:grpSpPr>
            <a:xfrm>
              <a:off x="5040000" y="1928802"/>
              <a:ext cx="2857520" cy="3143272"/>
              <a:chOff x="5040000" y="1928802"/>
              <a:chExt cx="2857520" cy="3143272"/>
            </a:xfrm>
          </p:grpSpPr>
          <p:sp>
            <p:nvSpPr>
              <p:cNvPr id="21" name="圆角矩形 20"/>
              <p:cNvSpPr/>
              <p:nvPr/>
            </p:nvSpPr>
            <p:spPr>
              <a:xfrm>
                <a:off x="5040000" y="2285992"/>
                <a:ext cx="2857520" cy="2786082"/>
              </a:xfrm>
              <a:prstGeom prst="roundRect">
                <a:avLst>
                  <a:gd name="adj" fmla="val 5727"/>
                </a:avLst>
              </a:prstGeom>
              <a:solidFill>
                <a:schemeClr val="accent3">
                  <a:lumMod val="40000"/>
                  <a:lumOff val="60000"/>
                </a:schemeClr>
              </a:solidFill>
              <a:ln>
                <a:noFill/>
              </a:ln>
              <a:effectLst>
                <a:outerShdw blurRad="50800" dist="38100" dir="2700000" algn="tl" rotWithShape="0">
                  <a:prstClr val="black">
                    <a:alpha val="40000"/>
                  </a:prstClr>
                </a:outerShdw>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Box 23"/>
              <p:cNvSpPr txBox="1"/>
              <p:nvPr/>
            </p:nvSpPr>
            <p:spPr>
              <a:xfrm>
                <a:off x="5500694" y="1928802"/>
                <a:ext cx="1928826" cy="510778"/>
              </a:xfrm>
              <a:prstGeom prst="roundRect">
                <a:avLst/>
              </a:prstGeom>
            </p:spPr>
            <p:style>
              <a:lnRef idx="3">
                <a:schemeClr val="lt1"/>
              </a:lnRef>
              <a:fillRef idx="1">
                <a:schemeClr val="accent3"/>
              </a:fillRef>
              <a:effectRef idx="1">
                <a:schemeClr val="accent3"/>
              </a:effectRef>
              <a:fontRef idx="minor">
                <a:schemeClr val="lt1"/>
              </a:fontRef>
            </p:style>
            <p:txBody>
              <a:bodyPr wrap="square" rtlCol="0">
                <a:spAutoFit/>
              </a:bodyPr>
              <a:lstStyle/>
              <a:p>
                <a:pPr algn="ctr"/>
                <a:r>
                  <a:rPr lang="zh-CN" altLang="en-US" sz="2400" b="1" dirty="0">
                    <a:latin typeface="微软雅黑" pitchFamily="34" charset="-122"/>
                    <a:ea typeface="微软雅黑" pitchFamily="34" charset="-122"/>
                  </a:rPr>
                  <a:t>售罄率</a:t>
                </a:r>
              </a:p>
            </p:txBody>
          </p:sp>
        </p:grpSp>
        <p:sp>
          <p:nvSpPr>
            <p:cNvPr id="26" name="TextBox 25"/>
            <p:cNvSpPr txBox="1"/>
            <p:nvPr/>
          </p:nvSpPr>
          <p:spPr>
            <a:xfrm>
              <a:off x="5143504" y="3068960"/>
              <a:ext cx="2571768" cy="1938992"/>
            </a:xfrm>
            <a:prstGeom prst="rect">
              <a:avLst/>
            </a:prstGeom>
            <a:noFill/>
          </p:spPr>
          <p:txBody>
            <a:bodyPr wrap="square" rtlCol="0">
              <a:spAutoFit/>
            </a:bodyPr>
            <a:lstStyle/>
            <a:p>
              <a:r>
                <a:rPr lang="zh-CN" altLang="en-US" sz="2000" dirty="0">
                  <a:solidFill>
                    <a:schemeClr val="tx1">
                      <a:lumMod val="75000"/>
                      <a:lumOff val="25000"/>
                    </a:schemeClr>
                  </a:solidFill>
                  <a:latin typeface="华文细黑" pitchFamily="2" charset="-122"/>
                  <a:ea typeface="华文细黑" pitchFamily="2" charset="-122"/>
                </a:rPr>
                <a:t>以进货为参照，考核对所采购货品的控制和销售能力</a:t>
              </a:r>
            </a:p>
            <a:p>
              <a:endParaRPr lang="en-US" altLang="zh-CN" sz="2000" dirty="0">
                <a:solidFill>
                  <a:schemeClr val="tx1">
                    <a:lumMod val="75000"/>
                    <a:lumOff val="25000"/>
                  </a:schemeClr>
                </a:solidFill>
                <a:latin typeface="华文细黑" pitchFamily="2" charset="-122"/>
                <a:ea typeface="华文细黑" pitchFamily="2" charset="-122"/>
              </a:endParaRPr>
            </a:p>
            <a:p>
              <a:r>
                <a:rPr lang="zh-CN" altLang="en-US" sz="2000" dirty="0">
                  <a:solidFill>
                    <a:schemeClr val="tx1">
                      <a:lumMod val="75000"/>
                      <a:lumOff val="25000"/>
                    </a:schemeClr>
                  </a:solidFill>
                  <a:latin typeface="华文细黑" pitchFamily="2" charset="-122"/>
                  <a:ea typeface="华文细黑" pitchFamily="2" charset="-122"/>
                </a:rPr>
                <a:t>进的货是不是卖出去了</a:t>
              </a:r>
            </a:p>
          </p:txBody>
        </p:sp>
      </p:grpSp>
    </p:spTree>
    <p:extLst>
      <p:ext uri="{BB962C8B-B14F-4D97-AF65-F5344CB8AC3E}">
        <p14:creationId xmlns:p14="http://schemas.microsoft.com/office/powerpoint/2010/main" val="213719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28</a:t>
            </a:fld>
            <a:r>
              <a:rPr lang="en-US" dirty="0"/>
              <a:t>&gt;</a:t>
            </a:r>
          </a:p>
        </p:txBody>
      </p:sp>
      <p:sp>
        <p:nvSpPr>
          <p:cNvPr id="3" name="TextBox 2"/>
          <p:cNvSpPr txBox="1"/>
          <p:nvPr/>
        </p:nvSpPr>
        <p:spPr>
          <a:xfrm>
            <a:off x="467544" y="241484"/>
            <a:ext cx="3960440" cy="523220"/>
          </a:xfrm>
          <a:prstGeom prst="rect">
            <a:avLst/>
          </a:prstGeom>
          <a:noFill/>
        </p:spPr>
        <p:txBody>
          <a:bodyPr wrap="square" rtlCol="0">
            <a:spAutoFit/>
          </a:bodyPr>
          <a:lstStyle/>
          <a:p>
            <a:r>
              <a:rPr lang="zh-CN" altLang="en-US" sz="2800" b="1" dirty="0">
                <a:solidFill>
                  <a:schemeClr val="tx1">
                    <a:lumMod val="75000"/>
                    <a:lumOff val="25000"/>
                  </a:schemeClr>
                </a:solidFill>
                <a:latin typeface="黑体" pitchFamily="49" charset="-122"/>
                <a:ea typeface="黑体" pitchFamily="49" charset="-122"/>
                <a:cs typeface="Meiryo UI" pitchFamily="34" charset="-128"/>
              </a:rPr>
              <a:t>进销比（采销比）：</a:t>
            </a:r>
          </a:p>
        </p:txBody>
      </p:sp>
      <p:sp>
        <p:nvSpPr>
          <p:cNvPr id="11" name="TextBox 10"/>
          <p:cNvSpPr txBox="1"/>
          <p:nvPr/>
        </p:nvSpPr>
        <p:spPr>
          <a:xfrm>
            <a:off x="395536" y="1411066"/>
            <a:ext cx="1928826" cy="442674"/>
          </a:xfrm>
          <a:prstGeom prst="roundRect">
            <a:avLst/>
          </a:prstGeom>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zh-CN" altLang="en-US" sz="2000" b="1" i="1" dirty="0">
                <a:solidFill>
                  <a:schemeClr val="accent1">
                    <a:lumMod val="50000"/>
                  </a:schemeClr>
                </a:solidFill>
                <a:latin typeface="华文细黑" pitchFamily="2" charset="-122"/>
                <a:ea typeface="华文细黑" pitchFamily="2" charset="-122"/>
              </a:rPr>
              <a:t>怎么用？</a:t>
            </a:r>
          </a:p>
        </p:txBody>
      </p:sp>
      <p:pic>
        <p:nvPicPr>
          <p:cNvPr id="12" name="内容占位符 3" descr="未标1.png"/>
          <p:cNvPicPr>
            <a:picLocks noChangeAspect="1"/>
          </p:cNvPicPr>
          <p:nvPr/>
        </p:nvPicPr>
        <p:blipFill>
          <a:blip r:embed="rId3" cstate="print"/>
          <a:stretch>
            <a:fillRect/>
          </a:stretch>
        </p:blipFill>
        <p:spPr>
          <a:xfrm>
            <a:off x="2038610" y="1196752"/>
            <a:ext cx="420354" cy="714380"/>
          </a:xfrm>
          <a:prstGeom prst="rect">
            <a:avLst/>
          </a:prstGeom>
          <a:effectLst>
            <a:outerShdw blurRad="50800" dist="38100" dir="10020000" algn="tl" rotWithShape="0">
              <a:prstClr val="black">
                <a:alpha val="40000"/>
              </a:prstClr>
            </a:outerShdw>
          </a:effectLst>
        </p:spPr>
      </p:pic>
      <p:sp>
        <p:nvSpPr>
          <p:cNvPr id="14" name="Rectangle 3"/>
          <p:cNvSpPr>
            <a:spLocks noChangeArrowheads="1"/>
          </p:cNvSpPr>
          <p:nvPr/>
        </p:nvSpPr>
        <p:spPr bwMode="auto">
          <a:xfrm>
            <a:off x="683568" y="2348880"/>
            <a:ext cx="7128792" cy="576064"/>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lIns="182880" tIns="91440" anchor="ctr"/>
          <a:lstStyle/>
          <a:p>
            <a:pPr marL="342900" indent="-342900">
              <a:spcBef>
                <a:spcPct val="20000"/>
              </a:spcBef>
              <a:buClr>
                <a:srgbClr val="FF0000"/>
              </a:buClr>
              <a:buFont typeface="Wingdings 2" pitchFamily="18" charset="2"/>
              <a:buNone/>
              <a:defRPr/>
            </a:pPr>
            <a:r>
              <a:rPr lang="zh-CN" altLang="en-US" sz="2200" b="1" dirty="0">
                <a:solidFill>
                  <a:schemeClr val="tx1">
                    <a:lumMod val="75000"/>
                    <a:lumOff val="25000"/>
                  </a:schemeClr>
                </a:solidFill>
                <a:latin typeface="华文细黑" pitchFamily="2" charset="-122"/>
                <a:ea typeface="华文细黑" pitchFamily="2" charset="-122"/>
              </a:rPr>
              <a:t>在没有明显市场变化的情况下，遵循销一进一的原则</a:t>
            </a:r>
          </a:p>
        </p:txBody>
      </p:sp>
      <p:grpSp>
        <p:nvGrpSpPr>
          <p:cNvPr id="5" name="组合 4"/>
          <p:cNvGrpSpPr/>
          <p:nvPr/>
        </p:nvGrpSpPr>
        <p:grpSpPr>
          <a:xfrm>
            <a:off x="1785918" y="3789040"/>
            <a:ext cx="4714908" cy="1928826"/>
            <a:chOff x="1785918" y="3929066"/>
            <a:chExt cx="4714908" cy="1928826"/>
          </a:xfrm>
          <a:effectLst>
            <a:outerShdw blurRad="50800" dist="38100" dir="5400000" algn="t" rotWithShape="0">
              <a:prstClr val="black">
                <a:alpha val="40000"/>
              </a:prstClr>
            </a:outerShdw>
          </a:effectLst>
        </p:grpSpPr>
        <p:sp>
          <p:nvSpPr>
            <p:cNvPr id="15" name="TextBox 14"/>
            <p:cNvSpPr txBox="1"/>
            <p:nvPr/>
          </p:nvSpPr>
          <p:spPr>
            <a:xfrm>
              <a:off x="2000232" y="4071942"/>
              <a:ext cx="1928826" cy="369332"/>
            </a:xfrm>
            <a:prstGeom prst="rect">
              <a:avLst/>
            </a:prstGeom>
            <a:noFill/>
          </p:spPr>
          <p:txBody>
            <a:bodyPr wrap="square" rtlCol="0">
              <a:spAutoFit/>
            </a:bodyPr>
            <a:lstStyle/>
            <a:p>
              <a:r>
                <a:rPr lang="zh-CN" altLang="en-US" b="1" dirty="0">
                  <a:solidFill>
                    <a:schemeClr val="tx1">
                      <a:lumMod val="75000"/>
                      <a:lumOff val="25000"/>
                    </a:schemeClr>
                  </a:solidFill>
                </a:rPr>
                <a:t>市场高速发展</a:t>
              </a:r>
            </a:p>
          </p:txBody>
        </p:sp>
        <p:sp>
          <p:nvSpPr>
            <p:cNvPr id="16" name="TextBox 15"/>
            <p:cNvSpPr txBox="1"/>
            <p:nvPr/>
          </p:nvSpPr>
          <p:spPr>
            <a:xfrm>
              <a:off x="2000232" y="4500570"/>
              <a:ext cx="1928826" cy="369332"/>
            </a:xfrm>
            <a:prstGeom prst="rect">
              <a:avLst/>
            </a:prstGeom>
            <a:noFill/>
          </p:spPr>
          <p:txBody>
            <a:bodyPr wrap="square" rtlCol="0">
              <a:spAutoFit/>
            </a:bodyPr>
            <a:lstStyle/>
            <a:p>
              <a:r>
                <a:rPr lang="zh-CN" altLang="en-US" b="1" dirty="0">
                  <a:solidFill>
                    <a:schemeClr val="tx1">
                      <a:lumMod val="75000"/>
                      <a:lumOff val="25000"/>
                    </a:schemeClr>
                  </a:solidFill>
                </a:rPr>
                <a:t>市场平稳发展</a:t>
              </a:r>
            </a:p>
          </p:txBody>
        </p:sp>
        <p:sp>
          <p:nvSpPr>
            <p:cNvPr id="17" name="TextBox 16"/>
            <p:cNvSpPr txBox="1"/>
            <p:nvPr/>
          </p:nvSpPr>
          <p:spPr>
            <a:xfrm>
              <a:off x="2000232" y="4929198"/>
              <a:ext cx="1928826" cy="369332"/>
            </a:xfrm>
            <a:prstGeom prst="rect">
              <a:avLst/>
            </a:prstGeom>
            <a:noFill/>
          </p:spPr>
          <p:txBody>
            <a:bodyPr wrap="square" rtlCol="0">
              <a:spAutoFit/>
            </a:bodyPr>
            <a:lstStyle/>
            <a:p>
              <a:r>
                <a:rPr lang="zh-CN" altLang="en-US" b="1" dirty="0">
                  <a:solidFill>
                    <a:schemeClr val="tx1">
                      <a:lumMod val="75000"/>
                      <a:lumOff val="25000"/>
                    </a:schemeClr>
                  </a:solidFill>
                </a:rPr>
                <a:t>市场成熟</a:t>
              </a:r>
            </a:p>
          </p:txBody>
        </p:sp>
        <p:sp>
          <p:nvSpPr>
            <p:cNvPr id="18" name="TextBox 17"/>
            <p:cNvSpPr txBox="1"/>
            <p:nvPr/>
          </p:nvSpPr>
          <p:spPr>
            <a:xfrm>
              <a:off x="2000232" y="5357826"/>
              <a:ext cx="1928826" cy="369332"/>
            </a:xfrm>
            <a:prstGeom prst="rect">
              <a:avLst/>
            </a:prstGeom>
            <a:noFill/>
          </p:spPr>
          <p:txBody>
            <a:bodyPr wrap="square" rtlCol="0">
              <a:spAutoFit/>
            </a:bodyPr>
            <a:lstStyle/>
            <a:p>
              <a:r>
                <a:rPr lang="zh-CN" altLang="en-US" b="1" dirty="0">
                  <a:solidFill>
                    <a:schemeClr val="tx1">
                      <a:lumMod val="75000"/>
                      <a:lumOff val="25000"/>
                    </a:schemeClr>
                  </a:solidFill>
                </a:rPr>
                <a:t>市场平淡或衰退</a:t>
              </a:r>
            </a:p>
          </p:txBody>
        </p:sp>
        <p:sp>
          <p:nvSpPr>
            <p:cNvPr id="19" name="TextBox 18"/>
            <p:cNvSpPr txBox="1"/>
            <p:nvPr/>
          </p:nvSpPr>
          <p:spPr>
            <a:xfrm>
              <a:off x="4429124" y="4071942"/>
              <a:ext cx="1928826" cy="369332"/>
            </a:xfrm>
            <a:prstGeom prst="rect">
              <a:avLst/>
            </a:prstGeom>
            <a:noFill/>
          </p:spPr>
          <p:txBody>
            <a:bodyPr wrap="square" rtlCol="0">
              <a:spAutoFit/>
            </a:bodyPr>
            <a:lstStyle/>
            <a:p>
              <a:r>
                <a:rPr lang="zh-CN" altLang="en-US" b="1" dirty="0">
                  <a:solidFill>
                    <a:schemeClr val="tx1">
                      <a:lumMod val="75000"/>
                      <a:lumOff val="25000"/>
                    </a:schemeClr>
                  </a:solidFill>
                </a:rPr>
                <a:t>进销比</a:t>
              </a:r>
              <a:r>
                <a:rPr lang="en-US" altLang="zh-CN" b="1" dirty="0">
                  <a:solidFill>
                    <a:schemeClr val="tx1">
                      <a:lumMod val="75000"/>
                      <a:lumOff val="25000"/>
                    </a:schemeClr>
                  </a:solidFill>
                </a:rPr>
                <a:t>1.5</a:t>
              </a:r>
              <a:r>
                <a:rPr lang="zh-CN" altLang="en-US" b="1" dirty="0">
                  <a:solidFill>
                    <a:schemeClr val="tx1">
                      <a:lumMod val="75000"/>
                      <a:lumOff val="25000"/>
                    </a:schemeClr>
                  </a:solidFill>
                </a:rPr>
                <a:t>及以上</a:t>
              </a:r>
            </a:p>
          </p:txBody>
        </p:sp>
        <p:sp>
          <p:nvSpPr>
            <p:cNvPr id="20" name="TextBox 19"/>
            <p:cNvSpPr txBox="1"/>
            <p:nvPr/>
          </p:nvSpPr>
          <p:spPr>
            <a:xfrm>
              <a:off x="4429124" y="4500570"/>
              <a:ext cx="1928826" cy="369332"/>
            </a:xfrm>
            <a:prstGeom prst="rect">
              <a:avLst/>
            </a:prstGeom>
            <a:noFill/>
          </p:spPr>
          <p:txBody>
            <a:bodyPr wrap="square" rtlCol="0">
              <a:spAutoFit/>
            </a:bodyPr>
            <a:lstStyle/>
            <a:p>
              <a:r>
                <a:rPr lang="zh-CN" altLang="en-US" b="1" dirty="0">
                  <a:solidFill>
                    <a:schemeClr val="tx1">
                      <a:lumMod val="75000"/>
                      <a:lumOff val="25000"/>
                    </a:schemeClr>
                  </a:solidFill>
                </a:rPr>
                <a:t>进销比</a:t>
              </a:r>
              <a:r>
                <a:rPr lang="en-US" altLang="zh-CN" b="1" dirty="0">
                  <a:solidFill>
                    <a:schemeClr val="tx1">
                      <a:lumMod val="75000"/>
                      <a:lumOff val="25000"/>
                    </a:schemeClr>
                  </a:solidFill>
                </a:rPr>
                <a:t>1.2-1.4</a:t>
              </a:r>
              <a:endParaRPr lang="zh-CN" altLang="en-US" b="1" dirty="0">
                <a:solidFill>
                  <a:schemeClr val="tx1">
                    <a:lumMod val="75000"/>
                    <a:lumOff val="25000"/>
                  </a:schemeClr>
                </a:solidFill>
              </a:endParaRPr>
            </a:p>
          </p:txBody>
        </p:sp>
        <p:sp>
          <p:nvSpPr>
            <p:cNvPr id="27" name="TextBox 26"/>
            <p:cNvSpPr txBox="1"/>
            <p:nvPr/>
          </p:nvSpPr>
          <p:spPr>
            <a:xfrm>
              <a:off x="4429124" y="4929198"/>
              <a:ext cx="1928826" cy="369332"/>
            </a:xfrm>
            <a:prstGeom prst="rect">
              <a:avLst/>
            </a:prstGeom>
            <a:noFill/>
          </p:spPr>
          <p:txBody>
            <a:bodyPr wrap="square" rtlCol="0">
              <a:spAutoFit/>
            </a:bodyPr>
            <a:lstStyle/>
            <a:p>
              <a:r>
                <a:rPr lang="zh-CN" altLang="en-US" b="1" dirty="0">
                  <a:solidFill>
                    <a:schemeClr val="tx1">
                      <a:lumMod val="75000"/>
                      <a:lumOff val="25000"/>
                    </a:schemeClr>
                  </a:solidFill>
                </a:rPr>
                <a:t>进销比</a:t>
              </a:r>
              <a:r>
                <a:rPr lang="en-US" altLang="zh-CN" b="1" dirty="0">
                  <a:solidFill>
                    <a:schemeClr val="tx1">
                      <a:lumMod val="75000"/>
                      <a:lumOff val="25000"/>
                    </a:schemeClr>
                  </a:solidFill>
                </a:rPr>
                <a:t>0.9-1.2</a:t>
              </a:r>
              <a:endParaRPr lang="zh-CN" altLang="en-US" b="1" dirty="0">
                <a:solidFill>
                  <a:schemeClr val="tx1">
                    <a:lumMod val="75000"/>
                    <a:lumOff val="25000"/>
                  </a:schemeClr>
                </a:solidFill>
              </a:endParaRPr>
            </a:p>
          </p:txBody>
        </p:sp>
        <p:sp>
          <p:nvSpPr>
            <p:cNvPr id="28" name="TextBox 27"/>
            <p:cNvSpPr txBox="1"/>
            <p:nvPr/>
          </p:nvSpPr>
          <p:spPr>
            <a:xfrm>
              <a:off x="4429124" y="5357826"/>
              <a:ext cx="1928826" cy="369332"/>
            </a:xfrm>
            <a:prstGeom prst="rect">
              <a:avLst/>
            </a:prstGeom>
            <a:noFill/>
          </p:spPr>
          <p:txBody>
            <a:bodyPr wrap="square" rtlCol="0">
              <a:spAutoFit/>
            </a:bodyPr>
            <a:lstStyle/>
            <a:p>
              <a:r>
                <a:rPr lang="zh-CN" altLang="en-US" b="1" dirty="0">
                  <a:solidFill>
                    <a:schemeClr val="tx1">
                      <a:lumMod val="75000"/>
                      <a:lumOff val="25000"/>
                    </a:schemeClr>
                  </a:solidFill>
                </a:rPr>
                <a:t>进销比</a:t>
              </a:r>
              <a:r>
                <a:rPr lang="en-US" altLang="zh-CN" b="1" dirty="0">
                  <a:solidFill>
                    <a:schemeClr val="tx1">
                      <a:lumMod val="75000"/>
                      <a:lumOff val="25000"/>
                    </a:schemeClr>
                  </a:solidFill>
                </a:rPr>
                <a:t>0.8</a:t>
              </a:r>
              <a:r>
                <a:rPr lang="zh-CN" altLang="en-US" b="1" dirty="0">
                  <a:solidFill>
                    <a:schemeClr val="tx1">
                      <a:lumMod val="75000"/>
                      <a:lumOff val="25000"/>
                    </a:schemeClr>
                  </a:solidFill>
                </a:rPr>
                <a:t>及以下</a:t>
              </a:r>
            </a:p>
          </p:txBody>
        </p:sp>
        <p:sp>
          <p:nvSpPr>
            <p:cNvPr id="29" name="双括号 28"/>
            <p:cNvSpPr/>
            <p:nvPr/>
          </p:nvSpPr>
          <p:spPr>
            <a:xfrm>
              <a:off x="1785918" y="3929066"/>
              <a:ext cx="4714908" cy="1928826"/>
            </a:xfrm>
            <a:prstGeom prst="bracketPair">
              <a:avLst>
                <a:gd name="adj" fmla="val 9058"/>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a:p>
          </p:txBody>
        </p:sp>
      </p:grpSp>
    </p:spTree>
    <p:extLst>
      <p:ext uri="{BB962C8B-B14F-4D97-AF65-F5344CB8AC3E}">
        <p14:creationId xmlns:p14="http://schemas.microsoft.com/office/powerpoint/2010/main" val="318983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52"/>
            <a:ext cx="8229600" cy="642942"/>
          </a:xfrm>
        </p:spPr>
        <p:txBody>
          <a:bodyPr>
            <a:normAutofit fontScale="90000"/>
          </a:bodyPr>
          <a:lstStyle/>
          <a:p>
            <a:r>
              <a:rPr lang="zh-CN" altLang="en-US" dirty="0"/>
              <a:t>谁来做</a:t>
            </a:r>
          </a:p>
        </p:txBody>
      </p:sp>
      <p:sp>
        <p:nvSpPr>
          <p:cNvPr id="3" name="内容占位符 2"/>
          <p:cNvSpPr>
            <a:spLocks noGrp="1"/>
          </p:cNvSpPr>
          <p:nvPr>
            <p:ph idx="1"/>
          </p:nvPr>
        </p:nvSpPr>
        <p:spPr/>
        <p:txBody>
          <a:bodyPr>
            <a:normAutofit lnSpcReduction="10000"/>
          </a:bodyPr>
          <a:lstStyle/>
          <a:p>
            <a:r>
              <a:rPr lang="zh-CN" altLang="en-US" dirty="0"/>
              <a:t>行业经营，懂药；</a:t>
            </a:r>
            <a:endParaRPr lang="en-US" altLang="zh-CN" dirty="0"/>
          </a:p>
          <a:p>
            <a:r>
              <a:rPr lang="zh-CN" altLang="en-US" dirty="0"/>
              <a:t>熟悉业务流程；</a:t>
            </a:r>
            <a:endParaRPr lang="en-US" altLang="zh-CN" dirty="0"/>
          </a:p>
          <a:p>
            <a:r>
              <a:rPr lang="zh-CN" altLang="en-US" dirty="0"/>
              <a:t>熟悉</a:t>
            </a:r>
            <a:r>
              <a:rPr lang="en-US" altLang="zh-CN" dirty="0"/>
              <a:t>excel</a:t>
            </a:r>
            <a:r>
              <a:rPr lang="zh-CN" altLang="en-US" dirty="0"/>
              <a:t>、软件操作（高级</a:t>
            </a:r>
            <a:r>
              <a:rPr lang="en-US" altLang="zh-CN" dirty="0" err="1"/>
              <a:t>spss,saas,R</a:t>
            </a:r>
            <a:r>
              <a:rPr lang="zh-CN" altLang="en-US" dirty="0"/>
              <a:t>语言等）；</a:t>
            </a:r>
            <a:endParaRPr lang="en-US" altLang="zh-CN" dirty="0"/>
          </a:p>
          <a:p>
            <a:r>
              <a:rPr lang="zh-CN" altLang="en-US" dirty="0"/>
              <a:t>学会用数据、图形说话；</a:t>
            </a:r>
            <a:endParaRPr lang="en-US" altLang="zh-CN" dirty="0"/>
          </a:p>
          <a:p>
            <a:r>
              <a:rPr lang="zh-CN" altLang="en-US" dirty="0"/>
              <a:t>能理论结合实际，指导实践；</a:t>
            </a:r>
            <a:endParaRPr lang="en-US" altLang="zh-CN" dirty="0"/>
          </a:p>
          <a:p>
            <a:r>
              <a:rPr lang="zh-CN" altLang="en-US" dirty="0"/>
              <a:t>沟通协调能力强；</a:t>
            </a:r>
            <a:endParaRPr lang="en-US" altLang="zh-CN" dirty="0"/>
          </a:p>
          <a:p>
            <a:r>
              <a:rPr lang="zh-CN" altLang="en-US" dirty="0"/>
              <a:t>公司授权；</a:t>
            </a:r>
          </a:p>
        </p:txBody>
      </p:sp>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714356"/>
          </a:xfrm>
        </p:spPr>
        <p:txBody>
          <a:bodyPr>
            <a:normAutofit fontScale="90000"/>
          </a:bodyPr>
          <a:lstStyle/>
          <a:p>
            <a:r>
              <a:rPr lang="zh-CN" altLang="en-US" dirty="0"/>
              <a:t>怎么做</a:t>
            </a:r>
          </a:p>
        </p:txBody>
      </p:sp>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30</a:t>
            </a:fld>
            <a:endParaRPr lang="en-US"/>
          </a:p>
        </p:txBody>
      </p:sp>
      <p:grpSp>
        <p:nvGrpSpPr>
          <p:cNvPr id="5" name="Group 66"/>
          <p:cNvGrpSpPr>
            <a:grpSpLocks/>
          </p:cNvGrpSpPr>
          <p:nvPr/>
        </p:nvGrpSpPr>
        <p:grpSpPr bwMode="auto">
          <a:xfrm>
            <a:off x="2757488" y="1668463"/>
            <a:ext cx="2208212" cy="1755775"/>
            <a:chOff x="1691" y="1248"/>
            <a:chExt cx="1391" cy="1106"/>
          </a:xfrm>
        </p:grpSpPr>
        <p:pic>
          <p:nvPicPr>
            <p:cNvPr id="6" name="Rectangle 9263"/>
            <p:cNvPicPr>
              <a:picLocks noChangeAspect="1" noChangeArrowheads="1"/>
            </p:cNvPicPr>
            <p:nvPr/>
          </p:nvPicPr>
          <p:blipFill>
            <a:blip r:embed="rId2" cstate="print"/>
            <a:srcRect/>
            <a:stretch>
              <a:fillRect/>
            </a:stretch>
          </p:blipFill>
          <p:spPr bwMode="auto">
            <a:xfrm>
              <a:off x="1691" y="1248"/>
              <a:ext cx="1391" cy="1106"/>
            </a:xfrm>
            <a:prstGeom prst="rect">
              <a:avLst/>
            </a:prstGeom>
            <a:noFill/>
            <a:ln w="9525">
              <a:noFill/>
              <a:miter lim="800000"/>
              <a:headEnd/>
              <a:tailEnd/>
            </a:ln>
          </p:spPr>
        </p:pic>
        <p:sp>
          <p:nvSpPr>
            <p:cNvPr id="7" name="Text Box 62"/>
            <p:cNvSpPr txBox="1">
              <a:spLocks noChangeArrowheads="1"/>
            </p:cNvSpPr>
            <p:nvPr/>
          </p:nvSpPr>
          <p:spPr bwMode="auto">
            <a:xfrm>
              <a:off x="2154" y="1706"/>
              <a:ext cx="590" cy="250"/>
            </a:xfrm>
            <a:prstGeom prst="rect">
              <a:avLst/>
            </a:prstGeom>
            <a:noFill/>
            <a:ln w="9525" algn="ctr">
              <a:noFill/>
              <a:miter lim="800000"/>
              <a:headEnd/>
              <a:tailEnd/>
            </a:ln>
            <a:effectLst/>
          </p:spPr>
          <p:txBody>
            <a:bodyPr>
              <a:spAutoFit/>
            </a:bodyPr>
            <a:lstStyle/>
            <a:p>
              <a:pPr marL="342900" indent="-342900" algn="l">
                <a:spcBef>
                  <a:spcPct val="50000"/>
                </a:spcBef>
                <a:defRPr/>
              </a:pPr>
              <a:r>
                <a:rPr lang="en-US" altLang="zh-CN" sz="2000" i="1" dirty="0">
                  <a:effectLst>
                    <a:outerShdw blurRad="38100" dist="38100" dir="2700000" algn="tl">
                      <a:srgbClr val="C0C0C0"/>
                    </a:outerShdw>
                  </a:effectLst>
                  <a:latin typeface="Book Antiqua" pitchFamily="18" charset="0"/>
                  <a:ea typeface="宋体" charset="-122"/>
                </a:rPr>
                <a:t>Plan</a:t>
              </a:r>
            </a:p>
          </p:txBody>
        </p:sp>
      </p:grpSp>
      <p:grpSp>
        <p:nvGrpSpPr>
          <p:cNvPr id="8" name="Group 67"/>
          <p:cNvGrpSpPr>
            <a:grpSpLocks/>
          </p:cNvGrpSpPr>
          <p:nvPr/>
        </p:nvGrpSpPr>
        <p:grpSpPr bwMode="auto">
          <a:xfrm>
            <a:off x="4595813" y="1844675"/>
            <a:ext cx="1731962" cy="2168525"/>
            <a:chOff x="2849" y="1359"/>
            <a:chExt cx="1091" cy="1366"/>
          </a:xfrm>
        </p:grpSpPr>
        <p:pic>
          <p:nvPicPr>
            <p:cNvPr id="9" name="Rectangle 9259"/>
            <p:cNvPicPr>
              <a:picLocks noChangeAspect="1" noChangeArrowheads="1"/>
            </p:cNvPicPr>
            <p:nvPr/>
          </p:nvPicPr>
          <p:blipFill>
            <a:blip r:embed="rId3" cstate="print"/>
            <a:srcRect/>
            <a:stretch>
              <a:fillRect/>
            </a:stretch>
          </p:blipFill>
          <p:spPr bwMode="auto">
            <a:xfrm>
              <a:off x="2849" y="1359"/>
              <a:ext cx="1091" cy="1366"/>
            </a:xfrm>
            <a:prstGeom prst="rect">
              <a:avLst/>
            </a:prstGeom>
            <a:noFill/>
            <a:ln w="9525">
              <a:noFill/>
              <a:miter lim="800000"/>
              <a:headEnd/>
              <a:tailEnd/>
            </a:ln>
          </p:spPr>
        </p:pic>
        <p:sp>
          <p:nvSpPr>
            <p:cNvPr id="10" name="Text Box 63"/>
            <p:cNvSpPr txBox="1">
              <a:spLocks noChangeArrowheads="1"/>
            </p:cNvSpPr>
            <p:nvPr/>
          </p:nvSpPr>
          <p:spPr bwMode="auto">
            <a:xfrm>
              <a:off x="3242" y="1979"/>
              <a:ext cx="409" cy="250"/>
            </a:xfrm>
            <a:prstGeom prst="rect">
              <a:avLst/>
            </a:prstGeom>
            <a:noFill/>
            <a:ln w="9525" algn="ctr">
              <a:noFill/>
              <a:miter lim="800000"/>
              <a:headEnd/>
              <a:tailEnd/>
            </a:ln>
            <a:effectLst/>
          </p:spPr>
          <p:txBody>
            <a:bodyPr>
              <a:spAutoFit/>
            </a:bodyPr>
            <a:lstStyle/>
            <a:p>
              <a:pPr marL="342900" indent="-342900" algn="l">
                <a:spcBef>
                  <a:spcPct val="50000"/>
                </a:spcBef>
                <a:defRPr/>
              </a:pPr>
              <a:r>
                <a:rPr lang="en-US" altLang="zh-CN" sz="2000" i="1" dirty="0">
                  <a:effectLst>
                    <a:outerShdw blurRad="38100" dist="38100" dir="2700000" algn="tl">
                      <a:srgbClr val="C0C0C0"/>
                    </a:outerShdw>
                  </a:effectLst>
                  <a:latin typeface="Book Antiqua" pitchFamily="18" charset="0"/>
                  <a:ea typeface="宋体" charset="-122"/>
                </a:rPr>
                <a:t>Do</a:t>
              </a:r>
            </a:p>
          </p:txBody>
        </p:sp>
      </p:grpSp>
      <p:grpSp>
        <p:nvGrpSpPr>
          <p:cNvPr id="11" name="Group 68"/>
          <p:cNvGrpSpPr>
            <a:grpSpLocks/>
          </p:cNvGrpSpPr>
          <p:nvPr/>
        </p:nvGrpSpPr>
        <p:grpSpPr bwMode="auto">
          <a:xfrm>
            <a:off x="3990975" y="3633788"/>
            <a:ext cx="2138363" cy="1739900"/>
            <a:chOff x="2467" y="2485"/>
            <a:chExt cx="1347" cy="1096"/>
          </a:xfrm>
        </p:grpSpPr>
        <p:pic>
          <p:nvPicPr>
            <p:cNvPr id="12" name="Rectangle 9257"/>
            <p:cNvPicPr>
              <a:picLocks noChangeAspect="1" noChangeArrowheads="1"/>
            </p:cNvPicPr>
            <p:nvPr/>
          </p:nvPicPr>
          <p:blipFill>
            <a:blip r:embed="rId4" cstate="print"/>
            <a:srcRect/>
            <a:stretch>
              <a:fillRect/>
            </a:stretch>
          </p:blipFill>
          <p:spPr bwMode="auto">
            <a:xfrm>
              <a:off x="2467" y="2485"/>
              <a:ext cx="1347" cy="1096"/>
            </a:xfrm>
            <a:prstGeom prst="rect">
              <a:avLst/>
            </a:prstGeom>
            <a:noFill/>
            <a:ln w="9525">
              <a:noFill/>
              <a:miter lim="800000"/>
              <a:headEnd/>
              <a:tailEnd/>
            </a:ln>
          </p:spPr>
        </p:pic>
        <p:sp>
          <p:nvSpPr>
            <p:cNvPr id="13" name="Text Box 64"/>
            <p:cNvSpPr txBox="1">
              <a:spLocks noChangeArrowheads="1"/>
            </p:cNvSpPr>
            <p:nvPr/>
          </p:nvSpPr>
          <p:spPr bwMode="auto">
            <a:xfrm>
              <a:off x="2880" y="2931"/>
              <a:ext cx="771" cy="250"/>
            </a:xfrm>
            <a:prstGeom prst="rect">
              <a:avLst/>
            </a:prstGeom>
            <a:noFill/>
            <a:ln w="9525" algn="ctr">
              <a:noFill/>
              <a:miter lim="800000"/>
              <a:headEnd/>
              <a:tailEnd/>
            </a:ln>
            <a:effectLst/>
          </p:spPr>
          <p:txBody>
            <a:bodyPr>
              <a:spAutoFit/>
            </a:bodyPr>
            <a:lstStyle/>
            <a:p>
              <a:pPr marL="342900" indent="-342900" algn="l">
                <a:spcBef>
                  <a:spcPct val="50000"/>
                </a:spcBef>
                <a:defRPr/>
              </a:pPr>
              <a:r>
                <a:rPr lang="en-US" altLang="zh-CN" sz="2000" i="1" dirty="0">
                  <a:effectLst>
                    <a:outerShdw blurRad="38100" dist="38100" dir="2700000" algn="tl">
                      <a:srgbClr val="C0C0C0"/>
                    </a:outerShdw>
                  </a:effectLst>
                  <a:latin typeface="Book Antiqua" pitchFamily="18" charset="0"/>
                  <a:ea typeface="宋体" charset="-122"/>
                </a:rPr>
                <a:t>Check</a:t>
              </a:r>
            </a:p>
          </p:txBody>
        </p:sp>
      </p:grpSp>
      <p:grpSp>
        <p:nvGrpSpPr>
          <p:cNvPr id="14" name="Group 69"/>
          <p:cNvGrpSpPr>
            <a:grpSpLocks/>
          </p:cNvGrpSpPr>
          <p:nvPr/>
        </p:nvGrpSpPr>
        <p:grpSpPr bwMode="auto">
          <a:xfrm>
            <a:off x="2627313" y="3036888"/>
            <a:ext cx="1724025" cy="2184400"/>
            <a:chOff x="1609" y="2110"/>
            <a:chExt cx="1086" cy="1376"/>
          </a:xfrm>
        </p:grpSpPr>
        <p:pic>
          <p:nvPicPr>
            <p:cNvPr id="15" name="Rectangle 9261"/>
            <p:cNvPicPr>
              <a:picLocks noChangeAspect="1" noChangeArrowheads="1"/>
            </p:cNvPicPr>
            <p:nvPr/>
          </p:nvPicPr>
          <p:blipFill>
            <a:blip r:embed="rId5" cstate="print"/>
            <a:srcRect/>
            <a:stretch>
              <a:fillRect/>
            </a:stretch>
          </p:blipFill>
          <p:spPr bwMode="auto">
            <a:xfrm>
              <a:off x="1609" y="2110"/>
              <a:ext cx="1086" cy="1376"/>
            </a:xfrm>
            <a:prstGeom prst="rect">
              <a:avLst/>
            </a:prstGeom>
            <a:noFill/>
            <a:ln w="9525">
              <a:noFill/>
              <a:miter lim="800000"/>
              <a:headEnd/>
              <a:tailEnd/>
            </a:ln>
          </p:spPr>
        </p:pic>
        <p:sp>
          <p:nvSpPr>
            <p:cNvPr id="16" name="Text Box 65"/>
            <p:cNvSpPr txBox="1">
              <a:spLocks noChangeArrowheads="1"/>
            </p:cNvSpPr>
            <p:nvPr/>
          </p:nvSpPr>
          <p:spPr bwMode="auto">
            <a:xfrm>
              <a:off x="1837" y="2704"/>
              <a:ext cx="816" cy="250"/>
            </a:xfrm>
            <a:prstGeom prst="rect">
              <a:avLst/>
            </a:prstGeom>
            <a:noFill/>
            <a:ln w="9525" algn="ctr">
              <a:noFill/>
              <a:miter lim="800000"/>
              <a:headEnd/>
              <a:tailEnd/>
            </a:ln>
            <a:effectLst/>
          </p:spPr>
          <p:txBody>
            <a:bodyPr>
              <a:spAutoFit/>
            </a:bodyPr>
            <a:lstStyle/>
            <a:p>
              <a:pPr marL="342900" indent="-342900" algn="l">
                <a:spcBef>
                  <a:spcPct val="50000"/>
                </a:spcBef>
                <a:defRPr/>
              </a:pPr>
              <a:r>
                <a:rPr lang="en-US" altLang="zh-CN" sz="2000" i="1" dirty="0">
                  <a:effectLst>
                    <a:outerShdw blurRad="38100" dist="38100" dir="2700000" algn="tl">
                      <a:srgbClr val="C0C0C0"/>
                    </a:outerShdw>
                  </a:effectLst>
                  <a:latin typeface="Book Antiqua" pitchFamily="18" charset="0"/>
                  <a:ea typeface="宋体" charset="-122"/>
                </a:rPr>
                <a:t>Action</a:t>
              </a:r>
            </a:p>
          </p:txBody>
        </p:sp>
      </p:grpSp>
      <p:sp>
        <p:nvSpPr>
          <p:cNvPr id="17" name="椭圆 16"/>
          <p:cNvSpPr/>
          <p:nvPr/>
        </p:nvSpPr>
        <p:spPr>
          <a:xfrm>
            <a:off x="3851920" y="2852936"/>
            <a:ext cx="1224136" cy="1224136"/>
          </a:xfrm>
          <a:prstGeom prst="ellipse">
            <a:avLst/>
          </a:prstGeom>
          <a:noFill/>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400" b="1" dirty="0">
                <a:solidFill>
                  <a:schemeClr val="tx1"/>
                </a:solidFill>
              </a:rPr>
              <a:t>企业经营</a:t>
            </a:r>
            <a:endParaRPr lang="en-US" altLang="zh-CN" sz="2400" b="1"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20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200"/>
                                  </p:stCondLst>
                                  <p:childTnLst>
                                    <p:set>
                                      <p:cBhvr>
                                        <p:cTn id="8" dur="1" fill="hold">
                                          <p:stCondLst>
                                            <p:cond delay="0"/>
                                          </p:stCondLst>
                                        </p:cTn>
                                        <p:tgtEl>
                                          <p:spTgt spid="5"/>
                                        </p:tgtEl>
                                        <p:attrNameLst>
                                          <p:attrName>style.visibility</p:attrName>
                                        </p:attrNameLst>
                                      </p:cBhvr>
                                      <p:to>
                                        <p:strVal val="visible"/>
                                      </p:to>
                                    </p:set>
                                  </p:childTnLst>
                                </p:cTn>
                              </p:par>
                              <p:par>
                                <p:cTn id="9" presetID="53" presetClass="entr" presetSubtype="16" fill="hold" nodeType="withEffect">
                                  <p:stCondLst>
                                    <p:cond delay="70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par>
                                <p:cTn id="14" presetID="31" presetClass="entr" presetSubtype="0" fill="hold" nodeType="withEffect">
                                  <p:stCondLst>
                                    <p:cond delay="140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fltVal val="0"/>
                                          </p:val>
                                        </p:tav>
                                        <p:tav tm="100000">
                                          <p:val>
                                            <p:strVal val="#ppt_h"/>
                                          </p:val>
                                        </p:tav>
                                      </p:tavLst>
                                    </p:anim>
                                    <p:anim calcmode="lin" valueType="num">
                                      <p:cBhvr>
                                        <p:cTn id="18" dur="500" fill="hold"/>
                                        <p:tgtEl>
                                          <p:spTgt spid="11"/>
                                        </p:tgtEl>
                                        <p:attrNameLst>
                                          <p:attrName>style.rotation</p:attrName>
                                        </p:attrNameLst>
                                      </p:cBhvr>
                                      <p:tavLst>
                                        <p:tav tm="0">
                                          <p:val>
                                            <p:fltVal val="90"/>
                                          </p:val>
                                        </p:tav>
                                        <p:tav tm="100000">
                                          <p:val>
                                            <p:fltVal val="0"/>
                                          </p:val>
                                        </p:tav>
                                      </p:tavLst>
                                    </p:anim>
                                    <p:animEffect transition="in" filter="fade">
                                      <p:cBhvr>
                                        <p:cTn id="19" dur="500"/>
                                        <p:tgtEl>
                                          <p:spTgt spid="11"/>
                                        </p:tgtEl>
                                      </p:cBhvr>
                                    </p:animEffect>
                                  </p:childTnLst>
                                </p:cTn>
                              </p:par>
                              <p:par>
                                <p:cTn id="20" presetID="16" presetClass="entr" presetSubtype="21" fill="hold" nodeType="withEffect">
                                  <p:stCondLst>
                                    <p:cond delay="200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714356"/>
          </a:xfrm>
        </p:spPr>
        <p:txBody>
          <a:bodyPr>
            <a:normAutofit fontScale="90000"/>
          </a:bodyPr>
          <a:lstStyle/>
          <a:p>
            <a:r>
              <a:rPr lang="zh-CN" altLang="en-US" dirty="0"/>
              <a:t>海典做什么</a:t>
            </a:r>
          </a:p>
        </p:txBody>
      </p:sp>
      <p:sp>
        <p:nvSpPr>
          <p:cNvPr id="3" name="内容占位符 2"/>
          <p:cNvSpPr>
            <a:spLocks noGrp="1"/>
          </p:cNvSpPr>
          <p:nvPr>
            <p:ph idx="1"/>
          </p:nvPr>
        </p:nvSpPr>
        <p:spPr/>
        <p:txBody>
          <a:bodyPr/>
          <a:lstStyle/>
          <a:p>
            <a:r>
              <a:rPr lang="zh-CN" altLang="en-US" dirty="0"/>
              <a:t>带领未入门的企业入门；</a:t>
            </a:r>
            <a:endParaRPr lang="en-US" altLang="zh-CN" dirty="0"/>
          </a:p>
          <a:p>
            <a:r>
              <a:rPr lang="zh-CN" altLang="en-US" dirty="0"/>
              <a:t>帮助入门的企业制定指标、</a:t>
            </a:r>
            <a:r>
              <a:rPr lang="en-US" altLang="zh-CN" dirty="0"/>
              <a:t>KPI</a:t>
            </a:r>
            <a:r>
              <a:rPr lang="zh-CN" altLang="en-US" dirty="0"/>
              <a:t>考核；</a:t>
            </a:r>
            <a:endParaRPr lang="en-US" altLang="zh-CN" dirty="0"/>
          </a:p>
          <a:p>
            <a:r>
              <a:rPr lang="zh-CN" altLang="en-US" dirty="0"/>
              <a:t>协助信息化的企业优化流程，改进考核指标，实现个性化需求；</a:t>
            </a:r>
            <a:endParaRPr lang="en-US" altLang="zh-CN" dirty="0"/>
          </a:p>
          <a:p>
            <a:r>
              <a:rPr lang="zh-CN" altLang="en-US" dirty="0">
                <a:solidFill>
                  <a:srgbClr val="FF0000"/>
                </a:solidFill>
              </a:rPr>
              <a:t>下面来点干货：</a:t>
            </a:r>
            <a:endParaRPr lang="en-US" altLang="zh-CN" dirty="0">
              <a:solidFill>
                <a:srgbClr val="FF0000"/>
              </a:solidFill>
            </a:endParaRPr>
          </a:p>
          <a:p>
            <a:endParaRPr lang="zh-CN" altLang="en-US" dirty="0"/>
          </a:p>
        </p:txBody>
      </p:sp>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368280"/>
          </a:xfrm>
        </p:spPr>
        <p:txBody>
          <a:bodyPr>
            <a:normAutofit fontScale="90000"/>
          </a:bodyPr>
          <a:lstStyle/>
          <a:p>
            <a:r>
              <a:rPr lang="zh-CN" altLang="en-US" dirty="0"/>
              <a:t>库存决策分析</a:t>
            </a:r>
          </a:p>
        </p:txBody>
      </p:sp>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32</a:t>
            </a:fld>
            <a:endParaRPr lang="en-US"/>
          </a:p>
        </p:txBody>
      </p:sp>
      <p:pic>
        <p:nvPicPr>
          <p:cNvPr id="36866" name="Picture 2"/>
          <p:cNvPicPr>
            <a:picLocks noGrp="1" noChangeAspect="1" noChangeArrowheads="1"/>
          </p:cNvPicPr>
          <p:nvPr>
            <p:ph idx="1"/>
          </p:nvPr>
        </p:nvPicPr>
        <p:blipFill>
          <a:blip r:embed="rId2"/>
          <a:srcRect/>
          <a:stretch>
            <a:fillRect/>
          </a:stretch>
        </p:blipFill>
        <p:spPr bwMode="auto">
          <a:xfrm>
            <a:off x="457200" y="1357299"/>
            <a:ext cx="8229600" cy="4325058"/>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52"/>
            <a:ext cx="8229600" cy="500066"/>
          </a:xfrm>
        </p:spPr>
        <p:txBody>
          <a:bodyPr>
            <a:normAutofit fontScale="90000"/>
          </a:bodyPr>
          <a:lstStyle/>
          <a:p>
            <a:r>
              <a:rPr lang="zh-CN" altLang="en-US" dirty="0"/>
              <a:t>品类组合分析报表</a:t>
            </a:r>
          </a:p>
        </p:txBody>
      </p:sp>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33</a:t>
            </a:fld>
            <a:endParaRPr lang="en-US"/>
          </a:p>
        </p:txBody>
      </p:sp>
      <p:pic>
        <p:nvPicPr>
          <p:cNvPr id="37890" name="Picture 2"/>
          <p:cNvPicPr>
            <a:picLocks noGrp="1" noChangeAspect="1" noChangeArrowheads="1"/>
          </p:cNvPicPr>
          <p:nvPr>
            <p:ph idx="1"/>
          </p:nvPr>
        </p:nvPicPr>
        <p:blipFill>
          <a:blip r:embed="rId2"/>
          <a:srcRect/>
          <a:stretch>
            <a:fillRect/>
          </a:stretch>
        </p:blipFill>
        <p:spPr bwMode="auto">
          <a:xfrm>
            <a:off x="457200" y="1214422"/>
            <a:ext cx="8229600" cy="4487134"/>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52"/>
            <a:ext cx="8229600" cy="500066"/>
          </a:xfrm>
        </p:spPr>
        <p:txBody>
          <a:bodyPr>
            <a:normAutofit fontScale="90000"/>
          </a:bodyPr>
          <a:lstStyle/>
          <a:p>
            <a:r>
              <a:rPr lang="zh-CN" altLang="en-US" dirty="0"/>
              <a:t>价格段分析报表</a:t>
            </a:r>
          </a:p>
        </p:txBody>
      </p:sp>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34</a:t>
            </a:fld>
            <a:endParaRPr lang="en-US"/>
          </a:p>
        </p:txBody>
      </p:sp>
      <p:pic>
        <p:nvPicPr>
          <p:cNvPr id="38915" name="Picture 3"/>
          <p:cNvPicPr>
            <a:picLocks noGrp="1" noChangeAspect="1" noChangeArrowheads="1"/>
          </p:cNvPicPr>
          <p:nvPr>
            <p:ph idx="1"/>
          </p:nvPr>
        </p:nvPicPr>
        <p:blipFill>
          <a:blip r:embed="rId2"/>
          <a:srcRect/>
          <a:stretch>
            <a:fillRect/>
          </a:stretch>
        </p:blipFill>
        <p:spPr bwMode="auto">
          <a:xfrm>
            <a:off x="457200" y="1071546"/>
            <a:ext cx="8229600" cy="4621226"/>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52"/>
            <a:ext cx="8229600" cy="500066"/>
          </a:xfrm>
        </p:spPr>
        <p:txBody>
          <a:bodyPr>
            <a:normAutofit fontScale="90000"/>
          </a:bodyPr>
          <a:lstStyle/>
          <a:p>
            <a:r>
              <a:rPr lang="zh-CN" altLang="en-US" dirty="0"/>
              <a:t>进销存周转报表</a:t>
            </a:r>
          </a:p>
        </p:txBody>
      </p:sp>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35</a:t>
            </a:fld>
            <a:endParaRPr lang="en-US"/>
          </a:p>
        </p:txBody>
      </p:sp>
      <p:pic>
        <p:nvPicPr>
          <p:cNvPr id="39938" name="Picture 2"/>
          <p:cNvPicPr>
            <a:picLocks noGrp="1" noChangeAspect="1" noChangeArrowheads="1"/>
          </p:cNvPicPr>
          <p:nvPr>
            <p:ph idx="1"/>
          </p:nvPr>
        </p:nvPicPr>
        <p:blipFill>
          <a:blip r:embed="rId2"/>
          <a:srcRect/>
          <a:stretch>
            <a:fillRect/>
          </a:stretch>
        </p:blipFill>
        <p:spPr bwMode="auto">
          <a:xfrm>
            <a:off x="457200" y="857232"/>
            <a:ext cx="8229600" cy="4961285"/>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42852"/>
            <a:ext cx="8229600" cy="500066"/>
          </a:xfrm>
        </p:spPr>
        <p:txBody>
          <a:bodyPr>
            <a:normAutofit fontScale="90000"/>
          </a:bodyPr>
          <a:lstStyle/>
          <a:p>
            <a:r>
              <a:rPr lang="zh-CN" altLang="en-US" dirty="0"/>
              <a:t>会员单品回头率报表</a:t>
            </a:r>
          </a:p>
        </p:txBody>
      </p:sp>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36</a:t>
            </a:fld>
            <a:endParaRPr lang="en-US"/>
          </a:p>
        </p:txBody>
      </p:sp>
      <p:pic>
        <p:nvPicPr>
          <p:cNvPr id="40962" name="Picture 2"/>
          <p:cNvPicPr>
            <a:picLocks noGrp="1" noChangeAspect="1" noChangeArrowheads="1"/>
          </p:cNvPicPr>
          <p:nvPr>
            <p:ph idx="1"/>
          </p:nvPr>
        </p:nvPicPr>
        <p:blipFill>
          <a:blip r:embed="rId2"/>
          <a:srcRect/>
          <a:stretch>
            <a:fillRect/>
          </a:stretch>
        </p:blipFill>
        <p:spPr bwMode="auto">
          <a:xfrm>
            <a:off x="457200" y="1142984"/>
            <a:ext cx="8229600" cy="4439443"/>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4"/>
          <p:cNvGraphicFramePr>
            <a:graphicFrameLocks noGrp="1"/>
          </p:cNvGraphicFramePr>
          <p:nvPr>
            <p:ph idx="1"/>
          </p:nvPr>
        </p:nvGraphicFramePr>
        <p:xfrm>
          <a:off x="457200" y="1600200"/>
          <a:ext cx="8229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4" name="灯片编号占位符 3"/>
          <p:cNvSpPr>
            <a:spLocks noGrp="1"/>
          </p:cNvSpPr>
          <p:nvPr>
            <p:ph type="sldNum" sz="quarter" idx="12"/>
          </p:nvPr>
        </p:nvSpPr>
        <p:spPr/>
        <p:txBody>
          <a:bodyPr/>
          <a:lstStyle/>
          <a:p>
            <a:pPr>
              <a:defRPr/>
            </a:pPr>
            <a:fld id="{1B91950A-4E9C-4796-AD8F-2DC670054CD8}" type="slidenum">
              <a:rPr lang="en-US" smtClean="0"/>
              <a:pPr>
                <a:defRPr/>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179512" y="6448251"/>
            <a:ext cx="1080120" cy="365125"/>
          </a:xfrm>
        </p:spPr>
        <p:txBody>
          <a:bodyPr/>
          <a:lstStyle/>
          <a:p>
            <a:pPr marL="171450" indent="-171450">
              <a:buFont typeface="Wingdings" pitchFamily="2" charset="2"/>
              <a:buChar char="n"/>
              <a:defRPr/>
            </a:pPr>
            <a:r>
              <a:rPr lang="en-US" dirty="0"/>
              <a:t>Page&lt;</a:t>
            </a:r>
            <a:fld id="{1B91950A-4E9C-4796-AD8F-2DC670054CD8}" type="slidenum">
              <a:rPr lang="en-US" smtClean="0"/>
              <a:pPr marL="171450" indent="-171450">
                <a:buFont typeface="Wingdings" pitchFamily="2" charset="2"/>
                <a:buChar char="n"/>
                <a:defRPr/>
              </a:pPr>
              <a:t>38</a:t>
            </a:fld>
            <a:r>
              <a:rPr lang="en-US" dirty="0"/>
              <a:t>&gt;</a:t>
            </a:r>
          </a:p>
        </p:txBody>
      </p:sp>
      <p:sp>
        <p:nvSpPr>
          <p:cNvPr id="11" name="Rectangle 3"/>
          <p:cNvSpPr>
            <a:spLocks noChangeArrowheads="1"/>
          </p:cNvSpPr>
          <p:nvPr/>
        </p:nvSpPr>
        <p:spPr bwMode="auto">
          <a:xfrm>
            <a:off x="500063" y="2060848"/>
            <a:ext cx="8215312" cy="396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2880" tIns="91440"/>
          <a:lstStyle/>
          <a:p>
            <a:pPr marL="609600" indent="-609600">
              <a:lnSpc>
                <a:spcPct val="150000"/>
              </a:lnSpc>
              <a:spcBef>
                <a:spcPct val="20000"/>
              </a:spcBef>
              <a:buFont typeface="Wingdings" pitchFamily="2" charset="2"/>
              <a:buAutoNum type="arabicPeriod"/>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总量、库销比是否合理？</a:t>
            </a:r>
          </a:p>
          <a:p>
            <a:pPr marL="609600" indent="-609600">
              <a:lnSpc>
                <a:spcPct val="150000"/>
              </a:lnSpc>
              <a:spcBef>
                <a:spcPct val="20000"/>
              </a:spcBef>
              <a:buFont typeface="Wingdings" pitchFamily="2" charset="2"/>
              <a:buAutoNum type="arabicPeriod"/>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新旧货占比是否合理？（不合理，旧货建议何时清理，新货缺的是否需要立即补货）</a:t>
            </a:r>
          </a:p>
          <a:p>
            <a:pPr marL="609600" indent="-609600">
              <a:lnSpc>
                <a:spcPct val="150000"/>
              </a:lnSpc>
              <a:spcBef>
                <a:spcPct val="20000"/>
              </a:spcBef>
              <a:buFont typeface="Wingdings" pitchFamily="2" charset="2"/>
              <a:buAutoNum type="arabicPeriod"/>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各系列、性别存销比是否合理？高和低应该采取的措施</a:t>
            </a:r>
          </a:p>
          <a:p>
            <a:pPr marL="609600" indent="-609600">
              <a:lnSpc>
                <a:spcPct val="150000"/>
              </a:lnSpc>
              <a:spcBef>
                <a:spcPct val="20000"/>
              </a:spcBef>
              <a:buFont typeface="Wingdings" pitchFamily="2" charset="2"/>
              <a:buAutoNum type="arabicPeriod"/>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畅滞销款的分析（是否存在畅销的没有，滞销的很多的情况？</a:t>
            </a:r>
            <a:r>
              <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endPar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endParaRPr>
          </a:p>
          <a:p>
            <a:pPr marL="609600" indent="-609600">
              <a:lnSpc>
                <a:spcPct val="150000"/>
              </a:lnSpc>
              <a:spcBef>
                <a:spcPct val="20000"/>
              </a:spcBef>
              <a:buFont typeface="Wingdings" pitchFamily="2" charset="2"/>
              <a:buAutoNum type="arabicPeriod"/>
            </a:pP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建议：何时、怎样补</a:t>
            </a:r>
            <a:r>
              <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清款、补</a:t>
            </a:r>
            <a:r>
              <a:rPr lang="en-US" altLang="zh-CN"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a:t>
            </a:r>
            <a:r>
              <a:rPr lang="zh-CN" altLang="en-US" sz="2000" dirty="0">
                <a:solidFill>
                  <a:schemeClr val="tx1">
                    <a:lumMod val="75000"/>
                    <a:lumOff val="25000"/>
                  </a:schemeClr>
                </a:solidFill>
                <a:effectLst>
                  <a:outerShdw blurRad="38100" dist="38100" dir="2700000" algn="tl">
                    <a:srgbClr val="000000">
                      <a:alpha val="43137"/>
                    </a:srgbClr>
                  </a:outerShdw>
                </a:effectLst>
                <a:latin typeface="华文细黑" pitchFamily="2" charset="-122"/>
                <a:ea typeface="华文细黑" pitchFamily="2" charset="-122"/>
              </a:rPr>
              <a:t>清量的量</a:t>
            </a:r>
          </a:p>
          <a:p>
            <a:pPr marL="609600" indent="-609600">
              <a:lnSpc>
                <a:spcPct val="150000"/>
              </a:lnSpc>
              <a:spcBef>
                <a:spcPct val="20000"/>
              </a:spcBef>
              <a:buFont typeface="Wingdings" pitchFamily="2" charset="2"/>
              <a:buNone/>
            </a:pPr>
            <a:endParaRPr lang="en-US" altLang="zh-CN" sz="2200" dirty="0">
              <a:solidFill>
                <a:schemeClr val="tx1">
                  <a:lumMod val="75000"/>
                  <a:lumOff val="25000"/>
                </a:schemeClr>
              </a:solidFill>
              <a:effectLst>
                <a:outerShdw blurRad="38100" dist="38100" dir="2700000" algn="tl">
                  <a:srgbClr val="000000">
                    <a:alpha val="43137"/>
                  </a:srgbClr>
                </a:outerShdw>
              </a:effectLst>
              <a:latin typeface="新宋体" pitchFamily="49" charset="-122"/>
              <a:ea typeface="新宋体" pitchFamily="49" charset="-122"/>
            </a:endParaRPr>
          </a:p>
        </p:txBody>
      </p:sp>
      <p:sp>
        <p:nvSpPr>
          <p:cNvPr id="12" name="Rectangle 2"/>
          <p:cNvSpPr>
            <a:spLocks noChangeArrowheads="1"/>
          </p:cNvSpPr>
          <p:nvPr/>
        </p:nvSpPr>
        <p:spPr bwMode="auto">
          <a:xfrm>
            <a:off x="2606675" y="1057300"/>
            <a:ext cx="3822700" cy="571500"/>
          </a:xfrm>
          <a:prstGeom prst="rect">
            <a:avLst/>
          </a:prstGeom>
          <a:noFill/>
          <a:ln w="9525">
            <a:noFill/>
            <a:miter lim="800000"/>
            <a:headEnd/>
            <a:tailEnd/>
          </a:ln>
        </p:spPr>
        <p:txBody>
          <a:bodyPr anchor="b"/>
          <a:lstStyle/>
          <a:p>
            <a:pPr algn="ctr">
              <a:defRPr/>
            </a:pPr>
            <a:r>
              <a:rPr lang="zh-CN" altLang="en-US" sz="3200" b="1" dirty="0">
                <a:solidFill>
                  <a:srgbClr val="CC3300"/>
                </a:solidFill>
                <a:effectLst>
                  <a:outerShdw blurRad="38100" dist="38100" dir="2700000" algn="tl">
                    <a:srgbClr val="000000">
                      <a:alpha val="43137"/>
                    </a:srgbClr>
                  </a:outerShdw>
                </a:effectLst>
                <a:latin typeface="华文细黑" pitchFamily="2" charset="-122"/>
                <a:ea typeface="华文细黑" pitchFamily="2" charset="-122"/>
              </a:rPr>
              <a:t>结论与建议</a:t>
            </a:r>
          </a:p>
        </p:txBody>
      </p:sp>
    </p:spTree>
    <p:extLst>
      <p:ext uri="{BB962C8B-B14F-4D97-AF65-F5344CB8AC3E}">
        <p14:creationId xmlns:p14="http://schemas.microsoft.com/office/powerpoint/2010/main" val="320331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iterate type="lt">
                                    <p:tmPct val="5000"/>
                                  </p:iterate>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animEffect transition="in" filter="fade">
                                      <p:cBhvr>
                                        <p:cTn id="15" dur="1000"/>
                                        <p:tgtEl>
                                          <p:spTgt spid="11">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xEl>
                                              <p:pRg st="1" end="1"/>
                                            </p:txEl>
                                          </p:spTgt>
                                        </p:tgtEl>
                                        <p:attrNameLst>
                                          <p:attrName>style.visibility</p:attrName>
                                        </p:attrNameLst>
                                      </p:cBhvr>
                                      <p:to>
                                        <p:strVal val="visible"/>
                                      </p:to>
                                    </p:set>
                                    <p:animEffect transition="in" filter="fade">
                                      <p:cBhvr>
                                        <p:cTn id="20" dur="1000"/>
                                        <p:tgtEl>
                                          <p:spTgt spid="11">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xEl>
                                              <p:pRg st="2" end="2"/>
                                            </p:txEl>
                                          </p:spTgt>
                                        </p:tgtEl>
                                        <p:attrNameLst>
                                          <p:attrName>style.visibility</p:attrName>
                                        </p:attrNameLst>
                                      </p:cBhvr>
                                      <p:to>
                                        <p:strVal val="visible"/>
                                      </p:to>
                                    </p:set>
                                    <p:animEffect transition="in" filter="fade">
                                      <p:cBhvr>
                                        <p:cTn id="25" dur="1000"/>
                                        <p:tgtEl>
                                          <p:spTgt spid="11">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1">
                                            <p:txEl>
                                              <p:pRg st="3" end="3"/>
                                            </p:txEl>
                                          </p:spTgt>
                                        </p:tgtEl>
                                        <p:attrNameLst>
                                          <p:attrName>style.visibility</p:attrName>
                                        </p:attrNameLst>
                                      </p:cBhvr>
                                      <p:to>
                                        <p:strVal val="visible"/>
                                      </p:to>
                                    </p:set>
                                    <p:animEffect transition="in" filter="fade">
                                      <p:cBhvr>
                                        <p:cTn id="30" dur="1000"/>
                                        <p:tgtEl>
                                          <p:spTgt spid="11">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1">
                                            <p:txEl>
                                              <p:pRg st="4" end="4"/>
                                            </p:txEl>
                                          </p:spTgt>
                                        </p:tgtEl>
                                        <p:attrNameLst>
                                          <p:attrName>style.visibility</p:attrName>
                                        </p:attrNameLst>
                                      </p:cBhvr>
                                      <p:to>
                                        <p:strVal val="visible"/>
                                      </p:to>
                                    </p:set>
                                    <p:animEffect transition="in" filter="fade">
                                      <p:cBhvr>
                                        <p:cTn id="35" dur="10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6"/>
          <p:cNvSpPr>
            <a:spLocks noGrp="1" noChangeArrowheads="1"/>
          </p:cNvSpPr>
          <p:nvPr>
            <p:ph type="ctrTitle" idx="4294967295"/>
          </p:nvPr>
        </p:nvSpPr>
        <p:spPr>
          <a:xfrm>
            <a:off x="395289" y="2564904"/>
            <a:ext cx="6336952" cy="792162"/>
          </a:xfrm>
        </p:spPr>
        <p:txBody>
          <a:bodyPr>
            <a:noAutofit/>
          </a:bodyPr>
          <a:lstStyle/>
          <a:p>
            <a:pPr marL="0" indent="0" eaLnBrk="1" hangingPunct="1"/>
            <a:r>
              <a:rPr lang="en-US" altLang="zh-CN" sz="4800" dirty="0">
                <a:solidFill>
                  <a:schemeClr val="tx1">
                    <a:lumMod val="85000"/>
                    <a:lumOff val="15000"/>
                  </a:schemeClr>
                </a:solidFill>
                <a:latin typeface="华文细黑" pitchFamily="2" charset="-122"/>
                <a:ea typeface="华文细黑" pitchFamily="2" charset="-122"/>
              </a:rPr>
              <a:t>Thank  you</a:t>
            </a:r>
            <a:endParaRPr lang="zh-CN" sz="4800" dirty="0">
              <a:solidFill>
                <a:schemeClr val="tx1">
                  <a:lumMod val="85000"/>
                  <a:lumOff val="15000"/>
                </a:schemeClr>
              </a:solidFill>
              <a:latin typeface="华文细黑" pitchFamily="2" charset="-122"/>
              <a:ea typeface="华文细黑" pitchFamily="2" charset="-122"/>
            </a:endParaRPr>
          </a:p>
        </p:txBody>
      </p:sp>
      <p:sp>
        <p:nvSpPr>
          <p:cNvPr id="4" name="副标题 7"/>
          <p:cNvSpPr>
            <a:spLocks noGrp="1" noChangeArrowheads="1"/>
          </p:cNvSpPr>
          <p:nvPr>
            <p:ph type="subTitle" idx="4294967295"/>
          </p:nvPr>
        </p:nvSpPr>
        <p:spPr>
          <a:xfrm>
            <a:off x="539552" y="4005064"/>
            <a:ext cx="5904655" cy="504825"/>
          </a:xfrm>
        </p:spPr>
        <p:txBody>
          <a:bodyPr>
            <a:normAutofit/>
          </a:bodyPr>
          <a:lstStyle/>
          <a:p>
            <a:pPr marL="0" indent="0" algn="ctr" eaLnBrk="1" hangingPunct="1">
              <a:buFont typeface="Wingdings" pitchFamily="2" charset="2"/>
              <a:buNone/>
            </a:pPr>
            <a:r>
              <a:rPr lang="en-US" altLang="zh-CN" sz="1800" b="0" dirty="0">
                <a:latin typeface="华文细黑" pitchFamily="2" charset="-122"/>
                <a:ea typeface="华文细黑" pitchFamily="2" charset="-122"/>
              </a:rPr>
              <a:t>THANKS  FOR  YOUR  ATTENTION</a:t>
            </a:r>
            <a:endParaRPr lang="zh-CN" altLang="zh-CN" sz="1800" dirty="0">
              <a:latin typeface="华文细黑" pitchFamily="2" charset="-122"/>
              <a:ea typeface="华文细黑" pitchFamily="2" charset="-122"/>
            </a:endParaRPr>
          </a:p>
        </p:txBody>
      </p:sp>
    </p:spTree>
    <p:extLst>
      <p:ext uri="{BB962C8B-B14F-4D97-AF65-F5344CB8AC3E}">
        <p14:creationId xmlns:p14="http://schemas.microsoft.com/office/powerpoint/2010/main" val="353136882"/>
      </p:ext>
    </p:extLst>
  </p:cSld>
  <p:clrMapOvr>
    <a:masterClrMapping/>
  </p:clrMapOvr>
</p:sld>
</file>

<file path=ppt/theme/theme1.xml><?xml version="1.0" encoding="utf-8"?>
<a:theme xmlns:a="http://schemas.openxmlformats.org/drawingml/2006/main" name="Academic_ID01">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2800</Words>
  <Application>Microsoft Office PowerPoint</Application>
  <PresentationFormat>全屏显示(4:3)</PresentationFormat>
  <Paragraphs>386</Paragraphs>
  <Slides>39</Slides>
  <Notes>29</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39</vt:i4>
      </vt:variant>
    </vt:vector>
  </HeadingPairs>
  <TitlesOfParts>
    <vt:vector size="56" baseType="lpstr">
      <vt:lpstr>仿宋_GB2312</vt:lpstr>
      <vt:lpstr>黑体</vt:lpstr>
      <vt:lpstr>华文细黑</vt:lpstr>
      <vt:lpstr>华文中宋</vt:lpstr>
      <vt:lpstr>宋体</vt:lpstr>
      <vt:lpstr>微软雅黑</vt:lpstr>
      <vt:lpstr>新宋体</vt:lpstr>
      <vt:lpstr>Arial</vt:lpstr>
      <vt:lpstr>Book Antiqua</vt:lpstr>
      <vt:lpstr>Calibri</vt:lpstr>
      <vt:lpstr>Cambria Math</vt:lpstr>
      <vt:lpstr>Franklin Gothic Medium</vt:lpstr>
      <vt:lpstr>Verdana</vt:lpstr>
      <vt:lpstr>Wingdings</vt:lpstr>
      <vt:lpstr>Wingdings 2</vt:lpstr>
      <vt:lpstr>Academic_ID01</vt:lpstr>
      <vt:lpstr>图表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谁来做</vt:lpstr>
      <vt:lpstr>怎么做</vt:lpstr>
      <vt:lpstr>海典做什么</vt:lpstr>
      <vt:lpstr>库存决策分析</vt:lpstr>
      <vt:lpstr>品类组合分析报表</vt:lpstr>
      <vt:lpstr>价格段分析报表</vt:lpstr>
      <vt:lpstr>进销存周转报表</vt:lpstr>
      <vt:lpstr>会员单品回头率报表</vt:lpstr>
      <vt:lpstr>PowerPoint 演示文稿</vt:lpstr>
      <vt:lpstr>PowerPoint 演示文稿</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
  <cp:lastModifiedBy/>
  <cp:revision>2</cp:revision>
  <dcterms:modified xsi:type="dcterms:W3CDTF">2022-04-15T03:43:23Z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TC010362639</vt:lpwstr>
  </property>
</Properties>
</file>