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6858000" type="screen4x3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4" d="100"/>
          <a:sy n="84" d="100"/>
        </p:scale>
        <p:origin x="-155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业务</a:t>
            </a:r>
            <a:r>
              <a:rPr lang="en-US" altLang="zh-CN" dirty="0" smtClean="0"/>
              <a:t> </a:t>
            </a:r>
            <a:r>
              <a:rPr lang="zh-CN" altLang="en-US" dirty="0" smtClean="0"/>
              <a:t>指标</a:t>
            </a:r>
            <a:r>
              <a:rPr lang="en-US" altLang="zh-CN" dirty="0" smtClean="0"/>
              <a:t> </a:t>
            </a:r>
            <a:r>
              <a:rPr lang="zh-CN" altLang="en-US" dirty="0" smtClean="0"/>
              <a:t>体系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116633"/>
            <a:ext cx="7772400" cy="504055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 smtClean="0"/>
              <a:t>移动</a:t>
            </a:r>
            <a:r>
              <a:rPr lang="en-US" altLang="zh-CN" dirty="0" smtClean="0"/>
              <a:t>APP—AARRR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323528" y="812304"/>
            <a:ext cx="8496944" cy="960512"/>
          </a:xfrm>
        </p:spPr>
        <p:txBody>
          <a:bodyPr>
            <a:noAutofit/>
          </a:bodyPr>
          <a:lstStyle/>
          <a:p>
            <a:pPr algn="l"/>
            <a:r>
              <a:rPr lang="en-US" altLang="zh-CN" sz="2000" dirty="0">
                <a:solidFill>
                  <a:schemeClr val="tx1"/>
                </a:solidFill>
              </a:rPr>
              <a:t>Acquisition</a:t>
            </a:r>
            <a:r>
              <a:rPr lang="zh-CN" altLang="en-US" sz="2000" dirty="0">
                <a:solidFill>
                  <a:schemeClr val="tx1"/>
                </a:solidFill>
              </a:rPr>
              <a:t>表示获取用户、</a:t>
            </a:r>
            <a:r>
              <a:rPr lang="en-US" altLang="zh-CN" sz="2000" dirty="0">
                <a:solidFill>
                  <a:schemeClr val="tx1"/>
                </a:solidFill>
              </a:rPr>
              <a:t>Activation</a:t>
            </a:r>
            <a:r>
              <a:rPr lang="zh-CN" altLang="en-US" sz="2000" dirty="0">
                <a:solidFill>
                  <a:schemeClr val="tx1"/>
                </a:solidFill>
              </a:rPr>
              <a:t>表示用户活跃度、</a:t>
            </a:r>
            <a:r>
              <a:rPr lang="en-US" altLang="zh-CN" sz="2000" dirty="0">
                <a:solidFill>
                  <a:schemeClr val="tx1"/>
                </a:solidFill>
              </a:rPr>
              <a:t>Retention</a:t>
            </a:r>
            <a:r>
              <a:rPr lang="zh-CN" altLang="en-US" sz="2000" dirty="0">
                <a:solidFill>
                  <a:schemeClr val="tx1"/>
                </a:solidFill>
              </a:rPr>
              <a:t>表示留存、</a:t>
            </a:r>
            <a:r>
              <a:rPr lang="en-US" altLang="zh-CN" sz="2000" dirty="0">
                <a:solidFill>
                  <a:schemeClr val="tx1"/>
                </a:solidFill>
              </a:rPr>
              <a:t>Revenue</a:t>
            </a:r>
            <a:r>
              <a:rPr lang="zh-CN" altLang="en-US" sz="2000" dirty="0">
                <a:solidFill>
                  <a:schemeClr val="tx1"/>
                </a:solidFill>
              </a:rPr>
              <a:t>表示收益、</a:t>
            </a:r>
            <a:r>
              <a:rPr lang="en-US" altLang="zh-CN" sz="2000" dirty="0">
                <a:solidFill>
                  <a:schemeClr val="tx1"/>
                </a:solidFill>
              </a:rPr>
              <a:t>Refer</a:t>
            </a:r>
            <a:r>
              <a:rPr lang="zh-CN" altLang="en-US" sz="2000" dirty="0">
                <a:solidFill>
                  <a:schemeClr val="tx1"/>
                </a:solidFill>
              </a:rPr>
              <a:t>表示传播，总的来说，是一个用户从拉新、拉活、留存、付费再到推广的一个</a:t>
            </a:r>
            <a:r>
              <a:rPr lang="zh-CN" altLang="en-US" sz="2000" dirty="0" smtClean="0">
                <a:solidFill>
                  <a:schemeClr val="tx1"/>
                </a:solidFill>
              </a:rPr>
              <a:t>过程。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pic>
        <p:nvPicPr>
          <p:cNvPr id="1026" name="Picture 2" descr="http://s11.sinaimg.cn/mw690/002k0G1Vzy76FNreYXgaa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00" y="1916832"/>
            <a:ext cx="7200000" cy="46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116633"/>
            <a:ext cx="7772400" cy="504055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/>
              <a:t>端</a:t>
            </a:r>
            <a:r>
              <a:rPr lang="zh-CN" altLang="en-US" dirty="0" smtClean="0"/>
              <a:t>游</a:t>
            </a:r>
            <a:r>
              <a:rPr lang="en-US" altLang="zh-CN" dirty="0" smtClean="0"/>
              <a:t>—PRAPA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323528" y="836712"/>
            <a:ext cx="8496944" cy="792088"/>
          </a:xfrm>
        </p:spPr>
        <p:txBody>
          <a:bodyPr>
            <a:noAutofit/>
          </a:bodyPr>
          <a:lstStyle/>
          <a:p>
            <a:pPr algn="l"/>
            <a:r>
              <a:rPr lang="en-US" altLang="zh-CN" sz="2000" dirty="0">
                <a:solidFill>
                  <a:schemeClr val="tx1"/>
                </a:solidFill>
              </a:rPr>
              <a:t>Promotion</a:t>
            </a:r>
            <a:r>
              <a:rPr lang="zh-CN" altLang="en-US" sz="2000" dirty="0">
                <a:solidFill>
                  <a:schemeClr val="tx1"/>
                </a:solidFill>
              </a:rPr>
              <a:t>表示用户推广，</a:t>
            </a:r>
            <a:r>
              <a:rPr lang="en-US" altLang="zh-CN" sz="2000" dirty="0">
                <a:solidFill>
                  <a:schemeClr val="tx1"/>
                </a:solidFill>
              </a:rPr>
              <a:t>Register</a:t>
            </a:r>
            <a:r>
              <a:rPr lang="zh-CN" altLang="en-US" sz="2000" dirty="0">
                <a:solidFill>
                  <a:schemeClr val="tx1"/>
                </a:solidFill>
              </a:rPr>
              <a:t>表示用户注册，</a:t>
            </a:r>
            <a:r>
              <a:rPr lang="en-US" altLang="zh-CN" sz="2000" dirty="0">
                <a:solidFill>
                  <a:schemeClr val="tx1"/>
                </a:solidFill>
              </a:rPr>
              <a:t>Active</a:t>
            </a:r>
            <a:r>
              <a:rPr lang="zh-CN" altLang="en-US" sz="2000" dirty="0">
                <a:solidFill>
                  <a:schemeClr val="tx1"/>
                </a:solidFill>
              </a:rPr>
              <a:t>表示用户活跃，</a:t>
            </a:r>
            <a:r>
              <a:rPr lang="en-US" altLang="zh-CN" sz="2000" dirty="0">
                <a:solidFill>
                  <a:schemeClr val="tx1"/>
                </a:solidFill>
              </a:rPr>
              <a:t>Pay</a:t>
            </a:r>
            <a:r>
              <a:rPr lang="zh-CN" altLang="en-US" sz="2000" dirty="0">
                <a:solidFill>
                  <a:schemeClr val="tx1"/>
                </a:solidFill>
              </a:rPr>
              <a:t>表示用户付费，</a:t>
            </a:r>
            <a:r>
              <a:rPr lang="en-US" altLang="zh-CN" sz="2000" dirty="0">
                <a:solidFill>
                  <a:schemeClr val="tx1"/>
                </a:solidFill>
              </a:rPr>
              <a:t>ARPU</a:t>
            </a:r>
            <a:r>
              <a:rPr lang="zh-CN" altLang="en-US" sz="2000" dirty="0">
                <a:solidFill>
                  <a:schemeClr val="tx1"/>
                </a:solidFill>
              </a:rPr>
              <a:t>表示用户价值。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pic>
        <p:nvPicPr>
          <p:cNvPr id="2050" name="Picture 2" descr="http://s8.sinaimg.cn/large/002k0G1Vzy76FNsaIMnf7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00" y="1773336"/>
            <a:ext cx="7200000" cy="46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3976" y="260649"/>
            <a:ext cx="7772400" cy="504055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dirty="0" smtClean="0"/>
              <a:t>APP</a:t>
            </a:r>
            <a:r>
              <a:rPr lang="zh-CN" altLang="en-US" dirty="0" smtClean="0"/>
              <a:t>指标体系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340768"/>
            <a:ext cx="7972425" cy="4743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188640"/>
            <a:ext cx="7772400" cy="648071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 smtClean="0"/>
              <a:t>业务指标体系</a:t>
            </a:r>
            <a:r>
              <a:rPr lang="en-US" altLang="zh-CN" dirty="0" smtClean="0"/>
              <a:t>—</a:t>
            </a:r>
            <a:r>
              <a:rPr lang="en-US" altLang="zh-CN" b="1" dirty="0"/>
              <a:t>RUN</a:t>
            </a:r>
            <a:r>
              <a:rPr lang="zh-CN" altLang="en-US" b="1" dirty="0"/>
              <a:t>指标体系</a:t>
            </a:r>
            <a:endParaRPr lang="zh-CN" altLang="en-US" dirty="0"/>
          </a:p>
        </p:txBody>
      </p:sp>
      <p:pic>
        <p:nvPicPr>
          <p:cNvPr id="3074" name="Picture 2" descr="http://s14.sinaimg.cn/large/002k0G1Vzy76FNtYY697d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763" y="1179537"/>
            <a:ext cx="5400000" cy="50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188640"/>
            <a:ext cx="7772400" cy="648071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 smtClean="0"/>
              <a:t>业务指标体系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收入类指标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775" y="2300287"/>
            <a:ext cx="4362450" cy="2257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188640"/>
            <a:ext cx="7772400" cy="648071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 smtClean="0"/>
              <a:t>收入类指标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收入（流水）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512" y="1844824"/>
            <a:ext cx="7038975" cy="4067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504" y="764704"/>
            <a:ext cx="8928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流水指业务产生的收入流，没有剔除任何成本，而且有些部分不会计入营业收入。游戏行业中，流水指游戏玩家在游戏中的充值，包括平台赠送的一些游戏币，这些流水会由渠道商、发行商、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CP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划分，流水的规模也反映了游戏的受欢迎程度、前期宣传和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IP</a:t>
            </a: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效应。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5949280"/>
            <a:ext cx="8928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新增付费指用户的首次付费，存量付费指有付费记录用户产生的付</a:t>
            </a:r>
            <a:r>
              <a:rPr lang="zh-CN" altLang="en-US" sz="16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费。</a:t>
            </a:r>
            <a:endParaRPr lang="en-US" altLang="zh-CN" sz="16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16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新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注册付费是指用户在当天（或当周、当月）新注册且付费，未付费转化付费指用户在当天以前就已经注册了，只是在当天才第一次付费。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188640"/>
            <a:ext cx="7772400" cy="648071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 smtClean="0"/>
              <a:t>收入类指标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收入（出账收入）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879103"/>
            <a:ext cx="8928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457200">
              <a:defRPr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在运营商行业，主要关注出账收入，表示通过两次批价后产生的收入，还未减去折扣折让、结算收入、账后调账等项目。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7504" y="5982379"/>
            <a:ext cx="8928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语音收入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=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计费时长*语音单价，而计费时长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=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通话用户*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MOU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MOU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表示人均计费时</a:t>
            </a:r>
            <a:r>
              <a:rPr lang="zh-CN" altLang="en-US" sz="16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长</a:t>
            </a:r>
            <a:endParaRPr lang="en-US" altLang="zh-CN" sz="16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流量收入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=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计费流量*流量单价，计费流量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=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流量用户*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DOU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DOU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表示人均计费</a:t>
            </a:r>
            <a:r>
              <a:rPr lang="zh-CN" altLang="en-US" sz="16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流量</a:t>
            </a:r>
            <a:endParaRPr lang="en-US" altLang="zh-CN" sz="16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流量用户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=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通信用户*流量</a:t>
            </a:r>
            <a:r>
              <a:rPr lang="zh-CN" altLang="en-US" sz="16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普及率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14" y="1556792"/>
            <a:ext cx="8004572" cy="42951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188640"/>
            <a:ext cx="8784976" cy="648071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 smtClean="0"/>
              <a:t>收入类指标</a:t>
            </a:r>
            <a:r>
              <a:rPr lang="en-US" altLang="zh-CN" dirty="0" smtClean="0"/>
              <a:t>—ARPU</a:t>
            </a:r>
            <a:r>
              <a:rPr lang="zh-CN" altLang="en-US" dirty="0"/>
              <a:t>和</a:t>
            </a:r>
            <a:r>
              <a:rPr lang="en-US" altLang="zh-CN" dirty="0" smtClean="0"/>
              <a:t>ARPPU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879103"/>
            <a:ext cx="8928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457200">
              <a:defRPr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代表了用户的付费</a:t>
            </a:r>
            <a:r>
              <a:rPr lang="zh-CN" altLang="en-US" dirty="0"/>
              <a:t>能力</a:t>
            </a:r>
            <a:r>
              <a:rPr lang="zh-CN" altLang="en-US" dirty="0"/>
              <a:t>和用户价值，在运营商行业和互联网行业都很重要，一般会根据用户</a:t>
            </a:r>
            <a:r>
              <a:rPr lang="en-US" altLang="zh-CN" dirty="0"/>
              <a:t>ARPU</a:t>
            </a:r>
            <a:r>
              <a:rPr lang="zh-CN" altLang="en-US" dirty="0"/>
              <a:t>分层来划分不同价值的用户。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84" y="1700808"/>
            <a:ext cx="8460432" cy="306839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97768" y="5108991"/>
            <a:ext cx="86947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ARPU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指人均活跃用户付费，在互联网行业，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ARPU=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流水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/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活跃用户，在运营商行业，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ARPU=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出账收入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/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通信用户。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ARPPU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代表人均付费，在互联网行业，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ARPPU=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流水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/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付费用户，而在运营商行业则没有这种说法，因为运营商的所有用户都是要付费，都必须交月租。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ARPU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和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ARPPU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统计期间多为月，当然也有按日和周统计的。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188640"/>
            <a:ext cx="8784976" cy="648071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 smtClean="0"/>
              <a:t>收入类指标</a:t>
            </a:r>
            <a:r>
              <a:rPr lang="en-US" altLang="zh-CN" dirty="0" smtClean="0"/>
              <a:t>—LTV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879103"/>
            <a:ext cx="8928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457200">
              <a:defRPr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 smtClean="0"/>
              <a:t>在</a:t>
            </a:r>
            <a:r>
              <a:rPr lang="zh-CN" altLang="en-US" dirty="0"/>
              <a:t>收入类指标中，另一个很重要的指标就是用户生命周期价值（</a:t>
            </a:r>
            <a:r>
              <a:rPr lang="en-US" altLang="zh-CN" dirty="0"/>
              <a:t>LTV</a:t>
            </a:r>
            <a:r>
              <a:rPr lang="zh-CN" altLang="en-US" dirty="0"/>
              <a:t>，</a:t>
            </a:r>
            <a:r>
              <a:rPr lang="en-US" altLang="zh-CN" dirty="0"/>
              <a:t>lifetime value</a:t>
            </a:r>
            <a:r>
              <a:rPr lang="zh-CN" altLang="en-US" dirty="0"/>
              <a:t>），它是对用户终身价值的一个预估，然后跟用户获取成本（</a:t>
            </a:r>
            <a:r>
              <a:rPr lang="en-US" altLang="zh-CN" dirty="0"/>
              <a:t>CAC</a:t>
            </a:r>
            <a:r>
              <a:rPr lang="zh-CN" altLang="en-US" dirty="0"/>
              <a:t>，</a:t>
            </a:r>
            <a:r>
              <a:rPr lang="en-US" altLang="zh-CN" dirty="0"/>
              <a:t>customer acquisition cost</a:t>
            </a:r>
            <a:r>
              <a:rPr lang="zh-CN" altLang="en-US" dirty="0"/>
              <a:t>）进行比较，用以衡量获取用户策略是否划算，最高的获客成本能达到多少。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888" y="2205211"/>
            <a:ext cx="6372225" cy="2447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504" y="4781470"/>
            <a:ext cx="89289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60045"/>
            <a:r>
              <a:rPr lang="zh-CN" altLang="en-US" sz="16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与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用户生命周期价值相关的概念是用户生命周期，用户生命周期是一个很常见的概念，代表了用户开始使用产品到最后流失的整个产品使用过程。用户生命周期很有价值的一点是，用户在不同生命周期有不同的表现和行为特征，有不同的需求，可以进行针对性运营，如对新增用户加强引导或对预流失用户进行</a:t>
            </a:r>
            <a:r>
              <a:rPr lang="zh-CN" altLang="en-US" sz="16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挽留。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indent="360045"/>
            <a:r>
              <a:rPr lang="zh-CN" altLang="en-US" sz="16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通过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用户人均生命周期，计算新增用户在这个人均生命周期能够产生的价值，即一个长时间段的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LTV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，如一个游戏用户平均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个月的生命周期，则用户生命周期价值为新增用户随后</a:t>
            </a: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个月的付费金额。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188640"/>
            <a:ext cx="7772400" cy="648071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/>
              <a:t>业务指标体系</a:t>
            </a:r>
            <a:r>
              <a:rPr lang="en-US" altLang="zh-CN" dirty="0"/>
              <a:t>—</a:t>
            </a:r>
            <a:r>
              <a:rPr lang="zh-CN" altLang="en-US" dirty="0" smtClean="0"/>
              <a:t>用户类指标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879103"/>
            <a:ext cx="8928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457200">
              <a:defRPr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用户类指标用来监控用户规模、用户结构和用户健康度等，让业务人员知道当前业务用户规模是多少、处于什么发展阶段、是怎样构成的等。用户类指标中，最重要的当然是活跃用户、新增用户、留存用户、流失用户</a:t>
            </a:r>
            <a:r>
              <a:rPr lang="zh-CN" altLang="en-US" dirty="0" smtClean="0"/>
              <a:t>等。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827759"/>
            <a:ext cx="5486400" cy="2257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188640"/>
            <a:ext cx="7772400" cy="648071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 smtClean="0"/>
              <a:t>用户类指标</a:t>
            </a:r>
            <a:r>
              <a:rPr lang="en-US" altLang="zh-CN" dirty="0" smtClean="0"/>
              <a:t>—</a:t>
            </a:r>
            <a:r>
              <a:rPr lang="zh-CN" altLang="en-US" dirty="0" smtClean="0"/>
              <a:t>用户结构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879103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457200">
              <a:defRPr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用户结构中</a:t>
            </a:r>
            <a:r>
              <a:rPr lang="zh-CN" altLang="en-US" dirty="0" smtClean="0"/>
              <a:t>，以</a:t>
            </a:r>
            <a:r>
              <a:rPr lang="zh-CN" altLang="en-US" dirty="0"/>
              <a:t>累计活跃用户为起点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16" y="1352406"/>
            <a:ext cx="8370168" cy="32287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504" y="4725144"/>
            <a:ext cx="89289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457200">
              <a:defRPr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存量活跃用户：当天以前新增的用户在当天</a:t>
            </a:r>
            <a:r>
              <a:rPr lang="zh-CN" altLang="en-US" dirty="0" smtClean="0"/>
              <a:t>活跃</a:t>
            </a:r>
            <a:endParaRPr lang="en-US" altLang="zh-CN" dirty="0" smtClean="0"/>
          </a:p>
          <a:p>
            <a:r>
              <a:rPr lang="zh-CN" altLang="en-US" dirty="0"/>
              <a:t>留存用户：当天新增活跃用户随后第</a:t>
            </a:r>
            <a:r>
              <a:rPr lang="en-US" altLang="zh-CN" dirty="0"/>
              <a:t>N</a:t>
            </a:r>
            <a:r>
              <a:rPr lang="zh-CN" altLang="en-US" dirty="0"/>
              <a:t>天还活跃的用户即为第</a:t>
            </a:r>
            <a:r>
              <a:rPr lang="en-US" altLang="zh-CN" dirty="0"/>
              <a:t>N</a:t>
            </a:r>
            <a:r>
              <a:rPr lang="zh-CN" altLang="en-US" dirty="0"/>
              <a:t>天留存</a:t>
            </a:r>
            <a:r>
              <a:rPr lang="zh-CN" altLang="en-US" dirty="0" smtClean="0"/>
              <a:t>用户</a:t>
            </a:r>
            <a:endParaRPr lang="en-US" altLang="zh-CN" dirty="0" smtClean="0"/>
          </a:p>
          <a:p>
            <a:r>
              <a:rPr lang="zh-CN" altLang="en-US" dirty="0" smtClean="0"/>
              <a:t>连续</a:t>
            </a:r>
            <a:r>
              <a:rPr lang="zh-CN" altLang="en-US" dirty="0"/>
              <a:t>活跃用户：昨天和今天都活跃的</a:t>
            </a:r>
            <a:r>
              <a:rPr lang="zh-CN" altLang="en-US" dirty="0" smtClean="0"/>
              <a:t>用户</a:t>
            </a:r>
            <a:endParaRPr lang="en-US" altLang="zh-CN" dirty="0" smtClean="0"/>
          </a:p>
          <a:p>
            <a:r>
              <a:rPr lang="zh-CN" altLang="en-US" dirty="0"/>
              <a:t>回流用户：今天活跃、昨天不活跃但以前活跃过的</a:t>
            </a:r>
            <a:r>
              <a:rPr lang="zh-CN" altLang="en-US" dirty="0" smtClean="0"/>
              <a:t>用户</a:t>
            </a:r>
            <a:endParaRPr lang="en-US" altLang="zh-CN" dirty="0" smtClean="0"/>
          </a:p>
          <a:p>
            <a:r>
              <a:rPr lang="zh-CN" altLang="en-US" dirty="0"/>
              <a:t>流失用户：连续</a:t>
            </a:r>
            <a:r>
              <a:rPr lang="en-US" altLang="zh-CN" dirty="0"/>
              <a:t>N</a:t>
            </a:r>
            <a:r>
              <a:rPr lang="zh-CN" altLang="en-US" dirty="0"/>
              <a:t>天不活跃</a:t>
            </a:r>
            <a:r>
              <a:rPr lang="zh-CN" altLang="en-US" dirty="0" smtClean="0"/>
              <a:t>用户</a:t>
            </a:r>
            <a:endParaRPr lang="en-US" altLang="zh-CN" dirty="0" smtClean="0"/>
          </a:p>
          <a:p>
            <a:r>
              <a:rPr lang="zh-CN" altLang="en-US" dirty="0"/>
              <a:t>沉默用户：最近几天活跃过但是当天不活跃用户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188640"/>
            <a:ext cx="7772400" cy="648071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 smtClean="0"/>
              <a:t>用户类指标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活跃用户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879103"/>
            <a:ext cx="8928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457200">
              <a:defRPr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活跃用户反映了业务当前的用户规模（每个决策者、产品人员、运营人员都应该关注的，至少别人问你你要知道自己产品的用户量大概是多少）、所处发展阶段（通过活跃用户发展趋势结合行业分析），同时，也是整个业务价值变现的基础。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7504" y="4737918"/>
            <a:ext cx="892899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457200">
              <a:defRPr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常见的统计期间主要有日（</a:t>
            </a:r>
            <a:r>
              <a:rPr lang="en-US" altLang="zh-CN" dirty="0"/>
              <a:t>DAU</a:t>
            </a:r>
            <a:r>
              <a:rPr lang="zh-CN" altLang="en-US" dirty="0"/>
              <a:t>）、周（</a:t>
            </a:r>
            <a:r>
              <a:rPr lang="en-US" altLang="zh-CN" dirty="0"/>
              <a:t>WAU</a:t>
            </a:r>
            <a:r>
              <a:rPr lang="zh-CN" altLang="en-US" dirty="0"/>
              <a:t>）、月（</a:t>
            </a:r>
            <a:r>
              <a:rPr lang="en-US" altLang="zh-CN" dirty="0"/>
              <a:t>MAU</a:t>
            </a:r>
            <a:r>
              <a:rPr lang="zh-CN" altLang="en-US" dirty="0"/>
              <a:t>），都会将用户剔重，不同类型业务关注的活跃用户统计期间有所差别，如高频业务（如微信、</a:t>
            </a:r>
            <a:r>
              <a:rPr lang="en-US" altLang="zh-CN" dirty="0"/>
              <a:t>QQ</a:t>
            </a:r>
            <a:r>
              <a:rPr lang="zh-CN" altLang="en-US" dirty="0"/>
              <a:t>）更关注日活跃用户，低频业务更关注周、月活跃用户（如团购、工具型应用等）。 </a:t>
            </a:r>
            <a:endParaRPr lang="en-US" altLang="zh-CN" dirty="0" smtClean="0"/>
          </a:p>
          <a:p>
            <a:r>
              <a:rPr lang="zh-CN" altLang="en-US" dirty="0" smtClean="0"/>
              <a:t>除了</a:t>
            </a:r>
            <a:r>
              <a:rPr lang="zh-CN" altLang="en-US" dirty="0"/>
              <a:t>活跃用户规模指标外，还有一些体现活跃用户活跃度的指标，包括启动次数、活跃天数、使用时长、访问间隔等，体现了用户的活跃程度，这些指标主要看其用户分布情况。</a:t>
            </a:r>
            <a:endParaRPr lang="en-US" altLang="zh-CN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737" y="1916832"/>
            <a:ext cx="6486525" cy="2466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188640"/>
            <a:ext cx="7772400" cy="648071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 smtClean="0"/>
              <a:t>用户类指标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新增用户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893619"/>
            <a:ext cx="89289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457200">
              <a:defRPr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新增用户主要是靠各个渠道推广来获取的，如各个应用商店、搜索引擎、微信微博等，拉新也是运营人员的主要工作之一，这时候就要关注各个渠道拉新的效率，关注每个渠道的投资收益率，这时候就需要关注不同渠道的新增用户数和用户获取成本。除了关注渠道效益外，还要稽核渠道带来的用户的质量，这时候新增用户留存率就是一个很好的衡量指标，留存率高的渠道显然用户质量要高很多，防止渠道作弊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564904"/>
            <a:ext cx="5486400" cy="2257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1520" y="5085184"/>
            <a:ext cx="86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457200">
              <a:defRPr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新增用户统计期间主要有日、周、月，用户进行剔重，其它相关指标还有新增用户占活跃用户比例、新增用户市场占比等。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188640"/>
            <a:ext cx="7772400" cy="648071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 smtClean="0"/>
              <a:t>用户类指标</a:t>
            </a:r>
            <a:r>
              <a:rPr lang="en-US" altLang="zh-CN" dirty="0" smtClean="0"/>
              <a:t>—</a:t>
            </a:r>
            <a:r>
              <a:rPr lang="zh-CN" altLang="en-US" dirty="0"/>
              <a:t>留存</a:t>
            </a:r>
            <a:r>
              <a:rPr lang="zh-CN" altLang="en-US" dirty="0" smtClean="0"/>
              <a:t>用户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893619"/>
            <a:ext cx="89289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457200">
              <a:defRPr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留存用户指新增用户中后续还活跃的用户，如果用户只是不断新增，不断流失，用户规模基本没啥变化，显然这是没有任何意义的，用户大进大出，没有啥粘性。我们千辛万苦将用户拉进来，肯定都想他们能够更多的沉淀下来，这时候留存用户特别是留存率就是一个理想的衡量指标了，留存率往往反映了我们产品的质量、运营的效果和用户的</a:t>
            </a:r>
            <a:r>
              <a:rPr lang="zh-CN" altLang="en-US" dirty="0" smtClean="0"/>
              <a:t>粘性</a:t>
            </a:r>
            <a:r>
              <a:rPr lang="zh-CN" altLang="en-US" dirty="0"/>
              <a:t>。</a:t>
            </a:r>
            <a:endParaRPr lang="en-US" altLang="zh-CN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51520" y="5373216"/>
            <a:ext cx="864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457200">
              <a:defRPr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一般比较关注的是次日留存率、</a:t>
            </a:r>
            <a:r>
              <a:rPr lang="en-US" altLang="zh-CN" dirty="0"/>
              <a:t>3</a:t>
            </a:r>
            <a:r>
              <a:rPr lang="zh-CN" altLang="en-US" dirty="0"/>
              <a:t>日留存、</a:t>
            </a:r>
            <a:r>
              <a:rPr lang="en-US" altLang="zh-CN" dirty="0"/>
              <a:t>7</a:t>
            </a:r>
            <a:r>
              <a:rPr lang="zh-CN" altLang="en-US" dirty="0"/>
              <a:t>日留存率、</a:t>
            </a:r>
            <a:r>
              <a:rPr lang="en-US" altLang="zh-CN" dirty="0"/>
              <a:t>15</a:t>
            </a:r>
            <a:r>
              <a:rPr lang="zh-CN" altLang="en-US" dirty="0"/>
              <a:t>日留存率、</a:t>
            </a:r>
            <a:r>
              <a:rPr lang="en-US" altLang="zh-CN" dirty="0"/>
              <a:t>30</a:t>
            </a:r>
            <a:r>
              <a:rPr lang="zh-CN" altLang="en-US" dirty="0"/>
              <a:t>日留存率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" y="2380084"/>
            <a:ext cx="8286750" cy="2705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188640"/>
            <a:ext cx="7772400" cy="648071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 smtClean="0"/>
              <a:t>用户类指标</a:t>
            </a:r>
            <a:r>
              <a:rPr lang="en-US" altLang="zh-CN" dirty="0" smtClean="0"/>
              <a:t>—</a:t>
            </a:r>
            <a:r>
              <a:rPr lang="zh-CN" altLang="en-US" dirty="0"/>
              <a:t>留存</a:t>
            </a:r>
            <a:r>
              <a:rPr lang="zh-CN" altLang="en-US" dirty="0" smtClean="0"/>
              <a:t>用户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1197907"/>
            <a:ext cx="89289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457200">
              <a:defRPr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留存率主要在于比较，可以从以下几个方面解读留存率：</a:t>
            </a:r>
            <a:endParaRPr lang="zh-CN" altLang="en-US" dirty="0"/>
          </a:p>
          <a:p>
            <a:r>
              <a:rPr lang="en-US" altLang="zh-CN" dirty="0" smtClean="0"/>
              <a:t>1</a:t>
            </a:r>
            <a:r>
              <a:rPr lang="zh-CN" altLang="en-US" dirty="0"/>
              <a:t>）对比竞品和自有产品的留存率，留存率的高低能够反映出产品质量的好坏，特别是次日留存率、</a:t>
            </a:r>
            <a:r>
              <a:rPr lang="en-US" altLang="zh-CN" dirty="0"/>
              <a:t>3</a:t>
            </a:r>
            <a:r>
              <a:rPr lang="zh-CN" altLang="en-US" dirty="0"/>
              <a:t>日留存率（研究表明大部分用户会在</a:t>
            </a:r>
            <a:r>
              <a:rPr lang="en-US" altLang="zh-CN" dirty="0"/>
              <a:t>1-3</a:t>
            </a:r>
            <a:r>
              <a:rPr lang="zh-CN" altLang="en-US" dirty="0"/>
              <a:t>日内卸载应用）；</a:t>
            </a:r>
            <a:endParaRPr lang="zh-CN" altLang="en-US" dirty="0"/>
          </a:p>
          <a:p>
            <a:r>
              <a:rPr lang="en-US" altLang="zh-CN" dirty="0" smtClean="0"/>
              <a:t>2</a:t>
            </a:r>
            <a:r>
              <a:rPr lang="zh-CN" altLang="en-US" dirty="0"/>
              <a:t>）对比不同渠道的留存率，评估不同渠道带来用户的质量，如果某个渠道带来的用户留存率明显偏低，则要怀疑这个渠道是否存在造假；</a:t>
            </a:r>
            <a:endParaRPr lang="zh-CN" altLang="en-US" dirty="0"/>
          </a:p>
          <a:p>
            <a:r>
              <a:rPr lang="en-US" altLang="zh-CN" dirty="0" smtClean="0"/>
              <a:t>3</a:t>
            </a:r>
            <a:r>
              <a:rPr lang="zh-CN" altLang="en-US" dirty="0"/>
              <a:t>）对比留存率时间趋势，评估新增用户质量是否变化，按日观察留存率趋势，如果某天留存率突然下降，则要考虑是不是当天新增用户质量有问题；</a:t>
            </a:r>
            <a:endParaRPr lang="zh-CN" altLang="en-US" dirty="0"/>
          </a:p>
          <a:p>
            <a:r>
              <a:rPr lang="en-US" altLang="zh-CN" dirty="0" smtClean="0"/>
              <a:t>4</a:t>
            </a:r>
            <a:r>
              <a:rPr lang="zh-CN" altLang="en-US" dirty="0"/>
              <a:t>）对比产品不同版本留存率，评估不同版本的质量，特别是对于新迭代的版本，更要关注次日留存等指标，如果明显低于老版本，则要考虑是否迭代后不能满足用户需求，需要改进优化；</a:t>
            </a:r>
            <a:endParaRPr lang="zh-CN" altLang="en-US" dirty="0"/>
          </a:p>
          <a:p>
            <a:r>
              <a:rPr lang="en-US" altLang="zh-CN" dirty="0" smtClean="0"/>
              <a:t>5</a:t>
            </a:r>
            <a:r>
              <a:rPr lang="zh-CN" altLang="en-US" dirty="0"/>
              <a:t>）通过留存率曲线评估产品好坏，留存率曲线是一条开始很陡峭、后面很平滑的曲线，如果产品的留存率曲线一直都很陡峭，最后维持在一个很低的值，则产品质量可能是有问题的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6</a:t>
            </a:r>
            <a:r>
              <a:rPr lang="zh-CN" altLang="en-US" dirty="0"/>
              <a:t>）对比产品各功能模块的留存率，比如点击某个按钮的用户其随后的留存，以观察用户对产品各功能的粘性，也需结合各功能的使用频次。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188640"/>
            <a:ext cx="7772400" cy="648071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 smtClean="0"/>
              <a:t>用户类指标</a:t>
            </a:r>
            <a:r>
              <a:rPr lang="en-US" altLang="zh-CN" dirty="0" smtClean="0"/>
              <a:t>—</a:t>
            </a:r>
            <a:r>
              <a:rPr lang="zh-CN" altLang="en-US" dirty="0"/>
              <a:t>流失</a:t>
            </a:r>
            <a:r>
              <a:rPr lang="zh-CN" altLang="en-US" dirty="0" smtClean="0"/>
              <a:t>用户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893619"/>
            <a:ext cx="8928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457200">
              <a:defRPr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流失用户指某个期间连续不活跃的用户，当然在不同行业有不同的定义，对于互联网行业来说，基本流失用户都是指连续</a:t>
            </a:r>
            <a:r>
              <a:rPr lang="en-US" altLang="zh-CN" dirty="0"/>
              <a:t>N</a:t>
            </a:r>
            <a:r>
              <a:rPr lang="zh-CN" altLang="en-US" dirty="0"/>
              <a:t>天不活跃用户。流失用户反映了产品对用户的粘性和业务所处发展阶段，当然是一个不好的指标，但是能够给我们预警，警惕并挽留将要流失的用户。</a:t>
            </a:r>
            <a:endParaRPr lang="en-US" altLang="zh-CN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51520" y="5085184"/>
            <a:ext cx="86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457200">
              <a:defRPr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跟流失用户紧密相关的另一个指标当然就是流失率，常见流失率也主要分为</a:t>
            </a:r>
            <a:r>
              <a:rPr lang="en-US" altLang="zh-CN" dirty="0"/>
              <a:t>7</a:t>
            </a:r>
            <a:r>
              <a:rPr lang="zh-CN" altLang="en-US" dirty="0"/>
              <a:t>日流失率、</a:t>
            </a:r>
            <a:r>
              <a:rPr lang="en-US" altLang="zh-CN" dirty="0"/>
              <a:t>15</a:t>
            </a:r>
            <a:r>
              <a:rPr lang="zh-CN" altLang="en-US" dirty="0"/>
              <a:t>日流失率、</a:t>
            </a:r>
            <a:r>
              <a:rPr lang="en-US" altLang="zh-CN" dirty="0"/>
              <a:t>30</a:t>
            </a:r>
            <a:r>
              <a:rPr lang="zh-CN" altLang="en-US" dirty="0"/>
              <a:t>日流失率，怎么使用流失率这个指标，其实跟留存率差不多，主要在于对比，对比不同渠道、不同产品、不同版本的流失率来发现问题。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175" y="2492896"/>
            <a:ext cx="6343650" cy="2257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188640"/>
            <a:ext cx="7772400" cy="648071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 smtClean="0"/>
              <a:t>业务量类指标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893619"/>
            <a:ext cx="8928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457200">
              <a:defRPr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业务量类指标是包含指标最广泛的指标大类，包括用户几乎所有的使用行为，如功能按钮点击、页面浏览、业务使用等，业务量类指标是一个业务的价值承载，反映了业务的用户忠诚度和活跃度。</a:t>
            </a:r>
            <a:endParaRPr lang="en-US" altLang="zh-CN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64" y="1916832"/>
            <a:ext cx="7448872" cy="40195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188640"/>
            <a:ext cx="7772400" cy="648071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 smtClean="0"/>
              <a:t>衍生类指标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893619"/>
            <a:ext cx="8928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457200">
              <a:defRPr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当然除了以上三大类指标外，还有其他很多个性化的指标，还有很多衍生性指标，包括环比、同比、定比、占比、综合性指标等，有时候这些衍生指标比指标本身更具有代表意义。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1916832"/>
            <a:ext cx="8420100" cy="3648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188640"/>
            <a:ext cx="7772400" cy="648071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 smtClean="0"/>
              <a:t>指标细分</a:t>
            </a:r>
            <a:endParaRPr lang="zh-CN" altLang="en-US" dirty="0"/>
          </a:p>
        </p:txBody>
      </p:sp>
      <p:pic>
        <p:nvPicPr>
          <p:cNvPr id="6146" name="Picture 2" descr="http://s12.sinaimg.cn/large/002k0G1Vzy76FNBkySv8b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980728"/>
            <a:ext cx="9048750" cy="568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504" y="188640"/>
            <a:ext cx="7772400" cy="648071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 smtClean="0"/>
              <a:t>指标构建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79512" y="799544"/>
            <a:ext cx="87849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业务的运营指标体系的最终呈现肯定是产品化、平台化，建成相应的系统平台让决策人员、业务人员等去查看，比如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DW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平台、仪表盘，以前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BI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就主要是做这部分工作，里面的各个报表、指标就是业务人员能够监控到的业务的方方面面。要构建好的业务运营指标体系，主要需要注意一下几点：指标体系一定是立足于业务的，指标体系一定是结构化的，指标体系需要有良好的可视化。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916" y="2924944"/>
            <a:ext cx="3924300" cy="2257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ZTQyN2NhNTE5NzU0NTUzN2YxYTlmYWRhNWNmNmQ3ZT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3287</Words>
  <Application>WPS 演示</Application>
  <PresentationFormat>全屏显示(4:3)</PresentationFormat>
  <Paragraphs>109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仿宋</vt:lpstr>
      <vt:lpstr>Calibri</vt:lpstr>
      <vt:lpstr>微软雅黑</vt:lpstr>
      <vt:lpstr>Arial Unicode MS</vt:lpstr>
      <vt:lpstr>Office 主题</vt:lpstr>
      <vt:lpstr>业务指标体系</vt:lpstr>
      <vt:lpstr>移动APP—AARRR</vt:lpstr>
      <vt:lpstr>端游—PRAPA</vt:lpstr>
      <vt:lpstr>APP指标体系</vt:lpstr>
      <vt:lpstr>业务指标体系—RUN指标体系</vt:lpstr>
      <vt:lpstr>业务指标体系—收入类指标</vt:lpstr>
      <vt:lpstr>收入类指标—收入（流水）</vt:lpstr>
      <vt:lpstr>收入类指标—收入（出账收入）</vt:lpstr>
      <vt:lpstr>收入类指标—ARPU和ARPPU</vt:lpstr>
      <vt:lpstr>收入类指标—LTV</vt:lpstr>
      <vt:lpstr>业务指标体系—用户类指标</vt:lpstr>
      <vt:lpstr>用户类指标—用户结构</vt:lpstr>
      <vt:lpstr>用户类指标—活跃用户</vt:lpstr>
      <vt:lpstr>用户类指标—新增用户</vt:lpstr>
      <vt:lpstr>用户类指标—留存用户</vt:lpstr>
      <vt:lpstr>用户类指标—留存用户</vt:lpstr>
      <vt:lpstr>用户类指标—流失用户</vt:lpstr>
      <vt:lpstr>业务量类指标</vt:lpstr>
      <vt:lpstr>衍生类指标</vt:lpstr>
      <vt:lpstr>指标细分</vt:lpstr>
      <vt:lpstr>指标构建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业务指标体系</dc:title>
  <dc:creator>lenovo</dc:creator>
  <cp:lastModifiedBy>风巽擎天＠</cp:lastModifiedBy>
  <cp:revision>28</cp:revision>
  <dcterms:created xsi:type="dcterms:W3CDTF">2018-12-20T02:45:00Z</dcterms:created>
  <dcterms:modified xsi:type="dcterms:W3CDTF">2024-08-28T03:32:23Z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74CCB00A3C794FB9A1C044BECB2B1CB4_12</vt:lpwstr>
  </property>
  <property fmtid="{D5CDD505-2E9C-101B-9397-08002B2CF9AE}" pid="3" name="KSOProductBuildVer">
    <vt:lpwstr>2052-12.1.0.17857</vt:lpwstr>
  </property>
</Properties>
</file>