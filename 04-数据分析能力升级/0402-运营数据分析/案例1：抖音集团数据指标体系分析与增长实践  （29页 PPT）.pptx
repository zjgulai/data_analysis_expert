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</p:sldIdLst>
  <p:sldSz cx="9144000" cy="51435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26.jpeg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26.jpeg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318000" y="462043"/>
            <a:ext cx="3825999" cy="4668756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73214" y="1853894"/>
            <a:ext cx="4573904" cy="9436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indent="1905" algn="l" rtl="0" eaLnBrk="0">
              <a:lnSpc>
                <a:spcPct val="97000"/>
              </a:lnSpc>
            </a:pPr>
            <a:r>
              <a:rPr sz="3100" b="1" kern="0" spc="47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抖音集团数据指标体系</a:t>
            </a:r>
            <a:r>
              <a:rPr sz="3100" b="1" kern="0" spc="7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100" b="1" kern="0" spc="45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分析与增长实践</a:t>
            </a:r>
            <a:endParaRPr lang="en-US" altLang="en-US" sz="3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1677" y="505435"/>
            <a:ext cx="1218993" cy="29731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53467" y="537380"/>
            <a:ext cx="1090079" cy="246673"/>
          </a:xfrm>
          <a:prstGeom prst="rect">
            <a:avLst/>
          </a:prstGeom>
        </p:spPr>
      </p:pic>
      <p:sp>
        <p:nvSpPr>
          <p:cNvPr id="12" name="path"/>
          <p:cNvSpPr/>
          <p:nvPr/>
        </p:nvSpPr>
        <p:spPr>
          <a:xfrm>
            <a:off x="636355" y="3359467"/>
            <a:ext cx="4151707" cy="43179"/>
          </a:xfrm>
          <a:custGeom>
            <a:avLst/>
            <a:gdLst/>
            <a:ahLst/>
            <a:cxnLst/>
            <a:rect l="0" t="0" r="0" b="0"/>
            <a:pathLst>
              <a:path w="6538" h="67">
                <a:moveTo>
                  <a:pt x="0" y="60"/>
                </a:moveTo>
                <a:lnTo>
                  <a:pt x="6538" y="7"/>
                </a:lnTo>
              </a:path>
            </a:pathLst>
          </a:custGeom>
          <a:noFill/>
          <a:ln w="9525" cap="flat">
            <a:solidFill>
              <a:srgbClr val="40404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textbox 14"/>
          <p:cNvSpPr/>
          <p:nvPr/>
        </p:nvSpPr>
        <p:spPr>
          <a:xfrm>
            <a:off x="2325446" y="564895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/>
          <p:nvPr/>
        </p:nvSpPr>
        <p:spPr>
          <a:xfrm>
            <a:off x="1719619" y="3203625"/>
            <a:ext cx="5799454" cy="4540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5300" b="1" kern="0" spc="30" baseline="-15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3400" b="1" kern="0" spc="-4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30" baseline="17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设计策略增长优化</a:t>
            </a:r>
            <a:r>
              <a:rPr sz="1700" b="1" kern="0" spc="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1700" b="1" kern="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300" b="1" kern="0" spc="30" baseline="-15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5300" b="1" kern="0" spc="20" baseline="-15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3400" b="1" kern="0" spc="-4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20" baseline="17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字节内部案例实践</a:t>
            </a:r>
            <a:endParaRPr lang="en-US" altLang="en-US" sz="2700" baseline="17000" dirty="0"/>
          </a:p>
        </p:txBody>
      </p:sp>
      <p:sp>
        <p:nvSpPr>
          <p:cNvPr id="18" name="textbox 18"/>
          <p:cNvSpPr/>
          <p:nvPr/>
        </p:nvSpPr>
        <p:spPr>
          <a:xfrm>
            <a:off x="3676406" y="843177"/>
            <a:ext cx="1764664" cy="6324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587375" algn="l" rtl="0" eaLnBrk="0">
              <a:lnSpc>
                <a:spcPct val="82000"/>
              </a:lnSpc>
            </a:pPr>
            <a:r>
              <a:rPr sz="24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altLang="en-US" sz="2400" dirty="0"/>
          </a:p>
          <a:p>
            <a:pPr marL="12700" algn="l" rtl="0" eaLnBrk="0">
              <a:lnSpc>
                <a:spcPct val="83000"/>
              </a:lnSpc>
              <a:spcBef>
                <a:spcPts val="30"/>
              </a:spcBef>
            </a:pPr>
            <a:r>
              <a:rPr sz="2400" b="1" kern="0" spc="2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</a:t>
            </a:r>
            <a:endParaRPr lang="en-US" altLang="en-US" sz="2400" dirty="0"/>
          </a:p>
        </p:txBody>
      </p:sp>
      <p:sp>
        <p:nvSpPr>
          <p:cNvPr id="20" name="textbox 20"/>
          <p:cNvSpPr/>
          <p:nvPr/>
        </p:nvSpPr>
        <p:spPr>
          <a:xfrm>
            <a:off x="5061713" y="1896490"/>
            <a:ext cx="2000250" cy="4565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5300" b="1" kern="0" spc="20" baseline="-1400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3400" b="1" kern="0" spc="-43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20" baseline="21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指标增长实践</a:t>
            </a:r>
            <a:endParaRPr lang="en-US" altLang="en-US" sz="2700" baseline="21000" dirty="0"/>
          </a:p>
        </p:txBody>
      </p:sp>
      <p:sp>
        <p:nvSpPr>
          <p:cNvPr id="22" name="textbox 22"/>
          <p:cNvSpPr/>
          <p:nvPr/>
        </p:nvSpPr>
        <p:spPr>
          <a:xfrm>
            <a:off x="1719619" y="1897404"/>
            <a:ext cx="2000250" cy="457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5300" b="1" kern="0" spc="20" baseline="-1300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3400" b="1" kern="0" spc="-43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20" baseline="21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构建指标体系</a:t>
            </a:r>
            <a:endParaRPr lang="en-US" altLang="en-US" sz="2700" baseline="21000" dirty="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318000" y="462043"/>
            <a:ext cx="3825999" cy="4668756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1359154" y="2327401"/>
            <a:ext cx="2375535" cy="5715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6100" b="1" kern="0" spc="10" baseline="-1700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3900" b="1" kern="0" spc="64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kern="0" spc="10" baseline="30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构建指标体系</a:t>
            </a:r>
            <a:endParaRPr lang="en-US" altLang="en-US" sz="3000" baseline="30000" dirty="0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5147" y="257175"/>
            <a:ext cx="1218993" cy="297315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93727" y="281842"/>
            <a:ext cx="1090079" cy="246672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1865706" y="321055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5800" y="737900"/>
            <a:ext cx="7772400" cy="366769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410462" y="326313"/>
            <a:ext cx="1393825" cy="271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指标拆解思路</a:t>
            </a:r>
            <a:endParaRPr lang="en-US" altLang="en-US" sz="1800" dirty="0"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446834" y="298465"/>
            <a:ext cx="1780838" cy="3691011"/>
          </a:xfrm>
          <a:prstGeom prst="rect">
            <a:avLst/>
          </a:prstGeom>
        </p:spPr>
      </p:pic>
      <p:graphicFrame>
        <p:nvGraphicFramePr>
          <p:cNvPr id="52" name="table 52"/>
          <p:cNvGraphicFramePr>
            <a:graphicFrameLocks noGrp="1"/>
          </p:cNvGraphicFramePr>
          <p:nvPr/>
        </p:nvGraphicFramePr>
        <p:xfrm>
          <a:off x="360108" y="3027197"/>
          <a:ext cx="5724525" cy="668655"/>
        </p:xfrm>
        <a:graphic>
          <a:graphicData uri="http://schemas.openxmlformats.org/drawingml/2006/table">
            <a:tbl>
              <a:tblPr/>
              <a:tblGrid>
                <a:gridCol w="1087755"/>
                <a:gridCol w="4636770"/>
              </a:tblGrid>
              <a:tr h="6686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"/>
                        </a:lnSpc>
                      </a:pPr>
                      <a:endParaRPr lang="en-US" altLang="en-US" sz="100" dirty="0"/>
                    </a:p>
                    <a:p>
                      <a:pPr marL="78740" indent="60325" algn="l" rtl="0" eaLnBrk="0">
                        <a:lnSpc>
                          <a:spcPct val="102000"/>
                        </a:lnSpc>
                      </a:pPr>
                      <a:r>
                        <a:rPr sz="1400" b="1" kern="0" spc="-1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外卖GMV</a:t>
                      </a:r>
                      <a:r>
                        <a:rPr sz="1400" b="1" kern="0" spc="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1200" b="1" kern="0" spc="-8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（销售总额）</a:t>
                      </a:r>
                      <a:endParaRPr lang="en-US" altLang="en-US" sz="1200" dirty="0"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lang="en-US" altLang="en-US" sz="100" dirty="0"/>
                    </a:p>
                    <a:p>
                      <a:pPr marL="158115" algn="l" rtl="0" eaLnBrk="0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 外卖付费用户数 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Segoe UI Symbol" panose="020B0502040204020203"/>
                          <a:ea typeface="Segoe UI Symbol" panose="020B0502040204020203"/>
                          <a:cs typeface="Segoe UI Symbol" panose="020B0502040204020203"/>
                        </a:rPr>
                        <a:t>✕</a:t>
                      </a:r>
                      <a:r>
                        <a:rPr sz="1100" kern="0" spc="2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Segoe UI Symbol" panose="020B0502040204020203"/>
                          <a:ea typeface="Segoe UI Symbol" panose="020B0502040204020203"/>
                          <a:cs typeface="Segoe UI Symbol" panose="020B0502040204020203"/>
                        </a:rPr>
                        <a:t> 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客单价</a:t>
                      </a:r>
                      <a:endParaRPr lang="en-US" altLang="en-US" sz="1100" dirty="0"/>
                    </a:p>
                    <a:p>
                      <a:pPr marL="158115" algn="l" rtl="0" eaLnBrk="0">
                        <a:lnSpc>
                          <a:spcPts val="1420"/>
                        </a:lnSpc>
                        <a:spcBef>
                          <a:spcPts val="490"/>
                        </a:spcBef>
                      </a:pPr>
                      <a:r>
                        <a:rPr sz="1100" kern="0" spc="-3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=（</a:t>
                      </a:r>
                      <a:r>
                        <a:rPr sz="1100" kern="0" spc="29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-3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新用户消费  +</a:t>
                      </a:r>
                      <a:r>
                        <a:rPr sz="1100" kern="0" spc="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100" kern="0" spc="-3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老用户消费</a:t>
                      </a:r>
                      <a:r>
                        <a:rPr sz="1100" kern="0" spc="2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100" kern="0" spc="-3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r>
                        <a:rPr sz="1100" kern="0" spc="-2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-3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Segoe UI Symbol" panose="020B0502040204020203"/>
                          <a:ea typeface="Segoe UI Symbol" panose="020B0502040204020203"/>
                          <a:cs typeface="Segoe UI Symbol" panose="020B0502040204020203"/>
                        </a:rPr>
                        <a:t>✕</a:t>
                      </a:r>
                      <a:r>
                        <a:rPr sz="1100" kern="0" spc="3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Segoe UI Symbol" panose="020B0502040204020203"/>
                          <a:ea typeface="Segoe UI Symbol" panose="020B0502040204020203"/>
                          <a:cs typeface="Segoe UI Symbol" panose="020B0502040204020203"/>
                        </a:rPr>
                        <a:t>  </a:t>
                      </a:r>
                      <a:r>
                        <a:rPr sz="1100" kern="0" spc="-3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客单</a:t>
                      </a:r>
                      <a:r>
                        <a:rPr sz="1100" kern="0" spc="-4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价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400" dirty="0"/>
                    </a:p>
                    <a:p>
                      <a:pPr algn="r" rtl="0" eaLnBrk="0">
                        <a:lnSpc>
                          <a:spcPts val="1365"/>
                        </a:lnSpc>
                        <a:spcBef>
                          <a:spcPts val="5"/>
                        </a:spcBef>
                      </a:pP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 ( 新用户UV 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Segoe UI Symbol" panose="020B0502040204020203"/>
                          <a:ea typeface="Segoe UI Symbol" panose="020B0502040204020203"/>
                          <a:cs typeface="Segoe UI Symbol" panose="020B0502040204020203"/>
                        </a:rPr>
                        <a:t>✕ 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新用户激活率</a:t>
                      </a:r>
                      <a:r>
                        <a:rPr sz="1100" kern="0" spc="6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 老用户UV</a:t>
                      </a:r>
                      <a:r>
                        <a:rPr sz="1100" kern="0" spc="7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Segoe UI Symbol" panose="020B0502040204020203"/>
                          <a:ea typeface="Segoe UI Symbol" panose="020B0502040204020203"/>
                          <a:cs typeface="Segoe UI Symbol" panose="020B0502040204020203"/>
                        </a:rPr>
                        <a:t>✕</a:t>
                      </a:r>
                      <a:r>
                        <a:rPr sz="1100" kern="0" spc="8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Segoe UI Symbol" panose="020B0502040204020203"/>
                          <a:ea typeface="Segoe UI Symbol" panose="020B0502040204020203"/>
                          <a:cs typeface="Segoe UI Symbol" panose="020B0502040204020203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留存率</a:t>
                      </a:r>
                      <a:r>
                        <a:rPr sz="1100" kern="0" spc="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r>
                        <a:rPr sz="1100" kern="0" spc="5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Segoe UI Symbol" panose="020B0502040204020203"/>
                          <a:ea typeface="Segoe UI Symbol" panose="020B0502040204020203"/>
                          <a:cs typeface="Segoe UI Symbol" panose="020B0502040204020203"/>
                        </a:rPr>
                        <a:t>✕</a:t>
                      </a:r>
                      <a:r>
                        <a:rPr sz="1100" kern="0" spc="3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Segoe UI Symbol" panose="020B0502040204020203"/>
                          <a:ea typeface="Segoe UI Symbol" panose="020B0502040204020203"/>
                          <a:cs typeface="Segoe UI Symbol" panose="020B0502040204020203"/>
                        </a:rPr>
                        <a:t> </a:t>
                      </a:r>
                      <a:r>
                        <a:rPr sz="1100" kern="0" spc="-1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外卖</a:t>
                      </a:r>
                      <a:r>
                        <a:rPr sz="1100" kern="0" spc="-20" dirty="0">
                          <a:solidFill>
                            <a:srgbClr val="2C2D4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页抵达</a:t>
                      </a:r>
                      <a:endParaRPr lang="en-US" altLang="en-US" sz="1100" dirty="0"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4" name="textbox 54"/>
          <p:cNvSpPr/>
          <p:nvPr/>
        </p:nvSpPr>
        <p:spPr>
          <a:xfrm>
            <a:off x="1607821" y="1345602"/>
            <a:ext cx="4054475" cy="4318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100" kern="0" spc="-2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 外卖GMV</a:t>
            </a:r>
            <a:r>
              <a:rPr sz="1100" kern="0" spc="14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-2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电商G</a:t>
            </a:r>
            <a:r>
              <a:rPr sz="1100" kern="0" spc="-3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</a:t>
            </a:r>
            <a:endParaRPr lang="en-US" altLang="en-US" sz="1100" dirty="0"/>
          </a:p>
          <a:p>
            <a:pPr algn="l" rtl="0" eaLnBrk="0">
              <a:lnSpc>
                <a:spcPct val="115000"/>
              </a:lnSpc>
            </a:pPr>
            <a:endParaRPr lang="en-US" altLang="en-US" sz="600" dirty="0"/>
          </a:p>
          <a:p>
            <a:pPr marL="12700" algn="l" rtl="0" eaLnBrk="0">
              <a:lnSpc>
                <a:spcPct val="90000"/>
              </a:lnSpc>
              <a:spcBef>
                <a:spcPts val="0"/>
              </a:spcBef>
            </a:pPr>
            <a:r>
              <a:rPr sz="1100" kern="0" spc="-5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sz="1100" kern="0" spc="11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-5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（外卖付费用户数</a:t>
            </a:r>
            <a:r>
              <a:rPr sz="1100" kern="0" spc="5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-50" dirty="0">
                <a:solidFill>
                  <a:srgbClr val="2C2D46">
                    <a:alpha val="100000"/>
                  </a:srgbClr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✕  </a:t>
            </a:r>
            <a:r>
              <a:rPr sz="1100" kern="0" spc="-5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</a:t>
            </a:r>
            <a:r>
              <a:rPr sz="1100" kern="0" spc="-6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单价）  +</a:t>
            </a:r>
            <a:r>
              <a:rPr sz="1100" kern="0" spc="12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-6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（电商付费用户数 </a:t>
            </a:r>
            <a:r>
              <a:rPr sz="1100" kern="0" spc="-60" dirty="0">
                <a:solidFill>
                  <a:srgbClr val="2C2D46">
                    <a:alpha val="100000"/>
                  </a:srgbClr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✕  </a:t>
            </a:r>
            <a:r>
              <a:rPr sz="1100" kern="0" spc="-6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客单价）</a:t>
            </a:r>
            <a:endParaRPr lang="en-US" altLang="en-US" sz="1100" dirty="0"/>
          </a:p>
        </p:txBody>
      </p:sp>
      <p:sp>
        <p:nvSpPr>
          <p:cNvPr id="56" name="textbox 56"/>
          <p:cNvSpPr/>
          <p:nvPr/>
        </p:nvSpPr>
        <p:spPr>
          <a:xfrm>
            <a:off x="263892" y="1402003"/>
            <a:ext cx="1127125" cy="4203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347345" algn="l" rtl="0" eaLnBrk="0">
              <a:lnSpc>
                <a:spcPct val="84000"/>
              </a:lnSpc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GMV</a:t>
            </a:r>
            <a:endParaRPr lang="en-US" altLang="en-US" sz="1400" dirty="0"/>
          </a:p>
          <a:p>
            <a:pPr marL="98425" algn="l" rtl="0" eaLnBrk="0">
              <a:lnSpc>
                <a:spcPct val="96000"/>
              </a:lnSpc>
              <a:spcBef>
                <a:spcPts val="200"/>
              </a:spcBef>
            </a:pPr>
            <a:r>
              <a:rPr sz="13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（销售总额）</a:t>
            </a:r>
            <a:endParaRPr lang="en-US" altLang="en-US" sz="1300" dirty="0"/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410233" y="327456"/>
            <a:ext cx="1623060" cy="2705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北极星指标拆解</a:t>
            </a:r>
            <a:endParaRPr lang="en-US" altLang="en-US" sz="1800" dirty="0"/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1579760" y="3786212"/>
            <a:ext cx="1673860" cy="1765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100" kern="0" spc="-1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 </a:t>
            </a:r>
            <a:r>
              <a:rPr sz="1100" kern="0" spc="-10" dirty="0">
                <a:solidFill>
                  <a:srgbClr val="2C2D46">
                    <a:alpha val="100000"/>
                  </a:srgbClr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✕ </a:t>
            </a:r>
            <a:r>
              <a:rPr sz="1100" kern="0" spc="-1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购买转化率</a:t>
            </a:r>
            <a:r>
              <a:rPr sz="1100" kern="0" spc="11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-10" dirty="0">
                <a:solidFill>
                  <a:srgbClr val="2C2D46">
                    <a:alpha val="100000"/>
                  </a:srgbClr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✕</a:t>
            </a:r>
            <a:r>
              <a:rPr sz="1100" kern="0" spc="30" dirty="0">
                <a:solidFill>
                  <a:srgbClr val="2C2D46">
                    <a:alpha val="100000"/>
                  </a:srgbClr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 </a:t>
            </a:r>
            <a:r>
              <a:rPr sz="1100" kern="0" spc="-10" dirty="0">
                <a:solidFill>
                  <a:srgbClr val="2C2D4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客单价</a:t>
            </a:r>
            <a:endParaRPr lang="en-US" altLang="en-US" sz="1100" dirty="0"/>
          </a:p>
        </p:txBody>
      </p:sp>
      <p:sp>
        <p:nvSpPr>
          <p:cNvPr id="66" name="textbox 66"/>
          <p:cNvSpPr/>
          <p:nvPr/>
        </p:nvSpPr>
        <p:spPr>
          <a:xfrm>
            <a:off x="6782525" y="4136847"/>
            <a:ext cx="1075055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比价类APP示例</a:t>
            </a:r>
            <a:endParaRPr lang="en-US" altLang="en-US" sz="1200" dirty="0"/>
          </a:p>
        </p:txBody>
      </p:sp>
      <p:sp>
        <p:nvSpPr>
          <p:cNvPr id="68" name="textbox 68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4309765" y="101331"/>
          <a:ext cx="4576445" cy="4469131"/>
        </p:xfrm>
        <a:graphic>
          <a:graphicData uri="http://schemas.openxmlformats.org/drawingml/2006/table">
            <a:tbl>
              <a:tblPr/>
              <a:tblGrid>
                <a:gridCol w="1614805"/>
                <a:gridCol w="1576069"/>
                <a:gridCol w="1385569"/>
              </a:tblGrid>
              <a:tr h="2336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lang="en-US" altLang="en-US" sz="400" dirty="0"/>
                    </a:p>
                    <a:p>
                      <a:pPr marL="711835" algn="l" rtl="0" eaLnBrk="0">
                        <a:lnSpc>
                          <a:spcPct val="95000"/>
                        </a:lnSpc>
                      </a:pPr>
                      <a:r>
                        <a:rPr sz="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场景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400" dirty="0"/>
                    </a:p>
                    <a:p>
                      <a:pPr marL="58991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400" dirty="0"/>
                    </a:p>
                    <a:p>
                      <a:pPr marL="59436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维度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FF"/>
                    </a:solidFill>
                  </a:tcPr>
                </a:tc>
              </a:tr>
              <a:tr h="172720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</a:pPr>
                      <a:endParaRPr lang="en-US" altLang="en-US" sz="1000" dirty="0"/>
                    </a:p>
                    <a:p>
                      <a:pPr marL="55943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基础活跃类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altLang="en-US" sz="200" dirty="0"/>
                    </a:p>
                    <a:p>
                      <a:pPr marL="4254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活跃用户数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41275" algn="l" rtl="0" eaLnBrk="0">
                        <a:lnSpc>
                          <a:spcPct val="9400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渠道、入口来源、城市、省   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份、性别、年龄等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200" dirty="0"/>
                    </a:p>
                    <a:p>
                      <a:pPr marL="4127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新增用户数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200" dirty="0"/>
                    </a:p>
                    <a:p>
                      <a:pPr marL="4127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新用户留存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lang="en-US" altLang="en-US" sz="200" dirty="0"/>
                    </a:p>
                    <a:p>
                      <a:pPr marL="4064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平均访问深度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404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marL="48450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用户体验-产品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700" dirty="0"/>
                    </a:p>
                    <a:p>
                      <a:pPr marL="4318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外卖渗透率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lang="en-US" altLang="en-US" sz="300" dirty="0"/>
                    </a:p>
                    <a:p>
                      <a:pPr marL="41275" indent="1270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外卖活跃用户数/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App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整体活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跃用户数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484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43180" algn="l" rtl="0" eaLnBrk="0">
                        <a:lnSpc>
                          <a:spcPct val="9500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外卖页面跳出率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lang="en-US" altLang="en-US" sz="300" dirty="0"/>
                    </a:p>
                    <a:p>
                      <a:pPr marL="41275" indent="508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只访问了一个外卖页面的用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户/外卖页面所有的访问用户  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</a:pPr>
                      <a:endParaRPr lang="en-US" altLang="en-US" sz="200" dirty="0"/>
                    </a:p>
                    <a:p>
                      <a:pPr marL="4064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平均访问时长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200" dirty="0"/>
                    </a:p>
                    <a:p>
                      <a:pPr marL="4318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外卖高峰期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200" dirty="0"/>
                    </a:p>
                    <a:p>
                      <a:pPr marL="4064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在线人数最多的时候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lang="en-US" altLang="en-US" sz="1000" dirty="0"/>
                    </a:p>
                    <a:p>
                      <a:pPr marL="43370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用户体验-转化率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lang="en-US" altLang="en-US" sz="200" dirty="0"/>
                    </a:p>
                    <a:p>
                      <a:pPr marL="40640" algn="l" rtl="0" eaLnBrk="0">
                        <a:lnSpc>
                          <a:spcPct val="9500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购买转化率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4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marL="4254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外卖商家、食物分类、城市、</a:t>
                      </a: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省份、性别、年龄等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altLang="en-US" sz="200" dirty="0"/>
                    </a:p>
                    <a:p>
                      <a:pPr marL="4064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搜索转化率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lang="en-US" altLang="en-US" sz="200" dirty="0"/>
                    </a:p>
                    <a:p>
                      <a:pPr marL="4064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购物车转化率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lang="en-US" altLang="en-US" sz="200" dirty="0"/>
                    </a:p>
                    <a:p>
                      <a:pPr marL="41275" algn="l" rtl="0" eaLnBrk="0">
                        <a:lnSpc>
                          <a:spcPct val="9500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注册转化率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lang="en-US" altLang="en-US" sz="1000" dirty="0"/>
                    </a:p>
                    <a:p>
                      <a:pPr marL="61150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用户运营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lang="en-US" altLang="en-US" sz="200" dirty="0"/>
                    </a:p>
                    <a:p>
                      <a:pPr marL="4064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优惠券领取/使用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altLang="en-US" sz="200" dirty="0"/>
                    </a:p>
                    <a:p>
                      <a:pPr marL="4254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活动参与人数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lang="en-US" altLang="en-US" sz="200" dirty="0"/>
                    </a:p>
                    <a:p>
                      <a:pPr marL="4254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活动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GMV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2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lang="en-US" altLang="en-US" sz="200" dirty="0"/>
                    </a:p>
                    <a:p>
                      <a:pPr marL="4254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活动分享人数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lang="en-US" altLang="en-US" sz="200" dirty="0"/>
                    </a:p>
                    <a:p>
                      <a:pPr marL="4254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活动引流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561975" algn="l" rtl="0" eaLnBrk="0">
                        <a:lnSpc>
                          <a:spcPct val="9500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商品营收类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altLang="en-US" sz="200" dirty="0"/>
                    </a:p>
                    <a:p>
                      <a:pPr marL="42545" algn="l" rtl="0" eaLnBrk="0">
                        <a:lnSpc>
                          <a:spcPct val="96000"/>
                        </a:lnSpc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订单量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lang="en-US" altLang="en-US" sz="200" dirty="0"/>
                    </a:p>
                    <a:p>
                      <a:pPr marL="40640" algn="l" rtl="0" eaLnBrk="0">
                        <a:lnSpc>
                          <a:spcPct val="9500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购买金额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lang="en-US" altLang="en-US" sz="200" dirty="0"/>
                    </a:p>
                    <a:p>
                      <a:pPr marL="4191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客单价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200" dirty="0"/>
                    </a:p>
                    <a:p>
                      <a:pPr marL="4381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复购率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lang="en-US" altLang="en-US" sz="200" dirty="0"/>
                    </a:p>
                    <a:p>
                      <a:pPr marL="4127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退款量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2" name="textbox 72"/>
          <p:cNvSpPr/>
          <p:nvPr/>
        </p:nvSpPr>
        <p:spPr>
          <a:xfrm>
            <a:off x="2062711" y="1685544"/>
            <a:ext cx="1638935" cy="6191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4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产品运营情况如何？</a:t>
            </a:r>
            <a:endParaRPr lang="en-US" altLang="en-US" sz="1000" dirty="0"/>
          </a:p>
          <a:p>
            <a:pPr marL="12700" algn="l" rtl="0" eaLnBrk="0">
              <a:lnSpc>
                <a:spcPct val="90000"/>
              </a:lnSpc>
              <a:spcBef>
                <a:spcPts val="720"/>
              </a:spcBef>
            </a:pPr>
            <a:r>
              <a:rPr sz="10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用户产品内流转如何？</a:t>
            </a: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600" dirty="0"/>
          </a:p>
          <a:p>
            <a:pPr marL="12700" algn="l" rtl="0" eaLnBrk="0">
              <a:lnSpc>
                <a:spcPct val="90000"/>
              </a:lnSpc>
            </a:pPr>
            <a:r>
              <a:rPr sz="10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4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用户访问是否按照预期？</a:t>
            </a:r>
            <a:endParaRPr lang="en-US" altLang="en-US" sz="1000" dirty="0"/>
          </a:p>
        </p:txBody>
      </p:sp>
      <p:sp>
        <p:nvSpPr>
          <p:cNvPr id="74" name="textbox 74"/>
          <p:cNvSpPr/>
          <p:nvPr/>
        </p:nvSpPr>
        <p:spPr>
          <a:xfrm>
            <a:off x="188456" y="3867784"/>
            <a:ext cx="1507489" cy="6197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000" kern="0" spc="-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4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活动效果如何？</a:t>
            </a:r>
            <a:endParaRPr lang="en-US" altLang="en-US" sz="1000" dirty="0"/>
          </a:p>
          <a:p>
            <a:pPr marL="12700" algn="l" rtl="0" eaLnBrk="0">
              <a:lnSpc>
                <a:spcPct val="89000"/>
              </a:lnSpc>
              <a:spcBef>
                <a:spcPts val="730"/>
              </a:spcBef>
            </a:pPr>
            <a:r>
              <a:rPr sz="1000" kern="0" spc="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优惠券使用情况</a:t>
            </a:r>
            <a:r>
              <a:rPr sz="1000" kern="0" spc="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</a:t>
            </a: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600" dirty="0"/>
          </a:p>
          <a:p>
            <a:pPr marL="12700" algn="l" rtl="0" eaLnBrk="0">
              <a:lnSpc>
                <a:spcPct val="90000"/>
              </a:lnSpc>
            </a:pPr>
            <a:r>
              <a:rPr sz="10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用户活动敏感度如何？</a:t>
            </a:r>
            <a:endParaRPr lang="en-US" altLang="en-US" sz="1000" dirty="0"/>
          </a:p>
        </p:txBody>
      </p:sp>
      <p:sp>
        <p:nvSpPr>
          <p:cNvPr id="76" name="textbox 76"/>
          <p:cNvSpPr/>
          <p:nvPr/>
        </p:nvSpPr>
        <p:spPr>
          <a:xfrm>
            <a:off x="2185856" y="3888612"/>
            <a:ext cx="1376044" cy="6197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4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商品销售成果如何？</a:t>
            </a:r>
            <a:endParaRPr lang="en-US" altLang="en-US" sz="1000" dirty="0"/>
          </a:p>
          <a:p>
            <a:pPr marL="12700" algn="l" rtl="0" eaLnBrk="0">
              <a:lnSpc>
                <a:spcPts val="1290"/>
              </a:lnSpc>
              <a:spcBef>
                <a:spcPts val="525"/>
              </a:spcBef>
            </a:pPr>
            <a:r>
              <a:rPr sz="1000" kern="0" spc="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4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首购/复购情况如何</a:t>
            </a: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500" dirty="0"/>
          </a:p>
          <a:p>
            <a:pPr marL="12700" algn="l" rtl="0" eaLnBrk="0">
              <a:lnSpc>
                <a:spcPct val="90000"/>
              </a:lnSpc>
              <a:spcBef>
                <a:spcPts val="0"/>
              </a:spcBef>
            </a:pP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4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订单目标完成如何？</a:t>
            </a:r>
            <a:endParaRPr lang="en-US" altLang="en-US" sz="1000" dirty="0"/>
          </a:p>
        </p:txBody>
      </p:sp>
      <p:sp>
        <p:nvSpPr>
          <p:cNvPr id="78" name="textbox 78"/>
          <p:cNvSpPr/>
          <p:nvPr/>
        </p:nvSpPr>
        <p:spPr>
          <a:xfrm>
            <a:off x="214905" y="1676526"/>
            <a:ext cx="1376044" cy="6191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000" kern="0" spc="-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4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活跃情况如何？</a:t>
            </a:r>
            <a:endParaRPr lang="en-US" altLang="en-US" sz="1000" dirty="0"/>
          </a:p>
          <a:p>
            <a:pPr marL="12700" algn="l" rtl="0" eaLnBrk="0">
              <a:lnSpc>
                <a:spcPct val="90000"/>
              </a:lnSpc>
              <a:spcBef>
                <a:spcPts val="720"/>
              </a:spcBef>
            </a:pP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4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新老用户分布如何？</a:t>
            </a:r>
            <a:endParaRPr lang="en-US" altLang="en-US" sz="1000" dirty="0"/>
          </a:p>
          <a:p>
            <a:pPr algn="l" rtl="0" eaLnBrk="0">
              <a:lnSpc>
                <a:spcPct val="119000"/>
              </a:lnSpc>
            </a:pPr>
            <a:endParaRPr lang="en-US" altLang="en-US" sz="500" dirty="0"/>
          </a:p>
          <a:p>
            <a:pPr marL="12700" algn="l" rtl="0" eaLnBrk="0">
              <a:lnSpc>
                <a:spcPct val="90000"/>
              </a:lnSpc>
              <a:spcBef>
                <a:spcPts val="5"/>
              </a:spcBef>
            </a:pP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000" kern="0" spc="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各渠道来源如何？</a:t>
            </a:r>
            <a:endParaRPr lang="en-US" altLang="en-US" sz="1000" dirty="0"/>
          </a:p>
        </p:txBody>
      </p:sp>
      <p:sp>
        <p:nvSpPr>
          <p:cNvPr id="80" name="textbox 80"/>
          <p:cNvSpPr/>
          <p:nvPr/>
        </p:nvSpPr>
        <p:spPr>
          <a:xfrm>
            <a:off x="227610" y="3139490"/>
            <a:ext cx="1673225" cy="402590"/>
          </a:xfrm>
          <a:prstGeom prst="rect">
            <a:avLst/>
          </a:prstGeom>
          <a:solidFill>
            <a:srgbClr val="006EFF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lang="en-US" altLang="en-US" sz="700" dirty="0"/>
          </a:p>
          <a:p>
            <a:pPr marL="460375" algn="l" rtl="0" eaLnBrk="0">
              <a:lnSpc>
                <a:spcPct val="88000"/>
              </a:lnSpc>
              <a:spcBef>
                <a:spcPts val="0"/>
              </a:spcBef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用户运营</a:t>
            </a:r>
            <a:endParaRPr lang="en-US" altLang="en-US" sz="1500" dirty="0"/>
          </a:p>
        </p:txBody>
      </p:sp>
      <p:sp>
        <p:nvSpPr>
          <p:cNvPr id="82" name="textbox 82"/>
          <p:cNvSpPr/>
          <p:nvPr/>
        </p:nvSpPr>
        <p:spPr>
          <a:xfrm>
            <a:off x="2288245" y="3145162"/>
            <a:ext cx="1673225" cy="402590"/>
          </a:xfrm>
          <a:prstGeom prst="rect">
            <a:avLst/>
          </a:prstGeom>
          <a:solidFill>
            <a:srgbClr val="006EFF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lang="en-US" altLang="en-US" sz="700" dirty="0"/>
          </a:p>
          <a:p>
            <a:pPr marL="463550" algn="l" rtl="0" eaLnBrk="0">
              <a:lnSpc>
                <a:spcPct val="88000"/>
              </a:lnSpc>
              <a:spcBef>
                <a:spcPts val="5"/>
              </a:spcBef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商品营收</a:t>
            </a:r>
            <a:endParaRPr lang="en-US" altLang="en-US" sz="1500" dirty="0"/>
          </a:p>
        </p:txBody>
      </p:sp>
      <p:sp>
        <p:nvSpPr>
          <p:cNvPr id="84" name="textbox 84"/>
          <p:cNvSpPr/>
          <p:nvPr/>
        </p:nvSpPr>
        <p:spPr>
          <a:xfrm>
            <a:off x="125753" y="1001072"/>
            <a:ext cx="1673225" cy="402590"/>
          </a:xfrm>
          <a:prstGeom prst="rect">
            <a:avLst/>
          </a:prstGeom>
          <a:solidFill>
            <a:srgbClr val="006EFF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lang="en-US" altLang="en-US" sz="700" dirty="0"/>
          </a:p>
          <a:p>
            <a:pPr marL="459105" algn="l" rtl="0" eaLnBrk="0">
              <a:lnSpc>
                <a:spcPct val="87000"/>
              </a:lnSpc>
              <a:spcBef>
                <a:spcPts val="0"/>
              </a:spcBef>
            </a:pPr>
            <a:r>
              <a:rPr sz="15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基础活跃</a:t>
            </a:r>
            <a:endParaRPr lang="en-US" altLang="en-US" sz="1500" dirty="0"/>
          </a:p>
        </p:txBody>
      </p:sp>
      <p:sp>
        <p:nvSpPr>
          <p:cNvPr id="86" name="textbox 86"/>
          <p:cNvSpPr/>
          <p:nvPr/>
        </p:nvSpPr>
        <p:spPr>
          <a:xfrm>
            <a:off x="2300733" y="1001072"/>
            <a:ext cx="1673225" cy="402590"/>
          </a:xfrm>
          <a:prstGeom prst="rect">
            <a:avLst/>
          </a:prstGeom>
          <a:solidFill>
            <a:srgbClr val="006EFF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lang="en-US" altLang="en-US" sz="7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460375" algn="l" rtl="0" eaLnBrk="0">
              <a:lnSpc>
                <a:spcPct val="88000"/>
              </a:lnSpc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用户体验</a:t>
            </a:r>
            <a:endParaRPr lang="en-US" altLang="en-US" sz="1500" dirty="0"/>
          </a:p>
        </p:txBody>
      </p:sp>
      <p:sp>
        <p:nvSpPr>
          <p:cNvPr id="88" name="textbox 88"/>
          <p:cNvSpPr/>
          <p:nvPr/>
        </p:nvSpPr>
        <p:spPr>
          <a:xfrm>
            <a:off x="409776" y="325856"/>
            <a:ext cx="2766695" cy="271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依据增长模型构建指</a:t>
            </a: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标体系</a:t>
            </a:r>
            <a:endParaRPr lang="en-US" altLang="en-US" sz="1800" dirty="0"/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67237" y="63182"/>
          <a:ext cx="4212590" cy="4796789"/>
        </p:xfrm>
        <a:graphic>
          <a:graphicData uri="http://schemas.openxmlformats.org/drawingml/2006/table">
            <a:tbl>
              <a:tblPr/>
              <a:tblGrid>
                <a:gridCol w="1245235"/>
                <a:gridCol w="1071244"/>
                <a:gridCol w="882650"/>
                <a:gridCol w="1013460"/>
              </a:tblGrid>
              <a:tr h="216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300" dirty="0"/>
                    </a:p>
                    <a:p>
                      <a:pPr marL="37592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事件名称</a:t>
                      </a:r>
                      <a:endParaRPr lang="en-US" altLang="en-US" sz="10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25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lang="en-US" altLang="en-US" sz="300" dirty="0"/>
                    </a:p>
                    <a:p>
                      <a:pPr marL="287655" algn="l" rtl="0" eaLnBrk="0">
                        <a:lnSpc>
                          <a:spcPct val="96000"/>
                        </a:lnSpc>
                      </a:pPr>
                      <a:r>
                        <a:rPr sz="1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属性名称</a:t>
                      </a:r>
                      <a:endParaRPr lang="en-US" altLang="en-US" sz="10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25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300" dirty="0"/>
                    </a:p>
                    <a:p>
                      <a:pPr marL="12954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属性值类型</a:t>
                      </a:r>
                      <a:endParaRPr lang="en-US" altLang="en-US" sz="10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25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300" dirty="0"/>
                    </a:p>
                    <a:p>
                      <a:pPr marL="19304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属性值示例</a:t>
                      </a:r>
                      <a:endParaRPr lang="en-US" altLang="en-US" sz="10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258"/>
                    </a:solidFill>
                  </a:tcPr>
                </a:tc>
              </a:tr>
              <a:tr h="18161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700" dirty="0"/>
                    </a:p>
                    <a:p>
                      <a:pPr marL="42545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应用启动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lang="en-US" altLang="en-US" sz="1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会话时长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lang="en-US" altLang="en-US" sz="100" dirty="0"/>
                    </a:p>
                    <a:p>
                      <a:pPr marL="6667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</a:pPr>
                      <a:endParaRPr lang="en-US" altLang="en-US" sz="100" dirty="0"/>
                    </a:p>
                    <a:p>
                      <a:pPr marL="64770" algn="l" rtl="0" eaLnBrk="0">
                        <a:lnSpc>
                          <a:spcPts val="965"/>
                        </a:lnSpc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是否首次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</a:pPr>
                      <a:endParaRPr lang="en-US" altLang="en-US" sz="100" dirty="0"/>
                    </a:p>
                    <a:p>
                      <a:pPr marL="66675" algn="l" rtl="0" eaLnBrk="0">
                        <a:lnSpc>
                          <a:spcPts val="965"/>
                        </a:lnSpc>
                      </a:pP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800" dirty="0"/>
                    </a:p>
                    <a:p>
                      <a:pPr marL="42545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应用退出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会话ID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</a:pPr>
                      <a:endParaRPr lang="en-US" altLang="en-US" sz="1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会话时长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</a:pPr>
                      <a:endParaRPr lang="en-US" altLang="en-US" sz="100" dirty="0"/>
                    </a:p>
                    <a:p>
                      <a:pPr marL="66675" algn="l" rtl="0" eaLnBrk="0">
                        <a:lnSpc>
                          <a:spcPts val="965"/>
                        </a:lnSpc>
                      </a:pP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0" dirty="0"/>
                    </a:p>
                    <a:p>
                      <a:pPr marL="27368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浏览商品详情页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商品的唯一ID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商品对应的名称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商品品类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商品对应的品类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商品品牌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商品对应的品牌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427355" algn="l" rtl="0" eaLnBrk="0">
                        <a:lnSpc>
                          <a:spcPts val="965"/>
                        </a:lnSpc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商品收藏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lang="en-US" altLang="en-US" sz="1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lang="en-US" altLang="en-US" sz="1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lang="en-US" altLang="en-US" sz="1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商品的唯一ID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商品对应的名称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lang="en-US" altLang="en-US" sz="1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商品品类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lang="en-US" altLang="en-US" sz="1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lang="en-US" altLang="en-US" sz="1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商品对应的品类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商品品牌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商品对应的品牌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1000" dirty="0"/>
                    </a:p>
                    <a:p>
                      <a:pPr marL="27495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商品加入购物车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商品的唯一ID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商品对应的名称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商品品类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商品对应的品类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商品品牌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2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商品对应的品牌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商品数量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" dirty="0"/>
                    </a:p>
                    <a:p>
                      <a:pPr marL="66675" algn="l" rtl="0" eaLnBrk="0">
                        <a:lnSpc>
                          <a:spcPts val="965"/>
                        </a:lnSpc>
                      </a:pP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" dirty="0"/>
                    </a:p>
                    <a:p>
                      <a:pPr marL="65405" algn="l" rtl="0" eaLnBrk="0">
                        <a:lnSpc>
                          <a:spcPts val="965"/>
                        </a:lnSpc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商品数量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324485" algn="l" rtl="0" eaLnBrk="0">
                        <a:lnSpc>
                          <a:spcPts val="965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订单支付成功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300" dirty="0"/>
                    </a:p>
                    <a:p>
                      <a:pPr marL="6413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300" dirty="0"/>
                    </a:p>
                    <a:p>
                      <a:pPr marL="6413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lang="en-US" altLang="en-US" sz="100" dirty="0"/>
                    </a:p>
                    <a:p>
                      <a:pPr marL="6413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订单金额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lang="en-US" altLang="en-US" sz="100" dirty="0"/>
                    </a:p>
                    <a:p>
                      <a:pPr marL="6032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float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lang="en-US" altLang="en-US" sz="100" dirty="0"/>
                    </a:p>
                    <a:p>
                      <a:pPr marL="64135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订单的总金额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79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64135" algn="l" rtl="0" eaLnBrk="0">
                        <a:lnSpc>
                          <a:spcPts val="965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订单实付金额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60325" algn="l" rtl="0" eaLnBrk="0">
                        <a:lnSpc>
                          <a:spcPts val="965"/>
                        </a:lnSpc>
                        <a:spcBef>
                          <a:spcPts val="5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float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64135" algn="l" rtl="0" eaLnBrk="0">
                        <a:lnSpc>
                          <a:spcPts val="965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订单的实付总金额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</a:pPr>
                      <a:endParaRPr lang="en-US" altLang="en-US" sz="100" dirty="0"/>
                    </a:p>
                    <a:p>
                      <a:pPr marL="64770" algn="l" rtl="0" eaLnBrk="0">
                        <a:lnSpc>
                          <a:spcPts val="965"/>
                        </a:lnSpc>
                      </a:pPr>
                      <a:r>
                        <a:rPr sz="800" kern="0" spc="-1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是否使用优惠券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</a:pPr>
                      <a:endParaRPr lang="en-US" altLang="en-US" sz="1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</a:pPr>
                      <a:endParaRPr lang="en-US" altLang="en-US" sz="100" dirty="0"/>
                    </a:p>
                    <a:p>
                      <a:pPr marL="64770" algn="l" rtl="0" eaLnBrk="0">
                        <a:lnSpc>
                          <a:spcPts val="965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是/否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223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优惠券id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200" dirty="0"/>
                    </a:p>
                    <a:p>
                      <a:pPr marL="6223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优惠券的名称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200" dirty="0"/>
                    </a:p>
                    <a:p>
                      <a:pPr marL="6223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优惠券名称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200" dirty="0"/>
                    </a:p>
                    <a:p>
                      <a:pPr marL="6223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优惠券的名称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10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" dirty="0"/>
                    </a:p>
                    <a:p>
                      <a:pPr marL="62230" algn="l" rtl="0" eaLnBrk="0">
                        <a:lnSpc>
                          <a:spcPts val="965"/>
                        </a:lnSpc>
                      </a:pPr>
                      <a:r>
                        <a:rPr sz="800" kern="0" spc="-1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优惠金额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" dirty="0"/>
                    </a:p>
                    <a:p>
                      <a:pPr marL="60325" algn="l" rtl="0" eaLnBrk="0">
                        <a:lnSpc>
                          <a:spcPts val="965"/>
                        </a:lnSpc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float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lang="en-US" altLang="en-US" sz="100" dirty="0"/>
                    </a:p>
                    <a:p>
                      <a:pPr marL="62230" algn="l" rtl="0" eaLnBrk="0">
                        <a:lnSpc>
                          <a:spcPts val="965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优惠减免的金额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054">
                <a:tc vMerge="1"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6604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1F232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支付方式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6350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66040" algn="l" rtl="0" eaLnBrk="0">
                        <a:lnSpc>
                          <a:spcPts val="965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支付宝/银行卡..</a:t>
                      </a:r>
                      <a:endParaRPr lang="en-US" altLang="en-US" sz="8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rect"/>
          <p:cNvSpPr/>
          <p:nvPr/>
        </p:nvSpPr>
        <p:spPr>
          <a:xfrm>
            <a:off x="2480452" y="2593869"/>
            <a:ext cx="1306027" cy="374378"/>
          </a:xfrm>
          <a:prstGeom prst="rect">
            <a:avLst/>
          </a:prstGeom>
          <a:solidFill>
            <a:srgbClr val="164258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rect"/>
          <p:cNvSpPr/>
          <p:nvPr/>
        </p:nvSpPr>
        <p:spPr>
          <a:xfrm>
            <a:off x="692543" y="2545242"/>
            <a:ext cx="1306027" cy="374378"/>
          </a:xfrm>
          <a:prstGeom prst="rect">
            <a:avLst/>
          </a:prstGeom>
          <a:solidFill>
            <a:srgbClr val="164258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textbox 108"/>
          <p:cNvSpPr/>
          <p:nvPr/>
        </p:nvSpPr>
        <p:spPr>
          <a:xfrm>
            <a:off x="2499036" y="2081099"/>
            <a:ext cx="1185544" cy="374650"/>
          </a:xfrm>
          <a:prstGeom prst="rect">
            <a:avLst/>
          </a:prstGeom>
          <a:solidFill>
            <a:srgbClr val="164258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lang="en-US" altLang="en-US" sz="500" dirty="0"/>
          </a:p>
          <a:p>
            <a:pPr marL="255270" algn="l" rtl="0" eaLnBrk="0">
              <a:lnSpc>
                <a:spcPct val="96000"/>
              </a:lnSpc>
              <a:spcBef>
                <a:spcPts val="0"/>
              </a:spcBef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User</a:t>
            </a:r>
            <a:endParaRPr lang="en-US" altLang="en-US" sz="1400" dirty="0"/>
          </a:p>
        </p:txBody>
      </p:sp>
      <p:sp>
        <p:nvSpPr>
          <p:cNvPr id="110" name="rect"/>
          <p:cNvSpPr/>
          <p:nvPr/>
        </p:nvSpPr>
        <p:spPr>
          <a:xfrm>
            <a:off x="716425" y="2951416"/>
            <a:ext cx="1306027" cy="374378"/>
          </a:xfrm>
          <a:prstGeom prst="rect">
            <a:avLst/>
          </a:prstGeom>
          <a:solidFill>
            <a:srgbClr val="164258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textbox 112"/>
          <p:cNvSpPr/>
          <p:nvPr/>
        </p:nvSpPr>
        <p:spPr>
          <a:xfrm>
            <a:off x="679843" y="2302305"/>
            <a:ext cx="3119754" cy="9607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1000"/>
              </a:lnSpc>
            </a:pPr>
            <a:endParaRPr lang="en-US" altLang="en-US" sz="1000" dirty="0"/>
          </a:p>
          <a:p>
            <a:pPr marL="12700" algn="l" rtl="0" eaLnBrk="0">
              <a:lnSpc>
                <a:spcPts val="1790"/>
              </a:lnSpc>
              <a:spcBef>
                <a:spcPts val="0"/>
              </a:spcBef>
              <a:tabLst>
                <a:tab pos="320040" algn="l"/>
              </a:tabLst>
            </a:pP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100" kern="0" spc="0" baseline="1200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</a:t>
            </a:r>
            <a:r>
              <a:rPr sz="2100" kern="0" spc="20" baseline="12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：谁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100" kern="0" spc="20" baseline="-3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什么样的用户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en-US" altLang="en-US" sz="1300" dirty="0"/>
          </a:p>
          <a:p>
            <a:pPr algn="l" rtl="0" eaLnBrk="0">
              <a:lnSpc>
                <a:spcPct val="106000"/>
              </a:lnSpc>
            </a:pPr>
            <a:endParaRPr lang="en-US" altLang="en-US" sz="1100" dirty="0"/>
          </a:p>
          <a:p>
            <a:pPr marL="36195" algn="l" rtl="0" eaLnBrk="0">
              <a:lnSpc>
                <a:spcPct val="96000"/>
              </a:lnSpc>
              <a:spcBef>
                <a:spcPts val="5"/>
              </a:spcBef>
              <a:tabLst>
                <a:tab pos="209550" algn="l"/>
              </a:tabLst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：时间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en-US" altLang="en-US" sz="1400" dirty="0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95553" y="2315005"/>
            <a:ext cx="538415" cy="466829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409776" y="325627"/>
            <a:ext cx="3223895" cy="2724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依据指标体系设计数据采</a:t>
            </a: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集方案</a:t>
            </a:r>
            <a:endParaRPr lang="en-US" altLang="en-US" sz="1800" dirty="0"/>
          </a:p>
        </p:txBody>
      </p:sp>
      <p:sp>
        <p:nvSpPr>
          <p:cNvPr id="118" name="textbox 118"/>
          <p:cNvSpPr/>
          <p:nvPr/>
        </p:nvSpPr>
        <p:spPr>
          <a:xfrm>
            <a:off x="692543" y="2114853"/>
            <a:ext cx="1306194" cy="392429"/>
          </a:xfrm>
          <a:prstGeom prst="rect">
            <a:avLst/>
          </a:prstGeom>
          <a:solidFill>
            <a:srgbClr val="164258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lang="en-US" altLang="en-US" sz="600" dirty="0"/>
          </a:p>
          <a:p>
            <a:pPr marL="280035" algn="l" rtl="0" eaLnBrk="0">
              <a:lnSpc>
                <a:spcPct val="95000"/>
              </a:lnSpc>
              <a:spcBef>
                <a:spcPts val="5"/>
              </a:spcBef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事件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Event</a:t>
            </a:r>
            <a:endParaRPr lang="en-US" altLang="en-US" sz="1400" dirty="0"/>
          </a:p>
        </p:txBody>
      </p:sp>
      <p:sp>
        <p:nvSpPr>
          <p:cNvPr id="120" name="textbox 120"/>
          <p:cNvSpPr/>
          <p:nvPr/>
        </p:nvSpPr>
        <p:spPr>
          <a:xfrm>
            <a:off x="730702" y="4417457"/>
            <a:ext cx="1348105" cy="374650"/>
          </a:xfrm>
          <a:prstGeom prst="rect">
            <a:avLst/>
          </a:prstGeom>
          <a:solidFill>
            <a:srgbClr val="164258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600" dirty="0"/>
          </a:p>
          <a:p>
            <a:pPr marL="125095" algn="l" rtl="0" eaLnBrk="0">
              <a:lnSpc>
                <a:spcPct val="95000"/>
              </a:lnSpc>
              <a:spcBef>
                <a:spcPts val="5"/>
              </a:spcBef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：做的事</a:t>
            </a:r>
            <a:endParaRPr lang="en-US" altLang="en-US" sz="1400" dirty="0"/>
          </a:p>
        </p:txBody>
      </p:sp>
      <p:sp>
        <p:nvSpPr>
          <p:cNvPr id="122" name="textbox 122"/>
          <p:cNvSpPr/>
          <p:nvPr/>
        </p:nvSpPr>
        <p:spPr>
          <a:xfrm>
            <a:off x="716425" y="3426477"/>
            <a:ext cx="1306194" cy="374650"/>
          </a:xfrm>
          <a:prstGeom prst="rect">
            <a:avLst/>
          </a:prstGeom>
          <a:solidFill>
            <a:srgbClr val="164258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600" dirty="0"/>
          </a:p>
          <a:p>
            <a:pPr marL="146685" algn="l" rtl="0" eaLnBrk="0">
              <a:lnSpc>
                <a:spcPct val="97000"/>
              </a:lnSpc>
              <a:spcBef>
                <a:spcPts val="5"/>
              </a:spcBef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Where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：地点</a:t>
            </a:r>
            <a:endParaRPr lang="en-US" altLang="en-US" sz="1400" dirty="0"/>
          </a:p>
        </p:txBody>
      </p:sp>
      <p:sp>
        <p:nvSpPr>
          <p:cNvPr id="124" name="textbox 124"/>
          <p:cNvSpPr/>
          <p:nvPr/>
        </p:nvSpPr>
        <p:spPr>
          <a:xfrm>
            <a:off x="730702" y="3921967"/>
            <a:ext cx="1306194" cy="374650"/>
          </a:xfrm>
          <a:prstGeom prst="rect">
            <a:avLst/>
          </a:prstGeom>
          <a:solidFill>
            <a:srgbClr val="164258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600" dirty="0"/>
          </a:p>
          <a:p>
            <a:pPr marL="153670" algn="l" rtl="0" eaLnBrk="0">
              <a:lnSpc>
                <a:spcPct val="95000"/>
              </a:lnSpc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：怎么做</a:t>
            </a:r>
            <a:endParaRPr lang="en-US" altLang="en-US" sz="1400" dirty="0"/>
          </a:p>
        </p:txBody>
      </p:sp>
      <p:sp>
        <p:nvSpPr>
          <p:cNvPr id="126" name="textbox 126"/>
          <p:cNvSpPr/>
          <p:nvPr/>
        </p:nvSpPr>
        <p:spPr>
          <a:xfrm>
            <a:off x="1642190" y="771550"/>
            <a:ext cx="1185544" cy="374650"/>
          </a:xfrm>
          <a:prstGeom prst="rect">
            <a:avLst/>
          </a:prstGeom>
          <a:solidFill>
            <a:srgbClr val="164258">
              <a:alpha val="99215"/>
            </a:srgbClr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lang="en-US" altLang="en-US" sz="600" dirty="0"/>
          </a:p>
          <a:p>
            <a:pPr marL="243205" algn="l" rtl="0" eaLnBrk="0">
              <a:lnSpc>
                <a:spcPct val="95000"/>
              </a:lnSpc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事件模型</a:t>
            </a:r>
            <a:endParaRPr lang="en-US" altLang="en-US" sz="1400" dirty="0"/>
          </a:p>
        </p:txBody>
      </p:sp>
      <p:sp>
        <p:nvSpPr>
          <p:cNvPr id="128" name="rect"/>
          <p:cNvSpPr/>
          <p:nvPr/>
        </p:nvSpPr>
        <p:spPr>
          <a:xfrm>
            <a:off x="1285016" y="1460714"/>
            <a:ext cx="1899291" cy="9526"/>
          </a:xfrm>
          <a:prstGeom prst="rect">
            <a:avLst/>
          </a:prstGeom>
          <a:solidFill>
            <a:srgbClr val="006EC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" name="rect"/>
          <p:cNvSpPr/>
          <p:nvPr/>
        </p:nvSpPr>
        <p:spPr>
          <a:xfrm>
            <a:off x="3179543" y="1465476"/>
            <a:ext cx="9525" cy="636931"/>
          </a:xfrm>
          <a:prstGeom prst="rect">
            <a:avLst/>
          </a:prstGeom>
          <a:solidFill>
            <a:srgbClr val="006EC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rect"/>
          <p:cNvSpPr/>
          <p:nvPr/>
        </p:nvSpPr>
        <p:spPr>
          <a:xfrm>
            <a:off x="1286570" y="1444168"/>
            <a:ext cx="9525" cy="636930"/>
          </a:xfrm>
          <a:prstGeom prst="rect">
            <a:avLst/>
          </a:prstGeom>
          <a:solidFill>
            <a:srgbClr val="006EC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rect"/>
          <p:cNvSpPr/>
          <p:nvPr/>
        </p:nvSpPr>
        <p:spPr>
          <a:xfrm>
            <a:off x="2229898" y="1231303"/>
            <a:ext cx="9525" cy="245681"/>
          </a:xfrm>
          <a:prstGeom prst="rect">
            <a:avLst/>
          </a:prstGeom>
          <a:solidFill>
            <a:srgbClr val="006EC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" name="path"/>
          <p:cNvSpPr/>
          <p:nvPr/>
        </p:nvSpPr>
        <p:spPr>
          <a:xfrm>
            <a:off x="1280253" y="2457936"/>
            <a:ext cx="9525" cy="48772"/>
          </a:xfrm>
          <a:custGeom>
            <a:avLst/>
            <a:gdLst/>
            <a:ahLst/>
            <a:cxnLst/>
            <a:rect l="0" t="0" r="0" b="0"/>
            <a:pathLst>
              <a:path w="15" h="76">
                <a:moveTo>
                  <a:pt x="7" y="0"/>
                </a:moveTo>
                <a:lnTo>
                  <a:pt x="7" y="76"/>
                </a:lnTo>
              </a:path>
            </a:pathLst>
          </a:custGeom>
          <a:noFill/>
          <a:ln w="9525" cap="flat">
            <a:solidFill>
              <a:srgbClr val="006EC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" name="rect"/>
          <p:cNvSpPr/>
          <p:nvPr/>
        </p:nvSpPr>
        <p:spPr>
          <a:xfrm>
            <a:off x="3179543" y="2457936"/>
            <a:ext cx="9525" cy="48772"/>
          </a:xfrm>
          <a:prstGeom prst="rect">
            <a:avLst/>
          </a:prstGeom>
          <a:solidFill>
            <a:srgbClr val="006EC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339751" y="1034284"/>
            <a:ext cx="6479649" cy="3074931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452144" y="987573"/>
            <a:ext cx="1475105" cy="415925"/>
          </a:xfrm>
          <a:prstGeom prst="rect">
            <a:avLst/>
          </a:prstGeom>
          <a:solidFill>
            <a:srgbClr val="006EFF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700" dirty="0"/>
          </a:p>
          <a:p>
            <a:pPr marL="553720" algn="l" rtl="0" eaLnBrk="0">
              <a:lnSpc>
                <a:spcPct val="89000"/>
              </a:lnSpc>
              <a:spcBef>
                <a:spcPts val="5"/>
              </a:spcBef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看板</a:t>
            </a:r>
            <a:endParaRPr lang="en-US" altLang="en-US" sz="1500" dirty="0"/>
          </a:p>
        </p:txBody>
      </p:sp>
      <p:sp>
        <p:nvSpPr>
          <p:cNvPr id="144" name="textbox 144"/>
          <p:cNvSpPr/>
          <p:nvPr/>
        </p:nvSpPr>
        <p:spPr>
          <a:xfrm>
            <a:off x="452144" y="3153479"/>
            <a:ext cx="1475105" cy="415925"/>
          </a:xfrm>
          <a:prstGeom prst="rect">
            <a:avLst/>
          </a:prstGeom>
          <a:solidFill>
            <a:srgbClr val="006EFF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lang="en-US" altLang="en-US" sz="700" dirty="0"/>
          </a:p>
          <a:p>
            <a:pPr marL="363220" algn="l" rtl="0" eaLnBrk="0">
              <a:lnSpc>
                <a:spcPct val="88000"/>
              </a:lnSpc>
              <a:spcBef>
                <a:spcPts val="5"/>
              </a:spcBef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智能运营</a:t>
            </a:r>
            <a:endParaRPr lang="en-US" altLang="en-US" sz="1500" dirty="0"/>
          </a:p>
        </p:txBody>
      </p:sp>
      <p:sp>
        <p:nvSpPr>
          <p:cNvPr id="146" name="textbox 146"/>
          <p:cNvSpPr/>
          <p:nvPr/>
        </p:nvSpPr>
        <p:spPr>
          <a:xfrm>
            <a:off x="427296" y="2427222"/>
            <a:ext cx="1475105" cy="415925"/>
          </a:xfrm>
          <a:prstGeom prst="rect">
            <a:avLst/>
          </a:prstGeom>
          <a:solidFill>
            <a:srgbClr val="006EFF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700" dirty="0"/>
          </a:p>
          <a:p>
            <a:pPr marL="365760" algn="l" rtl="0" eaLnBrk="0">
              <a:lnSpc>
                <a:spcPct val="88000"/>
              </a:lnSpc>
              <a:spcBef>
                <a:spcPts val="5"/>
              </a:spcBef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高级分析</a:t>
            </a:r>
            <a:endParaRPr lang="en-US" altLang="en-US" sz="1500" dirty="0"/>
          </a:p>
        </p:txBody>
      </p:sp>
      <p:sp>
        <p:nvSpPr>
          <p:cNvPr id="148" name="textbox 148"/>
          <p:cNvSpPr/>
          <p:nvPr/>
        </p:nvSpPr>
        <p:spPr>
          <a:xfrm>
            <a:off x="452144" y="3932749"/>
            <a:ext cx="1475105" cy="415925"/>
          </a:xfrm>
          <a:prstGeom prst="rect">
            <a:avLst/>
          </a:prstGeom>
          <a:solidFill>
            <a:srgbClr val="006EFF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lang="en-US" altLang="en-US" sz="700" dirty="0"/>
          </a:p>
          <a:p>
            <a:pPr marL="362585" algn="l" rtl="0" eaLnBrk="0">
              <a:lnSpc>
                <a:spcPct val="87000"/>
              </a:lnSpc>
              <a:spcBef>
                <a:spcPts val="5"/>
              </a:spcBef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广告监测</a:t>
            </a:r>
            <a:endParaRPr lang="en-US" altLang="en-US" sz="1500" dirty="0"/>
          </a:p>
        </p:txBody>
      </p:sp>
      <p:sp>
        <p:nvSpPr>
          <p:cNvPr id="150" name="textbox 150"/>
          <p:cNvSpPr/>
          <p:nvPr/>
        </p:nvSpPr>
        <p:spPr>
          <a:xfrm>
            <a:off x="452144" y="1696778"/>
            <a:ext cx="1475105" cy="415925"/>
          </a:xfrm>
          <a:prstGeom prst="rect">
            <a:avLst/>
          </a:prstGeom>
          <a:solidFill>
            <a:srgbClr val="006EFF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lang="en-US" altLang="en-US" sz="700" dirty="0"/>
          </a:p>
          <a:p>
            <a:pPr marL="360045" algn="l" rtl="0" eaLnBrk="0">
              <a:lnSpc>
                <a:spcPct val="87000"/>
              </a:lnSpc>
              <a:spcBef>
                <a:spcPts val="5"/>
              </a:spcBef>
            </a:pPr>
            <a:r>
              <a:rPr sz="15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基本分析</a:t>
            </a:r>
            <a:endParaRPr lang="en-US" altLang="en-US" sz="1500" dirty="0"/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414119" y="326542"/>
            <a:ext cx="1390650" cy="2711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多维数据分析</a:t>
            </a:r>
            <a:endParaRPr lang="en-US" altLang="en-US" sz="1800" dirty="0"/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158" name="textbox 158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5800" y="555526"/>
            <a:ext cx="7772400" cy="3685959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sp>
        <p:nvSpPr>
          <p:cNvPr id="164" name="textbox 164"/>
          <p:cNvSpPr/>
          <p:nvPr/>
        </p:nvSpPr>
        <p:spPr>
          <a:xfrm>
            <a:off x="414119" y="326542"/>
            <a:ext cx="1390650" cy="2711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多维数据分析</a:t>
            </a:r>
            <a:endParaRPr lang="en-US" altLang="en-US" sz="1800" dirty="0"/>
          </a:p>
        </p:txBody>
      </p:sp>
      <p:pic>
        <p:nvPicPr>
          <p:cNvPr id="166" name="picture 1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168" name="textbox 168"/>
          <p:cNvSpPr/>
          <p:nvPr/>
        </p:nvSpPr>
        <p:spPr>
          <a:xfrm>
            <a:off x="6556780" y="607796"/>
            <a:ext cx="677544" cy="287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algn="r" rtl="0" eaLnBrk="0">
              <a:lnSpc>
                <a:spcPct val="95000"/>
              </a:lnSpc>
            </a:pPr>
            <a:r>
              <a:rPr sz="1800" kern="0" spc="-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已脱敏</a:t>
            </a:r>
            <a:endParaRPr lang="en-US" altLang="en-US" sz="1800" dirty="0"/>
          </a:p>
        </p:txBody>
      </p:sp>
      <p:sp>
        <p:nvSpPr>
          <p:cNvPr id="170" name="textbox 170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318000" y="462043"/>
            <a:ext cx="3825999" cy="4668756"/>
          </a:xfrm>
          <a:prstGeom prst="rect">
            <a:avLst/>
          </a:prstGeom>
        </p:spPr>
      </p:pic>
      <p:sp>
        <p:nvSpPr>
          <p:cNvPr id="174" name="textbox 174"/>
          <p:cNvSpPr/>
          <p:nvPr/>
        </p:nvSpPr>
        <p:spPr>
          <a:xfrm>
            <a:off x="1359154" y="2325877"/>
            <a:ext cx="2883535" cy="5708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6100" b="1" kern="0" spc="20" baseline="-2000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3900" b="1" kern="0" spc="62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kern="0" spc="20" baseline="24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设计策略增长优化</a:t>
            </a:r>
            <a:endParaRPr lang="en-US" altLang="en-US" sz="3000" baseline="24000" dirty="0"/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5147" y="257175"/>
            <a:ext cx="1218993" cy="297315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93727" y="281842"/>
            <a:ext cx="1090079" cy="246672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1865706" y="321055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82"/>
          <p:cNvSpPr/>
          <p:nvPr/>
        </p:nvSpPr>
        <p:spPr>
          <a:xfrm>
            <a:off x="1389522" y="1638587"/>
            <a:ext cx="1267460" cy="15703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6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3000"/>
              </a:lnSpc>
              <a:spcBef>
                <a:spcPts val="5"/>
              </a:spcBef>
            </a:pPr>
            <a:r>
              <a:rPr sz="2100" b="1" kern="0" spc="8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</a:t>
            </a:r>
            <a:endParaRPr lang="en-US" altLang="en-US" sz="21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500" dirty="0"/>
          </a:p>
          <a:p>
            <a:pPr marL="32385" algn="l" rtl="0" eaLnBrk="0">
              <a:lnSpc>
                <a:spcPct val="94000"/>
              </a:lnSpc>
              <a:spcBef>
                <a:spcPts val="5"/>
              </a:spcBef>
            </a:pPr>
            <a:r>
              <a:rPr sz="2100" b="1" kern="0" spc="80" dirty="0">
                <a:solidFill>
                  <a:srgbClr val="E75B4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</a:t>
            </a:r>
            <a:endParaRPr lang="en-US" altLang="en-US" sz="2100" dirty="0"/>
          </a:p>
        </p:txBody>
      </p:sp>
      <p:pic>
        <p:nvPicPr>
          <p:cNvPr id="184" name="picture 1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31651" y="2455617"/>
            <a:ext cx="408682" cy="709402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31092" y="1651287"/>
            <a:ext cx="408682" cy="70940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282757" y="2198137"/>
            <a:ext cx="586985" cy="1004149"/>
            <a:chOff x="0" y="0"/>
            <a:chExt cx="586985" cy="1004149"/>
          </a:xfrm>
        </p:grpSpPr>
        <p:sp>
          <p:nvSpPr>
            <p:cNvPr id="188" name="path"/>
            <p:cNvSpPr/>
            <p:nvPr/>
          </p:nvSpPr>
          <p:spPr>
            <a:xfrm>
              <a:off x="0" y="0"/>
              <a:ext cx="586985" cy="1004148"/>
            </a:xfrm>
            <a:custGeom>
              <a:avLst/>
              <a:gdLst/>
              <a:ahLst/>
              <a:cxnLst/>
              <a:rect l="0" t="0" r="0" b="0"/>
              <a:pathLst>
                <a:path w="924" h="1581">
                  <a:moveTo>
                    <a:pt x="776" y="1577"/>
                  </a:moveTo>
                  <a:cubicBezTo>
                    <a:pt x="776" y="1138"/>
                    <a:pt x="452" y="769"/>
                    <a:pt x="0" y="637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552" y="142"/>
                    <a:pt x="924" y="564"/>
                    <a:pt x="924" y="1058"/>
                  </a:cubicBezTo>
                  <a:cubicBezTo>
                    <a:pt x="924" y="1246"/>
                    <a:pt x="872" y="1424"/>
                    <a:pt x="776" y="1581"/>
                  </a:cubicBezTo>
                  <a:cubicBezTo>
                    <a:pt x="776" y="1577"/>
                    <a:pt x="776" y="1577"/>
                    <a:pt x="776" y="1577"/>
                  </a:cubicBezTo>
                </a:path>
              </a:pathLst>
            </a:custGeom>
            <a:solidFill>
              <a:srgbClr val="C7464A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" name="path"/>
            <p:cNvSpPr/>
            <p:nvPr/>
          </p:nvSpPr>
          <p:spPr>
            <a:xfrm>
              <a:off x="57915" y="31466"/>
              <a:ext cx="529069" cy="972682"/>
            </a:xfrm>
            <a:custGeom>
              <a:avLst/>
              <a:gdLst/>
              <a:ahLst/>
              <a:cxnLst/>
              <a:rect l="0" t="0" r="0" b="0"/>
              <a:pathLst>
                <a:path w="833" h="1531">
                  <a:moveTo>
                    <a:pt x="88" y="0"/>
                  </a:moveTo>
                  <a:cubicBezTo>
                    <a:pt x="68" y="191"/>
                    <a:pt x="40" y="407"/>
                    <a:pt x="0" y="619"/>
                  </a:cubicBezTo>
                  <a:cubicBezTo>
                    <a:pt x="392" y="769"/>
                    <a:pt x="672" y="1103"/>
                    <a:pt x="684" y="1496"/>
                  </a:cubicBezTo>
                  <a:cubicBezTo>
                    <a:pt x="684" y="1496"/>
                    <a:pt x="684" y="1496"/>
                    <a:pt x="684" y="1496"/>
                  </a:cubicBezTo>
                  <a:cubicBezTo>
                    <a:pt x="684" y="1496"/>
                    <a:pt x="684" y="1496"/>
                    <a:pt x="684" y="1496"/>
                  </a:cubicBezTo>
                  <a:cubicBezTo>
                    <a:pt x="684" y="1496"/>
                    <a:pt x="684" y="1496"/>
                    <a:pt x="684" y="1496"/>
                  </a:cubicBezTo>
                  <a:cubicBezTo>
                    <a:pt x="684" y="1500"/>
                    <a:pt x="684" y="1500"/>
                    <a:pt x="684" y="1500"/>
                  </a:cubicBezTo>
                  <a:cubicBezTo>
                    <a:pt x="684" y="1500"/>
                    <a:pt x="684" y="1500"/>
                    <a:pt x="684" y="1500"/>
                  </a:cubicBezTo>
                  <a:cubicBezTo>
                    <a:pt x="684" y="1500"/>
                    <a:pt x="684" y="1500"/>
                    <a:pt x="684" y="1500"/>
                  </a:cubicBezTo>
                  <a:cubicBezTo>
                    <a:pt x="684" y="1500"/>
                    <a:pt x="684" y="1500"/>
                    <a:pt x="684" y="1500"/>
                  </a:cubicBezTo>
                  <a:cubicBezTo>
                    <a:pt x="684" y="1500"/>
                    <a:pt x="684" y="1500"/>
                    <a:pt x="684" y="1500"/>
                  </a:cubicBezTo>
                  <a:cubicBezTo>
                    <a:pt x="684" y="1500"/>
                    <a:pt x="684" y="1500"/>
                    <a:pt x="684" y="1500"/>
                  </a:cubicBezTo>
                  <a:cubicBezTo>
                    <a:pt x="684" y="1503"/>
                    <a:pt x="684" y="1503"/>
                    <a:pt x="684" y="1503"/>
                  </a:cubicBezTo>
                  <a:cubicBezTo>
                    <a:pt x="684" y="1503"/>
                    <a:pt x="684" y="1503"/>
                    <a:pt x="684" y="1503"/>
                  </a:cubicBezTo>
                  <a:cubicBezTo>
                    <a:pt x="684" y="1503"/>
                    <a:pt x="684" y="1503"/>
                    <a:pt x="684" y="1503"/>
                  </a:cubicBezTo>
                  <a:cubicBezTo>
                    <a:pt x="684" y="1503"/>
                    <a:pt x="684" y="1503"/>
                    <a:pt x="684" y="1503"/>
                  </a:cubicBezTo>
                  <a:cubicBezTo>
                    <a:pt x="684" y="1503"/>
                    <a:pt x="684" y="1503"/>
                    <a:pt x="684" y="1503"/>
                  </a:cubicBezTo>
                  <a:cubicBezTo>
                    <a:pt x="684" y="1503"/>
                    <a:pt x="684" y="1507"/>
                    <a:pt x="684" y="1507"/>
                  </a:cubicBezTo>
                  <a:cubicBezTo>
                    <a:pt x="684" y="1507"/>
                    <a:pt x="684" y="1507"/>
                    <a:pt x="684" y="1507"/>
                  </a:cubicBezTo>
                  <a:cubicBezTo>
                    <a:pt x="684" y="1507"/>
                    <a:pt x="684" y="1507"/>
                    <a:pt x="684" y="1507"/>
                  </a:cubicBezTo>
                  <a:cubicBezTo>
                    <a:pt x="684" y="1507"/>
                    <a:pt x="684" y="1507"/>
                    <a:pt x="684" y="1507"/>
                  </a:cubicBezTo>
                  <a:cubicBezTo>
                    <a:pt x="684" y="1507"/>
                    <a:pt x="684" y="1507"/>
                    <a:pt x="684" y="1507"/>
                  </a:cubicBezTo>
                  <a:cubicBezTo>
                    <a:pt x="684" y="1507"/>
                    <a:pt x="684" y="1507"/>
                    <a:pt x="684" y="1507"/>
                  </a:cubicBezTo>
                  <a:cubicBezTo>
                    <a:pt x="684" y="1507"/>
                    <a:pt x="684" y="1510"/>
                    <a:pt x="684" y="1510"/>
                  </a:cubicBezTo>
                  <a:cubicBezTo>
                    <a:pt x="684" y="1510"/>
                    <a:pt x="684" y="1510"/>
                    <a:pt x="684" y="1510"/>
                  </a:cubicBezTo>
                  <a:cubicBezTo>
                    <a:pt x="684" y="1510"/>
                    <a:pt x="684" y="1510"/>
                    <a:pt x="684" y="1510"/>
                  </a:cubicBezTo>
                  <a:cubicBezTo>
                    <a:pt x="684" y="1510"/>
                    <a:pt x="684" y="1510"/>
                    <a:pt x="684" y="1510"/>
                  </a:cubicBezTo>
                  <a:cubicBezTo>
                    <a:pt x="684" y="1510"/>
                    <a:pt x="684" y="1510"/>
                    <a:pt x="684" y="1514"/>
                  </a:cubicBezTo>
                  <a:cubicBezTo>
                    <a:pt x="684" y="1514"/>
                    <a:pt x="684" y="1514"/>
                    <a:pt x="684" y="1514"/>
                  </a:cubicBezTo>
                  <a:cubicBezTo>
                    <a:pt x="684" y="1514"/>
                    <a:pt x="684" y="1514"/>
                    <a:pt x="684" y="1514"/>
                  </a:cubicBezTo>
                  <a:cubicBezTo>
                    <a:pt x="684" y="1514"/>
                    <a:pt x="684" y="1514"/>
                    <a:pt x="684" y="1514"/>
                  </a:cubicBezTo>
                  <a:cubicBezTo>
                    <a:pt x="684" y="1514"/>
                    <a:pt x="684" y="1514"/>
                    <a:pt x="684" y="1514"/>
                  </a:cubicBezTo>
                  <a:cubicBezTo>
                    <a:pt x="684" y="1514"/>
                    <a:pt x="684" y="1514"/>
                    <a:pt x="684" y="1514"/>
                  </a:cubicBezTo>
                  <a:cubicBezTo>
                    <a:pt x="684" y="1514"/>
                    <a:pt x="684" y="1517"/>
                    <a:pt x="684" y="1517"/>
                  </a:cubicBezTo>
                  <a:cubicBezTo>
                    <a:pt x="684" y="1517"/>
                    <a:pt x="684" y="1517"/>
                    <a:pt x="684" y="1517"/>
                  </a:cubicBezTo>
                  <a:cubicBezTo>
                    <a:pt x="684" y="1517"/>
                    <a:pt x="684" y="1517"/>
                    <a:pt x="684" y="1517"/>
                  </a:cubicBezTo>
                  <a:cubicBezTo>
                    <a:pt x="684" y="1517"/>
                    <a:pt x="684" y="1517"/>
                    <a:pt x="684" y="1517"/>
                  </a:cubicBezTo>
                  <a:cubicBezTo>
                    <a:pt x="684" y="1517"/>
                    <a:pt x="684" y="1517"/>
                    <a:pt x="684" y="1517"/>
                  </a:cubicBezTo>
                  <a:cubicBezTo>
                    <a:pt x="684" y="1517"/>
                    <a:pt x="684" y="1517"/>
                    <a:pt x="684" y="1517"/>
                  </a:cubicBezTo>
                  <a:cubicBezTo>
                    <a:pt x="684" y="1521"/>
                    <a:pt x="684" y="1521"/>
                    <a:pt x="684" y="1521"/>
                  </a:cubicBezTo>
                  <a:cubicBezTo>
                    <a:pt x="684" y="1521"/>
                    <a:pt x="684" y="1521"/>
                    <a:pt x="684" y="1521"/>
                  </a:cubicBezTo>
                  <a:cubicBezTo>
                    <a:pt x="684" y="1521"/>
                    <a:pt x="684" y="1521"/>
                    <a:pt x="684" y="1521"/>
                  </a:cubicBezTo>
                  <a:cubicBezTo>
                    <a:pt x="684" y="1521"/>
                    <a:pt x="684" y="1521"/>
                    <a:pt x="684" y="1521"/>
                  </a:cubicBezTo>
                  <a:cubicBezTo>
                    <a:pt x="684" y="1521"/>
                    <a:pt x="684" y="1521"/>
                    <a:pt x="684" y="1521"/>
                  </a:cubicBezTo>
                  <a:cubicBezTo>
                    <a:pt x="684" y="1521"/>
                    <a:pt x="684" y="1521"/>
                    <a:pt x="684" y="1524"/>
                  </a:cubicBezTo>
                  <a:cubicBezTo>
                    <a:pt x="684" y="1524"/>
                    <a:pt x="684" y="1524"/>
                    <a:pt x="684" y="1524"/>
                  </a:cubicBezTo>
                  <a:cubicBezTo>
                    <a:pt x="684" y="1524"/>
                    <a:pt x="684" y="1524"/>
                    <a:pt x="684" y="1524"/>
                  </a:cubicBezTo>
                  <a:cubicBezTo>
                    <a:pt x="684" y="1524"/>
                    <a:pt x="684" y="1524"/>
                    <a:pt x="684" y="1524"/>
                  </a:cubicBezTo>
                  <a:cubicBezTo>
                    <a:pt x="684" y="1524"/>
                    <a:pt x="684" y="1524"/>
                    <a:pt x="684" y="1524"/>
                  </a:cubicBezTo>
                  <a:cubicBezTo>
                    <a:pt x="684" y="1524"/>
                    <a:pt x="684" y="1524"/>
                    <a:pt x="684" y="1528"/>
                  </a:cubicBezTo>
                  <a:cubicBezTo>
                    <a:pt x="684" y="1528"/>
                    <a:pt x="684" y="1528"/>
                    <a:pt x="684" y="1528"/>
                  </a:cubicBezTo>
                  <a:cubicBezTo>
                    <a:pt x="684" y="1528"/>
                    <a:pt x="684" y="1528"/>
                    <a:pt x="684" y="1528"/>
                  </a:cubicBezTo>
                  <a:cubicBezTo>
                    <a:pt x="684" y="1531"/>
                    <a:pt x="684" y="1531"/>
                    <a:pt x="684" y="1531"/>
                  </a:cubicBezTo>
                  <a:cubicBezTo>
                    <a:pt x="781" y="1375"/>
                    <a:pt x="833" y="1197"/>
                    <a:pt x="833" y="1009"/>
                  </a:cubicBezTo>
                  <a:cubicBezTo>
                    <a:pt x="833" y="1009"/>
                    <a:pt x="833" y="1009"/>
                    <a:pt x="833" y="1009"/>
                  </a:cubicBezTo>
                  <a:cubicBezTo>
                    <a:pt x="833" y="1009"/>
                    <a:pt x="833" y="1009"/>
                    <a:pt x="833" y="1009"/>
                  </a:cubicBezTo>
                  <a:cubicBezTo>
                    <a:pt x="833" y="1009"/>
                    <a:pt x="833" y="1009"/>
                    <a:pt x="833" y="1006"/>
                  </a:cubicBezTo>
                  <a:cubicBezTo>
                    <a:pt x="833" y="1006"/>
                    <a:pt x="833" y="1006"/>
                    <a:pt x="833" y="1006"/>
                  </a:cubicBezTo>
                  <a:cubicBezTo>
                    <a:pt x="833" y="1006"/>
                    <a:pt x="833" y="1006"/>
                    <a:pt x="833" y="1006"/>
                  </a:cubicBezTo>
                  <a:cubicBezTo>
                    <a:pt x="833" y="1006"/>
                    <a:pt x="833" y="1006"/>
                    <a:pt x="833" y="1006"/>
                  </a:cubicBezTo>
                  <a:cubicBezTo>
                    <a:pt x="833" y="1006"/>
                    <a:pt x="833" y="1006"/>
                    <a:pt x="833" y="1006"/>
                  </a:cubicBezTo>
                  <a:cubicBezTo>
                    <a:pt x="833" y="1006"/>
                    <a:pt x="833" y="1002"/>
                    <a:pt x="833" y="1002"/>
                  </a:cubicBezTo>
                  <a:cubicBezTo>
                    <a:pt x="833" y="1002"/>
                    <a:pt x="833" y="1002"/>
                    <a:pt x="833" y="1002"/>
                  </a:cubicBezTo>
                  <a:cubicBezTo>
                    <a:pt x="833" y="1002"/>
                    <a:pt x="833" y="1002"/>
                    <a:pt x="833" y="1002"/>
                  </a:cubicBezTo>
                  <a:cubicBezTo>
                    <a:pt x="833" y="1002"/>
                    <a:pt x="833" y="1002"/>
                    <a:pt x="833" y="1002"/>
                  </a:cubicBezTo>
                  <a:cubicBezTo>
                    <a:pt x="833" y="1002"/>
                    <a:pt x="833" y="1002"/>
                    <a:pt x="833" y="1002"/>
                  </a:cubicBezTo>
                  <a:cubicBezTo>
                    <a:pt x="833" y="1002"/>
                    <a:pt x="833" y="999"/>
                    <a:pt x="833" y="999"/>
                  </a:cubicBezTo>
                  <a:cubicBezTo>
                    <a:pt x="833" y="999"/>
                    <a:pt x="833" y="999"/>
                    <a:pt x="833" y="999"/>
                  </a:cubicBezTo>
                  <a:cubicBezTo>
                    <a:pt x="833" y="999"/>
                    <a:pt x="833" y="999"/>
                    <a:pt x="833" y="999"/>
                  </a:cubicBezTo>
                  <a:cubicBezTo>
                    <a:pt x="833" y="999"/>
                    <a:pt x="833" y="999"/>
                    <a:pt x="833" y="999"/>
                  </a:cubicBezTo>
                  <a:cubicBezTo>
                    <a:pt x="833" y="999"/>
                    <a:pt x="833" y="999"/>
                    <a:pt x="833" y="999"/>
                  </a:cubicBezTo>
                  <a:cubicBezTo>
                    <a:pt x="833" y="999"/>
                    <a:pt x="833" y="995"/>
                    <a:pt x="833" y="995"/>
                  </a:cubicBezTo>
                  <a:cubicBezTo>
                    <a:pt x="833" y="995"/>
                    <a:pt x="833" y="995"/>
                    <a:pt x="833" y="995"/>
                  </a:cubicBezTo>
                  <a:cubicBezTo>
                    <a:pt x="833" y="995"/>
                    <a:pt x="833" y="995"/>
                    <a:pt x="833" y="995"/>
                  </a:cubicBezTo>
                  <a:cubicBezTo>
                    <a:pt x="833" y="995"/>
                    <a:pt x="833" y="995"/>
                    <a:pt x="833" y="995"/>
                  </a:cubicBezTo>
                  <a:cubicBezTo>
                    <a:pt x="833" y="995"/>
                    <a:pt x="833" y="995"/>
                    <a:pt x="833" y="992"/>
                  </a:cubicBezTo>
                  <a:cubicBezTo>
                    <a:pt x="833" y="992"/>
                    <a:pt x="833" y="992"/>
                    <a:pt x="833" y="992"/>
                  </a:cubicBezTo>
                  <a:cubicBezTo>
                    <a:pt x="833" y="992"/>
                    <a:pt x="833" y="992"/>
                    <a:pt x="833" y="992"/>
                  </a:cubicBezTo>
                  <a:cubicBezTo>
                    <a:pt x="833" y="992"/>
                    <a:pt x="833" y="992"/>
                    <a:pt x="833" y="992"/>
                  </a:cubicBezTo>
                  <a:cubicBezTo>
                    <a:pt x="833" y="992"/>
                    <a:pt x="833" y="992"/>
                    <a:pt x="833" y="992"/>
                  </a:cubicBezTo>
                  <a:cubicBezTo>
                    <a:pt x="833" y="992"/>
                    <a:pt x="833" y="992"/>
                    <a:pt x="833" y="988"/>
                  </a:cubicBezTo>
                  <a:cubicBezTo>
                    <a:pt x="833" y="988"/>
                    <a:pt x="833" y="988"/>
                    <a:pt x="833" y="988"/>
                  </a:cubicBezTo>
                  <a:cubicBezTo>
                    <a:pt x="833" y="988"/>
                    <a:pt x="833" y="988"/>
                    <a:pt x="833" y="988"/>
                  </a:cubicBezTo>
                  <a:cubicBezTo>
                    <a:pt x="833" y="988"/>
                    <a:pt x="833" y="988"/>
                    <a:pt x="833" y="988"/>
                  </a:cubicBezTo>
                  <a:cubicBezTo>
                    <a:pt x="833" y="988"/>
                    <a:pt x="833" y="988"/>
                    <a:pt x="833" y="988"/>
                  </a:cubicBezTo>
                  <a:cubicBezTo>
                    <a:pt x="833" y="988"/>
                    <a:pt x="833" y="988"/>
                    <a:pt x="833" y="985"/>
                  </a:cubicBezTo>
                  <a:cubicBezTo>
                    <a:pt x="833" y="985"/>
                    <a:pt x="833" y="985"/>
                    <a:pt x="833" y="985"/>
                  </a:cubicBezTo>
                  <a:cubicBezTo>
                    <a:pt x="833" y="985"/>
                    <a:pt x="833" y="985"/>
                    <a:pt x="833" y="985"/>
                  </a:cubicBezTo>
                  <a:cubicBezTo>
                    <a:pt x="833" y="985"/>
                    <a:pt x="833" y="985"/>
                    <a:pt x="833" y="985"/>
                  </a:cubicBezTo>
                  <a:cubicBezTo>
                    <a:pt x="833" y="985"/>
                    <a:pt x="833" y="985"/>
                    <a:pt x="833" y="985"/>
                  </a:cubicBezTo>
                  <a:cubicBezTo>
                    <a:pt x="833" y="985"/>
                    <a:pt x="833" y="981"/>
                    <a:pt x="833" y="981"/>
                  </a:cubicBezTo>
                  <a:cubicBezTo>
                    <a:pt x="833" y="981"/>
                    <a:pt x="833" y="981"/>
                    <a:pt x="833" y="981"/>
                  </a:cubicBezTo>
                  <a:cubicBezTo>
                    <a:pt x="833" y="981"/>
                    <a:pt x="833" y="981"/>
                    <a:pt x="833" y="981"/>
                  </a:cubicBezTo>
                  <a:cubicBezTo>
                    <a:pt x="833" y="981"/>
                    <a:pt x="833" y="981"/>
                    <a:pt x="833" y="981"/>
                  </a:cubicBezTo>
                  <a:cubicBezTo>
                    <a:pt x="833" y="981"/>
                    <a:pt x="833" y="981"/>
                    <a:pt x="833" y="981"/>
                  </a:cubicBezTo>
                  <a:cubicBezTo>
                    <a:pt x="833" y="978"/>
                    <a:pt x="833" y="978"/>
                    <a:pt x="833" y="978"/>
                  </a:cubicBezTo>
                  <a:cubicBezTo>
                    <a:pt x="833" y="978"/>
                    <a:pt x="833" y="978"/>
                    <a:pt x="833" y="978"/>
                  </a:cubicBezTo>
                  <a:cubicBezTo>
                    <a:pt x="833" y="978"/>
                    <a:pt x="833" y="978"/>
                    <a:pt x="833" y="978"/>
                  </a:cubicBezTo>
                  <a:cubicBezTo>
                    <a:pt x="833" y="978"/>
                    <a:pt x="833" y="978"/>
                    <a:pt x="833" y="978"/>
                  </a:cubicBezTo>
                  <a:cubicBezTo>
                    <a:pt x="833" y="978"/>
                    <a:pt x="833" y="978"/>
                    <a:pt x="833" y="978"/>
                  </a:cubicBezTo>
                  <a:cubicBezTo>
                    <a:pt x="833" y="974"/>
                    <a:pt x="833" y="974"/>
                    <a:pt x="833" y="974"/>
                  </a:cubicBezTo>
                  <a:cubicBezTo>
                    <a:pt x="833" y="974"/>
                    <a:pt x="833" y="974"/>
                    <a:pt x="833" y="974"/>
                  </a:cubicBezTo>
                  <a:cubicBezTo>
                    <a:pt x="833" y="974"/>
                    <a:pt x="833" y="974"/>
                    <a:pt x="833" y="974"/>
                  </a:cubicBezTo>
                  <a:cubicBezTo>
                    <a:pt x="833" y="974"/>
                    <a:pt x="833" y="974"/>
                    <a:pt x="833" y="974"/>
                  </a:cubicBezTo>
                  <a:cubicBezTo>
                    <a:pt x="833" y="974"/>
                    <a:pt x="833" y="974"/>
                    <a:pt x="833" y="974"/>
                  </a:cubicBezTo>
                  <a:cubicBezTo>
                    <a:pt x="833" y="971"/>
                    <a:pt x="833" y="971"/>
                    <a:pt x="833" y="971"/>
                  </a:cubicBezTo>
                  <a:cubicBezTo>
                    <a:pt x="833" y="971"/>
                    <a:pt x="833" y="971"/>
                    <a:pt x="833" y="971"/>
                  </a:cubicBezTo>
                  <a:cubicBezTo>
                    <a:pt x="833" y="971"/>
                    <a:pt x="833" y="971"/>
                    <a:pt x="833" y="971"/>
                  </a:cubicBezTo>
                  <a:cubicBezTo>
                    <a:pt x="833" y="971"/>
                    <a:pt x="833" y="971"/>
                    <a:pt x="833" y="971"/>
                  </a:cubicBezTo>
                  <a:cubicBezTo>
                    <a:pt x="833" y="971"/>
                    <a:pt x="833" y="967"/>
                    <a:pt x="833" y="967"/>
                  </a:cubicBezTo>
                  <a:cubicBezTo>
                    <a:pt x="833" y="967"/>
                    <a:pt x="833" y="967"/>
                    <a:pt x="833" y="967"/>
                  </a:cubicBezTo>
                  <a:cubicBezTo>
                    <a:pt x="833" y="967"/>
                    <a:pt x="833" y="967"/>
                    <a:pt x="833" y="967"/>
                  </a:cubicBezTo>
                  <a:cubicBezTo>
                    <a:pt x="833" y="967"/>
                    <a:pt x="833" y="967"/>
                    <a:pt x="833" y="967"/>
                  </a:cubicBezTo>
                  <a:cubicBezTo>
                    <a:pt x="833" y="967"/>
                    <a:pt x="833" y="967"/>
                    <a:pt x="833" y="967"/>
                  </a:cubicBezTo>
                  <a:cubicBezTo>
                    <a:pt x="833" y="964"/>
                    <a:pt x="833" y="964"/>
                    <a:pt x="833" y="964"/>
                  </a:cubicBezTo>
                  <a:cubicBezTo>
                    <a:pt x="833" y="964"/>
                    <a:pt x="833" y="964"/>
                    <a:pt x="833" y="964"/>
                  </a:cubicBezTo>
                  <a:cubicBezTo>
                    <a:pt x="833" y="964"/>
                    <a:pt x="833" y="964"/>
                    <a:pt x="833" y="964"/>
                  </a:cubicBezTo>
                  <a:cubicBezTo>
                    <a:pt x="833" y="964"/>
                    <a:pt x="833" y="964"/>
                    <a:pt x="833" y="964"/>
                  </a:cubicBezTo>
                  <a:cubicBezTo>
                    <a:pt x="833" y="964"/>
                    <a:pt x="833" y="964"/>
                    <a:pt x="833" y="964"/>
                  </a:cubicBezTo>
                  <a:cubicBezTo>
                    <a:pt x="833" y="964"/>
                    <a:pt x="833" y="960"/>
                    <a:pt x="833" y="960"/>
                  </a:cubicBezTo>
                  <a:cubicBezTo>
                    <a:pt x="833" y="960"/>
                    <a:pt x="833" y="960"/>
                    <a:pt x="833" y="960"/>
                  </a:cubicBezTo>
                  <a:cubicBezTo>
                    <a:pt x="833" y="960"/>
                    <a:pt x="833" y="960"/>
                    <a:pt x="833" y="960"/>
                  </a:cubicBezTo>
                  <a:cubicBezTo>
                    <a:pt x="833" y="960"/>
                    <a:pt x="833" y="960"/>
                    <a:pt x="833" y="960"/>
                  </a:cubicBezTo>
                  <a:cubicBezTo>
                    <a:pt x="833" y="960"/>
                    <a:pt x="833" y="960"/>
                    <a:pt x="833" y="960"/>
                  </a:cubicBezTo>
                  <a:cubicBezTo>
                    <a:pt x="833" y="960"/>
                    <a:pt x="833" y="960"/>
                    <a:pt x="833" y="957"/>
                  </a:cubicBezTo>
                  <a:cubicBezTo>
                    <a:pt x="833" y="957"/>
                    <a:pt x="833" y="957"/>
                    <a:pt x="833" y="957"/>
                  </a:cubicBezTo>
                  <a:cubicBezTo>
                    <a:pt x="833" y="957"/>
                    <a:pt x="833" y="957"/>
                    <a:pt x="833" y="957"/>
                  </a:cubicBezTo>
                  <a:cubicBezTo>
                    <a:pt x="833" y="957"/>
                    <a:pt x="833" y="953"/>
                    <a:pt x="833" y="953"/>
                  </a:cubicBezTo>
                  <a:cubicBezTo>
                    <a:pt x="833" y="953"/>
                    <a:pt x="833" y="953"/>
                    <a:pt x="833" y="953"/>
                  </a:cubicBezTo>
                  <a:cubicBezTo>
                    <a:pt x="833" y="953"/>
                    <a:pt x="833" y="950"/>
                    <a:pt x="833" y="950"/>
                  </a:cubicBezTo>
                  <a:cubicBezTo>
                    <a:pt x="833" y="950"/>
                    <a:pt x="833" y="950"/>
                    <a:pt x="833" y="950"/>
                  </a:cubicBezTo>
                  <a:cubicBezTo>
                    <a:pt x="833" y="950"/>
                    <a:pt x="833" y="950"/>
                    <a:pt x="833" y="950"/>
                  </a:cubicBezTo>
                  <a:cubicBezTo>
                    <a:pt x="833" y="950"/>
                    <a:pt x="833" y="950"/>
                    <a:pt x="833" y="950"/>
                  </a:cubicBezTo>
                  <a:cubicBezTo>
                    <a:pt x="833" y="950"/>
                    <a:pt x="833" y="950"/>
                    <a:pt x="833" y="950"/>
                  </a:cubicBezTo>
                  <a:cubicBezTo>
                    <a:pt x="833" y="950"/>
                    <a:pt x="833" y="950"/>
                    <a:pt x="833" y="950"/>
                  </a:cubicBezTo>
                  <a:cubicBezTo>
                    <a:pt x="833" y="946"/>
                    <a:pt x="833" y="946"/>
                    <a:pt x="833" y="946"/>
                  </a:cubicBezTo>
                  <a:cubicBezTo>
                    <a:pt x="833" y="946"/>
                    <a:pt x="833" y="946"/>
                    <a:pt x="833" y="946"/>
                  </a:cubicBezTo>
                  <a:cubicBezTo>
                    <a:pt x="833" y="946"/>
                    <a:pt x="833" y="946"/>
                    <a:pt x="833" y="946"/>
                  </a:cubicBezTo>
                  <a:cubicBezTo>
                    <a:pt x="833" y="946"/>
                    <a:pt x="833" y="946"/>
                    <a:pt x="833" y="946"/>
                  </a:cubicBezTo>
                  <a:cubicBezTo>
                    <a:pt x="833" y="943"/>
                    <a:pt x="833" y="939"/>
                    <a:pt x="833" y="936"/>
                  </a:cubicBezTo>
                  <a:cubicBezTo>
                    <a:pt x="833" y="936"/>
                    <a:pt x="833" y="936"/>
                    <a:pt x="833" y="936"/>
                  </a:cubicBezTo>
                  <a:cubicBezTo>
                    <a:pt x="833" y="936"/>
                    <a:pt x="833" y="936"/>
                    <a:pt x="833" y="936"/>
                  </a:cubicBezTo>
                  <a:cubicBezTo>
                    <a:pt x="833" y="936"/>
                    <a:pt x="833" y="936"/>
                    <a:pt x="833" y="936"/>
                  </a:cubicBezTo>
                  <a:cubicBezTo>
                    <a:pt x="801" y="518"/>
                    <a:pt x="504" y="167"/>
                    <a:pt x="88" y="0"/>
                  </a:cubicBezTo>
                </a:path>
              </a:pathLst>
            </a:custGeom>
            <a:solidFill>
              <a:srgbClr val="00549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2" name="path"/>
          <p:cNvSpPr/>
          <p:nvPr/>
        </p:nvSpPr>
        <p:spPr>
          <a:xfrm>
            <a:off x="3279406" y="2198137"/>
            <a:ext cx="586983" cy="1004148"/>
          </a:xfrm>
          <a:custGeom>
            <a:avLst/>
            <a:gdLst/>
            <a:ahLst/>
            <a:cxnLst/>
            <a:rect l="0" t="0" r="0" b="0"/>
            <a:pathLst>
              <a:path w="924" h="1581">
                <a:moveTo>
                  <a:pt x="148" y="1577"/>
                </a:moveTo>
                <a:cubicBezTo>
                  <a:pt x="148" y="1138"/>
                  <a:pt x="472" y="769"/>
                  <a:pt x="924" y="637"/>
                </a:cubicBezTo>
                <a:cubicBezTo>
                  <a:pt x="888" y="0"/>
                  <a:pt x="888" y="0"/>
                  <a:pt x="888" y="0"/>
                </a:cubicBezTo>
                <a:cubicBezTo>
                  <a:pt x="372" y="142"/>
                  <a:pt x="0" y="564"/>
                  <a:pt x="0" y="1058"/>
                </a:cubicBezTo>
                <a:cubicBezTo>
                  <a:pt x="0" y="1246"/>
                  <a:pt x="52" y="1424"/>
                  <a:pt x="148" y="1581"/>
                </a:cubicBezTo>
                <a:lnTo>
                  <a:pt x="148" y="1577"/>
                </a:lnTo>
                <a:close/>
              </a:path>
            </a:pathLst>
          </a:custGeom>
          <a:solidFill>
            <a:srgbClr val="00549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4" name="textbox 194"/>
          <p:cNvSpPr/>
          <p:nvPr/>
        </p:nvSpPr>
        <p:spPr>
          <a:xfrm>
            <a:off x="3759772" y="978819"/>
            <a:ext cx="629919" cy="2773045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lang="en-US" altLang="en-US" sz="9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1319530" algn="l" rtl="0" eaLnBrk="0">
              <a:lnSpc>
                <a:spcPct val="81000"/>
              </a:lnSpc>
            </a:pPr>
            <a:r>
              <a:rPr sz="1800" b="1" kern="0" spc="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</a:t>
            </a:r>
            <a:r>
              <a:rPr sz="1800" b="1" kern="0" spc="-6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值主</a:t>
            </a:r>
            <a:r>
              <a:rPr sz="1800" b="1" kern="0" spc="-8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2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</a:t>
            </a:r>
            <a:r>
              <a:rPr sz="1800" b="1" kern="0" spc="0" dirty="0">
                <a:solidFill>
                  <a:srgbClr val="D9D9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endParaRPr lang="en-US" altLang="en-US" sz="1800" dirty="0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3772472" y="991519"/>
            <a:ext cx="604202" cy="1253131"/>
            <a:chOff x="0" y="0"/>
            <a:chExt cx="604202" cy="1253131"/>
          </a:xfrm>
        </p:grpSpPr>
        <p:sp>
          <p:nvSpPr>
            <p:cNvPr id="196" name="path"/>
            <p:cNvSpPr/>
            <p:nvPr/>
          </p:nvSpPr>
          <p:spPr>
            <a:xfrm>
              <a:off x="0" y="0"/>
              <a:ext cx="604202" cy="615621"/>
            </a:xfrm>
            <a:custGeom>
              <a:avLst/>
              <a:gdLst/>
              <a:ahLst/>
              <a:cxnLst/>
              <a:rect l="0" t="0" r="0" b="0"/>
              <a:pathLst>
                <a:path w="951" h="969">
                  <a:moveTo>
                    <a:pt x="475" y="969"/>
                  </a:moveTo>
                  <a:cubicBezTo>
                    <a:pt x="643" y="969"/>
                    <a:pt x="803" y="948"/>
                    <a:pt x="951" y="903"/>
                  </a:cubicBezTo>
                  <a:cubicBezTo>
                    <a:pt x="867" y="554"/>
                    <a:pt x="699" y="244"/>
                    <a:pt x="475" y="0"/>
                  </a:cubicBezTo>
                  <a:cubicBezTo>
                    <a:pt x="251" y="244"/>
                    <a:pt x="83" y="554"/>
                    <a:pt x="0" y="903"/>
                  </a:cubicBezTo>
                  <a:cubicBezTo>
                    <a:pt x="147" y="948"/>
                    <a:pt x="307" y="969"/>
                    <a:pt x="475" y="969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8" name="path"/>
            <p:cNvSpPr/>
            <p:nvPr/>
          </p:nvSpPr>
          <p:spPr>
            <a:xfrm>
              <a:off x="56351" y="826301"/>
              <a:ext cx="491502" cy="426830"/>
            </a:xfrm>
            <a:custGeom>
              <a:avLst/>
              <a:gdLst/>
              <a:ahLst/>
              <a:cxnLst/>
              <a:rect l="0" t="0" r="0" b="0"/>
              <a:pathLst>
                <a:path w="774" h="672">
                  <a:moveTo>
                    <a:pt x="0" y="336"/>
                  </a:moveTo>
                  <a:cubicBezTo>
                    <a:pt x="0" y="150"/>
                    <a:pt x="173" y="0"/>
                    <a:pt x="387" y="0"/>
                  </a:cubicBezTo>
                  <a:cubicBezTo>
                    <a:pt x="600" y="0"/>
                    <a:pt x="774" y="150"/>
                    <a:pt x="774" y="336"/>
                  </a:cubicBezTo>
                  <a:cubicBezTo>
                    <a:pt x="774" y="521"/>
                    <a:pt x="600" y="672"/>
                    <a:pt x="387" y="672"/>
                  </a:cubicBezTo>
                  <a:cubicBezTo>
                    <a:pt x="173" y="672"/>
                    <a:pt x="0" y="521"/>
                    <a:pt x="0" y="336"/>
                  </a:cubicBezTo>
                </a:path>
              </a:pathLst>
            </a:custGeom>
            <a:solidFill>
              <a:srgbClr val="00386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0" name="path"/>
            <p:cNvSpPr/>
            <p:nvPr/>
          </p:nvSpPr>
          <p:spPr>
            <a:xfrm>
              <a:off x="111136" y="872814"/>
              <a:ext cx="381930" cy="333803"/>
            </a:xfrm>
            <a:custGeom>
              <a:avLst/>
              <a:gdLst/>
              <a:ahLst/>
              <a:cxnLst/>
              <a:rect l="0" t="0" r="0" b="0"/>
              <a:pathLst>
                <a:path w="601" h="525">
                  <a:moveTo>
                    <a:pt x="0" y="262"/>
                  </a:moveTo>
                  <a:cubicBezTo>
                    <a:pt x="0" y="117"/>
                    <a:pt x="134" y="0"/>
                    <a:pt x="300" y="0"/>
                  </a:cubicBezTo>
                  <a:cubicBezTo>
                    <a:pt x="466" y="0"/>
                    <a:pt x="601" y="117"/>
                    <a:pt x="601" y="262"/>
                  </a:cubicBezTo>
                  <a:cubicBezTo>
                    <a:pt x="601" y="407"/>
                    <a:pt x="466" y="525"/>
                    <a:pt x="300" y="525"/>
                  </a:cubicBezTo>
                  <a:cubicBezTo>
                    <a:pt x="134" y="525"/>
                    <a:pt x="0" y="407"/>
                    <a:pt x="0" y="26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2" name="textbox 202"/>
          <p:cNvSpPr/>
          <p:nvPr/>
        </p:nvSpPr>
        <p:spPr>
          <a:xfrm>
            <a:off x="6044139" y="1929713"/>
            <a:ext cx="871219" cy="12452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2100" b="1" kern="0" spc="8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清晰度</a:t>
            </a:r>
            <a:endParaRPr lang="en-US" altLang="en-US" sz="21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500" dirty="0"/>
          </a:p>
          <a:p>
            <a:pPr marL="23495" algn="l" rtl="0" eaLnBrk="0">
              <a:lnSpc>
                <a:spcPct val="94000"/>
              </a:lnSpc>
              <a:spcBef>
                <a:spcPts val="0"/>
              </a:spcBef>
            </a:pPr>
            <a:r>
              <a:rPr sz="2100" b="1" kern="0" spc="80" dirty="0">
                <a:solidFill>
                  <a:srgbClr val="E75B4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焦虑感</a:t>
            </a:r>
            <a:endParaRPr lang="en-US" altLang="en-US" sz="2100" dirty="0"/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71227" y="1651287"/>
            <a:ext cx="408682" cy="709401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95852" y="2428251"/>
            <a:ext cx="408682" cy="709402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3751808" y="3923106"/>
            <a:ext cx="1022350" cy="3251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2100" b="1" kern="0" spc="50" dirty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 急 度</a:t>
            </a:r>
            <a:endParaRPr lang="en-US" altLang="en-US" sz="2100" dirty="0"/>
          </a:p>
        </p:txBody>
      </p:sp>
      <p:pic>
        <p:nvPicPr>
          <p:cNvPr id="212" name="picture 2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214" name="textbox 214"/>
          <p:cNvSpPr/>
          <p:nvPr/>
        </p:nvSpPr>
        <p:spPr>
          <a:xfrm>
            <a:off x="429664" y="327913"/>
            <a:ext cx="807719" cy="2698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800" kern="0" spc="-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Lift模型</a:t>
            </a:r>
            <a:endParaRPr lang="en-US" altLang="en-US" sz="1800" dirty="0"/>
          </a:p>
        </p:txBody>
      </p:sp>
      <p:sp>
        <p:nvSpPr>
          <p:cNvPr id="216" name="textbox 21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picture 2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026570" y="1358350"/>
            <a:ext cx="5090858" cy="2154477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440866" y="325399"/>
            <a:ext cx="2278379" cy="2724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目的是让用户产生动力</a:t>
            </a:r>
            <a:endParaRPr lang="en-US" altLang="en-US" sz="1800" dirty="0"/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 2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60988" y="1012162"/>
            <a:ext cx="6912767" cy="3119174"/>
          </a:xfrm>
          <a:prstGeom prst="rect">
            <a:avLst/>
          </a:prstGeom>
        </p:spPr>
      </p:pic>
      <p:pic>
        <p:nvPicPr>
          <p:cNvPr id="230" name="picture 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232" name="picture 2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234" name="textbox 234"/>
          <p:cNvSpPr/>
          <p:nvPr/>
        </p:nvSpPr>
        <p:spPr>
          <a:xfrm>
            <a:off x="410690" y="327456"/>
            <a:ext cx="708025" cy="2705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</a:t>
            </a:r>
            <a:endParaRPr lang="en-US" altLang="en-US" sz="1800" dirty="0"/>
          </a:p>
        </p:txBody>
      </p:sp>
      <p:sp>
        <p:nvSpPr>
          <p:cNvPr id="236" name="textbox 23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5800" y="968040"/>
            <a:ext cx="7772400" cy="3207419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244" name="textbox 244"/>
          <p:cNvSpPr/>
          <p:nvPr/>
        </p:nvSpPr>
        <p:spPr>
          <a:xfrm>
            <a:off x="410233" y="325170"/>
            <a:ext cx="708659" cy="273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清晰度</a:t>
            </a:r>
            <a:endParaRPr lang="en-US" altLang="en-US" sz="1800" dirty="0"/>
          </a:p>
        </p:txBody>
      </p:sp>
      <p:sp>
        <p:nvSpPr>
          <p:cNvPr id="246" name="textbox 24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2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5800" y="983146"/>
            <a:ext cx="7772400" cy="3177204"/>
          </a:xfrm>
          <a:prstGeom prst="rect">
            <a:avLst/>
          </a:prstGeom>
        </p:spPr>
      </p:pic>
      <p:pic>
        <p:nvPicPr>
          <p:cNvPr id="250" name="picture 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254" name="textbox 254"/>
          <p:cNvSpPr/>
          <p:nvPr/>
        </p:nvSpPr>
        <p:spPr>
          <a:xfrm>
            <a:off x="410233" y="324941"/>
            <a:ext cx="708659" cy="273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</a:t>
            </a:r>
            <a:endParaRPr lang="en-US" altLang="en-US" sz="1800" dirty="0"/>
          </a:p>
        </p:txBody>
      </p:sp>
      <p:sp>
        <p:nvSpPr>
          <p:cNvPr id="256" name="textbox 25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5800" y="993216"/>
            <a:ext cx="7772400" cy="3157066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264" name="textbox 264"/>
          <p:cNvSpPr/>
          <p:nvPr/>
        </p:nvSpPr>
        <p:spPr>
          <a:xfrm>
            <a:off x="411376" y="325856"/>
            <a:ext cx="707390" cy="271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焦虑感</a:t>
            </a:r>
            <a:endParaRPr lang="en-US" altLang="en-US" sz="1800" dirty="0"/>
          </a:p>
        </p:txBody>
      </p:sp>
      <p:sp>
        <p:nvSpPr>
          <p:cNvPr id="266" name="textbox 26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2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78079" y="925239"/>
            <a:ext cx="7772400" cy="3153373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274" name="textbox 274"/>
          <p:cNvSpPr/>
          <p:nvPr/>
        </p:nvSpPr>
        <p:spPr>
          <a:xfrm>
            <a:off x="5946824" y="985214"/>
            <a:ext cx="1075055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比价类APP示例</a:t>
            </a:r>
            <a:endParaRPr lang="en-US" altLang="en-US" sz="1200" dirty="0"/>
          </a:p>
        </p:txBody>
      </p:sp>
      <p:sp>
        <p:nvSpPr>
          <p:cNvPr id="276" name="textbox 276"/>
          <p:cNvSpPr/>
          <p:nvPr/>
        </p:nvSpPr>
        <p:spPr>
          <a:xfrm>
            <a:off x="417091" y="325170"/>
            <a:ext cx="701675" cy="273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3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紧急度</a:t>
            </a:r>
            <a:endParaRPr lang="en-US" altLang="en-US" sz="1800" dirty="0"/>
          </a:p>
        </p:txBody>
      </p:sp>
      <p:sp>
        <p:nvSpPr>
          <p:cNvPr id="278" name="textbox 278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picture 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318000" y="462043"/>
            <a:ext cx="3825999" cy="4668756"/>
          </a:xfrm>
          <a:prstGeom prst="rect">
            <a:avLst/>
          </a:prstGeom>
        </p:spPr>
      </p:pic>
      <p:sp>
        <p:nvSpPr>
          <p:cNvPr id="282" name="textbox 282"/>
          <p:cNvSpPr/>
          <p:nvPr/>
        </p:nvSpPr>
        <p:spPr>
          <a:xfrm>
            <a:off x="1359154" y="2325877"/>
            <a:ext cx="2375535" cy="5708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6100" b="1" kern="0" spc="10" baseline="-1700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3900" b="1" kern="0" spc="64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kern="0" spc="10" baseline="30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指标增长思路</a:t>
            </a:r>
            <a:endParaRPr lang="en-US" altLang="en-US" sz="3000" baseline="30000" dirty="0"/>
          </a:p>
        </p:txBody>
      </p:sp>
      <p:pic>
        <p:nvPicPr>
          <p:cNvPr id="284" name="picture 2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5147" y="257175"/>
            <a:ext cx="1218993" cy="297315"/>
          </a:xfrm>
          <a:prstGeom prst="rect">
            <a:avLst/>
          </a:prstGeom>
        </p:spPr>
      </p:pic>
      <p:pic>
        <p:nvPicPr>
          <p:cNvPr id="286" name="picture 2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93727" y="281842"/>
            <a:ext cx="1090079" cy="246672"/>
          </a:xfrm>
          <a:prstGeom prst="rect">
            <a:avLst/>
          </a:prstGeom>
        </p:spPr>
      </p:pic>
      <p:sp>
        <p:nvSpPr>
          <p:cNvPr id="288" name="textbox 288"/>
          <p:cNvSpPr/>
          <p:nvPr/>
        </p:nvSpPr>
        <p:spPr>
          <a:xfrm>
            <a:off x="1865706" y="321055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5800" y="922611"/>
            <a:ext cx="7772400" cy="3298276"/>
          </a:xfrm>
          <a:prstGeom prst="rect">
            <a:avLst/>
          </a:prstGeom>
        </p:spPr>
      </p:pic>
      <p:sp>
        <p:nvSpPr>
          <p:cNvPr id="292" name="textbox 292"/>
          <p:cNvSpPr/>
          <p:nvPr/>
        </p:nvSpPr>
        <p:spPr>
          <a:xfrm>
            <a:off x="410005" y="306653"/>
            <a:ext cx="4245609" cy="273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针对外卖页抵达率7%的瓶颈我们</a:t>
            </a: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能做什么</a:t>
            </a:r>
            <a:endParaRPr lang="en-US" altLang="en-US" sz="1800" dirty="0"/>
          </a:p>
        </p:txBody>
      </p:sp>
      <p:pic>
        <p:nvPicPr>
          <p:cNvPr id="294" name="picture 2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5946824" y="4426406"/>
            <a:ext cx="1075055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比价类APP示例</a:t>
            </a:r>
            <a:endParaRPr lang="en-US" altLang="en-US" sz="1200" dirty="0"/>
          </a:p>
        </p:txBody>
      </p:sp>
      <p:sp>
        <p:nvSpPr>
          <p:cNvPr id="300" name="textbox 300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picture 3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67544" y="755243"/>
            <a:ext cx="7772400" cy="3633012"/>
          </a:xfrm>
          <a:prstGeom prst="rect">
            <a:avLst/>
          </a:prstGeom>
        </p:spPr>
      </p:pic>
      <p:sp>
        <p:nvSpPr>
          <p:cNvPr id="304" name="textbox 304"/>
          <p:cNvSpPr/>
          <p:nvPr/>
        </p:nvSpPr>
        <p:spPr>
          <a:xfrm>
            <a:off x="410005" y="306653"/>
            <a:ext cx="4245609" cy="273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针对外卖页抵达率7%的瓶颈我们</a:t>
            </a: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能做什么</a:t>
            </a:r>
            <a:endParaRPr lang="en-US" altLang="en-US" sz="1800" dirty="0"/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310" name="textbox 310"/>
          <p:cNvSpPr/>
          <p:nvPr/>
        </p:nvSpPr>
        <p:spPr>
          <a:xfrm>
            <a:off x="1449957" y="4444694"/>
            <a:ext cx="1075055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比价类APP示例</a:t>
            </a:r>
            <a:endParaRPr lang="en-US" altLang="en-US" sz="1200" dirty="0"/>
          </a:p>
        </p:txBody>
      </p:sp>
      <p:sp>
        <p:nvSpPr>
          <p:cNvPr id="312" name="textbox 312"/>
          <p:cNvSpPr/>
          <p:nvPr/>
        </p:nvSpPr>
        <p:spPr>
          <a:xfrm>
            <a:off x="5437099" y="4444694"/>
            <a:ext cx="1075055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比价类APP示例</a:t>
            </a:r>
            <a:endParaRPr lang="en-US" altLang="en-US" sz="1200" dirty="0"/>
          </a:p>
        </p:txBody>
      </p:sp>
      <p:sp>
        <p:nvSpPr>
          <p:cNvPr id="314" name="textbox 314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3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67544" y="1215133"/>
            <a:ext cx="7990655" cy="2796775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6422309" y="436242"/>
            <a:ext cx="1356994" cy="369570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lang="en-US" altLang="en-US" sz="400" dirty="0"/>
          </a:p>
          <a:p>
            <a:pPr marL="99060" algn="l" rtl="0" eaLnBrk="0">
              <a:lnSpc>
                <a:spcPct val="95000"/>
              </a:lnSpc>
              <a:spcBef>
                <a:spcPts val="5"/>
              </a:spcBef>
            </a:pP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模拟结果</a:t>
            </a:r>
            <a:endParaRPr lang="en-US" altLang="en-US" sz="1800" dirty="0"/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324" name="textbox 324"/>
          <p:cNvSpPr/>
          <p:nvPr/>
        </p:nvSpPr>
        <p:spPr>
          <a:xfrm>
            <a:off x="411376" y="307796"/>
            <a:ext cx="935989" cy="271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实验结果</a:t>
            </a:r>
            <a:endParaRPr lang="en-US" altLang="en-US" sz="1800" dirty="0"/>
          </a:p>
        </p:txBody>
      </p:sp>
      <p:sp>
        <p:nvSpPr>
          <p:cNvPr id="326" name="textbox 32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picture 3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5800" y="725087"/>
            <a:ext cx="7772400" cy="3693325"/>
          </a:xfrm>
          <a:prstGeom prst="rect">
            <a:avLst/>
          </a:prstGeom>
        </p:spPr>
      </p:pic>
      <p:sp>
        <p:nvSpPr>
          <p:cNvPr id="330" name="textbox 330"/>
          <p:cNvSpPr/>
          <p:nvPr/>
        </p:nvSpPr>
        <p:spPr>
          <a:xfrm>
            <a:off x="410005" y="306653"/>
            <a:ext cx="3451859" cy="273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这并不是需要大团队才能</a:t>
            </a: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做得事儿</a:t>
            </a:r>
            <a:endParaRPr lang="en-US" altLang="en-US" sz="1800" dirty="0"/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336" name="textbox 33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picture 3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74491" y="678098"/>
            <a:ext cx="7772400" cy="3693266"/>
          </a:xfrm>
          <a:prstGeom prst="rect">
            <a:avLst/>
          </a:prstGeom>
        </p:spPr>
      </p:pic>
      <p:pic>
        <p:nvPicPr>
          <p:cNvPr id="340" name="picture 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342" name="picture 3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344" name="textbox 344"/>
          <p:cNvSpPr/>
          <p:nvPr/>
        </p:nvSpPr>
        <p:spPr>
          <a:xfrm>
            <a:off x="411376" y="307796"/>
            <a:ext cx="478790" cy="271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小结</a:t>
            </a:r>
            <a:endParaRPr lang="en-US" altLang="en-US" sz="1800" dirty="0"/>
          </a:p>
        </p:txBody>
      </p:sp>
      <p:sp>
        <p:nvSpPr>
          <p:cNvPr id="346" name="textbox 34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picture 3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99105" y="90743"/>
            <a:ext cx="7772400" cy="4373060"/>
          </a:xfrm>
          <a:prstGeom prst="rect">
            <a:avLst/>
          </a:prstGeom>
        </p:spPr>
      </p:pic>
      <p:pic>
        <p:nvPicPr>
          <p:cNvPr id="350" name="picture 3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352" name="picture 3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354" name="textbox 354"/>
          <p:cNvSpPr/>
          <p:nvPr/>
        </p:nvSpPr>
        <p:spPr>
          <a:xfrm>
            <a:off x="411376" y="307796"/>
            <a:ext cx="478790" cy="271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小结</a:t>
            </a:r>
            <a:endParaRPr lang="en-US" altLang="en-US" sz="1800" dirty="0"/>
          </a:p>
        </p:txBody>
      </p:sp>
      <p:sp>
        <p:nvSpPr>
          <p:cNvPr id="356" name="textbox 356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picture 3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318000" y="462043"/>
            <a:ext cx="3825999" cy="4668756"/>
          </a:xfrm>
          <a:prstGeom prst="rect">
            <a:avLst/>
          </a:prstGeom>
        </p:spPr>
      </p:pic>
      <p:sp>
        <p:nvSpPr>
          <p:cNvPr id="360" name="textbox 360"/>
          <p:cNvSpPr/>
          <p:nvPr/>
        </p:nvSpPr>
        <p:spPr>
          <a:xfrm>
            <a:off x="1359154" y="2325877"/>
            <a:ext cx="2883535" cy="5708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6100" b="1" kern="0" spc="20" baseline="-2000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3900" b="1" kern="0" spc="620" dirty="0">
                <a:solidFill>
                  <a:srgbClr val="FF5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kern="0" spc="20" baseline="24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抖音集团案例实践</a:t>
            </a:r>
            <a:endParaRPr lang="en-US" altLang="en-US" sz="3000" baseline="24000" dirty="0"/>
          </a:p>
        </p:txBody>
      </p:sp>
      <p:pic>
        <p:nvPicPr>
          <p:cNvPr id="362" name="picture 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5147" y="257175"/>
            <a:ext cx="1218993" cy="297315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93727" y="281842"/>
            <a:ext cx="1090079" cy="246672"/>
          </a:xfrm>
          <a:prstGeom prst="rect">
            <a:avLst/>
          </a:prstGeom>
        </p:spPr>
      </p:pic>
      <p:sp>
        <p:nvSpPr>
          <p:cNvPr id="366" name="textbox 366"/>
          <p:cNvSpPr/>
          <p:nvPr/>
        </p:nvSpPr>
        <p:spPr>
          <a:xfrm>
            <a:off x="1865706" y="321055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picture 3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26273" y="806450"/>
            <a:ext cx="7772398" cy="3530598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09352" y="233541"/>
            <a:ext cx="1485899" cy="381000"/>
          </a:xfrm>
          <a:prstGeom prst="rect">
            <a:avLst/>
          </a:prstGeom>
        </p:spPr>
      </p:pic>
      <p:pic>
        <p:nvPicPr>
          <p:cNvPr id="372" name="picture 3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376" name="textbox 376"/>
          <p:cNvSpPr/>
          <p:nvPr/>
        </p:nvSpPr>
        <p:spPr>
          <a:xfrm>
            <a:off x="410690" y="307339"/>
            <a:ext cx="708025" cy="2724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</a:t>
            </a:r>
            <a:endParaRPr lang="en-US" altLang="en-US" sz="1800" dirty="0"/>
          </a:p>
        </p:txBody>
      </p:sp>
      <p:sp>
        <p:nvSpPr>
          <p:cNvPr id="378" name="textbox 378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3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5800" y="884905"/>
            <a:ext cx="7772400" cy="3373687"/>
          </a:xfrm>
          <a:prstGeom prst="rect">
            <a:avLst/>
          </a:prstGeom>
        </p:spPr>
      </p:pic>
      <p:pic>
        <p:nvPicPr>
          <p:cNvPr id="382" name="picture 3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09352" y="233541"/>
            <a:ext cx="1485899" cy="381000"/>
          </a:xfrm>
          <a:prstGeom prst="rect">
            <a:avLst/>
          </a:prstGeom>
        </p:spPr>
      </p:pic>
      <p:pic>
        <p:nvPicPr>
          <p:cNvPr id="384" name="picture 3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388" name="textbox 388"/>
          <p:cNvSpPr/>
          <p:nvPr/>
        </p:nvSpPr>
        <p:spPr>
          <a:xfrm>
            <a:off x="410690" y="307339"/>
            <a:ext cx="708025" cy="2724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</a:t>
            </a:r>
            <a:endParaRPr lang="en-US" altLang="en-US" sz="1800" dirty="0"/>
          </a:p>
        </p:txBody>
      </p:sp>
      <p:sp>
        <p:nvSpPr>
          <p:cNvPr id="390" name="textbox 390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picture 3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23527" y="815368"/>
            <a:ext cx="7772400" cy="3512762"/>
          </a:xfrm>
          <a:prstGeom prst="rect">
            <a:avLst/>
          </a:prstGeom>
        </p:spPr>
      </p:pic>
      <p:pic>
        <p:nvPicPr>
          <p:cNvPr id="394" name="picture 3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6869" y="4719456"/>
            <a:ext cx="1218993" cy="297315"/>
          </a:xfrm>
          <a:prstGeom prst="rect">
            <a:avLst/>
          </a:prstGeom>
        </p:spPr>
      </p:pic>
      <p:sp>
        <p:nvSpPr>
          <p:cNvPr id="396" name="textbox 396"/>
          <p:cNvSpPr/>
          <p:nvPr/>
        </p:nvSpPr>
        <p:spPr>
          <a:xfrm>
            <a:off x="410690" y="307339"/>
            <a:ext cx="1263650" cy="2724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1800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案例二-抖音</a:t>
            </a:r>
            <a:endParaRPr lang="en-US" altLang="en-US" sz="1800" dirty="0"/>
          </a:p>
        </p:txBody>
      </p:sp>
      <p:pic>
        <p:nvPicPr>
          <p:cNvPr id="398" name="picture 3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66624" y="4767751"/>
            <a:ext cx="1092151" cy="246673"/>
          </a:xfrm>
          <a:prstGeom prst="rect">
            <a:avLst/>
          </a:prstGeom>
        </p:spPr>
      </p:pic>
      <p:sp>
        <p:nvSpPr>
          <p:cNvPr id="400" name="textbox 400"/>
          <p:cNvSpPr/>
          <p:nvPr/>
        </p:nvSpPr>
        <p:spPr>
          <a:xfrm>
            <a:off x="7739456" y="4795519"/>
            <a:ext cx="86994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endParaRPr lang="en-US" alt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picture 4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318000" y="462043"/>
            <a:ext cx="3825999" cy="4668756"/>
          </a:xfrm>
          <a:prstGeom prst="rect">
            <a:avLst/>
          </a:prstGeom>
        </p:spPr>
      </p:pic>
      <p:sp>
        <p:nvSpPr>
          <p:cNvPr id="408" name="textbox 408"/>
          <p:cNvSpPr/>
          <p:nvPr/>
        </p:nvSpPr>
        <p:spPr>
          <a:xfrm>
            <a:off x="820877" y="1834895"/>
            <a:ext cx="4463415" cy="11601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0000"/>
              </a:lnSpc>
            </a:pPr>
            <a:r>
              <a:rPr sz="4000" b="1" u="sng" kern="0" spc="360" dirty="0">
                <a:solidFill>
                  <a:srgbClr val="FF5000">
                    <a:alpha val="100000"/>
                  </a:srgbClr>
                </a:solidFill>
                <a:uFill>
                  <a:solidFill>
                    <a:srgbClr val="40404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非常感谢您的观看</a:t>
            </a:r>
            <a:endParaRPr lang="en-US" altLang="en-US" sz="4000" dirty="0"/>
          </a:p>
          <a:p>
            <a:pPr algn="l" rtl="0" eaLnBrk="0">
              <a:lnSpc>
                <a:spcPct val="141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400" dirty="0"/>
          </a:p>
          <a:p>
            <a:pPr marL="916305" algn="l" rtl="0" eaLnBrk="0">
              <a:lnSpc>
                <a:spcPts val="2385"/>
              </a:lnSpc>
              <a:spcBef>
                <a:spcPts val="0"/>
              </a:spcBef>
            </a:pPr>
            <a:r>
              <a:rPr sz="1800" kern="0" spc="70" dirty="0">
                <a:solidFill>
                  <a:srgbClr val="0067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上火山引擎</a:t>
            </a:r>
            <a:r>
              <a:rPr sz="1800" kern="0" spc="70" dirty="0">
                <a:solidFill>
                  <a:srgbClr val="0067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700" kern="0" spc="70" baseline="-1900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|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endParaRPr lang="en-US" altLang="en-US" sz="1100" dirty="0"/>
          </a:p>
        </p:txBody>
      </p:sp>
      <p:pic>
        <p:nvPicPr>
          <p:cNvPr id="410" name="picture 4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06255" y="2738190"/>
            <a:ext cx="1092151" cy="23753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QyN2NhNTE5NzU0NTUzN2YxYTlmYWRhNWNmNmQ3ZTk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2411</Words>
  <Application>WPS 演示</Application>
  <PresentationFormat/>
  <Paragraphs>719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Calibri</vt:lpstr>
      <vt:lpstr>Segoe UI Symbol</vt:lpstr>
      <vt:lpstr>Arial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风巽擎天＠</cp:lastModifiedBy>
  <cp:revision>1</cp:revision>
  <dcterms:created xsi:type="dcterms:W3CDTF">2024-03-04T07:16:29Z</dcterms:created>
  <dcterms:modified xsi:type="dcterms:W3CDTF">2024-03-04T07:16:29Z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</vt:lpwstr>
  </property>
  <property fmtid="{D5CDD505-2E9C-101B-9397-08002B2CF9AE}" pid="3" name="Created">
    <vt:filetime>2024-03-04T14:34:11Z</vt:filetime>
  </property>
  <property fmtid="{D5CDD505-2E9C-101B-9397-08002B2CF9AE}" pid="4" name="ICV">
    <vt:lpwstr>C30DF2DA5D2B43F2876458DE0B9BAF30_12</vt:lpwstr>
  </property>
  <property fmtid="{D5CDD505-2E9C-101B-9397-08002B2CF9AE}" pid="5" name="KSOProductBuildVer">
    <vt:lpwstr>2052-12.1.0.16388</vt:lpwstr>
  </property>
</Properties>
</file>