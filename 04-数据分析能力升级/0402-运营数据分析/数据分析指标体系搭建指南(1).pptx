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Default Extension="fntdata" ContentType="application/x-fontdata"/>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1"/>
  </p:notesMasterIdLst>
  <p:sldIdLst>
    <p:sldId id="308" r:id="rId2"/>
    <p:sldId id="258" r:id="rId3"/>
    <p:sldId id="259" r:id="rId4"/>
    <p:sldId id="260" r:id="rId5"/>
    <p:sldId id="313" r:id="rId6"/>
    <p:sldId id="314" r:id="rId7"/>
    <p:sldId id="315" r:id="rId8"/>
    <p:sldId id="263" r:id="rId9"/>
    <p:sldId id="312" r:id="rId10"/>
  </p:sldIdLst>
  <p:sldSz cx="10801350" cy="7200900"/>
  <p:notesSz cx="6858000" cy="9144000"/>
  <p:embeddedFontLst>
    <p:embeddedFont>
      <p:font typeface="Impact" pitchFamily="34" charset="0"/>
      <p:regular r:id="rId12"/>
    </p:embeddedFont>
    <p:embeddedFont>
      <p:font typeface="微软雅黑" pitchFamily="34" charset="-122"/>
      <p:regular r:id="rId13"/>
      <p:bold r:id="rId14"/>
    </p:embeddedFont>
    <p:embeddedFont>
      <p:font typeface="Arial Unicode MS" pitchFamily="34" charset="-122"/>
      <p:regular r:id="rId15"/>
    </p:embeddedFont>
    <p:embeddedFont>
      <p:font typeface="Calibri" pitchFamily="34" charset="0"/>
      <p:regular r:id="rId16"/>
      <p:bold r:id="rId17"/>
      <p:italic r:id="rId18"/>
      <p:boldItalic r:id="rId19"/>
    </p:embeddedFont>
  </p:embeddedFontLst>
  <p:defaultTextStyle>
    <a:defPPr>
      <a:defRPr lang="zh-CN"/>
    </a:defPPr>
    <a:lvl1pPr algn="l" defTabSz="1028700" rtl="0" fontAlgn="base">
      <a:spcBef>
        <a:spcPct val="0"/>
      </a:spcBef>
      <a:spcAft>
        <a:spcPct val="0"/>
      </a:spcAft>
      <a:defRPr sz="2000" kern="1200">
        <a:solidFill>
          <a:schemeClr val="tx1"/>
        </a:solidFill>
        <a:latin typeface="Calibri" pitchFamily="34" charset="0"/>
        <a:ea typeface="宋体" charset="-122"/>
        <a:cs typeface="+mn-cs"/>
      </a:defRPr>
    </a:lvl1pPr>
    <a:lvl2pPr marL="514350" indent="-57150" algn="l" defTabSz="1028700" rtl="0" fontAlgn="base">
      <a:spcBef>
        <a:spcPct val="0"/>
      </a:spcBef>
      <a:spcAft>
        <a:spcPct val="0"/>
      </a:spcAft>
      <a:defRPr sz="2000" kern="1200">
        <a:solidFill>
          <a:schemeClr val="tx1"/>
        </a:solidFill>
        <a:latin typeface="Calibri" pitchFamily="34" charset="0"/>
        <a:ea typeface="宋体" charset="-122"/>
        <a:cs typeface="+mn-cs"/>
      </a:defRPr>
    </a:lvl2pPr>
    <a:lvl3pPr marL="1028700" indent="-114300" algn="l" defTabSz="1028700" rtl="0" fontAlgn="base">
      <a:spcBef>
        <a:spcPct val="0"/>
      </a:spcBef>
      <a:spcAft>
        <a:spcPct val="0"/>
      </a:spcAft>
      <a:defRPr sz="2000" kern="1200">
        <a:solidFill>
          <a:schemeClr val="tx1"/>
        </a:solidFill>
        <a:latin typeface="Calibri" pitchFamily="34" charset="0"/>
        <a:ea typeface="宋体" charset="-122"/>
        <a:cs typeface="+mn-cs"/>
      </a:defRPr>
    </a:lvl3pPr>
    <a:lvl4pPr marL="1543050" indent="-171450" algn="l" defTabSz="1028700" rtl="0" fontAlgn="base">
      <a:spcBef>
        <a:spcPct val="0"/>
      </a:spcBef>
      <a:spcAft>
        <a:spcPct val="0"/>
      </a:spcAft>
      <a:defRPr sz="2000" kern="1200">
        <a:solidFill>
          <a:schemeClr val="tx1"/>
        </a:solidFill>
        <a:latin typeface="Calibri" pitchFamily="34" charset="0"/>
        <a:ea typeface="宋体" charset="-122"/>
        <a:cs typeface="+mn-cs"/>
      </a:defRPr>
    </a:lvl4pPr>
    <a:lvl5pPr marL="2057400" indent="-228600" algn="l" defTabSz="1028700" rtl="0" fontAlgn="base">
      <a:spcBef>
        <a:spcPct val="0"/>
      </a:spcBef>
      <a:spcAft>
        <a:spcPct val="0"/>
      </a:spcAft>
      <a:defRPr sz="2000" kern="1200">
        <a:solidFill>
          <a:schemeClr val="tx1"/>
        </a:solidFill>
        <a:latin typeface="Calibri" pitchFamily="34" charset="0"/>
        <a:ea typeface="宋体" charset="-122"/>
        <a:cs typeface="+mn-cs"/>
      </a:defRPr>
    </a:lvl5pPr>
    <a:lvl6pPr marL="2286000" algn="l" defTabSz="914400" rtl="0" eaLnBrk="1" latinLnBrk="0" hangingPunct="1">
      <a:defRPr sz="2000" kern="1200">
        <a:solidFill>
          <a:schemeClr val="tx1"/>
        </a:solidFill>
        <a:latin typeface="Calibri" pitchFamily="34" charset="0"/>
        <a:ea typeface="宋体" charset="-122"/>
        <a:cs typeface="+mn-cs"/>
      </a:defRPr>
    </a:lvl6pPr>
    <a:lvl7pPr marL="2743200" algn="l" defTabSz="914400" rtl="0" eaLnBrk="1" latinLnBrk="0" hangingPunct="1">
      <a:defRPr sz="2000" kern="1200">
        <a:solidFill>
          <a:schemeClr val="tx1"/>
        </a:solidFill>
        <a:latin typeface="Calibri" pitchFamily="34" charset="0"/>
        <a:ea typeface="宋体" charset="-122"/>
        <a:cs typeface="+mn-cs"/>
      </a:defRPr>
    </a:lvl7pPr>
    <a:lvl8pPr marL="3200400" algn="l" defTabSz="914400" rtl="0" eaLnBrk="1" latinLnBrk="0" hangingPunct="1">
      <a:defRPr sz="2000" kern="1200">
        <a:solidFill>
          <a:schemeClr val="tx1"/>
        </a:solidFill>
        <a:latin typeface="Calibri" pitchFamily="34" charset="0"/>
        <a:ea typeface="宋体" charset="-122"/>
        <a:cs typeface="+mn-cs"/>
      </a:defRPr>
    </a:lvl8pPr>
    <a:lvl9pPr marL="3657600" algn="l" defTabSz="914400" rtl="0" eaLnBrk="1" latinLnBrk="0" hangingPunct="1">
      <a:defRPr sz="2000" kern="1200">
        <a:solidFill>
          <a:schemeClr val="tx1"/>
        </a:solidFill>
        <a:latin typeface="Calibri" pitchFamily="34" charset="0"/>
        <a:ea typeface="宋体" charset="-122"/>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B0F0"/>
    <a:srgbClr val="0D0D0D"/>
    <a:srgbClr val="FF6699"/>
    <a:srgbClr val="BFBFBF"/>
    <a:srgbClr val="F2F2F2"/>
    <a:srgbClr val="26262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324" autoAdjust="0"/>
    <p:restoredTop sz="94659" autoAdjust="0"/>
  </p:normalViewPr>
  <p:slideViewPr>
    <p:cSldViewPr>
      <p:cViewPr>
        <p:scale>
          <a:sx n="72" d="100"/>
          <a:sy n="72" d="100"/>
        </p:scale>
        <p:origin x="-924" y="36"/>
      </p:cViewPr>
      <p:guideLst>
        <p:guide orient="horz" pos="2268"/>
        <p:guide pos="3402"/>
      </p:guideLst>
    </p:cSldViewPr>
  </p:slideViewPr>
  <p:outlineViewPr>
    <p:cViewPr>
      <p:scale>
        <a:sx n="33" d="100"/>
        <a:sy n="33" d="100"/>
      </p:scale>
      <p:origin x="0" y="0"/>
    </p:cViewPr>
  </p:outlineViewPr>
  <p:notesTextViewPr>
    <p:cViewPr>
      <p:scale>
        <a:sx n="1" d="1"/>
        <a:sy n="1" d="1"/>
      </p:scale>
      <p:origin x="0" y="0"/>
    </p:cViewPr>
  </p:notesTextViewPr>
  <p:sorterViewPr>
    <p:cViewPr>
      <p:scale>
        <a:sx n="75" d="100"/>
        <a:sy n="75" d="100"/>
      </p:scale>
      <p:origin x="0" y="2166"/>
    </p:cViewPr>
  </p:sorterViewPr>
  <p:gridSpacing cx="45005" cy="45005"/>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2.fntdata"/><Relationship Id="rId18" Type="http://schemas.openxmlformats.org/officeDocument/2006/relationships/font" Target="fonts/font7.fntdata"/><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font" Target="fonts/font1.fntdata"/><Relationship Id="rId17" Type="http://schemas.openxmlformats.org/officeDocument/2006/relationships/font" Target="fonts/font6.fntdata"/><Relationship Id="rId2" Type="http://schemas.openxmlformats.org/officeDocument/2006/relationships/slide" Target="slides/slide1.xml"/><Relationship Id="rId16" Type="http://schemas.openxmlformats.org/officeDocument/2006/relationships/font" Target="fonts/font5.fntdata"/><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font" Target="fonts/font4.fntdata"/><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font" Target="fonts/font8.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3.fntdata"/><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ea typeface="+mn-ea"/>
              </a:defRPr>
            </a:lvl1pPr>
          </a:lstStyle>
          <a:p>
            <a:pPr>
              <a:defRPr/>
            </a:pPr>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fontAlgn="auto">
              <a:spcBef>
                <a:spcPts val="0"/>
              </a:spcBef>
              <a:spcAft>
                <a:spcPts val="0"/>
              </a:spcAft>
              <a:defRPr sz="1200">
                <a:latin typeface="+mn-lt"/>
                <a:ea typeface="+mn-ea"/>
              </a:defRPr>
            </a:lvl1pPr>
          </a:lstStyle>
          <a:p>
            <a:pPr>
              <a:defRPr/>
            </a:pPr>
            <a:fld id="{0F5F2AB1-250C-4A5A-8B3C-A621A695738E}" type="datetimeFigureOut">
              <a:rPr lang="zh-CN" altLang="en-US"/>
              <a:pPr>
                <a:defRPr/>
              </a:pPr>
              <a:t>2020-07-24</a:t>
            </a:fld>
            <a:endParaRPr lang="zh-CN" altLang="en-US"/>
          </a:p>
        </p:txBody>
      </p:sp>
      <p:sp>
        <p:nvSpPr>
          <p:cNvPr id="4" name="幻灯片图像占位符 3"/>
          <p:cNvSpPr>
            <a:spLocks noGrp="1" noRot="1" noChangeAspect="1"/>
          </p:cNvSpPr>
          <p:nvPr>
            <p:ph type="sldImg" idx="2"/>
          </p:nvPr>
        </p:nvSpPr>
        <p:spPr>
          <a:xfrm>
            <a:off x="857250" y="685800"/>
            <a:ext cx="5143500" cy="3429000"/>
          </a:xfrm>
          <a:prstGeom prst="rect">
            <a:avLst/>
          </a:prstGeom>
          <a:noFill/>
          <a:ln w="12700">
            <a:solidFill>
              <a:prstClr val="black"/>
            </a:solidFill>
          </a:ln>
        </p:spPr>
        <p:txBody>
          <a:bodyPr vert="horz" lIns="91440" tIns="45720" rIns="91440" bIns="45720" rtlCol="0" anchor="ctr"/>
          <a:lstStyle/>
          <a:p>
            <a:pPr lvl="0"/>
            <a:endParaRPr lang="zh-CN" altLang="en-US" noProof="0"/>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noProof="0" smtClean="0"/>
              <a:t>单击此处编辑母版文本样式</a:t>
            </a:r>
          </a:p>
          <a:p>
            <a:pPr lvl="1"/>
            <a:r>
              <a:rPr lang="zh-CN" altLang="en-US" noProof="0" smtClean="0"/>
              <a:t>第二级</a:t>
            </a:r>
          </a:p>
          <a:p>
            <a:pPr lvl="2"/>
            <a:r>
              <a:rPr lang="zh-CN" altLang="en-US" noProof="0" smtClean="0"/>
              <a:t>第三级</a:t>
            </a:r>
          </a:p>
          <a:p>
            <a:pPr lvl="3"/>
            <a:r>
              <a:rPr lang="zh-CN" altLang="en-US" noProof="0" smtClean="0"/>
              <a:t>第四级</a:t>
            </a:r>
          </a:p>
          <a:p>
            <a:pPr lvl="4"/>
            <a:r>
              <a:rPr lang="zh-CN" altLang="en-US" noProof="0" smtClean="0"/>
              <a:t>第五级</a:t>
            </a:r>
            <a:endParaRPr lang="zh-CN" altLang="en-US" noProof="0"/>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ea typeface="+mn-ea"/>
              </a:defRPr>
            </a:lvl1pPr>
          </a:lstStyle>
          <a:p>
            <a:pPr>
              <a:defRPr/>
            </a:pPr>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fontAlgn="auto">
              <a:spcBef>
                <a:spcPts val="0"/>
              </a:spcBef>
              <a:spcAft>
                <a:spcPts val="0"/>
              </a:spcAft>
              <a:defRPr sz="1200">
                <a:latin typeface="+mn-lt"/>
                <a:ea typeface="+mn-ea"/>
              </a:defRPr>
            </a:lvl1pPr>
          </a:lstStyle>
          <a:p>
            <a:pPr>
              <a:defRPr/>
            </a:pPr>
            <a:fld id="{C0617191-BD4C-4A2F-B36C-3020F5643C2C}" type="slidenum">
              <a:rPr lang="zh-CN" altLang="en-US"/>
              <a:pPr>
                <a:defRPr/>
              </a:pPr>
              <a:t>‹#›</a:t>
            </a:fld>
            <a:endParaRPr lang="zh-CN" altLang="en-US"/>
          </a:p>
        </p:txBody>
      </p:sp>
    </p:spTree>
    <p:extLst>
      <p:ext uri="{BB962C8B-B14F-4D97-AF65-F5344CB8AC3E}">
        <p14:creationId xmlns:p14="http://schemas.microsoft.com/office/powerpoint/2010/main" val="186135601"/>
      </p:ext>
    </p:extLst>
  </p:cSld>
  <p:clrMap bg1="lt1" tx1="dk1" bg2="lt2" tx2="dk2" accent1="accent1" accent2="accent2" accent3="accent3" accent4="accent4" accent5="accent5" accent6="accent6" hlink="hlink" folHlink="folHlink"/>
  <p:notesStyle>
    <a:lvl1pPr algn="l" defTabSz="1028700" rtl="0" eaLnBrk="0" fontAlgn="base" hangingPunct="0">
      <a:spcBef>
        <a:spcPct val="30000"/>
      </a:spcBef>
      <a:spcAft>
        <a:spcPct val="0"/>
      </a:spcAft>
      <a:defRPr sz="1400" kern="1200">
        <a:solidFill>
          <a:schemeClr val="tx1"/>
        </a:solidFill>
        <a:latin typeface="+mn-lt"/>
        <a:ea typeface="+mn-ea"/>
        <a:cs typeface="+mn-cs"/>
      </a:defRPr>
    </a:lvl1pPr>
    <a:lvl2pPr marL="514350" algn="l" defTabSz="1028700" rtl="0" eaLnBrk="0" fontAlgn="base" hangingPunct="0">
      <a:spcBef>
        <a:spcPct val="30000"/>
      </a:spcBef>
      <a:spcAft>
        <a:spcPct val="0"/>
      </a:spcAft>
      <a:defRPr sz="1400" kern="1200">
        <a:solidFill>
          <a:schemeClr val="tx1"/>
        </a:solidFill>
        <a:latin typeface="+mn-lt"/>
        <a:ea typeface="+mn-ea"/>
        <a:cs typeface="+mn-cs"/>
      </a:defRPr>
    </a:lvl2pPr>
    <a:lvl3pPr marL="1028700" algn="l" defTabSz="1028700" rtl="0" eaLnBrk="0" fontAlgn="base" hangingPunct="0">
      <a:spcBef>
        <a:spcPct val="30000"/>
      </a:spcBef>
      <a:spcAft>
        <a:spcPct val="0"/>
      </a:spcAft>
      <a:defRPr sz="1400" kern="1200">
        <a:solidFill>
          <a:schemeClr val="tx1"/>
        </a:solidFill>
        <a:latin typeface="+mn-lt"/>
        <a:ea typeface="+mn-ea"/>
        <a:cs typeface="+mn-cs"/>
      </a:defRPr>
    </a:lvl3pPr>
    <a:lvl4pPr marL="1543050" algn="l" defTabSz="1028700" rtl="0" eaLnBrk="0" fontAlgn="base" hangingPunct="0">
      <a:spcBef>
        <a:spcPct val="30000"/>
      </a:spcBef>
      <a:spcAft>
        <a:spcPct val="0"/>
      </a:spcAft>
      <a:defRPr sz="1400" kern="1200">
        <a:solidFill>
          <a:schemeClr val="tx1"/>
        </a:solidFill>
        <a:latin typeface="+mn-lt"/>
        <a:ea typeface="+mn-ea"/>
        <a:cs typeface="+mn-cs"/>
      </a:defRPr>
    </a:lvl4pPr>
    <a:lvl5pPr marL="2057400" algn="l" defTabSz="1028700" rtl="0" eaLnBrk="0" fontAlgn="base" hangingPunct="0">
      <a:spcBef>
        <a:spcPct val="30000"/>
      </a:spcBef>
      <a:spcAft>
        <a:spcPct val="0"/>
      </a:spcAft>
      <a:defRPr sz="1400" kern="1200">
        <a:solidFill>
          <a:schemeClr val="tx1"/>
        </a:solidFill>
        <a:latin typeface="+mn-lt"/>
        <a:ea typeface="+mn-ea"/>
        <a:cs typeface="+mn-cs"/>
      </a:defRPr>
    </a:lvl5pPr>
    <a:lvl6pPr marL="2571750" algn="l" defTabSz="1028700" rtl="0" eaLnBrk="1" latinLnBrk="0" hangingPunct="1">
      <a:defRPr sz="1400" kern="1200">
        <a:solidFill>
          <a:schemeClr val="tx1"/>
        </a:solidFill>
        <a:latin typeface="+mn-lt"/>
        <a:ea typeface="+mn-ea"/>
        <a:cs typeface="+mn-cs"/>
      </a:defRPr>
    </a:lvl6pPr>
    <a:lvl7pPr marL="3086100" algn="l" defTabSz="1028700" rtl="0" eaLnBrk="1" latinLnBrk="0" hangingPunct="1">
      <a:defRPr sz="1400" kern="1200">
        <a:solidFill>
          <a:schemeClr val="tx1"/>
        </a:solidFill>
        <a:latin typeface="+mn-lt"/>
        <a:ea typeface="+mn-ea"/>
        <a:cs typeface="+mn-cs"/>
      </a:defRPr>
    </a:lvl7pPr>
    <a:lvl8pPr marL="3600450" algn="l" defTabSz="1028700" rtl="0" eaLnBrk="1" latinLnBrk="0" hangingPunct="1">
      <a:defRPr sz="1400" kern="1200">
        <a:solidFill>
          <a:schemeClr val="tx1"/>
        </a:solidFill>
        <a:latin typeface="+mn-lt"/>
        <a:ea typeface="+mn-ea"/>
        <a:cs typeface="+mn-cs"/>
      </a:defRPr>
    </a:lvl8pPr>
    <a:lvl9pPr marL="4114800" algn="l" defTabSz="1028700" rtl="0" eaLnBrk="1" latinLnBrk="0" hangingPunct="1">
      <a:defRPr sz="14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810101" y="2236947"/>
            <a:ext cx="9181148" cy="1543526"/>
          </a:xfr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620203" y="4080510"/>
            <a:ext cx="7560945" cy="1840230"/>
          </a:xfrm>
        </p:spPr>
        <p:txBody>
          <a:bodyPr/>
          <a:lstStyle>
            <a:lvl1pPr marL="0" indent="0" algn="ctr">
              <a:buNone/>
              <a:defRPr>
                <a:solidFill>
                  <a:schemeClr val="tx1">
                    <a:tint val="75000"/>
                  </a:schemeClr>
                </a:solidFill>
              </a:defRPr>
            </a:lvl1pPr>
            <a:lvl2pPr marL="514350" indent="0" algn="ctr">
              <a:buNone/>
              <a:defRPr>
                <a:solidFill>
                  <a:schemeClr val="tx1">
                    <a:tint val="75000"/>
                  </a:schemeClr>
                </a:solidFill>
              </a:defRPr>
            </a:lvl2pPr>
            <a:lvl3pPr marL="1028700" indent="0" algn="ctr">
              <a:buNone/>
              <a:defRPr>
                <a:solidFill>
                  <a:schemeClr val="tx1">
                    <a:tint val="75000"/>
                  </a:schemeClr>
                </a:solidFill>
              </a:defRPr>
            </a:lvl3pPr>
            <a:lvl4pPr marL="1543050" indent="0" algn="ctr">
              <a:buNone/>
              <a:defRPr>
                <a:solidFill>
                  <a:schemeClr val="tx1">
                    <a:tint val="75000"/>
                  </a:schemeClr>
                </a:solidFill>
              </a:defRPr>
            </a:lvl4pPr>
            <a:lvl5pPr marL="2057400" indent="0" algn="ctr">
              <a:buNone/>
              <a:defRPr>
                <a:solidFill>
                  <a:schemeClr val="tx1">
                    <a:tint val="75000"/>
                  </a:schemeClr>
                </a:solidFill>
              </a:defRPr>
            </a:lvl5pPr>
            <a:lvl6pPr marL="2571750" indent="0" algn="ctr">
              <a:buNone/>
              <a:defRPr>
                <a:solidFill>
                  <a:schemeClr val="tx1">
                    <a:tint val="75000"/>
                  </a:schemeClr>
                </a:solidFill>
              </a:defRPr>
            </a:lvl6pPr>
            <a:lvl7pPr marL="3086100" indent="0" algn="ctr">
              <a:buNone/>
              <a:defRPr>
                <a:solidFill>
                  <a:schemeClr val="tx1">
                    <a:tint val="75000"/>
                  </a:schemeClr>
                </a:solidFill>
              </a:defRPr>
            </a:lvl7pPr>
            <a:lvl8pPr marL="3600450" indent="0" algn="ctr">
              <a:buNone/>
              <a:defRPr>
                <a:solidFill>
                  <a:schemeClr val="tx1">
                    <a:tint val="75000"/>
                  </a:schemeClr>
                </a:solidFill>
              </a:defRPr>
            </a:lvl8pPr>
            <a:lvl9pPr marL="4114800" indent="0" algn="ctr">
              <a:buNone/>
              <a:defRPr>
                <a:solidFill>
                  <a:schemeClr val="tx1">
                    <a:tint val="75000"/>
                  </a:schemeClr>
                </a:solidFill>
              </a:defRPr>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lvl1pPr>
              <a:defRPr/>
            </a:lvl1pPr>
          </a:lstStyle>
          <a:p>
            <a:pPr>
              <a:defRPr/>
            </a:pPr>
            <a:fld id="{C7E2CAD6-32F0-4707-A836-F35BD4558D52}" type="datetimeFigureOut">
              <a:rPr lang="zh-CN" altLang="en-US"/>
              <a:pPr>
                <a:defRPr/>
              </a:pPr>
              <a:t>2020-07-24</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9A4DBB69-40A3-42CB-840D-B2A48FFB9206}" type="slidenum">
              <a:rPr lang="zh-CN" altLang="en-US"/>
              <a:pPr>
                <a:defRPr/>
              </a:pPr>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pPr>
              <a:defRPr/>
            </a:pPr>
            <a:fld id="{5364AA1A-08FD-4CB9-8289-E01CB5572AD2}" type="datetimeFigureOut">
              <a:rPr lang="zh-CN" altLang="en-US"/>
              <a:pPr>
                <a:defRPr/>
              </a:pPr>
              <a:t>2020-07-24</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E4B5437A-9C1F-4A9E-B53B-D9D22DBA23DA}" type="slidenum">
              <a:rPr lang="zh-CN" altLang="en-US"/>
              <a:pPr>
                <a:defRPr/>
              </a:pPr>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53232" y="4627245"/>
            <a:ext cx="9181148" cy="1430179"/>
          </a:xfrm>
        </p:spPr>
        <p:txBody>
          <a:bodyPr anchor="t"/>
          <a:lstStyle>
            <a:lvl1pPr algn="l">
              <a:defRPr sz="45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53232" y="3052049"/>
            <a:ext cx="9181148" cy="1575196"/>
          </a:xfrm>
        </p:spPr>
        <p:txBody>
          <a:bodyPr anchor="b"/>
          <a:lstStyle>
            <a:lvl1pPr marL="0" indent="0">
              <a:buNone/>
              <a:defRPr sz="2300">
                <a:solidFill>
                  <a:schemeClr val="tx1">
                    <a:tint val="75000"/>
                  </a:schemeClr>
                </a:solidFill>
              </a:defRPr>
            </a:lvl1pPr>
            <a:lvl2pPr marL="514350" indent="0">
              <a:buNone/>
              <a:defRPr sz="2000">
                <a:solidFill>
                  <a:schemeClr val="tx1">
                    <a:tint val="75000"/>
                  </a:schemeClr>
                </a:solidFill>
              </a:defRPr>
            </a:lvl2pPr>
            <a:lvl3pPr marL="1028700" indent="0">
              <a:buNone/>
              <a:defRPr sz="1800">
                <a:solidFill>
                  <a:schemeClr val="tx1">
                    <a:tint val="75000"/>
                  </a:schemeClr>
                </a:solidFill>
              </a:defRPr>
            </a:lvl3pPr>
            <a:lvl4pPr marL="1543050" indent="0">
              <a:buNone/>
              <a:defRPr sz="1600">
                <a:solidFill>
                  <a:schemeClr val="tx1">
                    <a:tint val="75000"/>
                  </a:schemeClr>
                </a:solidFill>
              </a:defRPr>
            </a:lvl4pPr>
            <a:lvl5pPr marL="2057400" indent="0">
              <a:buNone/>
              <a:defRPr sz="1600">
                <a:solidFill>
                  <a:schemeClr val="tx1">
                    <a:tint val="75000"/>
                  </a:schemeClr>
                </a:solidFill>
              </a:defRPr>
            </a:lvl5pPr>
            <a:lvl6pPr marL="2571750" indent="0">
              <a:buNone/>
              <a:defRPr sz="1600">
                <a:solidFill>
                  <a:schemeClr val="tx1">
                    <a:tint val="75000"/>
                  </a:schemeClr>
                </a:solidFill>
              </a:defRPr>
            </a:lvl6pPr>
            <a:lvl7pPr marL="3086100" indent="0">
              <a:buNone/>
              <a:defRPr sz="1600">
                <a:solidFill>
                  <a:schemeClr val="tx1">
                    <a:tint val="75000"/>
                  </a:schemeClr>
                </a:solidFill>
              </a:defRPr>
            </a:lvl7pPr>
            <a:lvl8pPr marL="3600450" indent="0">
              <a:buNone/>
              <a:defRPr sz="1600">
                <a:solidFill>
                  <a:schemeClr val="tx1">
                    <a:tint val="75000"/>
                  </a:schemeClr>
                </a:solidFill>
              </a:defRPr>
            </a:lvl8pPr>
            <a:lvl9pPr marL="4114800" indent="0">
              <a:buNone/>
              <a:defRPr sz="1600">
                <a:solidFill>
                  <a:schemeClr val="tx1">
                    <a:tint val="75000"/>
                  </a:schemeClr>
                </a:solidFill>
              </a:defRPr>
            </a:lvl9pPr>
          </a:lstStyle>
          <a:p>
            <a:pPr lvl="0"/>
            <a:r>
              <a:rPr lang="zh-CN" altLang="en-US" smtClean="0"/>
              <a:t>单击此处编辑母版文本样式</a:t>
            </a:r>
          </a:p>
        </p:txBody>
      </p:sp>
      <p:sp>
        <p:nvSpPr>
          <p:cNvPr id="4" name="日期占位符 3"/>
          <p:cNvSpPr>
            <a:spLocks noGrp="1"/>
          </p:cNvSpPr>
          <p:nvPr>
            <p:ph type="dt" sz="half" idx="10"/>
          </p:nvPr>
        </p:nvSpPr>
        <p:spPr/>
        <p:txBody>
          <a:bodyPr/>
          <a:lstStyle>
            <a:lvl1pPr>
              <a:defRPr/>
            </a:lvl1pPr>
          </a:lstStyle>
          <a:p>
            <a:pPr>
              <a:defRPr/>
            </a:pPr>
            <a:fld id="{1163DA41-0C11-44A1-B1E2-C1237CC44317}" type="datetimeFigureOut">
              <a:rPr lang="zh-CN" altLang="en-US"/>
              <a:pPr>
                <a:defRPr/>
              </a:pPr>
              <a:t>2020-07-24</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20007E2B-8698-479E-89A6-57FAE8B00F3A}" type="slidenum">
              <a:rPr lang="zh-CN" altLang="en-US"/>
              <a:pPr>
                <a:defRPr/>
              </a:pPr>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540068" y="1680211"/>
            <a:ext cx="4770596" cy="4752261"/>
          </a:xfrm>
        </p:spPr>
        <p:txBody>
          <a:bodyPr/>
          <a:lstStyle>
            <a:lvl1pPr>
              <a:defRPr sz="3200"/>
            </a:lvl1pPr>
            <a:lvl2pPr>
              <a:defRPr sz="2700"/>
            </a:lvl2pPr>
            <a:lvl3pPr>
              <a:defRPr sz="23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5490686" y="1680211"/>
            <a:ext cx="4770596" cy="4752261"/>
          </a:xfrm>
        </p:spPr>
        <p:txBody>
          <a:bodyPr/>
          <a:lstStyle>
            <a:lvl1pPr>
              <a:defRPr sz="3200"/>
            </a:lvl1pPr>
            <a:lvl2pPr>
              <a:defRPr sz="2700"/>
            </a:lvl2pPr>
            <a:lvl3pPr>
              <a:defRPr sz="23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3"/>
          <p:cNvSpPr>
            <a:spLocks noGrp="1"/>
          </p:cNvSpPr>
          <p:nvPr>
            <p:ph type="dt" sz="half" idx="10"/>
          </p:nvPr>
        </p:nvSpPr>
        <p:spPr/>
        <p:txBody>
          <a:bodyPr/>
          <a:lstStyle>
            <a:lvl1pPr>
              <a:defRPr/>
            </a:lvl1pPr>
          </a:lstStyle>
          <a:p>
            <a:pPr>
              <a:defRPr/>
            </a:pPr>
            <a:fld id="{14FFEE5B-CB05-476C-A329-B7B11339CD05}" type="datetimeFigureOut">
              <a:rPr lang="zh-CN" altLang="en-US"/>
              <a:pPr>
                <a:defRPr/>
              </a:pPr>
              <a:t>2020-07-24</a:t>
            </a:fld>
            <a:endParaRPr lang="zh-CN" altLang="en-US"/>
          </a:p>
        </p:txBody>
      </p:sp>
      <p:sp>
        <p:nvSpPr>
          <p:cNvPr id="6" name="页脚占位符 4"/>
          <p:cNvSpPr>
            <a:spLocks noGrp="1"/>
          </p:cNvSpPr>
          <p:nvPr>
            <p:ph type="ftr" sz="quarter" idx="11"/>
          </p:nvPr>
        </p:nvSpPr>
        <p:spPr/>
        <p:txBody>
          <a:bodyPr/>
          <a:lstStyle>
            <a:lvl1pPr>
              <a:defRPr/>
            </a:lvl1pPr>
          </a:lstStyle>
          <a:p>
            <a:pPr>
              <a:defRPr/>
            </a:pPr>
            <a:endParaRPr lang="zh-CN" altLang="en-US"/>
          </a:p>
        </p:txBody>
      </p:sp>
      <p:sp>
        <p:nvSpPr>
          <p:cNvPr id="7" name="灯片编号占位符 5"/>
          <p:cNvSpPr>
            <a:spLocks noGrp="1"/>
          </p:cNvSpPr>
          <p:nvPr>
            <p:ph type="sldNum" sz="quarter" idx="12"/>
          </p:nvPr>
        </p:nvSpPr>
        <p:spPr/>
        <p:txBody>
          <a:bodyPr/>
          <a:lstStyle>
            <a:lvl1pPr>
              <a:defRPr/>
            </a:lvl1pPr>
          </a:lstStyle>
          <a:p>
            <a:pPr>
              <a:defRPr/>
            </a:pPr>
            <a:fld id="{DA716C87-60E6-473D-BFF5-ACE51F8C1D65}" type="slidenum">
              <a:rPr lang="zh-CN" altLang="en-US"/>
              <a:pPr>
                <a:defRPr/>
              </a:pPr>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540068" y="1611869"/>
            <a:ext cx="4772472" cy="671750"/>
          </a:xfrm>
        </p:spPr>
        <p:txBody>
          <a:bodyPr anchor="b"/>
          <a:lstStyle>
            <a:lvl1pPr marL="0" indent="0">
              <a:buNone/>
              <a:defRPr sz="2700" b="1"/>
            </a:lvl1pPr>
            <a:lvl2pPr marL="514350" indent="0">
              <a:buNone/>
              <a:defRPr sz="2300" b="1"/>
            </a:lvl2pPr>
            <a:lvl3pPr marL="1028700" indent="0">
              <a:buNone/>
              <a:defRPr sz="2000" b="1"/>
            </a:lvl3pPr>
            <a:lvl4pPr marL="1543050" indent="0">
              <a:buNone/>
              <a:defRPr sz="1800" b="1"/>
            </a:lvl4pPr>
            <a:lvl5pPr marL="2057400" indent="0">
              <a:buNone/>
              <a:defRPr sz="1800" b="1"/>
            </a:lvl5pPr>
            <a:lvl6pPr marL="2571750" indent="0">
              <a:buNone/>
              <a:defRPr sz="1800" b="1"/>
            </a:lvl6pPr>
            <a:lvl7pPr marL="3086100" indent="0">
              <a:buNone/>
              <a:defRPr sz="1800" b="1"/>
            </a:lvl7pPr>
            <a:lvl8pPr marL="3600450" indent="0">
              <a:buNone/>
              <a:defRPr sz="1800" b="1"/>
            </a:lvl8pPr>
            <a:lvl9pPr marL="4114800" indent="0">
              <a:buNone/>
              <a:defRPr sz="1800" b="1"/>
            </a:lvl9pPr>
          </a:lstStyle>
          <a:p>
            <a:pPr lvl="0"/>
            <a:r>
              <a:rPr lang="zh-CN" altLang="en-US" smtClean="0"/>
              <a:t>单击此处编辑母版文本样式</a:t>
            </a:r>
          </a:p>
        </p:txBody>
      </p:sp>
      <p:sp>
        <p:nvSpPr>
          <p:cNvPr id="4" name="内容占位符 3"/>
          <p:cNvSpPr>
            <a:spLocks noGrp="1"/>
          </p:cNvSpPr>
          <p:nvPr>
            <p:ph sz="half" idx="2"/>
          </p:nvPr>
        </p:nvSpPr>
        <p:spPr>
          <a:xfrm>
            <a:off x="540068" y="2283619"/>
            <a:ext cx="4772472" cy="4148852"/>
          </a:xfrm>
        </p:spPr>
        <p:txBody>
          <a:bodyPr/>
          <a:lstStyle>
            <a:lvl1pPr>
              <a:defRPr sz="2700"/>
            </a:lvl1pPr>
            <a:lvl2pPr>
              <a:defRPr sz="23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5486936" y="1611869"/>
            <a:ext cx="4774347" cy="671750"/>
          </a:xfrm>
        </p:spPr>
        <p:txBody>
          <a:bodyPr anchor="b"/>
          <a:lstStyle>
            <a:lvl1pPr marL="0" indent="0">
              <a:buNone/>
              <a:defRPr sz="2700" b="1"/>
            </a:lvl1pPr>
            <a:lvl2pPr marL="514350" indent="0">
              <a:buNone/>
              <a:defRPr sz="2300" b="1"/>
            </a:lvl2pPr>
            <a:lvl3pPr marL="1028700" indent="0">
              <a:buNone/>
              <a:defRPr sz="2000" b="1"/>
            </a:lvl3pPr>
            <a:lvl4pPr marL="1543050" indent="0">
              <a:buNone/>
              <a:defRPr sz="1800" b="1"/>
            </a:lvl4pPr>
            <a:lvl5pPr marL="2057400" indent="0">
              <a:buNone/>
              <a:defRPr sz="1800" b="1"/>
            </a:lvl5pPr>
            <a:lvl6pPr marL="2571750" indent="0">
              <a:buNone/>
              <a:defRPr sz="1800" b="1"/>
            </a:lvl6pPr>
            <a:lvl7pPr marL="3086100" indent="0">
              <a:buNone/>
              <a:defRPr sz="1800" b="1"/>
            </a:lvl7pPr>
            <a:lvl8pPr marL="3600450" indent="0">
              <a:buNone/>
              <a:defRPr sz="1800" b="1"/>
            </a:lvl8pPr>
            <a:lvl9pPr marL="4114800" indent="0">
              <a:buNone/>
              <a:defRPr sz="1800" b="1"/>
            </a:lvl9pPr>
          </a:lstStyle>
          <a:p>
            <a:pPr lvl="0"/>
            <a:r>
              <a:rPr lang="zh-CN" altLang="en-US" smtClean="0"/>
              <a:t>单击此处编辑母版文本样式</a:t>
            </a:r>
          </a:p>
        </p:txBody>
      </p:sp>
      <p:sp>
        <p:nvSpPr>
          <p:cNvPr id="6" name="内容占位符 5"/>
          <p:cNvSpPr>
            <a:spLocks noGrp="1"/>
          </p:cNvSpPr>
          <p:nvPr>
            <p:ph sz="quarter" idx="4"/>
          </p:nvPr>
        </p:nvSpPr>
        <p:spPr>
          <a:xfrm>
            <a:off x="5486936" y="2283619"/>
            <a:ext cx="4774347" cy="4148852"/>
          </a:xfrm>
        </p:spPr>
        <p:txBody>
          <a:bodyPr/>
          <a:lstStyle>
            <a:lvl1pPr>
              <a:defRPr sz="2700"/>
            </a:lvl1pPr>
            <a:lvl2pPr>
              <a:defRPr sz="23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3"/>
          <p:cNvSpPr>
            <a:spLocks noGrp="1"/>
          </p:cNvSpPr>
          <p:nvPr>
            <p:ph type="dt" sz="half" idx="10"/>
          </p:nvPr>
        </p:nvSpPr>
        <p:spPr/>
        <p:txBody>
          <a:bodyPr/>
          <a:lstStyle>
            <a:lvl1pPr>
              <a:defRPr/>
            </a:lvl1pPr>
          </a:lstStyle>
          <a:p>
            <a:pPr>
              <a:defRPr/>
            </a:pPr>
            <a:fld id="{DAEA1296-CC32-4385-92FA-07A7AEB041AE}" type="datetimeFigureOut">
              <a:rPr lang="zh-CN" altLang="en-US"/>
              <a:pPr>
                <a:defRPr/>
              </a:pPr>
              <a:t>2020-07-24</a:t>
            </a:fld>
            <a:endParaRPr lang="zh-CN" altLang="en-US"/>
          </a:p>
        </p:txBody>
      </p:sp>
      <p:sp>
        <p:nvSpPr>
          <p:cNvPr id="8" name="页脚占位符 4"/>
          <p:cNvSpPr>
            <a:spLocks noGrp="1"/>
          </p:cNvSpPr>
          <p:nvPr>
            <p:ph type="ftr" sz="quarter" idx="11"/>
          </p:nvPr>
        </p:nvSpPr>
        <p:spPr/>
        <p:txBody>
          <a:bodyPr/>
          <a:lstStyle>
            <a:lvl1pPr>
              <a:defRPr/>
            </a:lvl1pPr>
          </a:lstStyle>
          <a:p>
            <a:pPr>
              <a:defRPr/>
            </a:pPr>
            <a:endParaRPr lang="zh-CN" altLang="en-US"/>
          </a:p>
        </p:txBody>
      </p:sp>
      <p:sp>
        <p:nvSpPr>
          <p:cNvPr id="9" name="灯片编号占位符 5"/>
          <p:cNvSpPr>
            <a:spLocks noGrp="1"/>
          </p:cNvSpPr>
          <p:nvPr>
            <p:ph type="sldNum" sz="quarter" idx="12"/>
          </p:nvPr>
        </p:nvSpPr>
        <p:spPr/>
        <p:txBody>
          <a:bodyPr/>
          <a:lstStyle>
            <a:lvl1pPr>
              <a:defRPr/>
            </a:lvl1pPr>
          </a:lstStyle>
          <a:p>
            <a:pPr>
              <a:defRPr/>
            </a:pPr>
            <a:fld id="{ACF47A1E-F744-4036-906B-EE35E580AD7F}" type="slidenum">
              <a:rPr lang="zh-CN" altLang="en-US"/>
              <a:pPr>
                <a:defRPr/>
              </a:pPr>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3"/>
          <p:cNvSpPr>
            <a:spLocks noGrp="1"/>
          </p:cNvSpPr>
          <p:nvPr>
            <p:ph type="dt" sz="half" idx="10"/>
          </p:nvPr>
        </p:nvSpPr>
        <p:spPr/>
        <p:txBody>
          <a:bodyPr/>
          <a:lstStyle>
            <a:lvl1pPr>
              <a:defRPr/>
            </a:lvl1pPr>
          </a:lstStyle>
          <a:p>
            <a:pPr>
              <a:defRPr/>
            </a:pPr>
            <a:fld id="{E1E6C913-7AD5-44E5-89F4-97D4DDA3D4F4}" type="datetimeFigureOut">
              <a:rPr lang="zh-CN" altLang="en-US"/>
              <a:pPr>
                <a:defRPr/>
              </a:pPr>
              <a:t>2020-07-24</a:t>
            </a:fld>
            <a:endParaRPr lang="zh-CN" altLang="en-US"/>
          </a:p>
        </p:txBody>
      </p:sp>
      <p:sp>
        <p:nvSpPr>
          <p:cNvPr id="4" name="页脚占位符 4"/>
          <p:cNvSpPr>
            <a:spLocks noGrp="1"/>
          </p:cNvSpPr>
          <p:nvPr>
            <p:ph type="ftr" sz="quarter" idx="11"/>
          </p:nvPr>
        </p:nvSpPr>
        <p:spPr/>
        <p:txBody>
          <a:bodyPr/>
          <a:lstStyle>
            <a:lvl1pPr>
              <a:defRPr/>
            </a:lvl1pPr>
          </a:lstStyle>
          <a:p>
            <a:pPr>
              <a:defRPr/>
            </a:pPr>
            <a:endParaRPr lang="zh-CN" altLang="en-US"/>
          </a:p>
        </p:txBody>
      </p:sp>
      <p:sp>
        <p:nvSpPr>
          <p:cNvPr id="5" name="灯片编号占位符 5"/>
          <p:cNvSpPr>
            <a:spLocks noGrp="1"/>
          </p:cNvSpPr>
          <p:nvPr>
            <p:ph type="sldNum" sz="quarter" idx="12"/>
          </p:nvPr>
        </p:nvSpPr>
        <p:spPr/>
        <p:txBody>
          <a:bodyPr/>
          <a:lstStyle>
            <a:lvl1pPr>
              <a:defRPr/>
            </a:lvl1pPr>
          </a:lstStyle>
          <a:p>
            <a:pPr>
              <a:defRPr/>
            </a:pPr>
            <a:fld id="{A6D2924B-C273-428C-96C6-CFD334A440AF}" type="slidenum">
              <a:rPr lang="zh-CN" altLang="en-US"/>
              <a:pPr>
                <a:defRPr/>
              </a:pPr>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p:cNvSpPr>
            <a:spLocks noGrp="1"/>
          </p:cNvSpPr>
          <p:nvPr>
            <p:ph type="dt" sz="half" idx="10"/>
          </p:nvPr>
        </p:nvSpPr>
        <p:spPr/>
        <p:txBody>
          <a:bodyPr/>
          <a:lstStyle>
            <a:lvl1pPr>
              <a:defRPr/>
            </a:lvl1pPr>
          </a:lstStyle>
          <a:p>
            <a:pPr>
              <a:defRPr/>
            </a:pPr>
            <a:fld id="{2F966900-8FBA-47D6-B108-DFD8B9E16342}" type="datetimeFigureOut">
              <a:rPr lang="zh-CN" altLang="en-US"/>
              <a:pPr>
                <a:defRPr/>
              </a:pPr>
              <a:t>2020-07-24</a:t>
            </a:fld>
            <a:endParaRPr lang="zh-CN" altLang="en-US"/>
          </a:p>
        </p:txBody>
      </p:sp>
      <p:sp>
        <p:nvSpPr>
          <p:cNvPr id="3" name="页脚占位符 4"/>
          <p:cNvSpPr>
            <a:spLocks noGrp="1"/>
          </p:cNvSpPr>
          <p:nvPr>
            <p:ph type="ftr" sz="quarter" idx="11"/>
          </p:nvPr>
        </p:nvSpPr>
        <p:spPr/>
        <p:txBody>
          <a:bodyPr/>
          <a:lstStyle>
            <a:lvl1pPr>
              <a:defRPr/>
            </a:lvl1pPr>
          </a:lstStyle>
          <a:p>
            <a:pPr>
              <a:defRPr/>
            </a:pPr>
            <a:endParaRPr lang="zh-CN" altLang="en-US"/>
          </a:p>
        </p:txBody>
      </p:sp>
      <p:sp>
        <p:nvSpPr>
          <p:cNvPr id="4" name="灯片编号占位符 5"/>
          <p:cNvSpPr>
            <a:spLocks noGrp="1"/>
          </p:cNvSpPr>
          <p:nvPr>
            <p:ph type="sldNum" sz="quarter" idx="12"/>
          </p:nvPr>
        </p:nvSpPr>
        <p:spPr/>
        <p:txBody>
          <a:bodyPr/>
          <a:lstStyle>
            <a:lvl1pPr>
              <a:defRPr/>
            </a:lvl1pPr>
          </a:lstStyle>
          <a:p>
            <a:pPr>
              <a:defRPr/>
            </a:pPr>
            <a:fld id="{DEBF95E8-820F-4911-9850-4707C94B9C77}" type="slidenum">
              <a:rPr lang="zh-CN" altLang="en-US"/>
              <a:pPr>
                <a:defRPr/>
              </a:pPr>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540068" y="286702"/>
            <a:ext cx="3553570" cy="1220153"/>
          </a:xfrm>
        </p:spPr>
        <p:txBody>
          <a:bodyPr anchor="b"/>
          <a:lstStyle>
            <a:lvl1pPr algn="l">
              <a:defRPr sz="23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4223028" y="286703"/>
            <a:ext cx="6038255" cy="6145769"/>
          </a:xfrm>
        </p:spPr>
        <p:txBody>
          <a:bodyPr/>
          <a:lstStyle>
            <a:lvl1pPr>
              <a:defRPr sz="3600"/>
            </a:lvl1pPr>
            <a:lvl2pPr>
              <a:defRPr sz="3200"/>
            </a:lvl2pPr>
            <a:lvl3pPr>
              <a:defRPr sz="2700"/>
            </a:lvl3pPr>
            <a:lvl4pPr>
              <a:defRPr sz="2300"/>
            </a:lvl4pPr>
            <a:lvl5pPr>
              <a:defRPr sz="2300"/>
            </a:lvl5pPr>
            <a:lvl6pPr>
              <a:defRPr sz="2300"/>
            </a:lvl6pPr>
            <a:lvl7pPr>
              <a:defRPr sz="2300"/>
            </a:lvl7pPr>
            <a:lvl8pPr>
              <a:defRPr sz="2300"/>
            </a:lvl8pPr>
            <a:lvl9pPr>
              <a:defRPr sz="23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540068" y="1506856"/>
            <a:ext cx="3553570" cy="4925616"/>
          </a:xfrm>
        </p:spPr>
        <p:txBody>
          <a:bodyPr/>
          <a:lstStyle>
            <a:lvl1pPr marL="0" indent="0">
              <a:buNone/>
              <a:defRPr sz="1600"/>
            </a:lvl1pPr>
            <a:lvl2pPr marL="514350" indent="0">
              <a:buNone/>
              <a:defRPr sz="1400"/>
            </a:lvl2pPr>
            <a:lvl3pPr marL="1028700" indent="0">
              <a:buNone/>
              <a:defRPr sz="1100"/>
            </a:lvl3pPr>
            <a:lvl4pPr marL="1543050" indent="0">
              <a:buNone/>
              <a:defRPr sz="1000"/>
            </a:lvl4pPr>
            <a:lvl5pPr marL="2057400" indent="0">
              <a:buNone/>
              <a:defRPr sz="1000"/>
            </a:lvl5pPr>
            <a:lvl6pPr marL="2571750" indent="0">
              <a:buNone/>
              <a:defRPr sz="1000"/>
            </a:lvl6pPr>
            <a:lvl7pPr marL="3086100" indent="0">
              <a:buNone/>
              <a:defRPr sz="1000"/>
            </a:lvl7pPr>
            <a:lvl8pPr marL="3600450" indent="0">
              <a:buNone/>
              <a:defRPr sz="1000"/>
            </a:lvl8pPr>
            <a:lvl9pPr marL="4114800" indent="0">
              <a:buNone/>
              <a:defRPr sz="1000"/>
            </a:lvl9pPr>
          </a:lstStyle>
          <a:p>
            <a:pPr lvl="0"/>
            <a:r>
              <a:rPr lang="zh-CN" altLang="en-US" smtClean="0"/>
              <a:t>单击此处编辑母版文本样式</a:t>
            </a:r>
          </a:p>
        </p:txBody>
      </p:sp>
      <p:sp>
        <p:nvSpPr>
          <p:cNvPr id="5" name="日期占位符 3"/>
          <p:cNvSpPr>
            <a:spLocks noGrp="1"/>
          </p:cNvSpPr>
          <p:nvPr>
            <p:ph type="dt" sz="half" idx="10"/>
          </p:nvPr>
        </p:nvSpPr>
        <p:spPr/>
        <p:txBody>
          <a:bodyPr/>
          <a:lstStyle>
            <a:lvl1pPr>
              <a:defRPr/>
            </a:lvl1pPr>
          </a:lstStyle>
          <a:p>
            <a:pPr>
              <a:defRPr/>
            </a:pPr>
            <a:fld id="{FB2D50DA-FC5F-4E1E-A6DF-94B62DBEA098}" type="datetimeFigureOut">
              <a:rPr lang="zh-CN" altLang="en-US"/>
              <a:pPr>
                <a:defRPr/>
              </a:pPr>
              <a:t>2020-07-24</a:t>
            </a:fld>
            <a:endParaRPr lang="zh-CN" altLang="en-US"/>
          </a:p>
        </p:txBody>
      </p:sp>
      <p:sp>
        <p:nvSpPr>
          <p:cNvPr id="6" name="页脚占位符 4"/>
          <p:cNvSpPr>
            <a:spLocks noGrp="1"/>
          </p:cNvSpPr>
          <p:nvPr>
            <p:ph type="ftr" sz="quarter" idx="11"/>
          </p:nvPr>
        </p:nvSpPr>
        <p:spPr/>
        <p:txBody>
          <a:bodyPr/>
          <a:lstStyle>
            <a:lvl1pPr>
              <a:defRPr/>
            </a:lvl1pPr>
          </a:lstStyle>
          <a:p>
            <a:pPr>
              <a:defRPr/>
            </a:pPr>
            <a:endParaRPr lang="zh-CN" altLang="en-US"/>
          </a:p>
        </p:txBody>
      </p:sp>
      <p:sp>
        <p:nvSpPr>
          <p:cNvPr id="7" name="灯片编号占位符 5"/>
          <p:cNvSpPr>
            <a:spLocks noGrp="1"/>
          </p:cNvSpPr>
          <p:nvPr>
            <p:ph type="sldNum" sz="quarter" idx="12"/>
          </p:nvPr>
        </p:nvSpPr>
        <p:spPr/>
        <p:txBody>
          <a:bodyPr/>
          <a:lstStyle>
            <a:lvl1pPr>
              <a:defRPr/>
            </a:lvl1pPr>
          </a:lstStyle>
          <a:p>
            <a:pPr>
              <a:defRPr/>
            </a:pPr>
            <a:fld id="{7B31C22B-0FBA-49ED-B629-2221DFFF871C}" type="slidenum">
              <a:rPr lang="zh-CN" altLang="en-US"/>
              <a:pPr>
                <a:defRPr/>
              </a:pPr>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117140" y="5040630"/>
            <a:ext cx="6480810" cy="595075"/>
          </a:xfrm>
        </p:spPr>
        <p:txBody>
          <a:bodyPr anchor="b"/>
          <a:lstStyle>
            <a:lvl1pPr algn="l">
              <a:defRPr sz="23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2117140" y="643414"/>
            <a:ext cx="6480810" cy="4320540"/>
          </a:xfrm>
        </p:spPr>
        <p:txBody>
          <a:bodyPr rtlCol="0">
            <a:normAutofit/>
          </a:bodyPr>
          <a:lstStyle>
            <a:lvl1pPr marL="0" indent="0">
              <a:buNone/>
              <a:defRPr sz="3600"/>
            </a:lvl1pPr>
            <a:lvl2pPr marL="514350" indent="0">
              <a:buNone/>
              <a:defRPr sz="3200"/>
            </a:lvl2pPr>
            <a:lvl3pPr marL="1028700" indent="0">
              <a:buNone/>
              <a:defRPr sz="2700"/>
            </a:lvl3pPr>
            <a:lvl4pPr marL="1543050" indent="0">
              <a:buNone/>
              <a:defRPr sz="2300"/>
            </a:lvl4pPr>
            <a:lvl5pPr marL="2057400" indent="0">
              <a:buNone/>
              <a:defRPr sz="2300"/>
            </a:lvl5pPr>
            <a:lvl6pPr marL="2571750" indent="0">
              <a:buNone/>
              <a:defRPr sz="2300"/>
            </a:lvl6pPr>
            <a:lvl7pPr marL="3086100" indent="0">
              <a:buNone/>
              <a:defRPr sz="2300"/>
            </a:lvl7pPr>
            <a:lvl8pPr marL="3600450" indent="0">
              <a:buNone/>
              <a:defRPr sz="2300"/>
            </a:lvl8pPr>
            <a:lvl9pPr marL="4114800" indent="0">
              <a:buNone/>
              <a:defRPr sz="2300"/>
            </a:lvl9pPr>
          </a:lstStyle>
          <a:p>
            <a:pPr lvl="0"/>
            <a:endParaRPr lang="zh-CN" altLang="en-US" noProof="0"/>
          </a:p>
        </p:txBody>
      </p:sp>
      <p:sp>
        <p:nvSpPr>
          <p:cNvPr id="4" name="文本占位符 3"/>
          <p:cNvSpPr>
            <a:spLocks noGrp="1"/>
          </p:cNvSpPr>
          <p:nvPr>
            <p:ph type="body" sz="half" idx="2"/>
          </p:nvPr>
        </p:nvSpPr>
        <p:spPr>
          <a:xfrm>
            <a:off x="2117140" y="5635705"/>
            <a:ext cx="6480810" cy="845105"/>
          </a:xfrm>
        </p:spPr>
        <p:txBody>
          <a:bodyPr/>
          <a:lstStyle>
            <a:lvl1pPr marL="0" indent="0">
              <a:buNone/>
              <a:defRPr sz="1600"/>
            </a:lvl1pPr>
            <a:lvl2pPr marL="514350" indent="0">
              <a:buNone/>
              <a:defRPr sz="1400"/>
            </a:lvl2pPr>
            <a:lvl3pPr marL="1028700" indent="0">
              <a:buNone/>
              <a:defRPr sz="1100"/>
            </a:lvl3pPr>
            <a:lvl4pPr marL="1543050" indent="0">
              <a:buNone/>
              <a:defRPr sz="1000"/>
            </a:lvl4pPr>
            <a:lvl5pPr marL="2057400" indent="0">
              <a:buNone/>
              <a:defRPr sz="1000"/>
            </a:lvl5pPr>
            <a:lvl6pPr marL="2571750" indent="0">
              <a:buNone/>
              <a:defRPr sz="1000"/>
            </a:lvl6pPr>
            <a:lvl7pPr marL="3086100" indent="0">
              <a:buNone/>
              <a:defRPr sz="1000"/>
            </a:lvl7pPr>
            <a:lvl8pPr marL="3600450" indent="0">
              <a:buNone/>
              <a:defRPr sz="1000"/>
            </a:lvl8pPr>
            <a:lvl9pPr marL="4114800" indent="0">
              <a:buNone/>
              <a:defRPr sz="1000"/>
            </a:lvl9pPr>
          </a:lstStyle>
          <a:p>
            <a:pPr lvl="0"/>
            <a:r>
              <a:rPr lang="zh-CN" altLang="en-US" smtClean="0"/>
              <a:t>单击此处编辑母版文本样式</a:t>
            </a:r>
          </a:p>
        </p:txBody>
      </p:sp>
      <p:sp>
        <p:nvSpPr>
          <p:cNvPr id="5" name="日期占位符 3"/>
          <p:cNvSpPr>
            <a:spLocks noGrp="1"/>
          </p:cNvSpPr>
          <p:nvPr>
            <p:ph type="dt" sz="half" idx="10"/>
          </p:nvPr>
        </p:nvSpPr>
        <p:spPr/>
        <p:txBody>
          <a:bodyPr/>
          <a:lstStyle>
            <a:lvl1pPr>
              <a:defRPr/>
            </a:lvl1pPr>
          </a:lstStyle>
          <a:p>
            <a:pPr>
              <a:defRPr/>
            </a:pPr>
            <a:fld id="{300BFC10-F08D-45BB-BAAB-1F9B875F0E7D}" type="datetimeFigureOut">
              <a:rPr lang="zh-CN" altLang="en-US"/>
              <a:pPr>
                <a:defRPr/>
              </a:pPr>
              <a:t>2020-07-24</a:t>
            </a:fld>
            <a:endParaRPr lang="zh-CN" altLang="en-US"/>
          </a:p>
        </p:txBody>
      </p:sp>
      <p:sp>
        <p:nvSpPr>
          <p:cNvPr id="6" name="页脚占位符 4"/>
          <p:cNvSpPr>
            <a:spLocks noGrp="1"/>
          </p:cNvSpPr>
          <p:nvPr>
            <p:ph type="ftr" sz="quarter" idx="11"/>
          </p:nvPr>
        </p:nvSpPr>
        <p:spPr/>
        <p:txBody>
          <a:bodyPr/>
          <a:lstStyle>
            <a:lvl1pPr>
              <a:defRPr/>
            </a:lvl1pPr>
          </a:lstStyle>
          <a:p>
            <a:pPr>
              <a:defRPr/>
            </a:pPr>
            <a:endParaRPr lang="zh-CN" altLang="en-US"/>
          </a:p>
        </p:txBody>
      </p:sp>
      <p:sp>
        <p:nvSpPr>
          <p:cNvPr id="7" name="灯片编号占位符 5"/>
          <p:cNvSpPr>
            <a:spLocks noGrp="1"/>
          </p:cNvSpPr>
          <p:nvPr>
            <p:ph type="sldNum" sz="quarter" idx="12"/>
          </p:nvPr>
        </p:nvSpPr>
        <p:spPr/>
        <p:txBody>
          <a:bodyPr/>
          <a:lstStyle>
            <a:lvl1pPr>
              <a:defRPr/>
            </a:lvl1pPr>
          </a:lstStyle>
          <a:p>
            <a:pPr>
              <a:defRPr/>
            </a:pPr>
            <a:fld id="{9F8F9A2F-73E5-46C8-A18C-9E16DACE5A09}" type="slidenum">
              <a:rPr lang="zh-CN" altLang="en-US"/>
              <a:pPr>
                <a:defRPr/>
              </a:pPr>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pPr>
              <a:defRPr/>
            </a:pPr>
            <a:fld id="{761C8313-79A3-4F4A-BE00-9C2E093B3E96}" type="datetimeFigureOut">
              <a:rPr lang="zh-CN" altLang="en-US"/>
              <a:pPr>
                <a:defRPr/>
              </a:pPr>
              <a:t>2020-07-24</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47A0E03F-F961-4E2B-B458-E66ECC15EF6F}" type="slidenum">
              <a:rPr lang="zh-CN" altLang="en-US"/>
              <a:pPr>
                <a:defRPr/>
              </a:pPr>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7830979" y="288371"/>
            <a:ext cx="2430304" cy="6144101"/>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540067" y="288371"/>
            <a:ext cx="7110889" cy="6144101"/>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pPr>
              <a:defRPr/>
            </a:pPr>
            <a:fld id="{42061485-D773-448A-A579-FC2975D4E3A2}" type="datetimeFigureOut">
              <a:rPr lang="zh-CN" altLang="en-US"/>
              <a:pPr>
                <a:defRPr/>
              </a:pPr>
              <a:t>2020-07-24</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E30D8294-537F-41C6-A4C3-CEF6D8F88F09}" type="slidenum">
              <a:rPr lang="zh-CN" altLang="en-US"/>
              <a:pPr>
                <a:defRPr/>
              </a:pPr>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标题占位符 1"/>
          <p:cNvSpPr>
            <a:spLocks noGrp="1"/>
          </p:cNvSpPr>
          <p:nvPr>
            <p:ph type="title"/>
          </p:nvPr>
        </p:nvSpPr>
        <p:spPr bwMode="auto">
          <a:xfrm>
            <a:off x="495300" y="450850"/>
            <a:ext cx="9720263" cy="569913"/>
          </a:xfrm>
          <a:prstGeom prst="rect">
            <a:avLst/>
          </a:prstGeom>
          <a:noFill/>
          <a:ln w="9525">
            <a:noFill/>
            <a:miter lim="800000"/>
            <a:headEnd/>
            <a:tailEnd/>
          </a:ln>
        </p:spPr>
        <p:txBody>
          <a:bodyPr vert="horz" wrap="square" lIns="102870" tIns="51435" rIns="102870" bIns="51435" numCol="1" anchor="ctr" anchorCtr="0" compatLnSpc="1">
            <a:prstTxWarp prst="textNoShape">
              <a:avLst/>
            </a:prstTxWarp>
          </a:bodyPr>
          <a:lstStyle/>
          <a:p>
            <a:pPr lvl="0"/>
            <a:r>
              <a:rPr lang="zh-CN" altLang="en-US" smtClean="0"/>
              <a:t>单击此处编辑母版标题样式</a:t>
            </a:r>
          </a:p>
        </p:txBody>
      </p:sp>
      <p:sp>
        <p:nvSpPr>
          <p:cNvPr id="1027" name="文本占位符 2"/>
          <p:cNvSpPr>
            <a:spLocks noGrp="1"/>
          </p:cNvSpPr>
          <p:nvPr>
            <p:ph type="body" idx="1"/>
          </p:nvPr>
        </p:nvSpPr>
        <p:spPr bwMode="auto">
          <a:xfrm>
            <a:off x="495300" y="1373188"/>
            <a:ext cx="9720263" cy="4751387"/>
          </a:xfrm>
          <a:prstGeom prst="rect">
            <a:avLst/>
          </a:prstGeom>
          <a:noFill/>
          <a:ln w="9525">
            <a:noFill/>
            <a:miter lim="800000"/>
            <a:headEnd/>
            <a:tailEnd/>
          </a:ln>
        </p:spPr>
        <p:txBody>
          <a:bodyPr vert="horz" wrap="square" lIns="102870" tIns="51435" rIns="102870" bIns="51435" numCol="1" anchor="t" anchorCtr="0" compatLnSpc="1">
            <a:prstTxWarp prst="textNoShape">
              <a:avLst/>
            </a:prstTxWarp>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p>
        </p:txBody>
      </p:sp>
      <p:sp>
        <p:nvSpPr>
          <p:cNvPr id="4" name="日期占位符 3"/>
          <p:cNvSpPr>
            <a:spLocks noGrp="1"/>
          </p:cNvSpPr>
          <p:nvPr>
            <p:ph type="dt" sz="half" idx="2"/>
          </p:nvPr>
        </p:nvSpPr>
        <p:spPr>
          <a:xfrm>
            <a:off x="539750" y="6673850"/>
            <a:ext cx="2520950" cy="384175"/>
          </a:xfrm>
          <a:prstGeom prst="rect">
            <a:avLst/>
          </a:prstGeom>
        </p:spPr>
        <p:txBody>
          <a:bodyPr vert="horz" lIns="102870" tIns="51435" rIns="102870" bIns="51435" rtlCol="0" anchor="ctr"/>
          <a:lstStyle>
            <a:lvl1pPr algn="l" fontAlgn="auto">
              <a:spcBef>
                <a:spcPts val="0"/>
              </a:spcBef>
              <a:spcAft>
                <a:spcPts val="0"/>
              </a:spcAft>
              <a:defRPr sz="1400">
                <a:solidFill>
                  <a:schemeClr val="tx1">
                    <a:tint val="75000"/>
                  </a:schemeClr>
                </a:solidFill>
                <a:latin typeface="+mn-lt"/>
                <a:ea typeface="+mn-ea"/>
              </a:defRPr>
            </a:lvl1pPr>
          </a:lstStyle>
          <a:p>
            <a:pPr>
              <a:defRPr/>
            </a:pPr>
            <a:fld id="{262D5C02-B012-408A-89B2-E4324584A022}" type="datetimeFigureOut">
              <a:rPr lang="zh-CN" altLang="en-US"/>
              <a:pPr>
                <a:defRPr/>
              </a:pPr>
              <a:t>2020-07-24</a:t>
            </a:fld>
            <a:endParaRPr lang="zh-CN" altLang="en-US"/>
          </a:p>
        </p:txBody>
      </p:sp>
      <p:sp>
        <p:nvSpPr>
          <p:cNvPr id="5" name="页脚占位符 4"/>
          <p:cNvSpPr>
            <a:spLocks noGrp="1"/>
          </p:cNvSpPr>
          <p:nvPr>
            <p:ph type="ftr" sz="quarter" idx="3"/>
          </p:nvPr>
        </p:nvSpPr>
        <p:spPr>
          <a:xfrm>
            <a:off x="3690938" y="6673850"/>
            <a:ext cx="3419475" cy="384175"/>
          </a:xfrm>
          <a:prstGeom prst="rect">
            <a:avLst/>
          </a:prstGeom>
        </p:spPr>
        <p:txBody>
          <a:bodyPr vert="horz" lIns="102870" tIns="51435" rIns="102870" bIns="51435" rtlCol="0" anchor="ctr"/>
          <a:lstStyle>
            <a:lvl1pPr algn="ctr" fontAlgn="auto">
              <a:spcBef>
                <a:spcPts val="0"/>
              </a:spcBef>
              <a:spcAft>
                <a:spcPts val="0"/>
              </a:spcAft>
              <a:defRPr sz="1400">
                <a:solidFill>
                  <a:schemeClr val="tx1">
                    <a:tint val="75000"/>
                  </a:schemeClr>
                </a:solidFill>
                <a:latin typeface="+mn-lt"/>
                <a:ea typeface="+mn-ea"/>
              </a:defRPr>
            </a:lvl1pPr>
          </a:lstStyle>
          <a:p>
            <a:pPr>
              <a:defRPr/>
            </a:pPr>
            <a:endParaRPr lang="zh-CN" altLang="en-US"/>
          </a:p>
        </p:txBody>
      </p:sp>
      <p:sp>
        <p:nvSpPr>
          <p:cNvPr id="6" name="灯片编号占位符 5"/>
          <p:cNvSpPr>
            <a:spLocks noGrp="1"/>
          </p:cNvSpPr>
          <p:nvPr>
            <p:ph type="sldNum" sz="quarter" idx="4"/>
          </p:nvPr>
        </p:nvSpPr>
        <p:spPr>
          <a:xfrm>
            <a:off x="7740650" y="6673850"/>
            <a:ext cx="2520950" cy="384175"/>
          </a:xfrm>
          <a:prstGeom prst="rect">
            <a:avLst/>
          </a:prstGeom>
        </p:spPr>
        <p:txBody>
          <a:bodyPr vert="horz" lIns="102870" tIns="51435" rIns="102870" bIns="51435" rtlCol="0" anchor="ctr"/>
          <a:lstStyle>
            <a:lvl1pPr algn="r" fontAlgn="auto">
              <a:spcBef>
                <a:spcPts val="0"/>
              </a:spcBef>
              <a:spcAft>
                <a:spcPts val="0"/>
              </a:spcAft>
              <a:defRPr sz="1400">
                <a:solidFill>
                  <a:schemeClr val="tx1">
                    <a:tint val="75000"/>
                  </a:schemeClr>
                </a:solidFill>
                <a:latin typeface="+mn-lt"/>
                <a:ea typeface="+mn-ea"/>
              </a:defRPr>
            </a:lvl1pPr>
          </a:lstStyle>
          <a:p>
            <a:pPr>
              <a:defRPr/>
            </a:pPr>
            <a:fld id="{35F4011A-4233-4A29-9CDF-8EFD872670D3}" type="slidenum">
              <a:rPr lang="zh-CN" altLang="en-US"/>
              <a:pPr>
                <a:defRPr/>
              </a:pPr>
              <a:t>‹#›</a:t>
            </a:fld>
            <a:endParaRPr lang="zh-CN" altLang="en-US"/>
          </a:p>
        </p:txBody>
      </p:sp>
      <p:sp>
        <p:nvSpPr>
          <p:cNvPr id="7" name="矩形 6"/>
          <p:cNvSpPr/>
          <p:nvPr userDrawn="1"/>
        </p:nvSpPr>
        <p:spPr>
          <a:xfrm>
            <a:off x="0" y="6840538"/>
            <a:ext cx="10801350" cy="95250"/>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lIns="102870" tIns="51435" rIns="102870" bIns="51435" anchor="ctr"/>
          <a:lstStyle/>
          <a:p>
            <a:pPr algn="ctr" fontAlgn="auto">
              <a:spcBef>
                <a:spcPts val="0"/>
              </a:spcBef>
              <a:spcAft>
                <a:spcPts val="0"/>
              </a:spcAft>
              <a:defRPr/>
            </a:pPr>
            <a:endParaRPr lang="zh-CN" altLang="en-US"/>
          </a:p>
        </p:txBody>
      </p:sp>
      <p:sp>
        <p:nvSpPr>
          <p:cNvPr id="1032" name="TextBox 7"/>
          <p:cNvSpPr txBox="1">
            <a:spLocks noChangeArrowheads="1"/>
          </p:cNvSpPr>
          <p:nvPr userDrawn="1"/>
        </p:nvSpPr>
        <p:spPr bwMode="auto">
          <a:xfrm>
            <a:off x="8696325" y="6624638"/>
            <a:ext cx="747713" cy="519112"/>
          </a:xfrm>
          <a:prstGeom prst="rect">
            <a:avLst/>
          </a:prstGeom>
          <a:solidFill>
            <a:schemeClr val="bg1"/>
          </a:solidFill>
          <a:ln>
            <a:noFill/>
          </a:ln>
          <a:extLst/>
        </p:spPr>
        <p:txBody>
          <a:bodyPr wrap="none" lIns="102870" tIns="51435" rIns="102870" bIns="51435">
            <a:spAutoFit/>
          </a:bodyPr>
          <a:lstStyle>
            <a:lvl1pPr>
              <a:defRPr sz="2000">
                <a:solidFill>
                  <a:schemeClr val="tx1"/>
                </a:solidFill>
                <a:latin typeface="Calibri" pitchFamily="34" charset="0"/>
                <a:ea typeface="宋体" charset="-122"/>
              </a:defRPr>
            </a:lvl1pPr>
            <a:lvl2pPr marL="742950" indent="-285750">
              <a:defRPr sz="2000">
                <a:solidFill>
                  <a:schemeClr val="tx1"/>
                </a:solidFill>
                <a:latin typeface="Calibri" pitchFamily="34" charset="0"/>
                <a:ea typeface="宋体" charset="-122"/>
              </a:defRPr>
            </a:lvl2pPr>
            <a:lvl3pPr marL="1143000" indent="-228600">
              <a:defRPr sz="2000">
                <a:solidFill>
                  <a:schemeClr val="tx1"/>
                </a:solidFill>
                <a:latin typeface="Calibri" pitchFamily="34" charset="0"/>
                <a:ea typeface="宋体" charset="-122"/>
              </a:defRPr>
            </a:lvl3pPr>
            <a:lvl4pPr marL="1600200" indent="-228600">
              <a:defRPr sz="2000">
                <a:solidFill>
                  <a:schemeClr val="tx1"/>
                </a:solidFill>
                <a:latin typeface="Calibri" pitchFamily="34" charset="0"/>
                <a:ea typeface="宋体" charset="-122"/>
              </a:defRPr>
            </a:lvl4pPr>
            <a:lvl5pPr>
              <a:defRPr sz="2000">
                <a:solidFill>
                  <a:schemeClr val="tx1"/>
                </a:solidFill>
                <a:latin typeface="Calibri" pitchFamily="34" charset="0"/>
                <a:ea typeface="宋体" charset="-122"/>
              </a:defRPr>
            </a:lvl5pPr>
            <a:lvl6pPr marL="2514600" indent="-228600" defTabSz="1028700" fontAlgn="base">
              <a:spcBef>
                <a:spcPct val="0"/>
              </a:spcBef>
              <a:spcAft>
                <a:spcPct val="0"/>
              </a:spcAft>
              <a:defRPr sz="2000">
                <a:solidFill>
                  <a:schemeClr val="tx1"/>
                </a:solidFill>
                <a:latin typeface="Calibri" pitchFamily="34" charset="0"/>
                <a:ea typeface="宋体" charset="-122"/>
              </a:defRPr>
            </a:lvl6pPr>
            <a:lvl7pPr marL="2971800" indent="-228600" defTabSz="1028700" fontAlgn="base">
              <a:spcBef>
                <a:spcPct val="0"/>
              </a:spcBef>
              <a:spcAft>
                <a:spcPct val="0"/>
              </a:spcAft>
              <a:defRPr sz="2000">
                <a:solidFill>
                  <a:schemeClr val="tx1"/>
                </a:solidFill>
                <a:latin typeface="Calibri" pitchFamily="34" charset="0"/>
                <a:ea typeface="宋体" charset="-122"/>
              </a:defRPr>
            </a:lvl7pPr>
            <a:lvl8pPr marL="3429000" indent="-228600" defTabSz="1028700" fontAlgn="base">
              <a:spcBef>
                <a:spcPct val="0"/>
              </a:spcBef>
              <a:spcAft>
                <a:spcPct val="0"/>
              </a:spcAft>
              <a:defRPr sz="2000">
                <a:solidFill>
                  <a:schemeClr val="tx1"/>
                </a:solidFill>
                <a:latin typeface="Calibri" pitchFamily="34" charset="0"/>
                <a:ea typeface="宋体" charset="-122"/>
              </a:defRPr>
            </a:lvl8pPr>
            <a:lvl9pPr marL="3886200" indent="-228600" defTabSz="1028700" fontAlgn="base">
              <a:spcBef>
                <a:spcPct val="0"/>
              </a:spcBef>
              <a:spcAft>
                <a:spcPct val="0"/>
              </a:spcAft>
              <a:defRPr sz="2000">
                <a:solidFill>
                  <a:schemeClr val="tx1"/>
                </a:solidFill>
                <a:latin typeface="Calibri" pitchFamily="34" charset="0"/>
                <a:ea typeface="宋体" charset="-122"/>
              </a:defRPr>
            </a:lvl9pPr>
          </a:lstStyle>
          <a:p>
            <a:pPr>
              <a:defRPr/>
            </a:pPr>
            <a:r>
              <a:rPr lang="en-US" altLang="zh-CN" sz="2700" smtClean="0">
                <a:solidFill>
                  <a:srgbClr val="00B0F0"/>
                </a:solidFill>
                <a:latin typeface="Impact" pitchFamily="34" charset="0"/>
              </a:rPr>
              <a:t>IMC</a:t>
            </a:r>
            <a:endParaRPr lang="zh-CN" altLang="en-US" sz="2700" smtClean="0">
              <a:solidFill>
                <a:srgbClr val="00B0F0"/>
              </a:solidFill>
              <a:latin typeface="Impact" pitchFamily="34" charset="0"/>
            </a:endParaRPr>
          </a:p>
        </p:txBody>
      </p:sp>
    </p:spTree>
  </p:cSld>
  <p:clrMap bg1="lt1" tx1="dk1" bg2="lt2" tx2="dk2" accent1="accent1" accent2="accent2" accent3="accent3" accent4="accent4" accent5="accent5" accent6="accent6" hlink="hlink" folHlink="folHlink"/>
  <p:sldLayoutIdLst>
    <p:sldLayoutId id="2147483659" r:id="rId1"/>
    <p:sldLayoutId id="2147483658" r:id="rId2"/>
    <p:sldLayoutId id="2147483657" r:id="rId3"/>
    <p:sldLayoutId id="2147483656" r:id="rId4"/>
    <p:sldLayoutId id="2147483655" r:id="rId5"/>
    <p:sldLayoutId id="2147483654" r:id="rId6"/>
    <p:sldLayoutId id="2147483653" r:id="rId7"/>
    <p:sldLayoutId id="2147483652" r:id="rId8"/>
    <p:sldLayoutId id="2147483651" r:id="rId9"/>
    <p:sldLayoutId id="2147483650" r:id="rId10"/>
    <p:sldLayoutId id="2147483649" r:id="rId11"/>
  </p:sldLayoutIdLst>
  <p:timing>
    <p:tnLst>
      <p:par>
        <p:cTn id="1" dur="indefinite" restart="never" nodeType="tmRoot"/>
      </p:par>
    </p:tnLst>
  </p:timing>
  <p:txStyles>
    <p:titleStyle>
      <a:lvl1pPr algn="l" defTabSz="1028700" rtl="0" eaLnBrk="0" fontAlgn="base" hangingPunct="0">
        <a:spcBef>
          <a:spcPct val="0"/>
        </a:spcBef>
        <a:spcAft>
          <a:spcPct val="0"/>
        </a:spcAft>
        <a:defRPr sz="2700" b="1" kern="1200">
          <a:solidFill>
            <a:srgbClr val="00B0F0"/>
          </a:solidFill>
          <a:latin typeface="微软雅黑" pitchFamily="34" charset="-122"/>
          <a:ea typeface="微软雅黑" pitchFamily="34" charset="-122"/>
          <a:cs typeface="+mj-cs"/>
        </a:defRPr>
      </a:lvl1pPr>
      <a:lvl2pPr algn="l" defTabSz="1028700" rtl="0" eaLnBrk="0" fontAlgn="base" hangingPunct="0">
        <a:spcBef>
          <a:spcPct val="0"/>
        </a:spcBef>
        <a:spcAft>
          <a:spcPct val="0"/>
        </a:spcAft>
        <a:defRPr sz="2700" b="1">
          <a:solidFill>
            <a:srgbClr val="00B0F0"/>
          </a:solidFill>
          <a:latin typeface="微软雅黑" pitchFamily="34" charset="-122"/>
          <a:ea typeface="微软雅黑" pitchFamily="34" charset="-122"/>
        </a:defRPr>
      </a:lvl2pPr>
      <a:lvl3pPr algn="l" defTabSz="1028700" rtl="0" eaLnBrk="0" fontAlgn="base" hangingPunct="0">
        <a:spcBef>
          <a:spcPct val="0"/>
        </a:spcBef>
        <a:spcAft>
          <a:spcPct val="0"/>
        </a:spcAft>
        <a:defRPr sz="2700" b="1">
          <a:solidFill>
            <a:srgbClr val="00B0F0"/>
          </a:solidFill>
          <a:latin typeface="微软雅黑" pitchFamily="34" charset="-122"/>
          <a:ea typeface="微软雅黑" pitchFamily="34" charset="-122"/>
        </a:defRPr>
      </a:lvl3pPr>
      <a:lvl4pPr algn="l" defTabSz="1028700" rtl="0" eaLnBrk="0" fontAlgn="base" hangingPunct="0">
        <a:spcBef>
          <a:spcPct val="0"/>
        </a:spcBef>
        <a:spcAft>
          <a:spcPct val="0"/>
        </a:spcAft>
        <a:defRPr sz="2700" b="1">
          <a:solidFill>
            <a:srgbClr val="00B0F0"/>
          </a:solidFill>
          <a:latin typeface="微软雅黑" pitchFamily="34" charset="-122"/>
          <a:ea typeface="微软雅黑" pitchFamily="34" charset="-122"/>
        </a:defRPr>
      </a:lvl4pPr>
      <a:lvl5pPr algn="l" defTabSz="1028700" rtl="0" eaLnBrk="0" fontAlgn="base" hangingPunct="0">
        <a:spcBef>
          <a:spcPct val="0"/>
        </a:spcBef>
        <a:spcAft>
          <a:spcPct val="0"/>
        </a:spcAft>
        <a:defRPr sz="2700" b="1">
          <a:solidFill>
            <a:srgbClr val="00B0F0"/>
          </a:solidFill>
          <a:latin typeface="微软雅黑" pitchFamily="34" charset="-122"/>
          <a:ea typeface="微软雅黑" pitchFamily="34" charset="-122"/>
        </a:defRPr>
      </a:lvl5pPr>
      <a:lvl6pPr marL="457200" algn="l" defTabSz="1028700" rtl="0" fontAlgn="base">
        <a:spcBef>
          <a:spcPct val="0"/>
        </a:spcBef>
        <a:spcAft>
          <a:spcPct val="0"/>
        </a:spcAft>
        <a:defRPr sz="2700" b="1">
          <a:solidFill>
            <a:srgbClr val="00B0F0"/>
          </a:solidFill>
          <a:latin typeface="微软雅黑" pitchFamily="34" charset="-122"/>
          <a:ea typeface="微软雅黑" pitchFamily="34" charset="-122"/>
        </a:defRPr>
      </a:lvl6pPr>
      <a:lvl7pPr marL="914400" algn="l" defTabSz="1028700" rtl="0" fontAlgn="base">
        <a:spcBef>
          <a:spcPct val="0"/>
        </a:spcBef>
        <a:spcAft>
          <a:spcPct val="0"/>
        </a:spcAft>
        <a:defRPr sz="2700" b="1">
          <a:solidFill>
            <a:srgbClr val="00B0F0"/>
          </a:solidFill>
          <a:latin typeface="微软雅黑" pitchFamily="34" charset="-122"/>
          <a:ea typeface="微软雅黑" pitchFamily="34" charset="-122"/>
        </a:defRPr>
      </a:lvl7pPr>
      <a:lvl8pPr marL="1371600" algn="l" defTabSz="1028700" rtl="0" fontAlgn="base">
        <a:spcBef>
          <a:spcPct val="0"/>
        </a:spcBef>
        <a:spcAft>
          <a:spcPct val="0"/>
        </a:spcAft>
        <a:defRPr sz="2700" b="1">
          <a:solidFill>
            <a:srgbClr val="00B0F0"/>
          </a:solidFill>
          <a:latin typeface="微软雅黑" pitchFamily="34" charset="-122"/>
          <a:ea typeface="微软雅黑" pitchFamily="34" charset="-122"/>
        </a:defRPr>
      </a:lvl8pPr>
      <a:lvl9pPr marL="1828800" algn="l" defTabSz="1028700" rtl="0" fontAlgn="base">
        <a:spcBef>
          <a:spcPct val="0"/>
        </a:spcBef>
        <a:spcAft>
          <a:spcPct val="0"/>
        </a:spcAft>
        <a:defRPr sz="2700" b="1">
          <a:solidFill>
            <a:srgbClr val="00B0F0"/>
          </a:solidFill>
          <a:latin typeface="微软雅黑" pitchFamily="34" charset="-122"/>
          <a:ea typeface="微软雅黑" pitchFamily="34" charset="-122"/>
        </a:defRPr>
      </a:lvl9pPr>
    </p:titleStyle>
    <p:bodyStyle>
      <a:lvl1pPr marL="385763" indent="-385763" algn="l" defTabSz="1028700" rtl="0" eaLnBrk="0" fontAlgn="base" hangingPunct="0">
        <a:spcBef>
          <a:spcPct val="20000"/>
        </a:spcBef>
        <a:spcAft>
          <a:spcPct val="0"/>
        </a:spcAft>
        <a:buFont typeface="Arial" charset="0"/>
        <a:buChar char="•"/>
        <a:defRPr sz="3600" kern="1200">
          <a:solidFill>
            <a:schemeClr val="tx1"/>
          </a:solidFill>
          <a:latin typeface="+mn-lt"/>
          <a:ea typeface="+mn-ea"/>
          <a:cs typeface="+mn-cs"/>
        </a:defRPr>
      </a:lvl1pPr>
      <a:lvl2pPr marL="835025" indent="-320675" algn="l" defTabSz="1028700" rtl="0" eaLnBrk="0" fontAlgn="base" hangingPunct="0">
        <a:spcBef>
          <a:spcPct val="20000"/>
        </a:spcBef>
        <a:spcAft>
          <a:spcPct val="0"/>
        </a:spcAft>
        <a:buFont typeface="Arial" charset="0"/>
        <a:buChar char="–"/>
        <a:defRPr sz="3200" kern="1200">
          <a:solidFill>
            <a:schemeClr val="tx1"/>
          </a:solidFill>
          <a:latin typeface="+mn-lt"/>
          <a:ea typeface="+mn-ea"/>
          <a:cs typeface="+mn-cs"/>
        </a:defRPr>
      </a:lvl2pPr>
      <a:lvl3pPr marL="1285875" indent="-257175" algn="l" defTabSz="1028700" rtl="0" eaLnBrk="0" fontAlgn="base" hangingPunct="0">
        <a:spcBef>
          <a:spcPct val="20000"/>
        </a:spcBef>
        <a:spcAft>
          <a:spcPct val="0"/>
        </a:spcAft>
        <a:buFont typeface="Arial" charset="0"/>
        <a:buChar char="•"/>
        <a:defRPr sz="2700" kern="1200">
          <a:solidFill>
            <a:schemeClr val="tx1"/>
          </a:solidFill>
          <a:latin typeface="+mn-lt"/>
          <a:ea typeface="+mn-ea"/>
          <a:cs typeface="+mn-cs"/>
        </a:defRPr>
      </a:lvl3pPr>
      <a:lvl4pPr marL="1800225" indent="-257175" algn="l" defTabSz="1028700" rtl="0" eaLnBrk="0" fontAlgn="base" hangingPunct="0">
        <a:spcBef>
          <a:spcPct val="20000"/>
        </a:spcBef>
        <a:spcAft>
          <a:spcPct val="0"/>
        </a:spcAft>
        <a:buFont typeface="Arial" charset="0"/>
        <a:buChar char="–"/>
        <a:defRPr sz="2300" kern="1200">
          <a:solidFill>
            <a:schemeClr val="tx1"/>
          </a:solidFill>
          <a:latin typeface="+mn-lt"/>
          <a:ea typeface="+mn-ea"/>
          <a:cs typeface="+mn-cs"/>
        </a:defRPr>
      </a:lvl4pPr>
      <a:lvl5pPr marL="2314575" indent="-257175" algn="l" defTabSz="1028700" rtl="0" eaLnBrk="0" fontAlgn="base" hangingPunct="0">
        <a:spcBef>
          <a:spcPct val="20000"/>
        </a:spcBef>
        <a:spcAft>
          <a:spcPct val="0"/>
        </a:spcAft>
        <a:buFont typeface="Arial" charset="0"/>
        <a:buChar char="»"/>
        <a:defRPr sz="2300" kern="1200">
          <a:solidFill>
            <a:schemeClr val="tx1"/>
          </a:solidFill>
          <a:latin typeface="+mn-lt"/>
          <a:ea typeface="+mn-ea"/>
          <a:cs typeface="+mn-cs"/>
        </a:defRPr>
      </a:lvl5pPr>
      <a:lvl6pPr marL="2828925" indent="-257175" algn="l" defTabSz="1028700" rtl="0" eaLnBrk="1" latinLnBrk="0" hangingPunct="1">
        <a:spcBef>
          <a:spcPct val="20000"/>
        </a:spcBef>
        <a:buFont typeface="Arial" pitchFamily="34" charset="0"/>
        <a:buChar char="•"/>
        <a:defRPr sz="2300" kern="1200">
          <a:solidFill>
            <a:schemeClr val="tx1"/>
          </a:solidFill>
          <a:latin typeface="+mn-lt"/>
          <a:ea typeface="+mn-ea"/>
          <a:cs typeface="+mn-cs"/>
        </a:defRPr>
      </a:lvl6pPr>
      <a:lvl7pPr marL="3343275" indent="-257175" algn="l" defTabSz="1028700" rtl="0" eaLnBrk="1" latinLnBrk="0" hangingPunct="1">
        <a:spcBef>
          <a:spcPct val="20000"/>
        </a:spcBef>
        <a:buFont typeface="Arial" pitchFamily="34" charset="0"/>
        <a:buChar char="•"/>
        <a:defRPr sz="2300" kern="1200">
          <a:solidFill>
            <a:schemeClr val="tx1"/>
          </a:solidFill>
          <a:latin typeface="+mn-lt"/>
          <a:ea typeface="+mn-ea"/>
          <a:cs typeface="+mn-cs"/>
        </a:defRPr>
      </a:lvl7pPr>
      <a:lvl8pPr marL="3857625" indent="-257175" algn="l" defTabSz="1028700" rtl="0" eaLnBrk="1" latinLnBrk="0" hangingPunct="1">
        <a:spcBef>
          <a:spcPct val="20000"/>
        </a:spcBef>
        <a:buFont typeface="Arial" pitchFamily="34" charset="0"/>
        <a:buChar char="•"/>
        <a:defRPr sz="2300" kern="1200">
          <a:solidFill>
            <a:schemeClr val="tx1"/>
          </a:solidFill>
          <a:latin typeface="+mn-lt"/>
          <a:ea typeface="+mn-ea"/>
          <a:cs typeface="+mn-cs"/>
        </a:defRPr>
      </a:lvl8pPr>
      <a:lvl9pPr marL="4371975" indent="-257175" algn="l" defTabSz="1028700" rtl="0" eaLnBrk="1" latinLnBrk="0" hangingPunct="1">
        <a:spcBef>
          <a:spcPct val="20000"/>
        </a:spcBef>
        <a:buFont typeface="Arial" pitchFamily="34" charset="0"/>
        <a:buChar char="•"/>
        <a:defRPr sz="2300" kern="1200">
          <a:solidFill>
            <a:schemeClr val="tx1"/>
          </a:solidFill>
          <a:latin typeface="+mn-lt"/>
          <a:ea typeface="+mn-ea"/>
          <a:cs typeface="+mn-cs"/>
        </a:defRPr>
      </a:lvl9pPr>
    </p:bodyStyle>
    <p:otherStyle>
      <a:defPPr>
        <a:defRPr lang="zh-CN"/>
      </a:defPPr>
      <a:lvl1pPr marL="0" algn="l" defTabSz="1028700" rtl="0" eaLnBrk="1" latinLnBrk="0" hangingPunct="1">
        <a:defRPr sz="2000" kern="1200">
          <a:solidFill>
            <a:schemeClr val="tx1"/>
          </a:solidFill>
          <a:latin typeface="+mn-lt"/>
          <a:ea typeface="+mn-ea"/>
          <a:cs typeface="+mn-cs"/>
        </a:defRPr>
      </a:lvl1pPr>
      <a:lvl2pPr marL="514350" algn="l" defTabSz="1028700" rtl="0" eaLnBrk="1" latinLnBrk="0" hangingPunct="1">
        <a:defRPr sz="2000" kern="1200">
          <a:solidFill>
            <a:schemeClr val="tx1"/>
          </a:solidFill>
          <a:latin typeface="+mn-lt"/>
          <a:ea typeface="+mn-ea"/>
          <a:cs typeface="+mn-cs"/>
        </a:defRPr>
      </a:lvl2pPr>
      <a:lvl3pPr marL="1028700" algn="l" defTabSz="1028700" rtl="0" eaLnBrk="1" latinLnBrk="0" hangingPunct="1">
        <a:defRPr sz="2000" kern="1200">
          <a:solidFill>
            <a:schemeClr val="tx1"/>
          </a:solidFill>
          <a:latin typeface="+mn-lt"/>
          <a:ea typeface="+mn-ea"/>
          <a:cs typeface="+mn-cs"/>
        </a:defRPr>
      </a:lvl3pPr>
      <a:lvl4pPr marL="1543050" algn="l" defTabSz="1028700" rtl="0" eaLnBrk="1" latinLnBrk="0" hangingPunct="1">
        <a:defRPr sz="2000" kern="1200">
          <a:solidFill>
            <a:schemeClr val="tx1"/>
          </a:solidFill>
          <a:latin typeface="+mn-lt"/>
          <a:ea typeface="+mn-ea"/>
          <a:cs typeface="+mn-cs"/>
        </a:defRPr>
      </a:lvl4pPr>
      <a:lvl5pPr marL="2057400" algn="l" defTabSz="1028700" rtl="0" eaLnBrk="1" latinLnBrk="0" hangingPunct="1">
        <a:defRPr sz="2000" kern="1200">
          <a:solidFill>
            <a:schemeClr val="tx1"/>
          </a:solidFill>
          <a:latin typeface="+mn-lt"/>
          <a:ea typeface="+mn-ea"/>
          <a:cs typeface="+mn-cs"/>
        </a:defRPr>
      </a:lvl5pPr>
      <a:lvl6pPr marL="2571750" algn="l" defTabSz="1028700" rtl="0" eaLnBrk="1" latinLnBrk="0" hangingPunct="1">
        <a:defRPr sz="2000" kern="1200">
          <a:solidFill>
            <a:schemeClr val="tx1"/>
          </a:solidFill>
          <a:latin typeface="+mn-lt"/>
          <a:ea typeface="+mn-ea"/>
          <a:cs typeface="+mn-cs"/>
        </a:defRPr>
      </a:lvl6pPr>
      <a:lvl7pPr marL="3086100" algn="l" defTabSz="1028700" rtl="0" eaLnBrk="1" latinLnBrk="0" hangingPunct="1">
        <a:defRPr sz="2000" kern="1200">
          <a:solidFill>
            <a:schemeClr val="tx1"/>
          </a:solidFill>
          <a:latin typeface="+mn-lt"/>
          <a:ea typeface="+mn-ea"/>
          <a:cs typeface="+mn-cs"/>
        </a:defRPr>
      </a:lvl7pPr>
      <a:lvl8pPr marL="3600450" algn="l" defTabSz="1028700" rtl="0" eaLnBrk="1" latinLnBrk="0" hangingPunct="1">
        <a:defRPr sz="2000" kern="1200">
          <a:solidFill>
            <a:schemeClr val="tx1"/>
          </a:solidFill>
          <a:latin typeface="+mn-lt"/>
          <a:ea typeface="+mn-ea"/>
          <a:cs typeface="+mn-cs"/>
        </a:defRPr>
      </a:lvl8pPr>
      <a:lvl9pPr marL="4114800" algn="l" defTabSz="1028700" rtl="0" eaLnBrk="1" latinLnBrk="0" hangingPunct="1">
        <a:defRPr sz="20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xml"/></Relationships>
</file>

<file path=ppt/slides/_rels/slide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chemeClr val="bg1">
            <a:lumMod val="95000"/>
          </a:schemeClr>
        </a:solidFill>
        <a:effectLst/>
      </p:bgPr>
    </p:bg>
    <p:spTree>
      <p:nvGrpSpPr>
        <p:cNvPr id="1" name=""/>
        <p:cNvGrpSpPr/>
        <p:nvPr/>
      </p:nvGrpSpPr>
      <p:grpSpPr>
        <a:xfrm>
          <a:off x="0" y="0"/>
          <a:ext cx="0" cy="0"/>
          <a:chOff x="0" y="0"/>
          <a:chExt cx="0" cy="0"/>
        </a:xfrm>
      </p:grpSpPr>
      <p:sp>
        <p:nvSpPr>
          <p:cNvPr id="4" name="TextBox 3"/>
          <p:cNvSpPr txBox="1"/>
          <p:nvPr/>
        </p:nvSpPr>
        <p:spPr>
          <a:xfrm>
            <a:off x="1879642" y="3525838"/>
            <a:ext cx="8494633" cy="923330"/>
          </a:xfrm>
          <a:prstGeom prst="rect">
            <a:avLst/>
          </a:prstGeom>
          <a:noFill/>
        </p:spPr>
        <p:txBody>
          <a:bodyPr wrap="none">
            <a:spAutoFit/>
          </a:bodyPr>
          <a:lstStyle/>
          <a:p>
            <a:pPr algn="ctr">
              <a:defRPr/>
            </a:pPr>
            <a:r>
              <a:rPr lang="zh-CN" altLang="en-US" sz="5400" b="1" dirty="0" smtClean="0">
                <a:solidFill>
                  <a:schemeClr val="tx1">
                    <a:lumMod val="50000"/>
                    <a:lumOff val="50000"/>
                  </a:schemeClr>
                </a:solidFill>
                <a:latin typeface="微软雅黑" pitchFamily="34" charset="-122"/>
                <a:ea typeface="微软雅黑" pitchFamily="34" charset="-122"/>
              </a:rPr>
              <a:t>数据分析指标体系搭建指南</a:t>
            </a:r>
            <a:endParaRPr lang="zh-CN" altLang="en-US" sz="5400" b="1" dirty="0">
              <a:solidFill>
                <a:schemeClr val="tx1">
                  <a:lumMod val="50000"/>
                  <a:lumOff val="50000"/>
                </a:schemeClr>
              </a:solidFill>
              <a:latin typeface="微软雅黑" pitchFamily="34" charset="-122"/>
              <a:ea typeface="微软雅黑" pitchFamily="34" charset="-122"/>
            </a:endParaRPr>
          </a:p>
        </p:txBody>
      </p:sp>
      <p:sp>
        <p:nvSpPr>
          <p:cNvPr id="14339" name="TextBox 42"/>
          <p:cNvSpPr txBox="1">
            <a:spLocks noChangeArrowheads="1"/>
          </p:cNvSpPr>
          <p:nvPr/>
        </p:nvSpPr>
        <p:spPr bwMode="auto">
          <a:xfrm>
            <a:off x="7811599" y="2009775"/>
            <a:ext cx="2464778" cy="1458091"/>
          </a:xfrm>
          <a:prstGeom prst="rect">
            <a:avLst/>
          </a:prstGeom>
          <a:solidFill>
            <a:srgbClr val="00B0F0"/>
          </a:solidFill>
          <a:ln w="9525">
            <a:noFill/>
            <a:miter lim="800000"/>
            <a:headEnd/>
            <a:tailEnd/>
          </a:ln>
        </p:spPr>
        <p:txBody>
          <a:bodyPr wrap="none" lIns="102870" tIns="51435" rIns="102870" bIns="51435">
            <a:spAutoFit/>
          </a:bodyPr>
          <a:lstStyle/>
          <a:p>
            <a:pPr algn="ctr"/>
            <a:r>
              <a:rPr lang="zh-CN" altLang="en-US" sz="8800" dirty="0">
                <a:solidFill>
                  <a:schemeClr val="bg1"/>
                </a:solidFill>
                <a:latin typeface="Impact" pitchFamily="34" charset="0"/>
              </a:rPr>
              <a:t>数据</a:t>
            </a:r>
            <a:endParaRPr lang="zh-CN" altLang="en-US" sz="8800" dirty="0">
              <a:solidFill>
                <a:schemeClr val="bg1"/>
              </a:solidFill>
              <a:latin typeface="Impact" pitchFamily="34" charset="0"/>
            </a:endParaRPr>
          </a:p>
        </p:txBody>
      </p:sp>
      <p:sp>
        <p:nvSpPr>
          <p:cNvPr id="14341" name="TextBox 7"/>
          <p:cNvSpPr txBox="1">
            <a:spLocks noChangeArrowheads="1"/>
          </p:cNvSpPr>
          <p:nvPr/>
        </p:nvSpPr>
        <p:spPr bwMode="auto">
          <a:xfrm>
            <a:off x="6870700" y="4911725"/>
            <a:ext cx="1338508" cy="523220"/>
          </a:xfrm>
          <a:prstGeom prst="rect">
            <a:avLst/>
          </a:prstGeom>
          <a:noFill/>
          <a:ln w="9525">
            <a:noFill/>
            <a:miter lim="800000"/>
            <a:headEnd/>
            <a:tailEnd/>
          </a:ln>
        </p:spPr>
        <p:txBody>
          <a:bodyPr wrap="none">
            <a:spAutoFit/>
          </a:bodyPr>
          <a:lstStyle/>
          <a:p>
            <a:r>
              <a:rPr lang="en-US" altLang="zh-CN" sz="2800" dirty="0" smtClean="0">
                <a:solidFill>
                  <a:srgbClr val="00B0F0"/>
                </a:solidFill>
              </a:rPr>
              <a:t>By </a:t>
            </a:r>
            <a:r>
              <a:rPr lang="zh-CN" altLang="en-US" sz="2800" dirty="0" smtClean="0">
                <a:solidFill>
                  <a:srgbClr val="00B0F0"/>
                </a:solidFill>
              </a:rPr>
              <a:t>群群</a:t>
            </a:r>
            <a:endParaRPr lang="zh-CN" altLang="en-US" sz="2800" dirty="0">
              <a:solidFill>
                <a:srgbClr val="00B0F0"/>
              </a:solidFill>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标题 1"/>
          <p:cNvSpPr>
            <a:spLocks noGrp="1"/>
          </p:cNvSpPr>
          <p:nvPr>
            <p:ph type="title"/>
          </p:nvPr>
        </p:nvSpPr>
        <p:spPr/>
        <p:txBody>
          <a:bodyPr rtlCol="0">
            <a:normAutofit/>
          </a:bodyPr>
          <a:lstStyle/>
          <a:p>
            <a:pPr eaLnBrk="1" fontAlgn="auto" hangingPunct="1">
              <a:spcAft>
                <a:spcPts val="0"/>
              </a:spcAft>
              <a:defRPr/>
            </a:pPr>
            <a:r>
              <a:rPr lang="zh-CN" altLang="en-US" dirty="0" smtClean="0">
                <a:solidFill>
                  <a:schemeClr val="tx1">
                    <a:lumMod val="50000"/>
                    <a:lumOff val="50000"/>
                  </a:schemeClr>
                </a:solidFill>
              </a:rPr>
              <a:t>指标选取三原则</a:t>
            </a:r>
            <a:endParaRPr lang="zh-CN" altLang="en-US" dirty="0">
              <a:solidFill>
                <a:schemeClr val="tx1">
                  <a:lumMod val="50000"/>
                  <a:lumOff val="50000"/>
                </a:schemeClr>
              </a:solidFill>
            </a:endParaRPr>
          </a:p>
        </p:txBody>
      </p:sp>
      <p:sp>
        <p:nvSpPr>
          <p:cNvPr id="18435" name="Text Box 9"/>
          <p:cNvSpPr txBox="1">
            <a:spLocks noChangeArrowheads="1"/>
          </p:cNvSpPr>
          <p:nvPr/>
        </p:nvSpPr>
        <p:spPr bwMode="gray">
          <a:xfrm>
            <a:off x="1845125" y="2030413"/>
            <a:ext cx="1944687" cy="369887"/>
          </a:xfrm>
          <a:prstGeom prst="rect">
            <a:avLst/>
          </a:prstGeom>
          <a:noFill/>
          <a:ln w="9525">
            <a:noFill/>
            <a:miter lim="800000"/>
            <a:headEnd/>
            <a:tailEnd/>
          </a:ln>
        </p:spPr>
        <p:txBody>
          <a:bodyPr>
            <a:spAutoFit/>
          </a:bodyPr>
          <a:lstStyle/>
          <a:p>
            <a:pPr algn="ctr" eaLnBrk="0" hangingPunct="0">
              <a:spcBef>
                <a:spcPct val="50000"/>
              </a:spcBef>
            </a:pPr>
            <a:r>
              <a:rPr lang="zh-CN" altLang="en-US" sz="1800" b="1" dirty="0">
                <a:solidFill>
                  <a:srgbClr val="00B0F0"/>
                </a:solidFill>
                <a:latin typeface="微软雅黑" pitchFamily="34" charset="-122"/>
                <a:ea typeface="微软雅黑" pitchFamily="34" charset="-122"/>
              </a:rPr>
              <a:t>根本性</a:t>
            </a:r>
            <a:endParaRPr lang="zh-CN" altLang="en-US" sz="1800" b="1" dirty="0">
              <a:solidFill>
                <a:srgbClr val="00B0F0"/>
              </a:solidFill>
              <a:latin typeface="微软雅黑" pitchFamily="34" charset="-122"/>
              <a:ea typeface="微软雅黑" pitchFamily="34" charset="-122"/>
            </a:endParaRPr>
          </a:p>
        </p:txBody>
      </p:sp>
      <p:sp>
        <p:nvSpPr>
          <p:cNvPr id="18436" name="Text Box 7"/>
          <p:cNvSpPr txBox="1">
            <a:spLocks noChangeArrowheads="1"/>
          </p:cNvSpPr>
          <p:nvPr/>
        </p:nvSpPr>
        <p:spPr bwMode="auto">
          <a:xfrm>
            <a:off x="1754637" y="3146425"/>
            <a:ext cx="2055813" cy="1061829"/>
          </a:xfrm>
          <a:prstGeom prst="rect">
            <a:avLst/>
          </a:prstGeom>
          <a:noFill/>
          <a:ln w="9525">
            <a:noFill/>
            <a:miter lim="800000"/>
            <a:headEnd/>
            <a:tailEnd/>
          </a:ln>
        </p:spPr>
        <p:txBody>
          <a:bodyPr>
            <a:spAutoFit/>
          </a:bodyPr>
          <a:lstStyle/>
          <a:p>
            <a:pPr marL="285750" indent="-285750">
              <a:lnSpc>
                <a:spcPct val="150000"/>
              </a:lnSpc>
              <a:spcBef>
                <a:spcPct val="50000"/>
              </a:spcBef>
              <a:buFont typeface="Arial" charset="0"/>
              <a:buChar char="•"/>
            </a:pPr>
            <a:r>
              <a:rPr lang="zh-CN" altLang="en-US" sz="1400" dirty="0" smtClean="0">
                <a:latin typeface="微软雅黑" pitchFamily="34" charset="-122"/>
                <a:ea typeface="微软雅黑" pitchFamily="34" charset="-122"/>
              </a:rPr>
              <a:t>核心</a:t>
            </a:r>
            <a:r>
              <a:rPr lang="zh-CN" altLang="en-US" sz="1400" dirty="0">
                <a:latin typeface="微软雅黑" pitchFamily="34" charset="-122"/>
                <a:ea typeface="微软雅黑" pitchFamily="34" charset="-122"/>
              </a:rPr>
              <a:t>数据一定要理解到位和准确，切记不能选错</a:t>
            </a:r>
            <a:endParaRPr lang="zh-CN" altLang="en-US" sz="1400" dirty="0">
              <a:latin typeface="微软雅黑" pitchFamily="34" charset="-122"/>
              <a:ea typeface="微软雅黑" pitchFamily="34" charset="-122"/>
            </a:endParaRPr>
          </a:p>
        </p:txBody>
      </p:sp>
      <p:sp>
        <p:nvSpPr>
          <p:cNvPr id="18437" name="Text Box 10"/>
          <p:cNvSpPr txBox="1">
            <a:spLocks noChangeArrowheads="1"/>
          </p:cNvSpPr>
          <p:nvPr/>
        </p:nvSpPr>
        <p:spPr bwMode="gray">
          <a:xfrm>
            <a:off x="4462912" y="2049463"/>
            <a:ext cx="1728788" cy="368300"/>
          </a:xfrm>
          <a:prstGeom prst="rect">
            <a:avLst/>
          </a:prstGeom>
          <a:noFill/>
          <a:ln w="9525">
            <a:noFill/>
            <a:miter lim="800000"/>
            <a:headEnd/>
            <a:tailEnd/>
          </a:ln>
        </p:spPr>
        <p:txBody>
          <a:bodyPr>
            <a:spAutoFit/>
          </a:bodyPr>
          <a:lstStyle/>
          <a:p>
            <a:pPr algn="ctr" eaLnBrk="0" hangingPunct="0">
              <a:spcBef>
                <a:spcPct val="50000"/>
              </a:spcBef>
            </a:pPr>
            <a:r>
              <a:rPr lang="zh-CN" altLang="en-US" sz="1800" b="1" dirty="0">
                <a:solidFill>
                  <a:srgbClr val="00B0F0"/>
                </a:solidFill>
                <a:latin typeface="微软雅黑" pitchFamily="34" charset="-122"/>
                <a:ea typeface="微软雅黑" pitchFamily="34" charset="-122"/>
              </a:rPr>
              <a:t>可理解性</a:t>
            </a:r>
            <a:endParaRPr lang="zh-CN" altLang="en-US" sz="1800" b="1" dirty="0">
              <a:solidFill>
                <a:srgbClr val="00B0F0"/>
              </a:solidFill>
              <a:latin typeface="微软雅黑" pitchFamily="34" charset="-122"/>
              <a:ea typeface="微软雅黑" pitchFamily="34" charset="-122"/>
            </a:endParaRPr>
          </a:p>
        </p:txBody>
      </p:sp>
      <p:sp>
        <p:nvSpPr>
          <p:cNvPr id="18438" name="Text Box 11"/>
          <p:cNvSpPr txBox="1">
            <a:spLocks noChangeArrowheads="1"/>
          </p:cNvSpPr>
          <p:nvPr/>
        </p:nvSpPr>
        <p:spPr bwMode="gray">
          <a:xfrm>
            <a:off x="7088637" y="2068513"/>
            <a:ext cx="1800225" cy="368300"/>
          </a:xfrm>
          <a:prstGeom prst="rect">
            <a:avLst/>
          </a:prstGeom>
          <a:noFill/>
          <a:ln w="9525">
            <a:noFill/>
            <a:miter lim="800000"/>
            <a:headEnd/>
            <a:tailEnd/>
          </a:ln>
        </p:spPr>
        <p:txBody>
          <a:bodyPr>
            <a:spAutoFit/>
          </a:bodyPr>
          <a:lstStyle/>
          <a:p>
            <a:pPr algn="ctr" eaLnBrk="0" hangingPunct="0">
              <a:spcBef>
                <a:spcPct val="50000"/>
              </a:spcBef>
            </a:pPr>
            <a:r>
              <a:rPr lang="zh-CN" altLang="en-US" sz="1800" b="1" dirty="0">
                <a:solidFill>
                  <a:srgbClr val="00B0F0"/>
                </a:solidFill>
                <a:latin typeface="微软雅黑" pitchFamily="34" charset="-122"/>
                <a:ea typeface="微软雅黑" pitchFamily="34" charset="-122"/>
              </a:rPr>
              <a:t>结构性</a:t>
            </a:r>
            <a:endParaRPr lang="zh-CN" altLang="en-US" sz="1800" b="1" dirty="0">
              <a:solidFill>
                <a:srgbClr val="00B0F0"/>
              </a:solidFill>
              <a:latin typeface="微软雅黑" pitchFamily="34" charset="-122"/>
              <a:ea typeface="微软雅黑" pitchFamily="34" charset="-122"/>
            </a:endParaRPr>
          </a:p>
        </p:txBody>
      </p:sp>
      <p:sp>
        <p:nvSpPr>
          <p:cNvPr id="18440" name="Text Box 19"/>
          <p:cNvSpPr txBox="1">
            <a:spLocks noChangeArrowheads="1"/>
          </p:cNvSpPr>
          <p:nvPr/>
        </p:nvSpPr>
        <p:spPr bwMode="auto">
          <a:xfrm>
            <a:off x="4220025" y="3146425"/>
            <a:ext cx="2035175" cy="1708160"/>
          </a:xfrm>
          <a:prstGeom prst="rect">
            <a:avLst/>
          </a:prstGeom>
          <a:noFill/>
          <a:ln w="9525">
            <a:noFill/>
            <a:miter lim="800000"/>
            <a:headEnd/>
            <a:tailEnd/>
          </a:ln>
        </p:spPr>
        <p:txBody>
          <a:bodyPr>
            <a:spAutoFit/>
          </a:bodyPr>
          <a:lstStyle/>
          <a:p>
            <a:pPr marL="285750" indent="-285750">
              <a:lnSpc>
                <a:spcPct val="150000"/>
              </a:lnSpc>
              <a:spcBef>
                <a:spcPct val="50000"/>
              </a:spcBef>
              <a:buFont typeface="Arial" charset="0"/>
              <a:buChar char="•"/>
            </a:pPr>
            <a:r>
              <a:rPr lang="zh-CN" altLang="en-US" sz="1400" dirty="0" smtClean="0">
                <a:latin typeface="微软雅黑" pitchFamily="34" charset="-122"/>
                <a:ea typeface="微软雅黑" pitchFamily="34" charset="-122"/>
              </a:rPr>
              <a:t>所有</a:t>
            </a:r>
            <a:r>
              <a:rPr lang="zh-CN" altLang="en-US" sz="1400" dirty="0">
                <a:latin typeface="微软雅黑" pitchFamily="34" charset="-122"/>
                <a:ea typeface="微软雅黑" pitchFamily="34" charset="-122"/>
              </a:rPr>
              <a:t>指标都要配上业务解释性，如日活的定义是什么，打开还是点击还是进程在就可以</a:t>
            </a:r>
            <a:endParaRPr lang="zh-CN" altLang="en-US" sz="1400" dirty="0">
              <a:latin typeface="微软雅黑" pitchFamily="34" charset="-122"/>
              <a:ea typeface="微软雅黑" pitchFamily="34" charset="-122"/>
            </a:endParaRPr>
          </a:p>
        </p:txBody>
      </p:sp>
      <p:sp>
        <p:nvSpPr>
          <p:cNvPr id="18441" name="Text Box 20"/>
          <p:cNvSpPr txBox="1">
            <a:spLocks noChangeArrowheads="1"/>
          </p:cNvSpPr>
          <p:nvPr/>
        </p:nvSpPr>
        <p:spPr bwMode="auto">
          <a:xfrm>
            <a:off x="6750500" y="3146425"/>
            <a:ext cx="2430462" cy="415498"/>
          </a:xfrm>
          <a:prstGeom prst="rect">
            <a:avLst/>
          </a:prstGeom>
          <a:noFill/>
          <a:ln w="9525">
            <a:noFill/>
            <a:miter lim="800000"/>
            <a:headEnd/>
            <a:tailEnd/>
          </a:ln>
        </p:spPr>
        <p:txBody>
          <a:bodyPr>
            <a:spAutoFit/>
          </a:bodyPr>
          <a:lstStyle/>
          <a:p>
            <a:pPr marL="285750" indent="-285750">
              <a:lnSpc>
                <a:spcPct val="150000"/>
              </a:lnSpc>
              <a:spcBef>
                <a:spcPct val="50000"/>
              </a:spcBef>
              <a:buFont typeface="Arial" charset="0"/>
              <a:buChar char="•"/>
            </a:pPr>
            <a:r>
              <a:rPr lang="zh-CN" altLang="en-US" sz="1400" dirty="0">
                <a:latin typeface="微软雅黑" pitchFamily="34" charset="-122"/>
                <a:ea typeface="微软雅黑" pitchFamily="34" charset="-122"/>
              </a:rPr>
              <a:t>能够充分对业务进行解读</a:t>
            </a:r>
            <a:endParaRPr lang="zh-CN" altLang="en-US" sz="1400" dirty="0">
              <a:latin typeface="微软雅黑" pitchFamily="34" charset="-122"/>
              <a:ea typeface="微软雅黑" pitchFamily="34" charset="-122"/>
            </a:endParaRPr>
          </a:p>
        </p:txBody>
      </p:sp>
      <p:sp>
        <p:nvSpPr>
          <p:cNvPr id="42" name="矩形 41"/>
          <p:cNvSpPr/>
          <p:nvPr/>
        </p:nvSpPr>
        <p:spPr>
          <a:xfrm flipV="1">
            <a:off x="404813" y="1649413"/>
            <a:ext cx="10063162" cy="46037"/>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lIns="102870" tIns="51435" rIns="102870" bIns="51435" anchor="ctr"/>
          <a:lstStyle/>
          <a:p>
            <a:pPr algn="ctr" fontAlgn="auto">
              <a:spcBef>
                <a:spcPts val="0"/>
              </a:spcBef>
              <a:spcAft>
                <a:spcPts val="0"/>
              </a:spcAft>
              <a:defRPr/>
            </a:pPr>
            <a:endParaRPr lang="zh-CN" altLang="en-US"/>
          </a:p>
        </p:txBody>
      </p:sp>
      <p:sp>
        <p:nvSpPr>
          <p:cNvPr id="18444" name="TextBox 42"/>
          <p:cNvSpPr txBox="1">
            <a:spLocks noChangeArrowheads="1"/>
          </p:cNvSpPr>
          <p:nvPr/>
        </p:nvSpPr>
        <p:spPr bwMode="auto">
          <a:xfrm>
            <a:off x="8101013" y="1387475"/>
            <a:ext cx="1592744" cy="519373"/>
          </a:xfrm>
          <a:prstGeom prst="rect">
            <a:avLst/>
          </a:prstGeom>
          <a:solidFill>
            <a:schemeClr val="bg1"/>
          </a:solidFill>
          <a:ln w="9525">
            <a:noFill/>
            <a:miter lim="800000"/>
            <a:headEnd/>
            <a:tailEnd/>
          </a:ln>
        </p:spPr>
        <p:txBody>
          <a:bodyPr wrap="none" lIns="102870" tIns="51435" rIns="102870" bIns="51435">
            <a:spAutoFit/>
          </a:bodyPr>
          <a:lstStyle/>
          <a:p>
            <a:r>
              <a:rPr lang="zh-CN" altLang="en-US" sz="2700" dirty="0" smtClean="0">
                <a:solidFill>
                  <a:srgbClr val="00B0F0"/>
                </a:solidFill>
                <a:latin typeface="Impact" pitchFamily="34" charset="0"/>
              </a:rPr>
              <a:t>指标原则</a:t>
            </a:r>
            <a:endParaRPr lang="zh-CN" altLang="en-US" sz="2700" dirty="0">
              <a:solidFill>
                <a:srgbClr val="00B0F0"/>
              </a:solidFill>
              <a:latin typeface="Impact" pitchFamily="34" charset="0"/>
            </a:endParaRPr>
          </a:p>
        </p:txBody>
      </p:sp>
      <p:grpSp>
        <p:nvGrpSpPr>
          <p:cNvPr id="18445" name="组合 12"/>
          <p:cNvGrpSpPr>
            <a:grpSpLocks/>
          </p:cNvGrpSpPr>
          <p:nvPr/>
        </p:nvGrpSpPr>
        <p:grpSpPr bwMode="auto">
          <a:xfrm>
            <a:off x="1575250" y="2489201"/>
            <a:ext cx="2295525" cy="3994150"/>
            <a:chOff x="416496" y="2230269"/>
            <a:chExt cx="2295525" cy="3994868"/>
          </a:xfrm>
        </p:grpSpPr>
        <p:sp>
          <p:nvSpPr>
            <p:cNvPr id="18458" name="AutoShape 18"/>
            <p:cNvSpPr>
              <a:spLocks noChangeArrowheads="1"/>
            </p:cNvSpPr>
            <p:nvPr/>
          </p:nvSpPr>
          <p:spPr bwMode="auto">
            <a:xfrm>
              <a:off x="416496" y="2373137"/>
              <a:ext cx="2295525" cy="3852000"/>
            </a:xfrm>
            <a:prstGeom prst="roundRect">
              <a:avLst>
                <a:gd name="adj" fmla="val 4690"/>
              </a:avLst>
            </a:prstGeom>
            <a:noFill/>
            <a:ln w="34925">
              <a:solidFill>
                <a:srgbClr val="00B0F0"/>
              </a:solidFill>
              <a:round/>
              <a:headEnd/>
              <a:tailEnd/>
            </a:ln>
          </p:spPr>
          <p:txBody>
            <a:bodyPr wrap="none" anchor="ctr"/>
            <a:lstStyle/>
            <a:p>
              <a:endParaRPr lang="zh-CN" altLang="en-US"/>
            </a:p>
          </p:txBody>
        </p:sp>
        <p:sp>
          <p:nvSpPr>
            <p:cNvPr id="46" name="AutoShape 19"/>
            <p:cNvSpPr>
              <a:spLocks noChangeArrowheads="1"/>
            </p:cNvSpPr>
            <p:nvPr/>
          </p:nvSpPr>
          <p:spPr bwMode="gray">
            <a:xfrm>
              <a:off x="632396" y="2230269"/>
              <a:ext cx="1863725" cy="287390"/>
            </a:xfrm>
            <a:prstGeom prst="roundRect">
              <a:avLst>
                <a:gd name="adj" fmla="val 50000"/>
              </a:avLst>
            </a:prstGeom>
            <a:solidFill>
              <a:schemeClr val="tx1">
                <a:lumMod val="65000"/>
                <a:lumOff val="35000"/>
              </a:schemeClr>
            </a:solidFill>
            <a:ln w="9525">
              <a:noFill/>
              <a:round/>
              <a:headEnd/>
              <a:tailEnd/>
            </a:ln>
            <a:effectLst/>
          </p:spPr>
          <p:txBody>
            <a:bodyPr wrap="none" anchor="ctr"/>
            <a:lstStyle/>
            <a:p>
              <a:pPr fontAlgn="auto">
                <a:spcBef>
                  <a:spcPts val="0"/>
                </a:spcBef>
                <a:spcAft>
                  <a:spcPts val="0"/>
                </a:spcAft>
                <a:defRPr/>
              </a:pPr>
              <a:endParaRPr lang="zh-CN" altLang="en-US">
                <a:latin typeface="Arial" charset="0"/>
              </a:endParaRPr>
            </a:p>
          </p:txBody>
        </p:sp>
        <p:sp>
          <p:nvSpPr>
            <p:cNvPr id="18460" name="AutoShape 20"/>
            <p:cNvSpPr>
              <a:spLocks noChangeArrowheads="1"/>
            </p:cNvSpPr>
            <p:nvPr/>
          </p:nvSpPr>
          <p:spPr bwMode="auto">
            <a:xfrm flipH="1">
              <a:off x="2316734" y="2301702"/>
              <a:ext cx="71438" cy="144463"/>
            </a:xfrm>
            <a:prstGeom prst="octagon">
              <a:avLst>
                <a:gd name="adj" fmla="val 29287"/>
              </a:avLst>
            </a:prstGeom>
            <a:solidFill>
              <a:schemeClr val="bg1"/>
            </a:solidFill>
            <a:ln w="9525">
              <a:noFill/>
              <a:miter lim="800000"/>
              <a:headEnd/>
              <a:tailEnd/>
            </a:ln>
          </p:spPr>
          <p:txBody>
            <a:bodyPr wrap="none" anchor="ctr"/>
            <a:lstStyle/>
            <a:p>
              <a:endParaRPr lang="zh-CN" altLang="en-US"/>
            </a:p>
          </p:txBody>
        </p:sp>
        <p:sp>
          <p:nvSpPr>
            <p:cNvPr id="18461" name="AutoShape 21"/>
            <p:cNvSpPr>
              <a:spLocks noChangeArrowheads="1"/>
            </p:cNvSpPr>
            <p:nvPr/>
          </p:nvSpPr>
          <p:spPr bwMode="auto">
            <a:xfrm flipH="1">
              <a:off x="733996" y="2301702"/>
              <a:ext cx="73025" cy="144463"/>
            </a:xfrm>
            <a:prstGeom prst="octagon">
              <a:avLst>
                <a:gd name="adj" fmla="val 29287"/>
              </a:avLst>
            </a:prstGeom>
            <a:solidFill>
              <a:schemeClr val="bg1"/>
            </a:solidFill>
            <a:ln w="9525">
              <a:noFill/>
              <a:miter lim="800000"/>
              <a:headEnd/>
              <a:tailEnd/>
            </a:ln>
          </p:spPr>
          <p:txBody>
            <a:bodyPr wrap="none" anchor="ctr"/>
            <a:lstStyle/>
            <a:p>
              <a:endParaRPr lang="zh-CN" altLang="en-US"/>
            </a:p>
          </p:txBody>
        </p:sp>
      </p:grpSp>
      <p:grpSp>
        <p:nvGrpSpPr>
          <p:cNvPr id="18446" name="组合 12"/>
          <p:cNvGrpSpPr>
            <a:grpSpLocks/>
          </p:cNvGrpSpPr>
          <p:nvPr/>
        </p:nvGrpSpPr>
        <p:grpSpPr bwMode="auto">
          <a:xfrm>
            <a:off x="6753675" y="2489201"/>
            <a:ext cx="2295525" cy="3994150"/>
            <a:chOff x="416496" y="2230269"/>
            <a:chExt cx="2295525" cy="3994868"/>
          </a:xfrm>
        </p:grpSpPr>
        <p:sp>
          <p:nvSpPr>
            <p:cNvPr id="18453" name="AutoShape 18"/>
            <p:cNvSpPr>
              <a:spLocks noChangeArrowheads="1"/>
            </p:cNvSpPr>
            <p:nvPr/>
          </p:nvSpPr>
          <p:spPr bwMode="auto">
            <a:xfrm>
              <a:off x="416496" y="2373137"/>
              <a:ext cx="2295525" cy="3852000"/>
            </a:xfrm>
            <a:prstGeom prst="roundRect">
              <a:avLst>
                <a:gd name="adj" fmla="val 4690"/>
              </a:avLst>
            </a:prstGeom>
            <a:noFill/>
            <a:ln w="34925">
              <a:solidFill>
                <a:srgbClr val="00B0F0"/>
              </a:solidFill>
              <a:round/>
              <a:headEnd/>
              <a:tailEnd/>
            </a:ln>
          </p:spPr>
          <p:txBody>
            <a:bodyPr wrap="none" anchor="ctr"/>
            <a:lstStyle/>
            <a:p>
              <a:endParaRPr lang="zh-CN" altLang="en-US"/>
            </a:p>
          </p:txBody>
        </p:sp>
        <p:sp>
          <p:nvSpPr>
            <p:cNvPr id="59" name="AutoShape 19"/>
            <p:cNvSpPr>
              <a:spLocks noChangeArrowheads="1"/>
            </p:cNvSpPr>
            <p:nvPr/>
          </p:nvSpPr>
          <p:spPr bwMode="gray">
            <a:xfrm>
              <a:off x="632396" y="2230269"/>
              <a:ext cx="1863725" cy="287390"/>
            </a:xfrm>
            <a:prstGeom prst="roundRect">
              <a:avLst>
                <a:gd name="adj" fmla="val 50000"/>
              </a:avLst>
            </a:prstGeom>
            <a:solidFill>
              <a:schemeClr val="tx1">
                <a:lumMod val="65000"/>
                <a:lumOff val="35000"/>
              </a:schemeClr>
            </a:solidFill>
            <a:ln w="9525">
              <a:noFill/>
              <a:round/>
              <a:headEnd/>
              <a:tailEnd/>
            </a:ln>
            <a:effectLst/>
          </p:spPr>
          <p:txBody>
            <a:bodyPr wrap="none" anchor="ctr"/>
            <a:lstStyle/>
            <a:p>
              <a:pPr fontAlgn="auto">
                <a:spcBef>
                  <a:spcPts val="0"/>
                </a:spcBef>
                <a:spcAft>
                  <a:spcPts val="0"/>
                </a:spcAft>
                <a:defRPr/>
              </a:pPr>
              <a:endParaRPr lang="zh-CN" altLang="en-US">
                <a:latin typeface="Arial" charset="0"/>
              </a:endParaRPr>
            </a:p>
          </p:txBody>
        </p:sp>
        <p:sp>
          <p:nvSpPr>
            <p:cNvPr id="18455" name="AutoShape 20"/>
            <p:cNvSpPr>
              <a:spLocks noChangeArrowheads="1"/>
            </p:cNvSpPr>
            <p:nvPr/>
          </p:nvSpPr>
          <p:spPr bwMode="auto">
            <a:xfrm flipH="1">
              <a:off x="2316734" y="2301702"/>
              <a:ext cx="71438" cy="144463"/>
            </a:xfrm>
            <a:prstGeom prst="octagon">
              <a:avLst>
                <a:gd name="adj" fmla="val 29287"/>
              </a:avLst>
            </a:prstGeom>
            <a:solidFill>
              <a:schemeClr val="bg1"/>
            </a:solidFill>
            <a:ln w="9525">
              <a:noFill/>
              <a:miter lim="800000"/>
              <a:headEnd/>
              <a:tailEnd/>
            </a:ln>
          </p:spPr>
          <p:txBody>
            <a:bodyPr wrap="none" anchor="ctr"/>
            <a:lstStyle/>
            <a:p>
              <a:endParaRPr lang="zh-CN" altLang="en-US"/>
            </a:p>
          </p:txBody>
        </p:sp>
        <p:sp>
          <p:nvSpPr>
            <p:cNvPr id="18456" name="AutoShape 21"/>
            <p:cNvSpPr>
              <a:spLocks noChangeArrowheads="1"/>
            </p:cNvSpPr>
            <p:nvPr/>
          </p:nvSpPr>
          <p:spPr bwMode="auto">
            <a:xfrm flipH="1">
              <a:off x="733996" y="2301702"/>
              <a:ext cx="73025" cy="144463"/>
            </a:xfrm>
            <a:prstGeom prst="octagon">
              <a:avLst>
                <a:gd name="adj" fmla="val 29287"/>
              </a:avLst>
            </a:prstGeom>
            <a:solidFill>
              <a:schemeClr val="bg1"/>
            </a:solidFill>
            <a:ln w="9525">
              <a:noFill/>
              <a:miter lim="800000"/>
              <a:headEnd/>
              <a:tailEnd/>
            </a:ln>
          </p:spPr>
          <p:txBody>
            <a:bodyPr wrap="none" anchor="ctr"/>
            <a:lstStyle/>
            <a:p>
              <a:endParaRPr lang="zh-CN" altLang="en-US"/>
            </a:p>
          </p:txBody>
        </p:sp>
      </p:grpSp>
      <p:grpSp>
        <p:nvGrpSpPr>
          <p:cNvPr id="18447" name="组合 12"/>
          <p:cNvGrpSpPr>
            <a:grpSpLocks/>
          </p:cNvGrpSpPr>
          <p:nvPr/>
        </p:nvGrpSpPr>
        <p:grpSpPr bwMode="auto">
          <a:xfrm>
            <a:off x="4164462" y="2489201"/>
            <a:ext cx="2295525" cy="3994150"/>
            <a:chOff x="416496" y="2230269"/>
            <a:chExt cx="2295525" cy="3994868"/>
          </a:xfrm>
        </p:grpSpPr>
        <p:sp>
          <p:nvSpPr>
            <p:cNvPr id="18448" name="AutoShape 18"/>
            <p:cNvSpPr>
              <a:spLocks noChangeArrowheads="1"/>
            </p:cNvSpPr>
            <p:nvPr/>
          </p:nvSpPr>
          <p:spPr bwMode="auto">
            <a:xfrm>
              <a:off x="416496" y="2373137"/>
              <a:ext cx="2295525" cy="3852000"/>
            </a:xfrm>
            <a:prstGeom prst="roundRect">
              <a:avLst>
                <a:gd name="adj" fmla="val 4690"/>
              </a:avLst>
            </a:prstGeom>
            <a:noFill/>
            <a:ln w="34925">
              <a:solidFill>
                <a:srgbClr val="00B0F0"/>
              </a:solidFill>
              <a:round/>
              <a:headEnd/>
              <a:tailEnd/>
            </a:ln>
          </p:spPr>
          <p:txBody>
            <a:bodyPr wrap="none" anchor="ctr"/>
            <a:lstStyle/>
            <a:p>
              <a:endParaRPr lang="zh-CN" altLang="en-US"/>
            </a:p>
          </p:txBody>
        </p:sp>
        <p:sp>
          <p:nvSpPr>
            <p:cNvPr id="65" name="AutoShape 19"/>
            <p:cNvSpPr>
              <a:spLocks noChangeArrowheads="1"/>
            </p:cNvSpPr>
            <p:nvPr/>
          </p:nvSpPr>
          <p:spPr bwMode="gray">
            <a:xfrm>
              <a:off x="632396" y="2230269"/>
              <a:ext cx="1863725" cy="287390"/>
            </a:xfrm>
            <a:prstGeom prst="roundRect">
              <a:avLst>
                <a:gd name="adj" fmla="val 50000"/>
              </a:avLst>
            </a:prstGeom>
            <a:solidFill>
              <a:schemeClr val="tx1">
                <a:lumMod val="65000"/>
                <a:lumOff val="35000"/>
              </a:schemeClr>
            </a:solidFill>
            <a:ln w="9525">
              <a:noFill/>
              <a:round/>
              <a:headEnd/>
              <a:tailEnd/>
            </a:ln>
            <a:effectLst/>
          </p:spPr>
          <p:txBody>
            <a:bodyPr wrap="none" anchor="ctr"/>
            <a:lstStyle/>
            <a:p>
              <a:pPr fontAlgn="auto">
                <a:spcBef>
                  <a:spcPts val="0"/>
                </a:spcBef>
                <a:spcAft>
                  <a:spcPts val="0"/>
                </a:spcAft>
                <a:defRPr/>
              </a:pPr>
              <a:endParaRPr lang="zh-CN" altLang="en-US">
                <a:latin typeface="Arial" charset="0"/>
              </a:endParaRPr>
            </a:p>
          </p:txBody>
        </p:sp>
        <p:sp>
          <p:nvSpPr>
            <p:cNvPr id="18450" name="AutoShape 20"/>
            <p:cNvSpPr>
              <a:spLocks noChangeArrowheads="1"/>
            </p:cNvSpPr>
            <p:nvPr/>
          </p:nvSpPr>
          <p:spPr bwMode="auto">
            <a:xfrm flipH="1">
              <a:off x="2316734" y="2301702"/>
              <a:ext cx="71438" cy="144463"/>
            </a:xfrm>
            <a:prstGeom prst="octagon">
              <a:avLst>
                <a:gd name="adj" fmla="val 29287"/>
              </a:avLst>
            </a:prstGeom>
            <a:solidFill>
              <a:schemeClr val="bg1"/>
            </a:solidFill>
            <a:ln w="9525">
              <a:noFill/>
              <a:miter lim="800000"/>
              <a:headEnd/>
              <a:tailEnd/>
            </a:ln>
          </p:spPr>
          <p:txBody>
            <a:bodyPr wrap="none" anchor="ctr"/>
            <a:lstStyle/>
            <a:p>
              <a:endParaRPr lang="zh-CN" altLang="en-US"/>
            </a:p>
          </p:txBody>
        </p:sp>
        <p:sp>
          <p:nvSpPr>
            <p:cNvPr id="18451" name="AutoShape 21"/>
            <p:cNvSpPr>
              <a:spLocks noChangeArrowheads="1"/>
            </p:cNvSpPr>
            <p:nvPr/>
          </p:nvSpPr>
          <p:spPr bwMode="auto">
            <a:xfrm flipH="1">
              <a:off x="733996" y="2301702"/>
              <a:ext cx="73025" cy="144463"/>
            </a:xfrm>
            <a:prstGeom prst="octagon">
              <a:avLst>
                <a:gd name="adj" fmla="val 29287"/>
              </a:avLst>
            </a:prstGeom>
            <a:solidFill>
              <a:schemeClr val="bg1"/>
            </a:solidFill>
            <a:ln w="9525">
              <a:noFill/>
              <a:miter lim="800000"/>
              <a:headEnd/>
              <a:tailEnd/>
            </a:ln>
          </p:spPr>
          <p:txBody>
            <a:bodyPr wrap="none" anchor="ctr"/>
            <a:lstStyle/>
            <a:p>
              <a:endParaRPr lang="zh-CN" altLang="en-US"/>
            </a:p>
          </p:txBody>
        </p:sp>
      </p:gr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95300" y="1117265"/>
            <a:ext cx="9720263" cy="569913"/>
          </a:xfrm>
        </p:spPr>
        <p:txBody>
          <a:bodyPr rtlCol="0">
            <a:normAutofit/>
          </a:bodyPr>
          <a:lstStyle/>
          <a:p>
            <a:pPr eaLnBrk="1" fontAlgn="auto" hangingPunct="1">
              <a:spcAft>
                <a:spcPts val="0"/>
              </a:spcAft>
              <a:defRPr/>
            </a:pPr>
            <a:r>
              <a:rPr lang="zh-CN" altLang="en-US" dirty="0" smtClean="0">
                <a:solidFill>
                  <a:schemeClr val="tx1">
                    <a:lumMod val="50000"/>
                    <a:lumOff val="50000"/>
                  </a:schemeClr>
                </a:solidFill>
              </a:rPr>
              <a:t>指标体系建立四步曲</a:t>
            </a:r>
            <a:endParaRPr lang="zh-CN" altLang="en-US" dirty="0">
              <a:solidFill>
                <a:schemeClr val="tx1">
                  <a:lumMod val="50000"/>
                  <a:lumOff val="50000"/>
                </a:schemeClr>
              </a:solidFill>
            </a:endParaRPr>
          </a:p>
        </p:txBody>
      </p:sp>
      <p:grpSp>
        <p:nvGrpSpPr>
          <p:cNvPr id="19458" name="组合 1"/>
          <p:cNvGrpSpPr>
            <a:grpSpLocks/>
          </p:cNvGrpSpPr>
          <p:nvPr/>
        </p:nvGrpSpPr>
        <p:grpSpPr bwMode="auto">
          <a:xfrm>
            <a:off x="935038" y="1836403"/>
            <a:ext cx="8928100" cy="3024187"/>
            <a:chOff x="535653" y="1268760"/>
            <a:chExt cx="7931262" cy="2520000"/>
          </a:xfrm>
        </p:grpSpPr>
        <p:pic>
          <p:nvPicPr>
            <p:cNvPr id="19462" name="Picture 1" descr="C:\Users\hd02\Desktop\42-17023163.jpg"/>
            <p:cNvPicPr>
              <a:picLocks noChangeAspect="1" noChangeArrowheads="1"/>
            </p:cNvPicPr>
            <p:nvPr/>
          </p:nvPicPr>
          <p:blipFill>
            <a:blip r:embed="rId2">
              <a:grayscl/>
            </a:blip>
            <a:srcRect/>
            <a:stretch>
              <a:fillRect/>
            </a:stretch>
          </p:blipFill>
          <p:spPr bwMode="auto">
            <a:xfrm>
              <a:off x="4687877" y="1268760"/>
              <a:ext cx="3779038" cy="2520000"/>
            </a:xfrm>
            <a:prstGeom prst="rect">
              <a:avLst/>
            </a:prstGeom>
            <a:noFill/>
            <a:ln w="9525">
              <a:noFill/>
              <a:miter lim="800000"/>
              <a:headEnd/>
              <a:tailEnd/>
            </a:ln>
          </p:spPr>
        </p:pic>
        <p:pic>
          <p:nvPicPr>
            <p:cNvPr id="19463" name="Picture 2" descr="C:\Users\hd02\Desktop\is098un5v.jpg"/>
            <p:cNvPicPr>
              <a:picLocks noChangeAspect="1" noChangeArrowheads="1"/>
            </p:cNvPicPr>
            <p:nvPr/>
          </p:nvPicPr>
          <p:blipFill>
            <a:blip r:embed="rId3">
              <a:grayscl/>
            </a:blip>
            <a:srcRect t="3912" b="4807"/>
            <a:stretch>
              <a:fillRect/>
            </a:stretch>
          </p:blipFill>
          <p:spPr bwMode="auto">
            <a:xfrm>
              <a:off x="535653" y="1268760"/>
              <a:ext cx="4139998" cy="2520000"/>
            </a:xfrm>
            <a:prstGeom prst="rect">
              <a:avLst/>
            </a:prstGeom>
            <a:noFill/>
            <a:ln w="9525">
              <a:noFill/>
              <a:miter lim="800000"/>
              <a:headEnd/>
              <a:tailEnd/>
            </a:ln>
          </p:spPr>
        </p:pic>
      </p:grpSp>
      <p:sp>
        <p:nvSpPr>
          <p:cNvPr id="10" name="矩形 9"/>
          <p:cNvSpPr/>
          <p:nvPr/>
        </p:nvSpPr>
        <p:spPr>
          <a:xfrm>
            <a:off x="2239963" y="3258803"/>
            <a:ext cx="7623175" cy="1168400"/>
          </a:xfrm>
          <a:prstGeom prst="rect">
            <a:avLst/>
          </a:prstGeom>
          <a:solidFill>
            <a:schemeClr val="tx1">
              <a:lumMod val="85000"/>
              <a:lumOff val="15000"/>
              <a:alpha val="60000"/>
            </a:schemeClr>
          </a:solidFill>
        </p:spPr>
        <p:txBody>
          <a:bodyPr>
            <a:spAutoFit/>
          </a:bodyPr>
          <a:lstStyle/>
          <a:p>
            <a:pPr fontAlgn="auto">
              <a:lnSpc>
                <a:spcPct val="150000"/>
              </a:lnSpc>
              <a:spcBef>
                <a:spcPct val="20000"/>
              </a:spcBef>
              <a:spcAft>
                <a:spcPts val="0"/>
              </a:spcAft>
              <a:defRPr/>
            </a:pPr>
            <a:r>
              <a:rPr lang="zh-CN" altLang="en-US" sz="2400" b="1" u="sng" dirty="0" smtClean="0">
                <a:solidFill>
                  <a:srgbClr val="00B0F0"/>
                </a:solidFill>
                <a:latin typeface="微软雅黑" pitchFamily="34" charset="-122"/>
                <a:ea typeface="微软雅黑" pitchFamily="34" charset="-122"/>
              </a:rPr>
              <a:t>核心内容</a:t>
            </a:r>
            <a:endParaRPr lang="en-US" altLang="zh-CN" sz="2400" b="1" dirty="0">
              <a:solidFill>
                <a:srgbClr val="00B0F0"/>
              </a:solidFill>
              <a:latin typeface="微软雅黑" pitchFamily="34" charset="-122"/>
              <a:ea typeface="微软雅黑" pitchFamily="34" charset="-122"/>
            </a:endParaRPr>
          </a:p>
          <a:p>
            <a:pPr fontAlgn="auto">
              <a:lnSpc>
                <a:spcPct val="150000"/>
              </a:lnSpc>
              <a:spcBef>
                <a:spcPct val="20000"/>
              </a:spcBef>
              <a:spcAft>
                <a:spcPts val="0"/>
              </a:spcAft>
              <a:defRPr/>
            </a:pPr>
            <a:r>
              <a:rPr lang="en-US" altLang="zh-CN" b="1" dirty="0" smtClean="0">
                <a:solidFill>
                  <a:schemeClr val="bg1"/>
                </a:solidFill>
                <a:latin typeface="微软雅黑" pitchFamily="34" charset="-122"/>
                <a:ea typeface="微软雅黑" pitchFamily="34" charset="-122"/>
              </a:rPr>
              <a:t>1</a:t>
            </a:r>
            <a:r>
              <a:rPr lang="zh-CN" altLang="en-US" b="1" dirty="0" smtClean="0">
                <a:solidFill>
                  <a:schemeClr val="bg1"/>
                </a:solidFill>
                <a:latin typeface="微软雅黑" pitchFamily="34" charset="-122"/>
                <a:ea typeface="微软雅黑" pitchFamily="34" charset="-122"/>
              </a:rPr>
              <a:t>、指标构成   </a:t>
            </a:r>
            <a:r>
              <a:rPr lang="en-US" altLang="zh-CN" b="1" dirty="0" smtClean="0">
                <a:solidFill>
                  <a:schemeClr val="bg1"/>
                </a:solidFill>
                <a:latin typeface="微软雅黑" pitchFamily="34" charset="-122"/>
                <a:ea typeface="微软雅黑" pitchFamily="34" charset="-122"/>
              </a:rPr>
              <a:t>2</a:t>
            </a:r>
            <a:r>
              <a:rPr lang="zh-CN" altLang="en-US" b="1" dirty="0" smtClean="0">
                <a:solidFill>
                  <a:schemeClr val="bg1"/>
                </a:solidFill>
                <a:latin typeface="微软雅黑" pitchFamily="34" charset="-122"/>
                <a:ea typeface="微软雅黑" pitchFamily="34" charset="-122"/>
              </a:rPr>
              <a:t>、指标体系建立步骤</a:t>
            </a:r>
            <a:endParaRPr lang="zh-CN" altLang="en-US" dirty="0">
              <a:solidFill>
                <a:schemeClr val="bg1"/>
              </a:solidFill>
              <a:latin typeface="微软雅黑" pitchFamily="34" charset="-122"/>
              <a:ea typeface="微软雅黑" pitchFamily="34" charset="-122"/>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rtlCol="0">
            <a:normAutofit/>
          </a:bodyPr>
          <a:lstStyle/>
          <a:p>
            <a:pPr eaLnBrk="1" fontAlgn="auto" hangingPunct="1">
              <a:spcAft>
                <a:spcPts val="0"/>
              </a:spcAft>
              <a:defRPr/>
            </a:pPr>
            <a:r>
              <a:rPr lang="zh-CN" altLang="en-US" dirty="0" smtClean="0"/>
              <a:t>指标构成</a:t>
            </a:r>
            <a:endParaRPr lang="zh-CN" altLang="en-US" dirty="0">
              <a:solidFill>
                <a:schemeClr val="tx1">
                  <a:lumMod val="50000"/>
                  <a:lumOff val="50000"/>
                </a:schemeClr>
              </a:solidFill>
            </a:endParaRPr>
          </a:p>
        </p:txBody>
      </p:sp>
      <p:sp>
        <p:nvSpPr>
          <p:cNvPr id="7" name="Text Box 10"/>
          <p:cNvSpPr txBox="1">
            <a:spLocks noChangeArrowheads="1"/>
          </p:cNvSpPr>
          <p:nvPr/>
        </p:nvSpPr>
        <p:spPr bwMode="auto">
          <a:xfrm>
            <a:off x="495300" y="1236663"/>
            <a:ext cx="8820150" cy="459998"/>
          </a:xfrm>
          <a:prstGeom prst="rect">
            <a:avLst/>
          </a:prstGeom>
          <a:noFill/>
          <a:ln>
            <a:noFill/>
          </a:ln>
          <a:effectLst/>
          <a:extLst/>
        </p:spPr>
        <p:txBody>
          <a:bodyPr>
            <a:spAutoFit/>
          </a:bodyPr>
          <a:lstStyle/>
          <a:p>
            <a:pPr fontAlgn="auto">
              <a:lnSpc>
                <a:spcPct val="150000"/>
              </a:lnSpc>
              <a:spcBef>
                <a:spcPts val="0"/>
              </a:spcBef>
              <a:spcAft>
                <a:spcPts val="0"/>
              </a:spcAft>
              <a:defRPr/>
            </a:pPr>
            <a:r>
              <a:rPr lang="zh-CN" altLang="en-US" sz="1800" b="1" dirty="0" smtClean="0">
                <a:solidFill>
                  <a:srgbClr val="00B0F0"/>
                </a:solidFill>
                <a:latin typeface="Arial Unicode MS" pitchFamily="34" charset="-122"/>
                <a:ea typeface="Arial Unicode MS" pitchFamily="34" charset="-122"/>
                <a:cs typeface="Arial Unicode MS" pitchFamily="34" charset="-122"/>
              </a:rPr>
              <a:t>原子性指标、派生性指标</a:t>
            </a:r>
            <a:endParaRPr lang="en-US" altLang="zh-CN" sz="1800" b="1" dirty="0">
              <a:solidFill>
                <a:srgbClr val="00B0F0"/>
              </a:solidFill>
              <a:latin typeface="Arial Unicode MS" pitchFamily="34" charset="-122"/>
              <a:ea typeface="Arial Unicode MS" pitchFamily="34" charset="-122"/>
              <a:cs typeface="Arial Unicode MS" pitchFamily="34" charset="-122"/>
            </a:endParaRPr>
          </a:p>
        </p:txBody>
      </p:sp>
      <p:sp>
        <p:nvSpPr>
          <p:cNvPr id="20484" name="矩形 7"/>
          <p:cNvSpPr>
            <a:spLocks noChangeArrowheads="1"/>
          </p:cNvSpPr>
          <p:nvPr/>
        </p:nvSpPr>
        <p:spPr bwMode="auto">
          <a:xfrm>
            <a:off x="5220655" y="2162969"/>
            <a:ext cx="5085565" cy="923330"/>
          </a:xfrm>
          <a:prstGeom prst="rect">
            <a:avLst/>
          </a:prstGeom>
          <a:noFill/>
          <a:ln w="9525">
            <a:noFill/>
            <a:miter lim="800000"/>
            <a:headEnd/>
            <a:tailEnd/>
          </a:ln>
        </p:spPr>
        <p:txBody>
          <a:bodyPr wrap="square">
            <a:spAutoFit/>
          </a:bodyPr>
          <a:lstStyle/>
          <a:p>
            <a:pPr marL="285750" indent="-285750">
              <a:lnSpc>
                <a:spcPct val="150000"/>
              </a:lnSpc>
              <a:buFont typeface="Arial" charset="0"/>
              <a:buChar char="•"/>
            </a:pPr>
            <a:r>
              <a:rPr lang="zh-CN" altLang="en-US" sz="1800" dirty="0" smtClean="0">
                <a:solidFill>
                  <a:srgbClr val="00B0F0"/>
                </a:solidFill>
                <a:latin typeface="微软雅黑" pitchFamily="34" charset="-122"/>
                <a:ea typeface="微软雅黑" pitchFamily="34" charset="-122"/>
              </a:rPr>
              <a:t>原子性指标</a:t>
            </a:r>
            <a:endParaRPr lang="en-US" altLang="zh-CN" sz="1800" dirty="0" smtClean="0">
              <a:solidFill>
                <a:srgbClr val="00B0F0"/>
              </a:solidFill>
              <a:latin typeface="微软雅黑" pitchFamily="34" charset="-122"/>
              <a:ea typeface="微软雅黑" pitchFamily="34" charset="-122"/>
            </a:endParaRPr>
          </a:p>
          <a:p>
            <a:pPr marL="285750" indent="-285750">
              <a:lnSpc>
                <a:spcPct val="150000"/>
              </a:lnSpc>
              <a:buFont typeface="微软雅黑" pitchFamily="34" charset="-122"/>
              <a:buChar char="–"/>
            </a:pPr>
            <a:r>
              <a:rPr lang="zh-CN" altLang="en-US" sz="1800" dirty="0" smtClean="0">
                <a:latin typeface="微软雅黑" pitchFamily="34" charset="-122"/>
                <a:ea typeface="微软雅黑" pitchFamily="34" charset="-122"/>
              </a:rPr>
              <a:t>不可再拆分的指标：如交易额、支付金额等</a:t>
            </a:r>
            <a:endParaRPr lang="zh-CN" altLang="en-US" sz="1800" dirty="0">
              <a:latin typeface="微软雅黑" pitchFamily="34" charset="-122"/>
              <a:ea typeface="微软雅黑" pitchFamily="34" charset="-122"/>
            </a:endParaRPr>
          </a:p>
        </p:txBody>
      </p:sp>
      <p:sp>
        <p:nvSpPr>
          <p:cNvPr id="4" name="矩形 3"/>
          <p:cNvSpPr>
            <a:spLocks noChangeAspect="1"/>
          </p:cNvSpPr>
          <p:nvPr/>
        </p:nvSpPr>
        <p:spPr>
          <a:xfrm>
            <a:off x="3625" y="2160290"/>
            <a:ext cx="5087750" cy="3735400"/>
          </a:xfrm>
          <a:prstGeom prst="rect">
            <a:avLst/>
          </a:prstGeom>
          <a:blipFill dpi="0" rotWithShape="1">
            <a:blip r:embed="rId3"/>
            <a:srcRect/>
            <a:stretch>
              <a:fillRect/>
            </a:stretch>
          </a:blipFill>
          <a:ln w="25400" cap="flat" cmpd="sng" algn="ctr">
            <a:noFill/>
            <a:prstDash val="solid"/>
          </a:ln>
          <a:effectLst/>
          <a:extLst>
            <a:ext uri="{91240B29-F687-4F45-9708-019B960494DF}">
              <a14:hiddenLine xmlns:a14="http://schemas.microsoft.com/office/drawing/2010/main" w="25400" cap="flat" cmpd="sng" algn="ctr">
                <a:solidFill>
                  <a:schemeClr val="dk1"/>
                </a:solidFill>
                <a:prstDash val="solid"/>
              </a14:hiddenLine>
            </a:ext>
          </a:extLst>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sp>
        <p:nvSpPr>
          <p:cNvPr id="10" name="矩形 7"/>
          <p:cNvSpPr>
            <a:spLocks noChangeArrowheads="1"/>
          </p:cNvSpPr>
          <p:nvPr/>
        </p:nvSpPr>
        <p:spPr bwMode="auto">
          <a:xfrm>
            <a:off x="5220655" y="3105395"/>
            <a:ext cx="5085565" cy="1338828"/>
          </a:xfrm>
          <a:prstGeom prst="rect">
            <a:avLst/>
          </a:prstGeom>
          <a:noFill/>
          <a:ln w="9525">
            <a:noFill/>
            <a:miter lim="800000"/>
            <a:headEnd/>
            <a:tailEnd/>
          </a:ln>
        </p:spPr>
        <p:txBody>
          <a:bodyPr wrap="square">
            <a:spAutoFit/>
          </a:bodyPr>
          <a:lstStyle/>
          <a:p>
            <a:pPr marL="285750" indent="-285750">
              <a:lnSpc>
                <a:spcPct val="150000"/>
              </a:lnSpc>
              <a:buFont typeface="Arial" charset="0"/>
              <a:buChar char="•"/>
            </a:pPr>
            <a:r>
              <a:rPr lang="zh-CN" altLang="en-US" sz="1800" dirty="0">
                <a:solidFill>
                  <a:srgbClr val="00B0F0"/>
                </a:solidFill>
                <a:latin typeface="微软雅黑" pitchFamily="34" charset="-122"/>
                <a:ea typeface="微软雅黑" pitchFamily="34" charset="-122"/>
              </a:rPr>
              <a:t>派生</a:t>
            </a:r>
            <a:r>
              <a:rPr lang="zh-CN" altLang="en-US" sz="1800" dirty="0" smtClean="0">
                <a:solidFill>
                  <a:srgbClr val="00B0F0"/>
                </a:solidFill>
                <a:latin typeface="微软雅黑" pitchFamily="34" charset="-122"/>
                <a:ea typeface="微软雅黑" pitchFamily="34" charset="-122"/>
              </a:rPr>
              <a:t>性指标</a:t>
            </a:r>
            <a:endParaRPr lang="en-US" altLang="zh-CN" sz="1800" dirty="0" smtClean="0">
              <a:solidFill>
                <a:srgbClr val="00B0F0"/>
              </a:solidFill>
              <a:latin typeface="微软雅黑" pitchFamily="34" charset="-122"/>
              <a:ea typeface="微软雅黑" pitchFamily="34" charset="-122"/>
            </a:endParaRPr>
          </a:p>
          <a:p>
            <a:pPr>
              <a:lnSpc>
                <a:spcPct val="150000"/>
              </a:lnSpc>
            </a:pPr>
            <a:r>
              <a:rPr lang="zh-CN" altLang="en-US" sz="1800" dirty="0">
                <a:latin typeface="微软雅黑" pitchFamily="34" charset="-122"/>
                <a:ea typeface="微软雅黑" pitchFamily="34" charset="-122"/>
              </a:rPr>
              <a:t>原子</a:t>
            </a:r>
            <a:r>
              <a:rPr lang="zh-CN" altLang="en-US" sz="1800" dirty="0" smtClean="0">
                <a:latin typeface="微软雅黑" pitchFamily="34" charset="-122"/>
                <a:ea typeface="微软雅黑" pitchFamily="34" charset="-122"/>
              </a:rPr>
              <a:t>性指标</a:t>
            </a:r>
            <a:r>
              <a:rPr lang="en-US" altLang="zh-CN" sz="1800" dirty="0" smtClean="0">
                <a:latin typeface="微软雅黑" pitchFamily="34" charset="-122"/>
                <a:ea typeface="微软雅黑" pitchFamily="34" charset="-122"/>
              </a:rPr>
              <a:t>+</a:t>
            </a:r>
            <a:r>
              <a:rPr lang="zh-CN" altLang="en-US" sz="1800" dirty="0" smtClean="0">
                <a:latin typeface="微软雅黑" pitchFamily="34" charset="-122"/>
                <a:ea typeface="微软雅黑" pitchFamily="34" charset="-122"/>
              </a:rPr>
              <a:t>修饰词</a:t>
            </a:r>
            <a:r>
              <a:rPr lang="en-US" altLang="zh-CN" sz="1800" dirty="0" smtClean="0">
                <a:latin typeface="微软雅黑" pitchFamily="34" charset="-122"/>
                <a:ea typeface="微软雅黑" pitchFamily="34" charset="-122"/>
              </a:rPr>
              <a:t>+</a:t>
            </a:r>
            <a:r>
              <a:rPr lang="zh-CN" altLang="en-US" sz="1800" dirty="0" smtClean="0">
                <a:latin typeface="微软雅黑" pitchFamily="34" charset="-122"/>
                <a:ea typeface="微软雅黑" pitchFamily="34" charset="-122"/>
              </a:rPr>
              <a:t>时间段：如日活、月活、次日留存、日转化率等</a:t>
            </a:r>
            <a:endParaRPr lang="en-US" altLang="zh-CN" sz="1800" dirty="0" smtClean="0">
              <a:latin typeface="微软雅黑" pitchFamily="34" charset="-122"/>
              <a:ea typeface="微软雅黑" pitchFamily="34" charset="-122"/>
            </a:endParaRPr>
          </a:p>
        </p:txBody>
      </p:sp>
    </p:spTree>
    <p:custDataLst>
      <p:tags r:id="rId1"/>
    </p:custData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矩形 22"/>
          <p:cNvSpPr/>
          <p:nvPr/>
        </p:nvSpPr>
        <p:spPr>
          <a:xfrm flipV="1">
            <a:off x="0" y="4038600"/>
            <a:ext cx="10801350" cy="61913"/>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lIns="102870" tIns="51435" rIns="102870" bIns="51435" anchor="ctr"/>
          <a:lstStyle/>
          <a:p>
            <a:pPr algn="ctr" fontAlgn="auto">
              <a:spcBef>
                <a:spcPts val="0"/>
              </a:spcBef>
              <a:spcAft>
                <a:spcPts val="0"/>
              </a:spcAft>
              <a:defRPr/>
            </a:pPr>
            <a:endParaRPr lang="zh-CN" altLang="en-US"/>
          </a:p>
        </p:txBody>
      </p:sp>
      <p:sp>
        <p:nvSpPr>
          <p:cNvPr id="28679" name="标题 1"/>
          <p:cNvSpPr>
            <a:spLocks noGrp="1"/>
          </p:cNvSpPr>
          <p:nvPr>
            <p:ph type="title"/>
          </p:nvPr>
        </p:nvSpPr>
        <p:spPr/>
        <p:txBody>
          <a:bodyPr/>
          <a:lstStyle/>
          <a:p>
            <a:pPr eaLnBrk="1" hangingPunct="1"/>
            <a:r>
              <a:rPr lang="zh-CN" altLang="en-US" dirty="0" smtClean="0"/>
              <a:t>指标构建步骤</a:t>
            </a:r>
            <a:endParaRPr lang="zh-CN" altLang="en-US" dirty="0" smtClean="0"/>
          </a:p>
        </p:txBody>
      </p:sp>
      <p:sp>
        <p:nvSpPr>
          <p:cNvPr id="28680" name="Text Box 2"/>
          <p:cNvSpPr txBox="1">
            <a:spLocks noChangeArrowheads="1"/>
          </p:cNvSpPr>
          <p:nvPr/>
        </p:nvSpPr>
        <p:spPr bwMode="auto">
          <a:xfrm>
            <a:off x="284163" y="2211388"/>
            <a:ext cx="2190750" cy="830997"/>
          </a:xfrm>
          <a:prstGeom prst="rect">
            <a:avLst/>
          </a:prstGeom>
          <a:solidFill>
            <a:srgbClr val="00B0F0"/>
          </a:solidFill>
          <a:ln w="9525">
            <a:noFill/>
            <a:miter lim="800000"/>
            <a:headEnd/>
            <a:tailEnd/>
          </a:ln>
        </p:spPr>
        <p:txBody>
          <a:bodyPr>
            <a:spAutoFit/>
          </a:bodyPr>
          <a:lstStyle/>
          <a:p>
            <a:r>
              <a:rPr lang="zh-CN" altLang="en-US" sz="4800" b="1" dirty="0" smtClean="0">
                <a:solidFill>
                  <a:schemeClr val="bg1"/>
                </a:solidFill>
                <a:latin typeface="微软雅黑" pitchFamily="34" charset="-122"/>
                <a:ea typeface="微软雅黑" pitchFamily="34" charset="-122"/>
              </a:rPr>
              <a:t>四步曲</a:t>
            </a:r>
            <a:endParaRPr lang="zh-CN" altLang="en-US" sz="4800" b="1" dirty="0">
              <a:solidFill>
                <a:schemeClr val="bg1"/>
              </a:solidFill>
              <a:latin typeface="微软雅黑" pitchFamily="34" charset="-122"/>
              <a:ea typeface="微软雅黑" pitchFamily="34" charset="-122"/>
            </a:endParaRPr>
          </a:p>
        </p:txBody>
      </p:sp>
      <p:grpSp>
        <p:nvGrpSpPr>
          <p:cNvPr id="2" name="组合 1"/>
          <p:cNvGrpSpPr/>
          <p:nvPr/>
        </p:nvGrpSpPr>
        <p:grpSpPr>
          <a:xfrm>
            <a:off x="990185" y="3692525"/>
            <a:ext cx="2149475" cy="2079625"/>
            <a:chOff x="1800225" y="3692525"/>
            <a:chExt cx="2149475" cy="2079625"/>
          </a:xfrm>
        </p:grpSpPr>
        <p:sp>
          <p:nvSpPr>
            <p:cNvPr id="13" name="椭圆 12"/>
            <p:cNvSpPr/>
            <p:nvPr/>
          </p:nvSpPr>
          <p:spPr>
            <a:xfrm>
              <a:off x="2970213" y="3692525"/>
              <a:ext cx="692150" cy="692150"/>
            </a:xfrm>
            <a:prstGeom prst="ellipse">
              <a:avLst/>
            </a:prstGeom>
            <a:solidFill>
              <a:schemeClr val="bg1"/>
            </a:solidFill>
            <a:ln w="635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latin typeface="Impact" pitchFamily="34" charset="0"/>
              </a:endParaRPr>
            </a:p>
          </p:txBody>
        </p:sp>
        <p:sp>
          <p:nvSpPr>
            <p:cNvPr id="4" name="椭圆 3"/>
            <p:cNvSpPr/>
            <p:nvPr/>
          </p:nvSpPr>
          <p:spPr>
            <a:xfrm>
              <a:off x="3046413" y="3768725"/>
              <a:ext cx="539750" cy="539750"/>
            </a:xfrm>
            <a:prstGeom prst="ellipse">
              <a:avLst/>
            </a:prstGeom>
            <a:solidFill>
              <a:srgbClr val="00B0F0"/>
            </a:solidFill>
            <a:ln w="635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altLang="zh-CN" dirty="0">
                  <a:latin typeface="Impact" pitchFamily="34" charset="0"/>
                </a:rPr>
                <a:t>1</a:t>
              </a:r>
              <a:endParaRPr lang="zh-CN" altLang="en-US" dirty="0">
                <a:latin typeface="Impact" pitchFamily="34" charset="0"/>
              </a:endParaRPr>
            </a:p>
          </p:txBody>
        </p:sp>
        <p:sp>
          <p:nvSpPr>
            <p:cNvPr id="5" name="任意多边形 4"/>
            <p:cNvSpPr/>
            <p:nvPr/>
          </p:nvSpPr>
          <p:spPr>
            <a:xfrm flipH="1" flipV="1">
              <a:off x="3605213" y="4321175"/>
              <a:ext cx="334962" cy="1450975"/>
            </a:xfrm>
            <a:custGeom>
              <a:avLst/>
              <a:gdLst>
                <a:gd name="connsiteX0" fmla="*/ 0 w 333829"/>
                <a:gd name="connsiteY0" fmla="*/ 0 h 1451429"/>
                <a:gd name="connsiteX1" fmla="*/ 0 w 333829"/>
                <a:gd name="connsiteY1" fmla="*/ 1117600 h 1451429"/>
                <a:gd name="connsiteX2" fmla="*/ 333829 w 333829"/>
                <a:gd name="connsiteY2" fmla="*/ 1451429 h 1451429"/>
              </a:gdLst>
              <a:ahLst/>
              <a:cxnLst>
                <a:cxn ang="0">
                  <a:pos x="connsiteX0" y="connsiteY0"/>
                </a:cxn>
                <a:cxn ang="0">
                  <a:pos x="connsiteX1" y="connsiteY1"/>
                </a:cxn>
                <a:cxn ang="0">
                  <a:pos x="connsiteX2" y="connsiteY2"/>
                </a:cxn>
              </a:cxnLst>
              <a:rect l="l" t="t" r="r" b="b"/>
              <a:pathLst>
                <a:path w="333829" h="1451429">
                  <a:moveTo>
                    <a:pt x="0" y="0"/>
                  </a:moveTo>
                  <a:lnTo>
                    <a:pt x="0" y="1117600"/>
                  </a:lnTo>
                  <a:lnTo>
                    <a:pt x="333829" y="1451429"/>
                  </a:lnTo>
                </a:path>
              </a:pathLst>
            </a:custGeom>
            <a:no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28688" name="矩形 24"/>
            <p:cNvSpPr>
              <a:spLocks noChangeArrowheads="1"/>
            </p:cNvSpPr>
            <p:nvPr/>
          </p:nvSpPr>
          <p:spPr bwMode="auto">
            <a:xfrm>
              <a:off x="1800225" y="4883150"/>
              <a:ext cx="2149475" cy="418191"/>
            </a:xfrm>
            <a:prstGeom prst="rect">
              <a:avLst/>
            </a:prstGeom>
            <a:noFill/>
            <a:ln w="9525">
              <a:noFill/>
              <a:miter lim="800000"/>
              <a:headEnd/>
              <a:tailEnd/>
            </a:ln>
          </p:spPr>
          <p:txBody>
            <a:bodyPr>
              <a:spAutoFit/>
            </a:bodyPr>
            <a:lstStyle/>
            <a:p>
              <a:pPr marL="285750" indent="-285750">
                <a:lnSpc>
                  <a:spcPct val="150000"/>
                </a:lnSpc>
                <a:buFont typeface="Arial" charset="0"/>
                <a:buChar char="•"/>
              </a:pPr>
              <a:r>
                <a:rPr lang="zh-CN" altLang="en-US" sz="1600" dirty="0" smtClean="0">
                  <a:latin typeface="微软雅黑" pitchFamily="34" charset="-122"/>
                  <a:ea typeface="微软雅黑" pitchFamily="34" charset="-122"/>
                </a:rPr>
                <a:t>理清业务阶段方向</a:t>
              </a:r>
              <a:endParaRPr lang="zh-CN" altLang="en-US" sz="1600" dirty="0">
                <a:latin typeface="微软雅黑" pitchFamily="34" charset="-122"/>
                <a:ea typeface="微软雅黑" pitchFamily="34" charset="-122"/>
              </a:endParaRPr>
            </a:p>
          </p:txBody>
        </p:sp>
      </p:grpSp>
      <p:grpSp>
        <p:nvGrpSpPr>
          <p:cNvPr id="3" name="组合 2"/>
          <p:cNvGrpSpPr/>
          <p:nvPr/>
        </p:nvGrpSpPr>
        <p:grpSpPr>
          <a:xfrm>
            <a:off x="4005520" y="2203450"/>
            <a:ext cx="2728913" cy="2181225"/>
            <a:chOff x="4321175" y="2203450"/>
            <a:chExt cx="2728913" cy="2181225"/>
          </a:xfrm>
        </p:grpSpPr>
        <p:sp>
          <p:nvSpPr>
            <p:cNvPr id="14" name="椭圆 13"/>
            <p:cNvSpPr/>
            <p:nvPr/>
          </p:nvSpPr>
          <p:spPr>
            <a:xfrm>
              <a:off x="4445000" y="3692525"/>
              <a:ext cx="692150" cy="692150"/>
            </a:xfrm>
            <a:prstGeom prst="ellipse">
              <a:avLst/>
            </a:prstGeom>
            <a:solidFill>
              <a:schemeClr val="bg1"/>
            </a:solidFill>
            <a:ln w="635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latin typeface="Impact" pitchFamily="34" charset="0"/>
              </a:endParaRPr>
            </a:p>
          </p:txBody>
        </p:sp>
        <p:sp>
          <p:nvSpPr>
            <p:cNvPr id="9" name="椭圆 8"/>
            <p:cNvSpPr/>
            <p:nvPr/>
          </p:nvSpPr>
          <p:spPr>
            <a:xfrm>
              <a:off x="4521200" y="3768725"/>
              <a:ext cx="539750" cy="539750"/>
            </a:xfrm>
            <a:prstGeom prst="ellipse">
              <a:avLst/>
            </a:prstGeom>
            <a:solidFill>
              <a:srgbClr val="00B0F0"/>
            </a:solidFill>
            <a:ln w="635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altLang="zh-CN" dirty="0">
                  <a:latin typeface="Impact" pitchFamily="34" charset="0"/>
                </a:rPr>
                <a:t>2</a:t>
              </a:r>
              <a:endParaRPr lang="zh-CN" altLang="en-US" dirty="0">
                <a:latin typeface="Impact" pitchFamily="34" charset="0"/>
              </a:endParaRPr>
            </a:p>
          </p:txBody>
        </p:sp>
        <p:sp>
          <p:nvSpPr>
            <p:cNvPr id="29" name="任意多边形 28"/>
            <p:cNvSpPr/>
            <p:nvPr/>
          </p:nvSpPr>
          <p:spPr>
            <a:xfrm>
              <a:off x="4321175" y="2203450"/>
              <a:ext cx="333375" cy="1450975"/>
            </a:xfrm>
            <a:custGeom>
              <a:avLst/>
              <a:gdLst>
                <a:gd name="connsiteX0" fmla="*/ 0 w 333829"/>
                <a:gd name="connsiteY0" fmla="*/ 0 h 1451429"/>
                <a:gd name="connsiteX1" fmla="*/ 0 w 333829"/>
                <a:gd name="connsiteY1" fmla="*/ 1117600 h 1451429"/>
                <a:gd name="connsiteX2" fmla="*/ 333829 w 333829"/>
                <a:gd name="connsiteY2" fmla="*/ 1451429 h 1451429"/>
              </a:gdLst>
              <a:ahLst/>
              <a:cxnLst>
                <a:cxn ang="0">
                  <a:pos x="connsiteX0" y="connsiteY0"/>
                </a:cxn>
                <a:cxn ang="0">
                  <a:pos x="connsiteX1" y="connsiteY1"/>
                </a:cxn>
                <a:cxn ang="0">
                  <a:pos x="connsiteX2" y="connsiteY2"/>
                </a:cxn>
              </a:cxnLst>
              <a:rect l="l" t="t" r="r" b="b"/>
              <a:pathLst>
                <a:path w="333829" h="1451429">
                  <a:moveTo>
                    <a:pt x="0" y="0"/>
                  </a:moveTo>
                  <a:lnTo>
                    <a:pt x="0" y="1117600"/>
                  </a:lnTo>
                  <a:lnTo>
                    <a:pt x="333829" y="1451429"/>
                  </a:lnTo>
                </a:path>
              </a:pathLst>
            </a:custGeom>
            <a:no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28693" name="矩形 30"/>
            <p:cNvSpPr>
              <a:spLocks noChangeArrowheads="1"/>
            </p:cNvSpPr>
            <p:nvPr/>
          </p:nvSpPr>
          <p:spPr bwMode="auto">
            <a:xfrm>
              <a:off x="4349750" y="2205038"/>
              <a:ext cx="2700338" cy="418191"/>
            </a:xfrm>
            <a:prstGeom prst="rect">
              <a:avLst/>
            </a:prstGeom>
            <a:noFill/>
            <a:ln w="9525">
              <a:noFill/>
              <a:miter lim="800000"/>
              <a:headEnd/>
              <a:tailEnd/>
            </a:ln>
          </p:spPr>
          <p:txBody>
            <a:bodyPr>
              <a:spAutoFit/>
            </a:bodyPr>
            <a:lstStyle/>
            <a:p>
              <a:pPr marL="285750" indent="-285750">
                <a:lnSpc>
                  <a:spcPct val="150000"/>
                </a:lnSpc>
                <a:buFont typeface="Arial" charset="0"/>
                <a:buChar char="•"/>
              </a:pPr>
              <a:r>
                <a:rPr lang="zh-CN" altLang="en-US" sz="1600" dirty="0" smtClean="0">
                  <a:latin typeface="微软雅黑" pitchFamily="34" charset="-122"/>
                  <a:ea typeface="微软雅黑" pitchFamily="34" charset="-122"/>
                </a:rPr>
                <a:t>确定核心指标</a:t>
              </a:r>
              <a:endParaRPr lang="zh-CN" altLang="en-US" sz="1600" dirty="0">
                <a:latin typeface="微软雅黑" pitchFamily="34" charset="-122"/>
                <a:ea typeface="微软雅黑" pitchFamily="34" charset="-122"/>
              </a:endParaRPr>
            </a:p>
          </p:txBody>
        </p:sp>
      </p:grpSp>
      <p:grpSp>
        <p:nvGrpSpPr>
          <p:cNvPr id="6" name="组合 5"/>
          <p:cNvGrpSpPr/>
          <p:nvPr/>
        </p:nvGrpSpPr>
        <p:grpSpPr>
          <a:xfrm>
            <a:off x="4346575" y="3692525"/>
            <a:ext cx="2493963" cy="2079625"/>
            <a:chOff x="4346575" y="3692525"/>
            <a:chExt cx="2493963" cy="2079625"/>
          </a:xfrm>
        </p:grpSpPr>
        <p:sp>
          <p:nvSpPr>
            <p:cNvPr id="15" name="椭圆 14"/>
            <p:cNvSpPr/>
            <p:nvPr/>
          </p:nvSpPr>
          <p:spPr>
            <a:xfrm>
              <a:off x="5918200" y="3692525"/>
              <a:ext cx="692150" cy="692150"/>
            </a:xfrm>
            <a:prstGeom prst="ellipse">
              <a:avLst/>
            </a:prstGeom>
            <a:solidFill>
              <a:schemeClr val="bg1"/>
            </a:solidFill>
            <a:ln w="635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latin typeface="Impact" pitchFamily="34" charset="0"/>
              </a:endParaRPr>
            </a:p>
          </p:txBody>
        </p:sp>
        <p:sp>
          <p:nvSpPr>
            <p:cNvPr id="10" name="椭圆 9"/>
            <p:cNvSpPr/>
            <p:nvPr/>
          </p:nvSpPr>
          <p:spPr>
            <a:xfrm>
              <a:off x="5992813" y="3768725"/>
              <a:ext cx="539750" cy="539750"/>
            </a:xfrm>
            <a:prstGeom prst="ellipse">
              <a:avLst/>
            </a:prstGeom>
            <a:solidFill>
              <a:srgbClr val="00B0F0"/>
            </a:solidFill>
            <a:ln w="635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altLang="zh-CN" dirty="0">
                  <a:latin typeface="Impact" pitchFamily="34" charset="0"/>
                </a:rPr>
                <a:t>3</a:t>
              </a:r>
              <a:endParaRPr lang="zh-CN" altLang="en-US" dirty="0">
                <a:latin typeface="Impact" pitchFamily="34" charset="0"/>
              </a:endParaRPr>
            </a:p>
          </p:txBody>
        </p:sp>
        <p:sp>
          <p:nvSpPr>
            <p:cNvPr id="26" name="任意多边形 25"/>
            <p:cNvSpPr/>
            <p:nvPr/>
          </p:nvSpPr>
          <p:spPr>
            <a:xfrm flipH="1" flipV="1">
              <a:off x="6507163" y="4321175"/>
              <a:ext cx="333375" cy="1450975"/>
            </a:xfrm>
            <a:custGeom>
              <a:avLst/>
              <a:gdLst>
                <a:gd name="connsiteX0" fmla="*/ 0 w 333829"/>
                <a:gd name="connsiteY0" fmla="*/ 0 h 1451429"/>
                <a:gd name="connsiteX1" fmla="*/ 0 w 333829"/>
                <a:gd name="connsiteY1" fmla="*/ 1117600 h 1451429"/>
                <a:gd name="connsiteX2" fmla="*/ 333829 w 333829"/>
                <a:gd name="connsiteY2" fmla="*/ 1451429 h 1451429"/>
              </a:gdLst>
              <a:ahLst/>
              <a:cxnLst>
                <a:cxn ang="0">
                  <a:pos x="connsiteX0" y="connsiteY0"/>
                </a:cxn>
                <a:cxn ang="0">
                  <a:pos x="connsiteX1" y="connsiteY1"/>
                </a:cxn>
                <a:cxn ang="0">
                  <a:pos x="connsiteX2" y="connsiteY2"/>
                </a:cxn>
              </a:cxnLst>
              <a:rect l="l" t="t" r="r" b="b"/>
              <a:pathLst>
                <a:path w="333829" h="1451429">
                  <a:moveTo>
                    <a:pt x="0" y="0"/>
                  </a:moveTo>
                  <a:lnTo>
                    <a:pt x="0" y="1117600"/>
                  </a:lnTo>
                  <a:lnTo>
                    <a:pt x="333829" y="1451429"/>
                  </a:lnTo>
                </a:path>
              </a:pathLst>
            </a:custGeom>
            <a:no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28694" name="矩形 31"/>
            <p:cNvSpPr>
              <a:spLocks noChangeArrowheads="1"/>
            </p:cNvSpPr>
            <p:nvPr/>
          </p:nvSpPr>
          <p:spPr bwMode="auto">
            <a:xfrm>
              <a:off x="4346575" y="4883150"/>
              <a:ext cx="2395538" cy="461665"/>
            </a:xfrm>
            <a:prstGeom prst="rect">
              <a:avLst/>
            </a:prstGeom>
            <a:noFill/>
            <a:ln w="9525">
              <a:noFill/>
              <a:miter lim="800000"/>
              <a:headEnd/>
              <a:tailEnd/>
            </a:ln>
          </p:spPr>
          <p:txBody>
            <a:bodyPr>
              <a:spAutoFit/>
            </a:bodyPr>
            <a:lstStyle/>
            <a:p>
              <a:pPr marL="285750" indent="-285750">
                <a:lnSpc>
                  <a:spcPct val="150000"/>
                </a:lnSpc>
                <a:buFont typeface="Arial" charset="0"/>
                <a:buChar char="•"/>
              </a:pPr>
              <a:r>
                <a:rPr lang="zh-CN" altLang="en-US" sz="1600" dirty="0" smtClean="0">
                  <a:latin typeface="微软雅黑" pitchFamily="34" charset="-122"/>
                  <a:ea typeface="微软雅黑" pitchFamily="34" charset="-122"/>
                </a:rPr>
                <a:t>指标核心维度拆解</a:t>
              </a:r>
              <a:endParaRPr lang="zh-CN" altLang="en-US" sz="1600" dirty="0">
                <a:latin typeface="微软雅黑" pitchFamily="34" charset="-122"/>
                <a:ea typeface="微软雅黑" pitchFamily="34" charset="-122"/>
              </a:endParaRPr>
            </a:p>
          </p:txBody>
        </p:sp>
      </p:grpSp>
      <p:grpSp>
        <p:nvGrpSpPr>
          <p:cNvPr id="7" name="组合 6"/>
          <p:cNvGrpSpPr/>
          <p:nvPr/>
        </p:nvGrpSpPr>
        <p:grpSpPr>
          <a:xfrm>
            <a:off x="7465150" y="2203450"/>
            <a:ext cx="2886075" cy="2181225"/>
            <a:chOff x="7224713" y="2203450"/>
            <a:chExt cx="2886075" cy="2181225"/>
          </a:xfrm>
        </p:grpSpPr>
        <p:sp>
          <p:nvSpPr>
            <p:cNvPr id="16" name="椭圆 15"/>
            <p:cNvSpPr/>
            <p:nvPr/>
          </p:nvSpPr>
          <p:spPr>
            <a:xfrm>
              <a:off x="7391400" y="3692525"/>
              <a:ext cx="693738" cy="692150"/>
            </a:xfrm>
            <a:prstGeom prst="ellipse">
              <a:avLst/>
            </a:prstGeom>
            <a:solidFill>
              <a:schemeClr val="bg1"/>
            </a:solidFill>
            <a:ln w="635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latin typeface="Impact" pitchFamily="34" charset="0"/>
              </a:endParaRPr>
            </a:p>
          </p:txBody>
        </p:sp>
        <p:sp>
          <p:nvSpPr>
            <p:cNvPr id="11" name="椭圆 10"/>
            <p:cNvSpPr/>
            <p:nvPr/>
          </p:nvSpPr>
          <p:spPr>
            <a:xfrm>
              <a:off x="7466013" y="3768725"/>
              <a:ext cx="539750" cy="539750"/>
            </a:xfrm>
            <a:prstGeom prst="ellipse">
              <a:avLst/>
            </a:prstGeom>
            <a:solidFill>
              <a:srgbClr val="00B0F0"/>
            </a:solidFill>
            <a:ln w="635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altLang="zh-CN" dirty="0">
                  <a:latin typeface="Impact" pitchFamily="34" charset="0"/>
                </a:rPr>
                <a:t>4</a:t>
              </a:r>
              <a:endParaRPr lang="zh-CN" altLang="en-US" dirty="0">
                <a:latin typeface="Impact" pitchFamily="34" charset="0"/>
              </a:endParaRPr>
            </a:p>
          </p:txBody>
        </p:sp>
        <p:sp>
          <p:nvSpPr>
            <p:cNvPr id="30" name="任意多边形 29"/>
            <p:cNvSpPr/>
            <p:nvPr/>
          </p:nvSpPr>
          <p:spPr>
            <a:xfrm>
              <a:off x="7224713" y="2203450"/>
              <a:ext cx="333375" cy="1450975"/>
            </a:xfrm>
            <a:custGeom>
              <a:avLst/>
              <a:gdLst>
                <a:gd name="connsiteX0" fmla="*/ 0 w 333829"/>
                <a:gd name="connsiteY0" fmla="*/ 0 h 1451429"/>
                <a:gd name="connsiteX1" fmla="*/ 0 w 333829"/>
                <a:gd name="connsiteY1" fmla="*/ 1117600 h 1451429"/>
                <a:gd name="connsiteX2" fmla="*/ 333829 w 333829"/>
                <a:gd name="connsiteY2" fmla="*/ 1451429 h 1451429"/>
              </a:gdLst>
              <a:ahLst/>
              <a:cxnLst>
                <a:cxn ang="0">
                  <a:pos x="connsiteX0" y="connsiteY0"/>
                </a:cxn>
                <a:cxn ang="0">
                  <a:pos x="connsiteX1" y="connsiteY1"/>
                </a:cxn>
                <a:cxn ang="0">
                  <a:pos x="connsiteX2" y="connsiteY2"/>
                </a:cxn>
              </a:cxnLst>
              <a:rect l="l" t="t" r="r" b="b"/>
              <a:pathLst>
                <a:path w="333829" h="1451429">
                  <a:moveTo>
                    <a:pt x="0" y="0"/>
                  </a:moveTo>
                  <a:lnTo>
                    <a:pt x="0" y="1117600"/>
                  </a:lnTo>
                  <a:lnTo>
                    <a:pt x="333829" y="1451429"/>
                  </a:lnTo>
                </a:path>
              </a:pathLst>
            </a:custGeom>
            <a:no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28695" name="矩形 32"/>
            <p:cNvSpPr>
              <a:spLocks noChangeArrowheads="1"/>
            </p:cNvSpPr>
            <p:nvPr/>
          </p:nvSpPr>
          <p:spPr bwMode="auto">
            <a:xfrm>
              <a:off x="7329488" y="2205038"/>
              <a:ext cx="2781300" cy="461665"/>
            </a:xfrm>
            <a:prstGeom prst="rect">
              <a:avLst/>
            </a:prstGeom>
            <a:noFill/>
            <a:ln w="9525">
              <a:noFill/>
              <a:miter lim="800000"/>
              <a:headEnd/>
              <a:tailEnd/>
            </a:ln>
          </p:spPr>
          <p:txBody>
            <a:bodyPr>
              <a:spAutoFit/>
            </a:bodyPr>
            <a:lstStyle/>
            <a:p>
              <a:pPr marL="285750" indent="-285750">
                <a:lnSpc>
                  <a:spcPct val="150000"/>
                </a:lnSpc>
                <a:buFont typeface="Arial" charset="0"/>
                <a:buChar char="•"/>
              </a:pPr>
              <a:r>
                <a:rPr lang="zh-CN" altLang="en-US" sz="1600" dirty="0" smtClean="0">
                  <a:latin typeface="微软雅黑" pitchFamily="34" charset="-122"/>
                  <a:ea typeface="微软雅黑" pitchFamily="34" charset="-122"/>
                </a:rPr>
                <a:t>指标宣贯、落地、存档</a:t>
              </a:r>
              <a:endParaRPr lang="zh-CN" altLang="en-US" sz="1600" dirty="0">
                <a:latin typeface="微软雅黑" pitchFamily="34" charset="-122"/>
                <a:ea typeface="微软雅黑" pitchFamily="34" charset="-122"/>
              </a:endParaRPr>
            </a:p>
          </p:txBody>
        </p:sp>
      </p:grpSp>
    </p:spTree>
    <p:extLst>
      <p:ext uri="{BB962C8B-B14F-4D97-AF65-F5344CB8AC3E}">
        <p14:creationId xmlns:p14="http://schemas.microsoft.com/office/powerpoint/2010/main" val="414068813"/>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标题 1"/>
          <p:cNvSpPr>
            <a:spLocks noGrp="1"/>
          </p:cNvSpPr>
          <p:nvPr>
            <p:ph type="title"/>
          </p:nvPr>
        </p:nvSpPr>
        <p:spPr/>
        <p:txBody>
          <a:bodyPr/>
          <a:lstStyle/>
          <a:p>
            <a:pPr eaLnBrk="1" hangingPunct="1"/>
            <a:r>
              <a:rPr lang="zh-CN" altLang="en-US" dirty="0" smtClean="0"/>
              <a:t>理清业务阶段和方向</a:t>
            </a:r>
            <a:endParaRPr lang="zh-CN" altLang="en-US" dirty="0" smtClean="0"/>
          </a:p>
        </p:txBody>
      </p:sp>
      <p:sp>
        <p:nvSpPr>
          <p:cNvPr id="60" name="íṩḷïďé">
            <a:extLst>
              <a:ext uri="{FF2B5EF4-FFF2-40B4-BE49-F238E27FC236}">
                <a16:creationId xmlns:p14="http://schemas.microsoft.com/office/powerpoint/2010/main" xmlns:a16="http://schemas.microsoft.com/office/drawing/2014/main" xmlns:lc="http://schemas.openxmlformats.org/drawingml/2006/lockedCanvas" xmlns="" id="{558775C2-F41F-4C94-9329-CFBC2BEBB30F}"/>
              </a:ext>
            </a:extLst>
          </p:cNvPr>
          <p:cNvSpPr/>
          <p:nvPr/>
        </p:nvSpPr>
        <p:spPr bwMode="auto">
          <a:xfrm>
            <a:off x="225100" y="1276682"/>
            <a:ext cx="10351150" cy="800859"/>
          </a:xfrm>
          <a:prstGeom prst="homePlate">
            <a:avLst>
              <a:gd name="adj" fmla="val 35856"/>
            </a:avLst>
          </a:prstGeom>
          <a:solidFill>
            <a:schemeClr val="tx1">
              <a:lumMod val="20000"/>
              <a:lumOff val="80000"/>
              <a:alpha val="48000"/>
            </a:schemeClr>
          </a:solidFill>
          <a:ln w="25400" algn="ctr">
            <a:noFill/>
            <a:miter lim="800000"/>
            <a:headEnd/>
            <a:tailEnd/>
          </a:ln>
          <a:effectLst/>
        </p:spPr>
        <p:txBody>
          <a:bodyPr wrap="square" lIns="91440" tIns="45720" rIns="91440" bIns="45720" anchor="ctr">
            <a:normAutofit/>
          </a:bodyPr>
          <a:lstStyle/>
          <a:p>
            <a:pPr algn="ctr"/>
            <a:endParaRPr/>
          </a:p>
        </p:txBody>
      </p:sp>
      <p:sp>
        <p:nvSpPr>
          <p:cNvPr id="69" name="ïśľiďê">
            <a:extLst>
              <a:ext uri="{FF2B5EF4-FFF2-40B4-BE49-F238E27FC236}">
                <a16:creationId xmlns:p14="http://schemas.microsoft.com/office/powerpoint/2010/main" xmlns:a16="http://schemas.microsoft.com/office/drawing/2014/main" xmlns:lc="http://schemas.openxmlformats.org/drawingml/2006/lockedCanvas" xmlns="" id="{D7F8A300-3FCA-4A2D-A9AF-A5BBE8653376}"/>
              </a:ext>
            </a:extLst>
          </p:cNvPr>
          <p:cNvSpPr/>
          <p:nvPr/>
        </p:nvSpPr>
        <p:spPr bwMode="gray">
          <a:xfrm>
            <a:off x="376090" y="1796325"/>
            <a:ext cx="2900764" cy="524951"/>
          </a:xfrm>
          <a:prstGeom prst="rect">
            <a:avLst/>
          </a:prstGeom>
          <a:solidFill>
            <a:schemeClr val="tx1">
              <a:lumMod val="50000"/>
              <a:lumOff val="50000"/>
            </a:schemeClr>
          </a:solidFill>
          <a:ln w="19050">
            <a:noFill/>
            <a:miter lim="800000"/>
            <a:headEnd/>
            <a:tailEnd/>
          </a:ln>
          <a:effectLst/>
        </p:spPr>
        <p:style>
          <a:lnRef idx="3">
            <a:schemeClr val="lt1"/>
          </a:lnRef>
          <a:fillRef idx="1">
            <a:schemeClr val="accent1"/>
          </a:fillRef>
          <a:effectRef idx="1">
            <a:schemeClr val="accent1"/>
          </a:effectRef>
          <a:fontRef idx="minor">
            <a:schemeClr val="lt1"/>
          </a:fontRef>
        </p:style>
        <p:txBody>
          <a:bodyPr wrap="square" lIns="91440" tIns="45720" rIns="91440" bIns="45720" anchor="ctr">
            <a:normAutofit/>
          </a:bodyPr>
          <a:lstStyle/>
          <a:p>
            <a:pPr algn="ctr"/>
            <a:r>
              <a:rPr lang="zh-CN" altLang="en-US" dirty="0" smtClean="0">
                <a:solidFill>
                  <a:schemeClr val="bg1"/>
                </a:solidFill>
                <a:latin typeface="微软雅黑" pitchFamily="34" charset="-122"/>
                <a:ea typeface="微软雅黑" pitchFamily="34" charset="-122"/>
              </a:rPr>
              <a:t>业务前期：创业期</a:t>
            </a:r>
            <a:endParaRPr lang="en-US" altLang="zh-CN" dirty="0">
              <a:solidFill>
                <a:schemeClr val="bg1"/>
              </a:solidFill>
              <a:latin typeface="微软雅黑" pitchFamily="34" charset="-122"/>
              <a:ea typeface="微软雅黑" pitchFamily="34" charset="-122"/>
            </a:endParaRPr>
          </a:p>
        </p:txBody>
      </p:sp>
      <p:sp>
        <p:nvSpPr>
          <p:cNvPr id="67" name="íSḻîḋê">
            <a:extLst>
              <a:ext uri="{FF2B5EF4-FFF2-40B4-BE49-F238E27FC236}">
                <a16:creationId xmlns:p14="http://schemas.microsoft.com/office/powerpoint/2010/main" xmlns:a16="http://schemas.microsoft.com/office/drawing/2014/main" xmlns:lc="http://schemas.openxmlformats.org/drawingml/2006/lockedCanvas" xmlns="" id="{6B5D22F3-BDEB-4670-B986-013407C9AB3A}"/>
              </a:ext>
            </a:extLst>
          </p:cNvPr>
          <p:cNvSpPr/>
          <p:nvPr/>
        </p:nvSpPr>
        <p:spPr bwMode="gray">
          <a:xfrm>
            <a:off x="3690399" y="1796325"/>
            <a:ext cx="2900764" cy="524951"/>
          </a:xfrm>
          <a:prstGeom prst="rect">
            <a:avLst/>
          </a:prstGeom>
          <a:solidFill>
            <a:schemeClr val="accent1"/>
          </a:solidFill>
          <a:ln w="19050">
            <a:noFill/>
            <a:miter lim="800000"/>
            <a:headEnd/>
            <a:tailEnd/>
          </a:ln>
          <a:effectLst/>
        </p:spPr>
        <p:style>
          <a:lnRef idx="3">
            <a:schemeClr val="lt1"/>
          </a:lnRef>
          <a:fillRef idx="1">
            <a:schemeClr val="accent1"/>
          </a:fillRef>
          <a:effectRef idx="1">
            <a:schemeClr val="accent1"/>
          </a:effectRef>
          <a:fontRef idx="minor">
            <a:schemeClr val="lt1"/>
          </a:fontRef>
        </p:style>
        <p:txBody>
          <a:bodyPr wrap="square" lIns="91440" tIns="45720" rIns="91440" bIns="45720" anchor="ctr">
            <a:normAutofit/>
          </a:bodyPr>
          <a:lstStyle/>
          <a:p>
            <a:pPr algn="ctr"/>
            <a:r>
              <a:rPr lang="zh-CN" altLang="en-US" dirty="0" smtClean="0">
                <a:solidFill>
                  <a:schemeClr val="bg1"/>
                </a:solidFill>
                <a:latin typeface="微软雅黑" pitchFamily="34" charset="-122"/>
                <a:ea typeface="微软雅黑" pitchFamily="34" charset="-122"/>
              </a:rPr>
              <a:t>业务中期：上升期</a:t>
            </a:r>
            <a:endParaRPr lang="en-US" altLang="zh-CN" dirty="0">
              <a:solidFill>
                <a:schemeClr val="bg1"/>
              </a:solidFill>
              <a:latin typeface="微软雅黑" pitchFamily="34" charset="-122"/>
              <a:ea typeface="微软雅黑" pitchFamily="34" charset="-122"/>
            </a:endParaRPr>
          </a:p>
        </p:txBody>
      </p:sp>
      <p:sp>
        <p:nvSpPr>
          <p:cNvPr id="65" name="ïṩļïde">
            <a:extLst>
              <a:ext uri="{FF2B5EF4-FFF2-40B4-BE49-F238E27FC236}">
                <a16:creationId xmlns:p14="http://schemas.microsoft.com/office/powerpoint/2010/main" xmlns:a16="http://schemas.microsoft.com/office/drawing/2014/main" xmlns:lc="http://schemas.openxmlformats.org/drawingml/2006/lockedCanvas" xmlns="" id="{0120662D-08EC-45F4-BE9C-84021ADB4C9A}"/>
              </a:ext>
            </a:extLst>
          </p:cNvPr>
          <p:cNvSpPr/>
          <p:nvPr/>
        </p:nvSpPr>
        <p:spPr bwMode="gray">
          <a:xfrm>
            <a:off x="7004709" y="1796325"/>
            <a:ext cx="2900764" cy="524951"/>
          </a:xfrm>
          <a:prstGeom prst="rect">
            <a:avLst/>
          </a:prstGeom>
          <a:solidFill>
            <a:schemeClr val="tx1">
              <a:lumMod val="50000"/>
              <a:lumOff val="50000"/>
            </a:schemeClr>
          </a:solidFill>
          <a:ln w="19050">
            <a:noFill/>
            <a:miter lim="800000"/>
            <a:headEnd/>
            <a:tailEnd/>
          </a:ln>
          <a:effectLst/>
        </p:spPr>
        <p:style>
          <a:lnRef idx="3">
            <a:schemeClr val="lt1"/>
          </a:lnRef>
          <a:fillRef idx="1">
            <a:schemeClr val="accent1"/>
          </a:fillRef>
          <a:effectRef idx="1">
            <a:schemeClr val="accent1"/>
          </a:effectRef>
          <a:fontRef idx="minor">
            <a:schemeClr val="lt1"/>
          </a:fontRef>
        </p:style>
        <p:txBody>
          <a:bodyPr wrap="square" lIns="91440" tIns="45720" rIns="91440" bIns="45720" anchor="ctr">
            <a:normAutofit/>
          </a:bodyPr>
          <a:lstStyle/>
          <a:p>
            <a:pPr algn="ctr"/>
            <a:r>
              <a:rPr lang="zh-CN" altLang="en-US" dirty="0" smtClean="0">
                <a:solidFill>
                  <a:schemeClr val="bg1"/>
                </a:solidFill>
                <a:latin typeface="微软雅黑" pitchFamily="34" charset="-122"/>
                <a:ea typeface="微软雅黑" pitchFamily="34" charset="-122"/>
              </a:rPr>
              <a:t>业务后期：成熟发展期</a:t>
            </a:r>
            <a:endParaRPr lang="en-US" altLang="zh-CN" dirty="0">
              <a:solidFill>
                <a:schemeClr val="bg1"/>
              </a:solidFill>
              <a:latin typeface="微软雅黑" pitchFamily="34" charset="-122"/>
              <a:ea typeface="微软雅黑" pitchFamily="34" charset="-122"/>
            </a:endParaRPr>
          </a:p>
        </p:txBody>
      </p:sp>
      <p:sp>
        <p:nvSpPr>
          <p:cNvPr id="71" name="iconfont-1191-801507"/>
          <p:cNvSpPr>
            <a:spLocks noChangeAspect="1"/>
          </p:cNvSpPr>
          <p:nvPr/>
        </p:nvSpPr>
        <p:spPr bwMode="auto">
          <a:xfrm>
            <a:off x="540135" y="2520330"/>
            <a:ext cx="661556" cy="881162"/>
          </a:xfrm>
          <a:custGeom>
            <a:avLst/>
            <a:gdLst>
              <a:gd name="T0" fmla="*/ 6017 w 11054"/>
              <a:gd name="T1" fmla="*/ 11184 h 12800"/>
              <a:gd name="T2" fmla="*/ 9438 w 11054"/>
              <a:gd name="T3" fmla="*/ 7763 h 12800"/>
              <a:gd name="T4" fmla="*/ 8436 w 11054"/>
              <a:gd name="T5" fmla="*/ 12800 h 12800"/>
              <a:gd name="T6" fmla="*/ 7092 w 11054"/>
              <a:gd name="T7" fmla="*/ 9625 h 12800"/>
              <a:gd name="T8" fmla="*/ 8993 w 11054"/>
              <a:gd name="T9" fmla="*/ 11526 h 12800"/>
              <a:gd name="T10" fmla="*/ 8436 w 11054"/>
              <a:gd name="T11" fmla="*/ 8727 h 12800"/>
              <a:gd name="T12" fmla="*/ 8436 w 11054"/>
              <a:gd name="T13" fmla="*/ 10473 h 12800"/>
              <a:gd name="T14" fmla="*/ 8145 w 11054"/>
              <a:gd name="T15" fmla="*/ 9309 h 12800"/>
              <a:gd name="T16" fmla="*/ 8727 w 11054"/>
              <a:gd name="T17" fmla="*/ 9309 h 12800"/>
              <a:gd name="T18" fmla="*/ 9018 w 11054"/>
              <a:gd name="T19" fmla="*/ 9891 h 12800"/>
              <a:gd name="T20" fmla="*/ 9018 w 11054"/>
              <a:gd name="T21" fmla="*/ 10473 h 12800"/>
              <a:gd name="T22" fmla="*/ 6691 w 11054"/>
              <a:gd name="T23" fmla="*/ 7564 h 12800"/>
              <a:gd name="T24" fmla="*/ 5236 w 11054"/>
              <a:gd name="T25" fmla="*/ 7855 h 12800"/>
              <a:gd name="T26" fmla="*/ 4945 w 11054"/>
              <a:gd name="T27" fmla="*/ 9309 h 12800"/>
              <a:gd name="T28" fmla="*/ 4654 w 11054"/>
              <a:gd name="T29" fmla="*/ 7855 h 12800"/>
              <a:gd name="T30" fmla="*/ 3200 w 11054"/>
              <a:gd name="T31" fmla="*/ 7564 h 12800"/>
              <a:gd name="T32" fmla="*/ 4654 w 11054"/>
              <a:gd name="T33" fmla="*/ 7273 h 12800"/>
              <a:gd name="T34" fmla="*/ 3491 w 11054"/>
              <a:gd name="T35" fmla="*/ 6691 h 12800"/>
              <a:gd name="T36" fmla="*/ 3491 w 11054"/>
              <a:gd name="T37" fmla="*/ 6109 h 12800"/>
              <a:gd name="T38" fmla="*/ 3283 w 11054"/>
              <a:gd name="T39" fmla="*/ 5127 h 12800"/>
              <a:gd name="T40" fmla="*/ 3677 w 11054"/>
              <a:gd name="T41" fmla="*/ 4730 h 12800"/>
              <a:gd name="T42" fmla="*/ 5089 w 11054"/>
              <a:gd name="T43" fmla="*/ 5861 h 12800"/>
              <a:gd name="T44" fmla="*/ 6605 w 11054"/>
              <a:gd name="T45" fmla="*/ 4741 h 12800"/>
              <a:gd name="T46" fmla="*/ 5632 w 11054"/>
              <a:gd name="T47" fmla="*/ 6109 h 12800"/>
              <a:gd name="T48" fmla="*/ 6691 w 11054"/>
              <a:gd name="T49" fmla="*/ 6400 h 12800"/>
              <a:gd name="T50" fmla="*/ 5236 w 11054"/>
              <a:gd name="T51" fmla="*/ 6691 h 12800"/>
              <a:gd name="T52" fmla="*/ 6400 w 11054"/>
              <a:gd name="T53" fmla="*/ 7273 h 12800"/>
              <a:gd name="T54" fmla="*/ 8727 w 11054"/>
              <a:gd name="T55" fmla="*/ 6400 h 12800"/>
              <a:gd name="T56" fmla="*/ 8145 w 11054"/>
              <a:gd name="T57" fmla="*/ 2327 h 12800"/>
              <a:gd name="T58" fmla="*/ 6691 w 11054"/>
              <a:gd name="T59" fmla="*/ 3491 h 12800"/>
              <a:gd name="T60" fmla="*/ 2036 w 11054"/>
              <a:gd name="T61" fmla="*/ 2327 h 12800"/>
              <a:gd name="T62" fmla="*/ 1163 w 11054"/>
              <a:gd name="T63" fmla="*/ 2909 h 12800"/>
              <a:gd name="T64" fmla="*/ 1745 w 11054"/>
              <a:gd name="T65" fmla="*/ 11636 h 12800"/>
              <a:gd name="T66" fmla="*/ 5236 w 11054"/>
              <a:gd name="T67" fmla="*/ 12218 h 12800"/>
              <a:gd name="T68" fmla="*/ 1163 w 11054"/>
              <a:gd name="T69" fmla="*/ 12800 h 12800"/>
              <a:gd name="T70" fmla="*/ 0 w 11054"/>
              <a:gd name="T71" fmla="*/ 2327 h 12800"/>
              <a:gd name="T72" fmla="*/ 2036 w 11054"/>
              <a:gd name="T73" fmla="*/ 1164 h 12800"/>
              <a:gd name="T74" fmla="*/ 6691 w 11054"/>
              <a:gd name="T75" fmla="*/ 0 h 12800"/>
              <a:gd name="T76" fmla="*/ 8727 w 11054"/>
              <a:gd name="T77" fmla="*/ 1164 h 12800"/>
              <a:gd name="T78" fmla="*/ 9891 w 11054"/>
              <a:gd name="T79" fmla="*/ 6400 h 12800"/>
              <a:gd name="T80" fmla="*/ 6691 w 11054"/>
              <a:gd name="T81" fmla="*/ 1455 h 12800"/>
              <a:gd name="T82" fmla="*/ 3491 w 11054"/>
              <a:gd name="T83" fmla="*/ 1164 h 12800"/>
              <a:gd name="T84" fmla="*/ 3200 w 11054"/>
              <a:gd name="T85" fmla="*/ 2036 h 12800"/>
              <a:gd name="T86" fmla="*/ 6400 w 11054"/>
              <a:gd name="T87" fmla="*/ 2327 h 12800"/>
              <a:gd name="T88" fmla="*/ 6691 w 11054"/>
              <a:gd name="T89" fmla="*/ 1455 h 128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1054" h="12800">
                <a:moveTo>
                  <a:pt x="8436" y="12800"/>
                </a:moveTo>
                <a:cubicBezTo>
                  <a:pt x="7377" y="12800"/>
                  <a:pt x="6422" y="12162"/>
                  <a:pt x="6017" y="11184"/>
                </a:cubicBezTo>
                <a:cubicBezTo>
                  <a:pt x="5612" y="10205"/>
                  <a:pt x="5836" y="9079"/>
                  <a:pt x="6585" y="8331"/>
                </a:cubicBezTo>
                <a:cubicBezTo>
                  <a:pt x="7334" y="7582"/>
                  <a:pt x="8460" y="7358"/>
                  <a:pt x="9438" y="7763"/>
                </a:cubicBezTo>
                <a:cubicBezTo>
                  <a:pt x="10416" y="8168"/>
                  <a:pt x="11054" y="9123"/>
                  <a:pt x="11054" y="10182"/>
                </a:cubicBezTo>
                <a:cubicBezTo>
                  <a:pt x="11054" y="11628"/>
                  <a:pt x="9882" y="12800"/>
                  <a:pt x="8436" y="12800"/>
                </a:cubicBezTo>
                <a:close/>
                <a:moveTo>
                  <a:pt x="8436" y="8727"/>
                </a:moveTo>
                <a:cubicBezTo>
                  <a:pt x="7848" y="8727"/>
                  <a:pt x="7317" y="9082"/>
                  <a:pt x="7092" y="9625"/>
                </a:cubicBezTo>
                <a:cubicBezTo>
                  <a:pt x="6867" y="10169"/>
                  <a:pt x="6992" y="10794"/>
                  <a:pt x="7408" y="11210"/>
                </a:cubicBezTo>
                <a:cubicBezTo>
                  <a:pt x="7824" y="11626"/>
                  <a:pt x="8449" y="11751"/>
                  <a:pt x="8993" y="11526"/>
                </a:cubicBezTo>
                <a:cubicBezTo>
                  <a:pt x="9536" y="11301"/>
                  <a:pt x="9891" y="10770"/>
                  <a:pt x="9891" y="10182"/>
                </a:cubicBezTo>
                <a:cubicBezTo>
                  <a:pt x="9891" y="9378"/>
                  <a:pt x="9239" y="8727"/>
                  <a:pt x="8436" y="8727"/>
                </a:cubicBezTo>
                <a:close/>
                <a:moveTo>
                  <a:pt x="9018" y="10473"/>
                </a:moveTo>
                <a:lnTo>
                  <a:pt x="8436" y="10473"/>
                </a:lnTo>
                <a:cubicBezTo>
                  <a:pt x="8275" y="10473"/>
                  <a:pt x="8145" y="10342"/>
                  <a:pt x="8145" y="10182"/>
                </a:cubicBezTo>
                <a:lnTo>
                  <a:pt x="8145" y="9309"/>
                </a:lnTo>
                <a:cubicBezTo>
                  <a:pt x="8145" y="9148"/>
                  <a:pt x="8275" y="9018"/>
                  <a:pt x="8436" y="9018"/>
                </a:cubicBezTo>
                <a:cubicBezTo>
                  <a:pt x="8597" y="9018"/>
                  <a:pt x="8727" y="9148"/>
                  <a:pt x="8727" y="9309"/>
                </a:cubicBezTo>
                <a:lnTo>
                  <a:pt x="8727" y="9891"/>
                </a:lnTo>
                <a:lnTo>
                  <a:pt x="9018" y="9891"/>
                </a:lnTo>
                <a:cubicBezTo>
                  <a:pt x="9179" y="9891"/>
                  <a:pt x="9309" y="10021"/>
                  <a:pt x="9309" y="10182"/>
                </a:cubicBezTo>
                <a:cubicBezTo>
                  <a:pt x="9309" y="10342"/>
                  <a:pt x="9179" y="10473"/>
                  <a:pt x="9018" y="10473"/>
                </a:cubicBezTo>
                <a:close/>
                <a:moveTo>
                  <a:pt x="6400" y="7273"/>
                </a:moveTo>
                <a:cubicBezTo>
                  <a:pt x="6560" y="7273"/>
                  <a:pt x="6691" y="7403"/>
                  <a:pt x="6691" y="7564"/>
                </a:cubicBezTo>
                <a:cubicBezTo>
                  <a:pt x="6691" y="7724"/>
                  <a:pt x="6560" y="7855"/>
                  <a:pt x="6400" y="7855"/>
                </a:cubicBezTo>
                <a:lnTo>
                  <a:pt x="5236" y="7855"/>
                </a:lnTo>
                <a:lnTo>
                  <a:pt x="5236" y="9018"/>
                </a:lnTo>
                <a:cubicBezTo>
                  <a:pt x="5236" y="9179"/>
                  <a:pt x="5106" y="9309"/>
                  <a:pt x="4945" y="9309"/>
                </a:cubicBezTo>
                <a:cubicBezTo>
                  <a:pt x="4785" y="9309"/>
                  <a:pt x="4654" y="9179"/>
                  <a:pt x="4654" y="9018"/>
                </a:cubicBezTo>
                <a:lnTo>
                  <a:pt x="4654" y="7855"/>
                </a:lnTo>
                <a:lnTo>
                  <a:pt x="3491" y="7855"/>
                </a:lnTo>
                <a:cubicBezTo>
                  <a:pt x="3330" y="7855"/>
                  <a:pt x="3200" y="7724"/>
                  <a:pt x="3200" y="7564"/>
                </a:cubicBezTo>
                <a:cubicBezTo>
                  <a:pt x="3200" y="7403"/>
                  <a:pt x="3330" y="7273"/>
                  <a:pt x="3491" y="7273"/>
                </a:cubicBezTo>
                <a:lnTo>
                  <a:pt x="4654" y="7273"/>
                </a:lnTo>
                <a:lnTo>
                  <a:pt x="4654" y="6691"/>
                </a:lnTo>
                <a:lnTo>
                  <a:pt x="3491" y="6691"/>
                </a:lnTo>
                <a:cubicBezTo>
                  <a:pt x="3330" y="6691"/>
                  <a:pt x="3200" y="6561"/>
                  <a:pt x="3200" y="6400"/>
                </a:cubicBezTo>
                <a:cubicBezTo>
                  <a:pt x="3200" y="6239"/>
                  <a:pt x="3330" y="6109"/>
                  <a:pt x="3491" y="6109"/>
                </a:cubicBezTo>
                <a:lnTo>
                  <a:pt x="4260" y="6109"/>
                </a:lnTo>
                <a:lnTo>
                  <a:pt x="3283" y="5127"/>
                </a:lnTo>
                <a:cubicBezTo>
                  <a:pt x="3174" y="5017"/>
                  <a:pt x="3174" y="4840"/>
                  <a:pt x="3283" y="4730"/>
                </a:cubicBezTo>
                <a:cubicBezTo>
                  <a:pt x="3391" y="4620"/>
                  <a:pt x="3569" y="4620"/>
                  <a:pt x="3677" y="4730"/>
                </a:cubicBezTo>
                <a:lnTo>
                  <a:pt x="4803" y="5861"/>
                </a:lnTo>
                <a:cubicBezTo>
                  <a:pt x="4890" y="5803"/>
                  <a:pt x="5003" y="5803"/>
                  <a:pt x="5089" y="5861"/>
                </a:cubicBezTo>
                <a:lnTo>
                  <a:pt x="6213" y="4738"/>
                </a:lnTo>
                <a:cubicBezTo>
                  <a:pt x="6323" y="4631"/>
                  <a:pt x="6497" y="4633"/>
                  <a:pt x="6605" y="4741"/>
                </a:cubicBezTo>
                <a:cubicBezTo>
                  <a:pt x="6713" y="4849"/>
                  <a:pt x="6714" y="5023"/>
                  <a:pt x="6608" y="5133"/>
                </a:cubicBezTo>
                <a:lnTo>
                  <a:pt x="5632" y="6109"/>
                </a:lnTo>
                <a:lnTo>
                  <a:pt x="6400" y="6109"/>
                </a:lnTo>
                <a:cubicBezTo>
                  <a:pt x="6560" y="6109"/>
                  <a:pt x="6691" y="6239"/>
                  <a:pt x="6691" y="6400"/>
                </a:cubicBezTo>
                <a:cubicBezTo>
                  <a:pt x="6691" y="6561"/>
                  <a:pt x="6560" y="6691"/>
                  <a:pt x="6400" y="6691"/>
                </a:cubicBezTo>
                <a:lnTo>
                  <a:pt x="5236" y="6691"/>
                </a:lnTo>
                <a:lnTo>
                  <a:pt x="5236" y="7273"/>
                </a:lnTo>
                <a:lnTo>
                  <a:pt x="6400" y="7273"/>
                </a:lnTo>
                <a:close/>
                <a:moveTo>
                  <a:pt x="9309" y="6982"/>
                </a:moveTo>
                <a:cubicBezTo>
                  <a:pt x="8987" y="6982"/>
                  <a:pt x="8727" y="6721"/>
                  <a:pt x="8727" y="6400"/>
                </a:cubicBezTo>
                <a:lnTo>
                  <a:pt x="8727" y="2909"/>
                </a:lnTo>
                <a:cubicBezTo>
                  <a:pt x="8727" y="2588"/>
                  <a:pt x="8467" y="2327"/>
                  <a:pt x="8145" y="2327"/>
                </a:cubicBezTo>
                <a:lnTo>
                  <a:pt x="7854" y="2327"/>
                </a:lnTo>
                <a:cubicBezTo>
                  <a:pt x="7854" y="2970"/>
                  <a:pt x="7333" y="3491"/>
                  <a:pt x="6691" y="3491"/>
                </a:cubicBezTo>
                <a:lnTo>
                  <a:pt x="3200" y="3491"/>
                </a:lnTo>
                <a:cubicBezTo>
                  <a:pt x="2557" y="3491"/>
                  <a:pt x="2036" y="2970"/>
                  <a:pt x="2036" y="2327"/>
                </a:cubicBezTo>
                <a:lnTo>
                  <a:pt x="1745" y="2327"/>
                </a:lnTo>
                <a:cubicBezTo>
                  <a:pt x="1424" y="2327"/>
                  <a:pt x="1163" y="2588"/>
                  <a:pt x="1163" y="2909"/>
                </a:cubicBezTo>
                <a:lnTo>
                  <a:pt x="1163" y="11055"/>
                </a:lnTo>
                <a:cubicBezTo>
                  <a:pt x="1163" y="11376"/>
                  <a:pt x="1424" y="11636"/>
                  <a:pt x="1745" y="11636"/>
                </a:cubicBezTo>
                <a:lnTo>
                  <a:pt x="4654" y="11636"/>
                </a:lnTo>
                <a:cubicBezTo>
                  <a:pt x="4976" y="11636"/>
                  <a:pt x="5236" y="11897"/>
                  <a:pt x="5236" y="12218"/>
                </a:cubicBezTo>
                <a:cubicBezTo>
                  <a:pt x="5236" y="12539"/>
                  <a:pt x="4976" y="12800"/>
                  <a:pt x="4654" y="12800"/>
                </a:cubicBezTo>
                <a:lnTo>
                  <a:pt x="1163" y="12800"/>
                </a:lnTo>
                <a:cubicBezTo>
                  <a:pt x="521" y="12800"/>
                  <a:pt x="0" y="12279"/>
                  <a:pt x="0" y="11636"/>
                </a:cubicBezTo>
                <a:lnTo>
                  <a:pt x="0" y="2327"/>
                </a:lnTo>
                <a:cubicBezTo>
                  <a:pt x="0" y="1685"/>
                  <a:pt x="521" y="1164"/>
                  <a:pt x="1163" y="1164"/>
                </a:cubicBezTo>
                <a:lnTo>
                  <a:pt x="2036" y="1164"/>
                </a:lnTo>
                <a:cubicBezTo>
                  <a:pt x="2036" y="521"/>
                  <a:pt x="2557" y="0"/>
                  <a:pt x="3200" y="0"/>
                </a:cubicBezTo>
                <a:lnTo>
                  <a:pt x="6691" y="0"/>
                </a:lnTo>
                <a:cubicBezTo>
                  <a:pt x="7333" y="0"/>
                  <a:pt x="7854" y="521"/>
                  <a:pt x="7854" y="1164"/>
                </a:cubicBezTo>
                <a:lnTo>
                  <a:pt x="8727" y="1164"/>
                </a:lnTo>
                <a:cubicBezTo>
                  <a:pt x="9370" y="1164"/>
                  <a:pt x="9891" y="1685"/>
                  <a:pt x="9891" y="2327"/>
                </a:cubicBezTo>
                <a:lnTo>
                  <a:pt x="9891" y="6400"/>
                </a:lnTo>
                <a:cubicBezTo>
                  <a:pt x="9891" y="6721"/>
                  <a:pt x="9630" y="6982"/>
                  <a:pt x="9309" y="6982"/>
                </a:cubicBezTo>
                <a:close/>
                <a:moveTo>
                  <a:pt x="6691" y="1455"/>
                </a:moveTo>
                <a:cubicBezTo>
                  <a:pt x="6691" y="1294"/>
                  <a:pt x="6560" y="1164"/>
                  <a:pt x="6400" y="1164"/>
                </a:cubicBezTo>
                <a:lnTo>
                  <a:pt x="3491" y="1164"/>
                </a:lnTo>
                <a:cubicBezTo>
                  <a:pt x="3330" y="1164"/>
                  <a:pt x="3200" y="1294"/>
                  <a:pt x="3200" y="1455"/>
                </a:cubicBezTo>
                <a:lnTo>
                  <a:pt x="3200" y="2036"/>
                </a:lnTo>
                <a:cubicBezTo>
                  <a:pt x="3200" y="2197"/>
                  <a:pt x="3330" y="2327"/>
                  <a:pt x="3491" y="2327"/>
                </a:cubicBezTo>
                <a:lnTo>
                  <a:pt x="6400" y="2327"/>
                </a:lnTo>
                <a:cubicBezTo>
                  <a:pt x="6560" y="2327"/>
                  <a:pt x="6691" y="2197"/>
                  <a:pt x="6691" y="2036"/>
                </a:cubicBezTo>
                <a:lnTo>
                  <a:pt x="6691" y="1455"/>
                </a:lnTo>
                <a:close/>
              </a:path>
            </a:pathLst>
          </a:custGeom>
          <a:solidFill>
            <a:schemeClr val="accent1"/>
          </a:solidFill>
          <a:ln>
            <a:noFill/>
          </a:ln>
        </p:spPr>
        <p:txBody>
          <a:bodyPr/>
          <a:lstStyle/>
          <a:p>
            <a:endParaRPr lang="zh-CN" altLang="en-US"/>
          </a:p>
        </p:txBody>
      </p:sp>
      <p:sp>
        <p:nvSpPr>
          <p:cNvPr id="9" name="矩形 24"/>
          <p:cNvSpPr>
            <a:spLocks noChangeArrowheads="1"/>
          </p:cNvSpPr>
          <p:nvPr/>
        </p:nvSpPr>
        <p:spPr bwMode="auto">
          <a:xfrm>
            <a:off x="1218434" y="2751815"/>
            <a:ext cx="2041156" cy="507831"/>
          </a:xfrm>
          <a:prstGeom prst="rect">
            <a:avLst/>
          </a:prstGeom>
          <a:noFill/>
          <a:ln w="9525">
            <a:noFill/>
            <a:miter lim="800000"/>
            <a:headEnd/>
            <a:tailEnd/>
          </a:ln>
        </p:spPr>
        <p:txBody>
          <a:bodyPr wrap="square">
            <a:spAutoFit/>
          </a:bodyPr>
          <a:lstStyle/>
          <a:p>
            <a:pPr>
              <a:lnSpc>
                <a:spcPct val="150000"/>
              </a:lnSpc>
            </a:pPr>
            <a:r>
              <a:rPr lang="zh-CN" altLang="en-US" sz="1800" dirty="0" smtClean="0">
                <a:latin typeface="微软雅黑" pitchFamily="34" charset="-122"/>
                <a:ea typeface="微软雅黑" pitchFamily="34" charset="-122"/>
              </a:rPr>
              <a:t>盘子大小</a:t>
            </a:r>
            <a:endParaRPr lang="zh-CN" altLang="en-US" sz="1800" dirty="0">
              <a:latin typeface="微软雅黑" pitchFamily="34" charset="-122"/>
              <a:ea typeface="微软雅黑" pitchFamily="34" charset="-122"/>
            </a:endParaRPr>
          </a:p>
        </p:txBody>
      </p:sp>
      <p:sp>
        <p:nvSpPr>
          <p:cNvPr id="10" name="iconfont-1186-567130"/>
          <p:cNvSpPr>
            <a:spLocks noChangeAspect="1"/>
          </p:cNvSpPr>
          <p:nvPr/>
        </p:nvSpPr>
        <p:spPr bwMode="auto">
          <a:xfrm>
            <a:off x="3870505" y="2520330"/>
            <a:ext cx="658153" cy="881162"/>
          </a:xfrm>
          <a:custGeom>
            <a:avLst/>
            <a:gdLst>
              <a:gd name="T0" fmla="*/ 9460 w 11005"/>
              <a:gd name="T1" fmla="*/ 7916 h 12825"/>
              <a:gd name="T2" fmla="*/ 10232 w 11005"/>
              <a:gd name="T3" fmla="*/ 8715 h 12825"/>
              <a:gd name="T4" fmla="*/ 11005 w 11005"/>
              <a:gd name="T5" fmla="*/ 7916 h 12825"/>
              <a:gd name="T6" fmla="*/ 11005 w 11005"/>
              <a:gd name="T7" fmla="*/ 4827 h 12825"/>
              <a:gd name="T8" fmla="*/ 10232 w 11005"/>
              <a:gd name="T9" fmla="*/ 4027 h 12825"/>
              <a:gd name="T10" fmla="*/ 9460 w 11005"/>
              <a:gd name="T11" fmla="*/ 4827 h 12825"/>
              <a:gd name="T12" fmla="*/ 9460 w 11005"/>
              <a:gd name="T13" fmla="*/ 7916 h 12825"/>
              <a:gd name="T14" fmla="*/ 6647 w 11005"/>
              <a:gd name="T15" fmla="*/ 2234 h 12825"/>
              <a:gd name="T16" fmla="*/ 7033 w 11005"/>
              <a:gd name="T17" fmla="*/ 1848 h 12825"/>
              <a:gd name="T18" fmla="*/ 7419 w 11005"/>
              <a:gd name="T19" fmla="*/ 2234 h 12825"/>
              <a:gd name="T20" fmla="*/ 7033 w 11005"/>
              <a:gd name="T21" fmla="*/ 2620 h 12825"/>
              <a:gd name="T22" fmla="*/ 6647 w 11005"/>
              <a:gd name="T23" fmla="*/ 2234 h 12825"/>
              <a:gd name="T24" fmla="*/ 3668 w 11005"/>
              <a:gd name="T25" fmla="*/ 2234 h 12825"/>
              <a:gd name="T26" fmla="*/ 4054 w 11005"/>
              <a:gd name="T27" fmla="*/ 1848 h 12825"/>
              <a:gd name="T28" fmla="*/ 4440 w 11005"/>
              <a:gd name="T29" fmla="*/ 2234 h 12825"/>
              <a:gd name="T30" fmla="*/ 4054 w 11005"/>
              <a:gd name="T31" fmla="*/ 2620 h 12825"/>
              <a:gd name="T32" fmla="*/ 3668 w 11005"/>
              <a:gd name="T33" fmla="*/ 2234 h 12825"/>
              <a:gd name="T34" fmla="*/ 2041 w 11005"/>
              <a:gd name="T35" fmla="*/ 9708 h 12825"/>
              <a:gd name="T36" fmla="*/ 2648 w 11005"/>
              <a:gd name="T37" fmla="*/ 10315 h 12825"/>
              <a:gd name="T38" fmla="*/ 3337 w 11005"/>
              <a:gd name="T39" fmla="*/ 10315 h 12825"/>
              <a:gd name="T40" fmla="*/ 3337 w 11005"/>
              <a:gd name="T41" fmla="*/ 12025 h 12825"/>
              <a:gd name="T42" fmla="*/ 4109 w 11005"/>
              <a:gd name="T43" fmla="*/ 12825 h 12825"/>
              <a:gd name="T44" fmla="*/ 4882 w 11005"/>
              <a:gd name="T45" fmla="*/ 12025 h 12825"/>
              <a:gd name="T46" fmla="*/ 4882 w 11005"/>
              <a:gd name="T47" fmla="*/ 10315 h 12825"/>
              <a:gd name="T48" fmla="*/ 6095 w 11005"/>
              <a:gd name="T49" fmla="*/ 10315 h 12825"/>
              <a:gd name="T50" fmla="*/ 6095 w 11005"/>
              <a:gd name="T51" fmla="*/ 12025 h 12825"/>
              <a:gd name="T52" fmla="*/ 6867 w 11005"/>
              <a:gd name="T53" fmla="*/ 12825 h 12825"/>
              <a:gd name="T54" fmla="*/ 7640 w 11005"/>
              <a:gd name="T55" fmla="*/ 12025 h 12825"/>
              <a:gd name="T56" fmla="*/ 7640 w 11005"/>
              <a:gd name="T57" fmla="*/ 10315 h 12825"/>
              <a:gd name="T58" fmla="*/ 8329 w 11005"/>
              <a:gd name="T59" fmla="*/ 10315 h 12825"/>
              <a:gd name="T60" fmla="*/ 8936 w 11005"/>
              <a:gd name="T61" fmla="*/ 9708 h 12825"/>
              <a:gd name="T62" fmla="*/ 8936 w 11005"/>
              <a:gd name="T63" fmla="*/ 4054 h 12825"/>
              <a:gd name="T64" fmla="*/ 2041 w 11005"/>
              <a:gd name="T65" fmla="*/ 4054 h 12825"/>
              <a:gd name="T66" fmla="*/ 2041 w 11005"/>
              <a:gd name="T67" fmla="*/ 9708 h 12825"/>
              <a:gd name="T68" fmla="*/ 9019 w 11005"/>
              <a:gd name="T69" fmla="*/ 3585 h 12825"/>
              <a:gd name="T70" fmla="*/ 7198 w 11005"/>
              <a:gd name="T71" fmla="*/ 1158 h 12825"/>
              <a:gd name="T72" fmla="*/ 7833 w 11005"/>
              <a:gd name="T73" fmla="*/ 221 h 12825"/>
              <a:gd name="T74" fmla="*/ 7805 w 11005"/>
              <a:gd name="T75" fmla="*/ 55 h 12825"/>
              <a:gd name="T76" fmla="*/ 7640 w 11005"/>
              <a:gd name="T77" fmla="*/ 83 h 12825"/>
              <a:gd name="T78" fmla="*/ 6978 w 11005"/>
              <a:gd name="T79" fmla="*/ 1048 h 12825"/>
              <a:gd name="T80" fmla="*/ 5544 w 11005"/>
              <a:gd name="T81" fmla="*/ 772 h 12825"/>
              <a:gd name="T82" fmla="*/ 4082 w 11005"/>
              <a:gd name="T83" fmla="*/ 1048 h 12825"/>
              <a:gd name="T84" fmla="*/ 3420 w 11005"/>
              <a:gd name="T85" fmla="*/ 83 h 12825"/>
              <a:gd name="T86" fmla="*/ 3254 w 11005"/>
              <a:gd name="T87" fmla="*/ 55 h 12825"/>
              <a:gd name="T88" fmla="*/ 3227 w 11005"/>
              <a:gd name="T89" fmla="*/ 221 h 12825"/>
              <a:gd name="T90" fmla="*/ 3861 w 11005"/>
              <a:gd name="T91" fmla="*/ 1158 h 12825"/>
              <a:gd name="T92" fmla="*/ 2041 w 11005"/>
              <a:gd name="T93" fmla="*/ 3585 h 12825"/>
              <a:gd name="T94" fmla="*/ 9019 w 11005"/>
              <a:gd name="T95" fmla="*/ 3585 h 12825"/>
              <a:gd name="T96" fmla="*/ 0 w 11005"/>
              <a:gd name="T97" fmla="*/ 7916 h 12825"/>
              <a:gd name="T98" fmla="*/ 772 w 11005"/>
              <a:gd name="T99" fmla="*/ 8715 h 12825"/>
              <a:gd name="T100" fmla="*/ 1544 w 11005"/>
              <a:gd name="T101" fmla="*/ 7916 h 12825"/>
              <a:gd name="T102" fmla="*/ 1544 w 11005"/>
              <a:gd name="T103" fmla="*/ 4827 h 12825"/>
              <a:gd name="T104" fmla="*/ 772 w 11005"/>
              <a:gd name="T105" fmla="*/ 4027 h 12825"/>
              <a:gd name="T106" fmla="*/ 0 w 11005"/>
              <a:gd name="T107" fmla="*/ 4827 h 12825"/>
              <a:gd name="T108" fmla="*/ 0 w 11005"/>
              <a:gd name="T109" fmla="*/ 7916 h 12825"/>
              <a:gd name="T110" fmla="*/ 0 w 11005"/>
              <a:gd name="T111" fmla="*/ 7916 h 128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1005" h="12825">
                <a:moveTo>
                  <a:pt x="9460" y="7916"/>
                </a:moveTo>
                <a:cubicBezTo>
                  <a:pt x="9460" y="8357"/>
                  <a:pt x="9819" y="8715"/>
                  <a:pt x="10232" y="8715"/>
                </a:cubicBezTo>
                <a:cubicBezTo>
                  <a:pt x="10674" y="8715"/>
                  <a:pt x="11005" y="8357"/>
                  <a:pt x="11005" y="7916"/>
                </a:cubicBezTo>
                <a:lnTo>
                  <a:pt x="11005" y="4827"/>
                </a:lnTo>
                <a:cubicBezTo>
                  <a:pt x="11005" y="4385"/>
                  <a:pt x="10646" y="4027"/>
                  <a:pt x="10232" y="4027"/>
                </a:cubicBezTo>
                <a:cubicBezTo>
                  <a:pt x="9791" y="4027"/>
                  <a:pt x="9460" y="4385"/>
                  <a:pt x="9460" y="4827"/>
                </a:cubicBezTo>
                <a:lnTo>
                  <a:pt x="9460" y="7916"/>
                </a:lnTo>
                <a:close/>
                <a:moveTo>
                  <a:pt x="6647" y="2234"/>
                </a:moveTo>
                <a:cubicBezTo>
                  <a:pt x="6647" y="2013"/>
                  <a:pt x="6812" y="1848"/>
                  <a:pt x="7033" y="1848"/>
                </a:cubicBezTo>
                <a:cubicBezTo>
                  <a:pt x="7254" y="1848"/>
                  <a:pt x="7419" y="2013"/>
                  <a:pt x="7419" y="2234"/>
                </a:cubicBezTo>
                <a:cubicBezTo>
                  <a:pt x="7419" y="2455"/>
                  <a:pt x="7254" y="2620"/>
                  <a:pt x="7033" y="2620"/>
                </a:cubicBezTo>
                <a:cubicBezTo>
                  <a:pt x="6812" y="2620"/>
                  <a:pt x="6647" y="2455"/>
                  <a:pt x="6647" y="2234"/>
                </a:cubicBezTo>
                <a:close/>
                <a:moveTo>
                  <a:pt x="3668" y="2234"/>
                </a:moveTo>
                <a:cubicBezTo>
                  <a:pt x="3668" y="2013"/>
                  <a:pt x="3834" y="1848"/>
                  <a:pt x="4054" y="1848"/>
                </a:cubicBezTo>
                <a:cubicBezTo>
                  <a:pt x="4275" y="1848"/>
                  <a:pt x="4440" y="2013"/>
                  <a:pt x="4440" y="2234"/>
                </a:cubicBezTo>
                <a:cubicBezTo>
                  <a:pt x="4440" y="2455"/>
                  <a:pt x="4275" y="2620"/>
                  <a:pt x="4054" y="2620"/>
                </a:cubicBezTo>
                <a:cubicBezTo>
                  <a:pt x="3834" y="2620"/>
                  <a:pt x="3668" y="2455"/>
                  <a:pt x="3668" y="2234"/>
                </a:cubicBezTo>
                <a:close/>
                <a:moveTo>
                  <a:pt x="2041" y="9708"/>
                </a:moveTo>
                <a:cubicBezTo>
                  <a:pt x="2041" y="10039"/>
                  <a:pt x="2317" y="10315"/>
                  <a:pt x="2648" y="10315"/>
                </a:cubicBezTo>
                <a:lnTo>
                  <a:pt x="3337" y="10315"/>
                </a:lnTo>
                <a:lnTo>
                  <a:pt x="3337" y="12025"/>
                </a:lnTo>
                <a:cubicBezTo>
                  <a:pt x="3337" y="12466"/>
                  <a:pt x="3668" y="12825"/>
                  <a:pt x="4109" y="12825"/>
                </a:cubicBezTo>
                <a:cubicBezTo>
                  <a:pt x="4523" y="12825"/>
                  <a:pt x="4882" y="12466"/>
                  <a:pt x="4882" y="12025"/>
                </a:cubicBezTo>
                <a:lnTo>
                  <a:pt x="4882" y="10315"/>
                </a:lnTo>
                <a:lnTo>
                  <a:pt x="6095" y="10315"/>
                </a:lnTo>
                <a:lnTo>
                  <a:pt x="6095" y="12025"/>
                </a:lnTo>
                <a:cubicBezTo>
                  <a:pt x="6095" y="12466"/>
                  <a:pt x="6426" y="12825"/>
                  <a:pt x="6867" y="12825"/>
                </a:cubicBezTo>
                <a:cubicBezTo>
                  <a:pt x="7309" y="12825"/>
                  <a:pt x="7640" y="12466"/>
                  <a:pt x="7640" y="12025"/>
                </a:cubicBezTo>
                <a:lnTo>
                  <a:pt x="7640" y="10315"/>
                </a:lnTo>
                <a:lnTo>
                  <a:pt x="8329" y="10315"/>
                </a:lnTo>
                <a:cubicBezTo>
                  <a:pt x="8688" y="10315"/>
                  <a:pt x="8936" y="10039"/>
                  <a:pt x="8936" y="9708"/>
                </a:cubicBezTo>
                <a:lnTo>
                  <a:pt x="8936" y="4054"/>
                </a:lnTo>
                <a:lnTo>
                  <a:pt x="2041" y="4054"/>
                </a:lnTo>
                <a:lnTo>
                  <a:pt x="2041" y="9708"/>
                </a:lnTo>
                <a:close/>
                <a:moveTo>
                  <a:pt x="9019" y="3585"/>
                </a:moveTo>
                <a:cubicBezTo>
                  <a:pt x="8908" y="2510"/>
                  <a:pt x="8219" y="1627"/>
                  <a:pt x="7198" y="1158"/>
                </a:cubicBezTo>
                <a:lnTo>
                  <a:pt x="7833" y="221"/>
                </a:lnTo>
                <a:cubicBezTo>
                  <a:pt x="7888" y="165"/>
                  <a:pt x="7860" y="83"/>
                  <a:pt x="7805" y="55"/>
                </a:cubicBezTo>
                <a:cubicBezTo>
                  <a:pt x="7750" y="27"/>
                  <a:pt x="7695" y="55"/>
                  <a:pt x="7640" y="83"/>
                </a:cubicBezTo>
                <a:lnTo>
                  <a:pt x="6978" y="1048"/>
                </a:lnTo>
                <a:cubicBezTo>
                  <a:pt x="6536" y="882"/>
                  <a:pt x="6040" y="772"/>
                  <a:pt x="5544" y="772"/>
                </a:cubicBezTo>
                <a:cubicBezTo>
                  <a:pt x="5020" y="772"/>
                  <a:pt x="4523" y="882"/>
                  <a:pt x="4082" y="1048"/>
                </a:cubicBezTo>
                <a:lnTo>
                  <a:pt x="3420" y="83"/>
                </a:lnTo>
                <a:cubicBezTo>
                  <a:pt x="3365" y="27"/>
                  <a:pt x="3310" y="0"/>
                  <a:pt x="3254" y="55"/>
                </a:cubicBezTo>
                <a:cubicBezTo>
                  <a:pt x="3199" y="83"/>
                  <a:pt x="3199" y="165"/>
                  <a:pt x="3227" y="221"/>
                </a:cubicBezTo>
                <a:lnTo>
                  <a:pt x="3861" y="1158"/>
                </a:lnTo>
                <a:cubicBezTo>
                  <a:pt x="2841" y="1627"/>
                  <a:pt x="2124" y="2510"/>
                  <a:pt x="2041" y="3585"/>
                </a:cubicBezTo>
                <a:lnTo>
                  <a:pt x="9019" y="3585"/>
                </a:lnTo>
                <a:close/>
                <a:moveTo>
                  <a:pt x="0" y="7916"/>
                </a:moveTo>
                <a:cubicBezTo>
                  <a:pt x="0" y="8357"/>
                  <a:pt x="331" y="8715"/>
                  <a:pt x="772" y="8715"/>
                </a:cubicBezTo>
                <a:cubicBezTo>
                  <a:pt x="1186" y="8715"/>
                  <a:pt x="1544" y="8357"/>
                  <a:pt x="1544" y="7916"/>
                </a:cubicBezTo>
                <a:lnTo>
                  <a:pt x="1544" y="4827"/>
                </a:lnTo>
                <a:cubicBezTo>
                  <a:pt x="1544" y="4385"/>
                  <a:pt x="1186" y="4027"/>
                  <a:pt x="772" y="4027"/>
                </a:cubicBezTo>
                <a:cubicBezTo>
                  <a:pt x="331" y="4027"/>
                  <a:pt x="0" y="4385"/>
                  <a:pt x="0" y="4827"/>
                </a:cubicBezTo>
                <a:lnTo>
                  <a:pt x="0" y="7916"/>
                </a:lnTo>
                <a:close/>
                <a:moveTo>
                  <a:pt x="0" y="7916"/>
                </a:moveTo>
                <a:close/>
              </a:path>
            </a:pathLst>
          </a:custGeom>
          <a:solidFill>
            <a:schemeClr val="accent1"/>
          </a:solidFill>
          <a:ln>
            <a:noFill/>
          </a:ln>
        </p:spPr>
      </p:sp>
      <p:sp>
        <p:nvSpPr>
          <p:cNvPr id="11" name="矩形 24"/>
          <p:cNvSpPr>
            <a:spLocks noChangeArrowheads="1"/>
          </p:cNvSpPr>
          <p:nvPr/>
        </p:nvSpPr>
        <p:spPr bwMode="auto">
          <a:xfrm>
            <a:off x="4512337" y="2565335"/>
            <a:ext cx="2041156" cy="874407"/>
          </a:xfrm>
          <a:prstGeom prst="rect">
            <a:avLst/>
          </a:prstGeom>
          <a:noFill/>
          <a:ln w="9525">
            <a:noFill/>
            <a:miter lim="800000"/>
            <a:headEnd/>
            <a:tailEnd/>
          </a:ln>
        </p:spPr>
        <p:txBody>
          <a:bodyPr wrap="square">
            <a:spAutoFit/>
          </a:bodyPr>
          <a:lstStyle/>
          <a:p>
            <a:pPr>
              <a:lnSpc>
                <a:spcPct val="150000"/>
              </a:lnSpc>
            </a:pPr>
            <a:r>
              <a:rPr lang="zh-CN" altLang="en-US" sz="1800" dirty="0" smtClean="0">
                <a:latin typeface="微软雅黑" pitchFamily="34" charset="-122"/>
                <a:ea typeface="微软雅黑" pitchFamily="34" charset="-122"/>
              </a:rPr>
              <a:t>盘子大小</a:t>
            </a:r>
            <a:endParaRPr lang="en-US" altLang="zh-CN" sz="1800" dirty="0" smtClean="0">
              <a:latin typeface="微软雅黑" pitchFamily="34" charset="-122"/>
              <a:ea typeface="微软雅黑" pitchFamily="34" charset="-122"/>
            </a:endParaRPr>
          </a:p>
          <a:p>
            <a:pPr>
              <a:lnSpc>
                <a:spcPct val="150000"/>
              </a:lnSpc>
            </a:pPr>
            <a:r>
              <a:rPr lang="zh-CN" altLang="en-US" sz="1800" dirty="0" smtClean="0">
                <a:latin typeface="微软雅黑" pitchFamily="34" charset="-122"/>
                <a:ea typeface="微软雅黑" pitchFamily="34" charset="-122"/>
              </a:rPr>
              <a:t>健康度</a:t>
            </a:r>
            <a:endParaRPr lang="zh-CN" altLang="en-US" sz="1800" dirty="0">
              <a:latin typeface="微软雅黑" pitchFamily="34" charset="-122"/>
              <a:ea typeface="微软雅黑" pitchFamily="34" charset="-122"/>
            </a:endParaRPr>
          </a:p>
        </p:txBody>
      </p:sp>
      <p:sp>
        <p:nvSpPr>
          <p:cNvPr id="12" name="iconfont-1191-866883"/>
          <p:cNvSpPr>
            <a:spLocks noChangeAspect="1"/>
          </p:cNvSpPr>
          <p:nvPr/>
        </p:nvSpPr>
        <p:spPr bwMode="auto">
          <a:xfrm>
            <a:off x="7086245" y="2520330"/>
            <a:ext cx="879715" cy="881162"/>
          </a:xfrm>
          <a:custGeom>
            <a:avLst/>
            <a:gdLst>
              <a:gd name="T0" fmla="*/ 2709 w 7873"/>
              <a:gd name="T1" fmla="*/ 1592 h 7791"/>
              <a:gd name="T2" fmla="*/ 5329 w 7873"/>
              <a:gd name="T3" fmla="*/ 1624 h 7791"/>
              <a:gd name="T4" fmla="*/ 5782 w 7873"/>
              <a:gd name="T5" fmla="*/ 969 h 7791"/>
              <a:gd name="T6" fmla="*/ 5477 w 7873"/>
              <a:gd name="T7" fmla="*/ 432 h 7791"/>
              <a:gd name="T8" fmla="*/ 4004 w 7873"/>
              <a:gd name="T9" fmla="*/ 13 h 7791"/>
              <a:gd name="T10" fmla="*/ 2709 w 7873"/>
              <a:gd name="T11" fmla="*/ 368 h 7791"/>
              <a:gd name="T12" fmla="*/ 2352 w 7873"/>
              <a:gd name="T13" fmla="*/ 840 h 7791"/>
              <a:gd name="T14" fmla="*/ 2709 w 7873"/>
              <a:gd name="T15" fmla="*/ 1592 h 7791"/>
              <a:gd name="T16" fmla="*/ 2699 w 7873"/>
              <a:gd name="T17" fmla="*/ 2258 h 7791"/>
              <a:gd name="T18" fmla="*/ 3046 w 7873"/>
              <a:gd name="T19" fmla="*/ 2376 h 7791"/>
              <a:gd name="T20" fmla="*/ 3351 w 7873"/>
              <a:gd name="T21" fmla="*/ 2537 h 7791"/>
              <a:gd name="T22" fmla="*/ 4656 w 7873"/>
              <a:gd name="T23" fmla="*/ 2570 h 7791"/>
              <a:gd name="T24" fmla="*/ 5624 w 7873"/>
              <a:gd name="T25" fmla="*/ 2076 h 7791"/>
              <a:gd name="T26" fmla="*/ 5782 w 7873"/>
              <a:gd name="T27" fmla="*/ 1335 h 7791"/>
              <a:gd name="T28" fmla="*/ 5698 w 7873"/>
              <a:gd name="T29" fmla="*/ 1592 h 7791"/>
              <a:gd name="T30" fmla="*/ 2331 w 7873"/>
              <a:gd name="T31" fmla="*/ 1335 h 7791"/>
              <a:gd name="T32" fmla="*/ 2699 w 7873"/>
              <a:gd name="T33" fmla="*/ 2258 h 7791"/>
              <a:gd name="T34" fmla="*/ 3730 w 7873"/>
              <a:gd name="T35" fmla="*/ 2903 h 7791"/>
              <a:gd name="T36" fmla="*/ 3888 w 7873"/>
              <a:gd name="T37" fmla="*/ 3300 h 7791"/>
              <a:gd name="T38" fmla="*/ 4414 w 7873"/>
              <a:gd name="T39" fmla="*/ 3128 h 7791"/>
              <a:gd name="T40" fmla="*/ 5519 w 7873"/>
              <a:gd name="T41" fmla="*/ 2849 h 7791"/>
              <a:gd name="T42" fmla="*/ 5782 w 7873"/>
              <a:gd name="T43" fmla="*/ 2011 h 7791"/>
              <a:gd name="T44" fmla="*/ 5761 w 7873"/>
              <a:gd name="T45" fmla="*/ 2140 h 7791"/>
              <a:gd name="T46" fmla="*/ 3730 w 7873"/>
              <a:gd name="T47" fmla="*/ 2903 h 7791"/>
              <a:gd name="T48" fmla="*/ 3330 w 7873"/>
              <a:gd name="T49" fmla="*/ 2967 h 7791"/>
              <a:gd name="T50" fmla="*/ 1752 w 7873"/>
              <a:gd name="T51" fmla="*/ 2494 h 7791"/>
              <a:gd name="T52" fmla="*/ 742 w 7873"/>
              <a:gd name="T53" fmla="*/ 2709 h 7791"/>
              <a:gd name="T54" fmla="*/ 152 w 7873"/>
              <a:gd name="T55" fmla="*/ 3644 h 7791"/>
              <a:gd name="T56" fmla="*/ 1815 w 7873"/>
              <a:gd name="T57" fmla="*/ 4428 h 7791"/>
              <a:gd name="T58" fmla="*/ 3530 w 7873"/>
              <a:gd name="T59" fmla="*/ 3687 h 7791"/>
              <a:gd name="T60" fmla="*/ 3330 w 7873"/>
              <a:gd name="T61" fmla="*/ 2967 h 7791"/>
              <a:gd name="T62" fmla="*/ 3236 w 7873"/>
              <a:gd name="T63" fmla="*/ 4267 h 7791"/>
              <a:gd name="T64" fmla="*/ 100 w 7873"/>
              <a:gd name="T65" fmla="*/ 3837 h 7791"/>
              <a:gd name="T66" fmla="*/ 289 w 7873"/>
              <a:gd name="T67" fmla="*/ 4567 h 7791"/>
              <a:gd name="T68" fmla="*/ 3036 w 7873"/>
              <a:gd name="T69" fmla="*/ 4825 h 7791"/>
              <a:gd name="T70" fmla="*/ 3288 w 7873"/>
              <a:gd name="T71" fmla="*/ 4234 h 7791"/>
              <a:gd name="T72" fmla="*/ 3236 w 7873"/>
              <a:gd name="T73" fmla="*/ 4267 h 7791"/>
              <a:gd name="T74" fmla="*/ 7676 w 7873"/>
              <a:gd name="T75" fmla="*/ 4686 h 7791"/>
              <a:gd name="T76" fmla="*/ 5708 w 7873"/>
              <a:gd name="T77" fmla="*/ 3407 h 7791"/>
              <a:gd name="T78" fmla="*/ 4193 w 7873"/>
              <a:gd name="T79" fmla="*/ 4063 h 7791"/>
              <a:gd name="T80" fmla="*/ 3572 w 7873"/>
              <a:gd name="T81" fmla="*/ 5620 h 7791"/>
              <a:gd name="T82" fmla="*/ 4214 w 7873"/>
              <a:gd name="T83" fmla="*/ 7145 h 7791"/>
              <a:gd name="T84" fmla="*/ 5740 w 7873"/>
              <a:gd name="T85" fmla="*/ 7779 h 7791"/>
              <a:gd name="T86" fmla="*/ 7245 w 7873"/>
              <a:gd name="T87" fmla="*/ 7134 h 7791"/>
              <a:gd name="T88" fmla="*/ 7866 w 7873"/>
              <a:gd name="T89" fmla="*/ 5577 h 7791"/>
              <a:gd name="T90" fmla="*/ 7676 w 7873"/>
              <a:gd name="T91" fmla="*/ 4686 h 7791"/>
              <a:gd name="T92" fmla="*/ 5719 w 7873"/>
              <a:gd name="T93" fmla="*/ 6286 h 7791"/>
              <a:gd name="T94" fmla="*/ 4267 w 7873"/>
              <a:gd name="T95" fmla="*/ 5953 h 7791"/>
              <a:gd name="T96" fmla="*/ 4330 w 7873"/>
              <a:gd name="T97" fmla="*/ 5556 h 7791"/>
              <a:gd name="T98" fmla="*/ 5603 w 7873"/>
              <a:gd name="T99" fmla="*/ 5867 h 7791"/>
              <a:gd name="T100" fmla="*/ 6908 w 7873"/>
              <a:gd name="T101" fmla="*/ 3977 h 7791"/>
              <a:gd name="T102" fmla="*/ 7255 w 7873"/>
              <a:gd name="T103" fmla="*/ 4535 h 7791"/>
              <a:gd name="T104" fmla="*/ 5719 w 7873"/>
              <a:gd name="T105" fmla="*/ 6286 h 7791"/>
              <a:gd name="T106" fmla="*/ 121 w 7873"/>
              <a:gd name="T107" fmla="*/ 4492 h 7791"/>
              <a:gd name="T108" fmla="*/ 152 w 7873"/>
              <a:gd name="T109" fmla="*/ 5008 h 7791"/>
              <a:gd name="T110" fmla="*/ 1310 w 7873"/>
              <a:gd name="T111" fmla="*/ 5738 h 7791"/>
              <a:gd name="T112" fmla="*/ 2930 w 7873"/>
              <a:gd name="T113" fmla="*/ 5566 h 7791"/>
              <a:gd name="T114" fmla="*/ 2962 w 7873"/>
              <a:gd name="T115" fmla="*/ 5169 h 7791"/>
              <a:gd name="T116" fmla="*/ 121 w 7873"/>
              <a:gd name="T117" fmla="*/ 4492 h 77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7873" h="7791">
                <a:moveTo>
                  <a:pt x="2709" y="1592"/>
                </a:moveTo>
                <a:cubicBezTo>
                  <a:pt x="3377" y="2060"/>
                  <a:pt x="4681" y="2036"/>
                  <a:pt x="5329" y="1624"/>
                </a:cubicBezTo>
                <a:cubicBezTo>
                  <a:pt x="5545" y="1487"/>
                  <a:pt x="5785" y="1286"/>
                  <a:pt x="5782" y="969"/>
                </a:cubicBezTo>
                <a:cubicBezTo>
                  <a:pt x="5780" y="712"/>
                  <a:pt x="5610" y="541"/>
                  <a:pt x="5477" y="432"/>
                </a:cubicBezTo>
                <a:cubicBezTo>
                  <a:pt x="5134" y="153"/>
                  <a:pt x="4575" y="0"/>
                  <a:pt x="4004" y="13"/>
                </a:cubicBezTo>
                <a:cubicBezTo>
                  <a:pt x="3452" y="27"/>
                  <a:pt x="3028" y="142"/>
                  <a:pt x="2709" y="368"/>
                </a:cubicBezTo>
                <a:cubicBezTo>
                  <a:pt x="2579" y="460"/>
                  <a:pt x="2397" y="651"/>
                  <a:pt x="2352" y="840"/>
                </a:cubicBezTo>
                <a:cubicBezTo>
                  <a:pt x="2268" y="1188"/>
                  <a:pt x="2508" y="1452"/>
                  <a:pt x="2709" y="1592"/>
                </a:cubicBezTo>
                <a:close/>
                <a:moveTo>
                  <a:pt x="2699" y="2258"/>
                </a:moveTo>
                <a:cubicBezTo>
                  <a:pt x="2797" y="2310"/>
                  <a:pt x="2931" y="2327"/>
                  <a:pt x="3046" y="2376"/>
                </a:cubicBezTo>
                <a:cubicBezTo>
                  <a:pt x="3149" y="2421"/>
                  <a:pt x="3244" y="2499"/>
                  <a:pt x="3351" y="2537"/>
                </a:cubicBezTo>
                <a:cubicBezTo>
                  <a:pt x="3702" y="2664"/>
                  <a:pt x="4247" y="2653"/>
                  <a:pt x="4656" y="2570"/>
                </a:cubicBezTo>
                <a:cubicBezTo>
                  <a:pt x="5060" y="2487"/>
                  <a:pt x="5429" y="2312"/>
                  <a:pt x="5624" y="2076"/>
                </a:cubicBezTo>
                <a:cubicBezTo>
                  <a:pt x="5764" y="1906"/>
                  <a:pt x="5830" y="1635"/>
                  <a:pt x="5782" y="1335"/>
                </a:cubicBezTo>
                <a:cubicBezTo>
                  <a:pt x="5772" y="1424"/>
                  <a:pt x="5742" y="1519"/>
                  <a:pt x="5698" y="1592"/>
                </a:cubicBezTo>
                <a:cubicBezTo>
                  <a:pt x="5156" y="2500"/>
                  <a:pt x="2595" y="2483"/>
                  <a:pt x="2331" y="1335"/>
                </a:cubicBezTo>
                <a:cubicBezTo>
                  <a:pt x="2289" y="1782"/>
                  <a:pt x="2428" y="2114"/>
                  <a:pt x="2699" y="2258"/>
                </a:cubicBezTo>
                <a:close/>
                <a:moveTo>
                  <a:pt x="3730" y="2903"/>
                </a:moveTo>
                <a:cubicBezTo>
                  <a:pt x="3794" y="3024"/>
                  <a:pt x="3869" y="3133"/>
                  <a:pt x="3888" y="3300"/>
                </a:cubicBezTo>
                <a:cubicBezTo>
                  <a:pt x="4160" y="3343"/>
                  <a:pt x="4254" y="3211"/>
                  <a:pt x="4414" y="3128"/>
                </a:cubicBezTo>
                <a:cubicBezTo>
                  <a:pt x="4739" y="2959"/>
                  <a:pt x="5059" y="2880"/>
                  <a:pt x="5519" y="2849"/>
                </a:cubicBezTo>
                <a:cubicBezTo>
                  <a:pt x="5727" y="2700"/>
                  <a:pt x="5840" y="2396"/>
                  <a:pt x="5782" y="2011"/>
                </a:cubicBezTo>
                <a:cubicBezTo>
                  <a:pt x="5775" y="2060"/>
                  <a:pt x="5774" y="2105"/>
                  <a:pt x="5761" y="2140"/>
                </a:cubicBezTo>
                <a:cubicBezTo>
                  <a:pt x="5540" y="2743"/>
                  <a:pt x="4538" y="2972"/>
                  <a:pt x="3730" y="2903"/>
                </a:cubicBezTo>
                <a:close/>
                <a:moveTo>
                  <a:pt x="3330" y="2967"/>
                </a:moveTo>
                <a:cubicBezTo>
                  <a:pt x="2977" y="2629"/>
                  <a:pt x="2385" y="2464"/>
                  <a:pt x="1752" y="2494"/>
                </a:cubicBezTo>
                <a:cubicBezTo>
                  <a:pt x="1329" y="2515"/>
                  <a:pt x="1030" y="2573"/>
                  <a:pt x="742" y="2709"/>
                </a:cubicBezTo>
                <a:cubicBezTo>
                  <a:pt x="435" y="2855"/>
                  <a:pt x="0" y="3158"/>
                  <a:pt x="152" y="3644"/>
                </a:cubicBezTo>
                <a:cubicBezTo>
                  <a:pt x="317" y="4167"/>
                  <a:pt x="1145" y="4424"/>
                  <a:pt x="1815" y="4428"/>
                </a:cubicBezTo>
                <a:cubicBezTo>
                  <a:pt x="2518" y="4432"/>
                  <a:pt x="3327" y="4194"/>
                  <a:pt x="3530" y="3687"/>
                </a:cubicBezTo>
                <a:cubicBezTo>
                  <a:pt x="3654" y="3377"/>
                  <a:pt x="3498" y="3127"/>
                  <a:pt x="3330" y="2967"/>
                </a:cubicBezTo>
                <a:close/>
                <a:moveTo>
                  <a:pt x="3236" y="4267"/>
                </a:moveTo>
                <a:cubicBezTo>
                  <a:pt x="2479" y="4956"/>
                  <a:pt x="393" y="4883"/>
                  <a:pt x="100" y="3837"/>
                </a:cubicBezTo>
                <a:cubicBezTo>
                  <a:pt x="89" y="4158"/>
                  <a:pt x="149" y="4405"/>
                  <a:pt x="289" y="4567"/>
                </a:cubicBezTo>
                <a:cubicBezTo>
                  <a:pt x="809" y="5172"/>
                  <a:pt x="2306" y="5269"/>
                  <a:pt x="3036" y="4825"/>
                </a:cubicBezTo>
                <a:cubicBezTo>
                  <a:pt x="3102" y="4610"/>
                  <a:pt x="3176" y="4403"/>
                  <a:pt x="3288" y="4234"/>
                </a:cubicBezTo>
                <a:cubicBezTo>
                  <a:pt x="3260" y="4206"/>
                  <a:pt x="3247" y="4256"/>
                  <a:pt x="3236" y="4267"/>
                </a:cubicBezTo>
                <a:close/>
                <a:moveTo>
                  <a:pt x="7676" y="4686"/>
                </a:moveTo>
                <a:cubicBezTo>
                  <a:pt x="7360" y="3976"/>
                  <a:pt x="6678" y="3405"/>
                  <a:pt x="5708" y="3407"/>
                </a:cubicBezTo>
                <a:cubicBezTo>
                  <a:pt x="5002" y="3409"/>
                  <a:pt x="4538" y="3710"/>
                  <a:pt x="4193" y="4063"/>
                </a:cubicBezTo>
                <a:cubicBezTo>
                  <a:pt x="3851" y="4412"/>
                  <a:pt x="3559" y="4942"/>
                  <a:pt x="3572" y="5620"/>
                </a:cubicBezTo>
                <a:cubicBezTo>
                  <a:pt x="3585" y="6291"/>
                  <a:pt x="3852" y="6780"/>
                  <a:pt x="4214" y="7145"/>
                </a:cubicBezTo>
                <a:cubicBezTo>
                  <a:pt x="4572" y="7506"/>
                  <a:pt x="5098" y="7791"/>
                  <a:pt x="5740" y="7779"/>
                </a:cubicBezTo>
                <a:cubicBezTo>
                  <a:pt x="6380" y="7767"/>
                  <a:pt x="6891" y="7500"/>
                  <a:pt x="7245" y="7134"/>
                </a:cubicBezTo>
                <a:cubicBezTo>
                  <a:pt x="7592" y="6776"/>
                  <a:pt x="7873" y="6254"/>
                  <a:pt x="7866" y="5577"/>
                </a:cubicBezTo>
                <a:cubicBezTo>
                  <a:pt x="7862" y="5260"/>
                  <a:pt x="7791" y="4942"/>
                  <a:pt x="7676" y="4686"/>
                </a:cubicBezTo>
                <a:close/>
                <a:moveTo>
                  <a:pt x="5719" y="6286"/>
                </a:moveTo>
                <a:cubicBezTo>
                  <a:pt x="5246" y="6164"/>
                  <a:pt x="4746" y="6069"/>
                  <a:pt x="4267" y="5953"/>
                </a:cubicBezTo>
                <a:cubicBezTo>
                  <a:pt x="4280" y="5812"/>
                  <a:pt x="4304" y="5683"/>
                  <a:pt x="4330" y="5556"/>
                </a:cubicBezTo>
                <a:cubicBezTo>
                  <a:pt x="4751" y="5663"/>
                  <a:pt x="5186" y="5756"/>
                  <a:pt x="5603" y="5867"/>
                </a:cubicBezTo>
                <a:cubicBezTo>
                  <a:pt x="6042" y="5241"/>
                  <a:pt x="6475" y="4609"/>
                  <a:pt x="6908" y="3977"/>
                </a:cubicBezTo>
                <a:cubicBezTo>
                  <a:pt x="7035" y="4151"/>
                  <a:pt x="7136" y="4353"/>
                  <a:pt x="7255" y="4535"/>
                </a:cubicBezTo>
                <a:cubicBezTo>
                  <a:pt x="6754" y="5129"/>
                  <a:pt x="6248" y="5720"/>
                  <a:pt x="5719" y="6286"/>
                </a:cubicBezTo>
                <a:close/>
                <a:moveTo>
                  <a:pt x="121" y="4492"/>
                </a:moveTo>
                <a:cubicBezTo>
                  <a:pt x="128" y="4663"/>
                  <a:pt x="104" y="4863"/>
                  <a:pt x="152" y="5008"/>
                </a:cubicBezTo>
                <a:cubicBezTo>
                  <a:pt x="286" y="5405"/>
                  <a:pt x="816" y="5648"/>
                  <a:pt x="1310" y="5738"/>
                </a:cubicBezTo>
                <a:cubicBezTo>
                  <a:pt x="1869" y="5840"/>
                  <a:pt x="2512" y="5761"/>
                  <a:pt x="2930" y="5566"/>
                </a:cubicBezTo>
                <a:cubicBezTo>
                  <a:pt x="2928" y="5421"/>
                  <a:pt x="2946" y="5296"/>
                  <a:pt x="2962" y="5169"/>
                </a:cubicBezTo>
                <a:cubicBezTo>
                  <a:pt x="2038" y="5580"/>
                  <a:pt x="359" y="5455"/>
                  <a:pt x="121" y="4492"/>
                </a:cubicBezTo>
                <a:close/>
              </a:path>
            </a:pathLst>
          </a:custGeom>
          <a:solidFill>
            <a:schemeClr val="accent1"/>
          </a:solidFill>
          <a:ln>
            <a:noFill/>
          </a:ln>
        </p:spPr>
      </p:sp>
      <p:sp>
        <p:nvSpPr>
          <p:cNvPr id="13" name="矩形 24"/>
          <p:cNvSpPr>
            <a:spLocks noChangeArrowheads="1"/>
          </p:cNvSpPr>
          <p:nvPr/>
        </p:nvSpPr>
        <p:spPr bwMode="auto">
          <a:xfrm>
            <a:off x="8010965" y="2565335"/>
            <a:ext cx="2041156" cy="923330"/>
          </a:xfrm>
          <a:prstGeom prst="rect">
            <a:avLst/>
          </a:prstGeom>
          <a:noFill/>
          <a:ln w="9525">
            <a:noFill/>
            <a:miter lim="800000"/>
            <a:headEnd/>
            <a:tailEnd/>
          </a:ln>
        </p:spPr>
        <p:txBody>
          <a:bodyPr wrap="square">
            <a:spAutoFit/>
          </a:bodyPr>
          <a:lstStyle/>
          <a:p>
            <a:pPr>
              <a:lnSpc>
                <a:spcPct val="150000"/>
              </a:lnSpc>
            </a:pPr>
            <a:r>
              <a:rPr lang="zh-CN" altLang="en-US" sz="1800" dirty="0" smtClean="0">
                <a:latin typeface="微软雅黑" pitchFamily="34" charset="-122"/>
                <a:ea typeface="微软雅黑" pitchFamily="34" charset="-122"/>
              </a:rPr>
              <a:t>收入</a:t>
            </a:r>
            <a:endParaRPr lang="en-US" altLang="zh-CN" sz="1800" dirty="0" smtClean="0">
              <a:latin typeface="微软雅黑" pitchFamily="34" charset="-122"/>
              <a:ea typeface="微软雅黑" pitchFamily="34" charset="-122"/>
            </a:endParaRPr>
          </a:p>
          <a:p>
            <a:pPr>
              <a:lnSpc>
                <a:spcPct val="150000"/>
              </a:lnSpc>
            </a:pPr>
            <a:r>
              <a:rPr lang="zh-CN" altLang="en-US" sz="1800" dirty="0" smtClean="0">
                <a:latin typeface="微软雅黑" pitchFamily="34" charset="-122"/>
                <a:ea typeface="微软雅黑" pitchFamily="34" charset="-122"/>
              </a:rPr>
              <a:t>市场份额</a:t>
            </a:r>
            <a:endParaRPr lang="zh-CN" altLang="en-US" sz="1800" dirty="0">
              <a:latin typeface="微软雅黑" pitchFamily="34" charset="-122"/>
              <a:ea typeface="微软雅黑" pitchFamily="34" charset="-122"/>
            </a:endParaRPr>
          </a:p>
        </p:txBody>
      </p:sp>
      <p:cxnSp>
        <p:nvCxnSpPr>
          <p:cNvPr id="3" name="直接连接符 2"/>
          <p:cNvCxnSpPr/>
          <p:nvPr/>
        </p:nvCxnSpPr>
        <p:spPr>
          <a:xfrm flipV="1">
            <a:off x="376090" y="3690460"/>
            <a:ext cx="2774335" cy="1"/>
          </a:xfrm>
          <a:prstGeom prst="line">
            <a:avLst/>
          </a:prstGeom>
          <a:ln w="317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flipV="1">
            <a:off x="7261465" y="3690460"/>
            <a:ext cx="2774335" cy="1"/>
          </a:xfrm>
          <a:prstGeom prst="line">
            <a:avLst/>
          </a:prstGeom>
          <a:ln w="317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8" name="直接连接符 17"/>
          <p:cNvCxnSpPr/>
          <p:nvPr/>
        </p:nvCxnSpPr>
        <p:spPr>
          <a:xfrm flipV="1">
            <a:off x="3818777" y="3690460"/>
            <a:ext cx="2774335" cy="1"/>
          </a:xfrm>
          <a:prstGeom prst="line">
            <a:avLst/>
          </a:prstGeom>
          <a:ln w="31750">
            <a:solidFill>
              <a:srgbClr val="0070C0"/>
            </a:solidFill>
          </a:ln>
        </p:spPr>
        <p:style>
          <a:lnRef idx="1">
            <a:schemeClr val="accent1"/>
          </a:lnRef>
          <a:fillRef idx="0">
            <a:schemeClr val="accent1"/>
          </a:fillRef>
          <a:effectRef idx="0">
            <a:schemeClr val="accent1"/>
          </a:effectRef>
          <a:fontRef idx="minor">
            <a:schemeClr val="tx1"/>
          </a:fontRef>
        </p:style>
      </p:cxnSp>
      <p:sp>
        <p:nvSpPr>
          <p:cNvPr id="19" name="矩形 24"/>
          <p:cNvSpPr>
            <a:spLocks noChangeArrowheads="1"/>
          </p:cNvSpPr>
          <p:nvPr/>
        </p:nvSpPr>
        <p:spPr bwMode="auto">
          <a:xfrm>
            <a:off x="376091" y="3960490"/>
            <a:ext cx="2774334" cy="1200329"/>
          </a:xfrm>
          <a:prstGeom prst="rect">
            <a:avLst/>
          </a:prstGeom>
          <a:noFill/>
          <a:ln w="9525">
            <a:noFill/>
            <a:miter lim="800000"/>
            <a:headEnd/>
            <a:tailEnd/>
          </a:ln>
        </p:spPr>
        <p:txBody>
          <a:bodyPr wrap="square">
            <a:spAutoFit/>
          </a:bodyPr>
          <a:lstStyle/>
          <a:p>
            <a:pPr marL="285750" indent="-285750">
              <a:lnSpc>
                <a:spcPct val="150000"/>
              </a:lnSpc>
              <a:buFont typeface="Arial" pitchFamily="34" charset="0"/>
              <a:buChar char="•"/>
            </a:pPr>
            <a:r>
              <a:rPr lang="zh-CN" altLang="en-US" sz="1600" dirty="0" smtClean="0">
                <a:latin typeface="微软雅黑" pitchFamily="34" charset="-122"/>
                <a:ea typeface="微软雅黑" pitchFamily="34" charset="-122"/>
              </a:rPr>
              <a:t>最关注用户量，指标体系应紧密围绕用户量提升做各维度拆解，如渠道</a:t>
            </a:r>
            <a:endParaRPr lang="zh-CN" altLang="en-US" sz="1600" dirty="0">
              <a:latin typeface="微软雅黑" pitchFamily="34" charset="-122"/>
              <a:ea typeface="微软雅黑" pitchFamily="34" charset="-122"/>
            </a:endParaRPr>
          </a:p>
        </p:txBody>
      </p:sp>
      <p:sp>
        <p:nvSpPr>
          <p:cNvPr id="20" name="矩形 24"/>
          <p:cNvSpPr>
            <a:spLocks noChangeArrowheads="1"/>
          </p:cNvSpPr>
          <p:nvPr/>
        </p:nvSpPr>
        <p:spPr bwMode="auto">
          <a:xfrm>
            <a:off x="3690400" y="3960490"/>
            <a:ext cx="2774334" cy="1569660"/>
          </a:xfrm>
          <a:prstGeom prst="rect">
            <a:avLst/>
          </a:prstGeom>
          <a:noFill/>
          <a:ln w="9525">
            <a:noFill/>
            <a:miter lim="800000"/>
            <a:headEnd/>
            <a:tailEnd/>
          </a:ln>
        </p:spPr>
        <p:txBody>
          <a:bodyPr wrap="square">
            <a:spAutoFit/>
          </a:bodyPr>
          <a:lstStyle/>
          <a:p>
            <a:pPr marL="285750" indent="-285750">
              <a:lnSpc>
                <a:spcPct val="150000"/>
              </a:lnSpc>
              <a:buFont typeface="Arial" pitchFamily="34" charset="0"/>
              <a:buChar char="•"/>
            </a:pPr>
            <a:r>
              <a:rPr lang="zh-CN" altLang="en-US" sz="1600" dirty="0" smtClean="0">
                <a:latin typeface="微软雅黑" pitchFamily="34" charset="-122"/>
                <a:ea typeface="微软雅黑" pitchFamily="34" charset="-122"/>
              </a:rPr>
              <a:t>更加</a:t>
            </a:r>
            <a:r>
              <a:rPr lang="zh-CN" altLang="en-US" sz="1600" dirty="0">
                <a:latin typeface="微软雅黑" pitchFamily="34" charset="-122"/>
                <a:ea typeface="微软雅黑" pitchFamily="34" charset="-122"/>
              </a:rPr>
              <a:t>看重</a:t>
            </a:r>
            <a:r>
              <a:rPr lang="zh-CN" altLang="en-US" sz="1600" dirty="0" smtClean="0">
                <a:latin typeface="微软雅黑" pitchFamily="34" charset="-122"/>
                <a:ea typeface="微软雅黑" pitchFamily="34" charset="-122"/>
              </a:rPr>
              <a:t>优化</a:t>
            </a:r>
            <a:r>
              <a:rPr lang="zh-CN" altLang="en-US" sz="1600" dirty="0">
                <a:latin typeface="微软雅黑" pitchFamily="34" charset="-122"/>
                <a:ea typeface="微软雅黑" pitchFamily="34" charset="-122"/>
              </a:rPr>
              <a:t>当前的用户量结构，比如看用户</a:t>
            </a:r>
            <a:r>
              <a:rPr lang="zh-CN" altLang="en-US" sz="1600" dirty="0" smtClean="0">
                <a:latin typeface="微软雅黑" pitchFamily="34" charset="-122"/>
                <a:ea typeface="微软雅黑" pitchFamily="34" charset="-122"/>
              </a:rPr>
              <a:t>留存。</a:t>
            </a:r>
            <a:endParaRPr lang="en-US" altLang="zh-CN" sz="1600" dirty="0" smtClean="0">
              <a:latin typeface="微软雅黑" pitchFamily="34" charset="-122"/>
              <a:ea typeface="微软雅黑" pitchFamily="34" charset="-122"/>
            </a:endParaRPr>
          </a:p>
          <a:p>
            <a:pPr marL="285750" indent="-285750">
              <a:lnSpc>
                <a:spcPct val="150000"/>
              </a:lnSpc>
              <a:buFont typeface="Arial" pitchFamily="34" charset="0"/>
              <a:buChar char="•"/>
            </a:pPr>
            <a:r>
              <a:rPr lang="zh-CN" altLang="en-US" sz="1600" dirty="0" smtClean="0">
                <a:latin typeface="微软雅黑" pitchFamily="34" charset="-122"/>
                <a:ea typeface="微软雅黑" pitchFamily="34" charset="-122"/>
              </a:rPr>
              <a:t>分析产品的健康度，为产品体检</a:t>
            </a:r>
            <a:endParaRPr lang="zh-CN" altLang="en-US" sz="1600" dirty="0">
              <a:latin typeface="微软雅黑" pitchFamily="34" charset="-122"/>
              <a:ea typeface="微软雅黑" pitchFamily="34" charset="-122"/>
            </a:endParaRPr>
          </a:p>
        </p:txBody>
      </p:sp>
      <p:sp>
        <p:nvSpPr>
          <p:cNvPr id="21" name="矩形 24"/>
          <p:cNvSpPr>
            <a:spLocks noChangeArrowheads="1"/>
          </p:cNvSpPr>
          <p:nvPr/>
        </p:nvSpPr>
        <p:spPr bwMode="auto">
          <a:xfrm>
            <a:off x="7004709" y="3960490"/>
            <a:ext cx="2774334" cy="2677656"/>
          </a:xfrm>
          <a:prstGeom prst="rect">
            <a:avLst/>
          </a:prstGeom>
          <a:noFill/>
          <a:ln w="9525">
            <a:noFill/>
            <a:miter lim="800000"/>
            <a:headEnd/>
            <a:tailEnd/>
          </a:ln>
        </p:spPr>
        <p:txBody>
          <a:bodyPr wrap="square">
            <a:spAutoFit/>
          </a:bodyPr>
          <a:lstStyle/>
          <a:p>
            <a:pPr marL="285750" indent="-285750">
              <a:lnSpc>
                <a:spcPct val="150000"/>
              </a:lnSpc>
              <a:buFont typeface="Arial" pitchFamily="34" charset="0"/>
              <a:buChar char="•"/>
            </a:pPr>
            <a:r>
              <a:rPr lang="zh-CN" altLang="en-US" sz="1600" dirty="0">
                <a:latin typeface="微软雅黑" pitchFamily="34" charset="-122"/>
                <a:ea typeface="微软雅黑" pitchFamily="34" charset="-122"/>
              </a:rPr>
              <a:t>更多</a:t>
            </a:r>
            <a:r>
              <a:rPr lang="zh-CN" altLang="en-US" sz="1600" dirty="0">
                <a:latin typeface="微软雅黑" pitchFamily="34" charset="-122"/>
                <a:ea typeface="微软雅黑" pitchFamily="34" charset="-122"/>
              </a:rPr>
              <a:t>关注的就是产品变现能力和市场份额，要关注收入指标</a:t>
            </a:r>
            <a:r>
              <a:rPr lang="en-US" altLang="zh-CN" sz="1600" dirty="0">
                <a:latin typeface="微软雅黑" pitchFamily="34" charset="-122"/>
                <a:ea typeface="微软雅黑" pitchFamily="34" charset="-122"/>
              </a:rPr>
              <a:t>ROI</a:t>
            </a:r>
            <a:r>
              <a:rPr lang="zh-CN" altLang="en-US" sz="1600" dirty="0">
                <a:latin typeface="微软雅黑" pitchFamily="34" charset="-122"/>
                <a:ea typeface="微软雅黑" pitchFamily="34" charset="-122"/>
              </a:rPr>
              <a:t>等，各种商业化模式的的收入，同时做好市场份额和竞品的监控，以防止新起势力抢占份额等</a:t>
            </a:r>
          </a:p>
        </p:txBody>
      </p:sp>
    </p:spTree>
    <p:custDataLst>
      <p:tags r:id="rId1"/>
    </p:custDataLst>
    <p:extLst>
      <p:ext uri="{BB962C8B-B14F-4D97-AF65-F5344CB8AC3E}">
        <p14:creationId xmlns:p14="http://schemas.microsoft.com/office/powerpoint/2010/main" val="1751249840"/>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3335338" y="2614613"/>
            <a:ext cx="7331075" cy="2024062"/>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pic>
        <p:nvPicPr>
          <p:cNvPr id="27650" name="Picture 10" descr=")]W8CAC1QK`RVGEFM~CI[KA"/>
          <p:cNvPicPr>
            <a:picLocks noChangeAspect="1" noChangeArrowheads="1"/>
          </p:cNvPicPr>
          <p:nvPr/>
        </p:nvPicPr>
        <p:blipFill>
          <a:blip r:embed="rId2"/>
          <a:srcRect/>
          <a:stretch>
            <a:fillRect/>
          </a:stretch>
        </p:blipFill>
        <p:spPr bwMode="auto">
          <a:xfrm>
            <a:off x="290513" y="2609850"/>
            <a:ext cx="2944812" cy="2024063"/>
          </a:xfrm>
          <a:prstGeom prst="rect">
            <a:avLst/>
          </a:prstGeom>
          <a:noFill/>
          <a:ln w="9525">
            <a:noFill/>
            <a:miter lim="800000"/>
            <a:headEnd/>
            <a:tailEnd/>
          </a:ln>
        </p:spPr>
      </p:pic>
      <p:sp>
        <p:nvSpPr>
          <p:cNvPr id="27651" name="标题 1"/>
          <p:cNvSpPr>
            <a:spLocks noGrp="1"/>
          </p:cNvSpPr>
          <p:nvPr>
            <p:ph type="title"/>
          </p:nvPr>
        </p:nvSpPr>
        <p:spPr/>
        <p:txBody>
          <a:bodyPr/>
          <a:lstStyle/>
          <a:p>
            <a:pPr eaLnBrk="1" hangingPunct="1"/>
            <a:r>
              <a:rPr lang="zh-CN" altLang="en-US" dirty="0" smtClean="0"/>
              <a:t>确定核心指标</a:t>
            </a:r>
            <a:endParaRPr lang="zh-CN" altLang="en-US" dirty="0" smtClean="0"/>
          </a:p>
        </p:txBody>
      </p:sp>
      <p:sp>
        <p:nvSpPr>
          <p:cNvPr id="27652" name="Text Box 2"/>
          <p:cNvSpPr txBox="1">
            <a:spLocks noChangeArrowheads="1"/>
          </p:cNvSpPr>
          <p:nvPr/>
        </p:nvSpPr>
        <p:spPr bwMode="auto">
          <a:xfrm>
            <a:off x="3644900" y="2610340"/>
            <a:ext cx="7021513" cy="2308324"/>
          </a:xfrm>
          <a:prstGeom prst="rect">
            <a:avLst/>
          </a:prstGeom>
          <a:noFill/>
          <a:ln w="9525">
            <a:noFill/>
            <a:miter lim="800000"/>
            <a:headEnd/>
            <a:tailEnd/>
          </a:ln>
        </p:spPr>
        <p:txBody>
          <a:bodyPr wrap="square">
            <a:spAutoFit/>
          </a:bodyPr>
          <a:lstStyle/>
          <a:p>
            <a:pPr marL="285750" indent="-285750">
              <a:lnSpc>
                <a:spcPct val="150000"/>
              </a:lnSpc>
              <a:buFont typeface="Arial" pitchFamily="34" charset="0"/>
              <a:buChar char="•"/>
            </a:pPr>
            <a:r>
              <a:rPr lang="zh-CN" altLang="en-US" sz="1600" b="1" dirty="0" smtClean="0">
                <a:solidFill>
                  <a:srgbClr val="0D0D0D"/>
                </a:solidFill>
                <a:latin typeface="微软雅黑" pitchFamily="34" charset="-122"/>
                <a:ea typeface="微软雅黑" pitchFamily="34" charset="-122"/>
              </a:rPr>
              <a:t>核心指标的选取是挑选那些引起业务变化的要素或者某种维度波动的要素</a:t>
            </a:r>
            <a:endParaRPr lang="en-US" altLang="zh-CN" sz="1600" b="1" dirty="0" smtClean="0">
              <a:solidFill>
                <a:srgbClr val="0D0D0D"/>
              </a:solidFill>
              <a:latin typeface="微软雅黑" pitchFamily="34" charset="-122"/>
              <a:ea typeface="微软雅黑" pitchFamily="34" charset="-122"/>
            </a:endParaRPr>
          </a:p>
          <a:p>
            <a:pPr marL="285750" indent="-285750">
              <a:lnSpc>
                <a:spcPct val="150000"/>
              </a:lnSpc>
              <a:buFont typeface="微软雅黑" pitchFamily="34" charset="-122"/>
              <a:buChar char="–"/>
            </a:pPr>
            <a:r>
              <a:rPr lang="zh-CN" altLang="en-US" sz="1600" dirty="0">
                <a:latin typeface="微软雅黑" pitchFamily="34" charset="-122"/>
                <a:ea typeface="微软雅黑" pitchFamily="34" charset="-122"/>
              </a:rPr>
              <a:t>某款产品的日活口径是打开</a:t>
            </a:r>
            <a:r>
              <a:rPr lang="en-US" altLang="zh-CN" sz="1600" dirty="0">
                <a:latin typeface="微软雅黑" pitchFamily="34" charset="-122"/>
                <a:ea typeface="微软雅黑" pitchFamily="34" charset="-122"/>
              </a:rPr>
              <a:t>APP</a:t>
            </a:r>
            <a:r>
              <a:rPr lang="zh-CN" altLang="en-US" sz="1600" dirty="0">
                <a:latin typeface="微软雅黑" pitchFamily="34" charset="-122"/>
                <a:ea typeface="微软雅黑" pitchFamily="34" charset="-122"/>
              </a:rPr>
              <a:t>，通过不断的买量，日活也一直在上升，然而分析时发现，打开</a:t>
            </a:r>
            <a:r>
              <a:rPr lang="en-US" altLang="zh-CN" sz="1600" dirty="0">
                <a:latin typeface="微软雅黑" pitchFamily="34" charset="-122"/>
                <a:ea typeface="微软雅黑" pitchFamily="34" charset="-122"/>
              </a:rPr>
              <a:t>APP</a:t>
            </a:r>
            <a:r>
              <a:rPr lang="zh-CN" altLang="en-US" sz="1600" dirty="0">
                <a:latin typeface="微软雅黑" pitchFamily="34" charset="-122"/>
                <a:ea typeface="微软雅黑" pitchFamily="34" charset="-122"/>
              </a:rPr>
              <a:t>的用户中，</a:t>
            </a:r>
            <a:r>
              <a:rPr lang="en-US" altLang="zh-CN" sz="1600" dirty="0">
                <a:latin typeface="微软雅黑" pitchFamily="34" charset="-122"/>
                <a:ea typeface="微软雅黑" pitchFamily="34" charset="-122"/>
              </a:rPr>
              <a:t>3</a:t>
            </a:r>
            <a:r>
              <a:rPr lang="zh-CN" altLang="en-US" sz="1600" dirty="0">
                <a:latin typeface="微软雅黑" pitchFamily="34" charset="-122"/>
                <a:ea typeface="微软雅黑" pitchFamily="34" charset="-122"/>
              </a:rPr>
              <a:t>秒跳出率高达</a:t>
            </a:r>
            <a:r>
              <a:rPr lang="en-US" altLang="zh-CN" sz="1600" dirty="0">
                <a:latin typeface="微软雅黑" pitchFamily="34" charset="-122"/>
                <a:ea typeface="微软雅黑" pitchFamily="34" charset="-122"/>
              </a:rPr>
              <a:t>30%</a:t>
            </a:r>
            <a:r>
              <a:rPr lang="zh-CN" altLang="en-US" sz="1600" dirty="0">
                <a:latin typeface="微软雅黑" pitchFamily="34" charset="-122"/>
                <a:ea typeface="微软雅黑" pitchFamily="34" charset="-122"/>
              </a:rPr>
              <a:t>，这是非常不健康的，那么当前的核心指标日活实际上已经有了问题，更加好的核心指标应该是停留时长大于</a:t>
            </a:r>
            <a:r>
              <a:rPr lang="en-US" altLang="zh-CN" sz="1600" dirty="0">
                <a:latin typeface="微软雅黑" pitchFamily="34" charset="-122"/>
                <a:ea typeface="微软雅黑" pitchFamily="34" charset="-122"/>
              </a:rPr>
              <a:t>3</a:t>
            </a:r>
            <a:r>
              <a:rPr lang="zh-CN" altLang="en-US" sz="1600" dirty="0">
                <a:latin typeface="微软雅黑" pitchFamily="34" charset="-122"/>
                <a:ea typeface="微软雅黑" pitchFamily="34" charset="-122"/>
              </a:rPr>
              <a:t>秒的用户数</a:t>
            </a:r>
            <a:endParaRPr lang="en-US" altLang="zh-CN" sz="1600" dirty="0" smtClean="0">
              <a:latin typeface="微软雅黑" pitchFamily="34" charset="-122"/>
              <a:ea typeface="微软雅黑" pitchFamily="34" charset="-122"/>
            </a:endParaRPr>
          </a:p>
          <a:p>
            <a:pPr>
              <a:lnSpc>
                <a:spcPct val="150000"/>
              </a:lnSpc>
            </a:pPr>
            <a:endParaRPr lang="zh-CN" altLang="en-US" sz="1600" dirty="0">
              <a:latin typeface="微软雅黑" pitchFamily="34" charset="-122"/>
              <a:ea typeface="微软雅黑" pitchFamily="34" charset="-122"/>
            </a:endParaRPr>
          </a:p>
        </p:txBody>
      </p:sp>
      <p:sp>
        <p:nvSpPr>
          <p:cNvPr id="27654" name="矩形 6"/>
          <p:cNvSpPr>
            <a:spLocks noChangeArrowheads="1"/>
          </p:cNvSpPr>
          <p:nvPr/>
        </p:nvSpPr>
        <p:spPr bwMode="auto">
          <a:xfrm>
            <a:off x="392113" y="1255713"/>
            <a:ext cx="10001250" cy="418191"/>
          </a:xfrm>
          <a:prstGeom prst="rect">
            <a:avLst/>
          </a:prstGeom>
          <a:noFill/>
          <a:ln w="9525">
            <a:noFill/>
            <a:miter lim="800000"/>
            <a:headEnd/>
            <a:tailEnd/>
          </a:ln>
        </p:spPr>
        <p:txBody>
          <a:bodyPr>
            <a:spAutoFit/>
          </a:bodyPr>
          <a:lstStyle/>
          <a:p>
            <a:pPr>
              <a:lnSpc>
                <a:spcPct val="150000"/>
              </a:lnSpc>
            </a:pPr>
            <a:r>
              <a:rPr lang="zh-CN" altLang="en-US" sz="1600" b="1" dirty="0">
                <a:solidFill>
                  <a:srgbClr val="00B0F0"/>
                </a:solidFill>
                <a:latin typeface="微软雅黑" pitchFamily="34" charset="-122"/>
                <a:ea typeface="微软雅黑" pitchFamily="34" charset="-122"/>
              </a:rPr>
              <a:t>每一</a:t>
            </a:r>
            <a:r>
              <a:rPr lang="zh-CN" altLang="en-US" sz="1600" b="1" dirty="0" smtClean="0">
                <a:solidFill>
                  <a:srgbClr val="00B0F0"/>
                </a:solidFill>
                <a:latin typeface="微软雅黑" pitchFamily="34" charset="-122"/>
                <a:ea typeface="微软雅黑" pitchFamily="34" charset="-122"/>
              </a:rPr>
              <a:t>个</a:t>
            </a:r>
            <a:r>
              <a:rPr lang="en-US" altLang="zh-CN" sz="1600" b="1" dirty="0" smtClean="0">
                <a:solidFill>
                  <a:srgbClr val="00B0F0"/>
                </a:solidFill>
                <a:latin typeface="微软雅黑" pitchFamily="34" charset="-122"/>
                <a:ea typeface="微软雅黑" pitchFamily="34" charset="-122"/>
              </a:rPr>
              <a:t>APP</a:t>
            </a:r>
            <a:r>
              <a:rPr lang="zh-CN" altLang="en-US" sz="1600" b="1" dirty="0" smtClean="0">
                <a:solidFill>
                  <a:srgbClr val="00B0F0"/>
                </a:solidFill>
                <a:latin typeface="微软雅黑" pitchFamily="34" charset="-122"/>
                <a:ea typeface="微软雅黑" pitchFamily="34" charset="-122"/>
              </a:rPr>
              <a:t>的核心指标不一样，选取核心指标一定要多花时间去思考</a:t>
            </a:r>
            <a:endParaRPr lang="zh-CN" altLang="en-US" sz="1600" b="1" dirty="0">
              <a:solidFill>
                <a:srgbClr val="00B0F0"/>
              </a:solidFill>
              <a:latin typeface="微软雅黑" pitchFamily="34" charset="-122"/>
              <a:ea typeface="微软雅黑" pitchFamily="34" charset="-122"/>
            </a:endParaRPr>
          </a:p>
        </p:txBody>
      </p:sp>
    </p:spTree>
    <p:extLst>
      <p:ext uri="{BB962C8B-B14F-4D97-AF65-F5344CB8AC3E}">
        <p14:creationId xmlns:p14="http://schemas.microsoft.com/office/powerpoint/2010/main" val="2851341216"/>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rtlCol="0">
            <a:normAutofit/>
          </a:bodyPr>
          <a:lstStyle/>
          <a:p>
            <a:pPr eaLnBrk="1" fontAlgn="auto" hangingPunct="1">
              <a:spcAft>
                <a:spcPts val="0"/>
              </a:spcAft>
              <a:defRPr/>
            </a:pPr>
            <a:r>
              <a:rPr lang="zh-CN" altLang="en-US" dirty="0" smtClean="0">
                <a:solidFill>
                  <a:schemeClr val="bg1">
                    <a:lumMod val="50000"/>
                  </a:schemeClr>
                </a:solidFill>
              </a:rPr>
              <a:t>核心指标维度拆解</a:t>
            </a:r>
            <a:endParaRPr lang="zh-CN" altLang="en-US" dirty="0">
              <a:solidFill>
                <a:schemeClr val="bg1">
                  <a:lumMod val="50000"/>
                </a:schemeClr>
              </a:solidFill>
            </a:endParaRPr>
          </a:p>
        </p:txBody>
      </p:sp>
      <p:sp>
        <p:nvSpPr>
          <p:cNvPr id="17" name="矩形 6"/>
          <p:cNvSpPr>
            <a:spLocks noChangeArrowheads="1"/>
          </p:cNvSpPr>
          <p:nvPr/>
        </p:nvSpPr>
        <p:spPr bwMode="auto">
          <a:xfrm>
            <a:off x="392113" y="1255713"/>
            <a:ext cx="10001250" cy="1200329"/>
          </a:xfrm>
          <a:prstGeom prst="rect">
            <a:avLst/>
          </a:prstGeom>
          <a:noFill/>
          <a:ln w="9525">
            <a:noFill/>
            <a:miter lim="800000"/>
            <a:headEnd/>
            <a:tailEnd/>
          </a:ln>
        </p:spPr>
        <p:txBody>
          <a:bodyPr>
            <a:spAutoFit/>
          </a:bodyPr>
          <a:lstStyle/>
          <a:p>
            <a:pPr>
              <a:lnSpc>
                <a:spcPct val="150000"/>
              </a:lnSpc>
            </a:pPr>
            <a:r>
              <a:rPr lang="zh-CN" altLang="en-US" sz="1600" b="1" dirty="0" smtClean="0">
                <a:solidFill>
                  <a:srgbClr val="00B0F0"/>
                </a:solidFill>
                <a:latin typeface="微软雅黑" pitchFamily="34" charset="-122"/>
                <a:ea typeface="微软雅黑" pitchFamily="34" charset="-122"/>
              </a:rPr>
              <a:t>监控核心指标，本质上是监控维度核心指标。</a:t>
            </a:r>
            <a:r>
              <a:rPr lang="zh-CN" altLang="en-US" sz="1600" b="1" dirty="0">
                <a:solidFill>
                  <a:srgbClr val="00B0F0"/>
                </a:solidFill>
                <a:latin typeface="微软雅黑" pitchFamily="34" charset="-122"/>
                <a:ea typeface="微软雅黑" pitchFamily="34" charset="-122"/>
              </a:rPr>
              <a:t>通用的拆解方法都是先对核心指标进行公式计算，在按照业务路径来拆解</a:t>
            </a:r>
            <a:endParaRPr lang="en-US" altLang="zh-CN" sz="1600" b="1" dirty="0">
              <a:solidFill>
                <a:srgbClr val="00B0F0"/>
              </a:solidFill>
              <a:latin typeface="微软雅黑" pitchFamily="34" charset="-122"/>
              <a:ea typeface="微软雅黑" pitchFamily="34" charset="-122"/>
            </a:endParaRPr>
          </a:p>
          <a:p>
            <a:pPr>
              <a:lnSpc>
                <a:spcPct val="150000"/>
              </a:lnSpc>
            </a:pPr>
            <a:endParaRPr lang="zh-CN" altLang="en-US" sz="1600" b="1" dirty="0">
              <a:solidFill>
                <a:srgbClr val="00B0F0"/>
              </a:solidFill>
              <a:latin typeface="微软雅黑" pitchFamily="34" charset="-122"/>
              <a:ea typeface="微软雅黑" pitchFamily="34" charset="-122"/>
            </a:endParaRPr>
          </a:p>
        </p:txBody>
      </p:sp>
      <p:sp>
        <p:nvSpPr>
          <p:cNvPr id="18" name="Text Box 2"/>
          <p:cNvSpPr txBox="1">
            <a:spLocks noChangeArrowheads="1"/>
          </p:cNvSpPr>
          <p:nvPr/>
        </p:nvSpPr>
        <p:spPr bwMode="auto">
          <a:xfrm>
            <a:off x="495130" y="2160290"/>
            <a:ext cx="8730970" cy="830997"/>
          </a:xfrm>
          <a:prstGeom prst="rect">
            <a:avLst/>
          </a:prstGeom>
          <a:noFill/>
          <a:ln w="9525">
            <a:noFill/>
            <a:miter lim="800000"/>
            <a:headEnd/>
            <a:tailEnd/>
          </a:ln>
        </p:spPr>
        <p:txBody>
          <a:bodyPr wrap="square">
            <a:spAutoFit/>
          </a:bodyPr>
          <a:lstStyle/>
          <a:p>
            <a:pPr>
              <a:lnSpc>
                <a:spcPct val="150000"/>
              </a:lnSpc>
            </a:pPr>
            <a:r>
              <a:rPr lang="zh-CN" altLang="en-US" sz="1600" dirty="0" smtClean="0">
                <a:latin typeface="微软雅黑" pitchFamily="34" charset="-122"/>
                <a:ea typeface="微软雅黑" pitchFamily="34" charset="-122"/>
              </a:rPr>
              <a:t>以当前核心指标是停留时长大于</a:t>
            </a:r>
            <a:r>
              <a:rPr lang="en-US" altLang="zh-CN" sz="1600" dirty="0" smtClean="0">
                <a:latin typeface="微软雅黑" pitchFamily="34" charset="-122"/>
                <a:ea typeface="微软雅黑" pitchFamily="34" charset="-122"/>
              </a:rPr>
              <a:t>3</a:t>
            </a:r>
            <a:r>
              <a:rPr lang="zh-CN" altLang="en-US" sz="1600" dirty="0" smtClean="0">
                <a:latin typeface="微软雅黑" pitchFamily="34" charset="-122"/>
                <a:ea typeface="微软雅黑" pitchFamily="34" charset="-122"/>
              </a:rPr>
              <a:t>秒的用户数为例子</a:t>
            </a:r>
            <a:endParaRPr lang="en-US" altLang="zh-CN" sz="1600" dirty="0" smtClean="0">
              <a:latin typeface="微软雅黑" pitchFamily="34" charset="-122"/>
              <a:ea typeface="微软雅黑" pitchFamily="34" charset="-122"/>
            </a:endParaRPr>
          </a:p>
          <a:p>
            <a:pPr>
              <a:lnSpc>
                <a:spcPct val="150000"/>
              </a:lnSpc>
            </a:pPr>
            <a:r>
              <a:rPr lang="zh-CN" altLang="en-US" sz="1600" dirty="0" smtClean="0">
                <a:latin typeface="微软雅黑" pitchFamily="34" charset="-122"/>
                <a:ea typeface="微软雅黑" pitchFamily="34" charset="-122"/>
              </a:rPr>
              <a:t>公式：停留时长大于</a:t>
            </a:r>
            <a:r>
              <a:rPr lang="en-US" altLang="zh-CN" sz="1600" dirty="0" smtClean="0">
                <a:latin typeface="微软雅黑" pitchFamily="34" charset="-122"/>
                <a:ea typeface="微软雅黑" pitchFamily="34" charset="-122"/>
              </a:rPr>
              <a:t>3</a:t>
            </a:r>
            <a:r>
              <a:rPr lang="zh-CN" altLang="en-US" sz="1600" dirty="0" smtClean="0">
                <a:latin typeface="微软雅黑" pitchFamily="34" charset="-122"/>
                <a:ea typeface="微软雅黑" pitchFamily="34" charset="-122"/>
              </a:rPr>
              <a:t>秒的用户数</a:t>
            </a:r>
            <a:r>
              <a:rPr lang="en-US" altLang="zh-CN" sz="1600" dirty="0" smtClean="0">
                <a:latin typeface="微软雅黑" pitchFamily="34" charset="-122"/>
                <a:ea typeface="微软雅黑" pitchFamily="34" charset="-122"/>
              </a:rPr>
              <a:t>=</a:t>
            </a:r>
            <a:r>
              <a:rPr lang="zh-CN" altLang="en-US" sz="1600" dirty="0" smtClean="0">
                <a:latin typeface="微软雅黑" pitchFamily="34" charset="-122"/>
                <a:ea typeface="微软雅黑" pitchFamily="34" charset="-122"/>
              </a:rPr>
              <a:t>打开</a:t>
            </a:r>
            <a:r>
              <a:rPr lang="en-US" altLang="zh-CN" sz="1600" dirty="0" smtClean="0">
                <a:latin typeface="微软雅黑" pitchFamily="34" charset="-122"/>
                <a:ea typeface="微软雅黑" pitchFamily="34" charset="-122"/>
              </a:rPr>
              <a:t>APP</a:t>
            </a:r>
            <a:r>
              <a:rPr lang="zh-CN" altLang="en-US" sz="1600" dirty="0" smtClean="0">
                <a:latin typeface="微软雅黑" pitchFamily="34" charset="-122"/>
                <a:ea typeface="微软雅黑" pitchFamily="34" charset="-122"/>
              </a:rPr>
              <a:t>的用户数*停留时长大于</a:t>
            </a:r>
            <a:r>
              <a:rPr lang="en-US" altLang="zh-CN" sz="1600" dirty="0" smtClean="0">
                <a:latin typeface="微软雅黑" pitchFamily="34" charset="-122"/>
                <a:ea typeface="微软雅黑" pitchFamily="34" charset="-122"/>
              </a:rPr>
              <a:t>3</a:t>
            </a:r>
            <a:r>
              <a:rPr lang="zh-CN" altLang="en-US" sz="1600" dirty="0" smtClean="0">
                <a:latin typeface="微软雅黑" pitchFamily="34" charset="-122"/>
                <a:ea typeface="微软雅黑" pitchFamily="34" charset="-122"/>
              </a:rPr>
              <a:t>秒的占比</a:t>
            </a:r>
            <a:endParaRPr lang="en-US" altLang="zh-CN" sz="1600" dirty="0" smtClean="0">
              <a:latin typeface="微软雅黑" pitchFamily="34" charset="-122"/>
              <a:ea typeface="微软雅黑" pitchFamily="34" charset="-122"/>
            </a:endParaRPr>
          </a:p>
        </p:txBody>
      </p:sp>
      <p:grpSp>
        <p:nvGrpSpPr>
          <p:cNvPr id="20" name="#3382"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a:grpSpLocks noChangeAspect="1"/>
          </p:cNvGrpSpPr>
          <p:nvPr>
            <p:custDataLst>
              <p:tags r:id="rId1"/>
            </p:custDataLst>
          </p:nvPr>
        </p:nvGrpSpPr>
        <p:grpSpPr>
          <a:xfrm>
            <a:off x="1675398" y="4016780"/>
            <a:ext cx="5570482" cy="1563890"/>
            <a:chOff x="2057681" y="2473406"/>
            <a:chExt cx="6287669" cy="1765237"/>
          </a:xfrm>
        </p:grpSpPr>
        <p:grpSp>
          <p:nvGrpSpPr>
            <p:cNvPr id="21" name="iSļíďê"/>
            <p:cNvGrpSpPr/>
            <p:nvPr/>
          </p:nvGrpSpPr>
          <p:grpSpPr>
            <a:xfrm>
              <a:off x="3868401" y="2619360"/>
              <a:ext cx="4476949" cy="1619283"/>
              <a:chOff x="3868401" y="2619360"/>
              <a:chExt cx="4476949" cy="1619283"/>
            </a:xfrm>
          </p:grpSpPr>
          <p:sp>
            <p:nvSpPr>
              <p:cNvPr id="34" name="iṧ1îḋè"/>
              <p:cNvSpPr/>
              <p:nvPr/>
            </p:nvSpPr>
            <p:spPr>
              <a:xfrm>
                <a:off x="6147753" y="2619360"/>
                <a:ext cx="2197597" cy="1619283"/>
              </a:xfrm>
              <a:prstGeom prst="homePlate">
                <a:avLst/>
              </a:prstGeom>
              <a:solidFill>
                <a:schemeClr val="accent1"/>
              </a:solidFill>
              <a:ln w="76200">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chorCtr="0">
                <a:normAutofit/>
              </a:bodyPr>
              <a:lstStyle/>
              <a:p>
                <a:pPr lvl="0" defTabSz="914378">
                  <a:spcBef>
                    <a:spcPct val="0"/>
                  </a:spcBef>
                  <a:defRPr/>
                </a:pPr>
                <a:endParaRPr lang="zh-CN" altLang="en-US" b="1" dirty="0">
                  <a:solidFill>
                    <a:schemeClr val="bg1"/>
                  </a:solidFill>
                </a:endParaRPr>
              </a:p>
            </p:txBody>
          </p:sp>
          <p:sp>
            <p:nvSpPr>
              <p:cNvPr id="35" name="íśľîḓè"/>
              <p:cNvSpPr/>
              <p:nvPr/>
            </p:nvSpPr>
            <p:spPr>
              <a:xfrm flipH="1">
                <a:off x="3868401" y="2619360"/>
                <a:ext cx="2197597" cy="1619283"/>
              </a:xfrm>
              <a:prstGeom prst="homePlate">
                <a:avLst/>
              </a:prstGeom>
              <a:solidFill>
                <a:schemeClr val="tx1">
                  <a:lumMod val="50000"/>
                  <a:lumOff val="50000"/>
                </a:schemeClr>
              </a:solidFill>
              <a:ln w="76200">
                <a:noFill/>
              </a:ln>
            </p:spPr>
            <p:style>
              <a:lnRef idx="2">
                <a:schemeClr val="accent1">
                  <a:shade val="50000"/>
                </a:schemeClr>
              </a:lnRef>
              <a:fillRef idx="1">
                <a:schemeClr val="accent1"/>
              </a:fillRef>
              <a:effectRef idx="0">
                <a:schemeClr val="accent1"/>
              </a:effectRef>
              <a:fontRef idx="minor">
                <a:schemeClr val="lt1"/>
              </a:fontRef>
            </p:style>
            <p:txBody>
              <a:bodyPr wrap="none" lIns="91440" tIns="45720" rIns="91440" bIns="45720" anchor="ctr" anchorCtr="0">
                <a:normAutofit/>
              </a:bodyPr>
              <a:lstStyle/>
              <a:p>
                <a:pPr lvl="0" algn="r" defTabSz="914378">
                  <a:spcBef>
                    <a:spcPct val="0"/>
                  </a:spcBef>
                  <a:defRPr/>
                </a:pPr>
                <a:endParaRPr lang="zh-CN" altLang="en-US" sz="2000" b="1" dirty="0">
                  <a:solidFill>
                    <a:schemeClr val="bg1"/>
                  </a:solidFill>
                </a:endParaRPr>
              </a:p>
            </p:txBody>
          </p:sp>
        </p:grpSp>
        <p:sp>
          <p:nvSpPr>
            <p:cNvPr id="31" name="ïS1îḓe"/>
            <p:cNvSpPr/>
            <p:nvPr/>
          </p:nvSpPr>
          <p:spPr bwMode="auto">
            <a:xfrm>
              <a:off x="2057681" y="2473406"/>
              <a:ext cx="422961" cy="479506"/>
            </a:xfrm>
            <a:custGeom>
              <a:avLst/>
              <a:gdLst>
                <a:gd name="connsiteX0" fmla="*/ 99685 w 296863"/>
                <a:gd name="connsiteY0" fmla="*/ 290512 h 336550"/>
                <a:gd name="connsiteX1" fmla="*/ 90488 w 296863"/>
                <a:gd name="connsiteY1" fmla="*/ 299244 h 336550"/>
                <a:gd name="connsiteX2" fmla="*/ 99685 w 296863"/>
                <a:gd name="connsiteY2" fmla="*/ 307975 h 336550"/>
                <a:gd name="connsiteX3" fmla="*/ 119392 w 296863"/>
                <a:gd name="connsiteY3" fmla="*/ 307975 h 336550"/>
                <a:gd name="connsiteX4" fmla="*/ 128588 w 296863"/>
                <a:gd name="connsiteY4" fmla="*/ 299244 h 336550"/>
                <a:gd name="connsiteX5" fmla="*/ 119392 w 296863"/>
                <a:gd name="connsiteY5" fmla="*/ 290512 h 336550"/>
                <a:gd name="connsiteX6" fmla="*/ 99685 w 296863"/>
                <a:gd name="connsiteY6" fmla="*/ 290512 h 336550"/>
                <a:gd name="connsiteX7" fmla="*/ 0 w 296863"/>
                <a:gd name="connsiteY7" fmla="*/ 277812 h 336550"/>
                <a:gd name="connsiteX8" fmla="*/ 219075 w 296863"/>
                <a:gd name="connsiteY8" fmla="*/ 277812 h 336550"/>
                <a:gd name="connsiteX9" fmla="*/ 219075 w 296863"/>
                <a:gd name="connsiteY9" fmla="*/ 324803 h 336550"/>
                <a:gd name="connsiteX10" fmla="*/ 208517 w 296863"/>
                <a:gd name="connsiteY10" fmla="*/ 336550 h 336550"/>
                <a:gd name="connsiteX11" fmla="*/ 11877 w 296863"/>
                <a:gd name="connsiteY11" fmla="*/ 336550 h 336550"/>
                <a:gd name="connsiteX12" fmla="*/ 0 w 296863"/>
                <a:gd name="connsiteY12" fmla="*/ 324803 h 336550"/>
                <a:gd name="connsiteX13" fmla="*/ 0 w 296863"/>
                <a:gd name="connsiteY13" fmla="*/ 277812 h 336550"/>
                <a:gd name="connsiteX14" fmla="*/ 120721 w 296863"/>
                <a:gd name="connsiteY14" fmla="*/ 42862 h 336550"/>
                <a:gd name="connsiteX15" fmla="*/ 266630 w 296863"/>
                <a:gd name="connsiteY15" fmla="*/ 42862 h 336550"/>
                <a:gd name="connsiteX16" fmla="*/ 296863 w 296863"/>
                <a:gd name="connsiteY16" fmla="*/ 71747 h 336550"/>
                <a:gd name="connsiteX17" fmla="*/ 296863 w 296863"/>
                <a:gd name="connsiteY17" fmla="*/ 151838 h 336550"/>
                <a:gd name="connsiteX18" fmla="*/ 266630 w 296863"/>
                <a:gd name="connsiteY18" fmla="*/ 182037 h 336550"/>
                <a:gd name="connsiteX19" fmla="*/ 189075 w 296863"/>
                <a:gd name="connsiteY19" fmla="*/ 182037 h 336550"/>
                <a:gd name="connsiteX20" fmla="*/ 156213 w 296863"/>
                <a:gd name="connsiteY20" fmla="*/ 214861 h 336550"/>
                <a:gd name="connsiteX21" fmla="*/ 148326 w 296863"/>
                <a:gd name="connsiteY21" fmla="*/ 217487 h 336550"/>
                <a:gd name="connsiteX22" fmla="*/ 143068 w 296863"/>
                <a:gd name="connsiteY22" fmla="*/ 217487 h 336550"/>
                <a:gd name="connsiteX23" fmla="*/ 136495 w 296863"/>
                <a:gd name="connsiteY23" fmla="*/ 206983 h 336550"/>
                <a:gd name="connsiteX24" fmla="*/ 136495 w 296863"/>
                <a:gd name="connsiteY24" fmla="*/ 182037 h 336550"/>
                <a:gd name="connsiteX25" fmla="*/ 120721 w 296863"/>
                <a:gd name="connsiteY25" fmla="*/ 182037 h 336550"/>
                <a:gd name="connsiteX26" fmla="*/ 90488 w 296863"/>
                <a:gd name="connsiteY26" fmla="*/ 151838 h 336550"/>
                <a:gd name="connsiteX27" fmla="*/ 90488 w 296863"/>
                <a:gd name="connsiteY27" fmla="*/ 71747 h 336550"/>
                <a:gd name="connsiteX28" fmla="*/ 120721 w 296863"/>
                <a:gd name="connsiteY28" fmla="*/ 42862 h 336550"/>
                <a:gd name="connsiteX29" fmla="*/ 11877 w 296863"/>
                <a:gd name="connsiteY29" fmla="*/ 0 h 336550"/>
                <a:gd name="connsiteX30" fmla="*/ 208517 w 296863"/>
                <a:gd name="connsiteY30" fmla="*/ 0 h 336550"/>
                <a:gd name="connsiteX31" fmla="*/ 219075 w 296863"/>
                <a:gd name="connsiteY31" fmla="*/ 11821 h 336550"/>
                <a:gd name="connsiteX32" fmla="*/ 219075 w 296863"/>
                <a:gd name="connsiteY32" fmla="*/ 24957 h 336550"/>
                <a:gd name="connsiteX33" fmla="*/ 121415 w 296863"/>
                <a:gd name="connsiteY33" fmla="*/ 24957 h 336550"/>
                <a:gd name="connsiteX34" fmla="*/ 72585 w 296863"/>
                <a:gd name="connsiteY34" fmla="*/ 72243 h 336550"/>
                <a:gd name="connsiteX35" fmla="*/ 72585 w 296863"/>
                <a:gd name="connsiteY35" fmla="*/ 152368 h 336550"/>
                <a:gd name="connsiteX36" fmla="*/ 118776 w 296863"/>
                <a:gd name="connsiteY36" fmla="*/ 200968 h 336550"/>
                <a:gd name="connsiteX37" fmla="*/ 118776 w 296863"/>
                <a:gd name="connsiteY37" fmla="*/ 207536 h 336550"/>
                <a:gd name="connsiteX38" fmla="*/ 137252 w 296863"/>
                <a:gd name="connsiteY38" fmla="*/ 233806 h 336550"/>
                <a:gd name="connsiteX39" fmla="*/ 149130 w 296863"/>
                <a:gd name="connsiteY39" fmla="*/ 236433 h 336550"/>
                <a:gd name="connsiteX40" fmla="*/ 170245 w 296863"/>
                <a:gd name="connsiteY40" fmla="*/ 228552 h 336550"/>
                <a:gd name="connsiteX41" fmla="*/ 196640 w 296863"/>
                <a:gd name="connsiteY41" fmla="*/ 200968 h 336550"/>
                <a:gd name="connsiteX42" fmla="*/ 219075 w 296863"/>
                <a:gd name="connsiteY42" fmla="*/ 200968 h 336550"/>
                <a:gd name="connsiteX43" fmla="*/ 219075 w 296863"/>
                <a:gd name="connsiteY43" fmla="*/ 258763 h 336550"/>
                <a:gd name="connsiteX44" fmla="*/ 0 w 296863"/>
                <a:gd name="connsiteY44" fmla="*/ 258763 h 336550"/>
                <a:gd name="connsiteX45" fmla="*/ 0 w 296863"/>
                <a:gd name="connsiteY45" fmla="*/ 11821 h 336550"/>
                <a:gd name="connsiteX46" fmla="*/ 11877 w 296863"/>
                <a:gd name="connsiteY46" fmla="*/ 0 h 336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296863" h="336550">
                  <a:moveTo>
                    <a:pt x="99685" y="290512"/>
                  </a:moveTo>
                  <a:cubicBezTo>
                    <a:pt x="94430" y="290512"/>
                    <a:pt x="90488" y="294254"/>
                    <a:pt x="90488" y="299244"/>
                  </a:cubicBezTo>
                  <a:cubicBezTo>
                    <a:pt x="90488" y="304233"/>
                    <a:pt x="94430" y="307975"/>
                    <a:pt x="99685" y="307975"/>
                  </a:cubicBezTo>
                  <a:cubicBezTo>
                    <a:pt x="99685" y="307975"/>
                    <a:pt x="99685" y="307975"/>
                    <a:pt x="119392" y="307975"/>
                  </a:cubicBezTo>
                  <a:cubicBezTo>
                    <a:pt x="124647" y="307975"/>
                    <a:pt x="128588" y="304233"/>
                    <a:pt x="128588" y="299244"/>
                  </a:cubicBezTo>
                  <a:cubicBezTo>
                    <a:pt x="128588" y="294254"/>
                    <a:pt x="124647" y="290512"/>
                    <a:pt x="119392" y="290512"/>
                  </a:cubicBezTo>
                  <a:cubicBezTo>
                    <a:pt x="119392" y="290512"/>
                    <a:pt x="119392" y="290512"/>
                    <a:pt x="99685" y="290512"/>
                  </a:cubicBezTo>
                  <a:close/>
                  <a:moveTo>
                    <a:pt x="0" y="277812"/>
                  </a:moveTo>
                  <a:lnTo>
                    <a:pt x="219075" y="277812"/>
                  </a:lnTo>
                  <a:cubicBezTo>
                    <a:pt x="219075" y="277812"/>
                    <a:pt x="219075" y="277812"/>
                    <a:pt x="219075" y="324803"/>
                  </a:cubicBezTo>
                  <a:cubicBezTo>
                    <a:pt x="219075" y="331329"/>
                    <a:pt x="213796" y="336550"/>
                    <a:pt x="208517" y="336550"/>
                  </a:cubicBezTo>
                  <a:cubicBezTo>
                    <a:pt x="208517" y="336550"/>
                    <a:pt x="208517" y="336550"/>
                    <a:pt x="11877" y="336550"/>
                  </a:cubicBezTo>
                  <a:cubicBezTo>
                    <a:pt x="5279" y="336550"/>
                    <a:pt x="0" y="331329"/>
                    <a:pt x="0" y="324803"/>
                  </a:cubicBezTo>
                  <a:cubicBezTo>
                    <a:pt x="0" y="324803"/>
                    <a:pt x="0" y="324803"/>
                    <a:pt x="0" y="277812"/>
                  </a:cubicBezTo>
                  <a:close/>
                  <a:moveTo>
                    <a:pt x="120721" y="42862"/>
                  </a:moveTo>
                  <a:cubicBezTo>
                    <a:pt x="120721" y="42862"/>
                    <a:pt x="120721" y="42862"/>
                    <a:pt x="266630" y="42862"/>
                  </a:cubicBezTo>
                  <a:cubicBezTo>
                    <a:pt x="283718" y="42862"/>
                    <a:pt x="296863" y="55991"/>
                    <a:pt x="296863" y="71747"/>
                  </a:cubicBezTo>
                  <a:cubicBezTo>
                    <a:pt x="296863" y="71747"/>
                    <a:pt x="296863" y="71747"/>
                    <a:pt x="296863" y="151838"/>
                  </a:cubicBezTo>
                  <a:cubicBezTo>
                    <a:pt x="296863" y="168907"/>
                    <a:pt x="283718" y="182037"/>
                    <a:pt x="266630" y="182037"/>
                  </a:cubicBezTo>
                  <a:cubicBezTo>
                    <a:pt x="266630" y="182037"/>
                    <a:pt x="266630" y="182037"/>
                    <a:pt x="189075" y="182037"/>
                  </a:cubicBezTo>
                  <a:cubicBezTo>
                    <a:pt x="189075" y="182037"/>
                    <a:pt x="189075" y="182037"/>
                    <a:pt x="156213" y="214861"/>
                  </a:cubicBezTo>
                  <a:cubicBezTo>
                    <a:pt x="153584" y="216174"/>
                    <a:pt x="150955" y="217487"/>
                    <a:pt x="148326" y="217487"/>
                  </a:cubicBezTo>
                  <a:cubicBezTo>
                    <a:pt x="147011" y="217487"/>
                    <a:pt x="144382" y="217487"/>
                    <a:pt x="143068" y="217487"/>
                  </a:cubicBezTo>
                  <a:cubicBezTo>
                    <a:pt x="139124" y="214861"/>
                    <a:pt x="136495" y="210922"/>
                    <a:pt x="136495" y="206983"/>
                  </a:cubicBezTo>
                  <a:cubicBezTo>
                    <a:pt x="136495" y="206983"/>
                    <a:pt x="136495" y="206983"/>
                    <a:pt x="136495" y="182037"/>
                  </a:cubicBezTo>
                  <a:cubicBezTo>
                    <a:pt x="136495" y="182037"/>
                    <a:pt x="136495" y="182037"/>
                    <a:pt x="120721" y="182037"/>
                  </a:cubicBezTo>
                  <a:cubicBezTo>
                    <a:pt x="103633" y="182037"/>
                    <a:pt x="90488" y="168907"/>
                    <a:pt x="90488" y="151838"/>
                  </a:cubicBezTo>
                  <a:cubicBezTo>
                    <a:pt x="90488" y="151838"/>
                    <a:pt x="90488" y="151838"/>
                    <a:pt x="90488" y="71747"/>
                  </a:cubicBezTo>
                  <a:cubicBezTo>
                    <a:pt x="90488" y="55991"/>
                    <a:pt x="103633" y="42862"/>
                    <a:pt x="120721" y="42862"/>
                  </a:cubicBezTo>
                  <a:close/>
                  <a:moveTo>
                    <a:pt x="11877" y="0"/>
                  </a:moveTo>
                  <a:cubicBezTo>
                    <a:pt x="11877" y="0"/>
                    <a:pt x="11877" y="0"/>
                    <a:pt x="208517" y="0"/>
                  </a:cubicBezTo>
                  <a:cubicBezTo>
                    <a:pt x="213796" y="0"/>
                    <a:pt x="219075" y="5254"/>
                    <a:pt x="219075" y="11821"/>
                  </a:cubicBezTo>
                  <a:cubicBezTo>
                    <a:pt x="219075" y="11821"/>
                    <a:pt x="219075" y="11821"/>
                    <a:pt x="219075" y="24957"/>
                  </a:cubicBezTo>
                  <a:cubicBezTo>
                    <a:pt x="219075" y="24957"/>
                    <a:pt x="219075" y="24957"/>
                    <a:pt x="121415" y="24957"/>
                  </a:cubicBezTo>
                  <a:cubicBezTo>
                    <a:pt x="95021" y="24957"/>
                    <a:pt x="72585" y="45973"/>
                    <a:pt x="72585" y="72243"/>
                  </a:cubicBezTo>
                  <a:cubicBezTo>
                    <a:pt x="72585" y="72243"/>
                    <a:pt x="72585" y="72243"/>
                    <a:pt x="72585" y="152368"/>
                  </a:cubicBezTo>
                  <a:cubicBezTo>
                    <a:pt x="72585" y="178638"/>
                    <a:pt x="93701" y="199654"/>
                    <a:pt x="118776" y="200968"/>
                  </a:cubicBezTo>
                  <a:cubicBezTo>
                    <a:pt x="118776" y="200968"/>
                    <a:pt x="118776" y="200968"/>
                    <a:pt x="118776" y="207536"/>
                  </a:cubicBezTo>
                  <a:cubicBezTo>
                    <a:pt x="118776" y="219357"/>
                    <a:pt x="126694" y="229865"/>
                    <a:pt x="137252" y="233806"/>
                  </a:cubicBezTo>
                  <a:cubicBezTo>
                    <a:pt x="141211" y="236433"/>
                    <a:pt x="145170" y="236433"/>
                    <a:pt x="149130" y="236433"/>
                  </a:cubicBezTo>
                  <a:cubicBezTo>
                    <a:pt x="157048" y="236433"/>
                    <a:pt x="163647" y="233806"/>
                    <a:pt x="170245" y="228552"/>
                  </a:cubicBezTo>
                  <a:cubicBezTo>
                    <a:pt x="170245" y="228552"/>
                    <a:pt x="170245" y="228552"/>
                    <a:pt x="196640" y="200968"/>
                  </a:cubicBezTo>
                  <a:cubicBezTo>
                    <a:pt x="196640" y="200968"/>
                    <a:pt x="196640" y="200968"/>
                    <a:pt x="219075" y="200968"/>
                  </a:cubicBezTo>
                  <a:cubicBezTo>
                    <a:pt x="219075" y="200968"/>
                    <a:pt x="219075" y="200968"/>
                    <a:pt x="219075" y="258763"/>
                  </a:cubicBezTo>
                  <a:lnTo>
                    <a:pt x="0" y="258763"/>
                  </a:lnTo>
                  <a:cubicBezTo>
                    <a:pt x="0" y="258763"/>
                    <a:pt x="0" y="258763"/>
                    <a:pt x="0" y="11821"/>
                  </a:cubicBezTo>
                  <a:cubicBezTo>
                    <a:pt x="0" y="5254"/>
                    <a:pt x="5279" y="0"/>
                    <a:pt x="11877" y="0"/>
                  </a:cubicBezTo>
                  <a:close/>
                </a:path>
              </a:pathLst>
            </a:custGeom>
            <a:solidFill>
              <a:schemeClr val="bg1"/>
            </a:solidFill>
            <a:ln>
              <a:noFill/>
            </a:ln>
            <a:extLst/>
          </p:spPr>
          <p:txBody>
            <a:bodyPr wrap="square" lIns="91440" tIns="45720" rIns="91440" bIns="45720" anchor="ctr">
              <a:normAutofit/>
            </a:bodyPr>
            <a:lstStyle/>
            <a:p>
              <a:pPr algn="ctr"/>
              <a:endParaRPr/>
            </a:p>
          </p:txBody>
        </p:sp>
      </p:grpSp>
      <p:sp>
        <p:nvSpPr>
          <p:cNvPr id="3" name="矩形 2"/>
          <p:cNvSpPr/>
          <p:nvPr/>
        </p:nvSpPr>
        <p:spPr>
          <a:xfrm>
            <a:off x="3612806" y="4574299"/>
            <a:ext cx="1613711" cy="646331"/>
          </a:xfrm>
          <a:prstGeom prst="rect">
            <a:avLst/>
          </a:prstGeom>
        </p:spPr>
        <p:txBody>
          <a:bodyPr wrap="square">
            <a:spAutoFit/>
          </a:bodyPr>
          <a:lstStyle/>
          <a:p>
            <a:r>
              <a:rPr lang="zh-CN" altLang="en-US" sz="1800" b="1" dirty="0">
                <a:solidFill>
                  <a:schemeClr val="bg1"/>
                </a:solidFill>
                <a:latin typeface="微软雅黑" pitchFamily="34" charset="-122"/>
                <a:ea typeface="微软雅黑" pitchFamily="34" charset="-122"/>
              </a:rPr>
              <a:t>打开进入</a:t>
            </a:r>
            <a:r>
              <a:rPr lang="en-US" altLang="zh-CN" sz="1800" b="1" dirty="0">
                <a:solidFill>
                  <a:schemeClr val="bg1"/>
                </a:solidFill>
                <a:latin typeface="微软雅黑" pitchFamily="34" charset="-122"/>
                <a:ea typeface="微软雅黑" pitchFamily="34" charset="-122"/>
              </a:rPr>
              <a:t>APP</a:t>
            </a:r>
            <a:r>
              <a:rPr lang="zh-CN" altLang="en-US" sz="1800" b="1" dirty="0">
                <a:solidFill>
                  <a:schemeClr val="bg1"/>
                </a:solidFill>
                <a:latin typeface="微软雅黑" pitchFamily="34" charset="-122"/>
                <a:ea typeface="微软雅黑" pitchFamily="34" charset="-122"/>
              </a:rPr>
              <a:t>的用户数</a:t>
            </a:r>
            <a:endParaRPr lang="zh-CN" altLang="en-US" sz="1800" b="1" dirty="0">
              <a:solidFill>
                <a:schemeClr val="bg1"/>
              </a:solidFill>
              <a:latin typeface="微软雅黑" pitchFamily="34" charset="-122"/>
              <a:ea typeface="微软雅黑" pitchFamily="34" charset="-122"/>
            </a:endParaRPr>
          </a:p>
        </p:txBody>
      </p:sp>
      <p:sp>
        <p:nvSpPr>
          <p:cNvPr id="36" name="椭圆 35"/>
          <p:cNvSpPr/>
          <p:nvPr/>
        </p:nvSpPr>
        <p:spPr>
          <a:xfrm>
            <a:off x="2739833" y="3315943"/>
            <a:ext cx="539750" cy="539750"/>
          </a:xfrm>
          <a:prstGeom prst="ellipse">
            <a:avLst/>
          </a:prstGeom>
          <a:solidFill>
            <a:schemeClr val="bg1">
              <a:lumMod val="50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altLang="zh-CN" dirty="0">
                <a:latin typeface="Impact" pitchFamily="34" charset="0"/>
              </a:rPr>
              <a:t>1</a:t>
            </a:r>
            <a:endParaRPr lang="zh-CN" altLang="en-US" dirty="0">
              <a:latin typeface="Impact" pitchFamily="34" charset="0"/>
            </a:endParaRPr>
          </a:p>
        </p:txBody>
      </p:sp>
      <p:sp>
        <p:nvSpPr>
          <p:cNvPr id="37" name="椭圆 36"/>
          <p:cNvSpPr/>
          <p:nvPr/>
        </p:nvSpPr>
        <p:spPr>
          <a:xfrm>
            <a:off x="2739833" y="4560974"/>
            <a:ext cx="539750" cy="539750"/>
          </a:xfrm>
          <a:prstGeom prst="ellipse">
            <a:avLst/>
          </a:prstGeom>
          <a:solidFill>
            <a:schemeClr val="tx2">
              <a:lumMod val="60000"/>
              <a:lumOff val="40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altLang="zh-CN" dirty="0" smtClean="0">
                <a:latin typeface="Impact" pitchFamily="34" charset="0"/>
              </a:rPr>
              <a:t>2</a:t>
            </a:r>
            <a:endParaRPr lang="zh-CN" altLang="en-US" dirty="0">
              <a:latin typeface="Impact" pitchFamily="34" charset="0"/>
            </a:endParaRPr>
          </a:p>
        </p:txBody>
      </p:sp>
      <p:sp>
        <p:nvSpPr>
          <p:cNvPr id="38" name="椭圆 37"/>
          <p:cNvSpPr/>
          <p:nvPr/>
        </p:nvSpPr>
        <p:spPr>
          <a:xfrm>
            <a:off x="2739833" y="5806005"/>
            <a:ext cx="539750" cy="539750"/>
          </a:xfrm>
          <a:prstGeom prst="ellipse">
            <a:avLst/>
          </a:prstGeom>
          <a:solidFill>
            <a:schemeClr val="bg1">
              <a:lumMod val="50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altLang="zh-CN" dirty="0" smtClean="0">
                <a:latin typeface="Impact" pitchFamily="34" charset="0"/>
              </a:rPr>
              <a:t>3</a:t>
            </a:r>
            <a:endParaRPr lang="zh-CN" altLang="en-US" dirty="0">
              <a:latin typeface="Impact" pitchFamily="34" charset="0"/>
            </a:endParaRPr>
          </a:p>
        </p:txBody>
      </p:sp>
      <p:sp>
        <p:nvSpPr>
          <p:cNvPr id="39" name="Text Box 2"/>
          <p:cNvSpPr txBox="1">
            <a:spLocks noChangeArrowheads="1"/>
          </p:cNvSpPr>
          <p:nvPr/>
        </p:nvSpPr>
        <p:spPr bwMode="auto">
          <a:xfrm>
            <a:off x="175828" y="3150400"/>
            <a:ext cx="2564005" cy="738664"/>
          </a:xfrm>
          <a:prstGeom prst="rect">
            <a:avLst/>
          </a:prstGeom>
          <a:noFill/>
          <a:ln w="9525">
            <a:noFill/>
            <a:miter lim="800000"/>
            <a:headEnd/>
            <a:tailEnd/>
          </a:ln>
        </p:spPr>
        <p:txBody>
          <a:bodyPr wrap="square">
            <a:spAutoFit/>
          </a:bodyPr>
          <a:lstStyle/>
          <a:p>
            <a:pPr>
              <a:lnSpc>
                <a:spcPct val="150000"/>
              </a:lnSpc>
            </a:pPr>
            <a:r>
              <a:rPr lang="zh-CN" altLang="en-US" sz="1400" dirty="0">
                <a:latin typeface="微软雅黑" pitchFamily="34" charset="-122"/>
                <a:ea typeface="微软雅黑" pitchFamily="34" charset="-122"/>
              </a:rPr>
              <a:t>关注渠道转化率，分析用户从哪里来</a:t>
            </a:r>
            <a:endParaRPr lang="en-US" altLang="zh-CN" sz="1400" dirty="0" smtClean="0">
              <a:latin typeface="微软雅黑" pitchFamily="34" charset="-122"/>
              <a:ea typeface="微软雅黑" pitchFamily="34" charset="-122"/>
            </a:endParaRPr>
          </a:p>
        </p:txBody>
      </p:sp>
      <p:sp>
        <p:nvSpPr>
          <p:cNvPr id="40" name="Text Box 2"/>
          <p:cNvSpPr txBox="1">
            <a:spLocks noChangeArrowheads="1"/>
          </p:cNvSpPr>
          <p:nvPr/>
        </p:nvSpPr>
        <p:spPr bwMode="auto">
          <a:xfrm>
            <a:off x="175828" y="4150058"/>
            <a:ext cx="2564005" cy="1061829"/>
          </a:xfrm>
          <a:prstGeom prst="rect">
            <a:avLst/>
          </a:prstGeom>
          <a:noFill/>
          <a:ln w="9525">
            <a:noFill/>
            <a:miter lim="800000"/>
            <a:headEnd/>
            <a:tailEnd/>
          </a:ln>
        </p:spPr>
        <p:txBody>
          <a:bodyPr wrap="square">
            <a:spAutoFit/>
          </a:bodyPr>
          <a:lstStyle/>
          <a:p>
            <a:pPr>
              <a:lnSpc>
                <a:spcPct val="150000"/>
              </a:lnSpc>
            </a:pPr>
            <a:r>
              <a:rPr lang="zh-CN" altLang="en-US" sz="1400" dirty="0">
                <a:latin typeface="微软雅黑" pitchFamily="34" charset="-122"/>
                <a:ea typeface="微软雅黑" pitchFamily="34" charset="-122"/>
              </a:rPr>
              <a:t>用户通过哪种方式打开的，如通过点击桌面图标、点击通知栏、点击</a:t>
            </a:r>
            <a:r>
              <a:rPr lang="en-US" altLang="zh-CN" sz="1400" dirty="0">
                <a:latin typeface="微软雅黑" pitchFamily="34" charset="-122"/>
                <a:ea typeface="微软雅黑" pitchFamily="34" charset="-122"/>
              </a:rPr>
              <a:t>Push</a:t>
            </a:r>
            <a:r>
              <a:rPr lang="zh-CN" altLang="en-US" sz="1400" dirty="0">
                <a:latin typeface="微软雅黑" pitchFamily="34" charset="-122"/>
                <a:ea typeface="微软雅黑" pitchFamily="34" charset="-122"/>
              </a:rPr>
              <a:t>等</a:t>
            </a:r>
            <a:endParaRPr lang="en-US" altLang="zh-CN" sz="1400" dirty="0" smtClean="0">
              <a:latin typeface="微软雅黑" pitchFamily="34" charset="-122"/>
              <a:ea typeface="微软雅黑" pitchFamily="34" charset="-122"/>
            </a:endParaRPr>
          </a:p>
        </p:txBody>
      </p:sp>
      <p:sp>
        <p:nvSpPr>
          <p:cNvPr id="47" name="Text Box 2"/>
          <p:cNvSpPr txBox="1">
            <a:spLocks noChangeArrowheads="1"/>
          </p:cNvSpPr>
          <p:nvPr/>
        </p:nvSpPr>
        <p:spPr bwMode="auto">
          <a:xfrm>
            <a:off x="175828" y="5456097"/>
            <a:ext cx="2564005" cy="1384995"/>
          </a:xfrm>
          <a:prstGeom prst="rect">
            <a:avLst/>
          </a:prstGeom>
          <a:noFill/>
          <a:ln w="9525">
            <a:noFill/>
            <a:miter lim="800000"/>
            <a:headEnd/>
            <a:tailEnd/>
          </a:ln>
        </p:spPr>
        <p:txBody>
          <a:bodyPr wrap="square">
            <a:spAutoFit/>
          </a:bodyPr>
          <a:lstStyle/>
          <a:p>
            <a:pPr>
              <a:lnSpc>
                <a:spcPct val="150000"/>
              </a:lnSpc>
            </a:pPr>
            <a:r>
              <a:rPr lang="zh-CN" altLang="en-US" sz="1400" dirty="0">
                <a:latin typeface="微软雅黑" pitchFamily="34" charset="-122"/>
                <a:ea typeface="微软雅黑" pitchFamily="34" charset="-122"/>
              </a:rPr>
              <a:t>这类用户的用户画像是什么，</a:t>
            </a:r>
            <a:r>
              <a:rPr lang="zh-CN" altLang="en-US" sz="1400" b="1" dirty="0">
                <a:solidFill>
                  <a:srgbClr val="00B0F0"/>
                </a:solidFill>
                <a:latin typeface="微软雅黑" pitchFamily="34" charset="-122"/>
                <a:ea typeface="微软雅黑" pitchFamily="34" charset="-122"/>
              </a:rPr>
              <a:t>用户画像也更多是在这个时候才最有作用，更多要基于场景和相应的指标来分析</a:t>
            </a:r>
            <a:endParaRPr lang="en-US" altLang="zh-CN" sz="1400" dirty="0" smtClean="0">
              <a:solidFill>
                <a:srgbClr val="00B0F0"/>
              </a:solidFill>
              <a:latin typeface="微软雅黑" pitchFamily="34" charset="-122"/>
              <a:ea typeface="微软雅黑" pitchFamily="34" charset="-122"/>
            </a:endParaRPr>
          </a:p>
        </p:txBody>
      </p:sp>
      <p:sp>
        <p:nvSpPr>
          <p:cNvPr id="48" name="Text Box 2"/>
          <p:cNvSpPr txBox="1">
            <a:spLocks noChangeArrowheads="1"/>
          </p:cNvSpPr>
          <p:nvPr/>
        </p:nvSpPr>
        <p:spPr bwMode="auto">
          <a:xfrm>
            <a:off x="7922235" y="3150400"/>
            <a:ext cx="2564005" cy="1384995"/>
          </a:xfrm>
          <a:prstGeom prst="rect">
            <a:avLst/>
          </a:prstGeom>
          <a:noFill/>
          <a:ln w="9525">
            <a:noFill/>
            <a:miter lim="800000"/>
            <a:headEnd/>
            <a:tailEnd/>
          </a:ln>
        </p:spPr>
        <p:txBody>
          <a:bodyPr wrap="square">
            <a:spAutoFit/>
          </a:bodyPr>
          <a:lstStyle/>
          <a:p>
            <a:pPr>
              <a:lnSpc>
                <a:spcPct val="150000"/>
              </a:lnSpc>
            </a:pPr>
            <a:r>
              <a:rPr lang="zh-CN" altLang="en-US" sz="1400" dirty="0">
                <a:latin typeface="微软雅黑" pitchFamily="34" charset="-122"/>
                <a:ea typeface="微软雅黑" pitchFamily="34" charset="-122"/>
              </a:rPr>
              <a:t>停留时长的分布，停留</a:t>
            </a:r>
            <a:r>
              <a:rPr lang="en-US" altLang="zh-CN" sz="1400" dirty="0">
                <a:latin typeface="微软雅黑" pitchFamily="34" charset="-122"/>
                <a:ea typeface="微软雅黑" pitchFamily="34" charset="-122"/>
              </a:rPr>
              <a:t>1</a:t>
            </a:r>
            <a:r>
              <a:rPr lang="zh-CN" altLang="en-US" sz="1400" dirty="0">
                <a:latin typeface="微软雅黑" pitchFamily="34" charset="-122"/>
                <a:ea typeface="微软雅黑" pitchFamily="34" charset="-122"/>
              </a:rPr>
              <a:t>秒的用户有多少、</a:t>
            </a:r>
            <a:r>
              <a:rPr lang="en-US" altLang="zh-CN" sz="1400" dirty="0">
                <a:latin typeface="微软雅黑" pitchFamily="34" charset="-122"/>
                <a:ea typeface="微软雅黑" pitchFamily="34" charset="-122"/>
              </a:rPr>
              <a:t>2</a:t>
            </a:r>
            <a:r>
              <a:rPr lang="zh-CN" altLang="en-US" sz="1400" dirty="0">
                <a:latin typeface="微软雅黑" pitchFamily="34" charset="-122"/>
                <a:ea typeface="微软雅黑" pitchFamily="34" charset="-122"/>
              </a:rPr>
              <a:t>秒的用户有多少、</a:t>
            </a:r>
            <a:r>
              <a:rPr lang="en-US" altLang="zh-CN" sz="1400" dirty="0">
                <a:latin typeface="微软雅黑" pitchFamily="34" charset="-122"/>
                <a:ea typeface="微软雅黑" pitchFamily="34" charset="-122"/>
              </a:rPr>
              <a:t>3</a:t>
            </a:r>
            <a:r>
              <a:rPr lang="zh-CN" altLang="en-US" sz="1400" dirty="0">
                <a:latin typeface="微软雅黑" pitchFamily="34" charset="-122"/>
                <a:ea typeface="微软雅黑" pitchFamily="34" charset="-122"/>
              </a:rPr>
              <a:t>秒的用户有多少，具体分布情况是怎样的</a:t>
            </a:r>
            <a:endParaRPr lang="en-US" altLang="zh-CN" sz="1400" dirty="0" smtClean="0">
              <a:latin typeface="微软雅黑" pitchFamily="34" charset="-122"/>
              <a:ea typeface="微软雅黑" pitchFamily="34" charset="-122"/>
            </a:endParaRPr>
          </a:p>
        </p:txBody>
      </p:sp>
      <p:sp>
        <p:nvSpPr>
          <p:cNvPr id="51" name="椭圆 50"/>
          <p:cNvSpPr/>
          <p:nvPr/>
        </p:nvSpPr>
        <p:spPr>
          <a:xfrm>
            <a:off x="7291195" y="3315943"/>
            <a:ext cx="539750" cy="539750"/>
          </a:xfrm>
          <a:prstGeom prst="ellipse">
            <a:avLst/>
          </a:prstGeom>
          <a:solidFill>
            <a:schemeClr val="bg1">
              <a:lumMod val="50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altLang="zh-CN" dirty="0">
                <a:latin typeface="Impact" pitchFamily="34" charset="0"/>
              </a:rPr>
              <a:t>1</a:t>
            </a:r>
            <a:endParaRPr lang="zh-CN" altLang="en-US" dirty="0">
              <a:latin typeface="Impact" pitchFamily="34" charset="0"/>
            </a:endParaRPr>
          </a:p>
        </p:txBody>
      </p:sp>
      <p:sp>
        <p:nvSpPr>
          <p:cNvPr id="52" name="椭圆 51"/>
          <p:cNvSpPr/>
          <p:nvPr/>
        </p:nvSpPr>
        <p:spPr>
          <a:xfrm>
            <a:off x="7291195" y="4560974"/>
            <a:ext cx="539750" cy="539750"/>
          </a:xfrm>
          <a:prstGeom prst="ellipse">
            <a:avLst/>
          </a:prstGeom>
          <a:solidFill>
            <a:schemeClr val="tx2">
              <a:lumMod val="60000"/>
              <a:lumOff val="40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altLang="zh-CN" dirty="0" smtClean="0">
                <a:latin typeface="Impact" pitchFamily="34" charset="0"/>
              </a:rPr>
              <a:t>2</a:t>
            </a:r>
            <a:endParaRPr lang="zh-CN" altLang="en-US" dirty="0">
              <a:latin typeface="Impact" pitchFamily="34" charset="0"/>
            </a:endParaRPr>
          </a:p>
        </p:txBody>
      </p:sp>
      <p:sp>
        <p:nvSpPr>
          <p:cNvPr id="53" name="椭圆 52"/>
          <p:cNvSpPr/>
          <p:nvPr/>
        </p:nvSpPr>
        <p:spPr>
          <a:xfrm>
            <a:off x="7291195" y="5806005"/>
            <a:ext cx="539750" cy="539750"/>
          </a:xfrm>
          <a:prstGeom prst="ellipse">
            <a:avLst/>
          </a:prstGeom>
          <a:solidFill>
            <a:schemeClr val="bg1">
              <a:lumMod val="50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altLang="zh-CN" dirty="0" smtClean="0">
                <a:latin typeface="Impact" pitchFamily="34" charset="0"/>
              </a:rPr>
              <a:t>3</a:t>
            </a:r>
            <a:endParaRPr lang="zh-CN" altLang="en-US" dirty="0">
              <a:latin typeface="Impact" pitchFamily="34" charset="0"/>
            </a:endParaRPr>
          </a:p>
        </p:txBody>
      </p:sp>
      <p:sp>
        <p:nvSpPr>
          <p:cNvPr id="54" name="矩形 53"/>
          <p:cNvSpPr/>
          <p:nvPr/>
        </p:nvSpPr>
        <p:spPr>
          <a:xfrm>
            <a:off x="5355670" y="4574299"/>
            <a:ext cx="1613711" cy="646331"/>
          </a:xfrm>
          <a:prstGeom prst="rect">
            <a:avLst/>
          </a:prstGeom>
        </p:spPr>
        <p:txBody>
          <a:bodyPr wrap="square">
            <a:spAutoFit/>
          </a:bodyPr>
          <a:lstStyle/>
          <a:p>
            <a:r>
              <a:rPr lang="zh-CN" altLang="en-US" sz="1800" b="1" dirty="0">
                <a:solidFill>
                  <a:schemeClr val="bg1"/>
                </a:solidFill>
                <a:latin typeface="微软雅黑" pitchFamily="34" charset="-122"/>
                <a:ea typeface="微软雅黑" pitchFamily="34" charset="-122"/>
              </a:rPr>
              <a:t>停留时长大于</a:t>
            </a:r>
            <a:r>
              <a:rPr lang="en-US" altLang="zh-CN" sz="1800" b="1" dirty="0">
                <a:solidFill>
                  <a:schemeClr val="bg1"/>
                </a:solidFill>
                <a:latin typeface="微软雅黑" pitchFamily="34" charset="-122"/>
                <a:ea typeface="微软雅黑" pitchFamily="34" charset="-122"/>
              </a:rPr>
              <a:t>3</a:t>
            </a:r>
            <a:r>
              <a:rPr lang="zh-CN" altLang="en-US" sz="1800" b="1" dirty="0">
                <a:solidFill>
                  <a:schemeClr val="bg1"/>
                </a:solidFill>
                <a:latin typeface="微软雅黑" pitchFamily="34" charset="-122"/>
                <a:ea typeface="微软雅黑" pitchFamily="34" charset="-122"/>
              </a:rPr>
              <a:t>秒的占比</a:t>
            </a:r>
            <a:endParaRPr lang="zh-CN" altLang="en-US" sz="1800" b="1" dirty="0">
              <a:solidFill>
                <a:schemeClr val="bg1"/>
              </a:solidFill>
              <a:latin typeface="微软雅黑" pitchFamily="34" charset="-122"/>
              <a:ea typeface="微软雅黑" pitchFamily="34" charset="-122"/>
            </a:endParaRPr>
          </a:p>
        </p:txBody>
      </p:sp>
      <p:sp>
        <p:nvSpPr>
          <p:cNvPr id="4" name="矩形 3"/>
          <p:cNvSpPr/>
          <p:nvPr/>
        </p:nvSpPr>
        <p:spPr>
          <a:xfrm>
            <a:off x="7922235" y="4635565"/>
            <a:ext cx="2338980" cy="738664"/>
          </a:xfrm>
          <a:prstGeom prst="rect">
            <a:avLst/>
          </a:prstGeom>
          <a:noFill/>
          <a:ln w="9525">
            <a:noFill/>
            <a:miter lim="800000"/>
            <a:headEnd/>
            <a:tailEnd/>
          </a:ln>
        </p:spPr>
        <p:txBody>
          <a:bodyPr wrap="square">
            <a:spAutoFit/>
          </a:bodyPr>
          <a:lstStyle/>
          <a:p>
            <a:pPr>
              <a:lnSpc>
                <a:spcPct val="150000"/>
              </a:lnSpc>
            </a:pPr>
            <a:r>
              <a:rPr lang="zh-CN" altLang="en-US" sz="1400" dirty="0">
                <a:latin typeface="微软雅黑" pitchFamily="34" charset="-122"/>
                <a:ea typeface="微软雅黑" pitchFamily="34" charset="-122"/>
              </a:rPr>
              <a:t>停留大于</a:t>
            </a:r>
            <a:r>
              <a:rPr lang="en-US" altLang="zh-CN" sz="1400" dirty="0">
                <a:latin typeface="微软雅黑" pitchFamily="34" charset="-122"/>
                <a:ea typeface="微软雅黑" pitchFamily="34" charset="-122"/>
              </a:rPr>
              <a:t>3</a:t>
            </a:r>
            <a:r>
              <a:rPr lang="zh-CN" altLang="en-US" sz="1400" dirty="0">
                <a:latin typeface="微软雅黑" pitchFamily="34" charset="-122"/>
                <a:ea typeface="微软雅黑" pitchFamily="34" charset="-122"/>
              </a:rPr>
              <a:t>秒的用户特征和行为特性是怎么样的情况</a:t>
            </a:r>
            <a:endParaRPr lang="zh-CN" altLang="en-US" sz="1400" dirty="0">
              <a:latin typeface="微软雅黑" pitchFamily="34" charset="-122"/>
              <a:ea typeface="微软雅黑" pitchFamily="34" charset="-122"/>
            </a:endParaRPr>
          </a:p>
        </p:txBody>
      </p:sp>
      <p:sp>
        <p:nvSpPr>
          <p:cNvPr id="5" name="矩形 4"/>
          <p:cNvSpPr/>
          <p:nvPr/>
        </p:nvSpPr>
        <p:spPr>
          <a:xfrm>
            <a:off x="7922235" y="5456097"/>
            <a:ext cx="2160203" cy="1061829"/>
          </a:xfrm>
          <a:prstGeom prst="rect">
            <a:avLst/>
          </a:prstGeom>
          <a:noFill/>
          <a:ln w="9525">
            <a:noFill/>
            <a:miter lim="800000"/>
            <a:headEnd/>
            <a:tailEnd/>
          </a:ln>
        </p:spPr>
        <p:txBody>
          <a:bodyPr wrap="square">
            <a:spAutoFit/>
          </a:bodyPr>
          <a:lstStyle/>
          <a:p>
            <a:pPr>
              <a:lnSpc>
                <a:spcPct val="150000"/>
              </a:lnSpc>
            </a:pPr>
            <a:r>
              <a:rPr lang="zh-CN" altLang="en-US" sz="1400" dirty="0">
                <a:latin typeface="微软雅黑" pitchFamily="34" charset="-122"/>
                <a:ea typeface="微软雅黑" pitchFamily="34" charset="-122"/>
              </a:rPr>
              <a:t>停留小于</a:t>
            </a:r>
            <a:r>
              <a:rPr lang="en-US" altLang="zh-CN" sz="1400" dirty="0">
                <a:latin typeface="微软雅黑" pitchFamily="34" charset="-122"/>
                <a:ea typeface="微软雅黑" pitchFamily="34" charset="-122"/>
              </a:rPr>
              <a:t>3</a:t>
            </a:r>
            <a:r>
              <a:rPr lang="zh-CN" altLang="en-US" sz="1400" dirty="0">
                <a:latin typeface="微软雅黑" pitchFamily="34" charset="-122"/>
                <a:ea typeface="微软雅黑" pitchFamily="34" charset="-122"/>
              </a:rPr>
              <a:t>秒的用户特征，并且要分析是否有作弊或刷量的可能性</a:t>
            </a:r>
            <a:endParaRPr lang="zh-CN" altLang="en-US" sz="1400" dirty="0">
              <a:latin typeface="微软雅黑" pitchFamily="34" charset="-122"/>
              <a:ea typeface="微软雅黑" pitchFamily="34" charset="-122"/>
            </a:endParaRP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p:cNvSpPr>
            <a:spLocks noGrp="1"/>
          </p:cNvSpPr>
          <p:nvPr>
            <p:ph type="title"/>
          </p:nvPr>
        </p:nvSpPr>
        <p:spPr/>
        <p:txBody>
          <a:bodyPr/>
          <a:lstStyle/>
          <a:p>
            <a:r>
              <a:rPr lang="zh-CN" altLang="en-US" dirty="0" smtClean="0"/>
              <a:t>指标宣贯、存档、落地</a:t>
            </a:r>
            <a:endParaRPr lang="zh-CN" altLang="en-US" dirty="0" smtClean="0"/>
          </a:p>
        </p:txBody>
      </p:sp>
      <p:sp>
        <p:nvSpPr>
          <p:cNvPr id="5" name="îṡ1ide"/>
          <p:cNvSpPr/>
          <p:nvPr/>
        </p:nvSpPr>
        <p:spPr>
          <a:xfrm>
            <a:off x="1889487" y="1523220"/>
            <a:ext cx="159469" cy="4433054"/>
          </a:xfrm>
          <a:prstGeom prst="rect">
            <a:avLst/>
          </a:prstGeom>
          <a:solidFill>
            <a:schemeClr val="bg1">
              <a:lumMod val="95000"/>
            </a:schemeClr>
          </a:solidFill>
          <a:ln w="12700" cap="rnd">
            <a:noFill/>
            <a:prstDash val="solid"/>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a:bodyPr>
          <a:lstStyle/>
          <a:p>
            <a:pPr algn="ctr" defTabSz="914354"/>
            <a:endParaRPr lang="zh-CN" altLang="en-US" sz="2000" b="1" dirty="0">
              <a:solidFill>
                <a:schemeClr val="bg1"/>
              </a:solidFill>
            </a:endParaRPr>
          </a:p>
        </p:txBody>
      </p:sp>
      <p:sp>
        <p:nvSpPr>
          <p:cNvPr id="23" name="iṥ1íḍê"/>
          <p:cNvSpPr/>
          <p:nvPr/>
        </p:nvSpPr>
        <p:spPr>
          <a:xfrm>
            <a:off x="1895159" y="2111577"/>
            <a:ext cx="148125" cy="148125"/>
          </a:xfrm>
          <a:prstGeom prst="ellipse">
            <a:avLst/>
          </a:prstGeom>
          <a:solidFill>
            <a:schemeClr val="accent1"/>
          </a:solidFill>
          <a:ln w="19050" cap="rnd">
            <a:solidFill>
              <a:schemeClr val="bg1"/>
            </a:solidFill>
            <a:prstDash val="solid"/>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fontScale="25000" lnSpcReduction="20000"/>
          </a:bodyPr>
          <a:lstStyle/>
          <a:p>
            <a:pPr algn="ctr" defTabSz="914354"/>
            <a:endParaRPr lang="zh-CN" altLang="en-US" sz="2000" b="1" dirty="0">
              <a:solidFill>
                <a:schemeClr val="bg1"/>
              </a:solidFill>
            </a:endParaRPr>
          </a:p>
        </p:txBody>
      </p:sp>
      <p:sp>
        <p:nvSpPr>
          <p:cNvPr id="24" name="îşḻïdè"/>
          <p:cNvSpPr/>
          <p:nvPr/>
        </p:nvSpPr>
        <p:spPr>
          <a:xfrm>
            <a:off x="405069" y="1989865"/>
            <a:ext cx="884360" cy="391549"/>
          </a:xfrm>
          <a:prstGeom prst="homePlate">
            <a:avLst/>
          </a:prstGeom>
          <a:solidFill>
            <a:schemeClr val="accent1"/>
          </a:solidFill>
          <a:ln w="12700" cap="rnd">
            <a:noFill/>
            <a:prstDash val="solid"/>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a:bodyPr>
          <a:lstStyle/>
          <a:p>
            <a:pPr algn="ctr" defTabSz="914354"/>
            <a:r>
              <a:rPr lang="zh-CN" altLang="en-US" sz="1800" dirty="0">
                <a:solidFill>
                  <a:schemeClr val="bg1"/>
                </a:solidFill>
                <a:latin typeface="微软雅黑" pitchFamily="34" charset="-122"/>
                <a:ea typeface="微软雅黑" pitchFamily="34" charset="-122"/>
              </a:rPr>
              <a:t>宣贯</a:t>
            </a:r>
            <a:endParaRPr lang="zh-CN" altLang="en-US" sz="1800" dirty="0">
              <a:solidFill>
                <a:schemeClr val="bg1"/>
              </a:solidFill>
              <a:latin typeface="微软雅黑" pitchFamily="34" charset="-122"/>
              <a:ea typeface="微软雅黑" pitchFamily="34" charset="-122"/>
            </a:endParaRPr>
          </a:p>
        </p:txBody>
      </p:sp>
      <p:sp>
        <p:nvSpPr>
          <p:cNvPr id="25" name="ísḷídê"/>
          <p:cNvSpPr/>
          <p:nvPr/>
        </p:nvSpPr>
        <p:spPr>
          <a:xfrm>
            <a:off x="2499578" y="1757584"/>
            <a:ext cx="856111" cy="856111"/>
          </a:xfrm>
          <a:prstGeom prst="ellipse">
            <a:avLst/>
          </a:prstGeom>
          <a:pattFill prst="pct5">
            <a:fgClr>
              <a:srgbClr val="E4E6EA"/>
            </a:fgClr>
            <a:bgClr>
              <a:srgbClr val="ADB5BF"/>
            </a:bgClr>
          </a:pattFill>
          <a:ln w="19050">
            <a:noFill/>
            <a:prstDash val="solid"/>
            <a:miter lim="800000"/>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a:bodyPr>
          <a:lstStyle/>
          <a:p>
            <a:pPr algn="ctr" defTabSz="914354"/>
            <a:endParaRPr lang="zh-CN" altLang="en-US" sz="2000" b="1" dirty="0">
              <a:solidFill>
                <a:schemeClr val="bg1"/>
              </a:solidFill>
            </a:endParaRPr>
          </a:p>
        </p:txBody>
      </p:sp>
      <p:sp>
        <p:nvSpPr>
          <p:cNvPr id="17" name="îšḻíḍè"/>
          <p:cNvSpPr/>
          <p:nvPr/>
        </p:nvSpPr>
        <p:spPr>
          <a:xfrm>
            <a:off x="1895159" y="3665684"/>
            <a:ext cx="148125" cy="148125"/>
          </a:xfrm>
          <a:prstGeom prst="ellipse">
            <a:avLst/>
          </a:prstGeom>
          <a:solidFill>
            <a:schemeClr val="accent1"/>
          </a:solidFill>
          <a:ln w="19050" cap="rnd">
            <a:solidFill>
              <a:schemeClr val="bg1"/>
            </a:solidFill>
            <a:prstDash val="solid"/>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fontScale="25000" lnSpcReduction="20000"/>
          </a:bodyPr>
          <a:lstStyle/>
          <a:p>
            <a:pPr algn="ctr" defTabSz="914354"/>
            <a:endParaRPr lang="zh-CN" altLang="en-US" sz="2000" b="1" dirty="0">
              <a:solidFill>
                <a:schemeClr val="bg1"/>
              </a:solidFill>
            </a:endParaRPr>
          </a:p>
        </p:txBody>
      </p:sp>
      <p:sp>
        <p:nvSpPr>
          <p:cNvPr id="18" name="îš1iďé"/>
          <p:cNvSpPr/>
          <p:nvPr/>
        </p:nvSpPr>
        <p:spPr>
          <a:xfrm>
            <a:off x="405069" y="3543972"/>
            <a:ext cx="884360" cy="391549"/>
          </a:xfrm>
          <a:prstGeom prst="homePlate">
            <a:avLst/>
          </a:prstGeom>
          <a:solidFill>
            <a:schemeClr val="accent1"/>
          </a:solidFill>
          <a:ln w="12700" cap="rnd">
            <a:noFill/>
            <a:prstDash val="solid"/>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a:bodyPr>
          <a:lstStyle/>
          <a:p>
            <a:pPr algn="ctr" defTabSz="914354"/>
            <a:r>
              <a:rPr lang="zh-CN" altLang="en-US" sz="1800" dirty="0" smtClean="0">
                <a:solidFill>
                  <a:schemeClr val="bg1"/>
                </a:solidFill>
                <a:latin typeface="微软雅黑" pitchFamily="34" charset="-122"/>
                <a:ea typeface="微软雅黑" pitchFamily="34" charset="-122"/>
              </a:rPr>
              <a:t>存档</a:t>
            </a:r>
            <a:endParaRPr lang="zh-CN" altLang="en-US" sz="1800" dirty="0">
              <a:solidFill>
                <a:schemeClr val="bg1"/>
              </a:solidFill>
              <a:latin typeface="微软雅黑" pitchFamily="34" charset="-122"/>
              <a:ea typeface="微软雅黑" pitchFamily="34" charset="-122"/>
            </a:endParaRPr>
          </a:p>
        </p:txBody>
      </p:sp>
      <p:sp>
        <p:nvSpPr>
          <p:cNvPr id="19" name="îṩḻíḑè"/>
          <p:cNvSpPr/>
          <p:nvPr/>
        </p:nvSpPr>
        <p:spPr>
          <a:xfrm>
            <a:off x="2499578" y="3311691"/>
            <a:ext cx="856111" cy="856111"/>
          </a:xfrm>
          <a:prstGeom prst="ellipse">
            <a:avLst/>
          </a:prstGeom>
          <a:pattFill prst="pct5">
            <a:fgClr>
              <a:srgbClr val="E4E6EA"/>
            </a:fgClr>
            <a:bgClr>
              <a:srgbClr val="ADB5BF"/>
            </a:bgClr>
          </a:pattFill>
          <a:ln w="19050">
            <a:noFill/>
            <a:prstDash val="solid"/>
            <a:miter lim="800000"/>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a:bodyPr>
          <a:lstStyle/>
          <a:p>
            <a:pPr algn="ctr" defTabSz="914354"/>
            <a:endParaRPr lang="zh-CN" altLang="en-US" sz="2000" b="1" dirty="0">
              <a:solidFill>
                <a:schemeClr val="bg1"/>
              </a:solidFill>
            </a:endParaRPr>
          </a:p>
        </p:txBody>
      </p:sp>
      <p:sp>
        <p:nvSpPr>
          <p:cNvPr id="11" name="ísľîḋe"/>
          <p:cNvSpPr/>
          <p:nvPr/>
        </p:nvSpPr>
        <p:spPr>
          <a:xfrm>
            <a:off x="1895159" y="5219791"/>
            <a:ext cx="148125" cy="148125"/>
          </a:xfrm>
          <a:prstGeom prst="ellipse">
            <a:avLst/>
          </a:prstGeom>
          <a:solidFill>
            <a:schemeClr val="accent1"/>
          </a:solidFill>
          <a:ln w="19050" cap="rnd">
            <a:solidFill>
              <a:schemeClr val="bg1"/>
            </a:solidFill>
            <a:prstDash val="solid"/>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fontScale="25000" lnSpcReduction="20000"/>
          </a:bodyPr>
          <a:lstStyle/>
          <a:p>
            <a:pPr algn="ctr" defTabSz="914354"/>
            <a:endParaRPr lang="zh-CN" altLang="en-US" sz="2000" b="1" dirty="0">
              <a:solidFill>
                <a:schemeClr val="bg1"/>
              </a:solidFill>
            </a:endParaRPr>
          </a:p>
        </p:txBody>
      </p:sp>
      <p:sp>
        <p:nvSpPr>
          <p:cNvPr id="12" name="íṧḷíḓè"/>
          <p:cNvSpPr/>
          <p:nvPr/>
        </p:nvSpPr>
        <p:spPr>
          <a:xfrm>
            <a:off x="405069" y="5098079"/>
            <a:ext cx="884360" cy="391549"/>
          </a:xfrm>
          <a:prstGeom prst="homePlate">
            <a:avLst/>
          </a:prstGeom>
          <a:solidFill>
            <a:schemeClr val="accent1"/>
          </a:solidFill>
          <a:ln w="12700" cap="rnd">
            <a:noFill/>
            <a:prstDash val="solid"/>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a:bodyPr>
          <a:lstStyle/>
          <a:p>
            <a:pPr algn="ctr" defTabSz="914354"/>
            <a:r>
              <a:rPr lang="zh-CN" altLang="en-US" sz="1800" dirty="0" smtClean="0">
                <a:solidFill>
                  <a:schemeClr val="bg1"/>
                </a:solidFill>
                <a:latin typeface="微软雅黑" pitchFamily="34" charset="-122"/>
                <a:ea typeface="微软雅黑" pitchFamily="34" charset="-122"/>
              </a:rPr>
              <a:t>落地</a:t>
            </a:r>
            <a:endParaRPr lang="zh-CN" altLang="en-US" sz="1800" dirty="0">
              <a:solidFill>
                <a:schemeClr val="bg1"/>
              </a:solidFill>
              <a:latin typeface="微软雅黑" pitchFamily="34" charset="-122"/>
              <a:ea typeface="微软雅黑" pitchFamily="34" charset="-122"/>
            </a:endParaRPr>
          </a:p>
        </p:txBody>
      </p:sp>
      <p:sp>
        <p:nvSpPr>
          <p:cNvPr id="13" name="ïšḻíďé"/>
          <p:cNvSpPr/>
          <p:nvPr/>
        </p:nvSpPr>
        <p:spPr>
          <a:xfrm>
            <a:off x="2499578" y="4865798"/>
            <a:ext cx="856111" cy="856111"/>
          </a:xfrm>
          <a:prstGeom prst="ellipse">
            <a:avLst/>
          </a:prstGeom>
          <a:pattFill prst="pct5">
            <a:fgClr>
              <a:srgbClr val="E4E6EA"/>
            </a:fgClr>
            <a:bgClr>
              <a:srgbClr val="ADB5BF"/>
            </a:bgClr>
          </a:pattFill>
          <a:ln w="19050">
            <a:noFill/>
            <a:prstDash val="solid"/>
            <a:miter lim="800000"/>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a:bodyPr>
          <a:lstStyle/>
          <a:p>
            <a:pPr algn="ctr" defTabSz="914354"/>
            <a:endParaRPr lang="zh-CN" altLang="en-US" sz="2000" b="1" dirty="0">
              <a:solidFill>
                <a:schemeClr val="bg1"/>
              </a:solidFill>
            </a:endParaRPr>
          </a:p>
        </p:txBody>
      </p:sp>
      <p:cxnSp>
        <p:nvCxnSpPr>
          <p:cNvPr id="9" name="直接连接符 8"/>
          <p:cNvCxnSpPr/>
          <p:nvPr/>
        </p:nvCxnSpPr>
        <p:spPr>
          <a:xfrm>
            <a:off x="3579495" y="2962694"/>
            <a:ext cx="6445526" cy="0"/>
          </a:xfrm>
          <a:prstGeom prst="line">
            <a:avLst/>
          </a:prstGeom>
          <a:ln w="3175"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3579495" y="4516801"/>
            <a:ext cx="6445526" cy="0"/>
          </a:xfrm>
          <a:prstGeom prst="line">
            <a:avLst/>
          </a:prstGeom>
          <a:ln w="3175"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sp>
        <p:nvSpPr>
          <p:cNvPr id="2" name="矩形 1"/>
          <p:cNvSpPr/>
          <p:nvPr/>
        </p:nvSpPr>
        <p:spPr>
          <a:xfrm>
            <a:off x="3399475" y="1615292"/>
            <a:ext cx="6591710" cy="1200329"/>
          </a:xfrm>
          <a:prstGeom prst="rect">
            <a:avLst/>
          </a:prstGeom>
        </p:spPr>
        <p:txBody>
          <a:bodyPr wrap="square">
            <a:spAutoFit/>
          </a:bodyPr>
          <a:lstStyle/>
          <a:p>
            <a:pPr>
              <a:lnSpc>
                <a:spcPct val="150000"/>
              </a:lnSpc>
            </a:pPr>
            <a:r>
              <a:rPr lang="zh-CN" altLang="en-US" sz="1600" dirty="0">
                <a:latin typeface="微软雅黑" pitchFamily="34" charset="-122"/>
                <a:ea typeface="微软雅黑" pitchFamily="34" charset="-122"/>
              </a:rPr>
              <a:t>就是在完成整个指标体系搭建后，要当面告知所有相关业务人员，最好开会并邮件。一方面为下一步工作做铺垫，另一方面是为了让所有相关人员知晓已完成，以防甩锅</a:t>
            </a:r>
            <a:endParaRPr lang="zh-CN" altLang="en-US" sz="1600" dirty="0">
              <a:latin typeface="微软雅黑" pitchFamily="34" charset="-122"/>
              <a:ea typeface="微软雅黑" pitchFamily="34" charset="-122"/>
            </a:endParaRPr>
          </a:p>
        </p:txBody>
      </p:sp>
      <p:sp>
        <p:nvSpPr>
          <p:cNvPr id="3" name="矩形 2"/>
          <p:cNvSpPr/>
          <p:nvPr/>
        </p:nvSpPr>
        <p:spPr>
          <a:xfrm>
            <a:off x="3399475" y="3169852"/>
            <a:ext cx="6456695" cy="1200329"/>
          </a:xfrm>
          <a:prstGeom prst="rect">
            <a:avLst/>
          </a:prstGeom>
        </p:spPr>
        <p:txBody>
          <a:bodyPr wrap="square">
            <a:spAutoFit/>
          </a:bodyPr>
          <a:lstStyle/>
          <a:p>
            <a:pPr>
              <a:lnSpc>
                <a:spcPct val="150000"/>
              </a:lnSpc>
            </a:pPr>
            <a:r>
              <a:rPr lang="zh-CN" altLang="en-US" sz="1600" dirty="0">
                <a:latin typeface="微软雅黑" pitchFamily="34" charset="-122"/>
                <a:ea typeface="微软雅黑" pitchFamily="34" charset="-122"/>
              </a:rPr>
              <a:t>对指标口径也业务逻辑进行详细的描述存档，如</a:t>
            </a:r>
            <a:r>
              <a:rPr lang="en-US" altLang="zh-CN" sz="1600" dirty="0">
                <a:latin typeface="微软雅黑" pitchFamily="34" charset="-122"/>
                <a:ea typeface="微软雅黑" pitchFamily="34" charset="-122"/>
              </a:rPr>
              <a:t>xxx</a:t>
            </a:r>
            <a:r>
              <a:rPr lang="zh-CN" altLang="en-US" sz="1600" dirty="0">
                <a:latin typeface="微软雅黑" pitchFamily="34" charset="-122"/>
                <a:ea typeface="微软雅黑" pitchFamily="34" charset="-122"/>
              </a:rPr>
              <a:t>功能如渗透率</a:t>
            </a:r>
            <a:r>
              <a:rPr lang="en-US" altLang="zh-CN" sz="1600" dirty="0">
                <a:latin typeface="微软雅黑" pitchFamily="34" charset="-122"/>
                <a:ea typeface="微软雅黑" pitchFamily="34" charset="-122"/>
              </a:rPr>
              <a:t>=</a:t>
            </a:r>
            <a:r>
              <a:rPr lang="zh-CN" altLang="en-US" sz="1600" dirty="0">
                <a:latin typeface="微软雅黑" pitchFamily="34" charset="-122"/>
                <a:ea typeface="微软雅黑" pitchFamily="34" charset="-122"/>
              </a:rPr>
              <a:t>该功能的日点击人数</a:t>
            </a:r>
            <a:r>
              <a:rPr lang="en-US" altLang="zh-CN" sz="1600" dirty="0">
                <a:latin typeface="微软雅黑" pitchFamily="34" charset="-122"/>
                <a:ea typeface="微软雅黑" pitchFamily="34" charset="-122"/>
              </a:rPr>
              <a:t>/</a:t>
            </a:r>
            <a:r>
              <a:rPr lang="zh-CN" altLang="en-US" sz="1600" dirty="0">
                <a:latin typeface="微软雅黑" pitchFamily="34" charset="-122"/>
                <a:ea typeface="微软雅黑" pitchFamily="34" charset="-122"/>
              </a:rPr>
              <a:t>日活。只有完成这一步，之后的人在查阅时才能看懂是什么意思</a:t>
            </a:r>
            <a:endParaRPr lang="zh-CN" altLang="en-US" sz="1600" dirty="0">
              <a:latin typeface="微软雅黑" pitchFamily="34" charset="-122"/>
              <a:ea typeface="微软雅黑" pitchFamily="34" charset="-122"/>
            </a:endParaRPr>
          </a:p>
        </p:txBody>
      </p:sp>
      <p:sp>
        <p:nvSpPr>
          <p:cNvPr id="29" name="矩形 28"/>
          <p:cNvSpPr/>
          <p:nvPr/>
        </p:nvSpPr>
        <p:spPr>
          <a:xfrm>
            <a:off x="3399475" y="4790032"/>
            <a:ext cx="6321680" cy="830997"/>
          </a:xfrm>
          <a:prstGeom prst="rect">
            <a:avLst/>
          </a:prstGeom>
        </p:spPr>
        <p:txBody>
          <a:bodyPr wrap="square">
            <a:spAutoFit/>
          </a:bodyPr>
          <a:lstStyle/>
          <a:p>
            <a:pPr>
              <a:lnSpc>
                <a:spcPct val="150000"/>
              </a:lnSpc>
            </a:pPr>
            <a:r>
              <a:rPr lang="zh-CN" altLang="en-US" sz="1600" dirty="0">
                <a:latin typeface="微软雅黑" pitchFamily="34" charset="-122"/>
                <a:ea typeface="微软雅黑" pitchFamily="34" charset="-122"/>
              </a:rPr>
              <a:t>就是建立核心指标的相关报表，实际工作中，报表会在埋点前建好的，这样的话一旦版本上线就能立刻看到数据，而且也比较容易发现问题</a:t>
            </a:r>
            <a:endParaRPr lang="zh-CN" altLang="en-US" sz="1600" dirty="0">
              <a:latin typeface="微软雅黑" pitchFamily="34" charset="-122"/>
              <a:ea typeface="微软雅黑" pitchFamily="34" charset="-122"/>
            </a:endParaRP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ISLIDE.PICTURE" val="#123455;"/>
</p:tagLst>
</file>

<file path=ppt/tags/tag2.xml><?xml version="1.0" encoding="utf-8"?>
<p:tagLst xmlns:a="http://schemas.openxmlformats.org/drawingml/2006/main" xmlns:r="http://schemas.openxmlformats.org/officeDocument/2006/relationships" xmlns:p="http://schemas.openxmlformats.org/presentationml/2006/main">
  <p:tag name="ISLIDE.ICON" val="#407144;#405318;#405088;#407180;"/>
</p:tagLst>
</file>

<file path=ppt/tags/tag3.xml><?xml version="1.0" encoding="utf-8"?>
<p:tagLst xmlns:a="http://schemas.openxmlformats.org/drawingml/2006/main" xmlns:r="http://schemas.openxmlformats.org/officeDocument/2006/relationships" xmlns:p="http://schemas.openxmlformats.org/presentationml/2006/main">
  <p:tag name="ISLIDE.DIAGRAM" val="#3382"/>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725</TotalTime>
  <Words>769</Words>
  <Application>Microsoft Office PowerPoint</Application>
  <PresentationFormat>自定义</PresentationFormat>
  <Paragraphs>72</Paragraphs>
  <Slides>9</Slides>
  <Notes>0</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9</vt:i4>
      </vt:variant>
    </vt:vector>
  </HeadingPairs>
  <TitlesOfParts>
    <vt:vector size="16" baseType="lpstr">
      <vt:lpstr>Arial</vt:lpstr>
      <vt:lpstr>宋体</vt:lpstr>
      <vt:lpstr>Impact</vt:lpstr>
      <vt:lpstr>微软雅黑</vt:lpstr>
      <vt:lpstr>Arial Unicode MS</vt:lpstr>
      <vt:lpstr>Calibri</vt:lpstr>
      <vt:lpstr>Office 主题​​</vt:lpstr>
      <vt:lpstr>PowerPoint 演示文稿</vt:lpstr>
      <vt:lpstr>指标选取三原则</vt:lpstr>
      <vt:lpstr>指标体系建立四步曲</vt:lpstr>
      <vt:lpstr>指标构成</vt:lpstr>
      <vt:lpstr>指标构建步骤</vt:lpstr>
      <vt:lpstr>理清业务阶段和方向</vt:lpstr>
      <vt:lpstr>确定核心指标</vt:lpstr>
      <vt:lpstr>核心指标维度拆解</vt:lpstr>
      <vt:lpstr>指标宣贯、存档、落地</vt:lpstr>
    </vt:vector>
  </TitlesOfParts>
  <Company>Lenovo (Beijing) Limited</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lixzva</dc:creator>
  <cp:lastModifiedBy>l</cp:lastModifiedBy>
  <cp:revision>69</cp:revision>
  <dcterms:created xsi:type="dcterms:W3CDTF">2012-10-26T07:13:38Z</dcterms:created>
  <dcterms:modified xsi:type="dcterms:W3CDTF">2020-07-24T09:26:39Z</dcterms:modified>
</cp:coreProperties>
</file>