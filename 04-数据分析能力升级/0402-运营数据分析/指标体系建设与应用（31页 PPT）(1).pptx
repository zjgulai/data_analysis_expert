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6" Type="http://schemas.openxmlformats.org/officeDocument/2006/relationships/slideLayout" Target="../slideLayouts/slideLayout1.xml"/><Relationship Id="rId65" Type="http://schemas.openxmlformats.org/officeDocument/2006/relationships/image" Target="../media/image71.png"/><Relationship Id="rId64" Type="http://schemas.openxmlformats.org/officeDocument/2006/relationships/image" Target="../media/image70.png"/><Relationship Id="rId63" Type="http://schemas.openxmlformats.org/officeDocument/2006/relationships/image" Target="../media/image69.png"/><Relationship Id="rId62" Type="http://schemas.openxmlformats.org/officeDocument/2006/relationships/image" Target="../media/image4.png"/><Relationship Id="rId61" Type="http://schemas.openxmlformats.org/officeDocument/2006/relationships/image" Target="../media/image68.png"/><Relationship Id="rId60" Type="http://schemas.openxmlformats.org/officeDocument/2006/relationships/image" Target="../media/image67.png"/><Relationship Id="rId6" Type="http://schemas.openxmlformats.org/officeDocument/2006/relationships/image" Target="../media/image13.png"/><Relationship Id="rId59" Type="http://schemas.openxmlformats.org/officeDocument/2006/relationships/image" Target="../media/image66.png"/><Relationship Id="rId58" Type="http://schemas.openxmlformats.org/officeDocument/2006/relationships/image" Target="../media/image65.png"/><Relationship Id="rId57" Type="http://schemas.openxmlformats.org/officeDocument/2006/relationships/image" Target="../media/image64.png"/><Relationship Id="rId56" Type="http://schemas.openxmlformats.org/officeDocument/2006/relationships/image" Target="../media/image63.png"/><Relationship Id="rId55" Type="http://schemas.openxmlformats.org/officeDocument/2006/relationships/image" Target="../media/image62.png"/><Relationship Id="rId54" Type="http://schemas.openxmlformats.org/officeDocument/2006/relationships/image" Target="../media/image61.png"/><Relationship Id="rId53" Type="http://schemas.openxmlformats.org/officeDocument/2006/relationships/image" Target="../media/image60.png"/><Relationship Id="rId52" Type="http://schemas.openxmlformats.org/officeDocument/2006/relationships/image" Target="../media/image59.png"/><Relationship Id="rId51" Type="http://schemas.openxmlformats.org/officeDocument/2006/relationships/image" Target="../media/image58.png"/><Relationship Id="rId50" Type="http://schemas.openxmlformats.org/officeDocument/2006/relationships/image" Target="../media/image57.png"/><Relationship Id="rId5" Type="http://schemas.openxmlformats.org/officeDocument/2006/relationships/image" Target="../media/image12.png"/><Relationship Id="rId49" Type="http://schemas.openxmlformats.org/officeDocument/2006/relationships/image" Target="../media/image56.png"/><Relationship Id="rId48" Type="http://schemas.openxmlformats.org/officeDocument/2006/relationships/image" Target="../media/image55.png"/><Relationship Id="rId47" Type="http://schemas.openxmlformats.org/officeDocument/2006/relationships/image" Target="../media/image54.png"/><Relationship Id="rId46" Type="http://schemas.openxmlformats.org/officeDocument/2006/relationships/image" Target="../media/image53.png"/><Relationship Id="rId45" Type="http://schemas.openxmlformats.org/officeDocument/2006/relationships/image" Target="../media/image52.png"/><Relationship Id="rId44" Type="http://schemas.openxmlformats.org/officeDocument/2006/relationships/image" Target="../media/image51.png"/><Relationship Id="rId43" Type="http://schemas.openxmlformats.org/officeDocument/2006/relationships/image" Target="../media/image50.png"/><Relationship Id="rId42" Type="http://schemas.openxmlformats.org/officeDocument/2006/relationships/image" Target="../media/image49.png"/><Relationship Id="rId41" Type="http://schemas.openxmlformats.org/officeDocument/2006/relationships/image" Target="../media/image48.png"/><Relationship Id="rId40" Type="http://schemas.openxmlformats.org/officeDocument/2006/relationships/image" Target="../media/image47.png"/><Relationship Id="rId4" Type="http://schemas.openxmlformats.org/officeDocument/2006/relationships/image" Target="../media/image11.png"/><Relationship Id="rId39" Type="http://schemas.openxmlformats.org/officeDocument/2006/relationships/image" Target="../media/image46.png"/><Relationship Id="rId38" Type="http://schemas.openxmlformats.org/officeDocument/2006/relationships/image" Target="../media/image45.png"/><Relationship Id="rId37" Type="http://schemas.openxmlformats.org/officeDocument/2006/relationships/image" Target="../media/image44.png"/><Relationship Id="rId36" Type="http://schemas.openxmlformats.org/officeDocument/2006/relationships/image" Target="../media/image43.png"/><Relationship Id="rId35" Type="http://schemas.openxmlformats.org/officeDocument/2006/relationships/image" Target="../media/image42.png"/><Relationship Id="rId34" Type="http://schemas.openxmlformats.org/officeDocument/2006/relationships/image" Target="../media/image41.png"/><Relationship Id="rId33" Type="http://schemas.openxmlformats.org/officeDocument/2006/relationships/image" Target="../media/image40.png"/><Relationship Id="rId32" Type="http://schemas.openxmlformats.org/officeDocument/2006/relationships/image" Target="../media/image39.png"/><Relationship Id="rId31" Type="http://schemas.openxmlformats.org/officeDocument/2006/relationships/image" Target="../media/image38.png"/><Relationship Id="rId30" Type="http://schemas.openxmlformats.org/officeDocument/2006/relationships/image" Target="../media/image37.png"/><Relationship Id="rId3" Type="http://schemas.openxmlformats.org/officeDocument/2006/relationships/image" Target="../media/image10.png"/><Relationship Id="rId29" Type="http://schemas.openxmlformats.org/officeDocument/2006/relationships/image" Target="../media/image36.png"/><Relationship Id="rId28" Type="http://schemas.openxmlformats.org/officeDocument/2006/relationships/image" Target="../media/image35.png"/><Relationship Id="rId27" Type="http://schemas.openxmlformats.org/officeDocument/2006/relationships/image" Target="../media/image34.png"/><Relationship Id="rId26" Type="http://schemas.openxmlformats.org/officeDocument/2006/relationships/image" Target="../media/image33.png"/><Relationship Id="rId25" Type="http://schemas.openxmlformats.org/officeDocument/2006/relationships/image" Target="../media/image32.png"/><Relationship Id="rId24" Type="http://schemas.openxmlformats.org/officeDocument/2006/relationships/image" Target="../media/image31.png"/><Relationship Id="rId23" Type="http://schemas.openxmlformats.org/officeDocument/2006/relationships/image" Target="../media/image30.png"/><Relationship Id="rId22" Type="http://schemas.openxmlformats.org/officeDocument/2006/relationships/image" Target="../media/image29.png"/><Relationship Id="rId21" Type="http://schemas.openxmlformats.org/officeDocument/2006/relationships/image" Target="../media/image28.png"/><Relationship Id="rId20" Type="http://schemas.openxmlformats.org/officeDocument/2006/relationships/image" Target="../media/image27.png"/><Relationship Id="rId2" Type="http://schemas.openxmlformats.org/officeDocument/2006/relationships/image" Target="../media/image9.png"/><Relationship Id="rId19" Type="http://schemas.openxmlformats.org/officeDocument/2006/relationships/image" Target="../media/image26.png"/><Relationship Id="rId18" Type="http://schemas.openxmlformats.org/officeDocument/2006/relationships/image" Target="../media/image25.png"/><Relationship Id="rId17" Type="http://schemas.openxmlformats.org/officeDocument/2006/relationships/image" Target="../media/image24.png"/><Relationship Id="rId16" Type="http://schemas.openxmlformats.org/officeDocument/2006/relationships/image" Target="../media/image23.png"/><Relationship Id="rId15" Type="http://schemas.openxmlformats.org/officeDocument/2006/relationships/image" Target="../media/image22.png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85.jpeg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93.png"/><Relationship Id="rId16" Type="http://schemas.openxmlformats.org/officeDocument/2006/relationships/image" Target="../media/image92.png"/><Relationship Id="rId15" Type="http://schemas.openxmlformats.org/officeDocument/2006/relationships/image" Target="../media/image91.png"/><Relationship Id="rId14" Type="http://schemas.openxmlformats.org/officeDocument/2006/relationships/image" Target="../media/image90.jpeg"/><Relationship Id="rId13" Type="http://schemas.openxmlformats.org/officeDocument/2006/relationships/image" Target="../media/image4.png"/><Relationship Id="rId12" Type="http://schemas.openxmlformats.org/officeDocument/2006/relationships/image" Target="../media/image89.png"/><Relationship Id="rId11" Type="http://schemas.openxmlformats.org/officeDocument/2006/relationships/image" Target="../media/image88.png"/><Relationship Id="rId10" Type="http://schemas.openxmlformats.org/officeDocument/2006/relationships/image" Target="../media/image87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9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png"/><Relationship Id="rId7" Type="http://schemas.openxmlformats.org/officeDocument/2006/relationships/image" Target="../media/image100.png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19.png"/><Relationship Id="rId26" Type="http://schemas.openxmlformats.org/officeDocument/2006/relationships/image" Target="../media/image118.png"/><Relationship Id="rId25" Type="http://schemas.openxmlformats.org/officeDocument/2006/relationships/image" Target="../media/image117.png"/><Relationship Id="rId24" Type="http://schemas.openxmlformats.org/officeDocument/2006/relationships/image" Target="../media/image4.png"/><Relationship Id="rId23" Type="http://schemas.openxmlformats.org/officeDocument/2006/relationships/image" Target="../media/image116.png"/><Relationship Id="rId22" Type="http://schemas.openxmlformats.org/officeDocument/2006/relationships/image" Target="../media/image115.png"/><Relationship Id="rId21" Type="http://schemas.openxmlformats.org/officeDocument/2006/relationships/image" Target="../media/image114.png"/><Relationship Id="rId20" Type="http://schemas.openxmlformats.org/officeDocument/2006/relationships/image" Target="../media/image113.png"/><Relationship Id="rId2" Type="http://schemas.openxmlformats.org/officeDocument/2006/relationships/image" Target="../media/image3.png"/><Relationship Id="rId19" Type="http://schemas.openxmlformats.org/officeDocument/2006/relationships/image" Target="../media/image112.png"/><Relationship Id="rId18" Type="http://schemas.openxmlformats.org/officeDocument/2006/relationships/image" Target="../media/image111.png"/><Relationship Id="rId17" Type="http://schemas.openxmlformats.org/officeDocument/2006/relationships/image" Target="../media/image110.png"/><Relationship Id="rId16" Type="http://schemas.openxmlformats.org/officeDocument/2006/relationships/image" Target="../media/image109.png"/><Relationship Id="rId15" Type="http://schemas.openxmlformats.org/officeDocument/2006/relationships/image" Target="../media/image108.png"/><Relationship Id="rId14" Type="http://schemas.openxmlformats.org/officeDocument/2006/relationships/image" Target="../media/image107.png"/><Relationship Id="rId13" Type="http://schemas.openxmlformats.org/officeDocument/2006/relationships/image" Target="../media/image106.png"/><Relationship Id="rId12" Type="http://schemas.openxmlformats.org/officeDocument/2006/relationships/image" Target="../media/image105.png"/><Relationship Id="rId11" Type="http://schemas.openxmlformats.org/officeDocument/2006/relationships/image" Target="../media/image104.png"/><Relationship Id="rId10" Type="http://schemas.openxmlformats.org/officeDocument/2006/relationships/image" Target="../media/image103.png"/><Relationship Id="rId1" Type="http://schemas.openxmlformats.org/officeDocument/2006/relationships/image" Target="../media/image9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png"/><Relationship Id="rId8" Type="http://schemas.openxmlformats.org/officeDocument/2006/relationships/image" Target="../media/image127.png"/><Relationship Id="rId7" Type="http://schemas.openxmlformats.org/officeDocument/2006/relationships/image" Target="../media/image126.png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8" Type="http://schemas.openxmlformats.org/officeDocument/2006/relationships/slideLayout" Target="../slideLayouts/slideLayout1.xml"/><Relationship Id="rId47" Type="http://schemas.openxmlformats.org/officeDocument/2006/relationships/image" Target="../media/image164.png"/><Relationship Id="rId46" Type="http://schemas.openxmlformats.org/officeDocument/2006/relationships/image" Target="../media/image163.png"/><Relationship Id="rId45" Type="http://schemas.openxmlformats.org/officeDocument/2006/relationships/image" Target="../media/image162.png"/><Relationship Id="rId44" Type="http://schemas.openxmlformats.org/officeDocument/2006/relationships/image" Target="../media/image161.png"/><Relationship Id="rId43" Type="http://schemas.openxmlformats.org/officeDocument/2006/relationships/image" Target="../media/image160.png"/><Relationship Id="rId42" Type="http://schemas.openxmlformats.org/officeDocument/2006/relationships/image" Target="../media/image4.png"/><Relationship Id="rId41" Type="http://schemas.openxmlformats.org/officeDocument/2006/relationships/image" Target="../media/image159.png"/><Relationship Id="rId40" Type="http://schemas.openxmlformats.org/officeDocument/2006/relationships/image" Target="../media/image158.png"/><Relationship Id="rId4" Type="http://schemas.openxmlformats.org/officeDocument/2006/relationships/image" Target="../media/image123.png"/><Relationship Id="rId39" Type="http://schemas.openxmlformats.org/officeDocument/2006/relationships/image" Target="../media/image157.png"/><Relationship Id="rId38" Type="http://schemas.openxmlformats.org/officeDocument/2006/relationships/image" Target="../media/image156.png"/><Relationship Id="rId37" Type="http://schemas.openxmlformats.org/officeDocument/2006/relationships/image" Target="../media/image155.png"/><Relationship Id="rId36" Type="http://schemas.openxmlformats.org/officeDocument/2006/relationships/image" Target="../media/image154.png"/><Relationship Id="rId35" Type="http://schemas.openxmlformats.org/officeDocument/2006/relationships/image" Target="../media/image153.png"/><Relationship Id="rId34" Type="http://schemas.openxmlformats.org/officeDocument/2006/relationships/image" Target="../media/image3.png"/><Relationship Id="rId33" Type="http://schemas.openxmlformats.org/officeDocument/2006/relationships/image" Target="../media/image152.png"/><Relationship Id="rId32" Type="http://schemas.openxmlformats.org/officeDocument/2006/relationships/image" Target="../media/image151.png"/><Relationship Id="rId31" Type="http://schemas.openxmlformats.org/officeDocument/2006/relationships/image" Target="../media/image150.png"/><Relationship Id="rId30" Type="http://schemas.openxmlformats.org/officeDocument/2006/relationships/image" Target="../media/image149.png"/><Relationship Id="rId3" Type="http://schemas.openxmlformats.org/officeDocument/2006/relationships/image" Target="../media/image122.png"/><Relationship Id="rId29" Type="http://schemas.openxmlformats.org/officeDocument/2006/relationships/image" Target="../media/image148.png"/><Relationship Id="rId28" Type="http://schemas.openxmlformats.org/officeDocument/2006/relationships/image" Target="../media/image147.png"/><Relationship Id="rId27" Type="http://schemas.openxmlformats.org/officeDocument/2006/relationships/image" Target="../media/image146.png"/><Relationship Id="rId26" Type="http://schemas.openxmlformats.org/officeDocument/2006/relationships/image" Target="../media/image145.png"/><Relationship Id="rId25" Type="http://schemas.openxmlformats.org/officeDocument/2006/relationships/image" Target="../media/image144.png"/><Relationship Id="rId24" Type="http://schemas.openxmlformats.org/officeDocument/2006/relationships/image" Target="../media/image143.png"/><Relationship Id="rId23" Type="http://schemas.openxmlformats.org/officeDocument/2006/relationships/image" Target="../media/image142.png"/><Relationship Id="rId22" Type="http://schemas.openxmlformats.org/officeDocument/2006/relationships/image" Target="../media/image141.png"/><Relationship Id="rId21" Type="http://schemas.openxmlformats.org/officeDocument/2006/relationships/image" Target="../media/image140.png"/><Relationship Id="rId20" Type="http://schemas.openxmlformats.org/officeDocument/2006/relationships/image" Target="../media/image139.png"/><Relationship Id="rId2" Type="http://schemas.openxmlformats.org/officeDocument/2006/relationships/image" Target="../media/image121.png"/><Relationship Id="rId19" Type="http://schemas.openxmlformats.org/officeDocument/2006/relationships/image" Target="../media/image138.png"/><Relationship Id="rId18" Type="http://schemas.openxmlformats.org/officeDocument/2006/relationships/image" Target="../media/image137.png"/><Relationship Id="rId17" Type="http://schemas.openxmlformats.org/officeDocument/2006/relationships/image" Target="../media/image136.png"/><Relationship Id="rId16" Type="http://schemas.openxmlformats.org/officeDocument/2006/relationships/image" Target="../media/image135.png"/><Relationship Id="rId15" Type="http://schemas.openxmlformats.org/officeDocument/2006/relationships/image" Target="../media/image134.png"/><Relationship Id="rId14" Type="http://schemas.openxmlformats.org/officeDocument/2006/relationships/image" Target="../media/image133.png"/><Relationship Id="rId13" Type="http://schemas.openxmlformats.org/officeDocument/2006/relationships/image" Target="../media/image132.png"/><Relationship Id="rId12" Type="http://schemas.openxmlformats.org/officeDocument/2006/relationships/image" Target="../media/image131.png"/><Relationship Id="rId11" Type="http://schemas.openxmlformats.org/officeDocument/2006/relationships/image" Target="../media/image130.png"/><Relationship Id="rId10" Type="http://schemas.openxmlformats.org/officeDocument/2006/relationships/image" Target="../media/image129.png"/><Relationship Id="rId1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6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8.png"/><Relationship Id="rId3" Type="http://schemas.openxmlformats.org/officeDocument/2006/relationships/image" Target="../media/image3.png"/><Relationship Id="rId2" Type="http://schemas.openxmlformats.org/officeDocument/2006/relationships/image" Target="../media/image167.png"/><Relationship Id="rId1" Type="http://schemas.openxmlformats.org/officeDocument/2006/relationships/image" Target="../media/image16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6.png"/><Relationship Id="rId8" Type="http://schemas.openxmlformats.org/officeDocument/2006/relationships/image" Target="../media/image175.png"/><Relationship Id="rId7" Type="http://schemas.openxmlformats.org/officeDocument/2006/relationships/image" Target="../media/image174.png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3" Type="http://schemas.openxmlformats.org/officeDocument/2006/relationships/slideLayout" Target="../slideLayouts/slideLayout1.xml"/><Relationship Id="rId42" Type="http://schemas.openxmlformats.org/officeDocument/2006/relationships/image" Target="../media/image208.png"/><Relationship Id="rId41" Type="http://schemas.openxmlformats.org/officeDocument/2006/relationships/image" Target="../media/image207.png"/><Relationship Id="rId40" Type="http://schemas.openxmlformats.org/officeDocument/2006/relationships/image" Target="../media/image206.png"/><Relationship Id="rId4" Type="http://schemas.openxmlformats.org/officeDocument/2006/relationships/image" Target="../media/image171.png"/><Relationship Id="rId39" Type="http://schemas.openxmlformats.org/officeDocument/2006/relationships/image" Target="../media/image205.png"/><Relationship Id="rId38" Type="http://schemas.openxmlformats.org/officeDocument/2006/relationships/image" Target="../media/image204.png"/><Relationship Id="rId37" Type="http://schemas.openxmlformats.org/officeDocument/2006/relationships/image" Target="../media/image203.png"/><Relationship Id="rId36" Type="http://schemas.openxmlformats.org/officeDocument/2006/relationships/image" Target="../media/image4.png"/><Relationship Id="rId35" Type="http://schemas.openxmlformats.org/officeDocument/2006/relationships/image" Target="../media/image202.png"/><Relationship Id="rId34" Type="http://schemas.openxmlformats.org/officeDocument/2006/relationships/image" Target="../media/image201.png"/><Relationship Id="rId33" Type="http://schemas.openxmlformats.org/officeDocument/2006/relationships/image" Target="../media/image200.png"/><Relationship Id="rId32" Type="http://schemas.openxmlformats.org/officeDocument/2006/relationships/image" Target="../media/image199.png"/><Relationship Id="rId31" Type="http://schemas.openxmlformats.org/officeDocument/2006/relationships/image" Target="../media/image198.png"/><Relationship Id="rId30" Type="http://schemas.openxmlformats.org/officeDocument/2006/relationships/image" Target="../media/image197.png"/><Relationship Id="rId3" Type="http://schemas.openxmlformats.org/officeDocument/2006/relationships/image" Target="../media/image170.png"/><Relationship Id="rId29" Type="http://schemas.openxmlformats.org/officeDocument/2006/relationships/image" Target="../media/image196.png"/><Relationship Id="rId28" Type="http://schemas.openxmlformats.org/officeDocument/2006/relationships/image" Target="../media/image195.png"/><Relationship Id="rId27" Type="http://schemas.openxmlformats.org/officeDocument/2006/relationships/image" Target="../media/image194.png"/><Relationship Id="rId26" Type="http://schemas.openxmlformats.org/officeDocument/2006/relationships/image" Target="../media/image193.png"/><Relationship Id="rId25" Type="http://schemas.openxmlformats.org/officeDocument/2006/relationships/image" Target="../media/image192.png"/><Relationship Id="rId24" Type="http://schemas.openxmlformats.org/officeDocument/2006/relationships/image" Target="../media/image191.png"/><Relationship Id="rId23" Type="http://schemas.openxmlformats.org/officeDocument/2006/relationships/image" Target="../media/image190.png"/><Relationship Id="rId22" Type="http://schemas.openxmlformats.org/officeDocument/2006/relationships/image" Target="../media/image189.png"/><Relationship Id="rId21" Type="http://schemas.openxmlformats.org/officeDocument/2006/relationships/image" Target="../media/image188.png"/><Relationship Id="rId20" Type="http://schemas.openxmlformats.org/officeDocument/2006/relationships/image" Target="../media/image187.png"/><Relationship Id="rId2" Type="http://schemas.openxmlformats.org/officeDocument/2006/relationships/image" Target="../media/image3.png"/><Relationship Id="rId19" Type="http://schemas.openxmlformats.org/officeDocument/2006/relationships/image" Target="../media/image186.png"/><Relationship Id="rId18" Type="http://schemas.openxmlformats.org/officeDocument/2006/relationships/image" Target="../media/image185.png"/><Relationship Id="rId17" Type="http://schemas.openxmlformats.org/officeDocument/2006/relationships/image" Target="../media/image184.png"/><Relationship Id="rId16" Type="http://schemas.openxmlformats.org/officeDocument/2006/relationships/image" Target="../media/image183.png"/><Relationship Id="rId15" Type="http://schemas.openxmlformats.org/officeDocument/2006/relationships/image" Target="../media/image182.png"/><Relationship Id="rId14" Type="http://schemas.openxmlformats.org/officeDocument/2006/relationships/image" Target="../media/image181.png"/><Relationship Id="rId13" Type="http://schemas.openxmlformats.org/officeDocument/2006/relationships/image" Target="../media/image180.png"/><Relationship Id="rId12" Type="http://schemas.openxmlformats.org/officeDocument/2006/relationships/image" Target="../media/image179.png"/><Relationship Id="rId11" Type="http://schemas.openxmlformats.org/officeDocument/2006/relationships/image" Target="../media/image178.png"/><Relationship Id="rId10" Type="http://schemas.openxmlformats.org/officeDocument/2006/relationships/image" Target="../media/image177.png"/><Relationship Id="rId1" Type="http://schemas.openxmlformats.org/officeDocument/2006/relationships/image" Target="../media/image16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6.png"/><Relationship Id="rId8" Type="http://schemas.openxmlformats.org/officeDocument/2006/relationships/image" Target="../media/image215.png"/><Relationship Id="rId7" Type="http://schemas.openxmlformats.org/officeDocument/2006/relationships/image" Target="../media/image214.png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24.png"/><Relationship Id="rId17" Type="http://schemas.openxmlformats.org/officeDocument/2006/relationships/image" Target="../media/image223.png"/><Relationship Id="rId16" Type="http://schemas.openxmlformats.org/officeDocument/2006/relationships/image" Target="../media/image4.png"/><Relationship Id="rId15" Type="http://schemas.openxmlformats.org/officeDocument/2006/relationships/image" Target="../media/image222.png"/><Relationship Id="rId14" Type="http://schemas.openxmlformats.org/officeDocument/2006/relationships/image" Target="../media/image221.png"/><Relationship Id="rId13" Type="http://schemas.openxmlformats.org/officeDocument/2006/relationships/image" Target="../media/image220.png"/><Relationship Id="rId12" Type="http://schemas.openxmlformats.org/officeDocument/2006/relationships/image" Target="../media/image219.png"/><Relationship Id="rId11" Type="http://schemas.openxmlformats.org/officeDocument/2006/relationships/image" Target="../media/image218.png"/><Relationship Id="rId10" Type="http://schemas.openxmlformats.org/officeDocument/2006/relationships/image" Target="../media/image217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6" Type="http://schemas.openxmlformats.org/officeDocument/2006/relationships/image" Target="../media/image229.png"/><Relationship Id="rId5" Type="http://schemas.openxmlformats.org/officeDocument/2006/relationships/image" Target="../media/image228.png"/><Relationship Id="rId4" Type="http://schemas.openxmlformats.org/officeDocument/2006/relationships/image" Target="../media/image227.png"/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236.png"/><Relationship Id="rId7" Type="http://schemas.openxmlformats.org/officeDocument/2006/relationships/image" Target="../media/image235.png"/><Relationship Id="rId6" Type="http://schemas.openxmlformats.org/officeDocument/2006/relationships/image" Target="../media/image234.png"/><Relationship Id="rId5" Type="http://schemas.openxmlformats.org/officeDocument/2006/relationships/image" Target="../media/image233.png"/><Relationship Id="rId4" Type="http://schemas.openxmlformats.org/officeDocument/2006/relationships/image" Target="../media/image232.png"/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39.png"/><Relationship Id="rId11" Type="http://schemas.openxmlformats.org/officeDocument/2006/relationships/image" Target="../media/image238.png"/><Relationship Id="rId10" Type="http://schemas.openxmlformats.org/officeDocument/2006/relationships/image" Target="../media/image237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7.png"/><Relationship Id="rId8" Type="http://schemas.openxmlformats.org/officeDocument/2006/relationships/image" Target="../media/image246.png"/><Relationship Id="rId7" Type="http://schemas.openxmlformats.org/officeDocument/2006/relationships/image" Target="../media/image245.png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4" Type="http://schemas.openxmlformats.org/officeDocument/2006/relationships/image" Target="../media/image242.png"/><Relationship Id="rId3" Type="http://schemas.openxmlformats.org/officeDocument/2006/relationships/image" Target="../media/image241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40.png"/><Relationship Id="rId19" Type="http://schemas.openxmlformats.org/officeDocument/2006/relationships/image" Target="../media/image256.png"/><Relationship Id="rId18" Type="http://schemas.openxmlformats.org/officeDocument/2006/relationships/image" Target="../media/image255.png"/><Relationship Id="rId17" Type="http://schemas.openxmlformats.org/officeDocument/2006/relationships/image" Target="../media/image4.png"/><Relationship Id="rId16" Type="http://schemas.openxmlformats.org/officeDocument/2006/relationships/image" Target="../media/image254.png"/><Relationship Id="rId15" Type="http://schemas.openxmlformats.org/officeDocument/2006/relationships/image" Target="../media/image253.png"/><Relationship Id="rId14" Type="http://schemas.openxmlformats.org/officeDocument/2006/relationships/image" Target="../media/image252.png"/><Relationship Id="rId13" Type="http://schemas.openxmlformats.org/officeDocument/2006/relationships/image" Target="../media/image251.png"/><Relationship Id="rId12" Type="http://schemas.openxmlformats.org/officeDocument/2006/relationships/image" Target="../media/image250.png"/><Relationship Id="rId11" Type="http://schemas.openxmlformats.org/officeDocument/2006/relationships/image" Target="../media/image249.png"/><Relationship Id="rId10" Type="http://schemas.openxmlformats.org/officeDocument/2006/relationships/image" Target="../media/image248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4.png"/><Relationship Id="rId8" Type="http://schemas.openxmlformats.org/officeDocument/2006/relationships/image" Target="../media/image263.png"/><Relationship Id="rId7" Type="http://schemas.openxmlformats.org/officeDocument/2006/relationships/image" Target="../media/image262.png"/><Relationship Id="rId6" Type="http://schemas.openxmlformats.org/officeDocument/2006/relationships/image" Target="../media/image261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Relationship Id="rId3" Type="http://schemas.openxmlformats.org/officeDocument/2006/relationships/image" Target="../media/image258.png"/><Relationship Id="rId2" Type="http://schemas.openxmlformats.org/officeDocument/2006/relationships/image" Target="../media/image3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.png"/><Relationship Id="rId1" Type="http://schemas.openxmlformats.org/officeDocument/2006/relationships/image" Target="../media/image257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2.jpeg"/><Relationship Id="rId8" Type="http://schemas.openxmlformats.org/officeDocument/2006/relationships/image" Target="../media/image271.png"/><Relationship Id="rId7" Type="http://schemas.openxmlformats.org/officeDocument/2006/relationships/image" Target="../media/image270.png"/><Relationship Id="rId6" Type="http://schemas.openxmlformats.org/officeDocument/2006/relationships/image" Target="../media/image269.png"/><Relationship Id="rId5" Type="http://schemas.openxmlformats.org/officeDocument/2006/relationships/image" Target="../media/image268.png"/><Relationship Id="rId4" Type="http://schemas.openxmlformats.org/officeDocument/2006/relationships/image" Target="../media/image267.png"/><Relationship Id="rId3" Type="http://schemas.openxmlformats.org/officeDocument/2006/relationships/image" Target="../media/image266.png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287.png"/><Relationship Id="rId24" Type="http://schemas.openxmlformats.org/officeDocument/2006/relationships/image" Target="../media/image286.png"/><Relationship Id="rId23" Type="http://schemas.openxmlformats.org/officeDocument/2006/relationships/image" Target="../media/image285.png"/><Relationship Id="rId22" Type="http://schemas.openxmlformats.org/officeDocument/2006/relationships/image" Target="../media/image284.png"/><Relationship Id="rId21" Type="http://schemas.openxmlformats.org/officeDocument/2006/relationships/image" Target="../media/image4.png"/><Relationship Id="rId20" Type="http://schemas.openxmlformats.org/officeDocument/2006/relationships/image" Target="../media/image283.png"/><Relationship Id="rId2" Type="http://schemas.openxmlformats.org/officeDocument/2006/relationships/image" Target="../media/image265.png"/><Relationship Id="rId19" Type="http://schemas.openxmlformats.org/officeDocument/2006/relationships/image" Target="../media/image282.png"/><Relationship Id="rId18" Type="http://schemas.openxmlformats.org/officeDocument/2006/relationships/image" Target="../media/image281.png"/><Relationship Id="rId17" Type="http://schemas.openxmlformats.org/officeDocument/2006/relationships/image" Target="../media/image280.png"/><Relationship Id="rId16" Type="http://schemas.openxmlformats.org/officeDocument/2006/relationships/image" Target="../media/image279.png"/><Relationship Id="rId15" Type="http://schemas.openxmlformats.org/officeDocument/2006/relationships/image" Target="../media/image278.png"/><Relationship Id="rId14" Type="http://schemas.openxmlformats.org/officeDocument/2006/relationships/image" Target="../media/image277.png"/><Relationship Id="rId13" Type="http://schemas.openxmlformats.org/officeDocument/2006/relationships/image" Target="../media/image276.png"/><Relationship Id="rId12" Type="http://schemas.openxmlformats.org/officeDocument/2006/relationships/image" Target="../media/image275.png"/><Relationship Id="rId11" Type="http://schemas.openxmlformats.org/officeDocument/2006/relationships/image" Target="../media/image274.png"/><Relationship Id="rId10" Type="http://schemas.openxmlformats.org/officeDocument/2006/relationships/image" Target="../media/image273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5.png"/><Relationship Id="rId8" Type="http://schemas.openxmlformats.org/officeDocument/2006/relationships/image" Target="../media/image294.png"/><Relationship Id="rId7" Type="http://schemas.openxmlformats.org/officeDocument/2006/relationships/image" Target="../media/image293.png"/><Relationship Id="rId6" Type="http://schemas.openxmlformats.org/officeDocument/2006/relationships/image" Target="../media/image292.png"/><Relationship Id="rId5" Type="http://schemas.openxmlformats.org/officeDocument/2006/relationships/image" Target="../media/image291.png"/><Relationship Id="rId4" Type="http://schemas.openxmlformats.org/officeDocument/2006/relationships/image" Target="../media/image290.png"/><Relationship Id="rId3" Type="http://schemas.openxmlformats.org/officeDocument/2006/relationships/image" Target="../media/image289.png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305.png"/><Relationship Id="rId2" Type="http://schemas.openxmlformats.org/officeDocument/2006/relationships/image" Target="../media/image288.png"/><Relationship Id="rId19" Type="http://schemas.openxmlformats.org/officeDocument/2006/relationships/image" Target="../media/image304.png"/><Relationship Id="rId18" Type="http://schemas.openxmlformats.org/officeDocument/2006/relationships/image" Target="../media/image4.png"/><Relationship Id="rId17" Type="http://schemas.openxmlformats.org/officeDocument/2006/relationships/image" Target="../media/image303.png"/><Relationship Id="rId16" Type="http://schemas.openxmlformats.org/officeDocument/2006/relationships/image" Target="../media/image302.png"/><Relationship Id="rId15" Type="http://schemas.openxmlformats.org/officeDocument/2006/relationships/image" Target="../media/image301.png"/><Relationship Id="rId14" Type="http://schemas.openxmlformats.org/officeDocument/2006/relationships/image" Target="../media/image300.png"/><Relationship Id="rId13" Type="http://schemas.openxmlformats.org/officeDocument/2006/relationships/image" Target="../media/image299.png"/><Relationship Id="rId12" Type="http://schemas.openxmlformats.org/officeDocument/2006/relationships/image" Target="../media/image298.png"/><Relationship Id="rId11" Type="http://schemas.openxmlformats.org/officeDocument/2006/relationships/image" Target="../media/image297.png"/><Relationship Id="rId10" Type="http://schemas.openxmlformats.org/officeDocument/2006/relationships/image" Target="../media/image296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06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307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308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09.png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310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16.png"/><Relationship Id="rId7" Type="http://schemas.openxmlformats.org/officeDocument/2006/relationships/image" Target="../media/image4.png"/><Relationship Id="rId6" Type="http://schemas.openxmlformats.org/officeDocument/2006/relationships/image" Target="../media/image315.png"/><Relationship Id="rId5" Type="http://schemas.openxmlformats.org/officeDocument/2006/relationships/image" Target="../media/image314.png"/><Relationship Id="rId4" Type="http://schemas.openxmlformats.org/officeDocument/2006/relationships/image" Target="../media/image313.jpeg"/><Relationship Id="rId3" Type="http://schemas.openxmlformats.org/officeDocument/2006/relationships/image" Target="../media/image312.jpeg"/><Relationship Id="rId2" Type="http://schemas.openxmlformats.org/officeDocument/2006/relationships/image" Target="../media/image3.png"/><Relationship Id="rId1" Type="http://schemas.openxmlformats.org/officeDocument/2006/relationships/image" Target="../media/image3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8.png"/><Relationship Id="rId1" Type="http://schemas.openxmlformats.org/officeDocument/2006/relationships/image" Target="../media/image3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307644" y="883577"/>
            <a:ext cx="11678284" cy="5826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" indent="-5080" algn="l" rtl="0" eaLnBrk="0">
              <a:lnSpc>
                <a:spcPct val="92000"/>
              </a:lnSpc>
            </a:pPr>
            <a:r>
              <a:rPr sz="59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金融场景中的指标体系建</a:t>
            </a:r>
            <a:r>
              <a:rPr sz="5900" b="1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sz="5900" b="1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设与应用</a:t>
            </a:r>
            <a:endParaRPr sz="5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0010" algn="l" rtl="0" eaLnBrk="0">
              <a:lnSpc>
                <a:spcPct val="94000"/>
              </a:lnSpc>
              <a:spcBef>
                <a:spcPts val="700"/>
              </a:spcBef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-韩秀锋-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CTO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490"/>
              </a:lnSpc>
            </a:pP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DataFunSummit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sz="4400" kern="0" spc="2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2024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4400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endParaRPr sz="4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37368" y="6284455"/>
            <a:ext cx="1658543" cy="273736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2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/>
          <p:nvPr/>
        </p:nvSpPr>
        <p:spPr>
          <a:xfrm>
            <a:off x="4277868" y="1112596"/>
            <a:ext cx="3651250" cy="501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3500" b="1" kern="0" spc="2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r>
              <a:rPr sz="3500" b="1" kern="0" spc="78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500" b="1" kern="0" spc="24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702942" y="2737993"/>
            <a:ext cx="3695700" cy="272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4000" kern="0" spc="70" dirty="0">
                <a:solidFill>
                  <a:srgbClr val="2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r>
              <a:rPr sz="4000" kern="0" spc="860" dirty="0">
                <a:solidFill>
                  <a:srgbClr val="2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70" dirty="0">
                <a:solidFill>
                  <a:srgbClr val="000000">
                    <a:alpha val="7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金融行业指标现状</a:t>
            </a:r>
            <a:endParaRPr sz="2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0"/>
              </a:spcBef>
            </a:pPr>
            <a:r>
              <a:rPr sz="4500" kern="0" spc="50" dirty="0">
                <a:solidFill>
                  <a:srgbClr val="2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r>
              <a:rPr sz="4500" kern="0" spc="50" dirty="0">
                <a:solidFill>
                  <a:srgbClr val="2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50" dirty="0">
                <a:solidFill>
                  <a:srgbClr val="000000">
                    <a:alpha val="7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痛点</a:t>
            </a:r>
            <a:r>
              <a:rPr sz="2700" kern="0" spc="160" dirty="0">
                <a:solidFill>
                  <a:srgbClr val="000000">
                    <a:alpha val="7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50" dirty="0">
                <a:solidFill>
                  <a:srgbClr val="000000">
                    <a:alpha val="7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-&gt;</a:t>
            </a:r>
            <a:r>
              <a:rPr sz="2700" kern="0" spc="210" dirty="0">
                <a:solidFill>
                  <a:srgbClr val="000000">
                    <a:alpha val="7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50" dirty="0">
                <a:solidFill>
                  <a:srgbClr val="000000">
                    <a:alpha val="7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</a:t>
            </a:r>
            <a:r>
              <a:rPr sz="2700" b="1" kern="0" spc="40" dirty="0">
                <a:solidFill>
                  <a:srgbClr val="000000">
                    <a:alpha val="7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</a:t>
            </a:r>
            <a:endParaRPr sz="2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6856603" y="2739898"/>
            <a:ext cx="1546860" cy="2732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4500" kern="0" spc="20" dirty="0">
                <a:solidFill>
                  <a:srgbClr val="2121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r>
              <a:rPr sz="4500" kern="0" spc="190" dirty="0">
                <a:solidFill>
                  <a:srgbClr val="21212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20" dirty="0">
                <a:solidFill>
                  <a:srgbClr val="59595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解法</a:t>
            </a:r>
            <a:endParaRPr sz="2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0"/>
              </a:spcBef>
            </a:pPr>
            <a:r>
              <a:rPr sz="4600" kern="0" spc="20" dirty="0">
                <a:solidFill>
                  <a:srgbClr val="24242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r>
              <a:rPr sz="4600" kern="0" spc="20" dirty="0">
                <a:solidFill>
                  <a:srgbClr val="24242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20" dirty="0">
                <a:solidFill>
                  <a:srgbClr val="000000">
                    <a:alpha val="7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案例</a:t>
            </a:r>
            <a:endParaRPr sz="2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20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textbox 26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307644" y="1941243"/>
            <a:ext cx="11678284" cy="47682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6205" algn="l" rtl="0" eaLnBrk="0">
              <a:lnSpc>
                <a:spcPct val="85000"/>
              </a:lnSpc>
              <a:spcBef>
                <a:spcPts val="0"/>
              </a:spcBef>
            </a:pPr>
            <a:r>
              <a:rPr sz="8000" b="1" kern="0" spc="-1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8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3185" algn="l" rtl="0" eaLnBrk="0">
              <a:lnSpc>
                <a:spcPct val="92000"/>
              </a:lnSpc>
              <a:spcBef>
                <a:spcPts val="1595"/>
              </a:spcBef>
            </a:pPr>
            <a:r>
              <a:rPr sz="53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金融行业指标现状</a:t>
            </a:r>
            <a:endParaRPr sz="5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490"/>
              </a:lnSpc>
              <a:spcBef>
                <a:spcPts val="5"/>
              </a:spcBef>
            </a:pP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DataFunSummit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sz="4400" kern="0" spc="2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2024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4400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endParaRPr sz="4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37368" y="6284455"/>
            <a:ext cx="1658543" cy="273736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textbox 38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textbox 40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 42"/>
          <p:cNvSpPr/>
          <p:nvPr/>
        </p:nvSpPr>
        <p:spPr>
          <a:xfrm>
            <a:off x="1371600" y="6205728"/>
            <a:ext cx="6109715" cy="426719"/>
          </a:xfrm>
          <a:prstGeom prst="rect">
            <a:avLst/>
          </a:prstGeom>
          <a:solidFill>
            <a:srgbClr val="438AFF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" name="path 44"/>
          <p:cNvSpPr/>
          <p:nvPr/>
        </p:nvSpPr>
        <p:spPr>
          <a:xfrm>
            <a:off x="1488947" y="6284975"/>
            <a:ext cx="5879592" cy="266700"/>
          </a:xfrm>
          <a:custGeom>
            <a:avLst/>
            <a:gdLst/>
            <a:ahLst/>
            <a:cxnLst/>
            <a:rect l="0" t="0" r="0" b="0"/>
            <a:pathLst>
              <a:path w="9259" h="420">
                <a:moveTo>
                  <a:pt x="0" y="0"/>
                </a:moveTo>
                <a:lnTo>
                  <a:pt x="1701" y="0"/>
                </a:lnTo>
                <a:lnTo>
                  <a:pt x="1701" y="420"/>
                </a:lnTo>
                <a:lnTo>
                  <a:pt x="0" y="420"/>
                </a:lnTo>
                <a:lnTo>
                  <a:pt x="0" y="0"/>
                </a:lnTo>
                <a:close/>
              </a:path>
              <a:path w="9259" h="420">
                <a:moveTo>
                  <a:pt x="1948" y="0"/>
                </a:moveTo>
                <a:lnTo>
                  <a:pt x="3648" y="0"/>
                </a:lnTo>
                <a:lnTo>
                  <a:pt x="3648" y="420"/>
                </a:lnTo>
                <a:lnTo>
                  <a:pt x="1948" y="420"/>
                </a:lnTo>
                <a:lnTo>
                  <a:pt x="1948" y="0"/>
                </a:lnTo>
                <a:close/>
              </a:path>
              <a:path w="9259" h="420">
                <a:moveTo>
                  <a:pt x="3811" y="0"/>
                </a:moveTo>
                <a:lnTo>
                  <a:pt x="5512" y="0"/>
                </a:lnTo>
                <a:lnTo>
                  <a:pt x="5512" y="420"/>
                </a:lnTo>
                <a:lnTo>
                  <a:pt x="3811" y="420"/>
                </a:lnTo>
                <a:lnTo>
                  <a:pt x="3811" y="0"/>
                </a:lnTo>
                <a:close/>
              </a:path>
              <a:path w="9259" h="420">
                <a:moveTo>
                  <a:pt x="5692" y="0"/>
                </a:moveTo>
                <a:lnTo>
                  <a:pt x="7394" y="0"/>
                </a:lnTo>
                <a:lnTo>
                  <a:pt x="7394" y="420"/>
                </a:lnTo>
                <a:lnTo>
                  <a:pt x="5692" y="420"/>
                </a:lnTo>
                <a:lnTo>
                  <a:pt x="5692" y="0"/>
                </a:lnTo>
                <a:close/>
              </a:path>
              <a:path w="9259" h="420">
                <a:moveTo>
                  <a:pt x="7557" y="0"/>
                </a:moveTo>
                <a:lnTo>
                  <a:pt x="9259" y="0"/>
                </a:lnTo>
                <a:lnTo>
                  <a:pt x="9259" y="420"/>
                </a:lnTo>
                <a:lnTo>
                  <a:pt x="7557" y="420"/>
                </a:lnTo>
                <a:lnTo>
                  <a:pt x="7557" y="0"/>
                </a:lnTo>
                <a:close/>
              </a:path>
            </a:pathLst>
          </a:cu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46" name="table 46"/>
          <p:cNvGraphicFramePr>
            <a:graphicFrameLocks noGrp="1"/>
          </p:cNvGraphicFramePr>
          <p:nvPr/>
        </p:nvGraphicFramePr>
        <p:xfrm>
          <a:off x="407951" y="4309871"/>
          <a:ext cx="7073265" cy="2322195"/>
        </p:xfrm>
        <a:graphic>
          <a:graphicData uri="http://schemas.openxmlformats.org/drawingml/2006/table">
            <a:tbl>
              <a:tblPr/>
              <a:tblGrid>
                <a:gridCol w="926465"/>
                <a:gridCol w="6146800"/>
              </a:tblGrid>
              <a:tr h="23221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</a:pPr>
                      <a:r>
                        <a:rPr sz="1400" kern="0" spc="-10" dirty="0">
                          <a:solidFill>
                            <a:srgbClr val="1353B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客户可识别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  <a:spcBef>
                          <a:spcPts val="425"/>
                        </a:spcBef>
                      </a:pPr>
                      <a:r>
                        <a:rPr sz="1400" kern="0" spc="-10" dirty="0">
                          <a:solidFill>
                            <a:srgbClr val="1353B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客户可分析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1353B5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客户可经营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4325" algn="l" rtl="0" eaLnBrk="0">
                        <a:lnSpc>
                          <a:spcPct val="100000"/>
                        </a:lnSpc>
                      </a:pPr>
                      <a:r>
                        <a:rPr sz="9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授信断点营销            首贷断点营销            老客权益推荐           提前还款干预    </a:t>
                      </a:r>
                      <a:r>
                        <a:rPr sz="9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利益点二次唤醒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8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50100" y="3861612"/>
            <a:ext cx="6587325" cy="76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30655" y="2058631"/>
            <a:ext cx="5714732" cy="1661642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94472" y="2332393"/>
            <a:ext cx="4870526" cy="1276489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6822923" y="4038737"/>
            <a:ext cx="734059" cy="218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400" b="1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生命周期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path 58"/>
          <p:cNvSpPr/>
          <p:nvPr/>
        </p:nvSpPr>
        <p:spPr>
          <a:xfrm>
            <a:off x="1680972" y="3610368"/>
            <a:ext cx="4884242" cy="44437"/>
          </a:xfrm>
          <a:custGeom>
            <a:avLst/>
            <a:gdLst/>
            <a:ahLst/>
            <a:cxnLst/>
            <a:rect l="0" t="0" r="0" b="0"/>
            <a:pathLst>
              <a:path w="7691" h="69">
                <a:moveTo>
                  <a:pt x="3813" y="35"/>
                </a:moveTo>
                <a:cubicBezTo>
                  <a:pt x="3813" y="15"/>
                  <a:pt x="3829" y="0"/>
                  <a:pt x="3848" y="0"/>
                </a:cubicBezTo>
                <a:cubicBezTo>
                  <a:pt x="3868" y="0"/>
                  <a:pt x="3884" y="15"/>
                  <a:pt x="3884" y="34"/>
                </a:cubicBezTo>
                <a:cubicBezTo>
                  <a:pt x="3884" y="54"/>
                  <a:pt x="3868" y="69"/>
                  <a:pt x="3848" y="69"/>
                </a:cubicBezTo>
                <a:cubicBezTo>
                  <a:pt x="3829" y="69"/>
                  <a:pt x="3813" y="54"/>
                  <a:pt x="3813" y="35"/>
                </a:cubicBezTo>
              </a:path>
              <a:path w="7691" h="69">
                <a:moveTo>
                  <a:pt x="1927" y="35"/>
                </a:moveTo>
                <a:cubicBezTo>
                  <a:pt x="1927" y="15"/>
                  <a:pt x="1943" y="0"/>
                  <a:pt x="1963" y="0"/>
                </a:cubicBezTo>
                <a:cubicBezTo>
                  <a:pt x="1982" y="0"/>
                  <a:pt x="1998" y="15"/>
                  <a:pt x="1998" y="34"/>
                </a:cubicBezTo>
                <a:cubicBezTo>
                  <a:pt x="1998" y="54"/>
                  <a:pt x="1982" y="69"/>
                  <a:pt x="1963" y="69"/>
                </a:cubicBezTo>
                <a:cubicBezTo>
                  <a:pt x="1943" y="69"/>
                  <a:pt x="1927" y="54"/>
                  <a:pt x="1927" y="35"/>
                </a:cubicBezTo>
              </a:path>
              <a:path w="7691" h="69">
                <a:moveTo>
                  <a:pt x="0" y="35"/>
                </a:moveTo>
                <a:cubicBezTo>
                  <a:pt x="0" y="15"/>
                  <a:pt x="16" y="0"/>
                  <a:pt x="36" y="0"/>
                </a:cubicBezTo>
                <a:cubicBezTo>
                  <a:pt x="55" y="0"/>
                  <a:pt x="71" y="15"/>
                  <a:pt x="71" y="34"/>
                </a:cubicBezTo>
                <a:cubicBezTo>
                  <a:pt x="71" y="54"/>
                  <a:pt x="55" y="69"/>
                  <a:pt x="36" y="69"/>
                </a:cubicBezTo>
                <a:cubicBezTo>
                  <a:pt x="16" y="69"/>
                  <a:pt x="0" y="54"/>
                  <a:pt x="0" y="35"/>
                </a:cubicBezTo>
              </a:path>
              <a:path w="7691" h="69">
                <a:moveTo>
                  <a:pt x="5724" y="35"/>
                </a:moveTo>
                <a:cubicBezTo>
                  <a:pt x="5723" y="15"/>
                  <a:pt x="5739" y="0"/>
                  <a:pt x="5759" y="0"/>
                </a:cubicBezTo>
                <a:cubicBezTo>
                  <a:pt x="5779" y="0"/>
                  <a:pt x="5795" y="15"/>
                  <a:pt x="5795" y="34"/>
                </a:cubicBezTo>
                <a:cubicBezTo>
                  <a:pt x="5795" y="54"/>
                  <a:pt x="5779" y="69"/>
                  <a:pt x="5759" y="69"/>
                </a:cubicBezTo>
                <a:cubicBezTo>
                  <a:pt x="5739" y="69"/>
                  <a:pt x="5723" y="54"/>
                  <a:pt x="5724" y="35"/>
                </a:cubicBezTo>
              </a:path>
              <a:path w="7691" h="69">
                <a:moveTo>
                  <a:pt x="7620" y="35"/>
                </a:moveTo>
                <a:cubicBezTo>
                  <a:pt x="7620" y="15"/>
                  <a:pt x="7636" y="0"/>
                  <a:pt x="7655" y="0"/>
                </a:cubicBezTo>
                <a:cubicBezTo>
                  <a:pt x="7675" y="0"/>
                  <a:pt x="7691" y="15"/>
                  <a:pt x="7691" y="34"/>
                </a:cubicBezTo>
                <a:cubicBezTo>
                  <a:pt x="7691" y="54"/>
                  <a:pt x="7675" y="69"/>
                  <a:pt x="7655" y="69"/>
                </a:cubicBezTo>
                <a:cubicBezTo>
                  <a:pt x="7636" y="69"/>
                  <a:pt x="7620" y="54"/>
                  <a:pt x="7620" y="35"/>
                </a:cubicBezTo>
              </a:path>
            </a:pathLst>
          </a:custGeom>
          <a:solidFill>
            <a:srgbClr val="0079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4768595" y="3755135"/>
            <a:ext cx="1155192" cy="288035"/>
            <a:chOff x="0" y="0"/>
            <a:chExt cx="1155192" cy="288035"/>
          </a:xfrm>
        </p:grpSpPr>
        <p:sp>
          <p:nvSpPr>
            <p:cNvPr id="60" name="path 60"/>
            <p:cNvSpPr/>
            <p:nvPr/>
          </p:nvSpPr>
          <p:spPr>
            <a:xfrm>
              <a:off x="0" y="0"/>
              <a:ext cx="1155192" cy="288035"/>
            </a:xfrm>
            <a:custGeom>
              <a:avLst/>
              <a:gdLst/>
              <a:ahLst/>
              <a:cxnLst/>
              <a:rect l="0" t="0" r="0" b="0"/>
              <a:pathLst>
                <a:path w="1819" h="453">
                  <a:moveTo>
                    <a:pt x="0" y="0"/>
                  </a:moveTo>
                  <a:lnTo>
                    <a:pt x="1593" y="0"/>
                  </a:lnTo>
                  <a:lnTo>
                    <a:pt x="1819" y="225"/>
                  </a:lnTo>
                  <a:lnTo>
                    <a:pt x="1593" y="453"/>
                  </a:lnTo>
                  <a:lnTo>
                    <a:pt x="0" y="453"/>
                  </a:lnTo>
                  <a:lnTo>
                    <a:pt x="227" y="225"/>
                  </a:lnTo>
                  <a:lnTo>
                    <a:pt x="0" y="0"/>
                  </a:lnTo>
                </a:path>
              </a:pathLst>
            </a:cu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textbox 62"/>
            <p:cNvSpPr/>
            <p:nvPr/>
          </p:nvSpPr>
          <p:spPr>
            <a:xfrm>
              <a:off x="-12700" y="-12700"/>
              <a:ext cx="1181100" cy="330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25755" algn="l" rtl="0" eaLnBrk="0">
                <a:lnSpc>
                  <a:spcPct val="90000"/>
                </a:lnSpc>
                <a:spcBef>
                  <a:spcPts val="5"/>
                </a:spcBef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沉默期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5943600" y="3750563"/>
            <a:ext cx="1155192" cy="288036"/>
            <a:chOff x="0" y="0"/>
            <a:chExt cx="1155192" cy="288036"/>
          </a:xfrm>
        </p:grpSpPr>
        <p:sp>
          <p:nvSpPr>
            <p:cNvPr id="64" name="path 64"/>
            <p:cNvSpPr/>
            <p:nvPr/>
          </p:nvSpPr>
          <p:spPr>
            <a:xfrm>
              <a:off x="0" y="0"/>
              <a:ext cx="1155192" cy="288036"/>
            </a:xfrm>
            <a:custGeom>
              <a:avLst/>
              <a:gdLst/>
              <a:ahLst/>
              <a:cxnLst/>
              <a:rect l="0" t="0" r="0" b="0"/>
              <a:pathLst>
                <a:path w="1819" h="453">
                  <a:moveTo>
                    <a:pt x="0" y="0"/>
                  </a:moveTo>
                  <a:lnTo>
                    <a:pt x="1593" y="0"/>
                  </a:lnTo>
                  <a:lnTo>
                    <a:pt x="1819" y="228"/>
                  </a:lnTo>
                  <a:lnTo>
                    <a:pt x="1593" y="453"/>
                  </a:lnTo>
                  <a:lnTo>
                    <a:pt x="0" y="453"/>
                  </a:lnTo>
                  <a:lnTo>
                    <a:pt x="225" y="228"/>
                  </a:lnTo>
                  <a:lnTo>
                    <a:pt x="0" y="0"/>
                  </a:lnTo>
                </a:path>
              </a:pathLst>
            </a:cu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" name="textbox 66"/>
            <p:cNvSpPr/>
            <p:nvPr/>
          </p:nvSpPr>
          <p:spPr>
            <a:xfrm>
              <a:off x="-12700" y="-12700"/>
              <a:ext cx="1181100" cy="3321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25120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流失期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68" name="table 68"/>
          <p:cNvGraphicFramePr>
            <a:graphicFrameLocks noGrp="1"/>
          </p:cNvGraphicFramePr>
          <p:nvPr/>
        </p:nvGraphicFramePr>
        <p:xfrm>
          <a:off x="1488947" y="4423409"/>
          <a:ext cx="5885179" cy="621030"/>
        </p:xfrm>
        <a:graphic>
          <a:graphicData uri="http://schemas.openxmlformats.org/drawingml/2006/table">
            <a:tbl>
              <a:tblPr/>
              <a:tblGrid>
                <a:gridCol w="1158875"/>
                <a:gridCol w="1212214"/>
                <a:gridCol w="1189989"/>
                <a:gridCol w="1188085"/>
                <a:gridCol w="1136014"/>
              </a:tblGrid>
              <a:tr h="6210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0" name="rect 70"/>
          <p:cNvSpPr/>
          <p:nvPr/>
        </p:nvSpPr>
        <p:spPr>
          <a:xfrm>
            <a:off x="1371600" y="4309871"/>
            <a:ext cx="6109715" cy="839723"/>
          </a:xfrm>
          <a:prstGeom prst="rect">
            <a:avLst/>
          </a:prstGeom>
          <a:solidFill>
            <a:srgbClr val="438AFF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textbox 72"/>
          <p:cNvSpPr/>
          <p:nvPr/>
        </p:nvSpPr>
        <p:spPr>
          <a:xfrm>
            <a:off x="5103875" y="4423409"/>
            <a:ext cx="1080769" cy="26797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020" algn="l" rtl="0" eaLnBrk="0">
              <a:lnSpc>
                <a:spcPct val="99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提前还款次数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4" name="table 74"/>
          <p:cNvGraphicFramePr>
            <a:graphicFrameLocks noGrp="1"/>
          </p:cNvGraphicFramePr>
          <p:nvPr/>
        </p:nvGraphicFramePr>
        <p:xfrm>
          <a:off x="1488947" y="5355335"/>
          <a:ext cx="5885180" cy="621665"/>
        </p:xfrm>
        <a:graphic>
          <a:graphicData uri="http://schemas.openxmlformats.org/drawingml/2006/table">
            <a:tbl>
              <a:tblPr/>
              <a:tblGrid>
                <a:gridCol w="1158875"/>
                <a:gridCol w="1209039"/>
                <a:gridCol w="1191895"/>
                <a:gridCol w="1186814"/>
                <a:gridCol w="1138555"/>
              </a:tblGrid>
              <a:tr h="621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6" name="rect 76"/>
          <p:cNvSpPr/>
          <p:nvPr/>
        </p:nvSpPr>
        <p:spPr>
          <a:xfrm>
            <a:off x="1371600" y="5295900"/>
            <a:ext cx="6109715" cy="751332"/>
          </a:xfrm>
          <a:prstGeom prst="rect">
            <a:avLst/>
          </a:prstGeom>
          <a:solidFill>
            <a:srgbClr val="438AFF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8" name="textbox 78"/>
          <p:cNvSpPr/>
          <p:nvPr/>
        </p:nvSpPr>
        <p:spPr>
          <a:xfrm>
            <a:off x="1488947" y="5355335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020" algn="l" rtl="0" eaLnBrk="0">
              <a:lnSpc>
                <a:spcPct val="100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渠道质量分析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294120" y="4424171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活动类型偏好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1488947" y="5705855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520" algn="l" rtl="0" eaLnBrk="0">
              <a:lnSpc>
                <a:spcPct val="99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注册至进件漏斗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3909059" y="5705855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020" algn="l" rtl="0" eaLnBrk="0">
              <a:lnSpc>
                <a:spcPct val="99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活动偏好分析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3915155" y="5355335"/>
            <a:ext cx="1079500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5885" algn="l" rtl="0" eaLnBrk="0">
              <a:lnSpc>
                <a:spcPct val="100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额度使用率分析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2726436" y="5355335"/>
            <a:ext cx="1079500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1290" algn="l" rtl="0" eaLnBrk="0">
              <a:lnSpc>
                <a:spcPct val="100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首贷漏斗分析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2726436" y="5705855"/>
            <a:ext cx="1079500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1290" algn="l" rtl="0" eaLnBrk="0">
              <a:lnSpc>
                <a:spcPct val="100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首贷金额分布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6292595" y="4777740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655" algn="l" rtl="0" eaLnBrk="0">
              <a:lnSpc>
                <a:spcPct val="99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末次借款日期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294120" y="5355335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3520" algn="l" rtl="0" eaLnBrk="0">
              <a:lnSpc>
                <a:spcPct val="100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召回率预测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rect 96"/>
          <p:cNvSpPr/>
          <p:nvPr/>
        </p:nvSpPr>
        <p:spPr>
          <a:xfrm>
            <a:off x="7807452" y="1264920"/>
            <a:ext cx="4049267" cy="48768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textbox 98"/>
          <p:cNvSpPr/>
          <p:nvPr/>
        </p:nvSpPr>
        <p:spPr>
          <a:xfrm>
            <a:off x="8249242" y="2554154"/>
            <a:ext cx="3147695" cy="2799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0195" indent="-278130" algn="l" rtl="0" eaLnBrk="0">
              <a:lnSpc>
                <a:spcPct val="13000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指标体系可以映射业务经营逻辑</a:t>
            </a:r>
            <a:r>
              <a:rPr sz="1400" b="1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指标拆解到可落地的业务过程指标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形成战略到执行的闭环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9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3370" indent="-280670" algn="l" rtl="0" eaLnBrk="0">
              <a:lnSpc>
                <a:spcPct val="121000"/>
              </a:lnSpc>
              <a:spcBef>
                <a:spcPts val="43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统一的指标口径</a:t>
            </a:r>
            <a:r>
              <a:rPr sz="1400" b="1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，形成一致的业务水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平衡量标准</a:t>
            </a:r>
            <a:r>
              <a:rPr sz="1400" b="1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，提高经营决策效率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1465" indent="-278765" algn="l" rtl="0" eaLnBrk="0">
              <a:lnSpc>
                <a:spcPct val="120000"/>
              </a:lnSpc>
              <a:spcBef>
                <a:spcPts val="0"/>
              </a:spcBef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以面向业务的指标体系</a:t>
            </a:r>
            <a:r>
              <a:rPr sz="1400" b="1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，牵引企业数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据底座建设</a:t>
            </a:r>
            <a:r>
              <a:rPr sz="1400" b="1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，数字化技术更好落地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8938060" y="1856137"/>
            <a:ext cx="1647825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指标化经营的意义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path 102"/>
          <p:cNvSpPr/>
          <p:nvPr/>
        </p:nvSpPr>
        <p:spPr>
          <a:xfrm>
            <a:off x="8317992" y="2249423"/>
            <a:ext cx="3026664" cy="44196"/>
          </a:xfrm>
          <a:custGeom>
            <a:avLst/>
            <a:gdLst/>
            <a:ahLst/>
            <a:cxnLst/>
            <a:rect l="0" t="0" r="0" b="0"/>
            <a:pathLst>
              <a:path w="4766" h="69">
                <a:moveTo>
                  <a:pt x="0" y="0"/>
                </a:moveTo>
                <a:lnTo>
                  <a:pt x="4766" y="0"/>
                </a:lnTo>
                <a:lnTo>
                  <a:pt x="4766" y="69"/>
                </a:lnTo>
                <a:lnTo>
                  <a:pt x="0" y="69"/>
                </a:lnTo>
                <a:lnTo>
                  <a:pt x="0" y="0"/>
                </a:lnTo>
                <a:close/>
              </a:path>
            </a:pathLst>
          </a:cu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textbox 104"/>
          <p:cNvSpPr/>
          <p:nvPr/>
        </p:nvSpPr>
        <p:spPr>
          <a:xfrm>
            <a:off x="6288023" y="5710428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3505" algn="l" rtl="0" eaLnBrk="0">
              <a:lnSpc>
                <a:spcPct val="100000"/>
              </a:lnSpc>
              <a:spcBef>
                <a:spcPts val="0"/>
              </a:spcBef>
            </a:pPr>
            <a:r>
              <a:rPr sz="9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电销接通率预测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106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8" name="textbox 108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545522" y="1310934"/>
            <a:ext cx="6389370" cy="434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存量客户数字化经营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，核心是以</a:t>
            </a:r>
            <a:r>
              <a:rPr sz="1400" b="1" kern="0" spc="-20" dirty="0">
                <a:solidFill>
                  <a:srgbClr val="0165C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客户为中心</a:t>
            </a:r>
            <a:r>
              <a:rPr sz="1400" b="1" kern="0" spc="-210" dirty="0">
                <a:solidFill>
                  <a:srgbClr val="0165C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，在客户不同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，提供</a:t>
            </a:r>
            <a:r>
              <a:rPr sz="1400" b="1" kern="0" spc="-30" dirty="0">
                <a:solidFill>
                  <a:srgbClr val="0165C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差异化服务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进而提升客户体验和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551002" y="315011"/>
            <a:ext cx="4593590" cy="357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指标化经营是企业数字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化经营基础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1305892" y="2100346"/>
            <a:ext cx="5506084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6000"/>
              </a:lnSpc>
            </a:pP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sz="1500" kern="0" spc="200" dirty="0">
                <a:solidFill>
                  <a:srgbClr val="FFFFFF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800" b="1" kern="0" spc="10" baseline="-300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进件转化率</a:t>
            </a:r>
            <a:r>
              <a:rPr sz="1100" b="1" kern="0" spc="5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400" kern="0" spc="10" baseline="-4000" dirty="0">
                <a:solidFill>
                  <a:srgbClr val="FFFFFF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</a:t>
            </a: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800" b="1" kern="0" spc="10" baseline="-300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首贷率</a:t>
            </a:r>
            <a:r>
              <a:rPr sz="1100" b="1" kern="0" spc="2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</a:t>
            </a:r>
            <a:r>
              <a:rPr sz="1500" kern="0" spc="190" dirty="0">
                <a:solidFill>
                  <a:srgbClr val="FFFFFF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800" b="1" kern="0" spc="10" baseline="300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人均余额</a:t>
            </a:r>
            <a:r>
              <a:rPr sz="1100" b="1" kern="0" spc="1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100" b="1" kern="0" spc="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</a:t>
            </a: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800" b="1" kern="0" spc="0" baseline="600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流失率</a:t>
            </a:r>
            <a:r>
              <a:rPr sz="1100" b="1" kern="0" spc="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sz="1800" b="1" kern="0" spc="0" baseline="6000" dirty="0">
                <a:solidFill>
                  <a:srgbClr val="ED7D3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召回率</a:t>
            </a:r>
            <a:endParaRPr sz="1800" baseline="6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97673" y="1894205"/>
            <a:ext cx="76200" cy="2277909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1143000" y="3752088"/>
            <a:ext cx="1257300" cy="271779"/>
          </a:xfrm>
          <a:prstGeom prst="rect">
            <a:avLst/>
          </a:prstGeom>
          <a:solidFill>
            <a:srgbClr val="1353B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6550" algn="l" rtl="0" eaLnBrk="0">
              <a:lnSpc>
                <a:spcPct val="90000"/>
              </a:lnSpc>
            </a:pP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引入期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2418587" y="3749040"/>
            <a:ext cx="1155192" cy="286511"/>
            <a:chOff x="0" y="0"/>
            <a:chExt cx="1155192" cy="286511"/>
          </a:xfrm>
        </p:grpSpPr>
        <p:sp>
          <p:nvSpPr>
            <p:cNvPr id="120" name="path 120"/>
            <p:cNvSpPr/>
            <p:nvPr/>
          </p:nvSpPr>
          <p:spPr>
            <a:xfrm>
              <a:off x="0" y="0"/>
              <a:ext cx="1155192" cy="286511"/>
            </a:xfrm>
            <a:custGeom>
              <a:avLst/>
              <a:gdLst/>
              <a:ahLst/>
              <a:cxnLst/>
              <a:rect l="0" t="0" r="0" b="0"/>
              <a:pathLst>
                <a:path w="1819" h="451">
                  <a:moveTo>
                    <a:pt x="0" y="0"/>
                  </a:moveTo>
                  <a:lnTo>
                    <a:pt x="1593" y="0"/>
                  </a:lnTo>
                  <a:lnTo>
                    <a:pt x="1819" y="225"/>
                  </a:lnTo>
                  <a:lnTo>
                    <a:pt x="1593" y="451"/>
                  </a:lnTo>
                  <a:lnTo>
                    <a:pt x="0" y="451"/>
                  </a:lnTo>
                  <a:lnTo>
                    <a:pt x="225" y="225"/>
                  </a:lnTo>
                  <a:lnTo>
                    <a:pt x="0" y="0"/>
                  </a:lnTo>
                </a:path>
              </a:pathLst>
            </a:cu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" name="textbox 122"/>
            <p:cNvSpPr/>
            <p:nvPr/>
          </p:nvSpPr>
          <p:spPr>
            <a:xfrm>
              <a:off x="-12700" y="-12700"/>
              <a:ext cx="1181100" cy="329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25120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成长期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24" name="textbox 124"/>
          <p:cNvSpPr/>
          <p:nvPr/>
        </p:nvSpPr>
        <p:spPr>
          <a:xfrm>
            <a:off x="1488947" y="4424171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9385" algn="l" rtl="0" eaLnBrk="0">
              <a:lnSpc>
                <a:spcPct val="100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获客渠道标签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488947" y="4777740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655" algn="l" rtl="0" eaLnBrk="0">
              <a:lnSpc>
                <a:spcPct val="98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人口属性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2726436" y="4424171"/>
            <a:ext cx="1079500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6385" algn="l" rtl="0" eaLnBrk="0">
              <a:lnSpc>
                <a:spcPct val="100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授信额度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2726436" y="4777740"/>
            <a:ext cx="1079500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8290" algn="l" rtl="0" eaLnBrk="0">
              <a:lnSpc>
                <a:spcPct val="100000"/>
              </a:lnSpc>
              <a:spcBef>
                <a:spcPts val="0"/>
              </a:spcBef>
            </a:pPr>
            <a:r>
              <a:rPr sz="9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首贷金额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textbox 132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4" name="picture 1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3592067" y="3755135"/>
            <a:ext cx="1155191" cy="288035"/>
            <a:chOff x="0" y="0"/>
            <a:chExt cx="1155191" cy="288035"/>
          </a:xfrm>
        </p:grpSpPr>
        <p:sp>
          <p:nvSpPr>
            <p:cNvPr id="136" name="path 136"/>
            <p:cNvSpPr/>
            <p:nvPr/>
          </p:nvSpPr>
          <p:spPr>
            <a:xfrm>
              <a:off x="0" y="0"/>
              <a:ext cx="1155191" cy="288035"/>
            </a:xfrm>
            <a:custGeom>
              <a:avLst/>
              <a:gdLst/>
              <a:ahLst/>
              <a:cxnLst/>
              <a:rect l="0" t="0" r="0" b="0"/>
              <a:pathLst>
                <a:path w="1819" h="453">
                  <a:moveTo>
                    <a:pt x="0" y="0"/>
                  </a:moveTo>
                  <a:lnTo>
                    <a:pt x="1593" y="0"/>
                  </a:lnTo>
                  <a:lnTo>
                    <a:pt x="1819" y="225"/>
                  </a:lnTo>
                  <a:lnTo>
                    <a:pt x="1593" y="453"/>
                  </a:lnTo>
                  <a:lnTo>
                    <a:pt x="0" y="453"/>
                  </a:lnTo>
                  <a:lnTo>
                    <a:pt x="225" y="225"/>
                  </a:lnTo>
                  <a:lnTo>
                    <a:pt x="0" y="0"/>
                  </a:lnTo>
                </a:path>
              </a:pathLst>
            </a:cu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" name="textbox 138"/>
            <p:cNvSpPr/>
            <p:nvPr/>
          </p:nvSpPr>
          <p:spPr>
            <a:xfrm>
              <a:off x="-12700" y="-12700"/>
              <a:ext cx="1181100" cy="330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25755" algn="l" rtl="0" eaLnBrk="0">
                <a:lnSpc>
                  <a:spcPct val="91000"/>
                </a:lnSpc>
                <a:spcBef>
                  <a:spcPts val="0"/>
                </a:spcBef>
              </a:pP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成熟期</a:t>
              </a:r>
              <a:endParaRPr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40" name="textbox 140"/>
          <p:cNvSpPr/>
          <p:nvPr/>
        </p:nvSpPr>
        <p:spPr>
          <a:xfrm>
            <a:off x="5103875" y="5355335"/>
            <a:ext cx="1080769" cy="267334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020" algn="l" rtl="0" eaLnBrk="0">
              <a:lnSpc>
                <a:spcPct val="99000"/>
              </a:lnSpc>
              <a:spcBef>
                <a:spcPts val="5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提前还款分析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5103875" y="5705855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9385" algn="l" rtl="0" eaLnBrk="0">
              <a:lnSpc>
                <a:spcPct val="100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客户流失概率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3916679" y="4777740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9385" algn="l" rtl="0" eaLnBrk="0">
              <a:lnSpc>
                <a:spcPct val="100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参与活动次数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5103875" y="4777740"/>
            <a:ext cx="1080769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655" algn="l" rtl="0" eaLnBrk="0">
              <a:lnSpc>
                <a:spcPct val="99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末次登录日期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3915155" y="4424171"/>
            <a:ext cx="1079500" cy="266700"/>
          </a:xfrm>
          <a:prstGeom prst="rect">
            <a:avLst/>
          </a:prstGeom>
          <a:solidFill>
            <a:srgbClr val="438A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1290" algn="l" rtl="0" eaLnBrk="0">
              <a:lnSpc>
                <a:spcPct val="99000"/>
              </a:lnSpc>
              <a:spcBef>
                <a:spcPts val="0"/>
              </a:spcBef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累计借贷笔数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path 150"/>
          <p:cNvSpPr/>
          <p:nvPr/>
        </p:nvSpPr>
        <p:spPr>
          <a:xfrm>
            <a:off x="7478267" y="3054095"/>
            <a:ext cx="291084" cy="925067"/>
          </a:xfrm>
          <a:custGeom>
            <a:avLst/>
            <a:gdLst/>
            <a:ahLst/>
            <a:cxnLst/>
            <a:rect l="0" t="0" r="0" b="0"/>
            <a:pathLst>
              <a:path w="458" h="1456">
                <a:moveTo>
                  <a:pt x="0" y="0"/>
                </a:moveTo>
                <a:lnTo>
                  <a:pt x="230" y="0"/>
                </a:lnTo>
                <a:lnTo>
                  <a:pt x="458" y="729"/>
                </a:lnTo>
                <a:lnTo>
                  <a:pt x="230" y="1456"/>
                </a:lnTo>
                <a:lnTo>
                  <a:pt x="0" y="1456"/>
                </a:lnTo>
                <a:lnTo>
                  <a:pt x="230" y="729"/>
                </a:lnTo>
                <a:lnTo>
                  <a:pt x="0" y="0"/>
                </a:lnTo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" name="textbox 152"/>
          <p:cNvSpPr/>
          <p:nvPr/>
        </p:nvSpPr>
        <p:spPr>
          <a:xfrm>
            <a:off x="539389" y="2042688"/>
            <a:ext cx="379729" cy="433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余额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6081559" y="2044585"/>
            <a:ext cx="252083" cy="251841"/>
            <a:chOff x="0" y="0"/>
            <a:chExt cx="252083" cy="251841"/>
          </a:xfrm>
        </p:grpSpPr>
        <p:sp>
          <p:nvSpPr>
            <p:cNvPr id="154" name="path 154"/>
            <p:cNvSpPr/>
            <p:nvPr/>
          </p:nvSpPr>
          <p:spPr>
            <a:xfrm>
              <a:off x="0" y="0"/>
              <a:ext cx="252083" cy="251841"/>
            </a:xfrm>
            <a:custGeom>
              <a:avLst/>
              <a:gdLst/>
              <a:ahLst/>
              <a:cxnLst/>
              <a:rect l="0" t="0" r="0" b="0"/>
              <a:pathLst>
                <a:path w="396" h="396">
                  <a:moveTo>
                    <a:pt x="1" y="197"/>
                  </a:moveTo>
                  <a:cubicBezTo>
                    <a:pt x="0" y="88"/>
                    <a:pt x="88" y="0"/>
                    <a:pt x="198" y="0"/>
                  </a:cubicBezTo>
                  <a:cubicBezTo>
                    <a:pt x="308" y="0"/>
                    <a:pt x="396" y="88"/>
                    <a:pt x="396" y="198"/>
                  </a:cubicBezTo>
                  <a:cubicBezTo>
                    <a:pt x="396" y="307"/>
                    <a:pt x="308" y="396"/>
                    <a:pt x="198" y="396"/>
                  </a:cubicBezTo>
                  <a:cubicBezTo>
                    <a:pt x="88" y="396"/>
                    <a:pt x="0" y="307"/>
                    <a:pt x="1" y="197"/>
                  </a:cubicBezTo>
                </a:path>
              </a:pathLst>
            </a:cu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" name="textbox 156"/>
            <p:cNvSpPr/>
            <p:nvPr/>
          </p:nvSpPr>
          <p:spPr>
            <a:xfrm>
              <a:off x="-12700" y="-12700"/>
              <a:ext cx="277495" cy="3206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2075" algn="l" rtl="0" eaLnBrk="0">
                <a:lnSpc>
                  <a:spcPct val="85000"/>
                </a:lnSpc>
                <a:spcBef>
                  <a:spcPts val="5"/>
                </a:spcBef>
              </a:pPr>
              <a:r>
                <a:rPr sz="1500" kern="0" spc="-20" dirty="0">
                  <a:solidFill>
                    <a:srgbClr val="FFFFFF">
                      <a:alpha val="100000"/>
                    </a:srgbClr>
                  </a:solidFill>
                  <a:latin typeface="Verdana" panose="020B0604030504040204"/>
                  <a:ea typeface="Verdana" panose="020B0604030504040204"/>
                  <a:cs typeface="Verdana" panose="020B0604030504040204"/>
                </a:rPr>
                <a:t>5</a:t>
              </a:r>
              <a:endParaRPr sz="1500" dirty="0">
                <a:latin typeface="Verdana" panose="020B0604030504040204"/>
                <a:ea typeface="Verdana" panose="020B0604030504040204"/>
                <a:cs typeface="Verdana" panose="020B0604030504040204"/>
              </a:endParaRPr>
            </a:p>
          </p:txBody>
        </p:sp>
      </p:grpSp>
      <p:sp>
        <p:nvSpPr>
          <p:cNvPr id="158" name="textbox 158"/>
          <p:cNvSpPr/>
          <p:nvPr/>
        </p:nvSpPr>
        <p:spPr>
          <a:xfrm>
            <a:off x="11860949" y="6512090"/>
            <a:ext cx="113664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1200" kern="0" spc="-20" dirty="0">
                <a:solidFill>
                  <a:srgbClr val="9B9B9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pic>
        <p:nvPicPr>
          <p:cNvPr id="162" name="picture 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41254" y="2246769"/>
            <a:ext cx="1294562" cy="1066189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0144" y="4835830"/>
            <a:ext cx="4318533" cy="1110017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2160500" y="5525401"/>
            <a:ext cx="1555114" cy="466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1140" algn="l" rtl="0" eaLnBrk="0">
              <a:lnSpc>
                <a:spcPts val="1425"/>
              </a:lnSpc>
            </a:pPr>
            <a:r>
              <a:rPr sz="1000" kern="0" spc="-40" baseline="29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DW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000" kern="0" spc="-40" baseline="-54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sz="1000" kern="0" spc="-40" baseline="29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000" kern="0" spc="-40" baseline="29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S/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sz="1700" b="1" kern="0" spc="-40" baseline="-4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</a:t>
            </a:r>
            <a:r>
              <a:rPr sz="1100" kern="0" spc="2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700" kern="0" spc="-40" baseline="-4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果</a:t>
            </a:r>
            <a:endParaRPr sz="1700" baseline="-4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</a:pP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面向表、需层层固化、</a:t>
            </a:r>
            <a:r>
              <a:rPr sz="8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有技术门槛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68" name="picture 1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70341" y="5758865"/>
            <a:ext cx="18859" cy="205854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2581577" y="5646027"/>
            <a:ext cx="66039" cy="106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2610331" y="5539964"/>
            <a:ext cx="69214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2489588" y="5645320"/>
            <a:ext cx="69214" cy="106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2466695" y="5525401"/>
            <a:ext cx="112395" cy="126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0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D/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3052413" y="5025695"/>
            <a:ext cx="180975" cy="501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100" b="1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数据开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2281069" y="5059184"/>
            <a:ext cx="580390" cy="486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95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数据溯源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32410" algn="l" rtl="0" eaLnBrk="0">
              <a:lnSpc>
                <a:spcPct val="78000"/>
              </a:lnSpc>
              <a:spcBef>
                <a:spcPts val="125"/>
              </a:spcBef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ODS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模型设计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8893" y="3253257"/>
            <a:ext cx="971549" cy="19050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53513" y="2319972"/>
            <a:ext cx="1343025" cy="28409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939493" y="2473566"/>
            <a:ext cx="39459" cy="798741"/>
          </a:xfrm>
          <a:prstGeom prst="rect">
            <a:avLst/>
          </a:prstGeom>
        </p:spPr>
      </p:pic>
      <p:sp>
        <p:nvSpPr>
          <p:cNvPr id="188" name="path 188"/>
          <p:cNvSpPr/>
          <p:nvPr/>
        </p:nvSpPr>
        <p:spPr>
          <a:xfrm>
            <a:off x="1976627" y="2727959"/>
            <a:ext cx="170688" cy="138684"/>
          </a:xfrm>
          <a:custGeom>
            <a:avLst/>
            <a:gdLst/>
            <a:ahLst/>
            <a:cxnLst/>
            <a:rect l="0" t="0" r="0" b="0"/>
            <a:pathLst>
              <a:path w="268" h="218">
                <a:moveTo>
                  <a:pt x="107" y="218"/>
                </a:moveTo>
                <a:lnTo>
                  <a:pt x="0" y="108"/>
                </a:lnTo>
                <a:lnTo>
                  <a:pt x="107" y="0"/>
                </a:lnTo>
                <a:lnTo>
                  <a:pt x="107" y="55"/>
                </a:lnTo>
                <a:lnTo>
                  <a:pt x="160" y="55"/>
                </a:lnTo>
                <a:lnTo>
                  <a:pt x="160" y="0"/>
                </a:lnTo>
                <a:lnTo>
                  <a:pt x="268" y="108"/>
                </a:lnTo>
                <a:lnTo>
                  <a:pt x="160" y="218"/>
                </a:lnTo>
                <a:lnTo>
                  <a:pt x="160" y="163"/>
                </a:lnTo>
                <a:lnTo>
                  <a:pt x="107" y="163"/>
                </a:lnTo>
                <a:lnTo>
                  <a:pt x="107" y="218"/>
                </a:lnTo>
              </a:path>
            </a:pathLst>
          </a:custGeom>
          <a:solidFill>
            <a:srgbClr val="AFABA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90" name="picture 1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04849" y="2519832"/>
            <a:ext cx="24993" cy="752475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04849" y="2319375"/>
            <a:ext cx="885393" cy="29006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809292" y="2319375"/>
            <a:ext cx="57150" cy="19050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200808" y="3253257"/>
            <a:ext cx="1276350" cy="19050"/>
          </a:xfrm>
          <a:prstGeom prst="rect">
            <a:avLst/>
          </a:prstGeom>
        </p:spPr>
      </p:pic>
      <p:pic>
        <p:nvPicPr>
          <p:cNvPr id="198" name="picture 19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885492" y="2319375"/>
            <a:ext cx="93459" cy="135140"/>
          </a:xfrm>
          <a:prstGeom prst="rect">
            <a:avLst/>
          </a:prstGeom>
        </p:spPr>
      </p:pic>
      <p:pic>
        <p:nvPicPr>
          <p:cNvPr id="200" name="picture 2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153513" y="2519832"/>
            <a:ext cx="28244" cy="752475"/>
          </a:xfrm>
          <a:prstGeom prst="rect">
            <a:avLst/>
          </a:prstGeom>
        </p:spPr>
      </p:pic>
      <p:pic>
        <p:nvPicPr>
          <p:cNvPr id="202" name="picture 20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153513" y="2367432"/>
            <a:ext cx="19050" cy="133350"/>
          </a:xfrm>
          <a:prstGeom prst="rect">
            <a:avLst/>
          </a:prstGeom>
        </p:spPr>
      </p:pic>
      <p:pic>
        <p:nvPicPr>
          <p:cNvPr id="204" name="picture 20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477488" y="2358237"/>
            <a:ext cx="19050" cy="895350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904849" y="2367432"/>
            <a:ext cx="19050" cy="133350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43673" y="2256040"/>
            <a:ext cx="2723007" cy="1066190"/>
          </a:xfrm>
          <a:prstGeom prst="rect">
            <a:avLst/>
          </a:prstGeom>
        </p:spPr>
      </p:pic>
      <p:graphicFrame>
        <p:nvGraphicFramePr>
          <p:cNvPr id="210" name="table 210"/>
          <p:cNvGraphicFramePr>
            <a:graphicFrameLocks noGrp="1"/>
          </p:cNvGraphicFramePr>
          <p:nvPr/>
        </p:nvGraphicFramePr>
        <p:xfrm>
          <a:off x="302958" y="1632369"/>
          <a:ext cx="4732654" cy="2362835"/>
        </p:xfrm>
        <a:graphic>
          <a:graphicData uri="http://schemas.openxmlformats.org/drawingml/2006/table">
            <a:tbl>
              <a:tblPr/>
              <a:tblGrid>
                <a:gridCol w="502284"/>
                <a:gridCol w="4230370"/>
              </a:tblGrid>
              <a:tr h="23628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10" algn="l" rtl="0" eaLnBrk="0">
                        <a:lnSpc>
                          <a:spcPct val="95000"/>
                        </a:lnSpc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战略目标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  <a:spcBef>
                          <a:spcPts val="275"/>
                        </a:spcBef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指标体系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驱动业务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33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落地保障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84655" algn="l" rtl="0" eaLnBrk="0">
                        <a:lnSpc>
                          <a:spcPct val="95000"/>
                        </a:lnSpc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业务指标体系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438275" algn="l" rtl="0" eaLnBrk="0">
                        <a:lnSpc>
                          <a:spcPct val="83000"/>
                        </a:lnSpc>
                        <a:spcBef>
                          <a:spcPts val="1140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销售额、订单量…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438910" algn="l" rtl="0" eaLnBrk="0">
                        <a:lnSpc>
                          <a:spcPts val="1205"/>
                        </a:lnSpc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用户数、留存率…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438275" algn="l" rtl="0" eaLnBrk="0">
                        <a:lnSpc>
                          <a:spcPct val="95000"/>
                        </a:lnSpc>
                        <a:spcBef>
                          <a:spcPts val="55"/>
                        </a:spcBef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新开店数、加盟店占比…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48005" algn="l" rtl="0" eaLnBrk="0">
                        <a:lnSpc>
                          <a:spcPct val="94000"/>
                        </a:lnSpc>
                        <a:spcBef>
                          <a:spcPts val="27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组织、流程、机制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77800" algn="l" rtl="0" eaLnBrk="0">
                        <a:lnSpc>
                          <a:spcPct val="94000"/>
                        </a:lnSpc>
                        <a:spcBef>
                          <a:spcPts val="65"/>
                        </a:spcBef>
                      </a:pPr>
                      <a:r>
                        <a:rPr sz="600" kern="0" spc="0" dirty="0">
                          <a:solidFill>
                            <a:srgbClr val="C8142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经营分析会…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指标委员会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57505" indent="-179705" algn="l" rtl="0" eaLnBrk="0">
                        <a:lnSpc>
                          <a:spcPct val="89000"/>
                        </a:lnSpc>
                        <a:spcBef>
                          <a:spcPts val="65"/>
                        </a:spcBef>
                      </a:pPr>
                      <a:r>
                        <a:rPr sz="600" kern="0" spc="0" dirty="0">
                          <a:solidFill>
                            <a:srgbClr val="C8142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经分团队… 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数据治理团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                        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队…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212" name="table 212"/>
          <p:cNvGraphicFramePr>
            <a:graphicFrameLocks noGrp="1"/>
          </p:cNvGraphicFramePr>
          <p:nvPr/>
        </p:nvGraphicFramePr>
        <p:xfrm>
          <a:off x="2804871" y="3388220"/>
          <a:ext cx="2217419" cy="572135"/>
        </p:xfrm>
        <a:graphic>
          <a:graphicData uri="http://schemas.openxmlformats.org/drawingml/2006/table">
            <a:tbl>
              <a:tblPr/>
              <a:tblGrid>
                <a:gridCol w="2217419"/>
              </a:tblGrid>
              <a:tr h="553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756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数据产品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77800" indent="-5715" algn="l" rtl="0" eaLnBrk="0">
                        <a:lnSpc>
                          <a:spcPct val="114000"/>
                        </a:lnSpc>
                        <a:spcBef>
                          <a:spcPts val="4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指标平台：统一口径、高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效生产和消费   </a:t>
                      </a: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3DA3DC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DA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DA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DA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14" name="picture 21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665918" y="5304764"/>
            <a:ext cx="240309" cy="114300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961476" y="5319305"/>
            <a:ext cx="240309" cy="114300"/>
          </a:xfrm>
          <a:prstGeom prst="rect">
            <a:avLst/>
          </a:prstGeom>
        </p:spPr>
      </p:pic>
      <p:sp>
        <p:nvSpPr>
          <p:cNvPr id="218" name="textbox 218"/>
          <p:cNvSpPr/>
          <p:nvPr/>
        </p:nvSpPr>
        <p:spPr>
          <a:xfrm>
            <a:off x="3389878" y="5025873"/>
            <a:ext cx="180975" cy="501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1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数据结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2196893" y="6253021"/>
            <a:ext cx="1561464" cy="342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28040" algn="l" rtl="0" eaLnBrk="0">
              <a:lnSpc>
                <a:spcPts val="780"/>
              </a:lnSpc>
            </a:pPr>
            <a:r>
              <a:rPr sz="6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指标开发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一般数据需求的开发过程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2967258" y="6039661"/>
            <a:ext cx="467359" cy="23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indent="-177800" algn="l" rtl="0" eaLnBrk="0">
              <a:lnSpc>
                <a:spcPct val="112000"/>
              </a:lnSpc>
            </a:pPr>
            <a:r>
              <a:rPr sz="6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指标技术口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6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径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4005845" y="5093018"/>
            <a:ext cx="300354" cy="702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60"/>
              </a:spcBef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655" algn="l" rtl="0" eaLnBrk="0">
              <a:lnSpc>
                <a:spcPct val="98000"/>
              </a:lnSpc>
              <a:spcBef>
                <a:spcPts val="35"/>
              </a:spcBef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/其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05410" algn="l" rtl="0" eaLnBrk="0">
              <a:lnSpc>
                <a:spcPts val="730"/>
              </a:lnSpc>
              <a:spcBef>
                <a:spcPts val="20"/>
              </a:spcBef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他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" algn="l" rtl="0" eaLnBrk="0">
              <a:lnSpc>
                <a:spcPct val="70000"/>
              </a:lnSpc>
              <a:spcBef>
                <a:spcPts val="10"/>
              </a:spcBef>
            </a:pPr>
            <a:r>
              <a:rPr sz="1200" kern="0" spc="4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6" name="picture 22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084294" y="5756580"/>
            <a:ext cx="29006" cy="144309"/>
          </a:xfrm>
          <a:prstGeom prst="rect">
            <a:avLst/>
          </a:prstGeom>
        </p:spPr>
      </p:pic>
      <p:sp>
        <p:nvSpPr>
          <p:cNvPr id="228" name="textbox 228"/>
          <p:cNvSpPr/>
          <p:nvPr/>
        </p:nvSpPr>
        <p:spPr>
          <a:xfrm>
            <a:off x="3937745" y="6021640"/>
            <a:ext cx="467994" cy="23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45085" algn="l" rtl="0" eaLnBrk="0">
              <a:lnSpc>
                <a:spcPct val="112000"/>
              </a:lnSpc>
            </a:pPr>
            <a:r>
              <a:rPr sz="6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二次加工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6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可视化配置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8074316" y="1793912"/>
            <a:ext cx="245109" cy="79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20"/>
              </a:lnSpc>
            </a:pPr>
            <a:r>
              <a:rPr sz="300" b="1" kern="0" spc="140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…</a:t>
            </a:r>
            <a:endParaRPr sz="300" dirty="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232" name="path 232"/>
          <p:cNvSpPr/>
          <p:nvPr/>
        </p:nvSpPr>
        <p:spPr>
          <a:xfrm>
            <a:off x="8614600" y="1157389"/>
            <a:ext cx="263600" cy="302044"/>
          </a:xfrm>
          <a:custGeom>
            <a:avLst/>
            <a:gdLst/>
            <a:ahLst/>
            <a:cxnLst/>
            <a:rect l="0" t="0" r="0" b="0"/>
            <a:pathLst>
              <a:path w="415" h="475">
                <a:moveTo>
                  <a:pt x="330" y="226"/>
                </a:moveTo>
                <a:cubicBezTo>
                  <a:pt x="312" y="213"/>
                  <a:pt x="299" y="204"/>
                  <a:pt x="299" y="204"/>
                </a:cubicBezTo>
                <a:cubicBezTo>
                  <a:pt x="281" y="200"/>
                  <a:pt x="276" y="182"/>
                  <a:pt x="290" y="168"/>
                </a:cubicBezTo>
                <a:cubicBezTo>
                  <a:pt x="290" y="168"/>
                  <a:pt x="299" y="164"/>
                  <a:pt x="303" y="146"/>
                </a:cubicBezTo>
                <a:cubicBezTo>
                  <a:pt x="312" y="133"/>
                  <a:pt x="312" y="120"/>
                  <a:pt x="312" y="106"/>
                </a:cubicBezTo>
                <a:cubicBezTo>
                  <a:pt x="312" y="48"/>
                  <a:pt x="267" y="0"/>
                  <a:pt x="205" y="0"/>
                </a:cubicBezTo>
                <a:cubicBezTo>
                  <a:pt x="147" y="0"/>
                  <a:pt x="102" y="48"/>
                  <a:pt x="102" y="106"/>
                </a:cubicBezTo>
                <a:cubicBezTo>
                  <a:pt x="102" y="120"/>
                  <a:pt x="102" y="137"/>
                  <a:pt x="111" y="151"/>
                </a:cubicBezTo>
                <a:cubicBezTo>
                  <a:pt x="120" y="168"/>
                  <a:pt x="120" y="173"/>
                  <a:pt x="120" y="173"/>
                </a:cubicBezTo>
                <a:cubicBezTo>
                  <a:pt x="138" y="182"/>
                  <a:pt x="133" y="200"/>
                  <a:pt x="116" y="204"/>
                </a:cubicBezTo>
                <a:cubicBezTo>
                  <a:pt x="116" y="204"/>
                  <a:pt x="102" y="213"/>
                  <a:pt x="80" y="226"/>
                </a:cubicBezTo>
                <a:cubicBezTo>
                  <a:pt x="31" y="266"/>
                  <a:pt x="0" y="324"/>
                  <a:pt x="0" y="391"/>
                </a:cubicBezTo>
                <a:cubicBezTo>
                  <a:pt x="0" y="471"/>
                  <a:pt x="415" y="475"/>
                  <a:pt x="415" y="391"/>
                </a:cubicBezTo>
                <a:cubicBezTo>
                  <a:pt x="415" y="324"/>
                  <a:pt x="383" y="262"/>
                  <a:pt x="330" y="226"/>
                </a:cubicBezTo>
                <a:moveTo>
                  <a:pt x="254" y="404"/>
                </a:moveTo>
                <a:cubicBezTo>
                  <a:pt x="245" y="413"/>
                  <a:pt x="236" y="422"/>
                  <a:pt x="227" y="426"/>
                </a:cubicBezTo>
                <a:cubicBezTo>
                  <a:pt x="218" y="431"/>
                  <a:pt x="214" y="435"/>
                  <a:pt x="214" y="435"/>
                </a:cubicBezTo>
                <a:cubicBezTo>
                  <a:pt x="200" y="435"/>
                  <a:pt x="200" y="435"/>
                  <a:pt x="200" y="435"/>
                </a:cubicBezTo>
                <a:cubicBezTo>
                  <a:pt x="200" y="435"/>
                  <a:pt x="196" y="431"/>
                  <a:pt x="187" y="426"/>
                </a:cubicBezTo>
                <a:cubicBezTo>
                  <a:pt x="178" y="422"/>
                  <a:pt x="169" y="413"/>
                  <a:pt x="160" y="404"/>
                </a:cubicBezTo>
                <a:cubicBezTo>
                  <a:pt x="156" y="395"/>
                  <a:pt x="147" y="386"/>
                  <a:pt x="147" y="373"/>
                </a:cubicBezTo>
                <a:cubicBezTo>
                  <a:pt x="147" y="364"/>
                  <a:pt x="156" y="351"/>
                  <a:pt x="160" y="337"/>
                </a:cubicBezTo>
                <a:cubicBezTo>
                  <a:pt x="165" y="328"/>
                  <a:pt x="169" y="315"/>
                  <a:pt x="174" y="302"/>
                </a:cubicBezTo>
                <a:cubicBezTo>
                  <a:pt x="178" y="293"/>
                  <a:pt x="183" y="280"/>
                  <a:pt x="187" y="271"/>
                </a:cubicBezTo>
                <a:cubicBezTo>
                  <a:pt x="191" y="266"/>
                  <a:pt x="191" y="257"/>
                  <a:pt x="196" y="253"/>
                </a:cubicBezTo>
                <a:cubicBezTo>
                  <a:pt x="191" y="248"/>
                  <a:pt x="191" y="248"/>
                  <a:pt x="187" y="244"/>
                </a:cubicBezTo>
                <a:cubicBezTo>
                  <a:pt x="178" y="240"/>
                  <a:pt x="169" y="235"/>
                  <a:pt x="160" y="226"/>
                </a:cubicBezTo>
                <a:cubicBezTo>
                  <a:pt x="156" y="217"/>
                  <a:pt x="187" y="204"/>
                  <a:pt x="205" y="204"/>
                </a:cubicBezTo>
                <a:cubicBezTo>
                  <a:pt x="227" y="204"/>
                  <a:pt x="258" y="217"/>
                  <a:pt x="254" y="226"/>
                </a:cubicBezTo>
                <a:cubicBezTo>
                  <a:pt x="245" y="235"/>
                  <a:pt x="236" y="240"/>
                  <a:pt x="227" y="244"/>
                </a:cubicBezTo>
                <a:cubicBezTo>
                  <a:pt x="223" y="248"/>
                  <a:pt x="218" y="248"/>
                  <a:pt x="218" y="253"/>
                </a:cubicBezTo>
                <a:cubicBezTo>
                  <a:pt x="218" y="257"/>
                  <a:pt x="223" y="266"/>
                  <a:pt x="227" y="271"/>
                </a:cubicBezTo>
                <a:cubicBezTo>
                  <a:pt x="232" y="280"/>
                  <a:pt x="236" y="293"/>
                  <a:pt x="241" y="302"/>
                </a:cubicBezTo>
                <a:cubicBezTo>
                  <a:pt x="245" y="315"/>
                  <a:pt x="249" y="328"/>
                  <a:pt x="254" y="337"/>
                </a:cubicBezTo>
                <a:cubicBezTo>
                  <a:pt x="254" y="351"/>
                  <a:pt x="267" y="364"/>
                  <a:pt x="267" y="373"/>
                </a:cubicBezTo>
                <a:cubicBezTo>
                  <a:pt x="267" y="386"/>
                  <a:pt x="258" y="395"/>
                  <a:pt x="254" y="404"/>
                </a:cubicBez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4" name="textbox 234"/>
          <p:cNvSpPr/>
          <p:nvPr/>
        </p:nvSpPr>
        <p:spPr>
          <a:xfrm>
            <a:off x="7144584" y="894004"/>
            <a:ext cx="4201159" cy="710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1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大量业务数据需求涌现，开发效率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受到极大挑战，难以及时响应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  <a:spcBef>
                <a:spcPts val="0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业务部门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业务部门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业务部门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业务部门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业务部门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36" name="picture 23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5432425" y="2672715"/>
            <a:ext cx="1564640" cy="2692399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8485720" y="1618665"/>
            <a:ext cx="500418" cy="425703"/>
          </a:xfrm>
          <a:prstGeom prst="rect">
            <a:avLst/>
          </a:prstGeom>
        </p:spPr>
      </p:pic>
      <p:sp>
        <p:nvSpPr>
          <p:cNvPr id="240" name="path 240"/>
          <p:cNvSpPr/>
          <p:nvPr/>
        </p:nvSpPr>
        <p:spPr>
          <a:xfrm>
            <a:off x="9432252" y="1157389"/>
            <a:ext cx="263600" cy="302044"/>
          </a:xfrm>
          <a:custGeom>
            <a:avLst/>
            <a:gdLst/>
            <a:ahLst/>
            <a:cxnLst/>
            <a:rect l="0" t="0" r="0" b="0"/>
            <a:pathLst>
              <a:path w="415" h="475">
                <a:moveTo>
                  <a:pt x="330" y="226"/>
                </a:moveTo>
                <a:cubicBezTo>
                  <a:pt x="312" y="213"/>
                  <a:pt x="299" y="204"/>
                  <a:pt x="299" y="204"/>
                </a:cubicBezTo>
                <a:cubicBezTo>
                  <a:pt x="281" y="200"/>
                  <a:pt x="276" y="182"/>
                  <a:pt x="290" y="168"/>
                </a:cubicBezTo>
                <a:cubicBezTo>
                  <a:pt x="290" y="168"/>
                  <a:pt x="299" y="164"/>
                  <a:pt x="303" y="146"/>
                </a:cubicBezTo>
                <a:cubicBezTo>
                  <a:pt x="312" y="133"/>
                  <a:pt x="312" y="120"/>
                  <a:pt x="312" y="106"/>
                </a:cubicBezTo>
                <a:cubicBezTo>
                  <a:pt x="312" y="48"/>
                  <a:pt x="267" y="0"/>
                  <a:pt x="205" y="0"/>
                </a:cubicBezTo>
                <a:cubicBezTo>
                  <a:pt x="147" y="0"/>
                  <a:pt x="102" y="48"/>
                  <a:pt x="102" y="106"/>
                </a:cubicBezTo>
                <a:cubicBezTo>
                  <a:pt x="102" y="120"/>
                  <a:pt x="102" y="137"/>
                  <a:pt x="111" y="151"/>
                </a:cubicBezTo>
                <a:cubicBezTo>
                  <a:pt x="120" y="168"/>
                  <a:pt x="120" y="173"/>
                  <a:pt x="120" y="173"/>
                </a:cubicBezTo>
                <a:cubicBezTo>
                  <a:pt x="138" y="182"/>
                  <a:pt x="133" y="200"/>
                  <a:pt x="116" y="204"/>
                </a:cubicBezTo>
                <a:cubicBezTo>
                  <a:pt x="116" y="204"/>
                  <a:pt x="102" y="213"/>
                  <a:pt x="80" y="226"/>
                </a:cubicBezTo>
                <a:cubicBezTo>
                  <a:pt x="31" y="266"/>
                  <a:pt x="0" y="324"/>
                  <a:pt x="0" y="391"/>
                </a:cubicBezTo>
                <a:cubicBezTo>
                  <a:pt x="0" y="471"/>
                  <a:pt x="415" y="475"/>
                  <a:pt x="415" y="391"/>
                </a:cubicBezTo>
                <a:cubicBezTo>
                  <a:pt x="415" y="324"/>
                  <a:pt x="383" y="262"/>
                  <a:pt x="330" y="226"/>
                </a:cubicBezTo>
                <a:moveTo>
                  <a:pt x="254" y="404"/>
                </a:moveTo>
                <a:cubicBezTo>
                  <a:pt x="245" y="413"/>
                  <a:pt x="236" y="422"/>
                  <a:pt x="227" y="426"/>
                </a:cubicBezTo>
                <a:cubicBezTo>
                  <a:pt x="218" y="431"/>
                  <a:pt x="214" y="435"/>
                  <a:pt x="214" y="435"/>
                </a:cubicBezTo>
                <a:cubicBezTo>
                  <a:pt x="200" y="435"/>
                  <a:pt x="200" y="435"/>
                  <a:pt x="200" y="435"/>
                </a:cubicBezTo>
                <a:cubicBezTo>
                  <a:pt x="200" y="435"/>
                  <a:pt x="196" y="431"/>
                  <a:pt x="187" y="426"/>
                </a:cubicBezTo>
                <a:cubicBezTo>
                  <a:pt x="178" y="422"/>
                  <a:pt x="169" y="413"/>
                  <a:pt x="160" y="404"/>
                </a:cubicBezTo>
                <a:cubicBezTo>
                  <a:pt x="156" y="395"/>
                  <a:pt x="147" y="386"/>
                  <a:pt x="147" y="373"/>
                </a:cubicBezTo>
                <a:cubicBezTo>
                  <a:pt x="147" y="364"/>
                  <a:pt x="156" y="351"/>
                  <a:pt x="160" y="337"/>
                </a:cubicBezTo>
                <a:cubicBezTo>
                  <a:pt x="165" y="328"/>
                  <a:pt x="169" y="315"/>
                  <a:pt x="174" y="302"/>
                </a:cubicBezTo>
                <a:cubicBezTo>
                  <a:pt x="178" y="293"/>
                  <a:pt x="183" y="280"/>
                  <a:pt x="187" y="271"/>
                </a:cubicBezTo>
                <a:cubicBezTo>
                  <a:pt x="191" y="266"/>
                  <a:pt x="191" y="257"/>
                  <a:pt x="196" y="253"/>
                </a:cubicBezTo>
                <a:cubicBezTo>
                  <a:pt x="191" y="248"/>
                  <a:pt x="191" y="248"/>
                  <a:pt x="187" y="244"/>
                </a:cubicBezTo>
                <a:cubicBezTo>
                  <a:pt x="178" y="240"/>
                  <a:pt x="169" y="235"/>
                  <a:pt x="160" y="226"/>
                </a:cubicBezTo>
                <a:cubicBezTo>
                  <a:pt x="156" y="217"/>
                  <a:pt x="187" y="204"/>
                  <a:pt x="205" y="204"/>
                </a:cubicBezTo>
                <a:cubicBezTo>
                  <a:pt x="227" y="204"/>
                  <a:pt x="258" y="217"/>
                  <a:pt x="254" y="226"/>
                </a:cubicBezTo>
                <a:cubicBezTo>
                  <a:pt x="245" y="235"/>
                  <a:pt x="236" y="240"/>
                  <a:pt x="227" y="244"/>
                </a:cubicBezTo>
                <a:cubicBezTo>
                  <a:pt x="223" y="248"/>
                  <a:pt x="218" y="248"/>
                  <a:pt x="218" y="253"/>
                </a:cubicBezTo>
                <a:cubicBezTo>
                  <a:pt x="218" y="257"/>
                  <a:pt x="223" y="266"/>
                  <a:pt x="227" y="271"/>
                </a:cubicBezTo>
                <a:cubicBezTo>
                  <a:pt x="232" y="280"/>
                  <a:pt x="236" y="293"/>
                  <a:pt x="241" y="302"/>
                </a:cubicBezTo>
                <a:cubicBezTo>
                  <a:pt x="245" y="315"/>
                  <a:pt x="249" y="328"/>
                  <a:pt x="254" y="337"/>
                </a:cubicBezTo>
                <a:cubicBezTo>
                  <a:pt x="254" y="351"/>
                  <a:pt x="267" y="364"/>
                  <a:pt x="267" y="373"/>
                </a:cubicBezTo>
                <a:cubicBezTo>
                  <a:pt x="267" y="386"/>
                  <a:pt x="258" y="395"/>
                  <a:pt x="254" y="404"/>
                </a:cubicBez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" name="textbox 242"/>
          <p:cNvSpPr/>
          <p:nvPr/>
        </p:nvSpPr>
        <p:spPr>
          <a:xfrm>
            <a:off x="5503296" y="2869121"/>
            <a:ext cx="1101089" cy="1633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需求响应慢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73710" algn="l" rtl="0" eaLnBrk="0">
              <a:lnSpc>
                <a:spcPct val="96000"/>
              </a:lnSpc>
              <a:spcBef>
                <a:spcPts val="40"/>
              </a:spcBef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查询性能差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73710" algn="l" rtl="0" eaLnBrk="0">
              <a:lnSpc>
                <a:spcPct val="95000"/>
              </a:lnSpc>
              <a:spcBef>
                <a:spcPts val="40"/>
              </a:spcBef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开发效率低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73710" algn="l" rtl="0" eaLnBrk="0">
              <a:lnSpc>
                <a:spcPct val="96000"/>
              </a:lnSpc>
              <a:spcBef>
                <a:spcPts val="40"/>
              </a:spcBef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问题排查慢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73710" algn="l" rtl="0" eaLnBrk="0">
              <a:lnSpc>
                <a:spcPct val="95000"/>
              </a:lnSpc>
              <a:spcBef>
                <a:spcPts val="45"/>
              </a:spcBef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业务应用建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1260"/>
              </a:lnSpc>
              <a:spcBef>
                <a:spcPts val="545"/>
              </a:spcBef>
            </a:pPr>
            <a:r>
              <a:rPr sz="1600" b="1" kern="0" spc="-30" baseline="8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1200" kern="0" spc="-30" baseline="-7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200" kern="0" spc="-30" baseline="-7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……</a:t>
            </a:r>
            <a:endParaRPr sz="1200" baseline="-7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0"/>
              </a:spcBef>
            </a:pP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7145" algn="l" rtl="0" eaLnBrk="0">
              <a:lnSpc>
                <a:spcPts val="1260"/>
              </a:lnSpc>
            </a:pP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突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4130" algn="l" rtl="0" eaLnBrk="0">
              <a:lnSpc>
                <a:spcPts val="1260"/>
              </a:lnSpc>
            </a:pP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出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05" algn="l" rtl="0" eaLnBrk="0">
              <a:lnSpc>
                <a:spcPts val="1260"/>
              </a:lnSpc>
            </a:pPr>
            <a:r>
              <a:rPr sz="10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1260"/>
              </a:lnSpc>
            </a:pP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题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0066363" y="1618665"/>
            <a:ext cx="500418" cy="425703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302422" y="1618665"/>
            <a:ext cx="500415" cy="425703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5920740" y="2084603"/>
            <a:ext cx="597789" cy="570077"/>
            <a:chOff x="0" y="0"/>
            <a:chExt cx="597789" cy="570077"/>
          </a:xfrm>
        </p:grpSpPr>
        <p:sp>
          <p:nvSpPr>
            <p:cNvPr id="248" name="path 248"/>
            <p:cNvSpPr/>
            <p:nvPr/>
          </p:nvSpPr>
          <p:spPr>
            <a:xfrm>
              <a:off x="0" y="0"/>
              <a:ext cx="597789" cy="570077"/>
            </a:xfrm>
            <a:custGeom>
              <a:avLst/>
              <a:gdLst/>
              <a:ahLst/>
              <a:cxnLst/>
              <a:rect l="0" t="0" r="0" b="0"/>
              <a:pathLst>
                <a:path w="941" h="897">
                  <a:moveTo>
                    <a:pt x="0" y="449"/>
                  </a:moveTo>
                  <a:cubicBezTo>
                    <a:pt x="0" y="200"/>
                    <a:pt x="210" y="0"/>
                    <a:pt x="470" y="0"/>
                  </a:cubicBezTo>
                  <a:cubicBezTo>
                    <a:pt x="730" y="0"/>
                    <a:pt x="941" y="200"/>
                    <a:pt x="941" y="448"/>
                  </a:cubicBezTo>
                  <a:cubicBezTo>
                    <a:pt x="941" y="696"/>
                    <a:pt x="730" y="897"/>
                    <a:pt x="470" y="897"/>
                  </a:cubicBezTo>
                  <a:cubicBezTo>
                    <a:pt x="210" y="897"/>
                    <a:pt x="0" y="696"/>
                    <a:pt x="0" y="449"/>
                  </a:cubicBezTo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0" name="textbox 250"/>
            <p:cNvSpPr/>
            <p:nvPr/>
          </p:nvSpPr>
          <p:spPr>
            <a:xfrm>
              <a:off x="-12700" y="-12700"/>
              <a:ext cx="623569" cy="6267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6375" algn="l" rtl="0" eaLnBrk="0">
                <a:lnSpc>
                  <a:spcPct val="100000"/>
                </a:lnSpc>
                <a:spcBef>
                  <a:spcPts val="0"/>
                </a:spcBef>
              </a:pPr>
              <a:r>
                <a:rPr sz="1700" kern="0" spc="10" dirty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慢</a:t>
              </a:r>
              <a:endParaRPr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252" name="path 252"/>
          <p:cNvSpPr/>
          <p:nvPr/>
        </p:nvSpPr>
        <p:spPr>
          <a:xfrm>
            <a:off x="10197160" y="1157389"/>
            <a:ext cx="263600" cy="302044"/>
          </a:xfrm>
          <a:custGeom>
            <a:avLst/>
            <a:gdLst/>
            <a:ahLst/>
            <a:cxnLst/>
            <a:rect l="0" t="0" r="0" b="0"/>
            <a:pathLst>
              <a:path w="415" h="475">
                <a:moveTo>
                  <a:pt x="330" y="226"/>
                </a:moveTo>
                <a:cubicBezTo>
                  <a:pt x="312" y="213"/>
                  <a:pt x="299" y="204"/>
                  <a:pt x="299" y="204"/>
                </a:cubicBezTo>
                <a:cubicBezTo>
                  <a:pt x="281" y="200"/>
                  <a:pt x="276" y="182"/>
                  <a:pt x="290" y="168"/>
                </a:cubicBezTo>
                <a:cubicBezTo>
                  <a:pt x="290" y="168"/>
                  <a:pt x="299" y="164"/>
                  <a:pt x="303" y="146"/>
                </a:cubicBezTo>
                <a:cubicBezTo>
                  <a:pt x="312" y="133"/>
                  <a:pt x="312" y="120"/>
                  <a:pt x="312" y="106"/>
                </a:cubicBezTo>
                <a:cubicBezTo>
                  <a:pt x="312" y="48"/>
                  <a:pt x="267" y="0"/>
                  <a:pt x="205" y="0"/>
                </a:cubicBezTo>
                <a:cubicBezTo>
                  <a:pt x="147" y="0"/>
                  <a:pt x="102" y="48"/>
                  <a:pt x="102" y="106"/>
                </a:cubicBezTo>
                <a:cubicBezTo>
                  <a:pt x="102" y="120"/>
                  <a:pt x="102" y="137"/>
                  <a:pt x="111" y="151"/>
                </a:cubicBezTo>
                <a:cubicBezTo>
                  <a:pt x="120" y="168"/>
                  <a:pt x="120" y="173"/>
                  <a:pt x="120" y="173"/>
                </a:cubicBezTo>
                <a:cubicBezTo>
                  <a:pt x="138" y="182"/>
                  <a:pt x="133" y="200"/>
                  <a:pt x="116" y="204"/>
                </a:cubicBezTo>
                <a:cubicBezTo>
                  <a:pt x="116" y="204"/>
                  <a:pt x="102" y="213"/>
                  <a:pt x="80" y="226"/>
                </a:cubicBezTo>
                <a:cubicBezTo>
                  <a:pt x="31" y="266"/>
                  <a:pt x="0" y="324"/>
                  <a:pt x="0" y="391"/>
                </a:cubicBezTo>
                <a:cubicBezTo>
                  <a:pt x="0" y="471"/>
                  <a:pt x="415" y="475"/>
                  <a:pt x="415" y="391"/>
                </a:cubicBezTo>
                <a:cubicBezTo>
                  <a:pt x="415" y="324"/>
                  <a:pt x="383" y="262"/>
                  <a:pt x="330" y="226"/>
                </a:cubicBezTo>
                <a:moveTo>
                  <a:pt x="254" y="404"/>
                </a:moveTo>
                <a:cubicBezTo>
                  <a:pt x="245" y="413"/>
                  <a:pt x="236" y="422"/>
                  <a:pt x="227" y="426"/>
                </a:cubicBezTo>
                <a:cubicBezTo>
                  <a:pt x="218" y="431"/>
                  <a:pt x="214" y="435"/>
                  <a:pt x="214" y="435"/>
                </a:cubicBezTo>
                <a:cubicBezTo>
                  <a:pt x="200" y="435"/>
                  <a:pt x="200" y="435"/>
                  <a:pt x="200" y="435"/>
                </a:cubicBezTo>
                <a:cubicBezTo>
                  <a:pt x="200" y="435"/>
                  <a:pt x="196" y="431"/>
                  <a:pt x="187" y="426"/>
                </a:cubicBezTo>
                <a:cubicBezTo>
                  <a:pt x="178" y="422"/>
                  <a:pt x="169" y="413"/>
                  <a:pt x="160" y="404"/>
                </a:cubicBezTo>
                <a:cubicBezTo>
                  <a:pt x="156" y="395"/>
                  <a:pt x="147" y="386"/>
                  <a:pt x="147" y="373"/>
                </a:cubicBezTo>
                <a:cubicBezTo>
                  <a:pt x="147" y="364"/>
                  <a:pt x="156" y="351"/>
                  <a:pt x="160" y="337"/>
                </a:cubicBezTo>
                <a:cubicBezTo>
                  <a:pt x="165" y="328"/>
                  <a:pt x="169" y="315"/>
                  <a:pt x="174" y="302"/>
                </a:cubicBezTo>
                <a:cubicBezTo>
                  <a:pt x="178" y="293"/>
                  <a:pt x="183" y="280"/>
                  <a:pt x="187" y="271"/>
                </a:cubicBezTo>
                <a:cubicBezTo>
                  <a:pt x="191" y="266"/>
                  <a:pt x="191" y="257"/>
                  <a:pt x="196" y="253"/>
                </a:cubicBezTo>
                <a:cubicBezTo>
                  <a:pt x="191" y="248"/>
                  <a:pt x="191" y="248"/>
                  <a:pt x="187" y="244"/>
                </a:cubicBezTo>
                <a:cubicBezTo>
                  <a:pt x="178" y="240"/>
                  <a:pt x="169" y="235"/>
                  <a:pt x="160" y="226"/>
                </a:cubicBezTo>
                <a:cubicBezTo>
                  <a:pt x="156" y="217"/>
                  <a:pt x="187" y="204"/>
                  <a:pt x="205" y="204"/>
                </a:cubicBezTo>
                <a:cubicBezTo>
                  <a:pt x="227" y="204"/>
                  <a:pt x="258" y="217"/>
                  <a:pt x="254" y="226"/>
                </a:cubicBezTo>
                <a:cubicBezTo>
                  <a:pt x="245" y="235"/>
                  <a:pt x="236" y="240"/>
                  <a:pt x="227" y="244"/>
                </a:cubicBezTo>
                <a:cubicBezTo>
                  <a:pt x="223" y="248"/>
                  <a:pt x="218" y="248"/>
                  <a:pt x="218" y="253"/>
                </a:cubicBezTo>
                <a:cubicBezTo>
                  <a:pt x="218" y="257"/>
                  <a:pt x="223" y="266"/>
                  <a:pt x="227" y="271"/>
                </a:cubicBezTo>
                <a:cubicBezTo>
                  <a:pt x="232" y="280"/>
                  <a:pt x="236" y="293"/>
                  <a:pt x="241" y="302"/>
                </a:cubicBezTo>
                <a:cubicBezTo>
                  <a:pt x="245" y="315"/>
                  <a:pt x="249" y="328"/>
                  <a:pt x="254" y="337"/>
                </a:cubicBezTo>
                <a:cubicBezTo>
                  <a:pt x="254" y="351"/>
                  <a:pt x="267" y="364"/>
                  <a:pt x="267" y="373"/>
                </a:cubicBezTo>
                <a:cubicBezTo>
                  <a:pt x="267" y="386"/>
                  <a:pt x="258" y="395"/>
                  <a:pt x="254" y="404"/>
                </a:cubicBez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4" name="path 254"/>
          <p:cNvSpPr/>
          <p:nvPr/>
        </p:nvSpPr>
        <p:spPr>
          <a:xfrm>
            <a:off x="9478860" y="2975889"/>
            <a:ext cx="134696" cy="95084"/>
          </a:xfrm>
          <a:custGeom>
            <a:avLst/>
            <a:gdLst/>
            <a:ahLst/>
            <a:cxnLst/>
            <a:rect l="0" t="0" r="0" b="0"/>
            <a:pathLst>
              <a:path w="212" h="149">
                <a:moveTo>
                  <a:pt x="202" y="149"/>
                </a:moveTo>
                <a:cubicBezTo>
                  <a:pt x="200" y="149"/>
                  <a:pt x="196" y="147"/>
                  <a:pt x="196" y="143"/>
                </a:cubicBezTo>
                <a:cubicBezTo>
                  <a:pt x="173" y="16"/>
                  <a:pt x="173" y="16"/>
                  <a:pt x="173" y="16"/>
                </a:cubicBezTo>
                <a:cubicBezTo>
                  <a:pt x="33" y="16"/>
                  <a:pt x="33" y="16"/>
                  <a:pt x="33" y="16"/>
                </a:cubicBezTo>
                <a:cubicBezTo>
                  <a:pt x="15" y="143"/>
                  <a:pt x="15" y="143"/>
                  <a:pt x="15" y="143"/>
                </a:cubicBezTo>
                <a:cubicBezTo>
                  <a:pt x="15" y="147"/>
                  <a:pt x="11" y="149"/>
                  <a:pt x="7" y="149"/>
                </a:cubicBezTo>
                <a:cubicBezTo>
                  <a:pt x="1" y="149"/>
                  <a:pt x="0" y="145"/>
                  <a:pt x="0" y="141"/>
                </a:cubicBezTo>
                <a:cubicBezTo>
                  <a:pt x="17" y="6"/>
                  <a:pt x="17" y="6"/>
                  <a:pt x="17" y="6"/>
                </a:cubicBezTo>
                <a:cubicBezTo>
                  <a:pt x="19" y="2"/>
                  <a:pt x="21" y="0"/>
                  <a:pt x="25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182" y="0"/>
                  <a:pt x="186" y="2"/>
                  <a:pt x="186" y="6"/>
                </a:cubicBezTo>
                <a:cubicBezTo>
                  <a:pt x="210" y="139"/>
                  <a:pt x="210" y="139"/>
                  <a:pt x="210" y="139"/>
                </a:cubicBezTo>
                <a:cubicBezTo>
                  <a:pt x="212" y="145"/>
                  <a:pt x="208" y="149"/>
                  <a:pt x="204" y="149"/>
                </a:cubicBezTo>
                <a:cubicBezTo>
                  <a:pt x="204" y="149"/>
                  <a:pt x="204" y="149"/>
                  <a:pt x="202" y="149"/>
                </a:cubicBezTo>
              </a:path>
            </a:pathLst>
          </a:custGeom>
          <a:solidFill>
            <a:srgbClr val="C5E0B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6" name="path 256"/>
          <p:cNvSpPr/>
          <p:nvPr/>
        </p:nvSpPr>
        <p:spPr>
          <a:xfrm>
            <a:off x="9643021" y="2892793"/>
            <a:ext cx="75056" cy="119037"/>
          </a:xfrm>
          <a:custGeom>
            <a:avLst/>
            <a:gdLst/>
            <a:ahLst/>
            <a:cxnLst/>
            <a:rect l="0" t="0" r="0" b="0"/>
            <a:pathLst>
              <a:path w="118" h="187">
                <a:moveTo>
                  <a:pt x="110" y="187"/>
                </a:moveTo>
                <a:cubicBezTo>
                  <a:pt x="7" y="187"/>
                  <a:pt x="7" y="187"/>
                  <a:pt x="7" y="187"/>
                </a:cubicBezTo>
                <a:cubicBezTo>
                  <a:pt x="3" y="187"/>
                  <a:pt x="0" y="185"/>
                  <a:pt x="0" y="179"/>
                </a:cubicBezTo>
                <a:cubicBezTo>
                  <a:pt x="0" y="174"/>
                  <a:pt x="3" y="170"/>
                  <a:pt x="7" y="170"/>
                </a:cubicBezTo>
                <a:cubicBezTo>
                  <a:pt x="102" y="170"/>
                  <a:pt x="102" y="170"/>
                  <a:pt x="102" y="170"/>
                </a:cubicBezTo>
                <a:cubicBezTo>
                  <a:pt x="102" y="8"/>
                  <a:pt x="102" y="8"/>
                  <a:pt x="102" y="8"/>
                </a:cubicBezTo>
                <a:cubicBezTo>
                  <a:pt x="102" y="4"/>
                  <a:pt x="106" y="0"/>
                  <a:pt x="110" y="0"/>
                </a:cubicBezTo>
                <a:cubicBezTo>
                  <a:pt x="114" y="0"/>
                  <a:pt x="118" y="4"/>
                  <a:pt x="118" y="8"/>
                </a:cubicBezTo>
                <a:cubicBezTo>
                  <a:pt x="118" y="179"/>
                  <a:pt x="118" y="179"/>
                  <a:pt x="118" y="179"/>
                </a:cubicBezTo>
                <a:cubicBezTo>
                  <a:pt x="118" y="185"/>
                  <a:pt x="114" y="187"/>
                  <a:pt x="110" y="187"/>
                </a:cubicBezTo>
              </a:path>
            </a:pathLst>
          </a:custGeom>
          <a:solidFill>
            <a:srgbClr val="C5E0B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168549" y="3021850"/>
            <a:ext cx="60400" cy="65862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113240" y="2959773"/>
            <a:ext cx="97383" cy="127253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9079420" y="2892387"/>
            <a:ext cx="53275" cy="79717"/>
          </a:xfrm>
          <a:prstGeom prst="rect">
            <a:avLst/>
          </a:prstGeom>
        </p:spPr>
      </p:pic>
      <p:sp>
        <p:nvSpPr>
          <p:cNvPr id="264" name="path 264"/>
          <p:cNvSpPr/>
          <p:nvPr/>
        </p:nvSpPr>
        <p:spPr>
          <a:xfrm>
            <a:off x="9675292" y="3006585"/>
            <a:ext cx="9816" cy="59143"/>
          </a:xfrm>
          <a:custGeom>
            <a:avLst/>
            <a:gdLst/>
            <a:ahLst/>
            <a:cxnLst/>
            <a:rect l="0" t="0" r="0" b="0"/>
            <a:pathLst>
              <a:path w="15" h="93">
                <a:moveTo>
                  <a:pt x="7" y="93"/>
                </a:moveTo>
                <a:cubicBezTo>
                  <a:pt x="3" y="93"/>
                  <a:pt x="0" y="89"/>
                  <a:pt x="0" y="84"/>
                </a:cubicBezTo>
                <a:cubicBezTo>
                  <a:pt x="0" y="8"/>
                  <a:pt x="0" y="8"/>
                  <a:pt x="0" y="8"/>
                </a:cubicBezTo>
                <a:cubicBezTo>
                  <a:pt x="0" y="2"/>
                  <a:pt x="3" y="0"/>
                  <a:pt x="7" y="0"/>
                </a:cubicBezTo>
                <a:cubicBezTo>
                  <a:pt x="13" y="0"/>
                  <a:pt x="15" y="2"/>
                  <a:pt x="15" y="8"/>
                </a:cubicBezTo>
                <a:cubicBezTo>
                  <a:pt x="15" y="84"/>
                  <a:pt x="15" y="84"/>
                  <a:pt x="15" y="84"/>
                </a:cubicBezTo>
                <a:cubicBezTo>
                  <a:pt x="15" y="89"/>
                  <a:pt x="13" y="93"/>
                  <a:pt x="7" y="93"/>
                </a:cubicBezTo>
              </a:path>
            </a:pathLst>
          </a:custGeom>
          <a:solidFill>
            <a:srgbClr val="C5E0B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" name="path 266"/>
          <p:cNvSpPr/>
          <p:nvPr/>
        </p:nvSpPr>
        <p:spPr>
          <a:xfrm>
            <a:off x="9593580" y="2838881"/>
            <a:ext cx="49441" cy="52413"/>
          </a:xfrm>
          <a:custGeom>
            <a:avLst/>
            <a:gdLst/>
            <a:ahLst/>
            <a:cxnLst/>
            <a:rect l="0" t="0" r="0" b="0"/>
            <a:pathLst>
              <a:path w="77" h="82">
                <a:moveTo>
                  <a:pt x="0" y="41"/>
                </a:moveTo>
                <a:cubicBezTo>
                  <a:pt x="0" y="18"/>
                  <a:pt x="17" y="0"/>
                  <a:pt x="39" y="0"/>
                </a:cubicBezTo>
                <a:cubicBezTo>
                  <a:pt x="60" y="0"/>
                  <a:pt x="77" y="18"/>
                  <a:pt x="77" y="41"/>
                </a:cubicBezTo>
                <a:cubicBezTo>
                  <a:pt x="77" y="64"/>
                  <a:pt x="60" y="82"/>
                  <a:pt x="39" y="82"/>
                </a:cubicBezTo>
                <a:cubicBezTo>
                  <a:pt x="17" y="82"/>
                  <a:pt x="0" y="64"/>
                  <a:pt x="0" y="41"/>
                </a:cubicBezTo>
              </a:path>
            </a:pathLst>
          </a:custGeom>
          <a:solidFill>
            <a:srgbClr val="BF9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8" name="path 268"/>
          <p:cNvSpPr/>
          <p:nvPr/>
        </p:nvSpPr>
        <p:spPr>
          <a:xfrm>
            <a:off x="9651441" y="3055251"/>
            <a:ext cx="56822" cy="10477"/>
          </a:xfrm>
          <a:custGeom>
            <a:avLst/>
            <a:gdLst/>
            <a:ahLst/>
            <a:cxnLst/>
            <a:rect l="0" t="0" r="0" b="0"/>
            <a:pathLst>
              <a:path w="89" h="16">
                <a:moveTo>
                  <a:pt x="81" y="16"/>
                </a:moveTo>
                <a:cubicBezTo>
                  <a:pt x="7" y="16"/>
                  <a:pt x="7" y="16"/>
                  <a:pt x="7" y="16"/>
                </a:cubicBezTo>
                <a:cubicBezTo>
                  <a:pt x="1" y="16"/>
                  <a:pt x="0" y="12"/>
                  <a:pt x="0" y="8"/>
                </a:cubicBezTo>
                <a:cubicBezTo>
                  <a:pt x="0" y="4"/>
                  <a:pt x="1" y="0"/>
                  <a:pt x="7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85" y="0"/>
                  <a:pt x="89" y="4"/>
                  <a:pt x="89" y="8"/>
                </a:cubicBezTo>
                <a:cubicBezTo>
                  <a:pt x="89" y="12"/>
                  <a:pt x="85" y="16"/>
                  <a:pt x="81" y="16"/>
                </a:cubicBezTo>
              </a:path>
            </a:pathLst>
          </a:custGeom>
          <a:solidFill>
            <a:srgbClr val="C5E0B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9506915" y="2883801"/>
            <a:ext cx="199238" cy="181927"/>
            <a:chOff x="0" y="0"/>
            <a:chExt cx="199238" cy="181927"/>
          </a:xfrm>
        </p:grpSpPr>
        <p:sp>
          <p:nvSpPr>
            <p:cNvPr id="270" name="path 270"/>
            <p:cNvSpPr/>
            <p:nvPr/>
          </p:nvSpPr>
          <p:spPr>
            <a:xfrm>
              <a:off x="47003" y="0"/>
              <a:ext cx="152234" cy="181927"/>
            </a:xfrm>
            <a:custGeom>
              <a:avLst/>
              <a:gdLst/>
              <a:ahLst/>
              <a:cxnLst/>
              <a:rect l="0" t="0" r="0" b="0"/>
              <a:pathLst>
                <a:path w="239" h="286">
                  <a:moveTo>
                    <a:pt x="231" y="114"/>
                  </a:moveTo>
                  <a:cubicBezTo>
                    <a:pt x="187" y="22"/>
                    <a:pt x="187" y="22"/>
                    <a:pt x="187" y="22"/>
                  </a:cubicBezTo>
                  <a:cubicBezTo>
                    <a:pt x="179" y="8"/>
                    <a:pt x="163" y="0"/>
                    <a:pt x="148" y="2"/>
                  </a:cubicBezTo>
                  <a:cubicBezTo>
                    <a:pt x="140" y="0"/>
                    <a:pt x="132" y="4"/>
                    <a:pt x="126" y="10"/>
                  </a:cubicBezTo>
                  <a:cubicBezTo>
                    <a:pt x="81" y="64"/>
                    <a:pt x="81" y="64"/>
                    <a:pt x="81" y="6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9" y="76"/>
                    <a:pt x="0" y="89"/>
                    <a:pt x="1" y="101"/>
                  </a:cubicBezTo>
                  <a:cubicBezTo>
                    <a:pt x="3" y="114"/>
                    <a:pt x="13" y="122"/>
                    <a:pt x="25" y="122"/>
                  </a:cubicBezTo>
                  <a:cubicBezTo>
                    <a:pt x="25" y="122"/>
                    <a:pt x="27" y="122"/>
                    <a:pt x="29" y="122"/>
                  </a:cubicBezTo>
                  <a:cubicBezTo>
                    <a:pt x="95" y="110"/>
                    <a:pt x="95" y="110"/>
                    <a:pt x="95" y="110"/>
                  </a:cubicBezTo>
                  <a:cubicBezTo>
                    <a:pt x="101" y="110"/>
                    <a:pt x="105" y="107"/>
                    <a:pt x="109" y="103"/>
                  </a:cubicBezTo>
                  <a:cubicBezTo>
                    <a:pt x="130" y="78"/>
                    <a:pt x="130" y="78"/>
                    <a:pt x="130" y="78"/>
                  </a:cubicBezTo>
                  <a:cubicBezTo>
                    <a:pt x="152" y="122"/>
                    <a:pt x="152" y="122"/>
                    <a:pt x="152" y="122"/>
                  </a:cubicBezTo>
                  <a:cubicBezTo>
                    <a:pt x="105" y="122"/>
                    <a:pt x="105" y="122"/>
                    <a:pt x="105" y="122"/>
                  </a:cubicBezTo>
                  <a:cubicBezTo>
                    <a:pt x="97" y="122"/>
                    <a:pt x="91" y="126"/>
                    <a:pt x="87" y="132"/>
                  </a:cubicBezTo>
                  <a:cubicBezTo>
                    <a:pt x="83" y="139"/>
                    <a:pt x="81" y="145"/>
                    <a:pt x="81" y="153"/>
                  </a:cubicBezTo>
                  <a:cubicBezTo>
                    <a:pt x="103" y="265"/>
                    <a:pt x="103" y="265"/>
                    <a:pt x="103" y="265"/>
                  </a:cubicBezTo>
                  <a:cubicBezTo>
                    <a:pt x="105" y="278"/>
                    <a:pt x="115" y="286"/>
                    <a:pt x="124" y="286"/>
                  </a:cubicBezTo>
                  <a:cubicBezTo>
                    <a:pt x="126" y="286"/>
                    <a:pt x="128" y="286"/>
                    <a:pt x="128" y="286"/>
                  </a:cubicBezTo>
                  <a:cubicBezTo>
                    <a:pt x="142" y="282"/>
                    <a:pt x="150" y="269"/>
                    <a:pt x="146" y="257"/>
                  </a:cubicBezTo>
                  <a:cubicBezTo>
                    <a:pt x="132" y="172"/>
                    <a:pt x="132" y="172"/>
                    <a:pt x="132" y="172"/>
                  </a:cubicBezTo>
                  <a:cubicBezTo>
                    <a:pt x="191" y="172"/>
                    <a:pt x="191" y="172"/>
                    <a:pt x="191" y="172"/>
                  </a:cubicBezTo>
                  <a:cubicBezTo>
                    <a:pt x="196" y="174"/>
                    <a:pt x="202" y="172"/>
                    <a:pt x="206" y="172"/>
                  </a:cubicBezTo>
                  <a:cubicBezTo>
                    <a:pt x="210" y="172"/>
                    <a:pt x="214" y="170"/>
                    <a:pt x="218" y="166"/>
                  </a:cubicBezTo>
                  <a:cubicBezTo>
                    <a:pt x="233" y="155"/>
                    <a:pt x="239" y="132"/>
                    <a:pt x="231" y="114"/>
                  </a:cubicBezTo>
                </a:path>
              </a:pathLst>
            </a:custGeom>
            <a:solidFill>
              <a:srgbClr val="BF9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2" name="path 272"/>
            <p:cNvSpPr/>
            <p:nvPr/>
          </p:nvSpPr>
          <p:spPr>
            <a:xfrm>
              <a:off x="0" y="17221"/>
              <a:ext cx="85597" cy="72618"/>
            </a:xfrm>
            <a:custGeom>
              <a:avLst/>
              <a:gdLst/>
              <a:ahLst/>
              <a:cxnLst/>
              <a:rect l="0" t="0" r="0" b="0"/>
              <a:pathLst>
                <a:path w="134" h="114">
                  <a:moveTo>
                    <a:pt x="126" y="114"/>
                  </a:moveTo>
                  <a:cubicBezTo>
                    <a:pt x="56" y="114"/>
                    <a:pt x="56" y="114"/>
                    <a:pt x="56" y="114"/>
                  </a:cubicBezTo>
                  <a:cubicBezTo>
                    <a:pt x="54" y="114"/>
                    <a:pt x="50" y="114"/>
                    <a:pt x="50" y="110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0" y="10"/>
                    <a:pt x="1" y="4"/>
                    <a:pt x="5" y="2"/>
                  </a:cubicBezTo>
                  <a:cubicBezTo>
                    <a:pt x="9" y="0"/>
                    <a:pt x="13" y="2"/>
                    <a:pt x="15" y="6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126" y="97"/>
                    <a:pt x="126" y="97"/>
                    <a:pt x="126" y="97"/>
                  </a:cubicBezTo>
                  <a:cubicBezTo>
                    <a:pt x="132" y="97"/>
                    <a:pt x="134" y="101"/>
                    <a:pt x="134" y="106"/>
                  </a:cubicBezTo>
                  <a:cubicBezTo>
                    <a:pt x="134" y="112"/>
                    <a:pt x="132" y="114"/>
                    <a:pt x="126" y="114"/>
                  </a:cubicBezTo>
                </a:path>
              </a:pathLst>
            </a:custGeom>
            <a:solidFill>
              <a:srgbClr val="C5E0B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74" name="picture 27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8881185" y="2952369"/>
            <a:ext cx="113907" cy="58432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8881185" y="2885059"/>
            <a:ext cx="103837" cy="71120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8881161" y="2902000"/>
            <a:ext cx="103899" cy="11275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9919157" y="2755862"/>
            <a:ext cx="1320951" cy="1300340"/>
            <a:chOff x="0" y="0"/>
            <a:chExt cx="1320951" cy="1300340"/>
          </a:xfrm>
        </p:grpSpPr>
        <p:pic>
          <p:nvPicPr>
            <p:cNvPr id="280" name="picture 280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0" y="0"/>
              <a:ext cx="1320951" cy="1300340"/>
            </a:xfrm>
            <a:prstGeom prst="rect">
              <a:avLst/>
            </a:prstGeom>
          </p:spPr>
        </p:pic>
        <p:sp>
          <p:nvSpPr>
            <p:cNvPr id="282" name="textbox 282"/>
            <p:cNvSpPr/>
            <p:nvPr/>
          </p:nvSpPr>
          <p:spPr>
            <a:xfrm>
              <a:off x="-12700" y="-12700"/>
              <a:ext cx="1346835" cy="1346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88925" algn="l" rtl="0" eaLnBrk="0">
                <a:lnSpc>
                  <a:spcPct val="95000"/>
                </a:lnSpc>
              </a:pPr>
              <a:r>
                <a:rPr sz="1100" b="1" kern="0" spc="-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难、复用难；</a:t>
              </a:r>
              <a:endParaRPr sz="1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pic>
          <p:nvPicPr>
            <p:cNvPr id="284" name="picture 284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 rot="21600000">
              <a:off x="286613" y="548818"/>
              <a:ext cx="80213" cy="119722"/>
            </a:xfrm>
            <a:prstGeom prst="rect">
              <a:avLst/>
            </a:prstGeom>
          </p:spPr>
        </p:pic>
        <p:pic>
          <p:nvPicPr>
            <p:cNvPr id="286" name="picture 286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 rot="21600000">
              <a:off x="458774" y="324002"/>
              <a:ext cx="51511" cy="74752"/>
            </a:xfrm>
            <a:prstGeom prst="rect">
              <a:avLst/>
            </a:prstGeom>
          </p:spPr>
        </p:pic>
        <p:pic>
          <p:nvPicPr>
            <p:cNvPr id="288" name="picture 288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 rot="21600000">
              <a:off x="401395" y="413930"/>
              <a:ext cx="51511" cy="74752"/>
            </a:xfrm>
            <a:prstGeom prst="rect">
              <a:avLst/>
            </a:prstGeom>
          </p:spPr>
        </p:pic>
        <p:pic>
          <p:nvPicPr>
            <p:cNvPr id="290" name="picture 290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372694" y="503859"/>
              <a:ext cx="22821" cy="29793"/>
            </a:xfrm>
            <a:prstGeom prst="rect">
              <a:avLst/>
            </a:prstGeom>
          </p:spPr>
        </p:pic>
      </p:grpSp>
      <p:pic>
        <p:nvPicPr>
          <p:cNvPr id="292" name="picture 29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10256482" y="2825000"/>
            <a:ext cx="43688" cy="78638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10435322" y="2855036"/>
            <a:ext cx="137592" cy="209651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8998267" y="3051149"/>
            <a:ext cx="122210" cy="66217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8998267" y="2988323"/>
            <a:ext cx="102742" cy="70433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9134347" y="2846184"/>
            <a:ext cx="312699" cy="160223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7687119" y="2517088"/>
            <a:ext cx="3801844" cy="324307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9002712" y="2844050"/>
            <a:ext cx="110008" cy="138252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8998229" y="3004820"/>
            <a:ext cx="102806" cy="112204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9961727" y="2860573"/>
            <a:ext cx="34264" cy="81800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10139273" y="3064561"/>
            <a:ext cx="43688" cy="78637"/>
          </a:xfrm>
          <a:prstGeom prst="rect">
            <a:avLst/>
          </a:prstGeom>
        </p:spPr>
      </p:pic>
      <p:pic>
        <p:nvPicPr>
          <p:cNvPr id="312" name="picture 312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9892893" y="3062528"/>
            <a:ext cx="34251" cy="81788"/>
          </a:xfrm>
          <a:prstGeom prst="rect">
            <a:avLst/>
          </a:prstGeom>
        </p:spPr>
      </p:pic>
      <p:pic>
        <p:nvPicPr>
          <p:cNvPr id="314" name="picture 314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6990526" y="2358948"/>
            <a:ext cx="4637186" cy="797991"/>
          </a:xfrm>
          <a:prstGeom prst="rect">
            <a:avLst/>
          </a:prstGeom>
        </p:spPr>
      </p:pic>
      <p:sp>
        <p:nvSpPr>
          <p:cNvPr id="316" name="textbox 316"/>
          <p:cNvSpPr/>
          <p:nvPr/>
        </p:nvSpPr>
        <p:spPr>
          <a:xfrm>
            <a:off x="7214451" y="2522968"/>
            <a:ext cx="325120" cy="383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8255" algn="l" rtl="0" eaLnBrk="0">
              <a:lnSpc>
                <a:spcPct val="98000"/>
              </a:lnSpc>
            </a:pPr>
            <a:r>
              <a:rPr sz="12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排队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7130422" y="3649535"/>
            <a:ext cx="2512060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1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定义乱，指标口径不一致；数据烟囱林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0" name="textbox 320"/>
          <p:cNvSpPr/>
          <p:nvPr/>
        </p:nvSpPr>
        <p:spPr>
          <a:xfrm>
            <a:off x="7129282" y="4638072"/>
            <a:ext cx="555625" cy="1607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数据应用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2710" algn="l" rtl="0" eaLnBrk="0">
              <a:lnSpc>
                <a:spcPct val="99000"/>
              </a:lnSpc>
              <a:spcBef>
                <a:spcPts val="305"/>
              </a:spcBef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数据集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9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" algn="l" rtl="0" eaLnBrk="0">
              <a:lnSpc>
                <a:spcPct val="99000"/>
              </a:lnSpc>
              <a:spcBef>
                <a:spcPts val="0"/>
              </a:spcBef>
            </a:pP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10830293" y="1618665"/>
            <a:ext cx="500418" cy="425703"/>
          </a:xfrm>
          <a:prstGeom prst="rect">
            <a:avLst/>
          </a:prstGeom>
        </p:spPr>
      </p:pic>
      <p:sp>
        <p:nvSpPr>
          <p:cNvPr id="324" name="path 324"/>
          <p:cNvSpPr/>
          <p:nvPr/>
        </p:nvSpPr>
        <p:spPr>
          <a:xfrm>
            <a:off x="10962068" y="1157389"/>
            <a:ext cx="263601" cy="302044"/>
          </a:xfrm>
          <a:custGeom>
            <a:avLst/>
            <a:gdLst/>
            <a:ahLst/>
            <a:cxnLst/>
            <a:rect l="0" t="0" r="0" b="0"/>
            <a:pathLst>
              <a:path w="415" h="475">
                <a:moveTo>
                  <a:pt x="330" y="226"/>
                </a:moveTo>
                <a:cubicBezTo>
                  <a:pt x="312" y="213"/>
                  <a:pt x="299" y="204"/>
                  <a:pt x="299" y="204"/>
                </a:cubicBezTo>
                <a:cubicBezTo>
                  <a:pt x="281" y="200"/>
                  <a:pt x="276" y="182"/>
                  <a:pt x="290" y="168"/>
                </a:cubicBezTo>
                <a:cubicBezTo>
                  <a:pt x="290" y="168"/>
                  <a:pt x="299" y="164"/>
                  <a:pt x="303" y="146"/>
                </a:cubicBezTo>
                <a:cubicBezTo>
                  <a:pt x="312" y="133"/>
                  <a:pt x="312" y="120"/>
                  <a:pt x="312" y="106"/>
                </a:cubicBezTo>
                <a:cubicBezTo>
                  <a:pt x="312" y="48"/>
                  <a:pt x="267" y="0"/>
                  <a:pt x="205" y="0"/>
                </a:cubicBezTo>
                <a:cubicBezTo>
                  <a:pt x="147" y="0"/>
                  <a:pt x="102" y="48"/>
                  <a:pt x="102" y="106"/>
                </a:cubicBezTo>
                <a:cubicBezTo>
                  <a:pt x="102" y="120"/>
                  <a:pt x="102" y="137"/>
                  <a:pt x="111" y="151"/>
                </a:cubicBezTo>
                <a:cubicBezTo>
                  <a:pt x="120" y="168"/>
                  <a:pt x="120" y="173"/>
                  <a:pt x="120" y="173"/>
                </a:cubicBezTo>
                <a:cubicBezTo>
                  <a:pt x="138" y="182"/>
                  <a:pt x="133" y="200"/>
                  <a:pt x="116" y="204"/>
                </a:cubicBezTo>
                <a:cubicBezTo>
                  <a:pt x="116" y="204"/>
                  <a:pt x="102" y="213"/>
                  <a:pt x="80" y="226"/>
                </a:cubicBezTo>
                <a:cubicBezTo>
                  <a:pt x="31" y="266"/>
                  <a:pt x="0" y="324"/>
                  <a:pt x="0" y="391"/>
                </a:cubicBezTo>
                <a:cubicBezTo>
                  <a:pt x="0" y="471"/>
                  <a:pt x="415" y="475"/>
                  <a:pt x="415" y="391"/>
                </a:cubicBezTo>
                <a:cubicBezTo>
                  <a:pt x="415" y="324"/>
                  <a:pt x="383" y="262"/>
                  <a:pt x="330" y="226"/>
                </a:cubicBezTo>
                <a:moveTo>
                  <a:pt x="254" y="404"/>
                </a:moveTo>
                <a:cubicBezTo>
                  <a:pt x="245" y="413"/>
                  <a:pt x="236" y="422"/>
                  <a:pt x="227" y="426"/>
                </a:cubicBezTo>
                <a:cubicBezTo>
                  <a:pt x="218" y="431"/>
                  <a:pt x="214" y="435"/>
                  <a:pt x="214" y="435"/>
                </a:cubicBezTo>
                <a:cubicBezTo>
                  <a:pt x="200" y="435"/>
                  <a:pt x="200" y="435"/>
                  <a:pt x="200" y="435"/>
                </a:cubicBezTo>
                <a:cubicBezTo>
                  <a:pt x="200" y="435"/>
                  <a:pt x="196" y="431"/>
                  <a:pt x="187" y="426"/>
                </a:cubicBezTo>
                <a:cubicBezTo>
                  <a:pt x="178" y="422"/>
                  <a:pt x="169" y="413"/>
                  <a:pt x="160" y="404"/>
                </a:cubicBezTo>
                <a:cubicBezTo>
                  <a:pt x="156" y="395"/>
                  <a:pt x="147" y="386"/>
                  <a:pt x="147" y="373"/>
                </a:cubicBezTo>
                <a:cubicBezTo>
                  <a:pt x="147" y="364"/>
                  <a:pt x="156" y="351"/>
                  <a:pt x="160" y="337"/>
                </a:cubicBezTo>
                <a:cubicBezTo>
                  <a:pt x="165" y="328"/>
                  <a:pt x="169" y="315"/>
                  <a:pt x="174" y="302"/>
                </a:cubicBezTo>
                <a:cubicBezTo>
                  <a:pt x="178" y="293"/>
                  <a:pt x="183" y="280"/>
                  <a:pt x="187" y="271"/>
                </a:cubicBezTo>
                <a:cubicBezTo>
                  <a:pt x="191" y="266"/>
                  <a:pt x="191" y="257"/>
                  <a:pt x="196" y="253"/>
                </a:cubicBezTo>
                <a:cubicBezTo>
                  <a:pt x="191" y="248"/>
                  <a:pt x="191" y="248"/>
                  <a:pt x="187" y="244"/>
                </a:cubicBezTo>
                <a:cubicBezTo>
                  <a:pt x="178" y="240"/>
                  <a:pt x="169" y="235"/>
                  <a:pt x="160" y="226"/>
                </a:cubicBezTo>
                <a:cubicBezTo>
                  <a:pt x="156" y="217"/>
                  <a:pt x="187" y="204"/>
                  <a:pt x="205" y="204"/>
                </a:cubicBezTo>
                <a:cubicBezTo>
                  <a:pt x="227" y="204"/>
                  <a:pt x="258" y="217"/>
                  <a:pt x="254" y="226"/>
                </a:cubicBezTo>
                <a:cubicBezTo>
                  <a:pt x="245" y="235"/>
                  <a:pt x="236" y="240"/>
                  <a:pt x="227" y="244"/>
                </a:cubicBezTo>
                <a:cubicBezTo>
                  <a:pt x="223" y="248"/>
                  <a:pt x="218" y="248"/>
                  <a:pt x="218" y="253"/>
                </a:cubicBezTo>
                <a:cubicBezTo>
                  <a:pt x="218" y="257"/>
                  <a:pt x="223" y="266"/>
                  <a:pt x="227" y="271"/>
                </a:cubicBezTo>
                <a:cubicBezTo>
                  <a:pt x="232" y="280"/>
                  <a:pt x="236" y="293"/>
                  <a:pt x="241" y="302"/>
                </a:cubicBezTo>
                <a:cubicBezTo>
                  <a:pt x="245" y="315"/>
                  <a:pt x="249" y="328"/>
                  <a:pt x="254" y="337"/>
                </a:cubicBezTo>
                <a:cubicBezTo>
                  <a:pt x="254" y="351"/>
                  <a:pt x="267" y="364"/>
                  <a:pt x="267" y="373"/>
                </a:cubicBezTo>
                <a:cubicBezTo>
                  <a:pt x="267" y="386"/>
                  <a:pt x="258" y="395"/>
                  <a:pt x="254" y="404"/>
                </a:cubicBez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6" name="picture 326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5432056" y="5257317"/>
            <a:ext cx="1450530" cy="171450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5770024" y="5461267"/>
            <a:ext cx="1094105" cy="751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定义乱，名/义不统一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45"/>
              </a:spcBef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口径乱，开发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不规范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6000"/>
              </a:lnSpc>
              <a:spcBef>
                <a:spcPts val="45"/>
              </a:spcBef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应用乱，系统烟囱多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40"/>
              </a:spcBef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血缘乱，问题难溯源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50"/>
              </a:spcBef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流程乱，权责不清晰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50"/>
              </a:spcBef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资产乱，指标无体系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7150913" y="2042833"/>
            <a:ext cx="4250054" cy="335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10"/>
              </a:lnSpc>
              <a:spcBef>
                <a:spcPts val="5"/>
              </a:spcBef>
            </a:pPr>
            <a:r>
              <a:rPr sz="1300" kern="0" spc="-20" baseline="-3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响应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响应    需求</a:t>
            </a: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300" kern="0" spc="-20" baseline="5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响应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1300" kern="0" spc="-20" baseline="-3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1300" kern="0" spc="-30" baseline="9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响应</a:t>
            </a:r>
            <a:endParaRPr sz="1300" baseline="9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11023465" y="2055533"/>
            <a:ext cx="154342" cy="300735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10286382" y="2064575"/>
            <a:ext cx="76200" cy="300723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10208228" y="2064575"/>
            <a:ext cx="76200" cy="300723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 rot="21600000">
            <a:off x="9547169" y="2055533"/>
            <a:ext cx="76200" cy="300735"/>
          </a:xfrm>
          <a:prstGeom prst="rect">
            <a:avLst/>
          </a:prstGeom>
        </p:spPr>
      </p:pic>
      <p:pic>
        <p:nvPicPr>
          <p:cNvPr id="340" name="picture 340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 rot="21600000">
            <a:off x="9469013" y="2055533"/>
            <a:ext cx="76200" cy="300735"/>
          </a:xfrm>
          <a:prstGeom prst="rect">
            <a:avLst/>
          </a:prstGeom>
        </p:spPr>
      </p:pic>
      <p:pic>
        <p:nvPicPr>
          <p:cNvPr id="342" name="picture 342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 rot="21600000">
            <a:off x="8649523" y="2055533"/>
            <a:ext cx="154353" cy="300735"/>
          </a:xfrm>
          <a:prstGeom prst="rect">
            <a:avLst/>
          </a:prstGeom>
        </p:spPr>
      </p:pic>
      <p:pic>
        <p:nvPicPr>
          <p:cNvPr id="344" name="picture 344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 rot="21600000">
            <a:off x="7381302" y="2055533"/>
            <a:ext cx="154356" cy="300735"/>
          </a:xfrm>
          <a:prstGeom prst="rect">
            <a:avLst/>
          </a:prstGeom>
        </p:spPr>
      </p:pic>
      <p:graphicFrame>
        <p:nvGraphicFramePr>
          <p:cNvPr id="346" name="table 346"/>
          <p:cNvGraphicFramePr>
            <a:graphicFrameLocks noGrp="1"/>
          </p:cNvGraphicFramePr>
          <p:nvPr/>
        </p:nvGraphicFramePr>
        <p:xfrm>
          <a:off x="10932439" y="2912529"/>
          <a:ext cx="680084" cy="240029"/>
        </p:xfrm>
        <a:graphic>
          <a:graphicData uri="http://schemas.openxmlformats.org/drawingml/2006/table">
            <a:tbl>
              <a:tblPr/>
              <a:tblGrid>
                <a:gridCol w="680084"/>
              </a:tblGrid>
              <a:tr h="2305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93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数据团队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8" name="textbox 348"/>
          <p:cNvSpPr/>
          <p:nvPr/>
        </p:nvSpPr>
        <p:spPr>
          <a:xfrm>
            <a:off x="9777259" y="2910039"/>
            <a:ext cx="477519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数据开发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50" name="picture 350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 rot="21600000">
            <a:off x="9583115" y="3819830"/>
            <a:ext cx="301155" cy="234086"/>
          </a:xfrm>
          <a:prstGeom prst="rect">
            <a:avLst/>
          </a:prstGeom>
        </p:spPr>
      </p:pic>
      <p:pic>
        <p:nvPicPr>
          <p:cNvPr id="352" name="picture 352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 rot="21600000">
            <a:off x="9720798" y="3160395"/>
            <a:ext cx="479104" cy="488835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7719059" y="3941698"/>
            <a:ext cx="2946717" cy="2571876"/>
            <a:chOff x="0" y="0"/>
            <a:chExt cx="2946717" cy="2571876"/>
          </a:xfrm>
        </p:grpSpPr>
        <p:pic>
          <p:nvPicPr>
            <p:cNvPr id="354" name="picture 354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 rot="21600000">
              <a:off x="0" y="0"/>
              <a:ext cx="2946717" cy="2571876"/>
            </a:xfrm>
            <a:prstGeom prst="rect">
              <a:avLst/>
            </a:prstGeom>
          </p:spPr>
        </p:pic>
        <p:sp>
          <p:nvSpPr>
            <p:cNvPr id="356" name="textbox 356"/>
            <p:cNvSpPr/>
            <p:nvPr/>
          </p:nvSpPr>
          <p:spPr>
            <a:xfrm>
              <a:off x="-12700" y="-12700"/>
              <a:ext cx="2972435" cy="26155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90700" algn="l" rtl="0" eaLnBrk="0">
                <a:lnSpc>
                  <a:spcPct val="100000"/>
                </a:lnSpc>
              </a:pPr>
              <a:r>
                <a:rPr sz="1000" b="1" kern="0" spc="2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黑盒子</a:t>
              </a:r>
              <a:endParaRPr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58" name="textbox 358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6036610" y="3478707"/>
            <a:ext cx="427355" cy="127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设周期长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2" name="textbox 362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551002" y="315011"/>
            <a:ext cx="5507990" cy="357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指标是实现企业战略目标的统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一组织语言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66" name="table 366"/>
          <p:cNvGraphicFramePr>
            <a:graphicFrameLocks noGrp="1"/>
          </p:cNvGraphicFramePr>
          <p:nvPr/>
        </p:nvGraphicFramePr>
        <p:xfrm>
          <a:off x="373364" y="1077392"/>
          <a:ext cx="4552314" cy="474980"/>
        </p:xfrm>
        <a:graphic>
          <a:graphicData uri="http://schemas.openxmlformats.org/drawingml/2006/table">
            <a:tbl>
              <a:tblPr/>
              <a:tblGrid>
                <a:gridCol w="382904"/>
                <a:gridCol w="4169409"/>
              </a:tblGrid>
              <a:tr h="4749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4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1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企业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ts val="1465"/>
                        </a:lnSpc>
                      </a:pPr>
                      <a:r>
                        <a:rPr sz="1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视角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0731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1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是实现企业战略目标的统一组织语言。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07315" algn="l" rtl="0" eaLnBrk="0">
                        <a:lnSpc>
                          <a:spcPct val="95000"/>
                        </a:lnSpc>
                        <a:spcBef>
                          <a:spcPts val="60"/>
                        </a:spcBef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1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覆盖业务目标和执行过程的</a:t>
                      </a:r>
                      <a:r>
                        <a:rPr sz="1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全域指标</a:t>
                      </a:r>
                      <a:r>
                        <a:rPr sz="1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体系</a:t>
                      </a: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是数字化经营的核心。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80000"/>
                        </a:lnSpc>
                        <a:spcBef>
                          <a:spcPts val="60"/>
                        </a:spcBef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•</a:t>
                      </a:r>
                      <a:r>
                        <a:rPr sz="11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完善数字化管理组织、流程</a:t>
                      </a: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、机制及数据产品是重要的落地保障。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68" name="table 368"/>
          <p:cNvGraphicFramePr>
            <a:graphicFrameLocks noGrp="1"/>
          </p:cNvGraphicFramePr>
          <p:nvPr/>
        </p:nvGraphicFramePr>
        <p:xfrm>
          <a:off x="839673" y="1632369"/>
          <a:ext cx="4182745" cy="502920"/>
        </p:xfrm>
        <a:graphic>
          <a:graphicData uri="http://schemas.openxmlformats.org/drawingml/2006/table">
            <a:tbl>
              <a:tblPr/>
              <a:tblGrid>
                <a:gridCol w="4182745"/>
              </a:tblGrid>
              <a:tr h="496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60880" algn="l" rtl="0" eaLnBrk="0">
                        <a:lnSpc>
                          <a:spcPts val="1120"/>
                        </a:lnSpc>
                        <a:spcBef>
                          <a:spcPts val="0"/>
                        </a:spcBef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目标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41020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综合考虑企业经营长期、短期的效益提升及当前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阶段的重点目标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70" name="picture 370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 rot="21600000">
            <a:off x="3601453" y="2648115"/>
            <a:ext cx="103263" cy="303745"/>
          </a:xfrm>
          <a:prstGeom prst="rect">
            <a:avLst/>
          </a:prstGeom>
        </p:spPr>
      </p:pic>
      <p:graphicFrame>
        <p:nvGraphicFramePr>
          <p:cNvPr id="372" name="table 372"/>
          <p:cNvGraphicFramePr>
            <a:graphicFrameLocks noGrp="1"/>
          </p:cNvGraphicFramePr>
          <p:nvPr/>
        </p:nvGraphicFramePr>
        <p:xfrm>
          <a:off x="843673" y="3398481"/>
          <a:ext cx="1928495" cy="572135"/>
        </p:xfrm>
        <a:graphic>
          <a:graphicData uri="http://schemas.openxmlformats.org/drawingml/2006/table">
            <a:tbl>
              <a:tblPr/>
              <a:tblGrid>
                <a:gridCol w="1928495"/>
              </a:tblGrid>
              <a:tr h="553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3DA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DA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DA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DA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4" name="textbox 374"/>
          <p:cNvSpPr/>
          <p:nvPr/>
        </p:nvSpPr>
        <p:spPr>
          <a:xfrm>
            <a:off x="1526041" y="5123561"/>
            <a:ext cx="300990" cy="671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口径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确认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940" algn="l" rtl="0" eaLnBrk="0">
              <a:lnSpc>
                <a:spcPct val="71000"/>
              </a:lnSpc>
              <a:spcBef>
                <a:spcPts val="160"/>
              </a:spcBef>
            </a:pPr>
            <a:r>
              <a:rPr sz="1200" kern="0" spc="4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6" name="picture 376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 rot="21600000">
            <a:off x="1618678" y="5753112"/>
            <a:ext cx="12966" cy="175412"/>
          </a:xfrm>
          <a:prstGeom prst="rect">
            <a:avLst/>
          </a:prstGeom>
        </p:spPr>
      </p:pic>
      <p:sp>
        <p:nvSpPr>
          <p:cNvPr id="378" name="textbox 378"/>
          <p:cNvSpPr/>
          <p:nvPr/>
        </p:nvSpPr>
        <p:spPr>
          <a:xfrm>
            <a:off x="457857" y="5173040"/>
            <a:ext cx="582294" cy="353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3670" algn="l" rtl="0" eaLnBrk="0">
              <a:lnSpc>
                <a:spcPct val="95000"/>
              </a:lnSpc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提出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60"/>
              </a:spcBef>
            </a:pP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业务需求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0" name="path 380"/>
          <p:cNvSpPr/>
          <p:nvPr/>
        </p:nvSpPr>
        <p:spPr>
          <a:xfrm>
            <a:off x="2558795" y="4061459"/>
            <a:ext cx="743712" cy="542544"/>
          </a:xfrm>
          <a:custGeom>
            <a:avLst/>
            <a:gdLst/>
            <a:ahLst/>
            <a:cxnLst/>
            <a:rect l="0" t="0" r="0" b="0"/>
            <a:pathLst>
              <a:path w="1171" h="854">
                <a:moveTo>
                  <a:pt x="0" y="427"/>
                </a:moveTo>
                <a:lnTo>
                  <a:pt x="292" y="427"/>
                </a:lnTo>
                <a:lnTo>
                  <a:pt x="292" y="0"/>
                </a:lnTo>
                <a:lnTo>
                  <a:pt x="878" y="0"/>
                </a:lnTo>
                <a:lnTo>
                  <a:pt x="878" y="427"/>
                </a:lnTo>
                <a:lnTo>
                  <a:pt x="1171" y="427"/>
                </a:lnTo>
                <a:lnTo>
                  <a:pt x="585" y="854"/>
                </a:lnTo>
                <a:lnTo>
                  <a:pt x="0" y="427"/>
                </a:lnTo>
              </a:path>
            </a:pathLst>
          </a:cu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2" name="textbox 382"/>
          <p:cNvSpPr/>
          <p:nvPr/>
        </p:nvSpPr>
        <p:spPr>
          <a:xfrm>
            <a:off x="2493264" y="4677155"/>
            <a:ext cx="962025" cy="299084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5740" algn="l" rtl="0" eaLnBrk="0">
              <a:lnSpc>
                <a:spcPct val="95000"/>
              </a:lnSpc>
              <a:spcBef>
                <a:spcPts val="0"/>
              </a:spcBef>
            </a:pPr>
            <a:r>
              <a:rPr sz="11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数据团队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4" name="textbox 384"/>
          <p:cNvSpPr/>
          <p:nvPr/>
        </p:nvSpPr>
        <p:spPr>
          <a:xfrm>
            <a:off x="422148" y="5764657"/>
            <a:ext cx="648334" cy="358140"/>
          </a:xfrm>
          <a:prstGeom prst="rect">
            <a:avLst/>
          </a:prstGeom>
          <a:solidFill>
            <a:srgbClr val="F4B183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975" algn="l" rtl="0" eaLnBrk="0">
              <a:lnSpc>
                <a:spcPct val="99000"/>
              </a:lnSpc>
              <a:spcBef>
                <a:spcPts val="5"/>
              </a:spcBef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业务人员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6" name="textbox 386"/>
          <p:cNvSpPr/>
          <p:nvPr/>
        </p:nvSpPr>
        <p:spPr>
          <a:xfrm>
            <a:off x="3834130" y="2434336"/>
            <a:ext cx="1083310" cy="70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640" algn="l" rtl="0" eaLnBrk="0">
              <a:lnSpc>
                <a:spcPct val="95000"/>
              </a:lnSpc>
            </a:pP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业务规划及执行反馈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1140"/>
              </a:spcBef>
            </a:pPr>
            <a:r>
              <a:rPr sz="600" kern="0" spc="-1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老客提升计划…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50"/>
              </a:spcBef>
            </a:pPr>
            <a:r>
              <a:rPr sz="600" kern="0" spc="-2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600" kern="0" spc="1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门店改善计划…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60"/>
              </a:spcBef>
            </a:pPr>
            <a:r>
              <a:rPr sz="600" kern="0" spc="-1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新品推广计划…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8" name="textbox 388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4708677" y="5009133"/>
            <a:ext cx="671042" cy="1124966"/>
            <a:chOff x="0" y="0"/>
            <a:chExt cx="671042" cy="1124966"/>
          </a:xfrm>
        </p:grpSpPr>
        <p:grpSp>
          <p:nvGrpSpPr>
            <p:cNvPr id="22" name="group 22"/>
            <p:cNvGrpSpPr/>
            <p:nvPr/>
          </p:nvGrpSpPr>
          <p:grpSpPr>
            <a:xfrm rot="21600000">
              <a:off x="0" y="0"/>
              <a:ext cx="671042" cy="1124966"/>
              <a:chOff x="0" y="0"/>
              <a:chExt cx="671042" cy="1124966"/>
            </a:xfrm>
          </p:grpSpPr>
          <p:sp>
            <p:nvSpPr>
              <p:cNvPr id="390" name="path 390"/>
              <p:cNvSpPr/>
              <p:nvPr/>
            </p:nvSpPr>
            <p:spPr>
              <a:xfrm>
                <a:off x="0" y="0"/>
                <a:ext cx="671042" cy="747014"/>
              </a:xfrm>
              <a:custGeom>
                <a:avLst/>
                <a:gdLst/>
                <a:ahLst/>
                <a:cxnLst/>
                <a:rect l="0" t="0" r="0" b="0"/>
                <a:pathLst>
                  <a:path w="1056" h="1176">
                    <a:moveTo>
                      <a:pt x="0" y="175"/>
                    </a:moveTo>
                    <a:moveTo>
                      <a:pt x="0" y="175"/>
                    </a:moveTo>
                    <a:cubicBezTo>
                      <a:pt x="0" y="78"/>
                      <a:pt x="78" y="0"/>
                      <a:pt x="175" y="0"/>
                    </a:cubicBezTo>
                    <a:lnTo>
                      <a:pt x="879" y="0"/>
                    </a:lnTo>
                    <a:cubicBezTo>
                      <a:pt x="976" y="0"/>
                      <a:pt x="1055" y="78"/>
                      <a:pt x="1056" y="175"/>
                    </a:cubicBezTo>
                    <a:lnTo>
                      <a:pt x="1056" y="1001"/>
                    </a:lnTo>
                    <a:cubicBezTo>
                      <a:pt x="1055" y="1097"/>
                      <a:pt x="976" y="1175"/>
                      <a:pt x="879" y="1176"/>
                    </a:cubicBezTo>
                    <a:lnTo>
                      <a:pt x="175" y="1176"/>
                    </a:lnTo>
                    <a:cubicBezTo>
                      <a:pt x="78" y="1175"/>
                      <a:pt x="0" y="1097"/>
                      <a:pt x="0" y="1001"/>
                    </a:cubicBezTo>
                    <a:lnTo>
                      <a:pt x="0" y="175"/>
                    </a:lnTo>
                  </a:path>
                </a:pathLst>
              </a:custGeom>
              <a:solidFill>
                <a:srgbClr val="F9E2D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2" name="path 392"/>
              <p:cNvSpPr/>
              <p:nvPr/>
            </p:nvSpPr>
            <p:spPr>
              <a:xfrm>
                <a:off x="22643" y="766826"/>
                <a:ext cx="648398" cy="358140"/>
              </a:xfrm>
              <a:custGeom>
                <a:avLst/>
                <a:gdLst/>
                <a:ahLst/>
                <a:cxnLst/>
                <a:rect l="0" t="0" r="0" b="0"/>
                <a:pathLst>
                  <a:path w="1021" h="564">
                    <a:moveTo>
                      <a:pt x="1" y="93"/>
                    </a:moveTo>
                    <a:moveTo>
                      <a:pt x="1" y="93"/>
                    </a:moveTo>
                    <a:cubicBezTo>
                      <a:pt x="0" y="42"/>
                      <a:pt x="42" y="0"/>
                      <a:pt x="94" y="0"/>
                    </a:cubicBezTo>
                    <a:lnTo>
                      <a:pt x="925" y="0"/>
                    </a:lnTo>
                    <a:cubicBezTo>
                      <a:pt x="977" y="0"/>
                      <a:pt x="1019" y="42"/>
                      <a:pt x="1021" y="93"/>
                    </a:cubicBezTo>
                    <a:lnTo>
                      <a:pt x="1021" y="470"/>
                    </a:lnTo>
                    <a:cubicBezTo>
                      <a:pt x="1019" y="521"/>
                      <a:pt x="977" y="563"/>
                      <a:pt x="925" y="564"/>
                    </a:cubicBezTo>
                    <a:lnTo>
                      <a:pt x="94" y="564"/>
                    </a:lnTo>
                    <a:cubicBezTo>
                      <a:pt x="42" y="563"/>
                      <a:pt x="0" y="521"/>
                      <a:pt x="1" y="470"/>
                    </a:cubicBezTo>
                    <a:lnTo>
                      <a:pt x="1" y="93"/>
                    </a:lnTo>
                  </a:path>
                </a:pathLst>
              </a:custGeom>
              <a:solidFill>
                <a:srgbClr val="F4B183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4" name="textbox 394"/>
            <p:cNvSpPr/>
            <p:nvPr/>
          </p:nvSpPr>
          <p:spPr>
            <a:xfrm>
              <a:off x="-12700" y="-12700"/>
              <a:ext cx="696594" cy="1168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9710" algn="l" rtl="0" eaLnBrk="0">
                <a:lnSpc>
                  <a:spcPct val="95000"/>
                </a:lnSpc>
                <a:spcBef>
                  <a:spcPts val="5"/>
                </a:spcBef>
              </a:pPr>
              <a:r>
                <a:rPr sz="1100" b="1" kern="0" spc="-3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业务</a:t>
              </a:r>
              <a:endParaRPr sz="1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80645" algn="l" rtl="0" eaLnBrk="0">
                <a:lnSpc>
                  <a:spcPct val="95000"/>
                </a:lnSpc>
                <a:spcBef>
                  <a:spcPts val="70"/>
                </a:spcBef>
              </a:pPr>
              <a:r>
                <a:rPr sz="1100" b="1" kern="0" spc="-2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经营分析</a:t>
              </a:r>
              <a:endParaRPr sz="1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7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6045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业务人员</a:t>
              </a:r>
              <a:endParaRPr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96" name="textbox 396"/>
          <p:cNvSpPr/>
          <p:nvPr/>
        </p:nvSpPr>
        <p:spPr>
          <a:xfrm>
            <a:off x="10698829" y="5714891"/>
            <a:ext cx="970914" cy="690244"/>
          </a:xfrm>
          <a:prstGeom prst="rect">
            <a:avLst/>
          </a:prstGeom>
          <a:solidFill>
            <a:srgbClr val="000000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845" algn="l" rtl="0" eaLnBrk="0">
              <a:lnSpc>
                <a:spcPct val="95000"/>
              </a:lnSpc>
              <a:spcBef>
                <a:spcPts val="5"/>
              </a:spcBef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指标定义黑盒子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845" algn="l" rtl="0" eaLnBrk="0">
              <a:lnSpc>
                <a:spcPct val="95000"/>
              </a:lnSpc>
              <a:spcBef>
                <a:spcPts val="50"/>
              </a:spcBef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无法高效复用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10698829" y="4388532"/>
            <a:ext cx="970914" cy="62484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" algn="l" rtl="0" eaLnBrk="0">
              <a:lnSpc>
                <a:spcPct val="95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应用烟囱林立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" algn="l" rtl="0" eaLnBrk="0">
              <a:lnSpc>
                <a:spcPct val="95000"/>
              </a:lnSpc>
              <a:spcBef>
                <a:spcPts val="55"/>
              </a:spcBef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指标口径不统一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0" name="textbox 400"/>
          <p:cNvSpPr/>
          <p:nvPr/>
        </p:nvSpPr>
        <p:spPr>
          <a:xfrm>
            <a:off x="1007821" y="2462593"/>
            <a:ext cx="935355" cy="704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355" algn="l" rtl="0" eaLnBrk="0">
              <a:lnSpc>
                <a:spcPct val="95000"/>
              </a:lnSpc>
            </a:pP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财务指标体系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-635" algn="l" rtl="0" eaLnBrk="0">
              <a:lnSpc>
                <a:spcPct val="97000"/>
              </a:lnSpc>
              <a:spcBef>
                <a:spcPts val="1145"/>
              </a:spcBef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毛利额、毛利率…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净利润率…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60"/>
              </a:spcBef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现金流入占比…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02" name="picture 402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5920740" y="4683125"/>
            <a:ext cx="597789" cy="570090"/>
            <a:chOff x="0" y="0"/>
            <a:chExt cx="597789" cy="570090"/>
          </a:xfrm>
        </p:grpSpPr>
        <p:sp>
          <p:nvSpPr>
            <p:cNvPr id="404" name="path 404"/>
            <p:cNvSpPr/>
            <p:nvPr/>
          </p:nvSpPr>
          <p:spPr>
            <a:xfrm>
              <a:off x="0" y="0"/>
              <a:ext cx="597789" cy="570090"/>
            </a:xfrm>
            <a:custGeom>
              <a:avLst/>
              <a:gdLst/>
              <a:ahLst/>
              <a:cxnLst/>
              <a:rect l="0" t="0" r="0" b="0"/>
              <a:pathLst>
                <a:path w="941" h="897">
                  <a:moveTo>
                    <a:pt x="0" y="449"/>
                  </a:moveTo>
                  <a:cubicBezTo>
                    <a:pt x="0" y="200"/>
                    <a:pt x="210" y="0"/>
                    <a:pt x="470" y="0"/>
                  </a:cubicBezTo>
                  <a:cubicBezTo>
                    <a:pt x="730" y="0"/>
                    <a:pt x="941" y="200"/>
                    <a:pt x="941" y="448"/>
                  </a:cubicBezTo>
                  <a:cubicBezTo>
                    <a:pt x="941" y="696"/>
                    <a:pt x="730" y="897"/>
                    <a:pt x="470" y="897"/>
                  </a:cubicBezTo>
                  <a:cubicBezTo>
                    <a:pt x="210" y="897"/>
                    <a:pt x="0" y="696"/>
                    <a:pt x="0" y="449"/>
                  </a:cubicBezTo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6" name="textbox 406"/>
            <p:cNvSpPr/>
            <p:nvPr/>
          </p:nvSpPr>
          <p:spPr>
            <a:xfrm>
              <a:off x="-12700" y="-12700"/>
              <a:ext cx="623569" cy="6318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6375" algn="l" rtl="0" eaLnBrk="0">
                <a:lnSpc>
                  <a:spcPts val="2080"/>
                </a:lnSpc>
              </a:pPr>
              <a:r>
                <a:rPr sz="1700" kern="0" spc="10" dirty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乱</a:t>
              </a:r>
              <a:endParaRPr sz="17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408" name="picture 408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 rot="21600000">
            <a:off x="7204950" y="1618665"/>
            <a:ext cx="500419" cy="425703"/>
          </a:xfrm>
          <a:prstGeom prst="rect">
            <a:avLst/>
          </a:prstGeom>
        </p:spPr>
      </p:pic>
      <p:sp>
        <p:nvSpPr>
          <p:cNvPr id="410" name="textbox 410"/>
          <p:cNvSpPr/>
          <p:nvPr/>
        </p:nvSpPr>
        <p:spPr>
          <a:xfrm>
            <a:off x="1321910" y="5995173"/>
            <a:ext cx="556894" cy="23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235" indent="-89535" algn="l" rtl="0" eaLnBrk="0">
              <a:lnSpc>
                <a:spcPct val="112000"/>
              </a:lnSpc>
            </a:pPr>
            <a:r>
              <a:rPr sz="600" b="1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指标业务口径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6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指标拆解</a:t>
            </a:r>
            <a:endParaRPr sz="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12" name="picture 412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 rot="21600000">
            <a:off x="9881399" y="3543680"/>
            <a:ext cx="117640" cy="375335"/>
          </a:xfrm>
          <a:prstGeom prst="rect">
            <a:avLst/>
          </a:prstGeom>
        </p:spPr>
      </p:pic>
      <p:sp>
        <p:nvSpPr>
          <p:cNvPr id="414" name="textbox 414"/>
          <p:cNvSpPr/>
          <p:nvPr/>
        </p:nvSpPr>
        <p:spPr>
          <a:xfrm>
            <a:off x="9622104" y="3649535"/>
            <a:ext cx="581659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立；</a:t>
            </a:r>
            <a:r>
              <a:rPr sz="11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,'</a:t>
            </a:r>
            <a:r>
              <a:rPr sz="1100" kern="0" spc="-2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管理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6" name="path 416"/>
          <p:cNvSpPr/>
          <p:nvPr/>
        </p:nvSpPr>
        <p:spPr>
          <a:xfrm>
            <a:off x="7336714" y="1157389"/>
            <a:ext cx="263600" cy="302044"/>
          </a:xfrm>
          <a:custGeom>
            <a:avLst/>
            <a:gdLst/>
            <a:ahLst/>
            <a:cxnLst/>
            <a:rect l="0" t="0" r="0" b="0"/>
            <a:pathLst>
              <a:path w="415" h="475">
                <a:moveTo>
                  <a:pt x="330" y="226"/>
                </a:moveTo>
                <a:cubicBezTo>
                  <a:pt x="312" y="213"/>
                  <a:pt x="299" y="204"/>
                  <a:pt x="299" y="204"/>
                </a:cubicBezTo>
                <a:cubicBezTo>
                  <a:pt x="281" y="200"/>
                  <a:pt x="276" y="182"/>
                  <a:pt x="290" y="168"/>
                </a:cubicBezTo>
                <a:cubicBezTo>
                  <a:pt x="290" y="168"/>
                  <a:pt x="299" y="164"/>
                  <a:pt x="303" y="146"/>
                </a:cubicBezTo>
                <a:cubicBezTo>
                  <a:pt x="312" y="133"/>
                  <a:pt x="312" y="120"/>
                  <a:pt x="312" y="106"/>
                </a:cubicBezTo>
                <a:cubicBezTo>
                  <a:pt x="312" y="48"/>
                  <a:pt x="267" y="0"/>
                  <a:pt x="205" y="0"/>
                </a:cubicBezTo>
                <a:cubicBezTo>
                  <a:pt x="147" y="0"/>
                  <a:pt x="102" y="48"/>
                  <a:pt x="102" y="106"/>
                </a:cubicBezTo>
                <a:cubicBezTo>
                  <a:pt x="102" y="120"/>
                  <a:pt x="102" y="137"/>
                  <a:pt x="111" y="151"/>
                </a:cubicBezTo>
                <a:cubicBezTo>
                  <a:pt x="120" y="168"/>
                  <a:pt x="120" y="173"/>
                  <a:pt x="120" y="173"/>
                </a:cubicBezTo>
                <a:cubicBezTo>
                  <a:pt x="138" y="182"/>
                  <a:pt x="133" y="200"/>
                  <a:pt x="116" y="204"/>
                </a:cubicBezTo>
                <a:cubicBezTo>
                  <a:pt x="116" y="204"/>
                  <a:pt x="102" y="213"/>
                  <a:pt x="80" y="226"/>
                </a:cubicBezTo>
                <a:cubicBezTo>
                  <a:pt x="31" y="266"/>
                  <a:pt x="0" y="324"/>
                  <a:pt x="0" y="391"/>
                </a:cubicBezTo>
                <a:cubicBezTo>
                  <a:pt x="0" y="471"/>
                  <a:pt x="415" y="475"/>
                  <a:pt x="415" y="391"/>
                </a:cubicBezTo>
                <a:cubicBezTo>
                  <a:pt x="415" y="324"/>
                  <a:pt x="383" y="262"/>
                  <a:pt x="330" y="226"/>
                </a:cubicBezTo>
                <a:moveTo>
                  <a:pt x="254" y="404"/>
                </a:moveTo>
                <a:cubicBezTo>
                  <a:pt x="245" y="413"/>
                  <a:pt x="236" y="422"/>
                  <a:pt x="227" y="426"/>
                </a:cubicBezTo>
                <a:cubicBezTo>
                  <a:pt x="218" y="431"/>
                  <a:pt x="214" y="435"/>
                  <a:pt x="214" y="435"/>
                </a:cubicBezTo>
                <a:cubicBezTo>
                  <a:pt x="200" y="435"/>
                  <a:pt x="200" y="435"/>
                  <a:pt x="200" y="435"/>
                </a:cubicBezTo>
                <a:cubicBezTo>
                  <a:pt x="200" y="435"/>
                  <a:pt x="196" y="431"/>
                  <a:pt x="187" y="426"/>
                </a:cubicBezTo>
                <a:cubicBezTo>
                  <a:pt x="178" y="422"/>
                  <a:pt x="169" y="413"/>
                  <a:pt x="160" y="404"/>
                </a:cubicBezTo>
                <a:cubicBezTo>
                  <a:pt x="156" y="395"/>
                  <a:pt x="147" y="386"/>
                  <a:pt x="147" y="373"/>
                </a:cubicBezTo>
                <a:cubicBezTo>
                  <a:pt x="147" y="364"/>
                  <a:pt x="156" y="351"/>
                  <a:pt x="160" y="337"/>
                </a:cubicBezTo>
                <a:cubicBezTo>
                  <a:pt x="165" y="328"/>
                  <a:pt x="169" y="315"/>
                  <a:pt x="174" y="302"/>
                </a:cubicBezTo>
                <a:cubicBezTo>
                  <a:pt x="178" y="293"/>
                  <a:pt x="182" y="280"/>
                  <a:pt x="187" y="271"/>
                </a:cubicBezTo>
                <a:cubicBezTo>
                  <a:pt x="191" y="266"/>
                  <a:pt x="191" y="257"/>
                  <a:pt x="196" y="253"/>
                </a:cubicBezTo>
                <a:cubicBezTo>
                  <a:pt x="191" y="248"/>
                  <a:pt x="191" y="248"/>
                  <a:pt x="187" y="244"/>
                </a:cubicBezTo>
                <a:cubicBezTo>
                  <a:pt x="178" y="240"/>
                  <a:pt x="169" y="235"/>
                  <a:pt x="160" y="226"/>
                </a:cubicBezTo>
                <a:cubicBezTo>
                  <a:pt x="156" y="217"/>
                  <a:pt x="187" y="204"/>
                  <a:pt x="205" y="204"/>
                </a:cubicBezTo>
                <a:cubicBezTo>
                  <a:pt x="227" y="204"/>
                  <a:pt x="258" y="217"/>
                  <a:pt x="254" y="226"/>
                </a:cubicBezTo>
                <a:cubicBezTo>
                  <a:pt x="245" y="235"/>
                  <a:pt x="236" y="240"/>
                  <a:pt x="227" y="244"/>
                </a:cubicBezTo>
                <a:cubicBezTo>
                  <a:pt x="223" y="248"/>
                  <a:pt x="218" y="248"/>
                  <a:pt x="218" y="253"/>
                </a:cubicBezTo>
                <a:cubicBezTo>
                  <a:pt x="218" y="257"/>
                  <a:pt x="223" y="266"/>
                  <a:pt x="227" y="271"/>
                </a:cubicBezTo>
                <a:cubicBezTo>
                  <a:pt x="232" y="280"/>
                  <a:pt x="236" y="293"/>
                  <a:pt x="241" y="302"/>
                </a:cubicBezTo>
                <a:cubicBezTo>
                  <a:pt x="245" y="315"/>
                  <a:pt x="249" y="328"/>
                  <a:pt x="254" y="337"/>
                </a:cubicBezTo>
                <a:cubicBezTo>
                  <a:pt x="254" y="351"/>
                  <a:pt x="267" y="364"/>
                  <a:pt x="267" y="373"/>
                </a:cubicBezTo>
                <a:cubicBezTo>
                  <a:pt x="267" y="386"/>
                  <a:pt x="258" y="395"/>
                  <a:pt x="254" y="404"/>
                </a:cubicBez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8" name="textbox 418"/>
          <p:cNvSpPr/>
          <p:nvPr/>
        </p:nvSpPr>
        <p:spPr>
          <a:xfrm>
            <a:off x="8155864" y="2906420"/>
            <a:ext cx="591184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各类数据源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0" name="textbox 420"/>
          <p:cNvSpPr/>
          <p:nvPr/>
        </p:nvSpPr>
        <p:spPr>
          <a:xfrm>
            <a:off x="8744109" y="2659732"/>
            <a:ext cx="219709" cy="111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70"/>
              </a:lnSpc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…</a:t>
            </a:r>
            <a:endParaRPr sz="1500" dirty="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422" name="picture 422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 rot="21600000">
            <a:off x="5782724" y="6250879"/>
            <a:ext cx="294111" cy="22696"/>
          </a:xfrm>
          <a:prstGeom prst="rect">
            <a:avLst/>
          </a:prstGeom>
        </p:spPr>
      </p:pic>
      <p:sp>
        <p:nvSpPr>
          <p:cNvPr id="424" name="textbox 424"/>
          <p:cNvSpPr/>
          <p:nvPr/>
        </p:nvSpPr>
        <p:spPr>
          <a:xfrm>
            <a:off x="2059445" y="2906016"/>
            <a:ext cx="51435" cy="8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55"/>
              </a:lnSpc>
            </a:pPr>
            <a:r>
              <a:rPr sz="600" kern="0" spc="-2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6" name="textbox 426"/>
          <p:cNvSpPr/>
          <p:nvPr/>
        </p:nvSpPr>
        <p:spPr>
          <a:xfrm>
            <a:off x="2059445" y="3043175"/>
            <a:ext cx="51435" cy="8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55"/>
              </a:lnSpc>
            </a:pPr>
            <a:r>
              <a:rPr sz="600" kern="0" spc="-2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2059445" y="2768856"/>
            <a:ext cx="51435" cy="8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55"/>
              </a:lnSpc>
            </a:pPr>
            <a:r>
              <a:rPr sz="600" kern="0" spc="-2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0" name="textbox 430"/>
          <p:cNvSpPr/>
          <p:nvPr/>
        </p:nvSpPr>
        <p:spPr>
          <a:xfrm>
            <a:off x="836067" y="2793252"/>
            <a:ext cx="51435" cy="8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55"/>
              </a:lnSpc>
            </a:pPr>
            <a:r>
              <a:rPr sz="600" kern="0" spc="-2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2" name="textbox 432"/>
          <p:cNvSpPr/>
          <p:nvPr/>
        </p:nvSpPr>
        <p:spPr>
          <a:xfrm>
            <a:off x="836067" y="2930412"/>
            <a:ext cx="51435" cy="8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55"/>
              </a:lnSpc>
            </a:pPr>
            <a:r>
              <a:rPr sz="600" kern="0" spc="-2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836067" y="3067572"/>
            <a:ext cx="51435" cy="83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55"/>
              </a:lnSpc>
            </a:pPr>
            <a:r>
              <a:rPr sz="600" kern="0" spc="-20" dirty="0">
                <a:solidFill>
                  <a:srgbClr val="C8142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0" y="296799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picture 4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38" name="textbox 438"/>
          <p:cNvSpPr/>
          <p:nvPr/>
        </p:nvSpPr>
        <p:spPr>
          <a:xfrm>
            <a:off x="307644" y="1945309"/>
            <a:ext cx="11678284" cy="4764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6205" algn="l" rtl="0" eaLnBrk="0">
              <a:lnSpc>
                <a:spcPct val="85000"/>
              </a:lnSpc>
            </a:pPr>
            <a:r>
              <a:rPr sz="8000" b="1" kern="0" spc="-1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8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915" algn="l" rtl="0" eaLnBrk="0">
              <a:lnSpc>
                <a:spcPct val="92000"/>
              </a:lnSpc>
              <a:spcBef>
                <a:spcPts val="1595"/>
              </a:spcBef>
            </a:pPr>
            <a:r>
              <a:rPr sz="53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r>
              <a:rPr sz="5300" b="1" kern="0" spc="4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300" b="1" kern="0" spc="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 技术问题</a:t>
            </a:r>
            <a:endParaRPr sz="5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490"/>
              </a:lnSpc>
              <a:spcBef>
                <a:spcPts val="0"/>
              </a:spcBef>
            </a:pP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DataFunSummit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sz="4400" kern="0" spc="2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2024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4400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endParaRPr sz="4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40" name="picture 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37368" y="6284455"/>
            <a:ext cx="1658543" cy="273736"/>
          </a:xfrm>
          <a:prstGeom prst="rect">
            <a:avLst/>
          </a:prstGeom>
        </p:spPr>
      </p:pic>
      <p:sp>
        <p:nvSpPr>
          <p:cNvPr id="442" name="textbox 442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4" name="textbox 444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6" name="textbox 446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picture 4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 rot="21600000">
            <a:off x="3880103" y="1318259"/>
            <a:ext cx="4332732" cy="3891280"/>
            <a:chOff x="0" y="0"/>
            <a:chExt cx="4332732" cy="3891280"/>
          </a:xfrm>
        </p:grpSpPr>
        <p:pic>
          <p:nvPicPr>
            <p:cNvPr id="450" name="picture 4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332732" cy="3891280"/>
            </a:xfrm>
            <a:prstGeom prst="rect">
              <a:avLst/>
            </a:prstGeom>
          </p:spPr>
        </p:pic>
        <p:pic>
          <p:nvPicPr>
            <p:cNvPr id="452" name="picture 45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947698" y="1674707"/>
              <a:ext cx="437576" cy="413800"/>
            </a:xfrm>
            <a:prstGeom prst="rect">
              <a:avLst/>
            </a:prstGeom>
          </p:spPr>
        </p:pic>
        <p:pic>
          <p:nvPicPr>
            <p:cNvPr id="454" name="picture 4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800100" y="589915"/>
              <a:ext cx="2724090" cy="1122427"/>
            </a:xfrm>
            <a:prstGeom prst="rect">
              <a:avLst/>
            </a:prstGeom>
          </p:spPr>
        </p:pic>
        <p:sp>
          <p:nvSpPr>
            <p:cNvPr id="456" name="textbox 456"/>
            <p:cNvSpPr/>
            <p:nvPr/>
          </p:nvSpPr>
          <p:spPr>
            <a:xfrm>
              <a:off x="1353861" y="1989454"/>
              <a:ext cx="2782570" cy="7702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5"/>
                </a:spcBef>
              </a:pPr>
              <a:r>
                <a:rPr sz="1500" b="1" kern="0" spc="2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指标生产</a:t>
              </a:r>
              <a:r>
                <a:rPr sz="1500" b="1" kern="0" spc="-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2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</a:t>
              </a:r>
              <a:r>
                <a:rPr sz="1500" b="1" kern="0" spc="-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500" b="1" kern="0" spc="2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7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5890" algn="l" rtl="0" eaLnBrk="0">
                <a:lnSpc>
                  <a:spcPct val="83000"/>
                </a:lnSpc>
                <a:spcBef>
                  <a:spcPts val="0"/>
                </a:spcBef>
              </a:pPr>
              <a:r>
                <a:rPr sz="1500" b="1" kern="0" spc="34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与消费的痛点</a:t>
              </a:r>
              <a:endParaRPr sz="15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58" name="picture 45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3535848" y="2002154"/>
              <a:ext cx="584390" cy="554726"/>
            </a:xfrm>
            <a:prstGeom prst="rect">
              <a:avLst/>
            </a:prstGeom>
          </p:spPr>
        </p:pic>
        <p:pic>
          <p:nvPicPr>
            <p:cNvPr id="460" name="picture 46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641969" y="3239754"/>
              <a:ext cx="1400541" cy="326353"/>
            </a:xfrm>
            <a:prstGeom prst="rect">
              <a:avLst/>
            </a:prstGeom>
          </p:spPr>
        </p:pic>
        <p:pic>
          <p:nvPicPr>
            <p:cNvPr id="462" name="picture 4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805878" y="3143884"/>
              <a:ext cx="584200" cy="584200"/>
            </a:xfrm>
            <a:prstGeom prst="rect">
              <a:avLst/>
            </a:prstGeom>
          </p:spPr>
        </p:pic>
        <p:pic>
          <p:nvPicPr>
            <p:cNvPr id="464" name="picture 46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911669" y="1574411"/>
              <a:ext cx="240450" cy="1414873"/>
            </a:xfrm>
            <a:prstGeom prst="rect">
              <a:avLst/>
            </a:prstGeom>
          </p:spPr>
        </p:pic>
      </p:grpSp>
      <p:sp>
        <p:nvSpPr>
          <p:cNvPr id="466" name="textbox 466"/>
          <p:cNvSpPr/>
          <p:nvPr/>
        </p:nvSpPr>
        <p:spPr>
          <a:xfrm>
            <a:off x="1019432" y="4461967"/>
            <a:ext cx="3430904" cy="169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1700" b="1" kern="0" spc="3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数据团队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905" algn="l" rtl="0" eaLnBrk="0">
              <a:lnSpc>
                <a:spcPct val="136000"/>
              </a:lnSpc>
              <a:spcBef>
                <a:spcPts val="60"/>
              </a:spcBef>
            </a:pP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重复性指标开发工作多，</a:t>
            </a:r>
            <a:r>
              <a:rPr sz="14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13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疲于应对临时</a:t>
            </a:r>
            <a:r>
              <a:rPr sz="1400" b="1" kern="0" spc="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b="1" kern="0" spc="13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性的报表开发需求</a:t>
            </a:r>
            <a:r>
              <a:rPr sz="1400" kern="0" spc="13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kern="0" spc="-25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很多报表开发完甚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至只会被用一次就废弃了，</a:t>
            </a:r>
            <a:r>
              <a:rPr sz="14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难以真正将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企业的</a:t>
            </a:r>
            <a:r>
              <a:rPr sz="1400" b="1" kern="0" spc="1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数据资产沉淀为</a:t>
            </a:r>
            <a:r>
              <a:rPr sz="1400" b="1" kern="0" spc="-27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1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400" b="1" kern="0" spc="-26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1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</a:t>
            </a:r>
            <a:r>
              <a:rPr sz="1400" b="1" kern="0" spc="-19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1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能给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91000"/>
              </a:lnSpc>
              <a:spcBef>
                <a:spcPts val="5"/>
              </a:spcBef>
            </a:pP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业务团队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8" name="textbox 468"/>
          <p:cNvSpPr/>
          <p:nvPr/>
        </p:nvSpPr>
        <p:spPr>
          <a:xfrm>
            <a:off x="8441370" y="2847619"/>
            <a:ext cx="3279140" cy="1971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95000"/>
              </a:lnSpc>
            </a:pPr>
            <a:r>
              <a:rPr sz="1700" b="1" kern="0" spc="3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业务团队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118000"/>
              </a:lnSpc>
              <a:spcBef>
                <a:spcPts val="895"/>
              </a:spcBef>
            </a:pP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需要多维度的指标进行</a:t>
            </a:r>
            <a:r>
              <a:rPr sz="1400" b="1" kern="0" spc="14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精细化</a:t>
            </a:r>
            <a:r>
              <a:rPr sz="1400" b="1" kern="0" spc="13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运营与</a:t>
            </a:r>
            <a:r>
              <a:rPr sz="1400" b="1" kern="0" spc="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b="1" kern="0" spc="14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自助分析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kern="0" spc="-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r>
              <a:rPr sz="1400" b="1" kern="0" spc="14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门槛相对较</a:t>
            </a:r>
            <a:r>
              <a:rPr sz="1400" b="1" kern="0" spc="13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而且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需要对底表字段非常熟悉才能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上手，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ct val="91000"/>
              </a:lnSpc>
              <a:spcBef>
                <a:spcPts val="650"/>
              </a:spcBef>
            </a:pP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经常是依赖数据团队开发多维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报表，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8415" algn="l" rtl="0" eaLnBrk="0">
              <a:lnSpc>
                <a:spcPct val="120000"/>
              </a:lnSpc>
              <a:spcBef>
                <a:spcPts val="330"/>
              </a:spcBef>
            </a:pP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自行下载到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</a:t>
            </a:r>
            <a:r>
              <a:rPr sz="1400" kern="0" spc="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里分析并人工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得出结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论，</a:t>
            </a:r>
            <a:r>
              <a:rPr sz="14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13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得出有业务价值洞</a:t>
            </a:r>
            <a:r>
              <a:rPr sz="1400" b="1" kern="0" spc="12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见的效率低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0" name="textbox 470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2" name="textbox 472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4" name="textbox 474"/>
          <p:cNvSpPr/>
          <p:nvPr/>
        </p:nvSpPr>
        <p:spPr>
          <a:xfrm>
            <a:off x="599041" y="1588414"/>
            <a:ext cx="3554095" cy="169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</a:pPr>
            <a:r>
              <a:rPr sz="1700" b="1" kern="0" spc="3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管理团队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20000"/>
              </a:lnSpc>
              <a:spcBef>
                <a:spcPts val="635"/>
              </a:spcBef>
            </a:pPr>
            <a:r>
              <a:rPr sz="14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需要准确的指标进行</a:t>
            </a:r>
            <a:r>
              <a:rPr sz="1400" b="1" kern="0" spc="14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精细化管理与经营</a:t>
            </a:r>
            <a:r>
              <a:rPr sz="1400" b="1" kern="0" spc="13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</a:t>
            </a:r>
            <a:r>
              <a:rPr sz="1400" b="1" kern="0" spc="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13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传统的数据大屏只解决了固定形式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09855" algn="l" rtl="0" eaLnBrk="0">
              <a:lnSpc>
                <a:spcPct val="123000"/>
              </a:lnSpc>
              <a:spcBef>
                <a:spcPts val="340"/>
              </a:spcBef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“看数</a:t>
            </a:r>
            <a:r>
              <a:rPr sz="14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sz="14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的问题，</a:t>
            </a:r>
            <a:r>
              <a:rPr sz="14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但是一旦需要进行交互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式的</a:t>
            </a:r>
            <a:r>
              <a:rPr sz="1400" b="1" kern="0" spc="13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问答归因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依然是提需求给数据团队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开发报表，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12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决策效率因此受阻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6" name="textbox 476"/>
          <p:cNvSpPr/>
          <p:nvPr/>
        </p:nvSpPr>
        <p:spPr>
          <a:xfrm>
            <a:off x="551002" y="315315"/>
            <a:ext cx="3679190" cy="357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指标体系建设和应用的痛点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8" name="textbox 478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80" name="picture 4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box 482"/>
          <p:cNvSpPr/>
          <p:nvPr/>
        </p:nvSpPr>
        <p:spPr>
          <a:xfrm>
            <a:off x="1135280" y="1034860"/>
            <a:ext cx="10682605" cy="540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indent="1905" algn="l" rtl="0" eaLnBrk="0">
              <a:lnSpc>
                <a:spcPct val="104000"/>
              </a:lnSpc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</a:t>
            </a:r>
            <a:r>
              <a:rPr sz="1400" b="1" kern="0" spc="17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≠</a:t>
            </a:r>
            <a:r>
              <a:rPr sz="1400" b="1" kern="0" spc="12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Insight：</a:t>
            </a:r>
            <a:r>
              <a:rPr sz="1400" b="1" kern="0" spc="-27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"我们公司花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了很大精力建设了驾驶舱和各种大屏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，看起来很高端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，但数字并不等于见解。每次有具体问题，</a:t>
            </a:r>
            <a:r>
              <a:rPr sz="1400" kern="0" spc="-3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团队还得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回去挖数据、分析指标</a:t>
            </a:r>
            <a:r>
              <a:rPr sz="1400" kern="0" spc="-16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，周报变成了无尽的等待游戏"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605" indent="5715" algn="l" rtl="0" eaLnBrk="0">
              <a:lnSpc>
                <a:spcPct val="114000"/>
              </a:lnSpc>
              <a:spcBef>
                <a:spcPts val="145"/>
              </a:spcBef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Speed is</a:t>
            </a:r>
            <a:r>
              <a:rPr sz="1400" b="1" kern="0" spc="1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Everything：</a:t>
            </a:r>
            <a:r>
              <a:rPr sz="1400" b="1" kern="0" spc="-27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"每当董事会要求针对数据作出快速反应时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，我都希望能够立刻拿到结论</a:t>
            </a:r>
            <a:r>
              <a:rPr sz="1400" kern="0" spc="-2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，这个数据大屏却只能给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我表面的数，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深入分析还得是手工在数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仓里建作业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，太慢了"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4605" algn="l" rtl="0" eaLnBrk="0">
              <a:lnSpc>
                <a:spcPct val="114000"/>
              </a:lnSpc>
              <a:spcBef>
                <a:spcPts val="700"/>
              </a:spcBef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Golden Why Question：</a:t>
            </a:r>
            <a:r>
              <a:rPr sz="1400" b="1" kern="0" spc="19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"我们的驾驶舱解决了数据展示的问题</a:t>
            </a:r>
            <a:r>
              <a:rPr sz="1400" kern="0" spc="-2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，但未触及数据解释的关键。当涉及到业务背后的为什么时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，它似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乎没有答案"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indent="4445" algn="l" rtl="0" eaLnBrk="0">
              <a:lnSpc>
                <a:spcPct val="110000"/>
              </a:lnSpc>
              <a:spcBef>
                <a:spcPts val="430"/>
              </a:spcBef>
            </a:pPr>
            <a:r>
              <a:rPr sz="1400" b="1" kern="0" spc="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SQL学习难度高：</a:t>
            </a:r>
            <a:r>
              <a:rPr sz="1400" b="1" kern="0" spc="-28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"尽管我们有意愿深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挖数据背后的真相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，但SQL的复杂性让我们非技术人员望而却步。许多时间都浪费在了查询语言的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学习上</a:t>
            </a:r>
            <a:r>
              <a:rPr sz="1400" kern="0" spc="-19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，而不是洞察和行动"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70" indent="12700" algn="l" rtl="0" eaLnBrk="0">
              <a:lnSpc>
                <a:spcPct val="126000"/>
              </a:lnSpc>
              <a:spcBef>
                <a:spcPts val="695"/>
              </a:spcBef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BI报表配置难度高：</a:t>
            </a:r>
            <a:r>
              <a:rPr sz="1400" b="1" kern="0" spc="-28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"我们依赖BI工具来提供数据的可视化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，但每次都需要技术团队介入来配置数据集和报表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，它的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复杂程度令人沮丧"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大量时间花费在导出数据到Excel里输出结论：</a:t>
            </a:r>
            <a:r>
              <a:rPr sz="1400" b="1" kern="0" spc="14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"分析团队的日常就像Excel的奴隶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，时常花费大把时间将数据导入、整理和分析</a:t>
            </a:r>
            <a:r>
              <a:rPr sz="1400" kern="0" spc="-2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，这种重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复低效的工作限制了我们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对数据快速反馈的能力"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635" algn="l" rtl="0" eaLnBrk="0">
              <a:lnSpc>
                <a:spcPct val="110000"/>
              </a:lnSpc>
              <a:spcBef>
                <a:spcPts val="420"/>
              </a:spcBef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报表需求灵活多变</a:t>
            </a:r>
            <a:r>
              <a:rPr sz="1400" b="1" kern="0" spc="-24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，临时表冗余：</a:t>
            </a:r>
            <a:r>
              <a:rPr sz="1400" b="1" kern="0" spc="-27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"我们数据团队大部分时间都花在了应对业务部门多变的报表需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求上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，每次业务流程一变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，我们就得开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发各种临时表、</a:t>
            </a:r>
            <a:r>
              <a:rPr sz="1400" kern="0" spc="-3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中间表。这不仅效率低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，还很容易造成错误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，甚至有的表用一次就</a:t>
            </a: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废了"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10000"/>
              </a:lnSpc>
              <a:spcBef>
                <a:spcPts val="835"/>
              </a:spcBef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指标口径不一致：</a:t>
            </a:r>
            <a:r>
              <a:rPr sz="1400" b="1" kern="0" spc="-27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"虽然公司有众多部门在使用数据</a:t>
            </a:r>
            <a:r>
              <a:rPr sz="1400" kern="0" spc="-2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，但每个团队对同一指标的定义却截然不同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，没有统一的数据口径和解释标准。这种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kern="0" spc="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不一致性给跨部门的沟通和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决策带来了混乱"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-2540" algn="l" rtl="0" eaLnBrk="0">
              <a:lnSpc>
                <a:spcPct val="110000"/>
              </a:lnSpc>
              <a:spcBef>
                <a:spcPts val="5"/>
              </a:spcBef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难以实时响应业务新增指标需求：</a:t>
            </a:r>
            <a:r>
              <a:rPr sz="1400" b="1" kern="0" spc="16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"每次业务人员新增一个指标开发需求</a:t>
            </a:r>
            <a:r>
              <a:rPr sz="1400" kern="0" spc="-2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，都希望我们能半小时内提供相应的指标。现状是</a:t>
            </a:r>
            <a:r>
              <a:rPr sz="1400" kern="0" spc="-2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，虽然我们已</a:t>
            </a:r>
            <a:r>
              <a:rPr sz="1400" kern="0" spc="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经在数仓加班加点开发了</a:t>
            </a:r>
            <a:r>
              <a:rPr sz="1400" kern="0" spc="-22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，但还是被业务团队说反应慢</a:t>
            </a:r>
            <a:r>
              <a:rPr sz="1400" kern="0" spc="-20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，有苦说不出"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4" name="textbox 484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86" name="picture 4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488" name="textbox 488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0" name="textbox 490"/>
          <p:cNvSpPr/>
          <p:nvPr/>
        </p:nvSpPr>
        <p:spPr>
          <a:xfrm>
            <a:off x="551002" y="315315"/>
            <a:ext cx="4898390" cy="357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指标体系建设和应用痛点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的具体表述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2" name="textbox 492"/>
          <p:cNvSpPr/>
          <p:nvPr/>
        </p:nvSpPr>
        <p:spPr>
          <a:xfrm>
            <a:off x="571945" y="1551444"/>
            <a:ext cx="320040" cy="4307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315"/>
              </a:lnSpc>
            </a:pPr>
            <a:r>
              <a:rPr sz="2700" kern="0" spc="-40" baseline="-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40" baseline="-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</a:t>
            </a:r>
            <a:r>
              <a:rPr sz="2700" kern="0" spc="-40" baseline="7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40" baseline="7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2700" kern="0" spc="-40" baseline="7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r>
              <a:rPr sz="17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40" baseline="7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</a:t>
            </a:r>
            <a:endParaRPr sz="2700" baseline="7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4" name="textbox 494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6" name="picture 4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picture 4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8081797" y="1723555"/>
            <a:ext cx="326478" cy="303568"/>
            <a:chOff x="0" y="0"/>
            <a:chExt cx="326478" cy="303568"/>
          </a:xfrm>
        </p:grpSpPr>
        <p:pic>
          <p:nvPicPr>
            <p:cNvPr id="500" name="picture 5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26478" cy="303568"/>
            </a:xfrm>
            <a:prstGeom prst="rect">
              <a:avLst/>
            </a:prstGeom>
          </p:spPr>
        </p:pic>
        <p:sp>
          <p:nvSpPr>
            <p:cNvPr id="502" name="textbox 502"/>
            <p:cNvSpPr/>
            <p:nvPr/>
          </p:nvSpPr>
          <p:spPr>
            <a:xfrm>
              <a:off x="-12700" y="-12700"/>
              <a:ext cx="352425" cy="352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" algn="l" rtl="0" eaLnBrk="0">
                <a:lnSpc>
                  <a:spcPct val="72000"/>
                </a:lnSpc>
                <a:spcBef>
                  <a:spcPts val="5"/>
                </a:spcBef>
              </a:pPr>
              <a:r>
                <a:rPr sz="800" kern="0" spc="-10" dirty="0">
                  <a:solidFill>
                    <a:srgbClr val="000000">
                      <a:alpha val="100000"/>
                    </a:srgbClr>
                  </a:solidFill>
                  <a:latin typeface="Verdana" panose="020B0604030504040204"/>
                  <a:ea typeface="Verdana" panose="020B0604030504040204"/>
                  <a:cs typeface="Verdana" panose="020B0604030504040204"/>
                </a:rPr>
                <a:t>c</a:t>
              </a:r>
              <a:endParaRPr sz="800" dirty="0">
                <a:latin typeface="Verdana" panose="020B0604030504040204"/>
                <a:ea typeface="Verdana" panose="020B0604030504040204"/>
                <a:cs typeface="Verdana" panose="020B0604030504040204"/>
              </a:endParaRPr>
            </a:p>
          </p:txBody>
        </p:sp>
      </p:grpSp>
      <p:sp>
        <p:nvSpPr>
          <p:cNvPr id="504" name="path 504"/>
          <p:cNvSpPr/>
          <p:nvPr/>
        </p:nvSpPr>
        <p:spPr>
          <a:xfrm>
            <a:off x="5869457" y="1700695"/>
            <a:ext cx="326478" cy="303567"/>
          </a:xfrm>
          <a:custGeom>
            <a:avLst/>
            <a:gdLst/>
            <a:ahLst/>
            <a:cxnLst/>
            <a:rect l="0" t="0" r="0" b="0"/>
            <a:pathLst>
              <a:path w="514" h="478">
                <a:moveTo>
                  <a:pt x="402" y="357"/>
                </a:moveTo>
                <a:cubicBezTo>
                  <a:pt x="335" y="333"/>
                  <a:pt x="313" y="313"/>
                  <a:pt x="313" y="270"/>
                </a:cubicBezTo>
                <a:cubicBezTo>
                  <a:pt x="313" y="244"/>
                  <a:pt x="334" y="252"/>
                  <a:pt x="343" y="205"/>
                </a:cubicBezTo>
                <a:cubicBezTo>
                  <a:pt x="346" y="185"/>
                  <a:pt x="365" y="204"/>
                  <a:pt x="368" y="160"/>
                </a:cubicBezTo>
                <a:cubicBezTo>
                  <a:pt x="368" y="142"/>
                  <a:pt x="358" y="137"/>
                  <a:pt x="358" y="137"/>
                </a:cubicBezTo>
                <a:cubicBezTo>
                  <a:pt x="358" y="137"/>
                  <a:pt x="363" y="111"/>
                  <a:pt x="365" y="90"/>
                </a:cubicBezTo>
                <a:cubicBezTo>
                  <a:pt x="368" y="65"/>
                  <a:pt x="350" y="0"/>
                  <a:pt x="257" y="0"/>
                </a:cubicBezTo>
                <a:cubicBezTo>
                  <a:pt x="163" y="0"/>
                  <a:pt x="145" y="65"/>
                  <a:pt x="148" y="90"/>
                </a:cubicBezTo>
                <a:cubicBezTo>
                  <a:pt x="150" y="111"/>
                  <a:pt x="155" y="137"/>
                  <a:pt x="155" y="137"/>
                </a:cubicBezTo>
                <a:cubicBezTo>
                  <a:pt x="155" y="137"/>
                  <a:pt x="145" y="142"/>
                  <a:pt x="145" y="160"/>
                </a:cubicBezTo>
                <a:cubicBezTo>
                  <a:pt x="148" y="204"/>
                  <a:pt x="167" y="185"/>
                  <a:pt x="170" y="205"/>
                </a:cubicBezTo>
                <a:cubicBezTo>
                  <a:pt x="179" y="252"/>
                  <a:pt x="200" y="244"/>
                  <a:pt x="200" y="270"/>
                </a:cubicBezTo>
                <a:cubicBezTo>
                  <a:pt x="200" y="313"/>
                  <a:pt x="179" y="333"/>
                  <a:pt x="111" y="357"/>
                </a:cubicBezTo>
                <a:cubicBezTo>
                  <a:pt x="43" y="381"/>
                  <a:pt x="0" y="405"/>
                  <a:pt x="0" y="422"/>
                </a:cubicBezTo>
                <a:cubicBezTo>
                  <a:pt x="0" y="438"/>
                  <a:pt x="0" y="478"/>
                  <a:pt x="0" y="478"/>
                </a:cubicBezTo>
                <a:lnTo>
                  <a:pt x="257" y="478"/>
                </a:lnTo>
                <a:lnTo>
                  <a:pt x="514" y="478"/>
                </a:lnTo>
                <a:cubicBezTo>
                  <a:pt x="514" y="478"/>
                  <a:pt x="514" y="438"/>
                  <a:pt x="514" y="422"/>
                </a:cubicBezTo>
                <a:cubicBezTo>
                  <a:pt x="514" y="405"/>
                  <a:pt x="470" y="381"/>
                  <a:pt x="402" y="357"/>
                </a:cubicBezTo>
              </a:path>
            </a:pathLst>
          </a:custGeom>
          <a:solidFill>
            <a:srgbClr val="70AD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6" name="textbox 506"/>
          <p:cNvSpPr/>
          <p:nvPr/>
        </p:nvSpPr>
        <p:spPr>
          <a:xfrm>
            <a:off x="6146342" y="1209675"/>
            <a:ext cx="1799589" cy="734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7695" algn="l" rtl="0" eaLnBrk="0">
              <a:lnSpc>
                <a:spcPts val="2230"/>
              </a:lnSpc>
              <a:spcBef>
                <a:spcPts val="0"/>
              </a:spcBef>
              <a:tabLst>
                <a:tab pos="72771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08" name="picture 5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265923" y="1222375"/>
            <a:ext cx="665479" cy="623570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59042" y="1247444"/>
            <a:ext cx="595058" cy="628840"/>
          </a:xfrm>
          <a:prstGeom prst="rect">
            <a:avLst/>
          </a:prstGeom>
        </p:spPr>
      </p:pic>
      <p:sp>
        <p:nvSpPr>
          <p:cNvPr id="512" name="textbox 512"/>
          <p:cNvSpPr/>
          <p:nvPr/>
        </p:nvSpPr>
        <p:spPr>
          <a:xfrm>
            <a:off x="4402416" y="2583675"/>
            <a:ext cx="1158239" cy="1328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800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大数据管理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19380" algn="l" rtl="0" eaLnBrk="0">
              <a:lnSpc>
                <a:spcPts val="3045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工程师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  <a:spcBef>
                <a:spcPts val="0"/>
              </a:spcBef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数据工程师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10004425" y="1700529"/>
            <a:ext cx="326390" cy="290829"/>
            <a:chOff x="0" y="0"/>
            <a:chExt cx="326390" cy="290829"/>
          </a:xfrm>
        </p:grpSpPr>
        <p:pic>
          <p:nvPicPr>
            <p:cNvPr id="514" name="picture 5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26390" cy="290829"/>
            </a:xfrm>
            <a:prstGeom prst="rect">
              <a:avLst/>
            </a:prstGeom>
          </p:spPr>
        </p:pic>
        <p:sp>
          <p:nvSpPr>
            <p:cNvPr id="516" name="textbox 516"/>
            <p:cNvSpPr/>
            <p:nvPr/>
          </p:nvSpPr>
          <p:spPr>
            <a:xfrm>
              <a:off x="-12700" y="-12700"/>
              <a:ext cx="352425" cy="3397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7780" algn="l" rtl="0" eaLnBrk="0">
                <a:lnSpc>
                  <a:spcPct val="72000"/>
                </a:lnSpc>
              </a:pPr>
              <a:r>
                <a:rPr sz="800" kern="0" spc="-10" dirty="0">
                  <a:solidFill>
                    <a:srgbClr val="000000">
                      <a:alpha val="100000"/>
                    </a:srgbClr>
                  </a:solidFill>
                  <a:latin typeface="Verdana" panose="020B0604030504040204"/>
                  <a:ea typeface="Verdana" panose="020B0604030504040204"/>
                  <a:cs typeface="Verdana" panose="020B0604030504040204"/>
                </a:rPr>
                <a:t>c</a:t>
              </a:r>
              <a:endParaRPr sz="800" dirty="0">
                <a:latin typeface="Verdana" panose="020B0604030504040204"/>
                <a:ea typeface="Verdana" panose="020B0604030504040204"/>
                <a:cs typeface="Verdana" panose="020B0604030504040204"/>
              </a:endParaRPr>
            </a:p>
          </p:txBody>
        </p:sp>
      </p:grpSp>
      <p:sp>
        <p:nvSpPr>
          <p:cNvPr id="518" name="textbox 518"/>
          <p:cNvSpPr/>
          <p:nvPr/>
        </p:nvSpPr>
        <p:spPr>
          <a:xfrm>
            <a:off x="6912014" y="2970771"/>
            <a:ext cx="1158239" cy="911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数据分析师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19380" algn="l" rtl="0" eaLnBrk="0">
              <a:lnSpc>
                <a:spcPts val="518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工程师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20" name="picture 5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48294" y="1776679"/>
            <a:ext cx="1444625" cy="182511"/>
          </a:xfrm>
          <a:prstGeom prst="rect">
            <a:avLst/>
          </a:prstGeom>
        </p:spPr>
      </p:pic>
      <p:pic>
        <p:nvPicPr>
          <p:cNvPr id="522" name="picture 5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92451" y="5216652"/>
            <a:ext cx="2423032" cy="260603"/>
          </a:xfrm>
          <a:prstGeom prst="rect">
            <a:avLst/>
          </a:prstGeom>
        </p:spPr>
      </p:pic>
      <p:sp>
        <p:nvSpPr>
          <p:cNvPr id="524" name="textbox 524"/>
          <p:cNvSpPr/>
          <p:nvPr/>
        </p:nvSpPr>
        <p:spPr>
          <a:xfrm>
            <a:off x="1618703" y="5786297"/>
            <a:ext cx="3790315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数据工程师             大数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据管理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26" name="picture 5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179564" y="5000244"/>
            <a:ext cx="905255" cy="626363"/>
          </a:xfrm>
          <a:prstGeom prst="rect">
            <a:avLst/>
          </a:prstGeom>
        </p:spPr>
      </p:pic>
      <p:sp>
        <p:nvSpPr>
          <p:cNvPr id="528" name="textbox 528"/>
          <p:cNvSpPr/>
          <p:nvPr/>
        </p:nvSpPr>
        <p:spPr>
          <a:xfrm>
            <a:off x="9486189" y="2583675"/>
            <a:ext cx="1158239" cy="1329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6380" algn="l" rtl="0" eaLnBrk="0">
              <a:lnSpc>
                <a:spcPct val="88000"/>
              </a:lnSpc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决策者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3825" algn="l" rtl="0" eaLnBrk="0">
              <a:lnSpc>
                <a:spcPts val="3045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业务人员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  <a:spcBef>
                <a:spcPts val="0"/>
              </a:spcBef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数据分析师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30" name="picture 5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235575" y="5322570"/>
            <a:ext cx="1812290" cy="76200"/>
          </a:xfrm>
          <a:prstGeom prst="rect">
            <a:avLst/>
          </a:prstGeom>
        </p:spPr>
      </p:pic>
      <p:pic>
        <p:nvPicPr>
          <p:cNvPr id="532" name="picture 5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237067" y="5316435"/>
            <a:ext cx="1735569" cy="76200"/>
          </a:xfrm>
          <a:prstGeom prst="rect">
            <a:avLst/>
          </a:prstGeom>
        </p:spPr>
      </p:pic>
      <p:sp>
        <p:nvSpPr>
          <p:cNvPr id="534" name="textbox 534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6" name="textbox 536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8" name="textbox 538"/>
          <p:cNvSpPr/>
          <p:nvPr/>
        </p:nvSpPr>
        <p:spPr>
          <a:xfrm>
            <a:off x="606831" y="1757184"/>
            <a:ext cx="1010285" cy="3815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220"/>
              </a:lnSpc>
            </a:pPr>
            <a:r>
              <a:rPr sz="1700" kern="0" spc="40" dirty="0">
                <a:solidFill>
                  <a:srgbClr val="4472C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Before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100000"/>
              </a:lnSpc>
              <a:spcBef>
                <a:spcPts val="515"/>
              </a:spcBef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100000"/>
              </a:lnSpc>
              <a:spcBef>
                <a:spcPts val="515"/>
              </a:spcBef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7945" algn="l" rtl="0" eaLnBrk="0">
              <a:lnSpc>
                <a:spcPts val="2220"/>
              </a:lnSpc>
              <a:spcBef>
                <a:spcPts val="0"/>
              </a:spcBef>
            </a:pPr>
            <a:r>
              <a:rPr sz="1700" kern="0" spc="40" dirty="0">
                <a:solidFill>
                  <a:srgbClr val="4472C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After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0" name="path 540"/>
          <p:cNvSpPr/>
          <p:nvPr/>
        </p:nvSpPr>
        <p:spPr>
          <a:xfrm>
            <a:off x="3577983" y="1676565"/>
            <a:ext cx="326478" cy="303567"/>
          </a:xfrm>
          <a:custGeom>
            <a:avLst/>
            <a:gdLst/>
            <a:ahLst/>
            <a:cxnLst/>
            <a:rect l="0" t="0" r="0" b="0"/>
            <a:pathLst>
              <a:path w="514" h="478">
                <a:moveTo>
                  <a:pt x="402" y="357"/>
                </a:moveTo>
                <a:cubicBezTo>
                  <a:pt x="335" y="333"/>
                  <a:pt x="313" y="313"/>
                  <a:pt x="313" y="270"/>
                </a:cubicBezTo>
                <a:cubicBezTo>
                  <a:pt x="313" y="244"/>
                  <a:pt x="334" y="252"/>
                  <a:pt x="343" y="205"/>
                </a:cubicBezTo>
                <a:cubicBezTo>
                  <a:pt x="346" y="185"/>
                  <a:pt x="365" y="204"/>
                  <a:pt x="368" y="160"/>
                </a:cubicBezTo>
                <a:cubicBezTo>
                  <a:pt x="368" y="142"/>
                  <a:pt x="358" y="137"/>
                  <a:pt x="358" y="137"/>
                </a:cubicBezTo>
                <a:cubicBezTo>
                  <a:pt x="358" y="137"/>
                  <a:pt x="363" y="111"/>
                  <a:pt x="365" y="90"/>
                </a:cubicBezTo>
                <a:cubicBezTo>
                  <a:pt x="368" y="65"/>
                  <a:pt x="350" y="0"/>
                  <a:pt x="257" y="0"/>
                </a:cubicBezTo>
                <a:cubicBezTo>
                  <a:pt x="163" y="0"/>
                  <a:pt x="145" y="65"/>
                  <a:pt x="148" y="90"/>
                </a:cubicBezTo>
                <a:cubicBezTo>
                  <a:pt x="150" y="111"/>
                  <a:pt x="155" y="137"/>
                  <a:pt x="155" y="137"/>
                </a:cubicBezTo>
                <a:cubicBezTo>
                  <a:pt x="155" y="137"/>
                  <a:pt x="145" y="142"/>
                  <a:pt x="145" y="160"/>
                </a:cubicBezTo>
                <a:cubicBezTo>
                  <a:pt x="148" y="204"/>
                  <a:pt x="167" y="185"/>
                  <a:pt x="170" y="205"/>
                </a:cubicBezTo>
                <a:cubicBezTo>
                  <a:pt x="179" y="252"/>
                  <a:pt x="200" y="244"/>
                  <a:pt x="200" y="270"/>
                </a:cubicBezTo>
                <a:cubicBezTo>
                  <a:pt x="200" y="313"/>
                  <a:pt x="178" y="333"/>
                  <a:pt x="111" y="357"/>
                </a:cubicBezTo>
                <a:cubicBezTo>
                  <a:pt x="43" y="381"/>
                  <a:pt x="0" y="405"/>
                  <a:pt x="0" y="422"/>
                </a:cubicBezTo>
                <a:cubicBezTo>
                  <a:pt x="0" y="438"/>
                  <a:pt x="0" y="478"/>
                  <a:pt x="0" y="478"/>
                </a:cubicBezTo>
                <a:lnTo>
                  <a:pt x="257" y="478"/>
                </a:lnTo>
                <a:lnTo>
                  <a:pt x="514" y="478"/>
                </a:lnTo>
                <a:cubicBezTo>
                  <a:pt x="514" y="478"/>
                  <a:pt x="514" y="438"/>
                  <a:pt x="514" y="422"/>
                </a:cubicBezTo>
                <a:cubicBezTo>
                  <a:pt x="514" y="405"/>
                  <a:pt x="470" y="381"/>
                  <a:pt x="402" y="357"/>
                </a:cubicBezTo>
              </a:path>
            </a:pathLst>
          </a:cu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2" name="textbox 542"/>
          <p:cNvSpPr/>
          <p:nvPr/>
        </p:nvSpPr>
        <p:spPr>
          <a:xfrm>
            <a:off x="551002" y="315315"/>
            <a:ext cx="4898390" cy="357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指标体系建设和应用痛点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问题的抽象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44" name="picture 5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550414" y="1776679"/>
            <a:ext cx="911859" cy="182511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115917" y="1776679"/>
            <a:ext cx="1713001" cy="182511"/>
          </a:xfrm>
          <a:prstGeom prst="rect">
            <a:avLst/>
          </a:prstGeom>
        </p:spPr>
      </p:pic>
      <p:sp>
        <p:nvSpPr>
          <p:cNvPr id="548" name="textbox 548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0" name="textbox 550"/>
          <p:cNvSpPr/>
          <p:nvPr/>
        </p:nvSpPr>
        <p:spPr>
          <a:xfrm>
            <a:off x="9756812" y="5786932"/>
            <a:ext cx="932180" cy="647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4620" algn="l" rtl="0" eaLnBrk="0">
              <a:lnSpc>
                <a:spcPct val="88000"/>
              </a:lnSpc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决策者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ts val="310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业务人员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52" name="picture 5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pic>
        <p:nvPicPr>
          <p:cNvPr id="554" name="picture 5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722364" y="1014984"/>
            <a:ext cx="541019" cy="489203"/>
          </a:xfrm>
          <a:prstGeom prst="rect">
            <a:avLst/>
          </a:prstGeom>
        </p:spPr>
      </p:pic>
      <p:sp>
        <p:nvSpPr>
          <p:cNvPr id="556" name="textbox 556"/>
          <p:cNvSpPr/>
          <p:nvPr/>
        </p:nvSpPr>
        <p:spPr>
          <a:xfrm>
            <a:off x="4659376" y="5124932"/>
            <a:ext cx="474980" cy="560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175" algn="l" rtl="0" eaLnBrk="0">
              <a:lnSpc>
                <a:spcPct val="103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指标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8" name="textbox 558"/>
          <p:cNvSpPr/>
          <p:nvPr/>
        </p:nvSpPr>
        <p:spPr>
          <a:xfrm>
            <a:off x="1726628" y="2181720"/>
            <a:ext cx="935355" cy="307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22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Database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60" name="picture 56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197447" y="1903310"/>
            <a:ext cx="1735569" cy="76200"/>
          </a:xfrm>
          <a:prstGeom prst="rect">
            <a:avLst/>
          </a:prstGeom>
        </p:spPr>
      </p:pic>
      <p:pic>
        <p:nvPicPr>
          <p:cNvPr id="562" name="picture 56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0059822" y="5204624"/>
            <a:ext cx="326478" cy="303568"/>
          </a:xfrm>
          <a:prstGeom prst="rect">
            <a:avLst/>
          </a:prstGeom>
        </p:spPr>
      </p:pic>
      <p:pic>
        <p:nvPicPr>
          <p:cNvPr id="564" name="picture 56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055876" y="1685544"/>
            <a:ext cx="272795" cy="2606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picture 5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68" name="textbox 568"/>
          <p:cNvSpPr/>
          <p:nvPr/>
        </p:nvSpPr>
        <p:spPr>
          <a:xfrm>
            <a:off x="307644" y="1945309"/>
            <a:ext cx="11678284" cy="4764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6205" algn="l" rtl="0" eaLnBrk="0">
              <a:lnSpc>
                <a:spcPct val="85000"/>
              </a:lnSpc>
            </a:pPr>
            <a:r>
              <a:rPr sz="8000" b="1" kern="0" spc="-1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8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5090" algn="l" rtl="0" eaLnBrk="0">
              <a:lnSpc>
                <a:spcPct val="92000"/>
              </a:lnSpc>
              <a:spcBef>
                <a:spcPts val="1595"/>
              </a:spcBef>
            </a:pPr>
            <a:r>
              <a:rPr sz="53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解法</a:t>
            </a:r>
            <a:endParaRPr sz="5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490"/>
              </a:lnSpc>
              <a:spcBef>
                <a:spcPts val="0"/>
              </a:spcBef>
            </a:pP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DataFunSummit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sz="4400" kern="0" spc="2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2024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4400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endParaRPr sz="4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70" name="picture 5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37368" y="6284455"/>
            <a:ext cx="1658543" cy="273736"/>
          </a:xfrm>
          <a:prstGeom prst="rect">
            <a:avLst/>
          </a:prstGeom>
        </p:spPr>
      </p:pic>
      <p:sp>
        <p:nvSpPr>
          <p:cNvPr id="572" name="textbox 572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4" name="textbox 574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6" name="textbox 576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picture 5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580" name="textbox 580"/>
          <p:cNvSpPr/>
          <p:nvPr/>
        </p:nvSpPr>
        <p:spPr>
          <a:xfrm>
            <a:off x="551002" y="259536"/>
            <a:ext cx="759142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00"/>
              </a:lnSpc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指标体系建设和应用痛点的解法（数据右移、</a:t>
            </a:r>
            <a:r>
              <a:rPr sz="2300" kern="0" spc="-5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角色解耦）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2" name="textbox 582"/>
          <p:cNvSpPr/>
          <p:nvPr/>
        </p:nvSpPr>
        <p:spPr>
          <a:xfrm>
            <a:off x="539496" y="4091940"/>
            <a:ext cx="11255375" cy="2433954"/>
          </a:xfrm>
          <a:prstGeom prst="rect">
            <a:avLst/>
          </a:pr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8110" algn="l" rtl="0" eaLnBrk="0">
              <a:lnSpc>
                <a:spcPct val="96000"/>
              </a:lnSpc>
              <a:spcBef>
                <a:spcPts val="0"/>
              </a:spcBef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企业通过“数据右移”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赋予非技术用户前所未有的洞察力。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4615" indent="12065" algn="l" rtl="0" eaLnBrk="0">
              <a:lnSpc>
                <a:spcPct val="149000"/>
              </a:lnSpc>
              <a:spcBef>
                <a:spcPts val="395"/>
              </a:spcBef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“数据右移”揭示了数据民主化的力量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以及如何通过智能工具来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简化决策过程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同时释放数据分析团队的资源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，使他们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能够专注于公司更高层次的战略任务。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3345" indent="13335" algn="l" rtl="0" eaLnBrk="0">
              <a:lnSpc>
                <a:spcPct val="128000"/>
              </a:lnSpc>
              <a:spcBef>
                <a:spcPts val="1155"/>
              </a:spcBef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当数据被孤立在不同的系统中时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，公司会错失创收机会；</a:t>
            </a:r>
            <a:r>
              <a:rPr sz="15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当使用错误或不完整的信息时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，公司会做出糟糕的决策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因此寻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找企业的单一数据源将是重点。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8425" algn="l" rtl="0" eaLnBrk="0">
              <a:lnSpc>
                <a:spcPct val="97000"/>
              </a:lnSpc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人工智能分析的未来发展方向会是用于数据工程师的数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据栈将与服务于非技术背景用户的新兴数据右移解决方案并存。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4" name="textbox 584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6" name="textbox 586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554037" y="1564957"/>
            <a:ext cx="3517900" cy="1970405"/>
            <a:chOff x="0" y="0"/>
            <a:chExt cx="3517900" cy="1970405"/>
          </a:xfrm>
        </p:grpSpPr>
        <p:pic>
          <p:nvPicPr>
            <p:cNvPr id="588" name="picture 58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17900" cy="1970405"/>
            </a:xfrm>
            <a:prstGeom prst="rect">
              <a:avLst/>
            </a:prstGeom>
          </p:spPr>
        </p:pic>
        <p:sp>
          <p:nvSpPr>
            <p:cNvPr id="590" name="textbox 590"/>
            <p:cNvSpPr/>
            <p:nvPr/>
          </p:nvSpPr>
          <p:spPr>
            <a:xfrm>
              <a:off x="-12700" y="-12700"/>
              <a:ext cx="3543300" cy="19964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6075" algn="l" rtl="0" eaLnBrk="0">
                <a:lnSpc>
                  <a:spcPct val="95000"/>
                </a:lnSpc>
              </a:pPr>
              <a:r>
                <a:rPr sz="1800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数据右移</a:t>
              </a:r>
              <a:endParaRPr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27685" algn="l" rtl="0" eaLnBrk="0">
                <a:lnSpc>
                  <a:spcPct val="88000"/>
                </a:lnSpc>
                <a:spcBef>
                  <a:spcPts val="515"/>
                </a:spcBef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数据建模右移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527685" algn="l" rtl="0" eaLnBrk="0">
                <a:lnSpc>
                  <a:spcPts val="4320"/>
                </a:lnSpc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数据解读右移</a:t>
              </a:r>
              <a:endParaRPr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92" name="textbox 592"/>
          <p:cNvSpPr/>
          <p:nvPr/>
        </p:nvSpPr>
        <p:spPr>
          <a:xfrm>
            <a:off x="5039677" y="1564957"/>
            <a:ext cx="2505710" cy="517525"/>
          </a:xfrm>
          <a:prstGeom prst="rect">
            <a:avLst/>
          </a:prstGeom>
          <a:solidFill>
            <a:srgbClr val="3684C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8285" algn="l" rtl="0" eaLnBrk="0">
              <a:lnSpc>
                <a:spcPct val="95000"/>
              </a:lnSpc>
              <a:spcBef>
                <a:spcPts val="5"/>
              </a:spcBef>
            </a:pPr>
            <a:r>
              <a:rPr sz="18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角色解耦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4" name="textbox 594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96" name="picture 5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textbox 598"/>
          <p:cNvSpPr/>
          <p:nvPr/>
        </p:nvSpPr>
        <p:spPr>
          <a:xfrm>
            <a:off x="2271547" y="1452702"/>
            <a:ext cx="7066915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数据语义建在数仓      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0" name="picture 6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469282" y="1486534"/>
            <a:ext cx="4817745" cy="171450"/>
          </a:xfrm>
          <a:prstGeom prst="rect">
            <a:avLst/>
          </a:prstGeom>
        </p:spPr>
      </p:pic>
      <p:sp>
        <p:nvSpPr>
          <p:cNvPr id="602" name="textbox 602"/>
          <p:cNvSpPr/>
          <p:nvPr/>
        </p:nvSpPr>
        <p:spPr>
          <a:xfrm>
            <a:off x="551002" y="259536"/>
            <a:ext cx="759142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00"/>
              </a:lnSpc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指标体系建设和应用痛点的解法（数据右移、</a:t>
            </a:r>
            <a:r>
              <a:rPr sz="2300" kern="0" spc="-5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角色解耦）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4" name="picture 6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606" name="textbox 606"/>
          <p:cNvSpPr/>
          <p:nvPr/>
        </p:nvSpPr>
        <p:spPr>
          <a:xfrm>
            <a:off x="3080542" y="5830106"/>
            <a:ext cx="7395844" cy="219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数据仓库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DW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            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数据仓库集市层                                              数据应用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8" name="picture 6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16045" y="2983991"/>
            <a:ext cx="633183" cy="2247849"/>
          </a:xfrm>
          <a:prstGeom prst="rect">
            <a:avLst/>
          </a:prstGeom>
        </p:spPr>
      </p:pic>
      <p:sp>
        <p:nvSpPr>
          <p:cNvPr id="610" name="rect 610"/>
          <p:cNvSpPr/>
          <p:nvPr/>
        </p:nvSpPr>
        <p:spPr>
          <a:xfrm>
            <a:off x="5873495" y="4998720"/>
            <a:ext cx="1011935" cy="477011"/>
          </a:xfrm>
          <a:prstGeom prst="rect">
            <a:avLst/>
          </a:prstGeom>
          <a:solidFill>
            <a:srgbClr val="1353B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2" name="rect 612"/>
          <p:cNvSpPr/>
          <p:nvPr/>
        </p:nvSpPr>
        <p:spPr>
          <a:xfrm>
            <a:off x="6254495" y="4998720"/>
            <a:ext cx="1191768" cy="477011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5871971" y="2738628"/>
            <a:ext cx="1566672" cy="477011"/>
            <a:chOff x="0" y="0"/>
            <a:chExt cx="1566672" cy="477011"/>
          </a:xfrm>
        </p:grpSpPr>
        <p:sp>
          <p:nvSpPr>
            <p:cNvPr id="614" name="path 614"/>
            <p:cNvSpPr/>
            <p:nvPr/>
          </p:nvSpPr>
          <p:spPr>
            <a:xfrm>
              <a:off x="0" y="0"/>
              <a:ext cx="1004316" cy="477011"/>
            </a:xfrm>
            <a:custGeom>
              <a:avLst/>
              <a:gdLst/>
              <a:ahLst/>
              <a:cxnLst/>
              <a:rect l="0" t="0" r="0" b="0"/>
              <a:pathLst>
                <a:path w="1581" h="751">
                  <a:moveTo>
                    <a:pt x="0" y="0"/>
                  </a:moveTo>
                  <a:lnTo>
                    <a:pt x="1581" y="0"/>
                  </a:lnTo>
                  <a:lnTo>
                    <a:pt x="1581" y="751"/>
                  </a:lnTo>
                  <a:lnTo>
                    <a:pt x="0" y="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16" name="path 616"/>
            <p:cNvSpPr/>
            <p:nvPr/>
          </p:nvSpPr>
          <p:spPr>
            <a:xfrm>
              <a:off x="1004316" y="0"/>
              <a:ext cx="562356" cy="477011"/>
            </a:xfrm>
            <a:custGeom>
              <a:avLst/>
              <a:gdLst/>
              <a:ahLst/>
              <a:cxnLst/>
              <a:rect l="0" t="0" r="0" b="0"/>
              <a:pathLst>
                <a:path w="885" h="751">
                  <a:moveTo>
                    <a:pt x="0" y="0"/>
                  </a:moveTo>
                  <a:lnTo>
                    <a:pt x="885" y="0"/>
                  </a:lnTo>
                  <a:lnTo>
                    <a:pt x="885" y="751"/>
                  </a:lnTo>
                  <a:lnTo>
                    <a:pt x="0" y="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618" name="table 618"/>
          <p:cNvGraphicFramePr>
            <a:graphicFrameLocks noGrp="1"/>
          </p:cNvGraphicFramePr>
          <p:nvPr/>
        </p:nvGraphicFramePr>
        <p:xfrm>
          <a:off x="5587364" y="2441650"/>
          <a:ext cx="2092324" cy="3282950"/>
        </p:xfrm>
        <a:graphic>
          <a:graphicData uri="http://schemas.openxmlformats.org/drawingml/2006/table">
            <a:tbl>
              <a:tblPr/>
              <a:tblGrid>
                <a:gridCol w="2092324"/>
              </a:tblGrid>
              <a:tr h="3276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80720" algn="l" rtl="0" eaLnBrk="0">
                        <a:lnSpc>
                          <a:spcPct val="99000"/>
                        </a:lnSpc>
                      </a:pPr>
                      <a:r>
                        <a:rPr sz="9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数据应用表1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2755" algn="l" rtl="0" eaLnBrk="0">
                        <a:lnSpc>
                          <a:spcPct val="99000"/>
                        </a:lnSpc>
                        <a:spcBef>
                          <a:spcPts val="270"/>
                        </a:spcBef>
                      </a:pPr>
                      <a:r>
                        <a:rPr sz="9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事实维度宽表 V2 0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5750" algn="l" rtl="0" eaLnBrk="0">
                        <a:lnSpc>
                          <a:spcPct val="99000"/>
                        </a:lnSpc>
                        <a:tabLst>
                          <a:tab pos="680085" algn="l"/>
                        </a:tabLst>
                      </a:pPr>
                      <a:r>
                        <a:rPr sz="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9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数据应用表n</a:t>
                      </a:r>
                      <a:r>
                        <a:rPr sz="9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</a:t>
                      </a:r>
                      <a:r>
                        <a:rPr sz="9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20" name="picture 6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084444" y="2451811"/>
            <a:ext cx="12700" cy="3251200"/>
          </a:xfrm>
          <a:prstGeom prst="rect">
            <a:avLst/>
          </a:prstGeom>
        </p:spPr>
      </p:pic>
      <p:pic>
        <p:nvPicPr>
          <p:cNvPr id="622" name="picture 6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898085" y="2824962"/>
            <a:ext cx="973124" cy="270624"/>
          </a:xfrm>
          <a:prstGeom prst="rect">
            <a:avLst/>
          </a:prstGeom>
        </p:spPr>
      </p:pic>
      <p:pic>
        <p:nvPicPr>
          <p:cNvPr id="624" name="picture 6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418306" y="2700528"/>
            <a:ext cx="2452903" cy="1067460"/>
          </a:xfrm>
          <a:prstGeom prst="rect">
            <a:avLst/>
          </a:prstGeom>
        </p:spPr>
      </p:pic>
      <p:pic>
        <p:nvPicPr>
          <p:cNvPr id="626" name="picture 6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766081" y="3091891"/>
            <a:ext cx="1115923" cy="2284882"/>
          </a:xfrm>
          <a:prstGeom prst="rect">
            <a:avLst/>
          </a:prstGeom>
        </p:spPr>
      </p:pic>
      <p:pic>
        <p:nvPicPr>
          <p:cNvPr id="628" name="picture 6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418980" y="4470641"/>
            <a:ext cx="2454769" cy="979182"/>
          </a:xfrm>
          <a:prstGeom prst="rect">
            <a:avLst/>
          </a:prstGeom>
        </p:spPr>
      </p:pic>
      <p:graphicFrame>
        <p:nvGraphicFramePr>
          <p:cNvPr id="630" name="table 630"/>
          <p:cNvGraphicFramePr>
            <a:graphicFrameLocks noGrp="1"/>
          </p:cNvGraphicFramePr>
          <p:nvPr/>
        </p:nvGraphicFramePr>
        <p:xfrm>
          <a:off x="2240279" y="2218690"/>
          <a:ext cx="5610860" cy="3873500"/>
        </p:xfrm>
        <a:graphic>
          <a:graphicData uri="http://schemas.openxmlformats.org/drawingml/2006/table">
            <a:tbl>
              <a:tblPr/>
              <a:tblGrid>
                <a:gridCol w="5610860"/>
              </a:tblGrid>
              <a:tr h="3867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73580" algn="l" rtl="0" eaLnBrk="0">
                        <a:lnSpc>
                          <a:spcPct val="99000"/>
                        </a:lnSpc>
                      </a:pPr>
                      <a:r>
                        <a:rPr sz="9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维度宽表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34210" algn="l" rtl="0" eaLnBrk="0">
                        <a:lnSpc>
                          <a:spcPct val="91000"/>
                        </a:lnSpc>
                        <a:spcBef>
                          <a:spcPts val="280"/>
                        </a:spcBef>
                      </a:pPr>
                      <a:r>
                        <a:rPr sz="9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带有维度的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34210" algn="l" rtl="0" eaLnBrk="0">
                        <a:lnSpc>
                          <a:spcPts val="1200"/>
                        </a:lnSpc>
                      </a:pPr>
                      <a:r>
                        <a:rPr sz="9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轻度汇总表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32" name="textbox 632"/>
          <p:cNvSpPr/>
          <p:nvPr/>
        </p:nvSpPr>
        <p:spPr>
          <a:xfrm>
            <a:off x="2584704" y="5013959"/>
            <a:ext cx="836930" cy="330834"/>
          </a:xfrm>
          <a:prstGeom prst="rect">
            <a:avLst/>
          </a:prstGeom>
          <a:solidFill>
            <a:srgbClr val="1353B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0" algn="l" rtl="0" eaLnBrk="0">
              <a:lnSpc>
                <a:spcPct val="99000"/>
              </a:lnSpc>
            </a:pPr>
            <a:r>
              <a:rPr sz="9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34" name="picture 6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427605" y="2441650"/>
            <a:ext cx="2628899" cy="12700"/>
          </a:xfrm>
          <a:prstGeom prst="rect">
            <a:avLst/>
          </a:prstGeom>
        </p:spPr>
      </p:pic>
      <p:pic>
        <p:nvPicPr>
          <p:cNvPr id="636" name="picture 6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402205" y="2467050"/>
            <a:ext cx="12700" cy="3251200"/>
          </a:xfrm>
          <a:prstGeom prst="rect">
            <a:avLst/>
          </a:prstGeom>
        </p:spPr>
      </p:pic>
      <p:pic>
        <p:nvPicPr>
          <p:cNvPr id="638" name="picture 6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75309" y="2441650"/>
            <a:ext cx="2020036" cy="3282950"/>
          </a:xfrm>
          <a:prstGeom prst="rect">
            <a:avLst/>
          </a:prstGeom>
        </p:spPr>
      </p:pic>
      <p:pic>
        <p:nvPicPr>
          <p:cNvPr id="640" name="picture 6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439035" y="5711901"/>
            <a:ext cx="2628899" cy="127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 rot="21600000">
            <a:off x="5867400" y="4119371"/>
            <a:ext cx="1572767" cy="475488"/>
            <a:chOff x="0" y="0"/>
            <a:chExt cx="1572767" cy="475488"/>
          </a:xfrm>
        </p:grpSpPr>
        <p:sp>
          <p:nvSpPr>
            <p:cNvPr id="642" name="path 642"/>
            <p:cNvSpPr/>
            <p:nvPr/>
          </p:nvSpPr>
          <p:spPr>
            <a:xfrm>
              <a:off x="0" y="0"/>
              <a:ext cx="530352" cy="475488"/>
            </a:xfrm>
            <a:custGeom>
              <a:avLst/>
              <a:gdLst/>
              <a:ahLst/>
              <a:cxnLst/>
              <a:rect l="0" t="0" r="0" b="0"/>
              <a:pathLst>
                <a:path w="835" h="748">
                  <a:moveTo>
                    <a:pt x="0" y="0"/>
                  </a:moveTo>
                  <a:lnTo>
                    <a:pt x="835" y="0"/>
                  </a:lnTo>
                  <a:lnTo>
                    <a:pt x="835" y="748"/>
                  </a:lnTo>
                  <a:lnTo>
                    <a:pt x="0" y="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4" name="path 644"/>
            <p:cNvSpPr/>
            <p:nvPr/>
          </p:nvSpPr>
          <p:spPr>
            <a:xfrm>
              <a:off x="480059" y="0"/>
              <a:ext cx="1092707" cy="475488"/>
            </a:xfrm>
            <a:custGeom>
              <a:avLst/>
              <a:gdLst/>
              <a:ahLst/>
              <a:cxnLst/>
              <a:rect l="0" t="0" r="0" b="0"/>
              <a:pathLst>
                <a:path w="1720" h="748">
                  <a:moveTo>
                    <a:pt x="0" y="0"/>
                  </a:moveTo>
                  <a:lnTo>
                    <a:pt x="1720" y="0"/>
                  </a:lnTo>
                  <a:lnTo>
                    <a:pt x="1720" y="748"/>
                  </a:lnTo>
                  <a:lnTo>
                    <a:pt x="0" y="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5864352" y="3427475"/>
            <a:ext cx="1574292" cy="477011"/>
            <a:chOff x="0" y="0"/>
            <a:chExt cx="1574292" cy="477011"/>
          </a:xfrm>
        </p:grpSpPr>
        <p:sp>
          <p:nvSpPr>
            <p:cNvPr id="646" name="path 646"/>
            <p:cNvSpPr/>
            <p:nvPr/>
          </p:nvSpPr>
          <p:spPr>
            <a:xfrm>
              <a:off x="0" y="0"/>
              <a:ext cx="1011935" cy="477011"/>
            </a:xfrm>
            <a:custGeom>
              <a:avLst/>
              <a:gdLst/>
              <a:ahLst/>
              <a:cxnLst/>
              <a:rect l="0" t="0" r="0" b="0"/>
              <a:pathLst>
                <a:path w="1593" h="751">
                  <a:moveTo>
                    <a:pt x="0" y="0"/>
                  </a:moveTo>
                  <a:lnTo>
                    <a:pt x="1593" y="0"/>
                  </a:lnTo>
                  <a:lnTo>
                    <a:pt x="1593" y="751"/>
                  </a:lnTo>
                  <a:lnTo>
                    <a:pt x="0" y="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48" name="path 648"/>
            <p:cNvSpPr/>
            <p:nvPr/>
          </p:nvSpPr>
          <p:spPr>
            <a:xfrm>
              <a:off x="682752" y="0"/>
              <a:ext cx="891540" cy="477011"/>
            </a:xfrm>
            <a:custGeom>
              <a:avLst/>
              <a:gdLst/>
              <a:ahLst/>
              <a:cxnLst/>
              <a:rect l="0" t="0" r="0" b="0"/>
              <a:pathLst>
                <a:path w="1404" h="751">
                  <a:moveTo>
                    <a:pt x="0" y="0"/>
                  </a:moveTo>
                  <a:lnTo>
                    <a:pt x="1404" y="0"/>
                  </a:lnTo>
                  <a:lnTo>
                    <a:pt x="1404" y="751"/>
                  </a:lnTo>
                  <a:lnTo>
                    <a:pt x="0" y="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50" name="textbox 650"/>
          <p:cNvSpPr/>
          <p:nvPr/>
        </p:nvSpPr>
        <p:spPr>
          <a:xfrm>
            <a:off x="6255760" y="3601827"/>
            <a:ext cx="737234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数据应用表2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2" name="textbox 652"/>
          <p:cNvSpPr/>
          <p:nvPr/>
        </p:nvSpPr>
        <p:spPr>
          <a:xfrm>
            <a:off x="2584704" y="4309871"/>
            <a:ext cx="835660" cy="329565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2235" algn="l" rtl="0" eaLnBrk="0">
              <a:lnSpc>
                <a:spcPct val="99000"/>
              </a:lnSpc>
              <a:spcBef>
                <a:spcPts val="5"/>
              </a:spcBef>
            </a:pPr>
            <a:r>
              <a:rPr sz="9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事实明细表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1831111" y="3666744"/>
            <a:ext cx="4033113" cy="858024"/>
            <a:chOff x="0" y="0"/>
            <a:chExt cx="4033113" cy="858024"/>
          </a:xfrm>
        </p:grpSpPr>
        <p:pic>
          <p:nvPicPr>
            <p:cNvPr id="654" name="picture 65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4033113" cy="858024"/>
            </a:xfrm>
            <a:prstGeom prst="rect">
              <a:avLst/>
            </a:prstGeom>
          </p:spPr>
        </p:pic>
        <p:sp>
          <p:nvSpPr>
            <p:cNvPr id="656" name="textbox 656"/>
            <p:cNvSpPr/>
            <p:nvPr/>
          </p:nvSpPr>
          <p:spPr>
            <a:xfrm>
              <a:off x="-12700" y="-12700"/>
              <a:ext cx="4058920" cy="8839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61565" algn="l" rtl="0" eaLnBrk="0">
                <a:lnSpc>
                  <a:spcPct val="91000"/>
                </a:lnSpc>
                <a:spcBef>
                  <a:spcPts val="5"/>
                </a:spcBef>
              </a:pPr>
              <a:r>
                <a:rPr sz="900" b="1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带有维度的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361565" algn="l" rtl="0" eaLnBrk="0">
                <a:lnSpc>
                  <a:spcPts val="1200"/>
                </a:lnSpc>
              </a:pPr>
              <a:r>
                <a:rPr sz="900" b="1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轻度汇总表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58" name="textbox 658"/>
          <p:cNvSpPr/>
          <p:nvPr/>
        </p:nvSpPr>
        <p:spPr>
          <a:xfrm>
            <a:off x="6255760" y="4292707"/>
            <a:ext cx="737234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b="1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数据应用表3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60" name="picture 66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495665" y="2445461"/>
            <a:ext cx="2943225" cy="2259329"/>
          </a:xfrm>
          <a:prstGeom prst="rect">
            <a:avLst/>
          </a:prstGeom>
        </p:spPr>
      </p:pic>
      <p:pic>
        <p:nvPicPr>
          <p:cNvPr id="662" name="picture 66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419678" y="3822788"/>
            <a:ext cx="5443651" cy="655282"/>
          </a:xfrm>
          <a:prstGeom prst="rect">
            <a:avLst/>
          </a:prstGeom>
        </p:spPr>
      </p:pic>
      <p:pic>
        <p:nvPicPr>
          <p:cNvPr id="664" name="picture 66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437297" y="2973946"/>
            <a:ext cx="1426032" cy="445604"/>
          </a:xfrm>
          <a:prstGeom prst="rect">
            <a:avLst/>
          </a:prstGeom>
        </p:spPr>
      </p:pic>
      <p:pic>
        <p:nvPicPr>
          <p:cNvPr id="666" name="picture 66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863584" y="3186683"/>
            <a:ext cx="2281427" cy="1283208"/>
          </a:xfrm>
          <a:prstGeom prst="rect">
            <a:avLst/>
          </a:prstGeom>
        </p:spPr>
      </p:pic>
      <p:sp>
        <p:nvSpPr>
          <p:cNvPr id="668" name="rect 668"/>
          <p:cNvSpPr/>
          <p:nvPr/>
        </p:nvSpPr>
        <p:spPr>
          <a:xfrm>
            <a:off x="8910827" y="5239511"/>
            <a:ext cx="569976" cy="355091"/>
          </a:xfrm>
          <a:prstGeom prst="rect">
            <a:avLst/>
          </a:prstGeom>
          <a:solidFill>
            <a:srgbClr val="1353B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0" name="rect 670"/>
          <p:cNvSpPr/>
          <p:nvPr/>
        </p:nvSpPr>
        <p:spPr>
          <a:xfrm>
            <a:off x="9125711" y="5239511"/>
            <a:ext cx="670559" cy="355091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72" name="picture 67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7438072" y="4354359"/>
            <a:ext cx="1472882" cy="1063536"/>
          </a:xfrm>
          <a:prstGeom prst="rect">
            <a:avLst/>
          </a:prstGeom>
        </p:spPr>
      </p:pic>
      <p:graphicFrame>
        <p:nvGraphicFramePr>
          <p:cNvPr id="674" name="table 674"/>
          <p:cNvGraphicFramePr>
            <a:graphicFrameLocks noGrp="1"/>
          </p:cNvGraphicFramePr>
          <p:nvPr/>
        </p:nvGraphicFramePr>
        <p:xfrm>
          <a:off x="8495665" y="2445461"/>
          <a:ext cx="2943225" cy="3279140"/>
        </p:xfrm>
        <a:graphic>
          <a:graphicData uri="http://schemas.openxmlformats.org/drawingml/2006/table">
            <a:tbl>
              <a:tblPr/>
              <a:tblGrid>
                <a:gridCol w="2943225"/>
              </a:tblGrid>
              <a:tr h="7067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44930" algn="l" rtl="0" eaLnBrk="0">
                        <a:lnSpc>
                          <a:spcPts val="1580"/>
                        </a:lnSpc>
                        <a:spcBef>
                          <a:spcPts val="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BI工具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067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数据集存储及加工   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指标呈现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897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8970" algn="l" rtl="0" eaLnBrk="0">
                        <a:lnSpc>
                          <a:spcPct val="99000"/>
                        </a:lnSpc>
                      </a:pPr>
                      <a:r>
                        <a:rPr sz="9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数据集1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8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3885" algn="l" rtl="0" eaLnBrk="0">
                        <a:lnSpc>
                          <a:spcPct val="99000"/>
                        </a:lnSpc>
                        <a:spcBef>
                          <a:spcPts val="275"/>
                        </a:spcBef>
                      </a:pPr>
                      <a:r>
                        <a:rPr sz="9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数据集2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7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3075" algn="l" rtl="0" eaLnBrk="0">
                        <a:lnSpc>
                          <a:spcPct val="99000"/>
                        </a:lnSpc>
                        <a:spcBef>
                          <a:spcPts val="0"/>
                        </a:spcBef>
                      </a:pPr>
                      <a:r>
                        <a:rPr sz="9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数据上传维度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6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3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1508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数据大屏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465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>
                          <a:tab pos="648335" algn="l"/>
                        </a:tabLst>
                      </a:pPr>
                      <a:r>
                        <a:rPr sz="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9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数据集3</a:t>
                      </a:r>
                      <a:r>
                        <a:rPr sz="9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0175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975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254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76" name="picture 67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9022715" y="4810201"/>
            <a:ext cx="2095500" cy="12700"/>
          </a:xfrm>
          <a:prstGeom prst="rect">
            <a:avLst/>
          </a:prstGeom>
        </p:spPr>
      </p:pic>
      <p:pic>
        <p:nvPicPr>
          <p:cNvPr id="678" name="picture 67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8825865" y="5696026"/>
            <a:ext cx="2613025" cy="28575"/>
          </a:xfrm>
          <a:prstGeom prst="rect">
            <a:avLst/>
          </a:prstGeom>
        </p:spPr>
      </p:pic>
      <p:sp>
        <p:nvSpPr>
          <p:cNvPr id="680" name="textbox 680"/>
          <p:cNvSpPr/>
          <p:nvPr/>
        </p:nvSpPr>
        <p:spPr>
          <a:xfrm>
            <a:off x="6712474" y="4672406"/>
            <a:ext cx="10477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2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82" name="picture 68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7735259" y="3895455"/>
            <a:ext cx="533964" cy="492140"/>
          </a:xfrm>
          <a:prstGeom prst="rect">
            <a:avLst/>
          </a:prstGeom>
        </p:spPr>
      </p:pic>
      <p:sp>
        <p:nvSpPr>
          <p:cNvPr id="684" name="textbox 684"/>
          <p:cNvSpPr/>
          <p:nvPr/>
        </p:nvSpPr>
        <p:spPr>
          <a:xfrm>
            <a:off x="7732896" y="3983838"/>
            <a:ext cx="278129" cy="313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indent="-8890" algn="l" rtl="0" eaLnBrk="0">
              <a:lnSpc>
                <a:spcPct val="105000"/>
              </a:lnSpc>
            </a:pPr>
            <a:r>
              <a:rPr sz="900" kern="0" spc="80" dirty="0">
                <a:solidFill>
                  <a:srgbClr val="1353B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sz="900" kern="0" spc="10" dirty="0">
                <a:solidFill>
                  <a:srgbClr val="1353B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50" dirty="0">
                <a:solidFill>
                  <a:srgbClr val="1353B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6" name="textbox 686"/>
          <p:cNvSpPr/>
          <p:nvPr/>
        </p:nvSpPr>
        <p:spPr>
          <a:xfrm>
            <a:off x="10501604" y="3206534"/>
            <a:ext cx="486409" cy="1253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80" indent="-12700" algn="l" rtl="0" eaLnBrk="0">
              <a:lnSpc>
                <a:spcPct val="96000"/>
              </a:lnSpc>
            </a:pPr>
            <a:r>
              <a:rPr sz="9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借款人数</a:t>
            </a:r>
            <a:r>
              <a:rPr sz="900" kern="0" spc="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22,000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005" indent="-22225" algn="l" rtl="0" eaLnBrk="0">
              <a:lnSpc>
                <a:spcPct val="95000"/>
              </a:lnSpc>
              <a:spcBef>
                <a:spcPts val="280"/>
              </a:spcBef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访问人数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100,000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indent="-12065" algn="l" rtl="0" eaLnBrk="0">
              <a:lnSpc>
                <a:spcPct val="96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支付人数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22,000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8" name="textbox 688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90" name="picture 69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431641" y="3658844"/>
            <a:ext cx="2402738" cy="793026"/>
          </a:xfrm>
          <a:prstGeom prst="rect">
            <a:avLst/>
          </a:prstGeom>
        </p:spPr>
      </p:pic>
      <p:sp>
        <p:nvSpPr>
          <p:cNvPr id="692" name="textbox 692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4" name="textbox 694"/>
          <p:cNvSpPr/>
          <p:nvPr/>
        </p:nvSpPr>
        <p:spPr>
          <a:xfrm>
            <a:off x="932935" y="5119351"/>
            <a:ext cx="741044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b="1" kern="0" spc="8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原始数据表n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6" name="picture 69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334477" y="4670400"/>
            <a:ext cx="28346" cy="156410"/>
          </a:xfrm>
          <a:prstGeom prst="rect">
            <a:avLst/>
          </a:prstGeom>
        </p:spPr>
      </p:pic>
      <p:sp>
        <p:nvSpPr>
          <p:cNvPr id="698" name="textbox 698"/>
          <p:cNvSpPr/>
          <p:nvPr/>
        </p:nvSpPr>
        <p:spPr>
          <a:xfrm>
            <a:off x="935475" y="2941936"/>
            <a:ext cx="737234" cy="1384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b="1" kern="0" spc="8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原始数据表1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275"/>
              </a:spcBef>
            </a:pPr>
            <a:r>
              <a:rPr sz="900" b="1" kern="0" spc="8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原始数据表2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b="1" kern="0" spc="8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原始数据表3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0" name="textbox 700"/>
          <p:cNvSpPr/>
          <p:nvPr/>
        </p:nvSpPr>
        <p:spPr>
          <a:xfrm>
            <a:off x="2570987" y="3599688"/>
            <a:ext cx="848994" cy="329565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8585" algn="l" rtl="0" eaLnBrk="0">
              <a:lnSpc>
                <a:spcPct val="99000"/>
              </a:lnSpc>
              <a:spcBef>
                <a:spcPts val="5"/>
              </a:spcBef>
            </a:pPr>
            <a:r>
              <a:rPr sz="9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事实明细表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2" name="textbox 702"/>
          <p:cNvSpPr/>
          <p:nvPr/>
        </p:nvSpPr>
        <p:spPr>
          <a:xfrm>
            <a:off x="2584704" y="2822447"/>
            <a:ext cx="836930" cy="329565"/>
          </a:xfrm>
          <a:prstGeom prst="rect">
            <a:avLst/>
          </a:prstGeom>
          <a:solidFill>
            <a:srgbClr val="1353B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9235" algn="l" rtl="0" eaLnBrk="0">
              <a:lnSpc>
                <a:spcPct val="99000"/>
              </a:lnSpc>
              <a:spcBef>
                <a:spcPts val="5"/>
              </a:spcBef>
            </a:pPr>
            <a:r>
              <a:rPr sz="900" b="1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4" name="textbox 704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06" name="picture 70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sp>
        <p:nvSpPr>
          <p:cNvPr id="708" name="textbox 708"/>
          <p:cNvSpPr/>
          <p:nvPr/>
        </p:nvSpPr>
        <p:spPr>
          <a:xfrm>
            <a:off x="10379964" y="5247132"/>
            <a:ext cx="797559" cy="347979"/>
          </a:xfrm>
          <a:prstGeom prst="rect">
            <a:avLst/>
          </a:prstGeom>
          <a:solidFill>
            <a:srgbClr val="BFBFBF">
              <a:alpha val="85882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0" algn="l" rtl="0" eaLnBrk="0">
              <a:lnSpc>
                <a:spcPct val="83000"/>
              </a:lnSpc>
              <a:spcBef>
                <a:spcPts val="0"/>
              </a:spcBef>
            </a:pPr>
            <a:r>
              <a:rPr sz="900" kern="0" spc="-1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借款人数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4785" algn="l" rtl="0" eaLnBrk="0">
              <a:lnSpc>
                <a:spcPts val="1410"/>
              </a:lnSpc>
            </a:pPr>
            <a:r>
              <a:rPr sz="1100" kern="0" spc="-20" dirty="0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25,000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0" name="textbox 710"/>
          <p:cNvSpPr/>
          <p:nvPr/>
        </p:nvSpPr>
        <p:spPr>
          <a:xfrm>
            <a:off x="1008537" y="5830463"/>
            <a:ext cx="558165" cy="219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数据湖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12" name="picture 71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796754" y="5381917"/>
            <a:ext cx="583589" cy="76200"/>
          </a:xfrm>
          <a:prstGeom prst="rect">
            <a:avLst/>
          </a:prstGeom>
        </p:spPr>
      </p:pic>
      <p:pic>
        <p:nvPicPr>
          <p:cNvPr id="714" name="picture 71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1423015" y="4810201"/>
            <a:ext cx="15875" cy="136525"/>
          </a:xfrm>
          <a:prstGeom prst="rect">
            <a:avLst/>
          </a:prstGeom>
        </p:spPr>
      </p:pic>
      <p:pic>
        <p:nvPicPr>
          <p:cNvPr id="716" name="picture 71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1426190" y="5251526"/>
            <a:ext cx="12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picture 7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528694" y="2447290"/>
            <a:ext cx="6263640" cy="3282950"/>
          </a:xfrm>
          <a:prstGeom prst="rect">
            <a:avLst/>
          </a:prstGeom>
        </p:spPr>
      </p:pic>
      <p:pic>
        <p:nvPicPr>
          <p:cNvPr id="720" name="picture 7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71900" y="3041904"/>
            <a:ext cx="2770504" cy="1577339"/>
          </a:xfrm>
          <a:prstGeom prst="rect">
            <a:avLst/>
          </a:prstGeom>
        </p:spPr>
      </p:pic>
      <p:sp>
        <p:nvSpPr>
          <p:cNvPr id="722" name="rect 722"/>
          <p:cNvSpPr/>
          <p:nvPr/>
        </p:nvSpPr>
        <p:spPr>
          <a:xfrm>
            <a:off x="3793235" y="4754879"/>
            <a:ext cx="2333244" cy="714755"/>
          </a:xfrm>
          <a:prstGeom prst="rect">
            <a:avLst/>
          </a:prstGeom>
          <a:solidFill>
            <a:srgbClr val="FFFFFF">
              <a:alpha val="7764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24" name="picture 7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35424" y="4827219"/>
            <a:ext cx="822159" cy="302399"/>
          </a:xfrm>
          <a:prstGeom prst="rect">
            <a:avLst/>
          </a:prstGeom>
        </p:spPr>
      </p:pic>
      <p:graphicFrame>
        <p:nvGraphicFramePr>
          <p:cNvPr id="726" name="table 726"/>
          <p:cNvGraphicFramePr>
            <a:graphicFrameLocks noGrp="1"/>
          </p:cNvGraphicFramePr>
          <p:nvPr/>
        </p:nvGraphicFramePr>
        <p:xfrm>
          <a:off x="3333750" y="2206625"/>
          <a:ext cx="6682105" cy="3873500"/>
        </p:xfrm>
        <a:graphic>
          <a:graphicData uri="http://schemas.openxmlformats.org/drawingml/2006/table">
            <a:tbl>
              <a:tblPr/>
              <a:tblGrid>
                <a:gridCol w="5050790"/>
                <a:gridCol w="1631314"/>
              </a:tblGrid>
              <a:tr h="3873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2420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规范化加工原子指标、维度等           积木式组装派生和衍生指标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1820" algn="l" rtl="0" eaLnBrk="0">
                        <a:lnSpc>
                          <a:spcPct val="79000"/>
                        </a:lnSpc>
                        <a:spcBef>
                          <a:spcPts val="330"/>
                        </a:spcBef>
                      </a:pPr>
                      <a:r>
                        <a:rPr sz="1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原子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592455" algn="l" rtl="0" eaLnBrk="0">
                        <a:lnSpc>
                          <a:spcPts val="1435"/>
                        </a:lnSpc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954780" algn="l" rtl="0" eaLnBrk="0">
                        <a:lnSpc>
                          <a:spcPts val="1275"/>
                        </a:lnSpc>
                        <a:spcBef>
                          <a:spcPts val="190"/>
                        </a:spcBef>
                      </a:pPr>
                      <a:r>
                        <a:rPr sz="1000" kern="0" spc="540" dirty="0">
                          <a:solidFill>
                            <a:srgbClr val="3C6EFF">
                              <a:alpha val="100000"/>
                            </a:srgbClr>
                          </a:solidFill>
                          <a:latin typeface="Segoe UI Emoji" panose="020B0502040204020203"/>
                          <a:ea typeface="Segoe UI Emoji" panose="020B0502040204020203"/>
                          <a:cs typeface="Segoe UI Emoji" panose="020B0502040204020203"/>
                        </a:rPr>
                        <a:t>÷</a:t>
                      </a:r>
                      <a:endParaRPr sz="1000" dirty="0">
                        <a:latin typeface="Segoe UI Emoji" panose="020B0502040204020203"/>
                        <a:ea typeface="Segoe UI Emoji" panose="020B0502040204020203"/>
                        <a:cs typeface="Segoe UI Emoji" panose="020B0502040204020203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0075" algn="l" rtl="0" eaLnBrk="0">
                        <a:lnSpc>
                          <a:spcPct val="82000"/>
                        </a:lnSpc>
                        <a:spcBef>
                          <a:spcPts val="335"/>
                        </a:spcBef>
                      </a:pPr>
                      <a:r>
                        <a:rPr sz="1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598805" algn="l" rtl="0" eaLnBrk="0">
                        <a:lnSpc>
                          <a:spcPts val="1435"/>
                        </a:lnSpc>
                      </a:pPr>
                      <a:r>
                        <a:rPr sz="1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周期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0795" algn="l" rtl="0" eaLnBrk="0">
                        <a:lnSpc>
                          <a:spcPct val="95000"/>
                        </a:lnSpc>
                        <a:spcBef>
                          <a:spcPts val="305"/>
                        </a:spcBef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渠道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613410" algn="l" rtl="0" eaLnBrk="0">
                        <a:lnSpc>
                          <a:spcPct val="91000"/>
                        </a:lnSpc>
                        <a:spcBef>
                          <a:spcPts val="175"/>
                        </a:spcBef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28" name="table 728"/>
          <p:cNvGraphicFramePr>
            <a:graphicFrameLocks noGrp="1"/>
          </p:cNvGraphicFramePr>
          <p:nvPr/>
        </p:nvGraphicFramePr>
        <p:xfrm>
          <a:off x="4314190" y="3081020"/>
          <a:ext cx="821690" cy="301625"/>
        </p:xfrm>
        <a:graphic>
          <a:graphicData uri="http://schemas.openxmlformats.org/drawingml/2006/table">
            <a:tbl>
              <a:tblPr/>
              <a:tblGrid>
                <a:gridCol w="821690"/>
              </a:tblGrid>
              <a:tr h="288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605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借款人数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30" name="picture 7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129479" y="3213277"/>
            <a:ext cx="1406575" cy="76187"/>
          </a:xfrm>
          <a:prstGeom prst="rect">
            <a:avLst/>
          </a:prstGeom>
        </p:spPr>
      </p:pic>
      <p:sp>
        <p:nvSpPr>
          <p:cNvPr id="732" name="textbox 732"/>
          <p:cNvSpPr/>
          <p:nvPr/>
        </p:nvSpPr>
        <p:spPr>
          <a:xfrm>
            <a:off x="6536435" y="4469891"/>
            <a:ext cx="1621789" cy="396875"/>
          </a:xfrm>
          <a:prstGeom prst="rect">
            <a:avLst/>
          </a:prstGeom>
          <a:solidFill>
            <a:srgbClr val="D6DCE5">
              <a:alpha val="9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2425" algn="l" rtl="0" eaLnBrk="0">
              <a:lnSpc>
                <a:spcPct val="95000"/>
              </a:lnSpc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昨日借款转化率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4" name="textbox 734"/>
          <p:cNvSpPr/>
          <p:nvPr/>
        </p:nvSpPr>
        <p:spPr>
          <a:xfrm>
            <a:off x="6542531" y="3785615"/>
            <a:ext cx="1621789" cy="396875"/>
          </a:xfrm>
          <a:prstGeom prst="rect">
            <a:avLst/>
          </a:prstGeom>
          <a:solidFill>
            <a:srgbClr val="D6DCE5">
              <a:alpha val="9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4220" indent="-638810" algn="l" rtl="0" eaLnBrk="0">
              <a:lnSpc>
                <a:spcPct val="100000"/>
              </a:lnSpc>
              <a:spcBef>
                <a:spcPts val="0"/>
              </a:spcBef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昨日A渠道贷款页访问人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36" name="picture 7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94376" y="3983266"/>
            <a:ext cx="809447" cy="302386"/>
          </a:xfrm>
          <a:prstGeom prst="rect">
            <a:avLst/>
          </a:prstGeom>
        </p:spPr>
      </p:pic>
      <p:sp>
        <p:nvSpPr>
          <p:cNvPr id="738" name="textbox 738"/>
          <p:cNvSpPr/>
          <p:nvPr/>
        </p:nvSpPr>
        <p:spPr>
          <a:xfrm>
            <a:off x="6542531" y="3101340"/>
            <a:ext cx="1621789" cy="396240"/>
          </a:xfrm>
          <a:prstGeom prst="rect">
            <a:avLst/>
          </a:prstGeom>
          <a:solidFill>
            <a:srgbClr val="D6DCE5">
              <a:alpha val="9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8760" algn="l" rtl="0" eaLnBrk="0">
              <a:lnSpc>
                <a:spcPct val="95000"/>
              </a:lnSpc>
              <a:spcBef>
                <a:spcPts val="5"/>
              </a:spcBef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昨日A渠道借款人数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0" name="picture 7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87950" y="3086734"/>
            <a:ext cx="1385481" cy="1899425"/>
          </a:xfrm>
          <a:prstGeom prst="rect">
            <a:avLst/>
          </a:prstGeom>
        </p:spPr>
      </p:pic>
      <p:pic>
        <p:nvPicPr>
          <p:cNvPr id="742" name="picture 7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320298" y="4337405"/>
            <a:ext cx="1683525" cy="223901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09501" y="4832896"/>
            <a:ext cx="805878" cy="302386"/>
          </a:xfrm>
          <a:prstGeom prst="rect">
            <a:avLst/>
          </a:prstGeom>
        </p:spPr>
      </p:pic>
      <p:pic>
        <p:nvPicPr>
          <p:cNvPr id="746" name="picture 7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148186" y="3300094"/>
            <a:ext cx="1394218" cy="1681480"/>
          </a:xfrm>
          <a:prstGeom prst="rect">
            <a:avLst/>
          </a:prstGeom>
        </p:spPr>
      </p:pic>
      <p:sp>
        <p:nvSpPr>
          <p:cNvPr id="748" name="textbox 748"/>
          <p:cNvSpPr/>
          <p:nvPr/>
        </p:nvSpPr>
        <p:spPr>
          <a:xfrm>
            <a:off x="5313819" y="3076754"/>
            <a:ext cx="556894" cy="330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8105" indent="-66040" algn="l" rtl="0" eaLnBrk="0">
              <a:lnSpc>
                <a:spcPct val="100000"/>
              </a:lnSpc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贷款页浏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览人数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0" name="textbox 750"/>
          <p:cNvSpPr/>
          <p:nvPr/>
        </p:nvSpPr>
        <p:spPr>
          <a:xfrm>
            <a:off x="5461294" y="4053157"/>
            <a:ext cx="284479" cy="170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昨日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2" name="textbox 752"/>
          <p:cNvSpPr/>
          <p:nvPr/>
        </p:nvSpPr>
        <p:spPr>
          <a:xfrm>
            <a:off x="7297139" y="4317238"/>
            <a:ext cx="103504" cy="95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55"/>
              </a:lnSpc>
            </a:pPr>
            <a:r>
              <a:rPr sz="400" b="1" kern="0" spc="290" dirty="0">
                <a:solidFill>
                  <a:srgbClr val="3C6E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endParaRPr sz="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2" name="group 42"/>
          <p:cNvGrpSpPr/>
          <p:nvPr/>
        </p:nvGrpSpPr>
        <p:grpSpPr>
          <a:xfrm rot="21600000">
            <a:off x="576580" y="2447290"/>
            <a:ext cx="2694304" cy="3282950"/>
            <a:chOff x="0" y="0"/>
            <a:chExt cx="2694304" cy="3282950"/>
          </a:xfrm>
        </p:grpSpPr>
        <p:pic>
          <p:nvPicPr>
            <p:cNvPr id="754" name="picture 75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694304" cy="3282950"/>
            </a:xfrm>
            <a:prstGeom prst="rect">
              <a:avLst/>
            </a:prstGeom>
          </p:spPr>
        </p:pic>
        <p:sp>
          <p:nvSpPr>
            <p:cNvPr id="756" name="rect 756"/>
            <p:cNvSpPr/>
            <p:nvPr/>
          </p:nvSpPr>
          <p:spPr>
            <a:xfrm>
              <a:off x="147319" y="2559050"/>
              <a:ext cx="1056132" cy="393191"/>
            </a:xfrm>
            <a:prstGeom prst="rect">
              <a:avLst/>
            </a:prstGeom>
            <a:solidFill>
              <a:srgbClr val="DAE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58" name="rect 758"/>
            <p:cNvSpPr/>
            <p:nvPr/>
          </p:nvSpPr>
          <p:spPr>
            <a:xfrm>
              <a:off x="147319" y="439165"/>
              <a:ext cx="1056132" cy="393191"/>
            </a:xfrm>
            <a:prstGeom prst="rect">
              <a:avLst/>
            </a:prstGeom>
            <a:solidFill>
              <a:srgbClr val="DAE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0" name="rect 760"/>
            <p:cNvSpPr/>
            <p:nvPr/>
          </p:nvSpPr>
          <p:spPr>
            <a:xfrm>
              <a:off x="1700276" y="1870201"/>
              <a:ext cx="826008" cy="329184"/>
            </a:xfrm>
            <a:prstGeom prst="rect">
              <a:avLst/>
            </a:pr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2" name="rect 762"/>
            <p:cNvSpPr/>
            <p:nvPr/>
          </p:nvSpPr>
          <p:spPr>
            <a:xfrm>
              <a:off x="147319" y="1605025"/>
              <a:ext cx="1056132" cy="393191"/>
            </a:xfrm>
            <a:prstGeom prst="rect">
              <a:avLst/>
            </a:prstGeom>
            <a:solidFill>
              <a:srgbClr val="DAE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4" name="rect 764"/>
            <p:cNvSpPr/>
            <p:nvPr/>
          </p:nvSpPr>
          <p:spPr>
            <a:xfrm>
              <a:off x="1686559" y="1156969"/>
              <a:ext cx="861060" cy="329184"/>
            </a:xfrm>
            <a:prstGeom prst="rect">
              <a:avLst/>
            </a:pr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6" name="rect 766"/>
            <p:cNvSpPr/>
            <p:nvPr/>
          </p:nvSpPr>
          <p:spPr>
            <a:xfrm>
              <a:off x="144272" y="1028953"/>
              <a:ext cx="1056131" cy="393191"/>
            </a:xfrm>
            <a:prstGeom prst="rect">
              <a:avLst/>
            </a:prstGeom>
            <a:solidFill>
              <a:srgbClr val="DAE3F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68" name="textbox 768"/>
            <p:cNvSpPr/>
            <p:nvPr/>
          </p:nvSpPr>
          <p:spPr>
            <a:xfrm>
              <a:off x="304920" y="558070"/>
              <a:ext cx="2141854" cy="22821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75" algn="l" rtl="0" eaLnBrk="0">
                <a:lnSpc>
                  <a:spcPct val="99000"/>
                </a:lnSpc>
              </a:pPr>
              <a:r>
                <a:rPr sz="900" b="1" kern="0" spc="80" dirty="0">
                  <a:solidFill>
                    <a:srgbClr val="0B163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原始数据表1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0000"/>
                </a:lnSpc>
                <a:spcBef>
                  <a:spcPts val="275"/>
                </a:spcBef>
              </a:pPr>
              <a:r>
                <a:rPr sz="900" b="1" kern="0" spc="80" dirty="0">
                  <a:solidFill>
                    <a:srgbClr val="0B163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原始数据表2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r" rtl="0" eaLnBrk="0">
                <a:lnSpc>
                  <a:spcPct val="88000"/>
                </a:lnSpc>
                <a:spcBef>
                  <a:spcPts val="10"/>
                </a:spcBef>
              </a:pPr>
              <a:r>
                <a:rPr sz="900" b="1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事实明细表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75" algn="l" rtl="0" eaLnBrk="0">
                <a:lnSpc>
                  <a:spcPct val="99000"/>
                </a:lnSpc>
                <a:spcBef>
                  <a:spcPts val="275"/>
                </a:spcBef>
              </a:pPr>
              <a:r>
                <a:rPr sz="900" b="1" kern="0" spc="80" dirty="0">
                  <a:solidFill>
                    <a:srgbClr val="0B163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原始数据表3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492250" algn="l" rtl="0" eaLnBrk="0">
                <a:lnSpc>
                  <a:spcPct val="99000"/>
                </a:lnSpc>
                <a:spcBef>
                  <a:spcPts val="765"/>
                </a:spcBef>
              </a:pPr>
              <a:r>
                <a:rPr sz="900" b="1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事实明细表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335" algn="l" rtl="0" eaLnBrk="0">
                <a:lnSpc>
                  <a:spcPct val="99000"/>
                </a:lnSpc>
              </a:pPr>
              <a:r>
                <a:rPr sz="900" b="1" kern="0" spc="80" dirty="0">
                  <a:solidFill>
                    <a:srgbClr val="0B1634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原始数据表n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770" name="picture 77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201267" y="1321434"/>
              <a:ext cx="484657" cy="713104"/>
            </a:xfrm>
            <a:prstGeom prst="rect">
              <a:avLst/>
            </a:prstGeom>
          </p:spPr>
        </p:pic>
        <p:sp>
          <p:nvSpPr>
            <p:cNvPr id="772" name="rect 772"/>
            <p:cNvSpPr/>
            <p:nvPr/>
          </p:nvSpPr>
          <p:spPr>
            <a:xfrm>
              <a:off x="1698752" y="2572765"/>
              <a:ext cx="810767" cy="329184"/>
            </a:xfrm>
            <a:prstGeom prst="rect">
              <a:avLst/>
            </a:pr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74" name="rect 774"/>
            <p:cNvSpPr/>
            <p:nvPr/>
          </p:nvSpPr>
          <p:spPr>
            <a:xfrm>
              <a:off x="1698752" y="439165"/>
              <a:ext cx="848867" cy="329184"/>
            </a:xfrm>
            <a:prstGeom prst="rect">
              <a:avLst/>
            </a:prstGeom>
            <a:solidFill>
              <a:srgbClr val="1353B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776" name="picture 77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1203820" y="2702775"/>
              <a:ext cx="495439" cy="76149"/>
            </a:xfrm>
            <a:prstGeom prst="rect">
              <a:avLst/>
            </a:prstGeom>
          </p:spPr>
        </p:pic>
        <p:pic>
          <p:nvPicPr>
            <p:cNvPr id="778" name="picture 77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203718" y="570738"/>
              <a:ext cx="495541" cy="76047"/>
            </a:xfrm>
            <a:prstGeom prst="rect">
              <a:avLst/>
            </a:prstGeom>
          </p:spPr>
        </p:pic>
        <p:pic>
          <p:nvPicPr>
            <p:cNvPr id="780" name="picture 78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1200365" y="633438"/>
              <a:ext cx="509981" cy="2124620"/>
            </a:xfrm>
            <a:prstGeom prst="rect">
              <a:avLst/>
            </a:prstGeom>
          </p:spPr>
        </p:pic>
        <p:pic>
          <p:nvPicPr>
            <p:cNvPr id="782" name="picture 78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1200251" y="634758"/>
              <a:ext cx="518617" cy="2103360"/>
            </a:xfrm>
            <a:prstGeom prst="rect">
              <a:avLst/>
            </a:prstGeom>
          </p:spPr>
        </p:pic>
      </p:grpSp>
      <p:sp>
        <p:nvSpPr>
          <p:cNvPr id="784" name="textbox 784"/>
          <p:cNvSpPr/>
          <p:nvPr/>
        </p:nvSpPr>
        <p:spPr>
          <a:xfrm>
            <a:off x="2483450" y="5107977"/>
            <a:ext cx="400684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20"/>
              </a:lnSpc>
            </a:pPr>
            <a:r>
              <a:rPr sz="9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维度表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86" name="picture 78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312152" y="4865916"/>
            <a:ext cx="76174" cy="215988"/>
          </a:xfrm>
          <a:prstGeom prst="rect">
            <a:avLst/>
          </a:prstGeom>
        </p:spPr>
      </p:pic>
      <p:sp>
        <p:nvSpPr>
          <p:cNvPr id="788" name="textbox 788"/>
          <p:cNvSpPr/>
          <p:nvPr/>
        </p:nvSpPr>
        <p:spPr>
          <a:xfrm>
            <a:off x="8491727" y="2592323"/>
            <a:ext cx="1199514" cy="3035935"/>
          </a:xfrm>
          <a:prstGeom prst="rect">
            <a:avLst/>
          </a:prstGeom>
          <a:solidFill>
            <a:srgbClr val="F2F2F2">
              <a:alpha val="77647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0" algn="l" rtl="0" eaLnBrk="0">
              <a:lnSpc>
                <a:spcPct val="90000"/>
              </a:lnSpc>
              <a:spcBef>
                <a:spcPts val="5"/>
              </a:spcBef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API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0" name="textbox 790"/>
          <p:cNvSpPr/>
          <p:nvPr/>
        </p:nvSpPr>
        <p:spPr>
          <a:xfrm>
            <a:off x="2138837" y="5817351"/>
            <a:ext cx="9023984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数据仓库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DWD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                                         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 </a:t>
            </a:r>
            <a:r>
              <a:rPr sz="2100" b="1" kern="0" spc="0" baseline="2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指标平台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数据应用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2" name="textbox 792"/>
          <p:cNvSpPr/>
          <p:nvPr/>
        </p:nvSpPr>
        <p:spPr>
          <a:xfrm>
            <a:off x="6541007" y="5082540"/>
            <a:ext cx="1621789" cy="396875"/>
          </a:xfrm>
          <a:prstGeom prst="rect">
            <a:avLst/>
          </a:prstGeom>
          <a:solidFill>
            <a:srgbClr val="D6DCE5">
              <a:alpha val="9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0" algn="l" rtl="0" eaLnBrk="0">
              <a:lnSpc>
                <a:spcPct val="95000"/>
              </a:lnSpc>
              <a:spcBef>
                <a:spcPts val="5"/>
              </a:spcBef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借款转化率周环比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4" name="textbox 794"/>
          <p:cNvSpPr/>
          <p:nvPr/>
        </p:nvSpPr>
        <p:spPr>
          <a:xfrm>
            <a:off x="10067925" y="3234055"/>
            <a:ext cx="621030" cy="1198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ts val="810"/>
              </a:lnSpc>
              <a:spcBef>
                <a:spcPts val="5"/>
              </a:spcBef>
              <a:tabLst>
                <a:tab pos="26797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	</a:t>
            </a:r>
            <a:r>
              <a:rPr sz="1200" b="1" kern="0" spc="-7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BI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  </a:t>
            </a:r>
            <a:endParaRPr sz="1200" dirty="0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algn="l" rtl="0" eaLnBrk="0">
              <a:lnSpc>
                <a:spcPct val="17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72000"/>
              </a:lnSpc>
              <a:spcBef>
                <a:spcPts val="0"/>
              </a:spcBef>
              <a:tabLst>
                <a:tab pos="25654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96" name="picture 79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0661014" y="3833494"/>
            <a:ext cx="12700" cy="454025"/>
          </a:xfrm>
          <a:prstGeom prst="rect">
            <a:avLst/>
          </a:prstGeom>
        </p:spPr>
      </p:pic>
      <p:pic>
        <p:nvPicPr>
          <p:cNvPr id="798" name="picture 79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0080625" y="3966209"/>
            <a:ext cx="12700" cy="454025"/>
          </a:xfrm>
          <a:prstGeom prst="rect">
            <a:avLst/>
          </a:prstGeom>
        </p:spPr>
      </p:pic>
      <p:pic>
        <p:nvPicPr>
          <p:cNvPr id="800" name="picture 80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0659871" y="3246755"/>
            <a:ext cx="12700" cy="454024"/>
          </a:xfrm>
          <a:prstGeom prst="rect">
            <a:avLst/>
          </a:prstGeom>
        </p:spPr>
      </p:pic>
      <p:pic>
        <p:nvPicPr>
          <p:cNvPr id="802" name="picture 80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0080625" y="3379470"/>
            <a:ext cx="12700" cy="454024"/>
          </a:xfrm>
          <a:prstGeom prst="rect">
            <a:avLst/>
          </a:prstGeom>
        </p:spPr>
      </p:pic>
      <p:pic>
        <p:nvPicPr>
          <p:cNvPr id="804" name="picture 80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10080625" y="3302634"/>
            <a:ext cx="12700" cy="50800"/>
          </a:xfrm>
          <a:prstGeom prst="rect">
            <a:avLst/>
          </a:prstGeom>
        </p:spPr>
      </p:pic>
      <p:pic>
        <p:nvPicPr>
          <p:cNvPr id="806" name="picture 80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0080625" y="3213734"/>
            <a:ext cx="12700" cy="50800"/>
          </a:xfrm>
          <a:prstGeom prst="rect">
            <a:avLst/>
          </a:prstGeom>
        </p:spPr>
      </p:pic>
      <p:pic>
        <p:nvPicPr>
          <p:cNvPr id="808" name="picture 80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0080625" y="3096259"/>
            <a:ext cx="595629" cy="112395"/>
          </a:xfrm>
          <a:prstGeom prst="rect">
            <a:avLst/>
          </a:prstGeom>
        </p:spPr>
      </p:pic>
      <p:pic>
        <p:nvPicPr>
          <p:cNvPr id="810" name="picture 81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0080625" y="4458334"/>
            <a:ext cx="12700" cy="50800"/>
          </a:xfrm>
          <a:prstGeom prst="rect">
            <a:avLst/>
          </a:prstGeom>
        </p:spPr>
      </p:pic>
      <p:pic>
        <p:nvPicPr>
          <p:cNvPr id="812" name="picture 81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0080625" y="4547234"/>
            <a:ext cx="12700" cy="50800"/>
          </a:xfrm>
          <a:prstGeom prst="rect">
            <a:avLst/>
          </a:prstGeom>
        </p:spPr>
      </p:pic>
      <p:pic>
        <p:nvPicPr>
          <p:cNvPr id="814" name="picture 81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10080625" y="4938394"/>
            <a:ext cx="595629" cy="74930"/>
          </a:xfrm>
          <a:prstGeom prst="rect">
            <a:avLst/>
          </a:prstGeom>
        </p:spPr>
      </p:pic>
      <p:pic>
        <p:nvPicPr>
          <p:cNvPr id="816" name="picture 81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10080625" y="4636134"/>
            <a:ext cx="12700" cy="50800"/>
          </a:xfrm>
          <a:prstGeom prst="rect">
            <a:avLst/>
          </a:prstGeom>
        </p:spPr>
      </p:pic>
      <p:pic>
        <p:nvPicPr>
          <p:cNvPr id="818" name="picture 81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0080625" y="4725034"/>
            <a:ext cx="595629" cy="57150"/>
          </a:xfrm>
          <a:prstGeom prst="rect">
            <a:avLst/>
          </a:prstGeom>
        </p:spPr>
      </p:pic>
      <p:pic>
        <p:nvPicPr>
          <p:cNvPr id="820" name="picture 82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0080625" y="4849494"/>
            <a:ext cx="595629" cy="74930"/>
          </a:xfrm>
          <a:prstGeom prst="rect">
            <a:avLst/>
          </a:prstGeom>
        </p:spPr>
      </p:pic>
      <p:pic>
        <p:nvPicPr>
          <p:cNvPr id="822" name="picture 82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10080625" y="4816475"/>
            <a:ext cx="577850" cy="19050"/>
          </a:xfrm>
          <a:prstGeom prst="rect">
            <a:avLst/>
          </a:prstGeom>
        </p:spPr>
      </p:pic>
      <p:pic>
        <p:nvPicPr>
          <p:cNvPr id="824" name="picture 82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9798742" y="3976115"/>
            <a:ext cx="284042" cy="269748"/>
          </a:xfrm>
          <a:prstGeom prst="rect">
            <a:avLst/>
          </a:prstGeom>
        </p:spPr>
      </p:pic>
      <p:pic>
        <p:nvPicPr>
          <p:cNvPr id="826" name="picture 82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8161552" y="3296437"/>
            <a:ext cx="2203551" cy="2129637"/>
          </a:xfrm>
          <a:prstGeom prst="rect">
            <a:avLst/>
          </a:prstGeom>
        </p:spPr>
      </p:pic>
      <p:sp>
        <p:nvSpPr>
          <p:cNvPr id="828" name="textbox 828"/>
          <p:cNvSpPr/>
          <p:nvPr/>
        </p:nvSpPr>
        <p:spPr>
          <a:xfrm>
            <a:off x="8610600" y="3118104"/>
            <a:ext cx="972819" cy="185801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7945" algn="l" rtl="0" eaLnBrk="0">
              <a:lnSpc>
                <a:spcPct val="91000"/>
              </a:lnSpc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指标语义层：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795" algn="l" rtl="0" eaLnBrk="0">
              <a:lnSpc>
                <a:spcPct val="96000"/>
              </a:lnSpc>
              <a:spcBef>
                <a:spcPts val="735"/>
              </a:spcBef>
            </a:pPr>
            <a:r>
              <a:rPr sz="700" kern="0" spc="20" dirty="0">
                <a:solidFill>
                  <a:srgbClr val="ED7D3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指标字段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795" algn="l" rtl="0" eaLnBrk="0">
              <a:lnSpc>
                <a:spcPct val="96000"/>
              </a:lnSpc>
              <a:spcBef>
                <a:spcPts val="740"/>
              </a:spcBef>
            </a:pPr>
            <a:r>
              <a:rPr sz="700" kern="0" spc="20" dirty="0">
                <a:solidFill>
                  <a:srgbClr val="ED7D3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所需维度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795" algn="l" rtl="0" eaLnBrk="0">
              <a:lnSpc>
                <a:spcPct val="96000"/>
              </a:lnSpc>
              <a:spcBef>
                <a:spcPts val="740"/>
              </a:spcBef>
            </a:pPr>
            <a:r>
              <a:rPr sz="700" kern="0" spc="20" dirty="0">
                <a:solidFill>
                  <a:srgbClr val="ED7D3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统计周期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795" algn="l" rtl="0" eaLnBrk="0">
              <a:lnSpc>
                <a:spcPct val="95000"/>
              </a:lnSpc>
              <a:spcBef>
                <a:spcPts val="750"/>
              </a:spcBef>
            </a:pPr>
            <a:r>
              <a:rPr sz="700" kern="0" spc="30" dirty="0">
                <a:solidFill>
                  <a:srgbClr val="ED7D3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700" kern="0" spc="10" dirty="0">
                <a:solidFill>
                  <a:srgbClr val="ED7D3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聚合方式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795" algn="l" rtl="0" eaLnBrk="0">
              <a:lnSpc>
                <a:spcPct val="95000"/>
              </a:lnSpc>
              <a:spcBef>
                <a:spcPts val="750"/>
              </a:spcBef>
            </a:pPr>
            <a:r>
              <a:rPr sz="700" kern="0" spc="30" dirty="0">
                <a:solidFill>
                  <a:srgbClr val="ED7D3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700" kern="0" spc="10" dirty="0">
                <a:solidFill>
                  <a:srgbClr val="ED7D3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约束条件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7795" algn="l" rtl="0" eaLnBrk="0">
              <a:lnSpc>
                <a:spcPct val="96000"/>
              </a:lnSpc>
              <a:spcBef>
                <a:spcPts val="5"/>
              </a:spcBef>
            </a:pPr>
            <a:r>
              <a:rPr sz="700" kern="0" spc="20" dirty="0">
                <a:solidFill>
                  <a:srgbClr val="ED7D3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统计步长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30" name="picture 83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10073640" y="2441575"/>
            <a:ext cx="187959" cy="497840"/>
          </a:xfrm>
          <a:prstGeom prst="rect">
            <a:avLst/>
          </a:prstGeom>
        </p:spPr>
      </p:pic>
      <p:pic>
        <p:nvPicPr>
          <p:cNvPr id="832" name="picture 83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8163344" y="2778379"/>
            <a:ext cx="2183345" cy="525424"/>
          </a:xfrm>
          <a:prstGeom prst="rect">
            <a:avLst/>
          </a:prstGeom>
        </p:spPr>
      </p:pic>
      <p:graphicFrame>
        <p:nvGraphicFramePr>
          <p:cNvPr id="834" name="table 834"/>
          <p:cNvGraphicFramePr>
            <a:graphicFrameLocks noGrp="1"/>
          </p:cNvGraphicFramePr>
          <p:nvPr/>
        </p:nvGraphicFramePr>
        <p:xfrm>
          <a:off x="10073640" y="2441575"/>
          <a:ext cx="1672590" cy="593090"/>
        </p:xfrm>
        <a:graphic>
          <a:graphicData uri="http://schemas.openxmlformats.org/drawingml/2006/table">
            <a:tbl>
              <a:tblPr/>
              <a:tblGrid>
                <a:gridCol w="1466215"/>
                <a:gridCol w="206375"/>
              </a:tblGrid>
              <a:tr h="5930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4665" algn="l" rtl="0" eaLnBrk="0">
                        <a:lnSpc>
                          <a:spcPct val="81000"/>
                        </a:lnSpc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LUI Agent</a:t>
                      </a:r>
                      <a:endParaRPr sz="1200" dirty="0"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36" name="picture 83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11664950" y="2963545"/>
            <a:ext cx="81280" cy="71120"/>
          </a:xfrm>
          <a:prstGeom prst="rect">
            <a:avLst/>
          </a:prstGeom>
        </p:spPr>
      </p:pic>
      <p:sp>
        <p:nvSpPr>
          <p:cNvPr id="838" name="textbox 838"/>
          <p:cNvSpPr/>
          <p:nvPr/>
        </p:nvSpPr>
        <p:spPr>
          <a:xfrm>
            <a:off x="8610600" y="5103875"/>
            <a:ext cx="972819" cy="372109"/>
          </a:xfrm>
          <a:prstGeom prst="rect">
            <a:avLst/>
          </a:prstGeom>
          <a:solidFill>
            <a:srgbClr val="D6DCE5">
              <a:alpha val="9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3670" algn="l" rtl="0" eaLnBrk="0">
              <a:lnSpc>
                <a:spcPct val="95000"/>
              </a:lnSpc>
              <a:spcBef>
                <a:spcPts val="0"/>
              </a:spcBef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元数据信息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0" name="textbox 840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42" name="textbox 842"/>
          <p:cNvSpPr/>
          <p:nvPr/>
        </p:nvSpPr>
        <p:spPr>
          <a:xfrm>
            <a:off x="551002" y="259536"/>
            <a:ext cx="759142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00"/>
              </a:lnSpc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指标体系建设和应用痛点的解法（数据右移、</a:t>
            </a:r>
            <a:r>
              <a:rPr sz="2300" kern="0" spc="-5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角色解耦）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44" name="picture 84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846" name="textbox 846"/>
          <p:cNvSpPr/>
          <p:nvPr/>
        </p:nvSpPr>
        <p:spPr>
          <a:xfrm>
            <a:off x="2177300" y="1436192"/>
            <a:ext cx="7213600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30445" algn="l" rtl="0" eaLnBrk="0">
              <a:lnSpc>
                <a:spcPct val="95000"/>
              </a:lnSpc>
              <a:tabLst>
                <a:tab pos="537337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数据语义建在仓外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48" name="picture 84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2190000" y="1486534"/>
            <a:ext cx="4817745" cy="171450"/>
          </a:xfrm>
          <a:prstGeom prst="rect">
            <a:avLst/>
          </a:prstGeom>
        </p:spPr>
      </p:pic>
      <p:graphicFrame>
        <p:nvGraphicFramePr>
          <p:cNvPr id="850" name="table 850"/>
          <p:cNvGraphicFramePr>
            <a:graphicFrameLocks noGrp="1"/>
          </p:cNvGraphicFramePr>
          <p:nvPr/>
        </p:nvGraphicFramePr>
        <p:xfrm>
          <a:off x="4314190" y="3441064"/>
          <a:ext cx="1679575" cy="223520"/>
        </p:xfrm>
        <a:graphic>
          <a:graphicData uri="http://schemas.openxmlformats.org/drawingml/2006/table">
            <a:tbl>
              <a:tblPr/>
              <a:tblGrid>
                <a:gridCol w="271779"/>
                <a:gridCol w="263525"/>
                <a:gridCol w="263525"/>
                <a:gridCol w="263525"/>
                <a:gridCol w="263525"/>
                <a:gridCol w="353694"/>
              </a:tblGrid>
              <a:tr h="2235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52" name="picture 85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4335424" y="5187035"/>
            <a:ext cx="1679955" cy="223901"/>
          </a:xfrm>
          <a:prstGeom prst="rect">
            <a:avLst/>
          </a:prstGeom>
        </p:spPr>
      </p:pic>
      <p:pic>
        <p:nvPicPr>
          <p:cNvPr id="854" name="picture 85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4320298" y="3977589"/>
            <a:ext cx="825728" cy="302399"/>
          </a:xfrm>
          <a:prstGeom prst="rect">
            <a:avLst/>
          </a:prstGeom>
        </p:spPr>
      </p:pic>
      <p:sp>
        <p:nvSpPr>
          <p:cNvPr id="856" name="textbox 856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58" name="textbox 858"/>
          <p:cNvSpPr/>
          <p:nvPr/>
        </p:nvSpPr>
        <p:spPr>
          <a:xfrm rot="5400000">
            <a:off x="1113294" y="4666301"/>
            <a:ext cx="193039" cy="154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05"/>
              </a:lnSpc>
              <a:spcBef>
                <a:spcPts val="5"/>
              </a:spcBef>
            </a:pP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…</a:t>
            </a:r>
            <a:endParaRPr sz="1700" dirty="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860" name="textbox 860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62" name="textbox 862"/>
          <p:cNvSpPr/>
          <p:nvPr/>
        </p:nvSpPr>
        <p:spPr>
          <a:xfrm>
            <a:off x="10067925" y="5014594"/>
            <a:ext cx="621030" cy="729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90000"/>
              </a:lnSpc>
              <a:spcBef>
                <a:spcPts val="0"/>
              </a:spcBef>
              <a:tabLst>
                <a:tab pos="162560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" algn="l" rtl="0" eaLnBrk="0">
              <a:lnSpc>
                <a:spcPct val="82000"/>
              </a:lnSpc>
              <a:spcBef>
                <a:spcPts val="155"/>
              </a:spcBef>
              <a:tabLst>
                <a:tab pos="16319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大屏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64" name="picture 86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10601959" y="5205094"/>
            <a:ext cx="71119" cy="525780"/>
          </a:xfrm>
          <a:prstGeom prst="rect">
            <a:avLst/>
          </a:prstGeom>
        </p:spPr>
      </p:pic>
      <p:pic>
        <p:nvPicPr>
          <p:cNvPr id="866" name="picture 86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10080625" y="5229225"/>
            <a:ext cx="12700" cy="406400"/>
          </a:xfrm>
          <a:prstGeom prst="rect">
            <a:avLst/>
          </a:prstGeom>
        </p:spPr>
      </p:pic>
      <p:pic>
        <p:nvPicPr>
          <p:cNvPr id="868" name="picture 86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10661650" y="5027294"/>
            <a:ext cx="12700" cy="139700"/>
          </a:xfrm>
          <a:prstGeom prst="rect">
            <a:avLst/>
          </a:prstGeom>
        </p:spPr>
      </p:pic>
      <p:pic>
        <p:nvPicPr>
          <p:cNvPr id="870" name="picture 87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10080625" y="5051425"/>
            <a:ext cx="12700" cy="139700"/>
          </a:xfrm>
          <a:prstGeom prst="rect">
            <a:avLst/>
          </a:prstGeom>
        </p:spPr>
      </p:pic>
      <p:pic>
        <p:nvPicPr>
          <p:cNvPr id="872" name="picture 872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sp>
        <p:nvSpPr>
          <p:cNvPr id="874" name="textbox 874"/>
          <p:cNvSpPr/>
          <p:nvPr/>
        </p:nvSpPr>
        <p:spPr>
          <a:xfrm>
            <a:off x="990757" y="5836101"/>
            <a:ext cx="558165" cy="219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数据湖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76" name="picture 876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3257092" y="3980688"/>
            <a:ext cx="287731" cy="271272"/>
          </a:xfrm>
          <a:prstGeom prst="rect">
            <a:avLst/>
          </a:prstGeom>
        </p:spPr>
      </p:pic>
      <p:sp>
        <p:nvSpPr>
          <p:cNvPr id="878" name="textbox 878"/>
          <p:cNvSpPr/>
          <p:nvPr/>
        </p:nvSpPr>
        <p:spPr>
          <a:xfrm>
            <a:off x="4524867" y="4048314"/>
            <a:ext cx="421640" cy="169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月至今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0" name="textbox 880"/>
          <p:cNvSpPr/>
          <p:nvPr/>
        </p:nvSpPr>
        <p:spPr>
          <a:xfrm>
            <a:off x="2502500" y="2973742"/>
            <a:ext cx="400684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20"/>
              </a:lnSpc>
            </a:pPr>
            <a:r>
              <a:rPr sz="9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维度表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2" name="textbox 882"/>
          <p:cNvSpPr/>
          <p:nvPr/>
        </p:nvSpPr>
        <p:spPr>
          <a:xfrm>
            <a:off x="5467814" y="4904599"/>
            <a:ext cx="291465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期限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4" name="picture 884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10080625" y="5673725"/>
            <a:ext cx="486409" cy="57150"/>
          </a:xfrm>
          <a:prstGeom prst="rect">
            <a:avLst/>
          </a:prstGeom>
        </p:spPr>
      </p:pic>
      <p:sp>
        <p:nvSpPr>
          <p:cNvPr id="886" name="textbox 886"/>
          <p:cNvSpPr/>
          <p:nvPr/>
        </p:nvSpPr>
        <p:spPr>
          <a:xfrm>
            <a:off x="10313034" y="3664864"/>
            <a:ext cx="174625" cy="154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1000"/>
              </a:lnSpc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8" name="picture 88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10663554" y="4580254"/>
            <a:ext cx="12700" cy="50800"/>
          </a:xfrm>
          <a:prstGeom prst="rect">
            <a:avLst/>
          </a:prstGeom>
        </p:spPr>
      </p:pic>
      <p:pic>
        <p:nvPicPr>
          <p:cNvPr id="890" name="picture 890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10663554" y="4669154"/>
            <a:ext cx="12700" cy="50800"/>
          </a:xfrm>
          <a:prstGeom prst="rect">
            <a:avLst/>
          </a:prstGeom>
        </p:spPr>
      </p:pic>
      <p:pic>
        <p:nvPicPr>
          <p:cNvPr id="892" name="picture 89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10663554" y="4313554"/>
            <a:ext cx="12700" cy="50800"/>
          </a:xfrm>
          <a:prstGeom prst="rect">
            <a:avLst/>
          </a:prstGeom>
        </p:spPr>
      </p:pic>
      <p:pic>
        <p:nvPicPr>
          <p:cNvPr id="894" name="picture 894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10663554" y="4402454"/>
            <a:ext cx="12700" cy="50800"/>
          </a:xfrm>
          <a:prstGeom prst="rect">
            <a:avLst/>
          </a:prstGeom>
        </p:spPr>
      </p:pic>
      <p:pic>
        <p:nvPicPr>
          <p:cNvPr id="896" name="picture 896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10663554" y="4491354"/>
            <a:ext cx="127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textbox 898"/>
          <p:cNvSpPr/>
          <p:nvPr/>
        </p:nvSpPr>
        <p:spPr>
          <a:xfrm>
            <a:off x="5349240" y="2194559"/>
            <a:ext cx="1379219" cy="451484"/>
          </a:xfrm>
          <a:prstGeom prst="rect">
            <a:avLst/>
          </a:prstGeom>
          <a:solidFill>
            <a:srgbClr val="DAE3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21335" algn="l" rtl="0" eaLnBrk="0">
              <a:lnSpc>
                <a:spcPct val="81000"/>
              </a:lnSpc>
              <a:spcBef>
                <a:spcPts val="5"/>
              </a:spcBef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HME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00" name="textbox 900"/>
          <p:cNvSpPr/>
          <p:nvPr/>
        </p:nvSpPr>
        <p:spPr>
          <a:xfrm>
            <a:off x="4890403" y="4631797"/>
            <a:ext cx="427990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02" name="picture 9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04800" y="4390644"/>
            <a:ext cx="3936491" cy="2069591"/>
          </a:xfrm>
          <a:prstGeom prst="rect">
            <a:avLst/>
          </a:prstGeom>
        </p:spPr>
      </p:pic>
      <p:sp>
        <p:nvSpPr>
          <p:cNvPr id="904" name="path 904"/>
          <p:cNvSpPr/>
          <p:nvPr/>
        </p:nvSpPr>
        <p:spPr>
          <a:xfrm>
            <a:off x="5375148" y="3718559"/>
            <a:ext cx="1338071" cy="1050035"/>
          </a:xfrm>
          <a:custGeom>
            <a:avLst/>
            <a:gdLst/>
            <a:ahLst/>
            <a:cxnLst/>
            <a:rect l="0" t="0" r="0" b="0"/>
            <a:pathLst>
              <a:path w="2107" h="1653">
                <a:moveTo>
                  <a:pt x="0" y="1653"/>
                </a:moveTo>
                <a:lnTo>
                  <a:pt x="1053" y="0"/>
                </a:lnTo>
                <a:lnTo>
                  <a:pt x="2107" y="1653"/>
                </a:lnTo>
                <a:lnTo>
                  <a:pt x="0" y="1653"/>
                </a:lnTo>
              </a:path>
            </a:pathLst>
          </a:cu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6" name="textbox 906"/>
          <p:cNvSpPr/>
          <p:nvPr/>
        </p:nvSpPr>
        <p:spPr>
          <a:xfrm>
            <a:off x="5724183" y="3396578"/>
            <a:ext cx="631190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灵活性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08" name="picture 9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910" name="textbox 910"/>
          <p:cNvSpPr/>
          <p:nvPr/>
        </p:nvSpPr>
        <p:spPr>
          <a:xfrm>
            <a:off x="6775746" y="4632404"/>
            <a:ext cx="428625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2" name="textbox 912"/>
          <p:cNvSpPr/>
          <p:nvPr/>
        </p:nvSpPr>
        <p:spPr>
          <a:xfrm>
            <a:off x="8752331" y="1423416"/>
            <a:ext cx="1710054" cy="451484"/>
          </a:xfrm>
          <a:prstGeom prst="rect">
            <a:avLst/>
          </a:prstGeom>
          <a:solidFill>
            <a:srgbClr val="DAE3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7020" algn="l" rtl="0" eaLnBrk="0">
              <a:lnSpc>
                <a:spcPts val="2220"/>
              </a:lnSpc>
              <a:spcBef>
                <a:spcPts val="5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HeadlessBI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14" name="textbox 914"/>
          <p:cNvSpPr/>
          <p:nvPr/>
        </p:nvSpPr>
        <p:spPr>
          <a:xfrm>
            <a:off x="8874555" y="2707868"/>
            <a:ext cx="2846704" cy="2178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产品力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9250" algn="l" rtl="0" eaLnBrk="0">
              <a:lnSpc>
                <a:spcPct val="96000"/>
              </a:lnSpc>
              <a:spcBef>
                <a:spcPts val="515"/>
              </a:spcBef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10+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客户成功交付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4485" algn="l" rtl="0" eaLnBrk="0">
              <a:lnSpc>
                <a:spcPct val="197000"/>
              </a:lnSpc>
              <a:spcBef>
                <a:spcPts val="5"/>
              </a:spcBef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首发《指标平台白皮书》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首家</a:t>
            </a:r>
            <a:r>
              <a:rPr sz="1700" kern="0" spc="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by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信通院认证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6" name="textbox 916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18" name="textbox 918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20" name="textbox 920"/>
          <p:cNvSpPr/>
          <p:nvPr/>
        </p:nvSpPr>
        <p:spPr>
          <a:xfrm>
            <a:off x="549243" y="280159"/>
            <a:ext cx="4838700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835"/>
              </a:lnSpc>
            </a:pP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数据建模右移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指标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平台、</a:t>
            </a:r>
            <a:r>
              <a:rPr sz="210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HeadlessBI</a:t>
            </a:r>
            <a:endParaRPr sz="2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2" name="textbox 922"/>
          <p:cNvSpPr/>
          <p:nvPr/>
        </p:nvSpPr>
        <p:spPr>
          <a:xfrm>
            <a:off x="1583436" y="3104388"/>
            <a:ext cx="1379219" cy="449580"/>
          </a:xfrm>
          <a:prstGeom prst="rect">
            <a:avLst/>
          </a:prstGeom>
          <a:solidFill>
            <a:srgbClr val="DAE3F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7995" algn="l" rtl="0" eaLnBrk="0">
              <a:lnSpc>
                <a:spcPct val="83000"/>
              </a:lnSpc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OLAP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24" name="textbox 924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26" name="picture 9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4"/>
          <p:cNvGrpSpPr/>
          <p:nvPr/>
        </p:nvGrpSpPr>
        <p:grpSpPr>
          <a:xfrm rot="21600000">
            <a:off x="1868461" y="2413648"/>
            <a:ext cx="9605988" cy="3203181"/>
            <a:chOff x="0" y="0"/>
            <a:chExt cx="9605988" cy="3203181"/>
          </a:xfrm>
        </p:grpSpPr>
        <p:sp>
          <p:nvSpPr>
            <p:cNvPr id="928" name="rect 928"/>
            <p:cNvSpPr/>
            <p:nvPr/>
          </p:nvSpPr>
          <p:spPr>
            <a:xfrm>
              <a:off x="0" y="0"/>
              <a:ext cx="9605988" cy="3203181"/>
            </a:xfrm>
            <a:prstGeom prst="rect">
              <a:avLst/>
            </a:prstGeom>
            <a:solidFill>
              <a:srgbClr val="EFF1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0" name="rect 930"/>
            <p:cNvSpPr/>
            <p:nvPr/>
          </p:nvSpPr>
          <p:spPr>
            <a:xfrm>
              <a:off x="5020018" y="149719"/>
              <a:ext cx="4416552" cy="2909315"/>
            </a:xfrm>
            <a:prstGeom prst="rect">
              <a:avLst/>
            </a:prstGeom>
            <a:solidFill>
              <a:srgbClr val="70AD47">
                <a:alpha val="4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2" name="rect 932"/>
            <p:cNvSpPr/>
            <p:nvPr/>
          </p:nvSpPr>
          <p:spPr>
            <a:xfrm>
              <a:off x="5193754" y="605395"/>
              <a:ext cx="2423159" cy="1095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4" name="rect 934"/>
            <p:cNvSpPr/>
            <p:nvPr/>
          </p:nvSpPr>
          <p:spPr>
            <a:xfrm>
              <a:off x="6464769" y="1314055"/>
              <a:ext cx="1007364" cy="281940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6" name="rect 936"/>
            <p:cNvSpPr/>
            <p:nvPr/>
          </p:nvSpPr>
          <p:spPr>
            <a:xfrm>
              <a:off x="7726642" y="605395"/>
              <a:ext cx="1560576" cy="23103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38" name="rect 938"/>
            <p:cNvSpPr/>
            <p:nvPr/>
          </p:nvSpPr>
          <p:spPr>
            <a:xfrm>
              <a:off x="7797089" y="1007300"/>
              <a:ext cx="687031" cy="378205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0" name="rect 940"/>
            <p:cNvSpPr/>
            <p:nvPr/>
          </p:nvSpPr>
          <p:spPr>
            <a:xfrm>
              <a:off x="7792935" y="2437320"/>
              <a:ext cx="1411082" cy="406958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2" name="rect 942"/>
            <p:cNvSpPr/>
            <p:nvPr/>
          </p:nvSpPr>
          <p:spPr>
            <a:xfrm>
              <a:off x="7792225" y="1469097"/>
              <a:ext cx="1412506" cy="406958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4" name="rect 944"/>
            <p:cNvSpPr/>
            <p:nvPr/>
          </p:nvSpPr>
          <p:spPr>
            <a:xfrm>
              <a:off x="7791513" y="1959647"/>
              <a:ext cx="1412505" cy="406958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6" name="rect 946"/>
            <p:cNvSpPr/>
            <p:nvPr/>
          </p:nvSpPr>
          <p:spPr>
            <a:xfrm>
              <a:off x="143218" y="149719"/>
              <a:ext cx="4463795" cy="2909315"/>
            </a:xfrm>
            <a:prstGeom prst="rect">
              <a:avLst/>
            </a:prstGeom>
            <a:solidFill>
              <a:srgbClr val="8497B0">
                <a:alpha val="4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8" name="rect 948"/>
            <p:cNvSpPr/>
            <p:nvPr/>
          </p:nvSpPr>
          <p:spPr>
            <a:xfrm>
              <a:off x="284950" y="1440547"/>
              <a:ext cx="4154423" cy="7269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0" name="rect 950"/>
            <p:cNvSpPr/>
            <p:nvPr/>
          </p:nvSpPr>
          <p:spPr>
            <a:xfrm>
              <a:off x="284950" y="2249792"/>
              <a:ext cx="4154423" cy="6659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2" name="rect 952"/>
            <p:cNvSpPr/>
            <p:nvPr/>
          </p:nvSpPr>
          <p:spPr>
            <a:xfrm>
              <a:off x="2396795" y="1727593"/>
              <a:ext cx="900607" cy="324015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4" name="textbox 954"/>
            <p:cNvSpPr/>
            <p:nvPr/>
          </p:nvSpPr>
          <p:spPr>
            <a:xfrm>
              <a:off x="2096740" y="247015"/>
              <a:ext cx="6922134" cy="24815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338320" algn="l" rtl="0" eaLnBrk="0">
                <a:lnSpc>
                  <a:spcPts val="1580"/>
                </a:lnSpc>
              </a:pPr>
              <a:r>
                <a:rPr sz="1200" b="1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指标计算引擎（</a:t>
              </a:r>
              <a:r>
                <a:rPr sz="1200" b="1" kern="0" spc="-1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b="1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HME）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4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789045" algn="l" rtl="0" eaLnBrk="0">
                <a:lnSpc>
                  <a:spcPct val="95000"/>
                </a:lnSpc>
                <a:spcBef>
                  <a:spcPts val="310"/>
                </a:spcBef>
              </a:pPr>
              <a:r>
                <a:rPr sz="1000" b="1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指标查询优化策略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981700" indent="-127635" algn="l" rtl="0" eaLnBrk="0">
                <a:lnSpc>
                  <a:spcPct val="105000"/>
                </a:lnSpc>
                <a:spcBef>
                  <a:spcPts val="280"/>
                </a:spcBef>
              </a:pPr>
              <a:r>
                <a:rPr sz="9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任务合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        </a:t>
              </a: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并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4492625" algn="l" rtl="0" eaLnBrk="0">
                <a:lnSpc>
                  <a:spcPct val="99000"/>
                </a:lnSpc>
                <a:spcBef>
                  <a:spcPts val="365"/>
                </a:spcBef>
              </a:pPr>
              <a:r>
                <a:rPr sz="9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查询路由优化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6191250" indent="-297180" algn="l" rtl="0" eaLnBrk="0">
                <a:lnSpc>
                  <a:spcPct val="106000"/>
                </a:lnSpc>
                <a:spcBef>
                  <a:spcPts val="35"/>
                </a:spcBef>
              </a:pPr>
              <a:r>
                <a:rPr sz="9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跨模型指标表自动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replace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666750" algn="l" rtl="0" eaLnBrk="0">
                <a:lnSpc>
                  <a:spcPts val="1205"/>
                </a:lnSpc>
                <a:spcBef>
                  <a:spcPts val="440"/>
                </a:spcBef>
              </a:pP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表)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6190615" indent="-295275" algn="l" rtl="0" eaLnBrk="0">
                <a:lnSpc>
                  <a:spcPct val="102000"/>
                </a:lnSpc>
                <a:spcBef>
                  <a:spcPts val="15"/>
                </a:spcBef>
              </a:pPr>
              <a:r>
                <a:rPr sz="9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单模型指标表自动</a:t>
              </a:r>
              <a:r>
                <a:rPr sz="900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replace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" algn="l" rtl="0" eaLnBrk="0">
                <a:lnSpc>
                  <a:spcPct val="100000"/>
                </a:lnSpc>
                <a:spcBef>
                  <a:spcPts val="125"/>
                </a:spcBef>
              </a:pPr>
              <a:r>
                <a:rPr sz="9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数据准备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13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908675" algn="l" rtl="0" eaLnBrk="0">
                <a:lnSpc>
                  <a:spcPts val="1285"/>
                </a:lnSpc>
              </a:pPr>
              <a:r>
                <a:rPr sz="9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数据模型自动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join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56" name="rect 956"/>
            <p:cNvSpPr/>
            <p:nvPr/>
          </p:nvSpPr>
          <p:spPr>
            <a:xfrm>
              <a:off x="284950" y="606919"/>
              <a:ext cx="4152900" cy="72694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58" name="rect 958"/>
            <p:cNvSpPr/>
            <p:nvPr/>
          </p:nvSpPr>
          <p:spPr>
            <a:xfrm>
              <a:off x="5193754" y="1820023"/>
              <a:ext cx="2423159" cy="1095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0" name="rect 960"/>
            <p:cNvSpPr/>
            <p:nvPr/>
          </p:nvSpPr>
          <p:spPr>
            <a:xfrm>
              <a:off x="401409" y="2522079"/>
              <a:ext cx="1026693" cy="324015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2" name="rect 962"/>
            <p:cNvSpPr/>
            <p:nvPr/>
          </p:nvSpPr>
          <p:spPr>
            <a:xfrm>
              <a:off x="3394481" y="2522079"/>
              <a:ext cx="900607" cy="324015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4" name="rect 964"/>
            <p:cNvSpPr/>
            <p:nvPr/>
          </p:nvSpPr>
          <p:spPr>
            <a:xfrm>
              <a:off x="401409" y="1727593"/>
              <a:ext cx="900607" cy="324015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6" name="rect 966"/>
            <p:cNvSpPr/>
            <p:nvPr/>
          </p:nvSpPr>
          <p:spPr>
            <a:xfrm>
              <a:off x="1399095" y="1727593"/>
              <a:ext cx="900607" cy="324015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68" name="rect 968"/>
            <p:cNvSpPr/>
            <p:nvPr/>
          </p:nvSpPr>
          <p:spPr>
            <a:xfrm>
              <a:off x="3394481" y="1727593"/>
              <a:ext cx="900607" cy="324015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0" name="rect 970"/>
            <p:cNvSpPr/>
            <p:nvPr/>
          </p:nvSpPr>
          <p:spPr>
            <a:xfrm>
              <a:off x="2396807" y="2522079"/>
              <a:ext cx="900607" cy="324015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2" name="rect 972"/>
            <p:cNvSpPr/>
            <p:nvPr/>
          </p:nvSpPr>
          <p:spPr>
            <a:xfrm>
              <a:off x="1390929" y="912215"/>
              <a:ext cx="900607" cy="324002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4" name="rect 974"/>
            <p:cNvSpPr/>
            <p:nvPr/>
          </p:nvSpPr>
          <p:spPr>
            <a:xfrm>
              <a:off x="2388616" y="912215"/>
              <a:ext cx="900607" cy="324002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6" name="rect 976"/>
            <p:cNvSpPr/>
            <p:nvPr/>
          </p:nvSpPr>
          <p:spPr>
            <a:xfrm>
              <a:off x="3386315" y="912215"/>
              <a:ext cx="900607" cy="324002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8" name="rect 978"/>
            <p:cNvSpPr/>
            <p:nvPr/>
          </p:nvSpPr>
          <p:spPr>
            <a:xfrm>
              <a:off x="393243" y="912215"/>
              <a:ext cx="900607" cy="324002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0" name="rect 980"/>
            <p:cNvSpPr/>
            <p:nvPr/>
          </p:nvSpPr>
          <p:spPr>
            <a:xfrm>
              <a:off x="6464769" y="2528684"/>
              <a:ext cx="1008888" cy="282181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2" name="rect 982"/>
            <p:cNvSpPr/>
            <p:nvPr/>
          </p:nvSpPr>
          <p:spPr>
            <a:xfrm>
              <a:off x="5330914" y="2187307"/>
              <a:ext cx="1007364" cy="281940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4" name="rect 984"/>
            <p:cNvSpPr/>
            <p:nvPr/>
          </p:nvSpPr>
          <p:spPr>
            <a:xfrm>
              <a:off x="6464769" y="2187307"/>
              <a:ext cx="1007364" cy="281940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6" name="rect 986"/>
            <p:cNvSpPr/>
            <p:nvPr/>
          </p:nvSpPr>
          <p:spPr>
            <a:xfrm>
              <a:off x="5330914" y="1314055"/>
              <a:ext cx="1007364" cy="281940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8" name="rect 988"/>
            <p:cNvSpPr/>
            <p:nvPr/>
          </p:nvSpPr>
          <p:spPr>
            <a:xfrm>
              <a:off x="6464769" y="972680"/>
              <a:ext cx="1007364" cy="281940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0" name="rect 990"/>
            <p:cNvSpPr/>
            <p:nvPr/>
          </p:nvSpPr>
          <p:spPr>
            <a:xfrm>
              <a:off x="5330914" y="972680"/>
              <a:ext cx="1007364" cy="281940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2" name="rect 992"/>
            <p:cNvSpPr/>
            <p:nvPr/>
          </p:nvSpPr>
          <p:spPr>
            <a:xfrm>
              <a:off x="5343105" y="2528684"/>
              <a:ext cx="995171" cy="281940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4" name="rect 994"/>
            <p:cNvSpPr/>
            <p:nvPr/>
          </p:nvSpPr>
          <p:spPr>
            <a:xfrm>
              <a:off x="8522576" y="1010729"/>
              <a:ext cx="687019" cy="374777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96" name="rect 996"/>
            <p:cNvSpPr/>
            <p:nvPr/>
          </p:nvSpPr>
          <p:spPr>
            <a:xfrm>
              <a:off x="1525168" y="2522079"/>
              <a:ext cx="774572" cy="324015"/>
            </a:xfrm>
            <a:prstGeom prst="rect">
              <a:avLst/>
            </a:prstGeom>
            <a:solidFill>
              <a:srgbClr val="F1F7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998" name="picture 99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4613135" y="1469986"/>
              <a:ext cx="381203" cy="282663"/>
            </a:xfrm>
            <a:prstGeom prst="rect">
              <a:avLst/>
            </a:prstGeom>
          </p:spPr>
        </p:pic>
      </p:grpSp>
      <p:sp>
        <p:nvSpPr>
          <p:cNvPr id="1000" name="textbox 1000"/>
          <p:cNvSpPr/>
          <p:nvPr/>
        </p:nvSpPr>
        <p:spPr>
          <a:xfrm>
            <a:off x="4366461" y="4126545"/>
            <a:ext cx="699769" cy="188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85"/>
              </a:lnSpc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星型模型(多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2" name="textbox 1002"/>
          <p:cNvSpPr/>
          <p:nvPr/>
        </p:nvSpPr>
        <p:spPr>
          <a:xfrm>
            <a:off x="5448100" y="4224969"/>
            <a:ext cx="531494" cy="16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维度构建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4" name="textbox 1004"/>
          <p:cNvSpPr/>
          <p:nvPr/>
        </p:nvSpPr>
        <p:spPr>
          <a:xfrm>
            <a:off x="5440946" y="3410855"/>
            <a:ext cx="530225" cy="161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组合指标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6" name="textbox 1006"/>
          <p:cNvSpPr/>
          <p:nvPr/>
        </p:nvSpPr>
        <p:spPr>
          <a:xfrm>
            <a:off x="10546029" y="3459077"/>
            <a:ext cx="390525" cy="314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095" indent="-112395" algn="l" rtl="0" eaLnBrk="0">
              <a:lnSpc>
                <a:spcPct val="105000"/>
              </a:lnSpc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自动补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8" name="textbox 1008"/>
          <p:cNvSpPr/>
          <p:nvPr/>
        </p:nvSpPr>
        <p:spPr>
          <a:xfrm>
            <a:off x="7373235" y="4664893"/>
            <a:ext cx="65913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分场景优化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0" name="textbox 1010"/>
          <p:cNvSpPr/>
          <p:nvPr/>
        </p:nvSpPr>
        <p:spPr>
          <a:xfrm>
            <a:off x="8522486" y="5006523"/>
            <a:ext cx="6445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自动预打宽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2" name="textbox 1012"/>
          <p:cNvSpPr/>
          <p:nvPr/>
        </p:nvSpPr>
        <p:spPr>
          <a:xfrm>
            <a:off x="7674643" y="4344270"/>
            <a:ext cx="1224914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指标预计算优化策略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4" name="textbox 1014"/>
          <p:cNvSpPr/>
          <p:nvPr/>
        </p:nvSpPr>
        <p:spPr>
          <a:xfrm>
            <a:off x="8521941" y="4664893"/>
            <a:ext cx="64452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自动重分区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6" name="textbox 1016"/>
          <p:cNvSpPr/>
          <p:nvPr/>
        </p:nvSpPr>
        <p:spPr>
          <a:xfrm>
            <a:off x="7381240" y="5006675"/>
            <a:ext cx="657859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预聚合计算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8" name="textbox 1018"/>
          <p:cNvSpPr/>
          <p:nvPr/>
        </p:nvSpPr>
        <p:spPr>
          <a:xfrm>
            <a:off x="10118156" y="3137005"/>
            <a:ext cx="531494" cy="161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b="1" kern="0" spc="90" dirty="0">
                <a:solidFill>
                  <a:srgbClr val="19191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任务管理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0" name="rect 1020"/>
          <p:cNvSpPr/>
          <p:nvPr/>
        </p:nvSpPr>
        <p:spPr>
          <a:xfrm>
            <a:off x="1868424" y="1185671"/>
            <a:ext cx="9605771" cy="833628"/>
          </a:xfrm>
          <a:prstGeom prst="rect">
            <a:avLst/>
          </a:prstGeom>
          <a:solidFill>
            <a:srgbClr val="ED7D31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2057400" y="1584959"/>
            <a:ext cx="9174480" cy="309372"/>
            <a:chOff x="0" y="0"/>
            <a:chExt cx="9174480" cy="309372"/>
          </a:xfrm>
        </p:grpSpPr>
        <p:sp>
          <p:nvSpPr>
            <p:cNvPr id="1022" name="path 1022"/>
            <p:cNvSpPr/>
            <p:nvPr/>
          </p:nvSpPr>
          <p:spPr>
            <a:xfrm>
              <a:off x="0" y="0"/>
              <a:ext cx="9174480" cy="309372"/>
            </a:xfrm>
            <a:custGeom>
              <a:avLst/>
              <a:gdLst/>
              <a:ahLst/>
              <a:cxnLst/>
              <a:rect l="0" t="0" r="0" b="0"/>
              <a:pathLst>
                <a:path w="14448" h="487">
                  <a:moveTo>
                    <a:pt x="0" y="0"/>
                  </a:moveTo>
                  <a:lnTo>
                    <a:pt x="2162" y="0"/>
                  </a:lnTo>
                  <a:lnTo>
                    <a:pt x="2162" y="487"/>
                  </a:lnTo>
                  <a:lnTo>
                    <a:pt x="0" y="487"/>
                  </a:lnTo>
                  <a:lnTo>
                    <a:pt x="0" y="0"/>
                  </a:lnTo>
                  <a:close/>
                </a:path>
                <a:path w="14448" h="487">
                  <a:moveTo>
                    <a:pt x="9840" y="0"/>
                  </a:moveTo>
                  <a:lnTo>
                    <a:pt x="12000" y="0"/>
                  </a:lnTo>
                  <a:lnTo>
                    <a:pt x="12000" y="487"/>
                  </a:lnTo>
                  <a:lnTo>
                    <a:pt x="9840" y="487"/>
                  </a:lnTo>
                  <a:lnTo>
                    <a:pt x="9840" y="0"/>
                  </a:lnTo>
                  <a:close/>
                </a:path>
                <a:path w="14448" h="487">
                  <a:moveTo>
                    <a:pt x="2443" y="0"/>
                  </a:moveTo>
                  <a:lnTo>
                    <a:pt x="4603" y="0"/>
                  </a:lnTo>
                  <a:lnTo>
                    <a:pt x="4603" y="487"/>
                  </a:lnTo>
                  <a:lnTo>
                    <a:pt x="2443" y="487"/>
                  </a:lnTo>
                  <a:lnTo>
                    <a:pt x="2443" y="0"/>
                  </a:lnTo>
                  <a:close/>
                </a:path>
                <a:path w="14448" h="487">
                  <a:moveTo>
                    <a:pt x="4932" y="0"/>
                  </a:moveTo>
                  <a:lnTo>
                    <a:pt x="7091" y="0"/>
                  </a:lnTo>
                  <a:lnTo>
                    <a:pt x="7091" y="487"/>
                  </a:lnTo>
                  <a:lnTo>
                    <a:pt x="4932" y="487"/>
                  </a:lnTo>
                  <a:lnTo>
                    <a:pt x="4932" y="0"/>
                  </a:lnTo>
                  <a:close/>
                </a:path>
                <a:path w="14448" h="487">
                  <a:moveTo>
                    <a:pt x="7391" y="0"/>
                  </a:moveTo>
                  <a:lnTo>
                    <a:pt x="9551" y="0"/>
                  </a:lnTo>
                  <a:lnTo>
                    <a:pt x="9551" y="487"/>
                  </a:lnTo>
                  <a:lnTo>
                    <a:pt x="7391" y="487"/>
                  </a:lnTo>
                  <a:lnTo>
                    <a:pt x="7391" y="0"/>
                  </a:lnTo>
                  <a:close/>
                </a:path>
                <a:path w="14448" h="487">
                  <a:moveTo>
                    <a:pt x="12288" y="0"/>
                  </a:moveTo>
                  <a:lnTo>
                    <a:pt x="14448" y="0"/>
                  </a:lnTo>
                  <a:lnTo>
                    <a:pt x="14448" y="487"/>
                  </a:lnTo>
                  <a:lnTo>
                    <a:pt x="12288" y="487"/>
                  </a:lnTo>
                  <a:lnTo>
                    <a:pt x="1228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4" name="textbox 1024"/>
            <p:cNvSpPr/>
            <p:nvPr/>
          </p:nvSpPr>
          <p:spPr>
            <a:xfrm>
              <a:off x="-12700" y="-12700"/>
              <a:ext cx="9200515" cy="3352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63550" algn="l" rtl="0" eaLnBrk="0">
                <a:lnSpc>
                  <a:spcPts val="1285"/>
                </a:lnSpc>
                <a:spcBef>
                  <a:spcPts val="5"/>
                </a:spcBef>
              </a:pPr>
              <a:r>
                <a:rPr sz="900" kern="0" spc="50" dirty="0">
                  <a:solidFill>
                    <a:srgbClr val="19191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目标管理             </a:t>
              </a:r>
              <a:r>
                <a:rPr sz="900" kern="0" spc="40" dirty="0">
                  <a:solidFill>
                    <a:srgbClr val="19191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智能预警归因                       指标</a:t>
              </a:r>
              <a:r>
                <a:rPr sz="900" kern="0" spc="0" dirty="0">
                  <a:solidFill>
                    <a:srgbClr val="19191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Copilot</a:t>
              </a:r>
              <a:r>
                <a:rPr sz="900" kern="0" spc="40" dirty="0">
                  <a:solidFill>
                    <a:srgbClr val="191919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                 指标自助取数                         指标看板                            指标市场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026" name="picture 1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71716" y="5670778"/>
            <a:ext cx="411505" cy="260642"/>
          </a:xfrm>
          <a:prstGeom prst="rect">
            <a:avLst/>
          </a:prstGeom>
        </p:spPr>
      </p:pic>
      <p:sp>
        <p:nvSpPr>
          <p:cNvPr id="1028" name="textbox 1028"/>
          <p:cNvSpPr/>
          <p:nvPr/>
        </p:nvSpPr>
        <p:spPr>
          <a:xfrm>
            <a:off x="1868424" y="5990844"/>
            <a:ext cx="9606280" cy="462280"/>
          </a:xfrm>
          <a:prstGeom prst="rect">
            <a:avLst/>
          </a:prstGeom>
          <a:solidFill>
            <a:srgbClr val="C55A11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95625" algn="l" rtl="0" eaLnBrk="0">
              <a:lnSpc>
                <a:spcPts val="1815"/>
              </a:lnSpc>
              <a:spcBef>
                <a:spcPts val="5"/>
              </a:spcBef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存储与计算引擎Doris/St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arRocks/SelectDB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0" name="textbox 1030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32" name="picture 10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graphicFrame>
        <p:nvGraphicFramePr>
          <p:cNvPr id="1034" name="table 1034"/>
          <p:cNvGraphicFramePr>
            <a:graphicFrameLocks noGrp="1"/>
          </p:cNvGraphicFramePr>
          <p:nvPr/>
        </p:nvGraphicFramePr>
        <p:xfrm>
          <a:off x="4293260" y="2094903"/>
          <a:ext cx="890904" cy="260984"/>
        </p:xfrm>
        <a:graphic>
          <a:graphicData uri="http://schemas.openxmlformats.org/drawingml/2006/table">
            <a:tbl>
              <a:tblPr/>
              <a:tblGrid>
                <a:gridCol w="890904"/>
              </a:tblGrid>
              <a:tr h="2546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0505" algn="l" rtl="0" eaLnBrk="0">
                        <a:lnSpc>
                          <a:spcPts val="1285"/>
                        </a:lnSpc>
                        <a:spcBef>
                          <a:spcPts val="0"/>
                        </a:spcBef>
                      </a:pPr>
                      <a:r>
                        <a:rPr sz="900" kern="0" spc="30" dirty="0">
                          <a:solidFill>
                            <a:srgbClr val="19191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RESTful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36" name="table 1036"/>
          <p:cNvGraphicFramePr>
            <a:graphicFrameLocks noGrp="1"/>
          </p:cNvGraphicFramePr>
          <p:nvPr/>
        </p:nvGraphicFramePr>
        <p:xfrm>
          <a:off x="7065619" y="2094903"/>
          <a:ext cx="890905" cy="260984"/>
        </p:xfrm>
        <a:graphic>
          <a:graphicData uri="http://schemas.openxmlformats.org/drawingml/2006/table">
            <a:tbl>
              <a:tblPr/>
              <a:tblGrid>
                <a:gridCol w="890905"/>
              </a:tblGrid>
              <a:tr h="2546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210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900" kern="0" spc="30" dirty="0">
                          <a:solidFill>
                            <a:srgbClr val="19191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38" name="table 1038"/>
          <p:cNvGraphicFramePr>
            <a:graphicFrameLocks noGrp="1"/>
          </p:cNvGraphicFramePr>
          <p:nvPr/>
        </p:nvGraphicFramePr>
        <p:xfrm>
          <a:off x="5409107" y="2094903"/>
          <a:ext cx="890904" cy="260984"/>
        </p:xfrm>
        <a:graphic>
          <a:graphicData uri="http://schemas.openxmlformats.org/drawingml/2006/table">
            <a:tbl>
              <a:tblPr/>
              <a:tblGrid>
                <a:gridCol w="890904"/>
              </a:tblGrid>
              <a:tr h="2546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6215" algn="l" rtl="0" eaLnBrk="0">
                        <a:lnSpc>
                          <a:spcPts val="1285"/>
                        </a:lnSpc>
                        <a:spcBef>
                          <a:spcPts val="0"/>
                        </a:spcBef>
                      </a:pPr>
                      <a:r>
                        <a:rPr sz="900" kern="0" spc="40" dirty="0">
                          <a:solidFill>
                            <a:srgbClr val="19191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Java API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40" name="picture 10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72999" y="2073237"/>
            <a:ext cx="411518" cy="260642"/>
          </a:xfrm>
          <a:prstGeom prst="rect">
            <a:avLst/>
          </a:prstGeom>
        </p:spPr>
      </p:pic>
      <p:sp>
        <p:nvSpPr>
          <p:cNvPr id="1042" name="textbox 1042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4" name="textbox 1044"/>
          <p:cNvSpPr/>
          <p:nvPr/>
        </p:nvSpPr>
        <p:spPr>
          <a:xfrm>
            <a:off x="2454649" y="4225853"/>
            <a:ext cx="53213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模型管理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6" name="textbox 1046"/>
          <p:cNvSpPr/>
          <p:nvPr/>
        </p:nvSpPr>
        <p:spPr>
          <a:xfrm>
            <a:off x="2453888" y="5020340"/>
            <a:ext cx="65913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数据源管理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" name="textbox 1048"/>
          <p:cNvSpPr/>
          <p:nvPr/>
        </p:nvSpPr>
        <p:spPr>
          <a:xfrm>
            <a:off x="3634244" y="2660663"/>
            <a:ext cx="1196339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80"/>
              </a:lnSpc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指标管理（</a:t>
            </a:r>
            <a:r>
              <a:rPr sz="1100" b="1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HM）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0" name="textbox 1050"/>
          <p:cNvSpPr/>
          <p:nvPr/>
        </p:nvSpPr>
        <p:spPr>
          <a:xfrm>
            <a:off x="2446989" y="3410476"/>
            <a:ext cx="531494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指标定义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2" name="textbox 1052"/>
          <p:cNvSpPr/>
          <p:nvPr/>
        </p:nvSpPr>
        <p:spPr>
          <a:xfrm>
            <a:off x="549478" y="259536"/>
            <a:ext cx="445198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1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数据建模右移</a:t>
            </a:r>
            <a:r>
              <a:rPr sz="2300" kern="0" spc="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300" kern="0" spc="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HeadlessBI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架构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4" name="textbox 1054"/>
          <p:cNvSpPr/>
          <p:nvPr/>
        </p:nvSpPr>
        <p:spPr>
          <a:xfrm>
            <a:off x="576072" y="2409444"/>
            <a:ext cx="1181100" cy="3203575"/>
          </a:xfrm>
          <a:prstGeom prst="rect">
            <a:avLst/>
          </a:prstGeom>
          <a:solidFill>
            <a:srgbClr val="4472C4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9735" algn="l" rtl="0" eaLnBrk="0">
              <a:lnSpc>
                <a:spcPct val="84000"/>
              </a:lnSpc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32105" algn="l" rtl="0" eaLnBrk="0">
              <a:lnSpc>
                <a:spcPts val="1875"/>
              </a:lnSpc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处理层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56" name="textbox 1056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58" name="textbox 1058"/>
          <p:cNvSpPr/>
          <p:nvPr/>
        </p:nvSpPr>
        <p:spPr>
          <a:xfrm>
            <a:off x="575944" y="1182623"/>
            <a:ext cx="1181735" cy="833755"/>
          </a:xfrm>
          <a:prstGeom prst="rect">
            <a:avLst/>
          </a:prstGeom>
          <a:solidFill>
            <a:srgbClr val="4472C4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8295" algn="l" rtl="0" eaLnBrk="0">
              <a:lnSpc>
                <a:spcPct val="95000"/>
              </a:lnSpc>
              <a:spcBef>
                <a:spcPts val="5"/>
              </a:spcBef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应用层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60" name="textbox 1060"/>
          <p:cNvSpPr/>
          <p:nvPr/>
        </p:nvSpPr>
        <p:spPr>
          <a:xfrm>
            <a:off x="577596" y="5990844"/>
            <a:ext cx="1179830" cy="462280"/>
          </a:xfrm>
          <a:prstGeom prst="rect">
            <a:avLst/>
          </a:prstGeom>
          <a:solidFill>
            <a:srgbClr val="4472C4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7025" algn="l" rtl="0" eaLnBrk="0">
              <a:lnSpc>
                <a:spcPct val="95000"/>
              </a:lnSpc>
              <a:spcBef>
                <a:spcPts val="5"/>
              </a:spcBef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物理层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62" name="picture 10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graphicFrame>
        <p:nvGraphicFramePr>
          <p:cNvPr id="1064" name="table 1064"/>
          <p:cNvGraphicFramePr>
            <a:graphicFrameLocks noGrp="1"/>
          </p:cNvGraphicFramePr>
          <p:nvPr/>
        </p:nvGraphicFramePr>
        <p:xfrm>
          <a:off x="8181467" y="2094903"/>
          <a:ext cx="890905" cy="260984"/>
        </p:xfrm>
        <a:graphic>
          <a:graphicData uri="http://schemas.openxmlformats.org/drawingml/2006/table">
            <a:tbl>
              <a:tblPr/>
              <a:tblGrid>
                <a:gridCol w="890905"/>
              </a:tblGrid>
              <a:tr h="2546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670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900" kern="0" spc="40" dirty="0">
                          <a:solidFill>
                            <a:srgbClr val="191919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MDX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66" name="textbox 1066"/>
          <p:cNvSpPr/>
          <p:nvPr/>
        </p:nvSpPr>
        <p:spPr>
          <a:xfrm>
            <a:off x="3368762" y="4126545"/>
            <a:ext cx="699769" cy="340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40"/>
              </a:lnSpc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宽表模型(单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5430" algn="l" rtl="0" eaLnBrk="0">
              <a:lnSpc>
                <a:spcPts val="1240"/>
              </a:lnSpc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表)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8" name="textbox 1068"/>
          <p:cNvSpPr/>
          <p:nvPr/>
        </p:nvSpPr>
        <p:spPr>
          <a:xfrm>
            <a:off x="6355600" y="1315301"/>
            <a:ext cx="633094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指标应用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0" name="textbox 1070"/>
          <p:cNvSpPr/>
          <p:nvPr/>
        </p:nvSpPr>
        <p:spPr>
          <a:xfrm>
            <a:off x="7374930" y="3792855"/>
            <a:ext cx="657859" cy="161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预聚合数据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2" name="textbox 1072"/>
          <p:cNvSpPr/>
          <p:nvPr/>
        </p:nvSpPr>
        <p:spPr>
          <a:xfrm>
            <a:off x="5447595" y="5020467"/>
            <a:ext cx="53213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数据拉取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4" name="textbox 1074"/>
          <p:cNvSpPr/>
          <p:nvPr/>
        </p:nvSpPr>
        <p:spPr>
          <a:xfrm>
            <a:off x="4449921" y="5020593"/>
            <a:ext cx="53213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数据推送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6" name="textbox 1076"/>
          <p:cNvSpPr/>
          <p:nvPr/>
        </p:nvSpPr>
        <p:spPr>
          <a:xfrm>
            <a:off x="3965202" y="3922603"/>
            <a:ext cx="532130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8" name="textbox 1078"/>
          <p:cNvSpPr/>
          <p:nvPr/>
        </p:nvSpPr>
        <p:spPr>
          <a:xfrm>
            <a:off x="8572173" y="3449937"/>
            <a:ext cx="531494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查询缓存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0" name="textbox 1080"/>
          <p:cNvSpPr/>
          <p:nvPr/>
        </p:nvSpPr>
        <p:spPr>
          <a:xfrm>
            <a:off x="4442488" y="3410602"/>
            <a:ext cx="531494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规则派生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2" name="textbox 1082"/>
          <p:cNvSpPr/>
          <p:nvPr/>
        </p:nvSpPr>
        <p:spPr>
          <a:xfrm>
            <a:off x="3444675" y="3410476"/>
            <a:ext cx="531494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指标绑定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4" name="textbox 1084"/>
          <p:cNvSpPr/>
          <p:nvPr/>
        </p:nvSpPr>
        <p:spPr>
          <a:xfrm>
            <a:off x="3964690" y="3088847"/>
            <a:ext cx="531494" cy="161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指标开发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6" name="textbox 1086"/>
          <p:cNvSpPr/>
          <p:nvPr/>
        </p:nvSpPr>
        <p:spPr>
          <a:xfrm>
            <a:off x="7437925" y="3450695"/>
            <a:ext cx="531494" cy="161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指标联合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8" name="textbox 1088"/>
          <p:cNvSpPr/>
          <p:nvPr/>
        </p:nvSpPr>
        <p:spPr>
          <a:xfrm>
            <a:off x="3578914" y="5019961"/>
            <a:ext cx="40449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表管理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" name="picture 10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459799" y="2692590"/>
            <a:ext cx="4914327" cy="1210754"/>
          </a:xfrm>
          <a:prstGeom prst="rect">
            <a:avLst/>
          </a:prstGeom>
        </p:spPr>
      </p:pic>
      <p:sp>
        <p:nvSpPr>
          <p:cNvPr id="1092" name="textbox 1092"/>
          <p:cNvSpPr/>
          <p:nvPr/>
        </p:nvSpPr>
        <p:spPr>
          <a:xfrm>
            <a:off x="4949385" y="2781351"/>
            <a:ext cx="215900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Metric = Condition*</a:t>
            </a:r>
            <a:r>
              <a:rPr sz="800" kern="0" spc="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(Function*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(Measure) )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94" name="picture 10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pic>
        <p:nvPicPr>
          <p:cNvPr id="1096" name="picture 10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42152" y="4751717"/>
            <a:ext cx="348907" cy="8838"/>
          </a:xfrm>
          <a:prstGeom prst="rect">
            <a:avLst/>
          </a:prstGeom>
        </p:spPr>
      </p:pic>
      <p:pic>
        <p:nvPicPr>
          <p:cNvPr id="1098" name="picture 10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940706" y="4668634"/>
            <a:ext cx="893622" cy="173748"/>
          </a:xfrm>
          <a:prstGeom prst="rect">
            <a:avLst/>
          </a:prstGeom>
        </p:spPr>
      </p:pic>
      <p:pic>
        <p:nvPicPr>
          <p:cNvPr id="1100" name="picture 1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4855" y="4149153"/>
            <a:ext cx="5908471" cy="1315415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 rot="21600000">
            <a:off x="5189499" y="2966618"/>
            <a:ext cx="1031544" cy="293446"/>
            <a:chOff x="0" y="0"/>
            <a:chExt cx="1031544" cy="293446"/>
          </a:xfrm>
        </p:grpSpPr>
        <p:pic>
          <p:nvPicPr>
            <p:cNvPr id="1102" name="picture 110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031544" cy="293446"/>
            </a:xfrm>
            <a:prstGeom prst="rect">
              <a:avLst/>
            </a:prstGeom>
          </p:spPr>
        </p:pic>
        <p:sp>
          <p:nvSpPr>
            <p:cNvPr id="1104" name="textbox 1104"/>
            <p:cNvSpPr/>
            <p:nvPr/>
          </p:nvSpPr>
          <p:spPr>
            <a:xfrm>
              <a:off x="-12700" y="-12700"/>
              <a:ext cx="1057275" cy="3333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64160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衍</a:t>
              </a:r>
              <a:r>
                <a:rPr sz="800" kern="0" spc="-13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生</a:t>
              </a:r>
              <a:r>
                <a:rPr sz="800" kern="0" spc="-1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指</a:t>
              </a:r>
              <a:r>
                <a:rPr sz="800" kern="0" spc="-17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标</a:t>
              </a:r>
              <a:r>
                <a:rPr sz="800" kern="0" spc="-18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D</a:t>
              </a:r>
              <a:endParaRPr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1106" name="picture 11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2816" y="3252736"/>
            <a:ext cx="111671" cy="333311"/>
          </a:xfrm>
          <a:prstGeom prst="rect">
            <a:avLst/>
          </a:prstGeom>
        </p:spPr>
      </p:pic>
      <p:pic>
        <p:nvPicPr>
          <p:cNvPr id="1108" name="picture 11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593111" y="4658220"/>
            <a:ext cx="893622" cy="173761"/>
          </a:xfrm>
          <a:prstGeom prst="rect">
            <a:avLst/>
          </a:prstGeom>
        </p:spPr>
      </p:pic>
      <p:pic>
        <p:nvPicPr>
          <p:cNvPr id="1110" name="picture 11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961730" y="4392447"/>
            <a:ext cx="5262397" cy="950760"/>
          </a:xfrm>
          <a:prstGeom prst="rect">
            <a:avLst/>
          </a:prstGeom>
        </p:spPr>
      </p:pic>
      <p:pic>
        <p:nvPicPr>
          <p:cNvPr id="1112" name="picture 11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264175" y="3603218"/>
            <a:ext cx="1930069" cy="838936"/>
          </a:xfrm>
          <a:prstGeom prst="rect">
            <a:avLst/>
          </a:prstGeom>
        </p:spPr>
      </p:pic>
      <p:pic>
        <p:nvPicPr>
          <p:cNvPr id="1114" name="picture 11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206301" y="3420579"/>
            <a:ext cx="1031544" cy="293446"/>
          </a:xfrm>
          <a:prstGeom prst="rect">
            <a:avLst/>
          </a:prstGeom>
        </p:spPr>
      </p:pic>
      <p:pic>
        <p:nvPicPr>
          <p:cNvPr id="1116" name="picture 11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828160" y="3217379"/>
            <a:ext cx="198628" cy="200012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 rot="21600000">
            <a:off x="3804539" y="2951633"/>
            <a:ext cx="1031544" cy="293446"/>
            <a:chOff x="0" y="0"/>
            <a:chExt cx="1031544" cy="293446"/>
          </a:xfrm>
        </p:grpSpPr>
        <p:pic>
          <p:nvPicPr>
            <p:cNvPr id="1118" name="picture 111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1031544" cy="293446"/>
            </a:xfrm>
            <a:prstGeom prst="rect">
              <a:avLst/>
            </a:prstGeom>
          </p:spPr>
        </p:pic>
        <p:sp>
          <p:nvSpPr>
            <p:cNvPr id="1120" name="textbox 1120"/>
            <p:cNvSpPr/>
            <p:nvPr/>
          </p:nvSpPr>
          <p:spPr>
            <a:xfrm>
              <a:off x="-12700" y="-12700"/>
              <a:ext cx="1057275" cy="3333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81305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派</a:t>
              </a:r>
              <a:r>
                <a:rPr sz="800" kern="0" spc="-1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生</a:t>
              </a:r>
              <a:r>
                <a:rPr sz="800" kern="0" spc="-1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指</a:t>
              </a:r>
              <a:r>
                <a:rPr sz="800" kern="0" spc="-1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标</a:t>
              </a:r>
              <a:r>
                <a:rPr sz="800" kern="0" spc="-18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8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C</a:t>
              </a:r>
              <a:endParaRPr sz="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1122" name="picture 11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550566" y="3607498"/>
            <a:ext cx="928839" cy="1032903"/>
          </a:xfrm>
          <a:prstGeom prst="rect">
            <a:avLst/>
          </a:prstGeom>
        </p:spPr>
      </p:pic>
      <p:pic>
        <p:nvPicPr>
          <p:cNvPr id="1124" name="picture 11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400501" y="3477386"/>
            <a:ext cx="172059" cy="135483"/>
          </a:xfrm>
          <a:prstGeom prst="rect">
            <a:avLst/>
          </a:prstGeom>
        </p:spPr>
      </p:pic>
      <p:sp>
        <p:nvSpPr>
          <p:cNvPr id="1126" name="textbox 1126"/>
          <p:cNvSpPr/>
          <p:nvPr/>
        </p:nvSpPr>
        <p:spPr>
          <a:xfrm>
            <a:off x="3043596" y="4447680"/>
            <a:ext cx="1312544" cy="10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30"/>
              </a:lnSpc>
            </a:pP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Metric</a:t>
            </a:r>
            <a:r>
              <a:rPr sz="500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Model</a:t>
            </a:r>
            <a:r>
              <a:rPr sz="5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Table</a:t>
            </a:r>
            <a:r>
              <a:rPr sz="5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500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ismadeof</a:t>
            </a:r>
            <a:r>
              <a:rPr sz="5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sz="500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tables</a:t>
            </a:r>
            <a:endParaRPr sz="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28" name="picture 11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3988231" y="3718686"/>
            <a:ext cx="195820" cy="1620646"/>
          </a:xfrm>
          <a:prstGeom prst="rect">
            <a:avLst/>
          </a:prstGeom>
        </p:spPr>
      </p:pic>
      <p:pic>
        <p:nvPicPr>
          <p:cNvPr id="1130" name="picture 11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407625" y="3440226"/>
            <a:ext cx="1031544" cy="293446"/>
          </a:xfrm>
          <a:prstGeom prst="rect">
            <a:avLst/>
          </a:prstGeom>
        </p:spPr>
      </p:pic>
      <p:pic>
        <p:nvPicPr>
          <p:cNvPr id="1132" name="picture 113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276013" y="3223209"/>
            <a:ext cx="1193736" cy="262597"/>
          </a:xfrm>
          <a:prstGeom prst="rect">
            <a:avLst/>
          </a:prstGeom>
        </p:spPr>
      </p:pic>
      <p:pic>
        <p:nvPicPr>
          <p:cNvPr id="1134" name="picture 11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5789320" y="3251187"/>
            <a:ext cx="89725" cy="181914"/>
          </a:xfrm>
          <a:prstGeom prst="rect">
            <a:avLst/>
          </a:prstGeom>
        </p:spPr>
      </p:pic>
      <p:sp>
        <p:nvSpPr>
          <p:cNvPr id="1136" name="textbox 1136"/>
          <p:cNvSpPr/>
          <p:nvPr/>
        </p:nvSpPr>
        <p:spPr>
          <a:xfrm>
            <a:off x="5192001" y="3498723"/>
            <a:ext cx="83121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800" kern="0" spc="-5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8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sz="8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子</a:t>
            </a:r>
            <a:r>
              <a:rPr sz="800" kern="0" spc="-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</a:t>
            </a:r>
            <a:r>
              <a:rPr sz="800" kern="0" spc="-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</a:t>
            </a:r>
            <a:r>
              <a:rPr sz="800" kern="0" spc="-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endParaRPr sz="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38" name="picture 113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135642" y="4729733"/>
            <a:ext cx="679348" cy="413232"/>
          </a:xfrm>
          <a:prstGeom prst="rect">
            <a:avLst/>
          </a:prstGeom>
        </p:spPr>
      </p:pic>
      <p:pic>
        <p:nvPicPr>
          <p:cNvPr id="1140" name="picture 114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134652" y="4731537"/>
            <a:ext cx="383527" cy="408139"/>
          </a:xfrm>
          <a:prstGeom prst="rect">
            <a:avLst/>
          </a:prstGeom>
        </p:spPr>
      </p:pic>
      <p:pic>
        <p:nvPicPr>
          <p:cNvPr id="1142" name="picture 114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178937" y="5052059"/>
            <a:ext cx="186283" cy="184810"/>
          </a:xfrm>
          <a:prstGeom prst="rect">
            <a:avLst/>
          </a:prstGeom>
        </p:spPr>
      </p:pic>
      <p:pic>
        <p:nvPicPr>
          <p:cNvPr id="1144" name="picture 114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4361929" y="3613518"/>
            <a:ext cx="839546" cy="1701952"/>
          </a:xfrm>
          <a:prstGeom prst="rect">
            <a:avLst/>
          </a:prstGeom>
        </p:spPr>
      </p:pic>
      <p:sp>
        <p:nvSpPr>
          <p:cNvPr id="1146" name="textbox 1146"/>
          <p:cNvSpPr/>
          <p:nvPr/>
        </p:nvSpPr>
        <p:spPr>
          <a:xfrm>
            <a:off x="5382542" y="4447680"/>
            <a:ext cx="1312544" cy="10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30"/>
              </a:lnSpc>
            </a:pP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Metric</a:t>
            </a:r>
            <a:r>
              <a:rPr sz="500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Model</a:t>
            </a:r>
            <a:r>
              <a:rPr sz="5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Table</a:t>
            </a:r>
            <a:r>
              <a:rPr sz="5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sz="500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ismadeof</a:t>
            </a:r>
            <a:r>
              <a:rPr sz="500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500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tables</a:t>
            </a:r>
            <a:endParaRPr sz="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48" name="picture 114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211087" y="4516107"/>
            <a:ext cx="21158" cy="83934"/>
          </a:xfrm>
          <a:prstGeom prst="rect">
            <a:avLst/>
          </a:prstGeom>
        </p:spPr>
      </p:pic>
      <p:pic>
        <p:nvPicPr>
          <p:cNvPr id="1150" name="picture 115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6228448" y="4621364"/>
            <a:ext cx="12471" cy="31305"/>
          </a:xfrm>
          <a:prstGeom prst="rect">
            <a:avLst/>
          </a:prstGeom>
        </p:spPr>
      </p:pic>
      <p:pic>
        <p:nvPicPr>
          <p:cNvPr id="1152" name="picture 115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237122" y="4673993"/>
            <a:ext cx="38506" cy="189204"/>
          </a:xfrm>
          <a:prstGeom prst="rect">
            <a:avLst/>
          </a:prstGeom>
        </p:spPr>
      </p:pic>
      <p:sp>
        <p:nvSpPr>
          <p:cNvPr id="1154" name="textbox 1154"/>
          <p:cNvSpPr/>
          <p:nvPr/>
        </p:nvSpPr>
        <p:spPr>
          <a:xfrm>
            <a:off x="6183591" y="4698644"/>
            <a:ext cx="486409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00" i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Physical</a:t>
            </a:r>
            <a:r>
              <a:rPr sz="5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</a:t>
            </a:r>
            <a:r>
              <a:rPr sz="500" i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</a:t>
            </a:r>
            <a:endParaRPr sz="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56" name="picture 115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5808811" y="4668786"/>
            <a:ext cx="1055881" cy="173748"/>
          </a:xfrm>
          <a:prstGeom prst="rect">
            <a:avLst/>
          </a:prstGeom>
        </p:spPr>
      </p:pic>
      <p:pic>
        <p:nvPicPr>
          <p:cNvPr id="1158" name="picture 115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1972602" y="4653165"/>
            <a:ext cx="569264" cy="685965"/>
          </a:xfrm>
          <a:prstGeom prst="rect">
            <a:avLst/>
          </a:prstGeom>
        </p:spPr>
      </p:pic>
      <p:sp>
        <p:nvSpPr>
          <p:cNvPr id="1160" name="textbox 1160"/>
          <p:cNvSpPr/>
          <p:nvPr/>
        </p:nvSpPr>
        <p:spPr>
          <a:xfrm>
            <a:off x="3572597" y="4688192"/>
            <a:ext cx="755015" cy="546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9420" algn="l" rtl="0" eaLnBrk="0">
              <a:lnSpc>
                <a:spcPts val="630"/>
              </a:lnSpc>
            </a:pPr>
            <a:r>
              <a:rPr sz="500" i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Dim</a:t>
            </a:r>
            <a:r>
              <a:rPr sz="5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Table</a:t>
            </a:r>
            <a:endParaRPr sz="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28600" algn="l" rtl="0" eaLnBrk="0">
              <a:lnSpc>
                <a:spcPts val="630"/>
              </a:lnSpc>
              <a:spcBef>
                <a:spcPts val="1120"/>
              </a:spcBef>
            </a:pPr>
            <a:r>
              <a:rPr sz="500" i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Dim</a:t>
            </a:r>
            <a:r>
              <a:rPr sz="5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Table</a:t>
            </a:r>
            <a:endParaRPr sz="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30"/>
              </a:lnSpc>
            </a:pPr>
            <a:r>
              <a:rPr sz="500" i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Dim</a:t>
            </a:r>
            <a:r>
              <a:rPr sz="5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Table</a:t>
            </a:r>
            <a:endParaRPr sz="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62" name="picture 116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5684761" y="2090953"/>
            <a:ext cx="106006" cy="907808"/>
          </a:xfrm>
          <a:prstGeom prst="rect">
            <a:avLst/>
          </a:prstGeom>
        </p:spPr>
      </p:pic>
      <p:pic>
        <p:nvPicPr>
          <p:cNvPr id="1164" name="picture 116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5587136" y="2578519"/>
            <a:ext cx="112864" cy="509142"/>
          </a:xfrm>
          <a:prstGeom prst="rect">
            <a:avLst/>
          </a:prstGeom>
        </p:spPr>
      </p:pic>
      <p:sp>
        <p:nvSpPr>
          <p:cNvPr id="1166" name="path 1166"/>
          <p:cNvSpPr/>
          <p:nvPr/>
        </p:nvSpPr>
        <p:spPr>
          <a:xfrm>
            <a:off x="9340596" y="2846832"/>
            <a:ext cx="1339595" cy="1050035"/>
          </a:xfrm>
          <a:custGeom>
            <a:avLst/>
            <a:gdLst/>
            <a:ahLst/>
            <a:cxnLst/>
            <a:rect l="0" t="0" r="0" b="0"/>
            <a:pathLst>
              <a:path w="2109" h="1653">
                <a:moveTo>
                  <a:pt x="0" y="1653"/>
                </a:moveTo>
                <a:lnTo>
                  <a:pt x="1055" y="0"/>
                </a:lnTo>
                <a:lnTo>
                  <a:pt x="2109" y="1653"/>
                </a:lnTo>
                <a:lnTo>
                  <a:pt x="0" y="1653"/>
                </a:lnTo>
              </a:path>
            </a:pathLst>
          </a:cu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8" name="textbox 1168"/>
          <p:cNvSpPr/>
          <p:nvPr/>
        </p:nvSpPr>
        <p:spPr>
          <a:xfrm>
            <a:off x="9697024" y="2514498"/>
            <a:ext cx="62610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5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灵活性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0" name="textbox 1170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72" name="textbox 1172"/>
          <p:cNvSpPr/>
          <p:nvPr/>
        </p:nvSpPr>
        <p:spPr>
          <a:xfrm>
            <a:off x="3520581" y="5671489"/>
            <a:ext cx="2078354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1470" algn="l" rtl="0" eaLnBrk="0">
              <a:lnSpc>
                <a:spcPct val="100000"/>
              </a:lnSpc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数据虚拟化技术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7000"/>
              </a:lnSpc>
              <a:spcBef>
                <a:spcPts val="135"/>
              </a:spcBef>
            </a:pP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Hyper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Metrics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Eng</a:t>
            </a: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ine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74" name="picture 117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3281108" y="5099596"/>
            <a:ext cx="893623" cy="173748"/>
          </a:xfrm>
          <a:prstGeom prst="rect">
            <a:avLst/>
          </a:prstGeom>
        </p:spPr>
      </p:pic>
      <p:pic>
        <p:nvPicPr>
          <p:cNvPr id="1176" name="picture 117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7360503" y="3333919"/>
            <a:ext cx="1382683" cy="197188"/>
          </a:xfrm>
          <a:prstGeom prst="rect">
            <a:avLst/>
          </a:prstGeom>
        </p:spPr>
      </p:pic>
      <p:sp>
        <p:nvSpPr>
          <p:cNvPr id="1178" name="textbox 1178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0" name="textbox 1180"/>
          <p:cNvSpPr/>
          <p:nvPr/>
        </p:nvSpPr>
        <p:spPr>
          <a:xfrm>
            <a:off x="549478" y="314096"/>
            <a:ext cx="5544184" cy="358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数据建模右移</a:t>
            </a:r>
            <a:r>
              <a:rPr sz="23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高性能虚拟计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算引擎V3.0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2" name="textbox 1182"/>
          <p:cNvSpPr/>
          <p:nvPr/>
        </p:nvSpPr>
        <p:spPr>
          <a:xfrm>
            <a:off x="570523" y="4225049"/>
            <a:ext cx="1283335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95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物理数据层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3000"/>
              </a:lnSpc>
              <a:spcBef>
                <a:spcPts val="85"/>
              </a:spcBef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Physical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ayer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84" name="picture 118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4127296" y="2062759"/>
            <a:ext cx="289916" cy="960424"/>
          </a:xfrm>
          <a:prstGeom prst="rect">
            <a:avLst/>
          </a:prstGeom>
        </p:spPr>
      </p:pic>
      <p:pic>
        <p:nvPicPr>
          <p:cNvPr id="1186" name="picture 118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2887370" y="1626616"/>
            <a:ext cx="4221315" cy="604329"/>
          </a:xfrm>
          <a:prstGeom prst="rect">
            <a:avLst/>
          </a:prstGeom>
        </p:spPr>
      </p:pic>
      <p:pic>
        <p:nvPicPr>
          <p:cNvPr id="1188" name="picture 118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5201869" y="1780387"/>
            <a:ext cx="1158912" cy="316915"/>
          </a:xfrm>
          <a:prstGeom prst="rect">
            <a:avLst/>
          </a:prstGeom>
        </p:spPr>
      </p:pic>
      <p:sp>
        <p:nvSpPr>
          <p:cNvPr id="1190" name="textbox 1190"/>
          <p:cNvSpPr/>
          <p:nvPr/>
        </p:nvSpPr>
        <p:spPr>
          <a:xfrm>
            <a:off x="5613964" y="1861959"/>
            <a:ext cx="374650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200" i="1" kern="0" spc="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报表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2" name="textbox 1192"/>
          <p:cNvSpPr/>
          <p:nvPr/>
        </p:nvSpPr>
        <p:spPr>
          <a:xfrm>
            <a:off x="4093672" y="1835264"/>
            <a:ext cx="673100" cy="198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200" i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DIY</a:t>
            </a:r>
            <a:r>
              <a:rPr sz="1200" kern="0" spc="-2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200" i="1" kern="0" spc="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取数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4" name="textbox 1194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6" name="textbox 1196"/>
          <p:cNvSpPr/>
          <p:nvPr/>
        </p:nvSpPr>
        <p:spPr>
          <a:xfrm>
            <a:off x="567847" y="1681239"/>
            <a:ext cx="2277745" cy="436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ct val="95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指标应用层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3000"/>
              </a:lnSpc>
              <a:spcBef>
                <a:spcPts val="80"/>
              </a:spcBef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Metrics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Application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Layer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98" name="textbox 1198"/>
          <p:cNvSpPr/>
          <p:nvPr/>
        </p:nvSpPr>
        <p:spPr>
          <a:xfrm>
            <a:off x="569274" y="2902980"/>
            <a:ext cx="1915795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5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虚拟指标层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3000"/>
              </a:lnSpc>
              <a:spcBef>
                <a:spcPts val="90"/>
              </a:spcBef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Virtual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Metrics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Lay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er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00" name="picture 120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sp>
        <p:nvSpPr>
          <p:cNvPr id="1202" name="textbox 1202"/>
          <p:cNvSpPr/>
          <p:nvPr/>
        </p:nvSpPr>
        <p:spPr>
          <a:xfrm>
            <a:off x="7623899" y="3039083"/>
            <a:ext cx="1033144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创造性优化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04" name="picture 120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576151" y="4656702"/>
            <a:ext cx="174640" cy="138607"/>
          </a:xfrm>
          <a:prstGeom prst="rect">
            <a:avLst/>
          </a:prstGeom>
        </p:spPr>
      </p:pic>
      <p:pic>
        <p:nvPicPr>
          <p:cNvPr id="1206" name="picture 120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708006" y="4658334"/>
            <a:ext cx="893622" cy="173761"/>
          </a:xfrm>
          <a:prstGeom prst="rect">
            <a:avLst/>
          </a:prstGeom>
        </p:spPr>
      </p:pic>
      <p:pic>
        <p:nvPicPr>
          <p:cNvPr id="1208" name="picture 120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385651" y="4859394"/>
            <a:ext cx="174640" cy="138607"/>
          </a:xfrm>
          <a:prstGeom prst="rect">
            <a:avLst/>
          </a:prstGeom>
        </p:spPr>
      </p:pic>
      <p:pic>
        <p:nvPicPr>
          <p:cNvPr id="1210" name="picture 121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3497541" y="4880229"/>
            <a:ext cx="893623" cy="173748"/>
          </a:xfrm>
          <a:prstGeom prst="rect">
            <a:avLst/>
          </a:prstGeom>
        </p:spPr>
      </p:pic>
      <p:sp>
        <p:nvSpPr>
          <p:cNvPr id="1212" name="textbox 1212"/>
          <p:cNvSpPr/>
          <p:nvPr/>
        </p:nvSpPr>
        <p:spPr>
          <a:xfrm>
            <a:off x="10770230" y="3769664"/>
            <a:ext cx="42354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成本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4" name="textbox 1214"/>
          <p:cNvSpPr/>
          <p:nvPr/>
        </p:nvSpPr>
        <p:spPr>
          <a:xfrm>
            <a:off x="8834290" y="3773791"/>
            <a:ext cx="422275" cy="255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810"/>
              </a:lnSpc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性能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16" name="textbox 1216"/>
          <p:cNvSpPr/>
          <p:nvPr/>
        </p:nvSpPr>
        <p:spPr>
          <a:xfrm>
            <a:off x="3711462" y="3502166"/>
            <a:ext cx="796290" cy="139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800" b="1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</a:t>
            </a:r>
            <a:r>
              <a:rPr sz="800" kern="0" spc="-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子</a:t>
            </a:r>
            <a:r>
              <a:rPr sz="800" kern="0" spc="-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</a:t>
            </a:r>
            <a:r>
              <a:rPr sz="800" kern="0" spc="-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</a:t>
            </a:r>
            <a:r>
              <a:rPr sz="800" kern="0" spc="-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800" b="1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800" kern="0" spc="-130" dirty="0">
                <a:solidFill>
                  <a:srgbClr val="A6A6A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18" name="picture 121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6271831" y="4884508"/>
            <a:ext cx="78206" cy="429907"/>
          </a:xfrm>
          <a:prstGeom prst="rect">
            <a:avLst/>
          </a:prstGeom>
        </p:spPr>
      </p:pic>
      <p:sp>
        <p:nvSpPr>
          <p:cNvPr id="1220" name="textbox 1220"/>
          <p:cNvSpPr/>
          <p:nvPr/>
        </p:nvSpPr>
        <p:spPr>
          <a:xfrm>
            <a:off x="5153215" y="4698479"/>
            <a:ext cx="486409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00" i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Physical</a:t>
            </a:r>
            <a:r>
              <a:rPr sz="5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</a:t>
            </a:r>
            <a:r>
              <a:rPr sz="500" i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</a:t>
            </a:r>
            <a:endParaRPr sz="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2" name="textbox 1222"/>
          <p:cNvSpPr/>
          <p:nvPr/>
        </p:nvSpPr>
        <p:spPr>
          <a:xfrm>
            <a:off x="2805620" y="4688078"/>
            <a:ext cx="486409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00" i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Physical</a:t>
            </a:r>
            <a:r>
              <a:rPr sz="5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" i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Tab</a:t>
            </a:r>
            <a:r>
              <a:rPr sz="500" i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</a:t>
            </a:r>
            <a:endParaRPr sz="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24" name="picture 122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4064927" y="3036316"/>
            <a:ext cx="75501" cy="206806"/>
          </a:xfrm>
          <a:prstGeom prst="rect">
            <a:avLst/>
          </a:prstGeom>
        </p:spPr>
      </p:pic>
      <p:pic>
        <p:nvPicPr>
          <p:cNvPr id="1226" name="picture 122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4002557" y="3256254"/>
            <a:ext cx="75501" cy="2067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rect 1228"/>
          <p:cNvSpPr/>
          <p:nvPr/>
        </p:nvSpPr>
        <p:spPr>
          <a:xfrm>
            <a:off x="609600" y="2113788"/>
            <a:ext cx="2266187" cy="3351274"/>
          </a:xfrm>
          <a:prstGeom prst="rect">
            <a:avLst/>
          </a:prstGeom>
          <a:solidFill>
            <a:srgbClr val="ED7D31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30" name="table 1230"/>
          <p:cNvGraphicFramePr>
            <a:graphicFrameLocks noGrp="1"/>
          </p:cNvGraphicFramePr>
          <p:nvPr/>
        </p:nvGraphicFramePr>
        <p:xfrm>
          <a:off x="3456419" y="1236979"/>
          <a:ext cx="6915785" cy="625475"/>
        </p:xfrm>
        <a:graphic>
          <a:graphicData uri="http://schemas.openxmlformats.org/drawingml/2006/table">
            <a:tbl>
              <a:tblPr/>
              <a:tblGrid>
                <a:gridCol w="497205"/>
                <a:gridCol w="1741170"/>
                <a:gridCol w="169545"/>
                <a:gridCol w="2044700"/>
                <a:gridCol w="169545"/>
                <a:gridCol w="2044700"/>
                <a:gridCol w="248920"/>
              </a:tblGrid>
              <a:tr h="28511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384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WEB服务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0359">
                <a:tc vMerge="1">
                  <a:tcPr marL="0" marR="0" marT="0" marB="0" vert="horz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054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优化方案查询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579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任务状态查询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770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指标查询计划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5A6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32" name="textbox 1232"/>
          <p:cNvSpPr/>
          <p:nvPr/>
        </p:nvSpPr>
        <p:spPr>
          <a:xfrm>
            <a:off x="1060703" y="5003291"/>
            <a:ext cx="1374775" cy="259079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7055" algn="l" rtl="0" eaLnBrk="0">
              <a:lnSpc>
                <a:spcPts val="1090"/>
              </a:lnSpc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dgls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34" name="picture 12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1236" name="rect 1236"/>
          <p:cNvSpPr/>
          <p:nvPr/>
        </p:nvSpPr>
        <p:spPr>
          <a:xfrm>
            <a:off x="3427475" y="2113788"/>
            <a:ext cx="3887724" cy="1040891"/>
          </a:xfrm>
          <a:prstGeom prst="rect">
            <a:avLst/>
          </a:prstGeom>
          <a:solidFill>
            <a:srgbClr val="65A69B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2" name="group 52"/>
          <p:cNvGrpSpPr/>
          <p:nvPr/>
        </p:nvGrpSpPr>
        <p:grpSpPr>
          <a:xfrm rot="21600000">
            <a:off x="3720960" y="2475738"/>
            <a:ext cx="1597914" cy="532942"/>
            <a:chOff x="0" y="0"/>
            <a:chExt cx="1597914" cy="532942"/>
          </a:xfrm>
        </p:grpSpPr>
        <p:pic>
          <p:nvPicPr>
            <p:cNvPr id="1238" name="picture 12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597914" cy="532942"/>
            </a:xfrm>
            <a:prstGeom prst="rect">
              <a:avLst/>
            </a:prstGeom>
          </p:spPr>
        </p:pic>
        <p:sp>
          <p:nvSpPr>
            <p:cNvPr id="1240" name="textbox 1240"/>
            <p:cNvSpPr/>
            <p:nvPr/>
          </p:nvSpPr>
          <p:spPr>
            <a:xfrm>
              <a:off x="-12700" y="-12700"/>
              <a:ext cx="1623694" cy="5727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30835" algn="l" rtl="0" eaLnBrk="0">
                <a:lnSpc>
                  <a:spcPct val="93000"/>
                </a:lnSpc>
              </a:pP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base</a:t>
              </a:r>
              <a:r>
                <a:rPr sz="1000" kern="0" spc="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repository</a:t>
              </a:r>
              <a:endParaRPr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1242" name="textbox 1242"/>
          <p:cNvSpPr/>
          <p:nvPr/>
        </p:nvSpPr>
        <p:spPr>
          <a:xfrm>
            <a:off x="4930496" y="2209191"/>
            <a:ext cx="902969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内存元数据仓库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4" name="group 54"/>
          <p:cNvGrpSpPr/>
          <p:nvPr/>
        </p:nvGrpSpPr>
        <p:grpSpPr>
          <a:xfrm rot="21600000">
            <a:off x="5475706" y="2475738"/>
            <a:ext cx="1597914" cy="532942"/>
            <a:chOff x="0" y="0"/>
            <a:chExt cx="1597914" cy="532942"/>
          </a:xfrm>
        </p:grpSpPr>
        <p:pic>
          <p:nvPicPr>
            <p:cNvPr id="1244" name="picture 12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597914" cy="532942"/>
            </a:xfrm>
            <a:prstGeom prst="rect">
              <a:avLst/>
            </a:prstGeom>
          </p:spPr>
        </p:pic>
        <p:sp>
          <p:nvSpPr>
            <p:cNvPr id="1246" name="textbox 1246"/>
            <p:cNvSpPr/>
            <p:nvPr/>
          </p:nvSpPr>
          <p:spPr>
            <a:xfrm>
              <a:off x="-12700" y="-12700"/>
              <a:ext cx="1623694" cy="5727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3035" algn="l" rtl="0" eaLnBrk="0">
                <a:lnSpc>
                  <a:spcPct val="93000"/>
                </a:lnSpc>
                <a:spcBef>
                  <a:spcPts val="0"/>
                </a:spcBef>
              </a:pP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optimized</a:t>
              </a:r>
              <a:r>
                <a:rPr sz="1000" kern="0" spc="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repository</a:t>
              </a:r>
              <a:endParaRPr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1248" name="rect 1248"/>
          <p:cNvSpPr/>
          <p:nvPr/>
        </p:nvSpPr>
        <p:spPr>
          <a:xfrm>
            <a:off x="4009644" y="3360420"/>
            <a:ext cx="6356603" cy="1040891"/>
          </a:xfrm>
          <a:prstGeom prst="rect">
            <a:avLst/>
          </a:prstGeom>
          <a:solidFill>
            <a:srgbClr val="FFC000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50" name="textbox 1250"/>
          <p:cNvSpPr/>
          <p:nvPr/>
        </p:nvSpPr>
        <p:spPr>
          <a:xfrm>
            <a:off x="6798656" y="3455188"/>
            <a:ext cx="78740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结构优化模块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252" name="table 1252"/>
          <p:cNvGraphicFramePr>
            <a:graphicFrameLocks noGrp="1"/>
          </p:cNvGraphicFramePr>
          <p:nvPr/>
        </p:nvGraphicFramePr>
        <p:xfrm>
          <a:off x="6288404" y="3763797"/>
          <a:ext cx="1386205" cy="52514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177800"/>
                <a:gridCol w="1030605"/>
                <a:gridCol w="177800"/>
              </a:tblGrid>
              <a:tr h="5251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6" name="group 56"/>
          <p:cNvGrpSpPr/>
          <p:nvPr/>
        </p:nvGrpSpPr>
        <p:grpSpPr>
          <a:xfrm rot="21600000">
            <a:off x="4425188" y="3645661"/>
            <a:ext cx="908303" cy="625754"/>
            <a:chOff x="0" y="0"/>
            <a:chExt cx="908303" cy="625754"/>
          </a:xfrm>
        </p:grpSpPr>
        <p:pic>
          <p:nvPicPr>
            <p:cNvPr id="1254" name="picture 12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908303" cy="625754"/>
            </a:xfrm>
            <a:prstGeom prst="rect">
              <a:avLst/>
            </a:prstGeom>
          </p:spPr>
        </p:pic>
        <p:sp>
          <p:nvSpPr>
            <p:cNvPr id="1256" name="textbox 1256"/>
            <p:cNvSpPr/>
            <p:nvPr/>
          </p:nvSpPr>
          <p:spPr>
            <a:xfrm>
              <a:off x="-12700" y="-12700"/>
              <a:ext cx="934085" cy="6692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7485" algn="l" rtl="0" eaLnBrk="0">
                <a:lnSpc>
                  <a:spcPct val="96000"/>
                </a:lnSpc>
              </a:pPr>
              <a:r>
                <a:rPr sz="1000" kern="0" spc="-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优化策略</a:t>
              </a:r>
              <a:endParaRPr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1258" name="picture 12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16628" y="2897822"/>
            <a:ext cx="2371496" cy="1175918"/>
          </a:xfrm>
          <a:prstGeom prst="rect">
            <a:avLst/>
          </a:prstGeom>
        </p:spPr>
      </p:pic>
      <p:sp>
        <p:nvSpPr>
          <p:cNvPr id="1260" name="rect 1260"/>
          <p:cNvSpPr/>
          <p:nvPr/>
        </p:nvSpPr>
        <p:spPr>
          <a:xfrm>
            <a:off x="4009644" y="4654295"/>
            <a:ext cx="5114544" cy="810767"/>
          </a:xfrm>
          <a:prstGeom prst="rect">
            <a:avLst/>
          </a:prstGeom>
          <a:solidFill>
            <a:srgbClr val="C00000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62" name="picture 12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912524" y="4279061"/>
            <a:ext cx="4660684" cy="901013"/>
          </a:xfrm>
          <a:prstGeom prst="rect">
            <a:avLst/>
          </a:prstGeom>
        </p:spPr>
      </p:pic>
      <p:graphicFrame>
        <p:nvGraphicFramePr>
          <p:cNvPr id="1264" name="table 1264"/>
          <p:cNvGraphicFramePr>
            <a:graphicFrameLocks noGrp="1"/>
          </p:cNvGraphicFramePr>
          <p:nvPr/>
        </p:nvGraphicFramePr>
        <p:xfrm>
          <a:off x="4330471" y="4970005"/>
          <a:ext cx="1238884" cy="27051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1238884"/>
              </a:tblGrid>
              <a:tr h="2578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957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任务注册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66" name="picture 12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11715" y="3146869"/>
            <a:ext cx="408317" cy="2629344"/>
          </a:xfrm>
          <a:prstGeom prst="rect">
            <a:avLst/>
          </a:prstGeom>
        </p:spPr>
      </p:pic>
      <p:pic>
        <p:nvPicPr>
          <p:cNvPr id="1268" name="picture 12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347280" y="2481465"/>
            <a:ext cx="531367" cy="233350"/>
          </a:xfrm>
          <a:prstGeom prst="rect">
            <a:avLst/>
          </a:prstGeom>
        </p:spPr>
      </p:pic>
      <p:pic>
        <p:nvPicPr>
          <p:cNvPr id="1270" name="picture 127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90961" y="5925032"/>
            <a:ext cx="1354810" cy="520674"/>
          </a:xfrm>
          <a:prstGeom prst="rect">
            <a:avLst/>
          </a:prstGeom>
        </p:spPr>
      </p:pic>
      <p:pic>
        <p:nvPicPr>
          <p:cNvPr id="1272" name="picture 127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594828" y="5925032"/>
            <a:ext cx="1354352" cy="520674"/>
          </a:xfrm>
          <a:prstGeom prst="rect">
            <a:avLst/>
          </a:prstGeom>
        </p:spPr>
      </p:pic>
      <p:graphicFrame>
        <p:nvGraphicFramePr>
          <p:cNvPr id="1274" name="table 1274"/>
          <p:cNvGraphicFramePr>
            <a:graphicFrameLocks noGrp="1"/>
          </p:cNvGraphicFramePr>
          <p:nvPr/>
        </p:nvGraphicFramePr>
        <p:xfrm>
          <a:off x="3453739" y="5782640"/>
          <a:ext cx="6650355" cy="743584"/>
        </p:xfrm>
        <a:graphic>
          <a:graphicData uri="http://schemas.openxmlformats.org/drawingml/2006/table">
            <a:tbl>
              <a:tblPr/>
              <a:tblGrid>
                <a:gridCol w="3266440"/>
                <a:gridCol w="3383915"/>
              </a:tblGrid>
              <a:tr h="7435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98270" algn="l" rtl="0" eaLnBrk="0">
                        <a:lnSpc>
                          <a:spcPct val="96000"/>
                        </a:lnSpc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元数据db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1158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任务执行db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76" name="rect 1276"/>
          <p:cNvSpPr/>
          <p:nvPr/>
        </p:nvSpPr>
        <p:spPr>
          <a:xfrm>
            <a:off x="7868411" y="2107691"/>
            <a:ext cx="2497835" cy="1046988"/>
          </a:xfrm>
          <a:prstGeom prst="rect">
            <a:avLst/>
          </a:prstGeom>
          <a:solidFill>
            <a:srgbClr val="603CA0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278" name="table 1278"/>
          <p:cNvGraphicFramePr>
            <a:graphicFrameLocks noGrp="1"/>
          </p:cNvGraphicFramePr>
          <p:nvPr/>
        </p:nvGraphicFramePr>
        <p:xfrm>
          <a:off x="8145615" y="2307374"/>
          <a:ext cx="1955800" cy="826135"/>
        </p:xfrm>
        <a:graphic>
          <a:graphicData uri="http://schemas.openxmlformats.org/drawingml/2006/table">
            <a:tbl>
              <a:tblPr/>
              <a:tblGrid>
                <a:gridCol w="978535"/>
                <a:gridCol w="977264"/>
              </a:tblGrid>
              <a:tr h="294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687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join</a:t>
                      </a:r>
                      <a:endParaRPr sz="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43535" algn="l" rtl="0" eaLnBrk="0">
                        <a:lnSpc>
                          <a:spcPts val="97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处理器</a:t>
                      </a:r>
                      <a:endParaRPr sz="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369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project</a:t>
                      </a:r>
                      <a:endParaRPr sz="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43535" algn="l" rtl="0" eaLnBrk="0">
                        <a:lnSpc>
                          <a:spcPts val="97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处理器</a:t>
                      </a:r>
                      <a:endParaRPr sz="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2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3695" algn="l" rtl="0" eaLnBrk="0">
                        <a:lnSpc>
                          <a:spcPct val="8500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filter</a:t>
                      </a:r>
                      <a:endParaRPr sz="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54330" algn="l" rtl="0" eaLnBrk="0">
                        <a:lnSpc>
                          <a:spcPts val="970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处理器</a:t>
                      </a:r>
                      <a:endParaRPr sz="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001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aggreate处理器</a:t>
                      </a:r>
                      <a:endParaRPr sz="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28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2453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位点处理器</a:t>
                      </a:r>
                      <a:endParaRPr sz="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80" name="rect 1280"/>
          <p:cNvSpPr/>
          <p:nvPr/>
        </p:nvSpPr>
        <p:spPr>
          <a:xfrm>
            <a:off x="8682227" y="3765803"/>
            <a:ext cx="882396" cy="513588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2" name="rect 1282"/>
          <p:cNvSpPr/>
          <p:nvPr/>
        </p:nvSpPr>
        <p:spPr>
          <a:xfrm>
            <a:off x="8676233" y="3759441"/>
            <a:ext cx="894258" cy="526274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4" name="textbox 1284"/>
          <p:cNvSpPr/>
          <p:nvPr/>
        </p:nvSpPr>
        <p:spPr>
          <a:xfrm>
            <a:off x="7706980" y="3970199"/>
            <a:ext cx="1876425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63930" algn="l" rtl="0" eaLnBrk="0">
              <a:lnSpc>
                <a:spcPct val="96000"/>
              </a:lnSpc>
              <a:tabLst>
                <a:tab pos="119126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优化计划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86" name="picture 12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719680" y="4004424"/>
            <a:ext cx="951739" cy="176885"/>
          </a:xfrm>
          <a:prstGeom prst="rect">
            <a:avLst/>
          </a:prstGeom>
        </p:spPr>
      </p:pic>
      <p:sp>
        <p:nvSpPr>
          <p:cNvPr id="1288" name="textbox 1288"/>
          <p:cNvSpPr/>
          <p:nvPr/>
        </p:nvSpPr>
        <p:spPr>
          <a:xfrm>
            <a:off x="6301377" y="4750296"/>
            <a:ext cx="534034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任务管理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290" name="table 1290"/>
          <p:cNvGraphicFramePr>
            <a:graphicFrameLocks noGrp="1"/>
          </p:cNvGraphicFramePr>
          <p:nvPr/>
        </p:nvGraphicFramePr>
        <p:xfrm>
          <a:off x="5950737" y="4970005"/>
          <a:ext cx="1238250" cy="27051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1238250"/>
              </a:tblGrid>
              <a:tr h="2578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003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任务状态管理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2" name="table 1292"/>
          <p:cNvGraphicFramePr>
            <a:graphicFrameLocks noGrp="1"/>
          </p:cNvGraphicFramePr>
          <p:nvPr/>
        </p:nvGraphicFramePr>
        <p:xfrm>
          <a:off x="7571968" y="4970005"/>
          <a:ext cx="1238884" cy="27051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1238884"/>
              </a:tblGrid>
              <a:tr h="2578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76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数据位点管理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8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94" name="picture 129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490880" y="5453113"/>
            <a:ext cx="454139" cy="326415"/>
          </a:xfrm>
          <a:prstGeom prst="rect">
            <a:avLst/>
          </a:prstGeom>
        </p:spPr>
      </p:pic>
      <p:sp>
        <p:nvSpPr>
          <p:cNvPr id="1296" name="textbox 1296"/>
          <p:cNvSpPr/>
          <p:nvPr/>
        </p:nvSpPr>
        <p:spPr>
          <a:xfrm>
            <a:off x="6641011" y="3970186"/>
            <a:ext cx="65913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结构优化器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98" name="textbox 1298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00" name="textbox 1300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02" name="textbox 1302"/>
          <p:cNvSpPr/>
          <p:nvPr/>
        </p:nvSpPr>
        <p:spPr>
          <a:xfrm>
            <a:off x="549478" y="259536"/>
            <a:ext cx="6868159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1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数据建模右移</a:t>
            </a:r>
            <a:r>
              <a:rPr sz="23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300" kern="0" spc="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HMEV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基于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ROI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智能自迭代加速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4" name="textbox 1304"/>
          <p:cNvSpPr/>
          <p:nvPr/>
        </p:nvSpPr>
        <p:spPr>
          <a:xfrm>
            <a:off x="1062227" y="3762755"/>
            <a:ext cx="1373505" cy="257809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0515" algn="l" rtl="0" eaLnBrk="0">
              <a:lnSpc>
                <a:spcPts val="1120"/>
              </a:lnSpc>
              <a:spcBef>
                <a:spcPts val="0"/>
              </a:spcBef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数据表元数据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06" name="textbox 1306"/>
          <p:cNvSpPr/>
          <p:nvPr/>
        </p:nvSpPr>
        <p:spPr>
          <a:xfrm>
            <a:off x="1060703" y="4383023"/>
            <a:ext cx="1374775" cy="257809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5765" algn="l" rtl="0" eaLnBrk="0">
              <a:lnSpc>
                <a:spcPts val="1095"/>
              </a:lnSpc>
              <a:spcBef>
                <a:spcPts val="5"/>
              </a:spcBef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表profile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08" name="picture 130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028211" y="1884692"/>
            <a:ext cx="429729" cy="228612"/>
          </a:xfrm>
          <a:prstGeom prst="rect">
            <a:avLst/>
          </a:prstGeom>
        </p:spPr>
      </p:pic>
      <p:pic>
        <p:nvPicPr>
          <p:cNvPr id="1310" name="picture 13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906445" y="2481465"/>
            <a:ext cx="531367" cy="233350"/>
          </a:xfrm>
          <a:prstGeom prst="rect">
            <a:avLst/>
          </a:prstGeom>
        </p:spPr>
      </p:pic>
      <p:sp>
        <p:nvSpPr>
          <p:cNvPr id="1312" name="textbox 1312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8" name="group 58"/>
          <p:cNvGrpSpPr/>
          <p:nvPr/>
        </p:nvGrpSpPr>
        <p:grpSpPr>
          <a:xfrm rot="21600000">
            <a:off x="9577514" y="4737468"/>
            <a:ext cx="1386738" cy="646900"/>
            <a:chOff x="0" y="0"/>
            <a:chExt cx="1386738" cy="646900"/>
          </a:xfrm>
        </p:grpSpPr>
        <p:pic>
          <p:nvPicPr>
            <p:cNvPr id="1314" name="picture 131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1386738" cy="646900"/>
            </a:xfrm>
            <a:prstGeom prst="rect">
              <a:avLst/>
            </a:prstGeom>
          </p:spPr>
        </p:pic>
        <p:sp>
          <p:nvSpPr>
            <p:cNvPr id="1316" name="textbox 1316"/>
            <p:cNvSpPr/>
            <p:nvPr/>
          </p:nvSpPr>
          <p:spPr>
            <a:xfrm>
              <a:off x="-12700" y="-12700"/>
              <a:ext cx="1412239" cy="6902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79095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任务调度系统</a:t>
              </a:r>
              <a:endParaRPr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1318" name="picture 13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sp>
        <p:nvSpPr>
          <p:cNvPr id="1320" name="textbox 1320"/>
          <p:cNvSpPr/>
          <p:nvPr/>
        </p:nvSpPr>
        <p:spPr>
          <a:xfrm>
            <a:off x="1060703" y="2522220"/>
            <a:ext cx="1374775" cy="257809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5920" algn="l" rtl="0" eaLnBrk="0">
              <a:lnSpc>
                <a:spcPts val="1120"/>
              </a:lnSpc>
              <a:spcBef>
                <a:spcPts val="0"/>
              </a:spcBef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指标元数据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22" name="textbox 1322"/>
          <p:cNvSpPr/>
          <p:nvPr/>
        </p:nvSpPr>
        <p:spPr>
          <a:xfrm>
            <a:off x="1060703" y="3142488"/>
            <a:ext cx="1374775" cy="257809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4015" algn="l" rtl="0" eaLnBrk="0">
              <a:lnSpc>
                <a:spcPts val="1120"/>
              </a:lnSpc>
              <a:spcBef>
                <a:spcPts val="5"/>
              </a:spcBef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模型元数据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24" name="picture 13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922601" y="1884692"/>
            <a:ext cx="429731" cy="228612"/>
          </a:xfrm>
          <a:prstGeom prst="rect">
            <a:avLst/>
          </a:prstGeom>
        </p:spPr>
      </p:pic>
      <p:pic>
        <p:nvPicPr>
          <p:cNvPr id="1326" name="picture 13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264706" y="1884692"/>
            <a:ext cx="429729" cy="228612"/>
          </a:xfrm>
          <a:prstGeom prst="rect">
            <a:avLst/>
          </a:prstGeom>
        </p:spPr>
      </p:pic>
      <p:sp>
        <p:nvSpPr>
          <p:cNvPr id="1328" name="textbox 1328"/>
          <p:cNvSpPr/>
          <p:nvPr/>
        </p:nvSpPr>
        <p:spPr>
          <a:xfrm>
            <a:off x="1405251" y="2209179"/>
            <a:ext cx="661034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元数据采集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30" name="textbox 1330"/>
          <p:cNvSpPr/>
          <p:nvPr/>
        </p:nvSpPr>
        <p:spPr>
          <a:xfrm>
            <a:off x="8853868" y="2151711"/>
            <a:ext cx="53213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查询优化</a:t>
            </a:r>
            <a:endParaRPr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picture 13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1334" name="textbox 1334"/>
          <p:cNvSpPr/>
          <p:nvPr/>
        </p:nvSpPr>
        <p:spPr>
          <a:xfrm>
            <a:off x="5664072" y="3503777"/>
            <a:ext cx="1156335" cy="749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700" kern="0" spc="90" dirty="0">
                <a:solidFill>
                  <a:srgbClr val="ED7D31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不会用</a:t>
            </a:r>
            <a:r>
              <a:rPr sz="1700" kern="0" spc="0" dirty="0">
                <a:solidFill>
                  <a:srgbClr val="ED7D31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BI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5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700" kern="0" spc="70" dirty="0">
                <a:solidFill>
                  <a:srgbClr val="ED7D31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不会问问题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36" name="textbox 1336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38" name="picture 13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16854" y="3502659"/>
            <a:ext cx="318477" cy="318478"/>
          </a:xfrm>
          <a:prstGeom prst="rect">
            <a:avLst/>
          </a:prstGeom>
        </p:spPr>
      </p:pic>
      <p:pic>
        <p:nvPicPr>
          <p:cNvPr id="1340" name="picture 13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16854" y="3968114"/>
            <a:ext cx="318477" cy="318477"/>
          </a:xfrm>
          <a:prstGeom prst="rect">
            <a:avLst/>
          </a:prstGeom>
        </p:spPr>
      </p:pic>
      <p:pic>
        <p:nvPicPr>
          <p:cNvPr id="1342" name="picture 13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49510" y="2583180"/>
            <a:ext cx="1974248" cy="390144"/>
          </a:xfrm>
          <a:prstGeom prst="rect">
            <a:avLst/>
          </a:prstGeom>
        </p:spPr>
      </p:pic>
      <p:sp>
        <p:nvSpPr>
          <p:cNvPr id="1344" name="textbox 1344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46" name="textbox 1346"/>
          <p:cNvSpPr/>
          <p:nvPr/>
        </p:nvSpPr>
        <p:spPr>
          <a:xfrm>
            <a:off x="549478" y="259536"/>
            <a:ext cx="498538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100"/>
              </a:lnSpc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数据解读右移</a:t>
            </a:r>
            <a:r>
              <a:rPr sz="2300" kern="0" spc="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SwiftAgent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48" name="picture 13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151505" y="2252345"/>
            <a:ext cx="1038859" cy="1038859"/>
          </a:xfrm>
          <a:prstGeom prst="rect">
            <a:avLst/>
          </a:prstGeom>
        </p:spPr>
      </p:pic>
      <p:sp>
        <p:nvSpPr>
          <p:cNvPr id="1350" name="textbox 1350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52" name="picture 13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84819" y="2252345"/>
            <a:ext cx="1038860" cy="1038859"/>
          </a:xfrm>
          <a:prstGeom prst="rect">
            <a:avLst/>
          </a:prstGeom>
        </p:spPr>
      </p:pic>
      <p:pic>
        <p:nvPicPr>
          <p:cNvPr id="1354" name="picture 13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sp>
        <p:nvSpPr>
          <p:cNvPr id="1356" name="textbox 1356"/>
          <p:cNvSpPr/>
          <p:nvPr/>
        </p:nvSpPr>
        <p:spPr>
          <a:xfrm>
            <a:off x="3097479" y="3518382"/>
            <a:ext cx="1158239" cy="283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数据分析师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58" name="textbox 1358"/>
          <p:cNvSpPr/>
          <p:nvPr/>
        </p:nvSpPr>
        <p:spPr>
          <a:xfrm>
            <a:off x="8030794" y="3518382"/>
            <a:ext cx="1158239" cy="283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数据消费者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0" name="picture 13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pic>
        <p:nvPicPr>
          <p:cNvPr id="1362" name="picture 1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1817" y="3756456"/>
            <a:ext cx="2210015" cy="2490114"/>
          </a:xfrm>
          <a:prstGeom prst="rect">
            <a:avLst/>
          </a:prstGeom>
        </p:spPr>
      </p:pic>
      <p:sp>
        <p:nvSpPr>
          <p:cNvPr id="1364" name="rect 1364"/>
          <p:cNvSpPr/>
          <p:nvPr/>
        </p:nvSpPr>
        <p:spPr>
          <a:xfrm>
            <a:off x="927480" y="3210890"/>
            <a:ext cx="1543647" cy="545769"/>
          </a:xfrm>
          <a:prstGeom prst="rect">
            <a:avLst/>
          </a:pr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66" name="picture 13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907207" y="3988993"/>
            <a:ext cx="2210016" cy="2257577"/>
          </a:xfrm>
          <a:prstGeom prst="rect">
            <a:avLst/>
          </a:prstGeom>
        </p:spPr>
      </p:pic>
      <p:graphicFrame>
        <p:nvGraphicFramePr>
          <p:cNvPr id="1368" name="table 1368"/>
          <p:cNvGraphicFramePr>
            <a:graphicFrameLocks noGrp="1"/>
          </p:cNvGraphicFramePr>
          <p:nvPr/>
        </p:nvGraphicFramePr>
        <p:xfrm>
          <a:off x="571817" y="1572767"/>
          <a:ext cx="4545330" cy="4673599"/>
        </p:xfrm>
        <a:graphic>
          <a:graphicData uri="http://schemas.openxmlformats.org/drawingml/2006/table">
            <a:tbl>
              <a:tblPr/>
              <a:tblGrid>
                <a:gridCol w="2128520"/>
                <a:gridCol w="1597660"/>
                <a:gridCol w="819150"/>
              </a:tblGrid>
              <a:tr h="43306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5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76630" algn="l" rtl="0" eaLnBrk="0">
                        <a:lnSpc>
                          <a:spcPts val="1610"/>
                        </a:lnSpc>
                        <a:spcBef>
                          <a:spcPts val="0"/>
                        </a:spcBef>
                      </a:pPr>
                      <a:r>
                        <a:rPr sz="1800" kern="0" spc="-10" baseline="-6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</a:t>
                      </a: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       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交互式数据查询</a:t>
                      </a:r>
                      <a:endParaRPr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9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560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  <a:tabLst>
                          <a:tab pos="600710" algn="l"/>
                        </a:tabLst>
                      </a:pPr>
                      <a:r>
                        <a:rPr sz="14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数据查询任务</a:t>
                      </a:r>
                      <a:r>
                        <a:rPr sz="14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0880" algn="l" rtl="0" eaLnBrk="0">
                        <a:lnSpc>
                          <a:spcPct val="95000"/>
                        </a:lnSpc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大语言模型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0080" algn="l" rtl="0" eaLnBrk="0">
                        <a:lnSpc>
                          <a:spcPct val="84000"/>
                        </a:lnSpc>
                        <a:spcBef>
                          <a:spcPts val="420"/>
                        </a:spcBef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生成SQL语句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749300" algn="l" rtl="0" eaLnBrk="0">
                        <a:lnSpc>
                          <a:spcPts val="1460"/>
                        </a:lnSpc>
                      </a:pPr>
                      <a:r>
                        <a:rPr sz="11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（TEXT2SQL）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5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481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意图理解&amp;结构化生成</a:t>
                      </a:r>
                      <a:endParaRPr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8435" algn="l" rtl="0" eaLnBrk="0">
                        <a:lnSpc>
                          <a:spcPct val="100000"/>
                        </a:lnSpc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企业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746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数据中台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984885"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171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4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SQL服务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9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704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生成的SQL做数据库查询</a:t>
                      </a:r>
                      <a:endParaRPr sz="1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370" name="picture 13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64942" y="5393766"/>
            <a:ext cx="749770" cy="85724"/>
          </a:xfrm>
          <a:prstGeom prst="rect">
            <a:avLst/>
          </a:prstGeom>
        </p:spPr>
      </p:pic>
      <p:sp>
        <p:nvSpPr>
          <p:cNvPr id="1372" name="textbox 1372"/>
          <p:cNvSpPr/>
          <p:nvPr/>
        </p:nvSpPr>
        <p:spPr>
          <a:xfrm>
            <a:off x="6172346" y="1660245"/>
            <a:ext cx="5297804" cy="4552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99000"/>
              </a:lnSpc>
            </a:pPr>
            <a:r>
              <a:rPr sz="1500" b="1" kern="0" spc="-2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sz="1500" kern="0" spc="18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准确率低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5240" algn="l" rtl="0" eaLnBrk="0">
              <a:lnSpc>
                <a:spcPct val="100000"/>
              </a:lnSpc>
              <a:spcBef>
                <a:spcPts val="1100"/>
              </a:spcBef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企业级（千/万张表）数据查询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准确率约60-70%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5240" algn="l" rtl="0" eaLnBrk="0">
              <a:lnSpc>
                <a:spcPct val="95000"/>
              </a:lnSpc>
              <a:spcBef>
                <a:spcPts val="84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即使是GPT也难有一个直接可用的准确效果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algn="l" rtl="0" eaLnBrk="0">
              <a:lnSpc>
                <a:spcPct val="99000"/>
              </a:lnSpc>
              <a:spcBef>
                <a:spcPts val="1030"/>
              </a:spcBef>
            </a:pPr>
            <a:r>
              <a:rPr sz="1500" b="1" kern="0" spc="-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sz="1500" kern="0" spc="16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性能存在风险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86055" indent="-170815" algn="l" rtl="0" eaLnBrk="0">
              <a:lnSpc>
                <a:spcPct val="130000"/>
              </a:lnSpc>
              <a:spcBef>
                <a:spcPts val="850"/>
              </a:spcBef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大模型写出的SQL未经优化，可能导致长查询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的占比较多，性能不好甚至导致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查询服务异常，多表关联的真实查询 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性能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不可控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algn="l" rtl="0" eaLnBrk="0">
              <a:lnSpc>
                <a:spcPct val="99000"/>
              </a:lnSpc>
              <a:spcBef>
                <a:spcPts val="1075"/>
              </a:spcBef>
            </a:pPr>
            <a:r>
              <a:rPr sz="1500" b="1" kern="0" spc="-2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sz="1500" kern="0" spc="2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2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学习成本高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89230" indent="-173990" algn="l" rtl="0" eaLnBrk="0">
              <a:lnSpc>
                <a:spcPct val="129000"/>
              </a:lnSpc>
              <a:spcBef>
                <a:spcPts val="875"/>
              </a:spcBef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预训练大模型未掌握企业客户数据与数据格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式定义，当数据源过大时，大模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型对表的结构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学习成本高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（增量预训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练、长窗口、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functioncall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等）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algn="l" rtl="0" eaLnBrk="0">
              <a:lnSpc>
                <a:spcPct val="99000"/>
              </a:lnSpc>
              <a:spcBef>
                <a:spcPts val="1085"/>
              </a:spcBef>
            </a:pPr>
            <a:r>
              <a:rPr sz="1500" b="1" kern="0" spc="-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sz="1500" kern="0" spc="18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数据安全存在风险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85420" indent="-170180" algn="l" rtl="0" eaLnBrk="0">
              <a:lnSpc>
                <a:spcPct val="121000"/>
              </a:lnSpc>
              <a:spcBef>
                <a:spcPts val="97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大模型直接对接数据查询，缺少数据权限管控，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隐私与安全性风险较高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用户可通过问询获取非用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户权限内的数据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4000"/>
              </a:lnSpc>
              <a:spcBef>
                <a:spcPts val="910"/>
              </a:spcBef>
            </a:pPr>
            <a:r>
              <a:rPr sz="1400" b="1" kern="0" spc="-3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sz="1400" kern="0" spc="16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3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能力单一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100000"/>
              </a:lnSpc>
              <a:spcBef>
                <a:spcPts val="5"/>
              </a:spcBef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很多高级的分析问题，单纯靠大模型生成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SQL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无法解决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74" name="textbox 1374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76" name="picture 13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31192" y="1578800"/>
            <a:ext cx="7620" cy="4661420"/>
          </a:xfrm>
          <a:prstGeom prst="rect">
            <a:avLst/>
          </a:prstGeom>
        </p:spPr>
      </p:pic>
      <p:sp>
        <p:nvSpPr>
          <p:cNvPr id="1378" name="textbox 1378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80" name="textbox 1380"/>
          <p:cNvSpPr/>
          <p:nvPr/>
        </p:nvSpPr>
        <p:spPr>
          <a:xfrm>
            <a:off x="549478" y="314400"/>
            <a:ext cx="6679565" cy="358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数据解读右移</a:t>
            </a:r>
            <a:r>
              <a:rPr sz="23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300" kern="0" spc="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存在效果瓶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颈和性能风险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2" name="textbox 1382"/>
          <p:cNvSpPr/>
          <p:nvPr/>
        </p:nvSpPr>
        <p:spPr>
          <a:xfrm>
            <a:off x="577596" y="1572767"/>
            <a:ext cx="4532629" cy="363220"/>
          </a:xfrm>
          <a:prstGeom prst="rect">
            <a:avLst/>
          </a:pr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4945" algn="l" rtl="0" eaLnBrk="0">
              <a:lnSpc>
                <a:spcPct val="95000"/>
              </a:lnSpc>
              <a:spcBef>
                <a:spcPts val="5"/>
              </a:spcBef>
            </a:pP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sz="1400" kern="0" spc="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SQL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方案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84" name="picture 13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15820" y="2145347"/>
            <a:ext cx="1883092" cy="1063307"/>
          </a:xfrm>
          <a:prstGeom prst="rect">
            <a:avLst/>
          </a:prstGeom>
        </p:spPr>
      </p:pic>
      <p:pic>
        <p:nvPicPr>
          <p:cNvPr id="1386" name="picture 13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651584" y="4762982"/>
            <a:ext cx="85712" cy="400863"/>
          </a:xfrm>
          <a:prstGeom prst="rect">
            <a:avLst/>
          </a:prstGeom>
        </p:spPr>
      </p:pic>
      <p:sp>
        <p:nvSpPr>
          <p:cNvPr id="1388" name="textbox 1388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90" name="textbox 1390"/>
          <p:cNvSpPr/>
          <p:nvPr/>
        </p:nvSpPr>
        <p:spPr>
          <a:xfrm>
            <a:off x="3213646" y="3208020"/>
            <a:ext cx="1544319" cy="546734"/>
          </a:xfrm>
          <a:prstGeom prst="rect">
            <a:avLst/>
          </a:pr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6380" algn="l" rtl="0" eaLnBrk="0">
              <a:lnSpc>
                <a:spcPct val="95000"/>
              </a:lnSpc>
              <a:spcBef>
                <a:spcPts val="5"/>
              </a:spcBef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查询结果输出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92" name="picture 13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712463" y="4229100"/>
            <a:ext cx="547116" cy="934745"/>
          </a:xfrm>
          <a:prstGeom prst="rect">
            <a:avLst/>
          </a:prstGeom>
        </p:spPr>
      </p:pic>
      <p:pic>
        <p:nvPicPr>
          <p:cNvPr id="1394" name="picture 13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pic>
        <p:nvPicPr>
          <p:cNvPr id="1396" name="picture 13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505712" y="2380580"/>
            <a:ext cx="377952" cy="342669"/>
          </a:xfrm>
          <a:prstGeom prst="rect">
            <a:avLst/>
          </a:prstGeom>
        </p:spPr>
      </p:pic>
      <p:pic>
        <p:nvPicPr>
          <p:cNvPr id="1398" name="picture 139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566373" y="4702860"/>
            <a:ext cx="85725" cy="475018"/>
          </a:xfrm>
          <a:prstGeom prst="rect">
            <a:avLst/>
          </a:prstGeom>
        </p:spPr>
      </p:pic>
      <p:pic>
        <p:nvPicPr>
          <p:cNvPr id="1400" name="picture 14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655483" y="2758617"/>
            <a:ext cx="85725" cy="4522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picture 14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graphicFrame>
        <p:nvGraphicFramePr>
          <p:cNvPr id="1404" name="table 1404"/>
          <p:cNvGraphicFramePr>
            <a:graphicFrameLocks noGrp="1"/>
          </p:cNvGraphicFramePr>
          <p:nvPr/>
        </p:nvGraphicFramePr>
        <p:xfrm>
          <a:off x="471804" y="1166495"/>
          <a:ext cx="11238230" cy="4912995"/>
        </p:xfrm>
        <a:graphic>
          <a:graphicData uri="http://schemas.openxmlformats.org/drawingml/2006/table">
            <a:tbl>
              <a:tblPr/>
              <a:tblGrid>
                <a:gridCol w="3846194"/>
                <a:gridCol w="948055"/>
                <a:gridCol w="1332230"/>
                <a:gridCol w="1143000"/>
                <a:gridCol w="1151255"/>
                <a:gridCol w="1358900"/>
                <a:gridCol w="1458595"/>
              </a:tblGrid>
              <a:tr h="414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3380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4472C4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场景数据分析诉求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118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4472C4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任务难度系数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6647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4472C4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难点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497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20" dirty="0">
                          <a:solidFill>
                            <a:srgbClr val="4472C4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NL2SQL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0655" algn="l" rtl="0" eaLnBrk="0">
                        <a:lnSpc>
                          <a:spcPct val="85000"/>
                        </a:lnSpc>
                      </a:pPr>
                      <a:r>
                        <a:rPr sz="1400" b="1" kern="0" spc="-20" dirty="0">
                          <a:solidFill>
                            <a:srgbClr val="4472C4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NL2MQL+Age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9420" algn="l" rtl="0" eaLnBrk="0">
                        <a:lnSpc>
                          <a:spcPct val="90000"/>
                        </a:lnSpc>
                      </a:pPr>
                      <a:r>
                        <a:rPr sz="1200" kern="0" spc="9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可实现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7215" algn="l" rtl="0" eaLnBrk="0">
                        <a:lnSpc>
                          <a:spcPct val="90000"/>
                        </a:lnSpc>
                      </a:pPr>
                      <a:r>
                        <a:rPr sz="1200" kern="0" spc="9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可实现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4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224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200" kern="0" spc="12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可实现但不准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004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200" kern="0" spc="12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可实现且准确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279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8150" algn="l" rtl="0" eaLnBrk="0">
                        <a:lnSpc>
                          <a:spcPct val="91000"/>
                        </a:lnSpc>
                      </a:pPr>
                      <a:r>
                        <a:rPr sz="1200" kern="0" spc="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难实现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0040" algn="l" rtl="0" eaLnBrk="0">
                        <a:lnSpc>
                          <a:spcPct val="91000"/>
                        </a:lnSpc>
                      </a:pPr>
                      <a:r>
                        <a:rPr sz="1200" kern="0" spc="12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可实现且准确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709">
                <a:tc vMerge="1"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629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224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200" kern="0" spc="12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可实现但不准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004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200" kern="0" spc="12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可实现且准确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 vMerge="1"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7359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8150" algn="l" rtl="0" eaLnBrk="0">
                        <a:lnSpc>
                          <a:spcPct val="91000"/>
                        </a:lnSpc>
                      </a:pPr>
                      <a:r>
                        <a:rPr sz="1200" kern="0" spc="9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难实现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4315" algn="l" rtl="0" eaLnBrk="0">
                        <a:lnSpc>
                          <a:spcPct val="90000"/>
                        </a:lnSpc>
                      </a:pPr>
                      <a:r>
                        <a:rPr sz="1200" kern="0" spc="12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可实现且易理解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615">
                <a:tc vMerge="1"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0" name="group 60"/>
          <p:cNvGrpSpPr/>
          <p:nvPr/>
        </p:nvGrpSpPr>
        <p:grpSpPr>
          <a:xfrm rot="21600000">
            <a:off x="407579" y="5262107"/>
            <a:ext cx="3850730" cy="636406"/>
            <a:chOff x="0" y="0"/>
            <a:chExt cx="3850730" cy="636406"/>
          </a:xfrm>
        </p:grpSpPr>
        <p:pic>
          <p:nvPicPr>
            <p:cNvPr id="1406" name="picture 140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850730" cy="636406"/>
            </a:xfrm>
            <a:prstGeom prst="rect">
              <a:avLst/>
            </a:prstGeom>
          </p:spPr>
        </p:pic>
        <p:sp>
          <p:nvSpPr>
            <p:cNvPr id="1408" name="textbox 1408"/>
            <p:cNvSpPr/>
            <p:nvPr/>
          </p:nvSpPr>
          <p:spPr>
            <a:xfrm>
              <a:off x="-12700" y="-12700"/>
              <a:ext cx="3876675" cy="662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9235" algn="l" rtl="0" eaLnBrk="0">
                <a:lnSpc>
                  <a:spcPct val="84000"/>
                </a:lnSpc>
                <a:spcBef>
                  <a:spcPts val="5"/>
                </a:spcBef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560070" algn="l" rtl="0" eaLnBrk="0">
                <a:lnSpc>
                  <a:spcPts val="1550"/>
                </a:lnSpc>
                <a:spcBef>
                  <a:spcPts val="285"/>
                </a:spcBef>
              </a:pPr>
              <a:r>
                <a:rPr sz="1200" b="1" kern="0" spc="0" dirty="0">
                  <a:solidFill>
                    <a:srgbClr val="38572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华东区</a:t>
              </a:r>
              <a:r>
                <a:rPr sz="1200" b="1" kern="0" spc="0" dirty="0">
                  <a:solidFill>
                    <a:srgbClr val="C55A1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XX基金</a:t>
              </a:r>
              <a:r>
                <a:rPr sz="1200" kern="0" spc="0" dirty="0">
                  <a:solidFill>
                    <a:srgbClr val="33333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</a:t>
              </a:r>
              <a:r>
                <a:rPr sz="1200" b="1" kern="0" spc="0" dirty="0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申购金额</a:t>
              </a:r>
              <a:r>
                <a:rPr sz="1200" b="1" kern="0" spc="0" dirty="0">
                  <a:solidFill>
                    <a:srgbClr val="7030A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周环比</a:t>
              </a:r>
              <a:r>
                <a:rPr sz="1200" b="1" kern="0" spc="0" dirty="0">
                  <a:solidFill>
                    <a:srgbClr val="BF9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为什么下</a:t>
              </a:r>
              <a:r>
                <a:rPr sz="1200" b="1" kern="0" spc="-10" dirty="0">
                  <a:solidFill>
                    <a:srgbClr val="BF9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降</a:t>
              </a:r>
              <a:r>
                <a:rPr sz="1200" kern="0" spc="-10" dirty="0">
                  <a:solidFill>
                    <a:srgbClr val="33333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了？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410" name="textbox 1410"/>
          <p:cNvSpPr/>
          <p:nvPr/>
        </p:nvSpPr>
        <p:spPr>
          <a:xfrm>
            <a:off x="6845300" y="2646679"/>
            <a:ext cx="838200" cy="360679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0" indent="-139065" algn="l" rtl="0" eaLnBrk="0">
              <a:lnSpc>
                <a:spcPct val="95000"/>
              </a:lnSpc>
              <a:spcBef>
                <a:spcPts val="0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枚举值转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12" name="picture 14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88864" y="2661919"/>
            <a:ext cx="346709" cy="364490"/>
          </a:xfrm>
          <a:prstGeom prst="rect">
            <a:avLst/>
          </a:prstGeom>
        </p:spPr>
      </p:pic>
      <p:sp>
        <p:nvSpPr>
          <p:cNvPr id="1414" name="textbox 1414"/>
          <p:cNvSpPr/>
          <p:nvPr/>
        </p:nvSpPr>
        <p:spPr>
          <a:xfrm>
            <a:off x="7331709" y="3354070"/>
            <a:ext cx="838200" cy="360045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0" indent="-139065" algn="l" rtl="0" eaLnBrk="0">
              <a:lnSpc>
                <a:spcPct val="95000"/>
              </a:lnSpc>
              <a:spcBef>
                <a:spcPts val="0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指标语义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模糊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16" name="picture 14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88864" y="3556000"/>
            <a:ext cx="346709" cy="364490"/>
          </a:xfrm>
          <a:prstGeom prst="rect">
            <a:avLst/>
          </a:prstGeom>
        </p:spPr>
      </p:pic>
      <p:pic>
        <p:nvPicPr>
          <p:cNvPr id="1418" name="picture 14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97804" y="3556634"/>
            <a:ext cx="346709" cy="364490"/>
          </a:xfrm>
          <a:prstGeom prst="rect">
            <a:avLst/>
          </a:prstGeom>
        </p:spPr>
      </p:pic>
      <p:sp>
        <p:nvSpPr>
          <p:cNvPr id="1420" name="textbox 1420"/>
          <p:cNvSpPr/>
          <p:nvPr/>
        </p:nvSpPr>
        <p:spPr>
          <a:xfrm>
            <a:off x="6840854" y="3740784"/>
            <a:ext cx="838200" cy="360679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0" indent="-69850" algn="l" rtl="0" eaLnBrk="0">
              <a:lnSpc>
                <a:spcPct val="96000"/>
              </a:lnSpc>
              <a:spcBef>
                <a:spcPts val="0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跨表多指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标查询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2" name="textbox 1422"/>
          <p:cNvSpPr/>
          <p:nvPr/>
        </p:nvSpPr>
        <p:spPr>
          <a:xfrm>
            <a:off x="6847331" y="4273295"/>
            <a:ext cx="838200" cy="360679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3360" algn="l" rtl="0" eaLnBrk="0">
              <a:lnSpc>
                <a:spcPct val="83000"/>
              </a:lnSpc>
            </a:pP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0670" algn="l" rtl="0" eaLnBrk="0">
              <a:lnSpc>
                <a:spcPts val="1430"/>
              </a:lnSpc>
            </a:pP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24" name="picture 14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916804" y="4488815"/>
            <a:ext cx="346709" cy="364489"/>
          </a:xfrm>
          <a:prstGeom prst="rect">
            <a:avLst/>
          </a:prstGeom>
        </p:spPr>
      </p:pic>
      <p:pic>
        <p:nvPicPr>
          <p:cNvPr id="1426" name="picture 14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325744" y="4489450"/>
            <a:ext cx="728980" cy="364489"/>
          </a:xfrm>
          <a:prstGeom prst="rect">
            <a:avLst/>
          </a:prstGeom>
        </p:spPr>
      </p:pic>
      <p:sp>
        <p:nvSpPr>
          <p:cNvPr id="1428" name="textbox 1428"/>
          <p:cNvSpPr/>
          <p:nvPr/>
        </p:nvSpPr>
        <p:spPr>
          <a:xfrm>
            <a:off x="464108" y="6451854"/>
            <a:ext cx="5412740" cy="19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200" b="1" kern="0" spc="10" dirty="0">
                <a:solidFill>
                  <a:srgbClr val="70AD4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时间维度</a:t>
            </a:r>
            <a:r>
              <a:rPr sz="1200" b="1" kern="0" spc="110" dirty="0">
                <a:solidFill>
                  <a:srgbClr val="70AD4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b="1" kern="0" spc="10" dirty="0">
                <a:solidFill>
                  <a:srgbClr val="38572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地域维度    </a:t>
            </a:r>
            <a:r>
              <a:rPr sz="1200" b="1" kern="0" spc="0" dirty="0">
                <a:solidFill>
                  <a:srgbClr val="7C7C7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公司维度    </a:t>
            </a:r>
            <a:r>
              <a:rPr sz="1200" b="1" kern="0" spc="0" dirty="0">
                <a:solidFill>
                  <a:srgbClr val="C55A1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产品维度    </a:t>
            </a:r>
            <a:r>
              <a:rPr sz="12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数据指标    </a:t>
            </a:r>
            <a:r>
              <a:rPr sz="1200" b="1" kern="0" spc="0" dirty="0">
                <a:solidFill>
                  <a:srgbClr val="7030A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数据维度    </a:t>
            </a:r>
            <a:r>
              <a:rPr sz="1200" b="1" kern="0" spc="0" dirty="0">
                <a:solidFill>
                  <a:srgbClr val="BF9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任务指令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0" name="textbox 1430"/>
          <p:cNvSpPr/>
          <p:nvPr/>
        </p:nvSpPr>
        <p:spPr>
          <a:xfrm>
            <a:off x="7796530" y="3740784"/>
            <a:ext cx="837564" cy="360679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065" indent="20320" algn="l" rtl="0" eaLnBrk="0">
              <a:lnSpc>
                <a:spcPct val="96000"/>
              </a:lnSpc>
              <a:spcBef>
                <a:spcPts val="0"/>
              </a:spcBef>
            </a:pPr>
            <a:r>
              <a:rPr sz="1100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日维度上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卷年维度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2" name="textbox 1432"/>
          <p:cNvSpPr/>
          <p:nvPr/>
        </p:nvSpPr>
        <p:spPr>
          <a:xfrm>
            <a:off x="7800975" y="4273295"/>
            <a:ext cx="838200" cy="360679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0335" algn="l" rtl="0" eaLnBrk="0">
              <a:lnSpc>
                <a:spcPct val="91000"/>
              </a:lnSpc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指标取数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4" name="textbox 1434"/>
          <p:cNvSpPr/>
          <p:nvPr/>
        </p:nvSpPr>
        <p:spPr>
          <a:xfrm>
            <a:off x="7800975" y="4705350"/>
            <a:ext cx="838200" cy="360679"/>
          </a:xfrm>
          <a:prstGeom prst="rect">
            <a:avLst/>
          </a:prstGeom>
          <a:solidFill>
            <a:srgbClr val="44546A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0335" algn="l" rtl="0" eaLnBrk="0">
              <a:lnSpc>
                <a:spcPct val="91000"/>
              </a:lnSpc>
              <a:spcBef>
                <a:spcPts val="5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衍生计算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6" name="textbox 1436"/>
          <p:cNvSpPr/>
          <p:nvPr/>
        </p:nvSpPr>
        <p:spPr>
          <a:xfrm>
            <a:off x="6844030" y="4705350"/>
            <a:ext cx="837564" cy="360679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0335" algn="l" rtl="0" eaLnBrk="0">
              <a:lnSpc>
                <a:spcPct val="92000"/>
              </a:lnSpc>
              <a:spcBef>
                <a:spcPts val="5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结果排序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8" name="textbox 1438"/>
          <p:cNvSpPr/>
          <p:nvPr/>
        </p:nvSpPr>
        <p:spPr>
          <a:xfrm>
            <a:off x="6840854" y="5209032"/>
            <a:ext cx="838200" cy="361315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0" indent="-139065" algn="l" rtl="0" eaLnBrk="0">
              <a:lnSpc>
                <a:spcPct val="95000"/>
              </a:lnSpc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枚举值转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0" name="textbox 1440"/>
          <p:cNvSpPr/>
          <p:nvPr/>
        </p:nvSpPr>
        <p:spPr>
          <a:xfrm>
            <a:off x="7796530" y="5209032"/>
            <a:ext cx="837564" cy="361315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0345" algn="l" rtl="0" eaLnBrk="0">
              <a:lnSpc>
                <a:spcPct val="81000"/>
              </a:lnSpc>
              <a:spcBef>
                <a:spcPts val="0"/>
              </a:spcBef>
            </a:pPr>
            <a:r>
              <a:rPr sz="11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同环比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0670" algn="l" rtl="0" eaLnBrk="0">
              <a:lnSpc>
                <a:spcPts val="1445"/>
              </a:lnSpc>
            </a:pP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2" name="textbox 1442"/>
          <p:cNvSpPr/>
          <p:nvPr/>
        </p:nvSpPr>
        <p:spPr>
          <a:xfrm>
            <a:off x="6847331" y="5637275"/>
            <a:ext cx="838200" cy="360679"/>
          </a:xfrm>
          <a:prstGeom prst="rect">
            <a:avLst/>
          </a:prstGeom>
          <a:solidFill>
            <a:srgbClr val="44546A">
              <a:alpha val="97647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3510" algn="l" rtl="0" eaLnBrk="0">
              <a:lnSpc>
                <a:spcPct val="91000"/>
              </a:lnSpc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多维归因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4" name="textbox 1444"/>
          <p:cNvSpPr/>
          <p:nvPr/>
        </p:nvSpPr>
        <p:spPr>
          <a:xfrm>
            <a:off x="7800975" y="5640070"/>
            <a:ext cx="838200" cy="360045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0335" algn="l" rtl="0" eaLnBrk="0">
              <a:lnSpc>
                <a:spcPct val="91000"/>
              </a:lnSpc>
              <a:spcBef>
                <a:spcPts val="5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报告解读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6" name="textbox 1446"/>
          <p:cNvSpPr/>
          <p:nvPr/>
        </p:nvSpPr>
        <p:spPr>
          <a:xfrm>
            <a:off x="11670811" y="1218936"/>
            <a:ext cx="201929" cy="195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1400" b="1" kern="0" spc="-6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nt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8" name="textbox 1448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50" name="textbox 1450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52" name="textbox 1452"/>
          <p:cNvSpPr/>
          <p:nvPr/>
        </p:nvSpPr>
        <p:spPr>
          <a:xfrm>
            <a:off x="549478" y="316229"/>
            <a:ext cx="7049769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数据解读右移</a:t>
            </a:r>
            <a:r>
              <a:rPr sz="2300" kern="0" spc="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数势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MQL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之路相比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2" name="group 62"/>
          <p:cNvGrpSpPr/>
          <p:nvPr/>
        </p:nvGrpSpPr>
        <p:grpSpPr>
          <a:xfrm rot="21600000">
            <a:off x="440038" y="2490098"/>
            <a:ext cx="3817001" cy="598541"/>
            <a:chOff x="0" y="0"/>
            <a:chExt cx="3817001" cy="598541"/>
          </a:xfrm>
        </p:grpSpPr>
        <p:pic>
          <p:nvPicPr>
            <p:cNvPr id="1454" name="picture 145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3817001" cy="598541"/>
            </a:xfrm>
            <a:prstGeom prst="rect">
              <a:avLst/>
            </a:prstGeom>
          </p:spPr>
        </p:pic>
        <p:sp>
          <p:nvSpPr>
            <p:cNvPr id="1456" name="textbox 1456"/>
            <p:cNvSpPr/>
            <p:nvPr/>
          </p:nvSpPr>
          <p:spPr>
            <a:xfrm>
              <a:off x="-12700" y="-12700"/>
              <a:ext cx="3843020" cy="6242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6695" algn="l" rtl="0" eaLnBrk="0">
                <a:lnSpc>
                  <a:spcPct val="85000"/>
                </a:lnSpc>
                <a:spcBef>
                  <a:spcPts val="5"/>
                </a:spcBef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525780" algn="l" rtl="0" eaLnBrk="0">
                <a:lnSpc>
                  <a:spcPts val="1550"/>
                </a:lnSpc>
                <a:spcBef>
                  <a:spcPts val="120"/>
                </a:spcBef>
              </a:pPr>
              <a:r>
                <a:rPr sz="1200" b="1" kern="0" spc="0" dirty="0">
                  <a:solidFill>
                    <a:srgbClr val="C55A1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XXX基金</a:t>
              </a:r>
              <a:r>
                <a:rPr sz="1200" b="1" kern="0" spc="0" dirty="0">
                  <a:solidFill>
                    <a:srgbClr val="70AD4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今年</a:t>
              </a:r>
              <a:r>
                <a:rPr sz="1200" kern="0" spc="0" dirty="0">
                  <a:solidFill>
                    <a:srgbClr val="33333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累计</a:t>
              </a:r>
              <a:r>
                <a:rPr sz="1200" b="1" kern="0" spc="0" dirty="0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卖了多</a:t>
              </a:r>
              <a:r>
                <a:rPr sz="1200" b="1" kern="0" spc="-10" dirty="0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少</a:t>
              </a:r>
              <a:r>
                <a:rPr sz="1200" kern="0" spc="-10" dirty="0">
                  <a:solidFill>
                    <a:srgbClr val="33333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？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1458" name="picture 14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58469" y="3503294"/>
            <a:ext cx="3798570" cy="562610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 rot="21600000">
            <a:off x="440038" y="3399418"/>
            <a:ext cx="545992" cy="411378"/>
            <a:chOff x="0" y="0"/>
            <a:chExt cx="545992" cy="411378"/>
          </a:xfrm>
        </p:grpSpPr>
        <p:pic>
          <p:nvPicPr>
            <p:cNvPr id="1460" name="picture 146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545992" cy="411378"/>
            </a:xfrm>
            <a:prstGeom prst="rect">
              <a:avLst/>
            </a:prstGeom>
          </p:spPr>
        </p:pic>
        <p:sp>
          <p:nvSpPr>
            <p:cNvPr id="1462" name="textbox 1462"/>
            <p:cNvSpPr/>
            <p:nvPr/>
          </p:nvSpPr>
          <p:spPr>
            <a:xfrm>
              <a:off x="-12700" y="-12700"/>
              <a:ext cx="571500" cy="4686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9870" algn="l" rtl="0" eaLnBrk="0">
                <a:lnSpc>
                  <a:spcPct val="85000"/>
                </a:lnSpc>
                <a:spcBef>
                  <a:spcPts val="5"/>
                </a:spcBef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464" name="textbox 1464"/>
          <p:cNvSpPr/>
          <p:nvPr/>
        </p:nvSpPr>
        <p:spPr>
          <a:xfrm>
            <a:off x="941806" y="3656558"/>
            <a:ext cx="290004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50"/>
              </a:lnSpc>
            </a:pPr>
            <a:r>
              <a:rPr sz="1200" b="1" kern="0" spc="-30" dirty="0">
                <a:solidFill>
                  <a:srgbClr val="70AD4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今年</a:t>
            </a:r>
            <a:r>
              <a:rPr sz="1200" b="1" kern="0" spc="-30" dirty="0">
                <a:solidFill>
                  <a:srgbClr val="C55A1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XX基金</a:t>
            </a:r>
            <a:r>
              <a:rPr sz="1200" kern="0" spc="-3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200" b="1" kern="0" spc="-3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申购额</a:t>
            </a:r>
            <a:r>
              <a:rPr sz="1200" kern="0" spc="-3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1200" b="1" kern="0" spc="-3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赎回额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分别是多少？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66" name="picture 14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58469" y="1750695"/>
            <a:ext cx="3798570" cy="494664"/>
          </a:xfrm>
          <a:prstGeom prst="rect">
            <a:avLst/>
          </a:prstGeom>
        </p:spPr>
      </p:pic>
      <p:pic>
        <p:nvPicPr>
          <p:cNvPr id="1468" name="picture 146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08214" y="4308337"/>
            <a:ext cx="3850095" cy="678952"/>
          </a:xfrm>
          <a:prstGeom prst="rect">
            <a:avLst/>
          </a:prstGeom>
        </p:spPr>
      </p:pic>
      <p:sp>
        <p:nvSpPr>
          <p:cNvPr id="1470" name="textbox 1470"/>
          <p:cNvSpPr/>
          <p:nvPr/>
        </p:nvSpPr>
        <p:spPr>
          <a:xfrm>
            <a:off x="602891" y="4400799"/>
            <a:ext cx="109854" cy="16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11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2" name="textbox 1472"/>
          <p:cNvSpPr/>
          <p:nvPr/>
        </p:nvSpPr>
        <p:spPr>
          <a:xfrm>
            <a:off x="940996" y="4481857"/>
            <a:ext cx="3246754" cy="421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18000"/>
              </a:lnSpc>
            </a:pPr>
            <a:r>
              <a:rPr sz="1100" b="1" kern="0" spc="-20" dirty="0">
                <a:solidFill>
                  <a:srgbClr val="7C7C7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XX基金公司</a:t>
            </a:r>
            <a:r>
              <a:rPr sz="1100" b="1" kern="0" spc="-20" dirty="0">
                <a:solidFill>
                  <a:srgbClr val="70AD4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最近3个月</a:t>
            </a:r>
            <a:r>
              <a:rPr sz="1100" b="1" kern="0" spc="-20" dirty="0">
                <a:solidFill>
                  <a:srgbClr val="53535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销量最好的Top3</a:t>
            </a:r>
            <a:r>
              <a:rPr sz="1100" b="1" kern="0" spc="-20" dirty="0">
                <a:solidFill>
                  <a:srgbClr val="C55A1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基金</a:t>
            </a:r>
            <a:r>
              <a:rPr sz="1100" kern="0" spc="-2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是哪些？</a:t>
            </a:r>
            <a:r>
              <a:rPr sz="1100" kern="0" spc="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kern="0" spc="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这三个分别的</a:t>
            </a:r>
            <a:r>
              <a:rPr sz="11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保有量</a:t>
            </a:r>
            <a:r>
              <a:rPr sz="1100" kern="0" spc="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是多少？</a:t>
            </a:r>
            <a:r>
              <a:rPr sz="1100" b="1" kern="0" spc="0" dirty="0">
                <a:solidFill>
                  <a:srgbClr val="BF9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帮我解</a:t>
            </a:r>
            <a:r>
              <a:rPr sz="1100" b="1" kern="0" spc="-10" dirty="0">
                <a:solidFill>
                  <a:srgbClr val="BF9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读下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74" name="picture 147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479925" y="1807209"/>
            <a:ext cx="346709" cy="364490"/>
          </a:xfrm>
          <a:prstGeom prst="rect">
            <a:avLst/>
          </a:prstGeom>
        </p:spPr>
      </p:pic>
      <p:pic>
        <p:nvPicPr>
          <p:cNvPr id="1476" name="picture 147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479925" y="2661919"/>
            <a:ext cx="346709" cy="364490"/>
          </a:xfrm>
          <a:prstGeom prst="rect">
            <a:avLst/>
          </a:prstGeom>
        </p:spPr>
      </p:pic>
      <p:sp>
        <p:nvSpPr>
          <p:cNvPr id="1478" name="textbox 1478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480" name="picture 148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507229" y="5403214"/>
            <a:ext cx="1929130" cy="365125"/>
          </a:xfrm>
          <a:prstGeom prst="rect">
            <a:avLst/>
          </a:prstGeom>
        </p:spPr>
      </p:pic>
      <p:grpSp>
        <p:nvGrpSpPr>
          <p:cNvPr id="66" name="group 66"/>
          <p:cNvGrpSpPr/>
          <p:nvPr/>
        </p:nvGrpSpPr>
        <p:grpSpPr>
          <a:xfrm rot="21600000">
            <a:off x="440132" y="1622688"/>
            <a:ext cx="546452" cy="411378"/>
            <a:chOff x="0" y="0"/>
            <a:chExt cx="546452" cy="411378"/>
          </a:xfrm>
        </p:grpSpPr>
        <p:pic>
          <p:nvPicPr>
            <p:cNvPr id="1482" name="picture 148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546452" cy="411378"/>
            </a:xfrm>
            <a:prstGeom prst="rect">
              <a:avLst/>
            </a:prstGeom>
          </p:spPr>
        </p:pic>
        <p:sp>
          <p:nvSpPr>
            <p:cNvPr id="1484" name="textbox 1484"/>
            <p:cNvSpPr/>
            <p:nvPr/>
          </p:nvSpPr>
          <p:spPr>
            <a:xfrm>
              <a:off x="-12700" y="-12700"/>
              <a:ext cx="572134" cy="4705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3045" algn="l" rtl="0" eaLnBrk="0">
                <a:lnSpc>
                  <a:spcPct val="86000"/>
                </a:lnSpc>
                <a:spcBef>
                  <a:spcPts val="5"/>
                </a:spcBef>
              </a:pPr>
              <a:r>
                <a:rPr sz="1100" b="1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486" name="textbox 1486"/>
          <p:cNvSpPr/>
          <p:nvPr/>
        </p:nvSpPr>
        <p:spPr>
          <a:xfrm>
            <a:off x="942721" y="1879828"/>
            <a:ext cx="232219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50"/>
              </a:lnSpc>
            </a:pPr>
            <a:r>
              <a:rPr sz="1200" b="1" kern="0" spc="-40" dirty="0">
                <a:solidFill>
                  <a:srgbClr val="70AD4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最近7天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客户的</a:t>
            </a:r>
            <a:r>
              <a:rPr sz="1200" b="1" kern="0" spc="-4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每日总资产</a:t>
            </a:r>
            <a:r>
              <a:rPr sz="1200" kern="0" spc="-4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200" kern="0" spc="-5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多少？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88" name="picture 148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sp>
        <p:nvSpPr>
          <p:cNvPr id="1490" name="textbox 1490"/>
          <p:cNvSpPr/>
          <p:nvPr/>
        </p:nvSpPr>
        <p:spPr>
          <a:xfrm>
            <a:off x="7800975" y="2646679"/>
            <a:ext cx="838200" cy="360679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0" indent="-139065" algn="l" rtl="0" eaLnBrk="0">
              <a:lnSpc>
                <a:spcPct val="95000"/>
              </a:lnSpc>
              <a:spcBef>
                <a:spcPts val="0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指标语义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模糊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2" name="textbox 1492"/>
          <p:cNvSpPr/>
          <p:nvPr/>
        </p:nvSpPr>
        <p:spPr>
          <a:xfrm>
            <a:off x="7331709" y="1818005"/>
            <a:ext cx="838200" cy="360045"/>
          </a:xfrm>
          <a:prstGeom prst="rect">
            <a:avLst/>
          </a:prstGeom>
          <a:solidFill>
            <a:srgbClr val="44546A">
              <a:alpha val="95294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0" indent="-139065" algn="l" rtl="0" eaLnBrk="0">
              <a:lnSpc>
                <a:spcPct val="95000"/>
              </a:lnSpc>
              <a:spcBef>
                <a:spcPts val="0"/>
              </a:spcBef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枚举值转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94" name="picture 149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479925" y="3556000"/>
            <a:ext cx="346709" cy="364490"/>
          </a:xfrm>
          <a:prstGeom prst="rect">
            <a:avLst/>
          </a:prstGeom>
        </p:spPr>
      </p:pic>
      <p:pic>
        <p:nvPicPr>
          <p:cNvPr id="1496" name="picture 149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507229" y="4488815"/>
            <a:ext cx="346709" cy="3644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picture 14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45465" y="2001380"/>
            <a:ext cx="6047930" cy="4225518"/>
          </a:xfrm>
          <a:prstGeom prst="rect">
            <a:avLst/>
          </a:prstGeom>
        </p:spPr>
      </p:pic>
      <p:pic>
        <p:nvPicPr>
          <p:cNvPr id="1500" name="picture 15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1502" name="textbox 1502"/>
          <p:cNvSpPr/>
          <p:nvPr/>
        </p:nvSpPr>
        <p:spPr>
          <a:xfrm>
            <a:off x="549478" y="314705"/>
            <a:ext cx="7876540" cy="358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数据解读右移</a:t>
            </a:r>
            <a:r>
              <a:rPr sz="23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指标平台+大模型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300" kern="0" spc="-5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实现数据价值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的端到端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4" name="textbox 1504"/>
          <p:cNvSpPr/>
          <p:nvPr/>
        </p:nvSpPr>
        <p:spPr>
          <a:xfrm>
            <a:off x="6940411" y="1628850"/>
            <a:ext cx="5015229" cy="4530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500" b="1" kern="0" spc="-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sz="1400" b="1" kern="0" spc="-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数据可信</a:t>
            </a:r>
            <a:r>
              <a:rPr sz="1400" b="1" kern="0" spc="-20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，准确率明显提升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ct val="91000"/>
              </a:lnSpc>
              <a:spcBef>
                <a:spcPts val="89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预设数据指标的定义与管理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，避免业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务理解对不齐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ct val="91000"/>
              </a:lnSpc>
              <a:spcBef>
                <a:spcPts val="85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借助思维链分析与歧义反问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，提升泛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化性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，避免直接从文本到SQL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8000"/>
              </a:lnSpc>
              <a:spcBef>
                <a:spcPts val="1255"/>
              </a:spcBef>
            </a:pP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sz="14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性能提升且稳定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ct val="91000"/>
              </a:lnSpc>
              <a:spcBef>
                <a:spcPts val="89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基于自研的数据查询加速引擎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，智能优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化查询语句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ct val="91000"/>
              </a:lnSpc>
              <a:spcBef>
                <a:spcPts val="975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Top95 可实现 从检索到回答的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秒级出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8000"/>
              </a:lnSpc>
              <a:spcBef>
                <a:spcPts val="1275"/>
              </a:spcBef>
            </a:pPr>
            <a:r>
              <a:rPr sz="1500" b="1" kern="0" spc="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</a:t>
            </a:r>
            <a:r>
              <a:rPr sz="1400" b="1" kern="0" spc="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学习成本低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ct val="91000"/>
              </a:lnSpc>
              <a:spcBef>
                <a:spcPts val="89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指标的数据样本可通过大模型辅助生成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ct val="92000"/>
              </a:lnSpc>
              <a:spcBef>
                <a:spcPts val="835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全流程白盒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，企业客户用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业务语言描述查询过程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，方便快速排查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8000"/>
              </a:lnSpc>
              <a:spcBef>
                <a:spcPts val="1260"/>
              </a:spcBef>
            </a:pPr>
            <a:r>
              <a:rPr sz="15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</a:t>
            </a:r>
            <a:r>
              <a:rPr sz="14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数据安全可保障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2245" indent="-165735" algn="l" rtl="0" eaLnBrk="0">
              <a:lnSpc>
                <a:spcPct val="120000"/>
              </a:lnSpc>
              <a:spcBef>
                <a:spcPts val="103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利用指标分析平台的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权限管理能力</a:t>
            </a:r>
            <a:r>
              <a:rPr sz="1400" b="1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，结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合RBAC基础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，对数据与指标进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行精细化的权限管控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实现数据查询的安全可控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1000"/>
              </a:lnSpc>
              <a:spcBef>
                <a:spcPts val="990"/>
              </a:spcBef>
            </a:pPr>
            <a:r>
              <a:rPr sz="1400" b="1" kern="0" spc="-1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能力覆盖更全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5735" algn="l" rtl="0" eaLnBrk="0">
              <a:lnSpc>
                <a:spcPct val="121000"/>
              </a:lnSpc>
              <a:spcBef>
                <a:spcPts val="5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12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高级数据分析问题</a:t>
            </a:r>
            <a:r>
              <a:rPr sz="12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，可通过精准的指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标进行关联与展示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，实现单项数据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可查、报表可展示、总结报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告可生成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6" name="rect 1506"/>
          <p:cNvSpPr/>
          <p:nvPr/>
        </p:nvSpPr>
        <p:spPr>
          <a:xfrm>
            <a:off x="4884420" y="5125097"/>
            <a:ext cx="1544015" cy="545706"/>
          </a:xfrm>
          <a:prstGeom prst="rect">
            <a:avLst/>
          </a:prstGeom>
          <a:solidFill>
            <a:srgbClr val="843C0B">
              <a:alpha val="7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8" name="rect 1508"/>
          <p:cNvSpPr/>
          <p:nvPr/>
        </p:nvSpPr>
        <p:spPr>
          <a:xfrm>
            <a:off x="2845231" y="5128259"/>
            <a:ext cx="1543888" cy="545909"/>
          </a:xfrm>
          <a:prstGeom prst="rect">
            <a:avLst/>
          </a:pr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0" name="rect 1510"/>
          <p:cNvSpPr/>
          <p:nvPr/>
        </p:nvSpPr>
        <p:spPr>
          <a:xfrm>
            <a:off x="816190" y="5125211"/>
            <a:ext cx="1543646" cy="545922"/>
          </a:xfrm>
          <a:prstGeom prst="rect">
            <a:avLst/>
          </a:prstGeom>
          <a:solidFill>
            <a:srgbClr val="3B383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2" name="rect 1512"/>
          <p:cNvSpPr/>
          <p:nvPr/>
        </p:nvSpPr>
        <p:spPr>
          <a:xfrm>
            <a:off x="4884420" y="3177540"/>
            <a:ext cx="1544015" cy="545719"/>
          </a:xfrm>
          <a:prstGeom prst="rect">
            <a:avLst/>
          </a:prstGeom>
          <a:solidFill>
            <a:srgbClr val="46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4" name="rect 1514"/>
          <p:cNvSpPr/>
          <p:nvPr/>
        </p:nvSpPr>
        <p:spPr>
          <a:xfrm>
            <a:off x="811974" y="3172650"/>
            <a:ext cx="1544129" cy="545909"/>
          </a:xfrm>
          <a:prstGeom prst="rect">
            <a:avLst/>
          </a:prstGeom>
          <a:solidFill>
            <a:srgbClr val="46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6" name="rect 1516"/>
          <p:cNvSpPr/>
          <p:nvPr/>
        </p:nvSpPr>
        <p:spPr>
          <a:xfrm>
            <a:off x="811872" y="4178808"/>
            <a:ext cx="1544231" cy="546125"/>
          </a:xfrm>
          <a:prstGeom prst="rect">
            <a:avLst/>
          </a:prstGeom>
          <a:solidFill>
            <a:srgbClr val="3B383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8" name="rect 1518"/>
          <p:cNvSpPr/>
          <p:nvPr/>
        </p:nvSpPr>
        <p:spPr>
          <a:xfrm>
            <a:off x="2845231" y="4180332"/>
            <a:ext cx="1543888" cy="546201"/>
          </a:xfrm>
          <a:prstGeom prst="rect">
            <a:avLst/>
          </a:pr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20" name="textbox 1520"/>
          <p:cNvSpPr/>
          <p:nvPr/>
        </p:nvSpPr>
        <p:spPr>
          <a:xfrm>
            <a:off x="799172" y="2057463"/>
            <a:ext cx="5642609" cy="3992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15"/>
              </a:lnSpc>
            </a:pPr>
            <a:r>
              <a:rPr sz="1800" kern="0" spc="10" baseline="14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                        </a:t>
            </a:r>
            <a:r>
              <a:rPr sz="1800" kern="0" spc="10" baseline="-1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交互式数据查询</a:t>
            </a:r>
            <a:endParaRPr sz="1800" baseline="-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425"/>
              </a:spcBef>
              <a:tabLst>
                <a:tab pos="252095" algn="l"/>
              </a:tabLst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数据查询任务                                                         查询结果输出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935"/>
              </a:lnSpc>
              <a:spcBef>
                <a:spcPts val="420"/>
              </a:spcBef>
              <a:tabLst>
                <a:tab pos="340995" algn="l"/>
              </a:tabLst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大语言模型                     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指标定义               </a:t>
            </a:r>
            <a:r>
              <a:rPr sz="1700" kern="0" spc="0" baseline="-25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700" kern="0" spc="0" baseline="-25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4975" algn="l" rtl="0" eaLnBrk="0">
              <a:lnSpc>
                <a:spcPts val="2185"/>
              </a:lnSpc>
              <a:spcBef>
                <a:spcPts val="420"/>
              </a:spcBef>
            </a:pPr>
            <a:r>
              <a:rPr sz="2100" kern="0" spc="20" baseline="-2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指标查询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sz="2100" kern="0" spc="0" baseline="-2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sz="2100" kern="0" spc="20" baseline="-20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r>
              <a:rPr sz="2100" kern="0" spc="0" baseline="35000" dirty="0">
                <a:solidFill>
                  <a:srgbClr val="FFFFFF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SQL</a:t>
            </a:r>
            <a:r>
              <a:rPr sz="2100" kern="0" spc="20" baseline="350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服务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5415" algn="l" rtl="0" eaLnBrk="0">
              <a:lnSpc>
                <a:spcPts val="1625"/>
              </a:lnSpc>
              <a:spcBef>
                <a:spcPts val="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意图理解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&amp;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指标关联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指标转换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522" name="picture 15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87250" y="5355640"/>
            <a:ext cx="496011" cy="85724"/>
          </a:xfrm>
          <a:prstGeom prst="rect">
            <a:avLst/>
          </a:prstGeom>
        </p:spPr>
      </p:pic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53992" y="5358040"/>
            <a:ext cx="485482" cy="85725"/>
          </a:xfrm>
          <a:prstGeom prst="rect">
            <a:avLst/>
          </a:prstGeom>
        </p:spPr>
      </p:pic>
      <p:pic>
        <p:nvPicPr>
          <p:cNvPr id="1526" name="picture 15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73759" y="4191000"/>
            <a:ext cx="547116" cy="522732"/>
          </a:xfrm>
          <a:prstGeom prst="rect">
            <a:avLst/>
          </a:prstGeom>
        </p:spPr>
      </p:pic>
      <p:sp>
        <p:nvSpPr>
          <p:cNvPr id="1528" name="textbox 1528"/>
          <p:cNvSpPr/>
          <p:nvPr/>
        </p:nvSpPr>
        <p:spPr>
          <a:xfrm>
            <a:off x="4893726" y="4454419"/>
            <a:ext cx="303529" cy="177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据中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30" name="textbox 1530"/>
          <p:cNvSpPr/>
          <p:nvPr/>
        </p:nvSpPr>
        <p:spPr>
          <a:xfrm>
            <a:off x="4884191" y="4288463"/>
            <a:ext cx="304800" cy="175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32" name="picture 15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40840" y="3718192"/>
            <a:ext cx="4158843" cy="472718"/>
          </a:xfrm>
          <a:prstGeom prst="rect">
            <a:avLst/>
          </a:prstGeom>
        </p:spPr>
      </p:pic>
      <p:pic>
        <p:nvPicPr>
          <p:cNvPr id="1534" name="picture 15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89888" y="2340956"/>
            <a:ext cx="4281017" cy="836735"/>
          </a:xfrm>
          <a:prstGeom prst="rect">
            <a:avLst/>
          </a:prstGeom>
        </p:spPr>
      </p:pic>
      <p:pic>
        <p:nvPicPr>
          <p:cNvPr id="1536" name="picture 15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749313" y="1546402"/>
            <a:ext cx="7619" cy="4671060"/>
          </a:xfrm>
          <a:prstGeom prst="rect">
            <a:avLst/>
          </a:prstGeom>
        </p:spPr>
      </p:pic>
      <p:sp>
        <p:nvSpPr>
          <p:cNvPr id="1538" name="textbox 1538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40" name="textbox 1540"/>
          <p:cNvSpPr/>
          <p:nvPr/>
        </p:nvSpPr>
        <p:spPr>
          <a:xfrm>
            <a:off x="1222858" y="5186517"/>
            <a:ext cx="2585085" cy="204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意图理解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2" name="textbox 1542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44" name="textbox 1544"/>
          <p:cNvSpPr/>
          <p:nvPr/>
        </p:nvSpPr>
        <p:spPr>
          <a:xfrm>
            <a:off x="551688" y="1546859"/>
            <a:ext cx="6035675" cy="349250"/>
          </a:xfrm>
          <a:prstGeom prst="rect">
            <a:avLst/>
          </a:prstGeom>
          <a:solidFill>
            <a:srgbClr val="46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91210" algn="l" rtl="0" eaLnBrk="0">
              <a:lnSpc>
                <a:spcPct val="92000"/>
              </a:lnSpc>
              <a:spcBef>
                <a:spcPts val="5"/>
              </a:spcBef>
            </a:pP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结合大模型+指标分析平台</a:t>
            </a:r>
            <a:r>
              <a:rPr sz="1400" b="1" kern="0" spc="-2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1" kern="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 2</a:t>
            </a:r>
            <a:r>
              <a:rPr sz="1400" b="1" kern="0" spc="1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QL</a:t>
            </a:r>
            <a:r>
              <a:rPr sz="1400" b="1" kern="0" spc="-2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，提供更优方案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46" name="picture 15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544231" y="4713401"/>
            <a:ext cx="4156125" cy="415264"/>
          </a:xfrm>
          <a:prstGeom prst="rect">
            <a:avLst/>
          </a:prstGeom>
        </p:spPr>
      </p:pic>
      <p:sp>
        <p:nvSpPr>
          <p:cNvPr id="1548" name="textbox 1548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50" name="textbox 1550"/>
          <p:cNvSpPr/>
          <p:nvPr/>
        </p:nvSpPr>
        <p:spPr>
          <a:xfrm>
            <a:off x="5011140" y="5760224"/>
            <a:ext cx="1240789" cy="375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6370" indent="-153670" algn="l" rtl="0" eaLnBrk="0">
              <a:lnSpc>
                <a:spcPct val="96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用指标关联的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SQL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做数据库查询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552" name="picture 15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4" name="picture 15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graphicFrame>
        <p:nvGraphicFramePr>
          <p:cNvPr id="1556" name="table 1556"/>
          <p:cNvGraphicFramePr>
            <a:graphicFrameLocks noGrp="1"/>
          </p:cNvGraphicFramePr>
          <p:nvPr/>
        </p:nvGraphicFramePr>
        <p:xfrm>
          <a:off x="2951479" y="4070350"/>
          <a:ext cx="3909695" cy="2277745"/>
        </p:xfrm>
        <a:graphic>
          <a:graphicData uri="http://schemas.openxmlformats.org/drawingml/2006/table">
            <a:tbl>
              <a:tblPr>
                <a:solidFill>
                  <a:srgbClr val="EFF1F7"/>
                </a:solidFill>
              </a:tblPr>
              <a:tblGrid>
                <a:gridCol w="3909695"/>
              </a:tblGrid>
              <a:tr h="2271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818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Evaluation</a:t>
                      </a:r>
                      <a:r>
                        <a:rPr sz="1500" kern="0" spc="4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(结果评估)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886585" algn="l" rtl="0" eaLnBrk="0">
                        <a:lnSpc>
                          <a:spcPts val="3100"/>
                        </a:lnSpc>
                        <a:spcBef>
                          <a:spcPts val="1820"/>
                        </a:spcBef>
                      </a:pPr>
                      <a:r>
                        <a:rPr sz="23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?</a:t>
                      </a:r>
                      <a:endParaRPr sz="23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824990" algn="l" rtl="0" eaLnBrk="0">
                        <a:lnSpc>
                          <a:spcPts val="945"/>
                        </a:lnSpc>
                        <a:spcBef>
                          <a:spcPts val="1235"/>
                        </a:spcBef>
                      </a:pPr>
                      <a:r>
                        <a:rPr sz="600" kern="0" spc="1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=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 </a:t>
                      </a:r>
                      <a:r>
                        <a:rPr sz="600" kern="0" spc="1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=</a:t>
                      </a:r>
                      <a:endParaRPr sz="600" dirty="0"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  <a:p>
                      <a:pPr algn="l" rtl="0" eaLnBrk="0">
                        <a:lnSpc>
                          <a:spcPct val="15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48005" algn="l" rtl="0" eaLnBrk="0">
                        <a:lnSpc>
                          <a:spcPts val="1625"/>
                        </a:lnSpc>
                        <a:spcBef>
                          <a:spcPts val="0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用户想要的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SwiftAgent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输出的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8" name="table 1558"/>
          <p:cNvGraphicFramePr>
            <a:graphicFrameLocks noGrp="1"/>
          </p:cNvGraphicFramePr>
          <p:nvPr/>
        </p:nvGraphicFramePr>
        <p:xfrm>
          <a:off x="2960370" y="1550670"/>
          <a:ext cx="3910329" cy="2277745"/>
        </p:xfrm>
        <a:graphic>
          <a:graphicData uri="http://schemas.openxmlformats.org/drawingml/2006/table">
            <a:tbl>
              <a:tblPr>
                <a:solidFill>
                  <a:srgbClr val="EFF1F7"/>
                </a:solidFill>
              </a:tblPr>
              <a:tblGrid>
                <a:gridCol w="838835"/>
                <a:gridCol w="774700"/>
                <a:gridCol w="788669"/>
                <a:gridCol w="694055"/>
                <a:gridCol w="814070"/>
              </a:tblGrid>
              <a:tr h="448944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514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Expert</a:t>
                      </a:r>
                      <a:r>
                        <a:rPr sz="15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Recruitment</a:t>
                      </a:r>
                      <a:r>
                        <a:rPr sz="1500" kern="0" spc="4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5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(专家雇佣)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1F7"/>
                    </a:solidFill>
                  </a:tcPr>
                </a:tc>
              </a:tr>
              <a:tr h="1244600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033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取数专家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可视化专家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归因专家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预警专家  报告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专家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435610" algn="l" rtl="0" eaLnBrk="0">
                        <a:lnSpc>
                          <a:spcPct val="70000"/>
                        </a:lnSpc>
                        <a:spcBef>
                          <a:spcPts val="300"/>
                        </a:spcBef>
                      </a:pPr>
                      <a:r>
                        <a:rPr sz="3700" kern="0" spc="4240" dirty="0">
                          <a:solidFill>
                            <a:srgbClr val="4472C4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sz="3700" kern="0" spc="260" dirty="0">
                          <a:solidFill>
                            <a:srgbClr val="4472C4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3700" kern="0" spc="-190" dirty="0">
                          <a:solidFill>
                            <a:srgbClr val="4472C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!</a:t>
                      </a:r>
                      <a:r>
                        <a:rPr sz="3700" kern="0" spc="0" dirty="0">
                          <a:solidFill>
                            <a:srgbClr val="4472C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</a:t>
                      </a:r>
                      <a:endParaRPr sz="3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7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7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7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7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7"/>
                    </a:solidFill>
                  </a:tcPr>
                </a:tc>
              </a:tr>
            </a:tbl>
          </a:graphicData>
        </a:graphic>
      </p:graphicFrame>
      <p:pic>
        <p:nvPicPr>
          <p:cNvPr id="1560" name="picture 15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10898" y="2833763"/>
            <a:ext cx="1010589" cy="396468"/>
          </a:xfrm>
          <a:prstGeom prst="rect">
            <a:avLst/>
          </a:prstGeom>
        </p:spPr>
      </p:pic>
      <p:pic>
        <p:nvPicPr>
          <p:cNvPr id="1562" name="picture 15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770551" y="2118678"/>
            <a:ext cx="426478" cy="426478"/>
          </a:xfrm>
          <a:prstGeom prst="rect">
            <a:avLst/>
          </a:prstGeom>
        </p:spPr>
      </p:pic>
      <p:pic>
        <p:nvPicPr>
          <p:cNvPr id="1564" name="picture 15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28271" y="2113082"/>
            <a:ext cx="351217" cy="414293"/>
          </a:xfrm>
          <a:prstGeom prst="rect">
            <a:avLst/>
          </a:prstGeom>
        </p:spPr>
      </p:pic>
      <p:pic>
        <p:nvPicPr>
          <p:cNvPr id="1566" name="picture 15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265294" y="3220084"/>
            <a:ext cx="1437513" cy="504571"/>
          </a:xfrm>
          <a:prstGeom prst="rect">
            <a:avLst/>
          </a:prstGeom>
        </p:spPr>
      </p:pic>
      <p:pic>
        <p:nvPicPr>
          <p:cNvPr id="1568" name="picture 156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234465" y="2124871"/>
            <a:ext cx="377738" cy="401391"/>
          </a:xfrm>
          <a:prstGeom prst="rect">
            <a:avLst/>
          </a:prstGeom>
        </p:spPr>
      </p:pic>
      <p:graphicFrame>
        <p:nvGraphicFramePr>
          <p:cNvPr id="1570" name="table 1570"/>
          <p:cNvGraphicFramePr>
            <a:graphicFrameLocks noGrp="1"/>
          </p:cNvGraphicFramePr>
          <p:nvPr/>
        </p:nvGraphicFramePr>
        <p:xfrm>
          <a:off x="572452" y="4637404"/>
          <a:ext cx="1899285" cy="1379219"/>
        </p:xfrm>
        <a:graphic>
          <a:graphicData uri="http://schemas.openxmlformats.org/drawingml/2006/table">
            <a:tbl>
              <a:tblPr>
                <a:solidFill>
                  <a:srgbClr val="EFF1F7"/>
                </a:solidFill>
              </a:tblPr>
              <a:tblGrid>
                <a:gridCol w="1899285"/>
              </a:tblGrid>
              <a:tr h="1372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850" indent="635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有数据、有逻辑有业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务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Sense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的分析报告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7"/>
                    </a:solidFill>
                  </a:tcPr>
                </a:tc>
              </a:tr>
            </a:tbl>
          </a:graphicData>
        </a:graphic>
      </p:graphicFrame>
      <p:pic>
        <p:nvPicPr>
          <p:cNvPr id="1572" name="picture 15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549525" y="2653068"/>
            <a:ext cx="417830" cy="2722168"/>
          </a:xfrm>
          <a:prstGeom prst="rect">
            <a:avLst/>
          </a:prstGeom>
        </p:spPr>
      </p:pic>
      <p:pic>
        <p:nvPicPr>
          <p:cNvPr id="1574" name="picture 15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352665" y="1550670"/>
            <a:ext cx="4354194" cy="4798059"/>
          </a:xfrm>
          <a:prstGeom prst="rect">
            <a:avLst/>
          </a:prstGeom>
        </p:spPr>
      </p:pic>
      <p:pic>
        <p:nvPicPr>
          <p:cNvPr id="1576" name="picture 157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299459" y="4797552"/>
            <a:ext cx="1210055" cy="627888"/>
          </a:xfrm>
          <a:prstGeom prst="rect">
            <a:avLst/>
          </a:prstGeom>
        </p:spPr>
      </p:pic>
      <p:pic>
        <p:nvPicPr>
          <p:cNvPr id="1578" name="picture 157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919719" y="2769234"/>
            <a:ext cx="2790654" cy="535940"/>
          </a:xfrm>
          <a:prstGeom prst="rect">
            <a:avLst/>
          </a:prstGeom>
        </p:spPr>
      </p:pic>
      <p:pic>
        <p:nvPicPr>
          <p:cNvPr id="1580" name="picture 158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591040" y="2420620"/>
            <a:ext cx="648334" cy="432435"/>
          </a:xfrm>
          <a:prstGeom prst="rect">
            <a:avLst/>
          </a:prstGeom>
        </p:spPr>
      </p:pic>
      <p:sp>
        <p:nvSpPr>
          <p:cNvPr id="1582" name="textbox 1582"/>
          <p:cNvSpPr/>
          <p:nvPr/>
        </p:nvSpPr>
        <p:spPr>
          <a:xfrm>
            <a:off x="6892925" y="1671941"/>
            <a:ext cx="4674870" cy="1857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Collaborative</a:t>
            </a:r>
            <a:r>
              <a:rPr sz="1500" kern="0" spc="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Decision</a:t>
            </a:r>
            <a:r>
              <a:rPr sz="1500" b="1" kern="0" spc="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Making</a:t>
            </a:r>
            <a:r>
              <a:rPr sz="1500" kern="0" spc="4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(协同决策)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15925" algn="l" rtl="0" eaLnBrk="0">
              <a:lnSpc>
                <a:spcPts val="6905"/>
              </a:lnSpc>
              <a:spcBef>
                <a:spcPts val="220"/>
              </a:spcBef>
              <a:tabLst>
                <a:tab pos="830580" algn="l"/>
              </a:tabLst>
            </a:pPr>
            <a:r>
              <a:rPr sz="3000" kern="0" spc="0" dirty="0">
                <a:solidFill>
                  <a:srgbClr val="CDB34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sz="3000" kern="0" spc="500" dirty="0">
                <a:solidFill>
                  <a:srgbClr val="CDB34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3000" kern="0" spc="10" dirty="0">
                <a:solidFill>
                  <a:srgbClr val="CDB34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</a:t>
            </a:r>
            <a:r>
              <a:rPr sz="3000" kern="0" spc="500" dirty="0">
                <a:solidFill>
                  <a:srgbClr val="A6A76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</a:t>
            </a:r>
            <a:r>
              <a:rPr sz="3000" kern="0" spc="0" dirty="0">
                <a:solidFill>
                  <a:srgbClr val="A6A76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22655" algn="l" rtl="0" eaLnBrk="0">
              <a:lnSpc>
                <a:spcPct val="91000"/>
              </a:lnSpc>
              <a:spcBef>
                <a:spcPts val="0"/>
              </a:spcBef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取数专家                                       报告专家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4" name="textbox 1584"/>
          <p:cNvSpPr/>
          <p:nvPr/>
        </p:nvSpPr>
        <p:spPr>
          <a:xfrm>
            <a:off x="9022256" y="2596083"/>
            <a:ext cx="622934" cy="1771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归因专家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86" name="picture 158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678273" y="2483207"/>
            <a:ext cx="322976" cy="385087"/>
          </a:xfrm>
          <a:prstGeom prst="rect">
            <a:avLst/>
          </a:prstGeom>
        </p:spPr>
      </p:pic>
      <p:pic>
        <p:nvPicPr>
          <p:cNvPr id="1588" name="picture 158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905625" y="2586393"/>
            <a:ext cx="403859" cy="101523"/>
          </a:xfrm>
          <a:prstGeom prst="rect">
            <a:avLst/>
          </a:prstGeom>
        </p:spPr>
      </p:pic>
      <p:sp>
        <p:nvSpPr>
          <p:cNvPr id="1590" name="textbox 1590"/>
          <p:cNvSpPr/>
          <p:nvPr/>
        </p:nvSpPr>
        <p:spPr>
          <a:xfrm>
            <a:off x="11214266" y="969292"/>
            <a:ext cx="766444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N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轮循环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2" name="textbox 1592"/>
          <p:cNvSpPr/>
          <p:nvPr/>
        </p:nvSpPr>
        <p:spPr>
          <a:xfrm>
            <a:off x="8015320" y="4199876"/>
            <a:ext cx="2794635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Action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Execution</a:t>
            </a:r>
            <a:r>
              <a:rPr sz="1500" kern="0" spc="4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b="1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(动作执行)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594" name="picture 159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439150" y="3018193"/>
            <a:ext cx="1656080" cy="101523"/>
          </a:xfrm>
          <a:prstGeom prst="rect">
            <a:avLst/>
          </a:prstGeom>
        </p:spPr>
      </p:pic>
      <p:pic>
        <p:nvPicPr>
          <p:cNvPr id="1596" name="picture 159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905625" y="5106060"/>
            <a:ext cx="375919" cy="101536"/>
          </a:xfrm>
          <a:prstGeom prst="rect">
            <a:avLst/>
          </a:prstGeom>
        </p:spPr>
      </p:pic>
      <p:sp>
        <p:nvSpPr>
          <p:cNvPr id="1598" name="textbox 1598"/>
          <p:cNvSpPr/>
          <p:nvPr/>
        </p:nvSpPr>
        <p:spPr>
          <a:xfrm>
            <a:off x="7511571" y="4812741"/>
            <a:ext cx="654684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Agents: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00" name="textbox 1600"/>
          <p:cNvSpPr/>
          <p:nvPr/>
        </p:nvSpPr>
        <p:spPr>
          <a:xfrm>
            <a:off x="7511571" y="5349634"/>
            <a:ext cx="1882775" cy="927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05815" indent="-793115" algn="l" rtl="0" eaLnBrk="0">
              <a:lnSpc>
                <a:spcPct val="94000"/>
              </a:lnSpc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Actions：</a:t>
            </a:r>
            <a:r>
              <a:rPr sz="1800" kern="0" spc="0" baseline="3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维度：渠道、风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险偏好、基金类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型、起购金额、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日期等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ct val="91000"/>
              </a:lnSpc>
              <a:spcBef>
                <a:spcPts val="130"/>
              </a:spcBef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度量：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申购人数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02" name="picture 160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8564243" y="4695443"/>
            <a:ext cx="466090" cy="466089"/>
          </a:xfrm>
          <a:prstGeom prst="rect">
            <a:avLst/>
          </a:prstGeom>
        </p:spPr>
      </p:pic>
      <p:sp>
        <p:nvSpPr>
          <p:cNvPr id="1604" name="textbox 1604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06" name="textbox 1606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08" name="textbox 1608"/>
          <p:cNvSpPr/>
          <p:nvPr/>
        </p:nvSpPr>
        <p:spPr>
          <a:xfrm>
            <a:off x="549478" y="313181"/>
            <a:ext cx="5450840" cy="360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数据解读右移</a:t>
            </a:r>
            <a:r>
              <a:rPr sz="2300" kern="0" spc="2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“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”架构运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转流程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10" name="picture 161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986643" y="2118678"/>
            <a:ext cx="390474" cy="390474"/>
          </a:xfrm>
          <a:prstGeom prst="rect">
            <a:avLst/>
          </a:prstGeom>
        </p:spPr>
      </p:pic>
      <p:pic>
        <p:nvPicPr>
          <p:cNvPr id="1612" name="picture 161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184956" y="2112328"/>
            <a:ext cx="426478" cy="426478"/>
          </a:xfrm>
          <a:prstGeom prst="rect">
            <a:avLst/>
          </a:prstGeom>
        </p:spPr>
      </p:pic>
      <p:sp>
        <p:nvSpPr>
          <p:cNvPr id="1614" name="textbox 1614"/>
          <p:cNvSpPr/>
          <p:nvPr/>
        </p:nvSpPr>
        <p:spPr>
          <a:xfrm>
            <a:off x="559999" y="3297402"/>
            <a:ext cx="3371215" cy="1251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Group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8000"/>
              </a:lnSpc>
              <a:spcBef>
                <a:spcPts val="10"/>
              </a:spcBef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Reward Feedback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9530" algn="l" rtl="0" eaLnBrk="0">
              <a:lnSpc>
                <a:spcPts val="1920"/>
              </a:lnSpc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(正负反馈）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4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100000"/>
              </a:lnSpc>
              <a:spcBef>
                <a:spcPts val="5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Outcome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（结果）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616" name="picture 161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236027" y="4709794"/>
            <a:ext cx="572135" cy="572135"/>
          </a:xfrm>
          <a:prstGeom prst="rect">
            <a:avLst/>
          </a:prstGeom>
        </p:spPr>
      </p:pic>
      <p:sp>
        <p:nvSpPr>
          <p:cNvPr id="1618" name="textbox 1618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620" name="picture 16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579119" y="1917191"/>
            <a:ext cx="2254885" cy="1225296"/>
          </a:xfrm>
          <a:prstGeom prst="rect">
            <a:avLst/>
          </a:prstGeom>
        </p:spPr>
      </p:pic>
      <p:graphicFrame>
        <p:nvGraphicFramePr>
          <p:cNvPr id="1622" name="table 1622"/>
          <p:cNvGraphicFramePr>
            <a:graphicFrameLocks noGrp="1"/>
          </p:cNvGraphicFramePr>
          <p:nvPr/>
        </p:nvGraphicFramePr>
        <p:xfrm>
          <a:off x="572452" y="1910715"/>
          <a:ext cx="1899285" cy="1238250"/>
        </p:xfrm>
        <a:graphic>
          <a:graphicData uri="http://schemas.openxmlformats.org/drawingml/2006/table">
            <a:tbl>
              <a:tblPr/>
              <a:tblGrid>
                <a:gridCol w="1899285"/>
              </a:tblGrid>
              <a:tr h="1231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5895" algn="l" rtl="0" eaLnBrk="0">
                        <a:lnSpc>
                          <a:spcPct val="97000"/>
                        </a:lnSpc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看下近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7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天基金申购</a:t>
                      </a:r>
                      <a:r>
                        <a:rPr sz="1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人数</a:t>
                      </a:r>
                      <a:r>
                        <a:rPr sz="14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，哪个渠道跌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得最多</a:t>
                      </a:r>
                      <a:r>
                        <a:rPr sz="14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，做个总结</a:t>
                      </a:r>
                      <a:endParaRPr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24" name="picture 16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271515" y="4797552"/>
            <a:ext cx="1210055" cy="627888"/>
          </a:xfrm>
          <a:prstGeom prst="rect">
            <a:avLst/>
          </a:prstGeom>
        </p:spPr>
      </p:pic>
      <p:pic>
        <p:nvPicPr>
          <p:cNvPr id="1626" name="picture 162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pic>
        <p:nvPicPr>
          <p:cNvPr id="1628" name="picture 162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8334375" y="2420620"/>
            <a:ext cx="680719" cy="462279"/>
          </a:xfrm>
          <a:prstGeom prst="rect">
            <a:avLst/>
          </a:prstGeom>
        </p:spPr>
      </p:pic>
      <p:sp>
        <p:nvSpPr>
          <p:cNvPr id="1630" name="textbox 1630"/>
          <p:cNvSpPr/>
          <p:nvPr/>
        </p:nvSpPr>
        <p:spPr>
          <a:xfrm>
            <a:off x="559892" y="1537182"/>
            <a:ext cx="1372869" cy="285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Goal（</a:t>
            </a:r>
            <a:r>
              <a:rPr sz="1700" kern="0" spc="-1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目标）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32" name="textbox 1632"/>
          <p:cNvSpPr/>
          <p:nvPr/>
        </p:nvSpPr>
        <p:spPr>
          <a:xfrm>
            <a:off x="10489539" y="5353405"/>
            <a:ext cx="787400" cy="375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96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客户常用的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报告模版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</a:t>
            </a:r>
            <a:endParaRPr sz="1200" dirty="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634" name="textbox 1634"/>
          <p:cNvSpPr/>
          <p:nvPr/>
        </p:nvSpPr>
        <p:spPr>
          <a:xfrm>
            <a:off x="9671761" y="5353557"/>
            <a:ext cx="633094" cy="375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维度归因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36" name="picture 163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9697800" y="4698349"/>
            <a:ext cx="434812" cy="460279"/>
          </a:xfrm>
          <a:prstGeom prst="rect">
            <a:avLst/>
          </a:prstGeom>
        </p:spPr>
      </p:pic>
      <p:pic>
        <p:nvPicPr>
          <p:cNvPr id="1638" name="picture 163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096456" y="2091413"/>
            <a:ext cx="434812" cy="459658"/>
          </a:xfrm>
          <a:prstGeom prst="rect">
            <a:avLst/>
          </a:prstGeom>
        </p:spPr>
      </p:pic>
      <p:pic>
        <p:nvPicPr>
          <p:cNvPr id="1640" name="picture 164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10683474" y="4709417"/>
            <a:ext cx="412484" cy="43814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2" name="picture 16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1644" name="textbox 1644"/>
          <p:cNvSpPr/>
          <p:nvPr/>
        </p:nvSpPr>
        <p:spPr>
          <a:xfrm>
            <a:off x="555083" y="1083904"/>
            <a:ext cx="9733280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2000"/>
              </a:lnSpc>
            </a:pPr>
            <a:r>
              <a:rPr sz="1500" kern="0" spc="8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基于大模型的理解和思考能力</a:t>
            </a:r>
            <a:r>
              <a:rPr sz="1500" kern="0" spc="-12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8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，实现基于</a:t>
            </a:r>
            <a:r>
              <a:rPr sz="1500" b="1" kern="0" spc="8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自然语言的数据分析</a:t>
            </a:r>
            <a:r>
              <a:rPr sz="1500" b="1" kern="0" spc="-2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8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kern="0" spc="-35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8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并针对获取的结果数据进行</a:t>
            </a:r>
            <a:r>
              <a:rPr sz="1500" b="1" kern="0" spc="8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智能解读与归因</a:t>
            </a:r>
            <a:r>
              <a:rPr sz="1500" kern="0" spc="8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00" kern="0" spc="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kern="0" spc="9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提升经营分析效率</a:t>
            </a:r>
            <a:endParaRPr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46" name="path 1646"/>
          <p:cNvSpPr/>
          <p:nvPr/>
        </p:nvSpPr>
        <p:spPr>
          <a:xfrm>
            <a:off x="6361175" y="2228088"/>
            <a:ext cx="1530096" cy="345947"/>
          </a:xfrm>
          <a:custGeom>
            <a:avLst/>
            <a:gdLst/>
            <a:ahLst/>
            <a:cxnLst/>
            <a:rect l="0" t="0" r="0" b="0"/>
            <a:pathLst>
              <a:path w="2409" h="544">
                <a:moveTo>
                  <a:pt x="0" y="271"/>
                </a:moveTo>
                <a:lnTo>
                  <a:pt x="1204" y="0"/>
                </a:lnTo>
                <a:lnTo>
                  <a:pt x="2409" y="271"/>
                </a:lnTo>
                <a:lnTo>
                  <a:pt x="1204" y="544"/>
                </a:lnTo>
                <a:lnTo>
                  <a:pt x="0" y="271"/>
                </a:lnTo>
              </a:path>
            </a:pathLst>
          </a:cu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8" name="textbox 1648"/>
          <p:cNvSpPr/>
          <p:nvPr/>
        </p:nvSpPr>
        <p:spPr>
          <a:xfrm>
            <a:off x="6828344" y="2260651"/>
            <a:ext cx="641984" cy="534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200" indent="-63500" algn="l" rtl="0" eaLnBrk="0">
              <a:lnSpc>
                <a:spcPct val="95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是否适用分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析Agent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5915" algn="l" rtl="0" eaLnBrk="0">
              <a:lnSpc>
                <a:spcPct val="87000"/>
              </a:lnSpc>
              <a:spcBef>
                <a:spcPts val="5"/>
              </a:spcBef>
              <a:tabLst>
                <a:tab pos="51435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50" name="picture 16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88314" y="2573388"/>
            <a:ext cx="76200" cy="197014"/>
          </a:xfrm>
          <a:prstGeom prst="rect">
            <a:avLst/>
          </a:prstGeom>
        </p:spPr>
      </p:pic>
      <p:pic>
        <p:nvPicPr>
          <p:cNvPr id="1652" name="picture 16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63208" y="2364346"/>
            <a:ext cx="397814" cy="76200"/>
          </a:xfrm>
          <a:prstGeom prst="rect">
            <a:avLst/>
          </a:prstGeom>
        </p:spPr>
      </p:pic>
      <p:sp>
        <p:nvSpPr>
          <p:cNvPr id="1654" name="textbox 1654"/>
          <p:cNvSpPr/>
          <p:nvPr/>
        </p:nvSpPr>
        <p:spPr>
          <a:xfrm>
            <a:off x="6161798" y="2259736"/>
            <a:ext cx="138429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56" name="textbox 1656"/>
          <p:cNvSpPr/>
          <p:nvPr/>
        </p:nvSpPr>
        <p:spPr>
          <a:xfrm>
            <a:off x="7331087" y="3172269"/>
            <a:ext cx="13906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58" name="picture 16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86054" y="3116351"/>
            <a:ext cx="76186" cy="222097"/>
          </a:xfrm>
          <a:prstGeom prst="rect">
            <a:avLst/>
          </a:prstGeom>
        </p:spPr>
      </p:pic>
      <p:pic>
        <p:nvPicPr>
          <p:cNvPr id="1660" name="picture 16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65303" y="3332098"/>
            <a:ext cx="2184399" cy="12700"/>
          </a:xfrm>
          <a:prstGeom prst="rect">
            <a:avLst/>
          </a:prstGeom>
        </p:spPr>
      </p:pic>
      <p:pic>
        <p:nvPicPr>
          <p:cNvPr id="1662" name="picture 16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090245" y="3450513"/>
            <a:ext cx="33946" cy="118440"/>
          </a:xfrm>
          <a:prstGeom prst="rect">
            <a:avLst/>
          </a:prstGeom>
        </p:spPr>
      </p:pic>
      <p:pic>
        <p:nvPicPr>
          <p:cNvPr id="1664" name="picture 16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295326" y="4304360"/>
            <a:ext cx="2362200" cy="12700"/>
          </a:xfrm>
          <a:prstGeom prst="rect">
            <a:avLst/>
          </a:prstGeom>
        </p:spPr>
      </p:pic>
      <p:grpSp>
        <p:nvGrpSpPr>
          <p:cNvPr id="68" name="group 68"/>
          <p:cNvGrpSpPr/>
          <p:nvPr/>
        </p:nvGrpSpPr>
        <p:grpSpPr>
          <a:xfrm rot="21600000">
            <a:off x="6361175" y="2770632"/>
            <a:ext cx="1530096" cy="345947"/>
            <a:chOff x="0" y="0"/>
            <a:chExt cx="1530096" cy="345947"/>
          </a:xfrm>
        </p:grpSpPr>
        <p:sp>
          <p:nvSpPr>
            <p:cNvPr id="1666" name="path 1666"/>
            <p:cNvSpPr/>
            <p:nvPr/>
          </p:nvSpPr>
          <p:spPr>
            <a:xfrm>
              <a:off x="0" y="0"/>
              <a:ext cx="1530096" cy="345947"/>
            </a:xfrm>
            <a:custGeom>
              <a:avLst/>
              <a:gdLst/>
              <a:ahLst/>
              <a:cxnLst/>
              <a:rect l="0" t="0" r="0" b="0"/>
              <a:pathLst>
                <a:path w="2409" h="544">
                  <a:moveTo>
                    <a:pt x="0" y="271"/>
                  </a:moveTo>
                  <a:lnTo>
                    <a:pt x="1204" y="0"/>
                  </a:lnTo>
                  <a:lnTo>
                    <a:pt x="2409" y="271"/>
                  </a:lnTo>
                  <a:lnTo>
                    <a:pt x="1204" y="544"/>
                  </a:lnTo>
                  <a:lnTo>
                    <a:pt x="0" y="271"/>
                  </a:lnTo>
                </a:path>
              </a:pathLst>
            </a:cu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68" name="textbox 1668"/>
            <p:cNvSpPr/>
            <p:nvPr/>
          </p:nvSpPr>
          <p:spPr>
            <a:xfrm>
              <a:off x="-12700" y="-12700"/>
              <a:ext cx="1555750" cy="3848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9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92125" algn="l" rtl="0" eaLnBrk="0">
                <a:lnSpc>
                  <a:spcPct val="82000"/>
                </a:lnSpc>
                <a:spcBef>
                  <a:spcPts val="0"/>
                </a:spcBef>
              </a:pPr>
              <a:r>
                <a:rPr sz="9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是否使用规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664210" algn="l" rtl="0" eaLnBrk="0">
                <a:lnSpc>
                  <a:spcPts val="1170"/>
                </a:lnSpc>
              </a:pPr>
              <a:r>
                <a:rPr sz="900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划器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670" name="textbox 1670"/>
          <p:cNvSpPr/>
          <p:nvPr/>
        </p:nvSpPr>
        <p:spPr>
          <a:xfrm>
            <a:off x="4774691" y="2169693"/>
            <a:ext cx="1189355" cy="467359"/>
          </a:xfrm>
          <a:prstGeom prst="rect">
            <a:avLst/>
          </a:prstGeom>
          <a:solidFill>
            <a:srgbClr val="4874CB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0" algn="l" rtl="0" eaLnBrk="0">
              <a:lnSpc>
                <a:spcPts val="1120"/>
              </a:lnSpc>
              <a:spcBef>
                <a:spcPts val="0"/>
              </a:spcBef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调用外部工具/知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algn="l" rtl="0" eaLnBrk="0">
              <a:lnSpc>
                <a:spcPts val="112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识库/模型本身问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210" algn="l" rtl="0" eaLnBrk="0">
              <a:lnSpc>
                <a:spcPct val="91000"/>
              </a:lnSpc>
              <a:spcBef>
                <a:spcPts val="85"/>
              </a:spcBef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2" name="textbox 1672"/>
          <p:cNvSpPr/>
          <p:nvPr/>
        </p:nvSpPr>
        <p:spPr>
          <a:xfrm>
            <a:off x="7202932" y="3446373"/>
            <a:ext cx="367029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74" name="picture 16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25145" y="3695953"/>
            <a:ext cx="599046" cy="86753"/>
          </a:xfrm>
          <a:prstGeom prst="rect">
            <a:avLst/>
          </a:prstGeom>
        </p:spPr>
      </p:pic>
      <p:pic>
        <p:nvPicPr>
          <p:cNvPr id="1676" name="picture 167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347345" y="3770007"/>
            <a:ext cx="139700" cy="12700"/>
          </a:xfrm>
          <a:prstGeom prst="rect">
            <a:avLst/>
          </a:prstGeom>
        </p:spPr>
      </p:pic>
      <p:pic>
        <p:nvPicPr>
          <p:cNvPr id="1678" name="picture 167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457860" y="3723017"/>
            <a:ext cx="1581836" cy="307251"/>
          </a:xfrm>
          <a:prstGeom prst="rect">
            <a:avLst/>
          </a:prstGeom>
        </p:spPr>
      </p:pic>
      <p:sp>
        <p:nvSpPr>
          <p:cNvPr id="1680" name="textbox 1680"/>
          <p:cNvSpPr/>
          <p:nvPr/>
        </p:nvSpPr>
        <p:spPr>
          <a:xfrm>
            <a:off x="5963208" y="3524745"/>
            <a:ext cx="427990" cy="207645"/>
          </a:xfrm>
          <a:prstGeom prst="rect">
            <a:avLst/>
          </a:pr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3505" algn="l" rtl="0" eaLnBrk="0">
              <a:lnSpc>
                <a:spcPct val="85000"/>
              </a:lnSpc>
              <a:spcBef>
                <a:spcPts val="5"/>
              </a:spcBef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TOT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82" name="textbox 1682"/>
          <p:cNvSpPr/>
          <p:nvPr/>
        </p:nvSpPr>
        <p:spPr>
          <a:xfrm>
            <a:off x="6732613" y="4029455"/>
            <a:ext cx="930910" cy="207645"/>
          </a:xfrm>
          <a:prstGeom prst="rect">
            <a:avLst/>
          </a:pr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5595" algn="l" rtl="0" eaLnBrk="0">
              <a:lnSpc>
                <a:spcPct val="84000"/>
              </a:lnSpc>
            </a:pP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84" name="picture 168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467944" y="3450513"/>
            <a:ext cx="584200" cy="12700"/>
          </a:xfrm>
          <a:prstGeom prst="rect">
            <a:avLst/>
          </a:prstGeom>
        </p:spPr>
      </p:pic>
      <p:pic>
        <p:nvPicPr>
          <p:cNvPr id="1686" name="picture 168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111492" y="3607053"/>
            <a:ext cx="12700" cy="50800"/>
          </a:xfrm>
          <a:prstGeom prst="rect">
            <a:avLst/>
          </a:prstGeom>
        </p:spPr>
      </p:pic>
      <p:pic>
        <p:nvPicPr>
          <p:cNvPr id="1688" name="picture 168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117842" y="3579393"/>
            <a:ext cx="519569" cy="78002"/>
          </a:xfrm>
          <a:prstGeom prst="rect">
            <a:avLst/>
          </a:prstGeom>
        </p:spPr>
      </p:pic>
      <p:grpSp>
        <p:nvGrpSpPr>
          <p:cNvPr id="70" name="group 70"/>
          <p:cNvGrpSpPr/>
          <p:nvPr/>
        </p:nvGrpSpPr>
        <p:grpSpPr>
          <a:xfrm rot="21600000">
            <a:off x="3240405" y="4181589"/>
            <a:ext cx="8109139" cy="2412250"/>
            <a:chOff x="0" y="0"/>
            <a:chExt cx="8109139" cy="2412250"/>
          </a:xfrm>
        </p:grpSpPr>
        <p:pic>
          <p:nvPicPr>
            <p:cNvPr id="1690" name="picture 169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8109139" cy="2412250"/>
            </a:xfrm>
            <a:prstGeom prst="rect">
              <a:avLst/>
            </a:prstGeom>
          </p:spPr>
        </p:pic>
        <p:sp>
          <p:nvSpPr>
            <p:cNvPr id="1692" name="rect 1692"/>
            <p:cNvSpPr/>
            <p:nvPr/>
          </p:nvSpPr>
          <p:spPr>
            <a:xfrm>
              <a:off x="924204" y="1071270"/>
              <a:ext cx="705116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94" name="rect 1694"/>
            <p:cNvSpPr/>
            <p:nvPr/>
          </p:nvSpPr>
          <p:spPr>
            <a:xfrm>
              <a:off x="924204" y="1518170"/>
              <a:ext cx="705116" cy="278892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96" name="rect 1696"/>
            <p:cNvSpPr/>
            <p:nvPr/>
          </p:nvSpPr>
          <p:spPr>
            <a:xfrm>
              <a:off x="2873882" y="586930"/>
              <a:ext cx="931164" cy="207340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98" name="rect 1698"/>
            <p:cNvSpPr/>
            <p:nvPr/>
          </p:nvSpPr>
          <p:spPr>
            <a:xfrm>
              <a:off x="5393054" y="1955241"/>
              <a:ext cx="1000125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0" name="textbox 1700"/>
            <p:cNvSpPr/>
            <p:nvPr/>
          </p:nvSpPr>
          <p:spPr>
            <a:xfrm>
              <a:off x="1036536" y="597979"/>
              <a:ext cx="5078095" cy="15767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97405" algn="l" rtl="0" eaLnBrk="0">
                <a:lnSpc>
                  <a:spcPts val="1160"/>
                </a:lnSpc>
              </a:pPr>
              <a:r>
                <a:rPr sz="9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API对齐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9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2000"/>
                </a:lnSpc>
                <a:spcBef>
                  <a:spcPts val="280"/>
                </a:spcBef>
              </a:pPr>
              <a:r>
                <a:rPr sz="9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指标结果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0" algn="l" rtl="0" eaLnBrk="0">
                <a:lnSpc>
                  <a:spcPts val="1180"/>
                </a:lnSpc>
              </a:pPr>
              <a:r>
                <a:rPr sz="900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查询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1000"/>
                </a:lnSpc>
                <a:spcBef>
                  <a:spcPts val="270"/>
                </a:spcBef>
              </a:pPr>
              <a:r>
                <a:rPr sz="9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相似指标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27000" algn="l" rtl="0" eaLnBrk="0">
                <a:lnSpc>
                  <a:spcPts val="1175"/>
                </a:lnSpc>
              </a:pPr>
              <a:r>
                <a:rPr sz="900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推荐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1160"/>
                </a:lnSpc>
                <a:spcBef>
                  <a:spcPts val="0"/>
                </a:spcBef>
              </a:pPr>
              <a:r>
                <a:rPr sz="900" kern="0" spc="-2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HM API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702" name="path 1702"/>
            <p:cNvSpPr/>
            <p:nvPr/>
          </p:nvSpPr>
          <p:spPr>
            <a:xfrm>
              <a:off x="5269610" y="1495310"/>
              <a:ext cx="1217676" cy="301752"/>
            </a:xfrm>
            <a:custGeom>
              <a:avLst/>
              <a:gdLst/>
              <a:ahLst/>
              <a:cxnLst/>
              <a:rect l="0" t="0" r="0" b="0"/>
              <a:pathLst>
                <a:path w="1917" h="475">
                  <a:moveTo>
                    <a:pt x="0" y="237"/>
                  </a:moveTo>
                  <a:lnTo>
                    <a:pt x="960" y="0"/>
                  </a:lnTo>
                  <a:lnTo>
                    <a:pt x="1917" y="237"/>
                  </a:lnTo>
                  <a:lnTo>
                    <a:pt x="960" y="475"/>
                  </a:lnTo>
                  <a:lnTo>
                    <a:pt x="0" y="237"/>
                  </a:lnTo>
                </a:path>
              </a:pathLst>
            </a:cu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4" name="rect 1704"/>
            <p:cNvSpPr/>
            <p:nvPr/>
          </p:nvSpPr>
          <p:spPr>
            <a:xfrm>
              <a:off x="4271391" y="1518170"/>
              <a:ext cx="917447" cy="278892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6" name="rect 1706"/>
            <p:cNvSpPr/>
            <p:nvPr/>
          </p:nvSpPr>
          <p:spPr>
            <a:xfrm>
              <a:off x="4271391" y="1071270"/>
              <a:ext cx="917447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8" name="rect 1708"/>
            <p:cNvSpPr/>
            <p:nvPr/>
          </p:nvSpPr>
          <p:spPr>
            <a:xfrm>
              <a:off x="6728079" y="1510195"/>
              <a:ext cx="796213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10" name="rect 1710"/>
            <p:cNvSpPr/>
            <p:nvPr/>
          </p:nvSpPr>
          <p:spPr>
            <a:xfrm>
              <a:off x="5495162" y="1071270"/>
              <a:ext cx="796087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12" name="rect 1712"/>
            <p:cNvSpPr/>
            <p:nvPr/>
          </p:nvSpPr>
          <p:spPr>
            <a:xfrm>
              <a:off x="1741182" y="1518170"/>
              <a:ext cx="705117" cy="278892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14" name="rect 1714"/>
            <p:cNvSpPr/>
            <p:nvPr/>
          </p:nvSpPr>
          <p:spPr>
            <a:xfrm>
              <a:off x="99910" y="1518170"/>
              <a:ext cx="705116" cy="278892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16" name="rect 1716"/>
            <p:cNvSpPr/>
            <p:nvPr/>
          </p:nvSpPr>
          <p:spPr>
            <a:xfrm>
              <a:off x="2556890" y="1622983"/>
              <a:ext cx="705853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18" name="rect 1718"/>
            <p:cNvSpPr/>
            <p:nvPr/>
          </p:nvSpPr>
          <p:spPr>
            <a:xfrm>
              <a:off x="1736978" y="1071270"/>
              <a:ext cx="705662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20" name="rect 1720"/>
            <p:cNvSpPr/>
            <p:nvPr/>
          </p:nvSpPr>
          <p:spPr>
            <a:xfrm>
              <a:off x="2983610" y="1071270"/>
              <a:ext cx="705662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22" name="rect 1722"/>
            <p:cNvSpPr/>
            <p:nvPr/>
          </p:nvSpPr>
          <p:spPr>
            <a:xfrm>
              <a:off x="3446220" y="1622983"/>
              <a:ext cx="705117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24" name="rect 1724"/>
            <p:cNvSpPr/>
            <p:nvPr/>
          </p:nvSpPr>
          <p:spPr>
            <a:xfrm>
              <a:off x="1741182" y="1955241"/>
              <a:ext cx="705117" cy="278155"/>
            </a:xfrm>
            <a:prstGeom prst="rect">
              <a:avLst/>
            </a:prstGeom>
            <a:solidFill>
              <a:srgbClr val="4874CB">
                <a:alpha val="98431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26" name="rect 1726"/>
            <p:cNvSpPr/>
            <p:nvPr/>
          </p:nvSpPr>
          <p:spPr>
            <a:xfrm>
              <a:off x="99910" y="1071270"/>
              <a:ext cx="705116" cy="278155"/>
            </a:xfrm>
            <a:prstGeom prst="rect">
              <a:avLst/>
            </a:pr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728" name="rect 1728"/>
          <p:cNvSpPr/>
          <p:nvPr/>
        </p:nvSpPr>
        <p:spPr>
          <a:xfrm>
            <a:off x="7367852" y="4768214"/>
            <a:ext cx="1172643" cy="207645"/>
          </a:xfrm>
          <a:prstGeom prst="rect">
            <a:avLst/>
          </a:pr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72" name="group 72"/>
          <p:cNvGrpSpPr/>
          <p:nvPr/>
        </p:nvGrpSpPr>
        <p:grpSpPr>
          <a:xfrm rot="21600000">
            <a:off x="3240405" y="4181589"/>
            <a:ext cx="8109139" cy="2412250"/>
            <a:chOff x="0" y="0"/>
            <a:chExt cx="8109139" cy="2412250"/>
          </a:xfrm>
        </p:grpSpPr>
        <p:sp>
          <p:nvSpPr>
            <p:cNvPr id="1730" name="textbox 1730"/>
            <p:cNvSpPr/>
            <p:nvPr/>
          </p:nvSpPr>
          <p:spPr>
            <a:xfrm>
              <a:off x="3792168" y="269938"/>
              <a:ext cx="1520825" cy="4991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9550" algn="l" rtl="0" eaLnBrk="0">
                <a:lnSpc>
                  <a:spcPct val="84000"/>
                </a:lnSpc>
              </a:pPr>
              <a:r>
                <a:rPr sz="900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Act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3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34645" algn="l" rtl="0" eaLnBrk="0">
                <a:lnSpc>
                  <a:spcPct val="91000"/>
                </a:lnSpc>
                <a:spcBef>
                  <a:spcPts val="0"/>
                </a:spcBef>
                <a:tabLst>
                  <a:tab pos="465455" algn="l"/>
                </a:tabLst>
              </a:pPr>
              <a:r>
                <a:rPr sz="9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	</a:t>
              </a:r>
              <a:r>
                <a:rPr sz="9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指标行列权限校验    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732" name="picture 173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3804868" y="639368"/>
              <a:ext cx="322578" cy="101536"/>
            </a:xfrm>
            <a:prstGeom prst="rect">
              <a:avLst/>
            </a:prstGeom>
          </p:spPr>
        </p:pic>
      </p:grpSp>
      <p:sp>
        <p:nvSpPr>
          <p:cNvPr id="1734" name="textbox 1734"/>
          <p:cNvSpPr/>
          <p:nvPr/>
        </p:nvSpPr>
        <p:spPr>
          <a:xfrm>
            <a:off x="5096319" y="5320296"/>
            <a:ext cx="474980" cy="150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图表生成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6" name="textbox 1736"/>
          <p:cNvSpPr/>
          <p:nvPr/>
        </p:nvSpPr>
        <p:spPr>
          <a:xfrm>
            <a:off x="3452876" y="5252923"/>
            <a:ext cx="481330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0" indent="-171450" algn="l" rtl="0" eaLnBrk="0">
              <a:lnSpc>
                <a:spcPct val="95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元数据查</a:t>
            </a:r>
            <a:r>
              <a:rPr sz="9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38" name="textbox 1738"/>
          <p:cNvSpPr/>
          <p:nvPr/>
        </p:nvSpPr>
        <p:spPr>
          <a:xfrm>
            <a:off x="6344437" y="5320525"/>
            <a:ext cx="473709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归因分析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40" name="picture 17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3054375" y="2937078"/>
            <a:ext cx="3376129" cy="2713189"/>
          </a:xfrm>
          <a:prstGeom prst="rect">
            <a:avLst/>
          </a:prstGeom>
        </p:spPr>
      </p:pic>
      <p:sp>
        <p:nvSpPr>
          <p:cNvPr id="1742" name="textbox 1742"/>
          <p:cNvSpPr/>
          <p:nvPr/>
        </p:nvSpPr>
        <p:spPr>
          <a:xfrm>
            <a:off x="6524244" y="3524745"/>
            <a:ext cx="463550" cy="207645"/>
          </a:xfrm>
          <a:prstGeom prst="rect">
            <a:avLst/>
          </a:pr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9380" algn="l" rtl="0" eaLnBrk="0">
              <a:lnSpc>
                <a:spcPct val="85000"/>
              </a:lnSpc>
              <a:spcBef>
                <a:spcPts val="5"/>
              </a:spcBef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COT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44" name="picture 174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669132" y="3350780"/>
            <a:ext cx="12700" cy="939800"/>
          </a:xfrm>
          <a:prstGeom prst="rect">
            <a:avLst/>
          </a:prstGeom>
        </p:spPr>
      </p:pic>
      <p:sp>
        <p:nvSpPr>
          <p:cNvPr id="1746" name="textbox 1746"/>
          <p:cNvSpPr/>
          <p:nvPr/>
        </p:nvSpPr>
        <p:spPr>
          <a:xfrm>
            <a:off x="10764011" y="3456432"/>
            <a:ext cx="1094739" cy="725805"/>
          </a:xfrm>
          <a:prstGeom prst="rect">
            <a:avLst/>
          </a:pr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8430" algn="l" rtl="0" eaLnBrk="0">
              <a:lnSpc>
                <a:spcPts val="1120"/>
              </a:lnSpc>
              <a:spcBef>
                <a:spcPts val="5"/>
              </a:spcBef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Feedback: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9065" algn="l" rtl="0" eaLnBrk="0">
              <a:lnSpc>
                <a:spcPct val="100000"/>
              </a:lnSpc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900" kern="0" spc="1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Finish/fail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985" algn="l" rtl="0" eaLnBrk="0">
              <a:lnSpc>
                <a:spcPct val="100000"/>
              </a:lnSpc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9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5255" algn="l" rtl="0" eaLnBrk="0">
              <a:lnSpc>
                <a:spcPts val="1120"/>
              </a:lnSpc>
            </a:pP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sz="900" kern="0" spc="1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Reward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8" name="textbox 1748"/>
          <p:cNvSpPr/>
          <p:nvPr/>
        </p:nvSpPr>
        <p:spPr>
          <a:xfrm>
            <a:off x="8893594" y="5320525"/>
            <a:ext cx="481965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0" name="textbox 1750"/>
          <p:cNvSpPr/>
          <p:nvPr/>
        </p:nvSpPr>
        <p:spPr>
          <a:xfrm>
            <a:off x="7729766" y="5320982"/>
            <a:ext cx="481965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数据解读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2" name="textbox 1752"/>
          <p:cNvSpPr/>
          <p:nvPr/>
        </p:nvSpPr>
        <p:spPr>
          <a:xfrm>
            <a:off x="6806730" y="5873495"/>
            <a:ext cx="473709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9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因子归因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4" name="textbox 1754"/>
          <p:cNvSpPr/>
          <p:nvPr/>
        </p:nvSpPr>
        <p:spPr>
          <a:xfrm>
            <a:off x="8901125" y="5735573"/>
            <a:ext cx="437515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6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API调用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6" name="textbox 1756"/>
          <p:cNvSpPr/>
          <p:nvPr/>
        </p:nvSpPr>
        <p:spPr>
          <a:xfrm>
            <a:off x="7672958" y="5767209"/>
            <a:ext cx="595630" cy="151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解读知识库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58" name="textbox 1758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60" name="textbox 1760"/>
          <p:cNvSpPr/>
          <p:nvPr/>
        </p:nvSpPr>
        <p:spPr>
          <a:xfrm>
            <a:off x="3452762" y="5700636"/>
            <a:ext cx="481330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730" indent="-113665" algn="l" rtl="0" eaLnBrk="0">
              <a:lnSpc>
                <a:spcPct val="95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场景指标</a:t>
            </a:r>
            <a:r>
              <a:rPr sz="9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2" name="textbox 1762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64" name="textbox 1764"/>
          <p:cNvSpPr/>
          <p:nvPr/>
        </p:nvSpPr>
        <p:spPr>
          <a:xfrm>
            <a:off x="549478" y="259536"/>
            <a:ext cx="589978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100"/>
              </a:lnSpc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数据解读右移</a:t>
            </a:r>
            <a:r>
              <a:rPr sz="2300" kern="0" spc="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SwiftAgent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流程图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6" name="textbox 1766"/>
          <p:cNvSpPr/>
          <p:nvPr/>
        </p:nvSpPr>
        <p:spPr>
          <a:xfrm>
            <a:off x="4287925" y="2791040"/>
            <a:ext cx="138429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8" name="textbox 1768"/>
          <p:cNvSpPr/>
          <p:nvPr/>
        </p:nvSpPr>
        <p:spPr>
          <a:xfrm>
            <a:off x="568204" y="1917974"/>
            <a:ext cx="2169160" cy="2566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3970" algn="l" rtl="0" eaLnBrk="0">
              <a:lnSpc>
                <a:spcPct val="97000"/>
              </a:lnSpc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任务规划能力</a:t>
            </a:r>
            <a:r>
              <a:rPr sz="1400" kern="0" spc="-1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——将</a:t>
            </a:r>
            <a:r>
              <a:rPr sz="1400" kern="0" spc="-2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</a:t>
            </a:r>
            <a:r>
              <a:rPr sz="1400" kern="0" spc="-1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400" kern="0" spc="-2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杂任务化繁为简</a:t>
            </a:r>
            <a:r>
              <a:rPr sz="1400" kern="0" spc="-21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，逐步拆解</a:t>
            </a:r>
            <a:r>
              <a:rPr sz="1400" kern="0" spc="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让大模型自动执行。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985" algn="l" rtl="0" eaLnBrk="0">
              <a:lnSpc>
                <a:spcPct val="97000"/>
              </a:lnSpc>
              <a:spcBef>
                <a:spcPts val="430"/>
              </a:spcBef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2.数据理解能力</a:t>
            </a:r>
            <a:r>
              <a:rPr sz="1400" kern="0" spc="-1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——依托指</a:t>
            </a:r>
            <a:r>
              <a:rPr sz="1400" kern="0" spc="4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标和标签的语义特性</a:t>
            </a:r>
            <a:r>
              <a:rPr sz="1400" kern="0" spc="-20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2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，让大</a:t>
            </a:r>
            <a:r>
              <a:rPr sz="1400" kern="0" spc="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模型更懂数据。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91000"/>
              </a:lnSpc>
              <a:spcBef>
                <a:spcPts val="425"/>
              </a:spcBef>
            </a:pPr>
            <a:r>
              <a:rPr sz="1400" b="1" kern="0" spc="-10" dirty="0">
                <a:solidFill>
                  <a:srgbClr val="4472C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3.高效计算能力</a:t>
            </a:r>
            <a:r>
              <a:rPr sz="1400" kern="0" spc="-1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——将计算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91000"/>
              </a:lnSpc>
              <a:spcBef>
                <a:spcPts val="150"/>
              </a:spcBef>
            </a:pPr>
            <a:r>
              <a:rPr sz="1400" kern="0" spc="-1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任务通过自研计算引擎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indent="7620" algn="l" rtl="0" eaLnBrk="0">
              <a:lnSpc>
                <a:spcPct val="95000"/>
              </a:lnSpc>
              <a:spcBef>
                <a:spcPts val="170"/>
              </a:spcBef>
            </a:pPr>
            <a:r>
              <a:rPr sz="1400" kern="0" spc="-3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HME提交执行</a:t>
            </a:r>
            <a:r>
              <a:rPr sz="1400" kern="0" spc="-22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3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，极大优化</a:t>
            </a:r>
            <a:r>
              <a:rPr sz="1400" kern="0" spc="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400" kern="0" spc="-20" dirty="0">
                <a:solidFill>
                  <a:srgbClr val="0B16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了计算效率。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0" name="textbox 1770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772" name="picture 177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sp>
        <p:nvSpPr>
          <p:cNvPr id="1774" name="textbox 1774"/>
          <p:cNvSpPr/>
          <p:nvPr/>
        </p:nvSpPr>
        <p:spPr>
          <a:xfrm>
            <a:off x="6733031" y="1862328"/>
            <a:ext cx="796290" cy="207645"/>
          </a:xfrm>
          <a:prstGeom prst="rect">
            <a:avLst/>
          </a:pr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9380" algn="l" rtl="0" eaLnBrk="0">
              <a:lnSpc>
                <a:spcPct val="91000"/>
              </a:lnSpc>
              <a:spcBef>
                <a:spcPts val="0"/>
              </a:spcBef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用户Query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6" name="textbox 1776"/>
          <p:cNvSpPr/>
          <p:nvPr/>
        </p:nvSpPr>
        <p:spPr>
          <a:xfrm>
            <a:off x="7636764" y="3515867"/>
            <a:ext cx="793115" cy="207645"/>
          </a:xfrm>
          <a:prstGeom prst="rect">
            <a:avLst/>
          </a:pr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4935" algn="l" rtl="0" eaLnBrk="0">
              <a:lnSpc>
                <a:spcPct val="91000"/>
              </a:lnSpc>
              <a:spcBef>
                <a:spcPts val="0"/>
              </a:spcBef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RAG知识库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78" name="picture 177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675482" y="3786530"/>
            <a:ext cx="2089239" cy="76200"/>
          </a:xfrm>
          <a:prstGeom prst="rect">
            <a:avLst/>
          </a:prstGeom>
        </p:spPr>
      </p:pic>
      <p:sp>
        <p:nvSpPr>
          <p:cNvPr id="1780" name="textbox 1780"/>
          <p:cNvSpPr/>
          <p:nvPr/>
        </p:nvSpPr>
        <p:spPr>
          <a:xfrm>
            <a:off x="10064510" y="5738076"/>
            <a:ext cx="607694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6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Text2Code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2" name="textbox 1782"/>
          <p:cNvSpPr/>
          <p:nvPr/>
        </p:nvSpPr>
        <p:spPr>
          <a:xfrm>
            <a:off x="5093347" y="5767780"/>
            <a:ext cx="481965" cy="150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参数解析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4" name="textbox 1784"/>
          <p:cNvSpPr/>
          <p:nvPr/>
        </p:nvSpPr>
        <p:spPr>
          <a:xfrm>
            <a:off x="5910262" y="5871552"/>
            <a:ext cx="481330" cy="150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维度归因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6" name="textbox 1786"/>
          <p:cNvSpPr/>
          <p:nvPr/>
        </p:nvSpPr>
        <p:spPr>
          <a:xfrm>
            <a:off x="5099977" y="6204267"/>
            <a:ext cx="474980" cy="150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图表推荐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88" name="textbox 1788"/>
          <p:cNvSpPr/>
          <p:nvPr/>
        </p:nvSpPr>
        <p:spPr>
          <a:xfrm>
            <a:off x="3406165" y="4724183"/>
            <a:ext cx="479425" cy="135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0" name="textbox 1790"/>
          <p:cNvSpPr/>
          <p:nvPr/>
        </p:nvSpPr>
        <p:spPr>
          <a:xfrm>
            <a:off x="11351083" y="4807534"/>
            <a:ext cx="471805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LLM规划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2" name="textbox 1792"/>
          <p:cNvSpPr/>
          <p:nvPr/>
        </p:nvSpPr>
        <p:spPr>
          <a:xfrm>
            <a:off x="9398101" y="3615411"/>
            <a:ext cx="350520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60"/>
              </a:lnSpc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94" name="picture 179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7090917" y="2068969"/>
            <a:ext cx="76162" cy="15840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6" name="picture 17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1798" name="textbox 1798"/>
          <p:cNvSpPr/>
          <p:nvPr/>
        </p:nvSpPr>
        <p:spPr>
          <a:xfrm>
            <a:off x="549478" y="259536"/>
            <a:ext cx="7692390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100"/>
              </a:lnSpc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数据解读右移</a:t>
            </a:r>
            <a:r>
              <a:rPr sz="2300" kern="0" spc="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SwiftAgent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创造性解决5大挑战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00" name="picture 18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58683" y="3299459"/>
            <a:ext cx="706152" cy="457200"/>
          </a:xfrm>
          <a:prstGeom prst="rect">
            <a:avLst/>
          </a:prstGeom>
        </p:spPr>
      </p:pic>
      <p:sp>
        <p:nvSpPr>
          <p:cNvPr id="1802" name="textbox 1802"/>
          <p:cNvSpPr/>
          <p:nvPr/>
        </p:nvSpPr>
        <p:spPr>
          <a:xfrm>
            <a:off x="5390514" y="2419972"/>
            <a:ext cx="5840095" cy="2286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ts val="2435"/>
              </a:lnSpc>
            </a:pP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统一语义层的构建（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Unified</a:t>
            </a:r>
            <a:r>
              <a:rPr sz="1700" kern="0" spc="2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Data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Semantics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" indent="1270" algn="l" rtl="0" eaLnBrk="0">
              <a:lnSpc>
                <a:spcPct val="189000"/>
              </a:lnSpc>
              <a:spcBef>
                <a:spcPts val="35"/>
              </a:spcBef>
            </a:pP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多源异构数据链接（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Diverse</a:t>
            </a:r>
            <a:r>
              <a:rPr sz="1700" kern="0" spc="2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Data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Connection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用户可干预（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Human</a:t>
            </a:r>
            <a:r>
              <a:rPr sz="1700" kern="0" spc="19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in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the</a:t>
            </a:r>
            <a:r>
              <a:rPr sz="1700" kern="0" spc="2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Loop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ts val="2435"/>
              </a:lnSpc>
              <a:spcBef>
                <a:spcPts val="1340"/>
              </a:spcBef>
            </a:pPr>
            <a:r>
              <a:rPr sz="17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持续反思学习（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Continuous</a:t>
            </a:r>
            <a:r>
              <a:rPr sz="1700" kern="0" spc="22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Reflective</a:t>
            </a:r>
            <a:r>
              <a:rPr sz="1700" kern="0" spc="2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Learning</a:t>
            </a:r>
            <a:r>
              <a:rPr sz="1700" kern="0" spc="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435"/>
              </a:lnSpc>
              <a:spcBef>
                <a:spcPts val="5"/>
              </a:spcBef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数据计算加速引擎</a:t>
            </a:r>
            <a:r>
              <a:rPr sz="1700" kern="0" spc="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700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Hyper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Computing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Acceleration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4" name="textbox 1804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06" name="textbox 1806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08" name="textbox 1808"/>
          <p:cNvSpPr/>
          <p:nvPr/>
        </p:nvSpPr>
        <p:spPr>
          <a:xfrm>
            <a:off x="1397431" y="2465234"/>
            <a:ext cx="2887345" cy="2224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925" algn="l" rtl="0" eaLnBrk="0">
              <a:lnSpc>
                <a:spcPct val="96000"/>
              </a:lnSpc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1.</a:t>
            </a:r>
            <a:r>
              <a:rPr sz="1700" kern="0" spc="49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分析准确性问题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5000"/>
              </a:lnSpc>
              <a:spcBef>
                <a:spcPts val="510"/>
              </a:spcBef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2.</a:t>
            </a:r>
            <a:r>
              <a:rPr sz="1700" kern="0" spc="42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数据全面性问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5000"/>
              </a:lnSpc>
              <a:spcBef>
                <a:spcPts val="520"/>
              </a:spcBef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3.</a:t>
            </a:r>
            <a:r>
              <a:rPr sz="1700" kern="0" spc="45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人机融合问题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15"/>
              </a:spcBef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4.</a:t>
            </a:r>
            <a:r>
              <a:rPr sz="1700" kern="0" spc="43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持续学习与迭代问题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9600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5.</a:t>
            </a:r>
            <a:r>
              <a:rPr sz="1700" kern="0" spc="510" dirty="0">
                <a:solidFill>
                  <a:srgbClr val="00000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计算查询效率及性能问题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10" name="textbox 1810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12" name="picture 18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4" name="picture 18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816" name="textbox 1816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18" name="textbox 1818"/>
          <p:cNvSpPr/>
          <p:nvPr/>
        </p:nvSpPr>
        <p:spPr>
          <a:xfrm>
            <a:off x="307644" y="1945309"/>
            <a:ext cx="11678284" cy="4764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6205" algn="l" rtl="0" eaLnBrk="0">
              <a:lnSpc>
                <a:spcPct val="85000"/>
              </a:lnSpc>
            </a:pPr>
            <a:r>
              <a:rPr sz="8000" b="1" kern="0" spc="-1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8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170" algn="l" rtl="0" eaLnBrk="0">
              <a:lnSpc>
                <a:spcPct val="92000"/>
              </a:lnSpc>
              <a:spcBef>
                <a:spcPts val="1595"/>
              </a:spcBef>
            </a:pPr>
            <a:r>
              <a:rPr sz="5300" b="1" kern="0" spc="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</a:t>
            </a:r>
            <a:endParaRPr sz="5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5490"/>
              </a:lnSpc>
              <a:spcBef>
                <a:spcPts val="5"/>
              </a:spcBef>
            </a:pP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DataFunSummit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</a:t>
            </a:r>
            <a:r>
              <a:rPr sz="4400" kern="0" spc="260" dirty="0">
                <a:solidFill>
                  <a:srgbClr val="FFFF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4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2024</a:t>
            </a:r>
            <a:r>
              <a:rPr sz="4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4400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endParaRPr sz="4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20" name="picture 18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37368" y="6284455"/>
            <a:ext cx="1658543" cy="273736"/>
          </a:xfrm>
          <a:prstGeom prst="rect">
            <a:avLst/>
          </a:prstGeom>
        </p:spPr>
      </p:pic>
      <p:sp>
        <p:nvSpPr>
          <p:cNvPr id="1822" name="textbox 1822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24" name="textbox 1824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6" name="picture 18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560576" y="1196340"/>
            <a:ext cx="8772144" cy="4858511"/>
          </a:xfrm>
          <a:prstGeom prst="rect">
            <a:avLst/>
          </a:prstGeom>
        </p:spPr>
      </p:pic>
      <p:sp>
        <p:nvSpPr>
          <p:cNvPr id="1828" name="textbox 1828"/>
          <p:cNvSpPr/>
          <p:nvPr/>
        </p:nvSpPr>
        <p:spPr>
          <a:xfrm>
            <a:off x="551002" y="327405"/>
            <a:ext cx="7970519" cy="686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指标产品合作案例—某头部证券公司基于指标平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台的经营分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析平台建设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30" name="picture 18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1832" name="textbox 1832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34" name="textbox 1834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36" name="textbox 1836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38" name="picture 18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0" name="picture 18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67155" y="1193292"/>
            <a:ext cx="10343387" cy="5163311"/>
          </a:xfrm>
          <a:prstGeom prst="rect">
            <a:avLst/>
          </a:prstGeom>
        </p:spPr>
      </p:pic>
      <p:pic>
        <p:nvPicPr>
          <p:cNvPr id="1842" name="picture 18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1844" name="textbox 1844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46" name="textbox 1846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48" name="textbox 1848"/>
          <p:cNvSpPr/>
          <p:nvPr/>
        </p:nvSpPr>
        <p:spPr>
          <a:xfrm>
            <a:off x="551002" y="272236"/>
            <a:ext cx="707453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100"/>
              </a:lnSpc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指标产品合作案例—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80%的新增指标不依赖数据人员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0" name="textbox 1850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52" name="picture 18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textbox 1854"/>
          <p:cNvSpPr/>
          <p:nvPr/>
        </p:nvSpPr>
        <p:spPr>
          <a:xfrm>
            <a:off x="550697" y="272236"/>
            <a:ext cx="7946390" cy="741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2000"/>
              </a:lnSpc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指标产品合作案例—面向业务人员的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分析产品</a:t>
            </a:r>
            <a:r>
              <a:rPr sz="2300" kern="0" spc="-3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300" kern="0" spc="-4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时随地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修改卡片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56" name="picture 18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pic>
        <p:nvPicPr>
          <p:cNvPr id="1858" name="picture 18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9976" y="1330452"/>
            <a:ext cx="10773156" cy="4895088"/>
          </a:xfrm>
          <a:prstGeom prst="rect">
            <a:avLst/>
          </a:prstGeom>
        </p:spPr>
      </p:pic>
      <p:sp>
        <p:nvSpPr>
          <p:cNvPr id="1860" name="textbox 1860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62" name="textbox 1862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64" name="textbox 1864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66" name="picture 18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textbox 1868"/>
          <p:cNvSpPr/>
          <p:nvPr/>
        </p:nvSpPr>
        <p:spPr>
          <a:xfrm>
            <a:off x="550392" y="327405"/>
            <a:ext cx="7971155" cy="686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指标产品合作案例—面向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业务场景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，低门槛灵活组装个性化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看板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70" name="picture 18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51688" y="1202435"/>
            <a:ext cx="11090147" cy="4866132"/>
          </a:xfrm>
          <a:prstGeom prst="rect">
            <a:avLst/>
          </a:prstGeom>
        </p:spPr>
      </p:pic>
      <p:sp>
        <p:nvSpPr>
          <p:cNvPr id="1872" name="textbox 1872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74" name="picture 18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sp>
        <p:nvSpPr>
          <p:cNvPr id="1876" name="textbox 1876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78" name="textbox 1878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880" name="picture 18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2" name="picture 18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3504" y="2255520"/>
            <a:ext cx="9569629" cy="4469891"/>
          </a:xfrm>
          <a:prstGeom prst="rect">
            <a:avLst/>
          </a:prstGeom>
        </p:spPr>
      </p:pic>
      <p:sp>
        <p:nvSpPr>
          <p:cNvPr id="1884" name="textbox 1884"/>
          <p:cNvSpPr/>
          <p:nvPr/>
        </p:nvSpPr>
        <p:spPr>
          <a:xfrm>
            <a:off x="551002" y="327405"/>
            <a:ext cx="7970519" cy="686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指标产品合作案例—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支持业务同学对话式进行数据分析</a:t>
            </a:r>
            <a:r>
              <a:rPr sz="2300" b="1" kern="0" spc="-3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300" b="1" kern="0" spc="-5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好的智能化交互体验</a:t>
            </a:r>
            <a:endParaRPr sz="2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86" name="picture 18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94876" y="324612"/>
            <a:ext cx="1254252" cy="379475"/>
          </a:xfrm>
          <a:prstGeom prst="rect">
            <a:avLst/>
          </a:prstGeom>
        </p:spPr>
      </p:pic>
      <p:pic>
        <p:nvPicPr>
          <p:cNvPr id="1888" name="picture 18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25240" y="4050792"/>
            <a:ext cx="2304287" cy="586739"/>
          </a:xfrm>
          <a:prstGeom prst="rect">
            <a:avLst/>
          </a:prstGeom>
        </p:spPr>
      </p:pic>
      <p:pic>
        <p:nvPicPr>
          <p:cNvPr id="1890" name="picture 18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96867" y="5707380"/>
            <a:ext cx="1950720" cy="870204"/>
          </a:xfrm>
          <a:prstGeom prst="rect">
            <a:avLst/>
          </a:prstGeom>
        </p:spPr>
      </p:pic>
      <p:sp>
        <p:nvSpPr>
          <p:cNvPr id="1892" name="textbox 1892"/>
          <p:cNvSpPr/>
          <p:nvPr/>
        </p:nvSpPr>
        <p:spPr>
          <a:xfrm>
            <a:off x="1745573" y="2368995"/>
            <a:ext cx="8989694" cy="572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8000"/>
              </a:lnSpc>
            </a:pPr>
            <a:r>
              <a:rPr sz="1400" kern="0" spc="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指标分析助手为用户自动化提供贴合专业分析师思维的报告</a:t>
            </a:r>
            <a:r>
              <a:rPr sz="1400" kern="0" spc="-21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，并将</a:t>
            </a:r>
            <a:r>
              <a:rPr sz="1400" b="1" kern="0" spc="-10" dirty="0">
                <a:solidFill>
                  <a:srgbClr val="1E5DF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数据概览、图表、高级计算（同环比/聚合/占比/</a:t>
            </a:r>
            <a:r>
              <a:rPr sz="1400" b="1" kern="0" spc="0" dirty="0">
                <a:solidFill>
                  <a:srgbClr val="1E5DF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1" kern="0" spc="0" dirty="0">
                <a:solidFill>
                  <a:srgbClr val="1E5DF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排序/相关性/预测）与文字</a:t>
            </a:r>
            <a:r>
              <a:rPr sz="1400" kern="0" spc="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结论有机地整</a:t>
            </a:r>
            <a:r>
              <a:rPr sz="1400" kern="0" spc="-10" dirty="0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合在一起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94" name="textbox 1894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96" name="textbox 1896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4" name="group 74"/>
          <p:cNvGrpSpPr/>
          <p:nvPr/>
        </p:nvGrpSpPr>
        <p:grpSpPr>
          <a:xfrm rot="21600000">
            <a:off x="603504" y="1168908"/>
            <a:ext cx="6648577" cy="760476"/>
            <a:chOff x="0" y="0"/>
            <a:chExt cx="6648577" cy="760476"/>
          </a:xfrm>
        </p:grpSpPr>
        <p:pic>
          <p:nvPicPr>
            <p:cNvPr id="1898" name="picture 189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131064"/>
              <a:ext cx="6648577" cy="629411"/>
            </a:xfrm>
            <a:prstGeom prst="rect">
              <a:avLst/>
            </a:prstGeom>
          </p:spPr>
        </p:pic>
        <p:sp>
          <p:nvSpPr>
            <p:cNvPr id="1900" name="rect 1900"/>
            <p:cNvSpPr/>
            <p:nvPr/>
          </p:nvSpPr>
          <p:spPr>
            <a:xfrm>
              <a:off x="1707895" y="265175"/>
              <a:ext cx="1367535" cy="360109"/>
            </a:xfrm>
            <a:prstGeom prst="rect">
              <a:avLst/>
            </a:prstGeom>
            <a:solidFill>
              <a:srgbClr val="029FF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grpSp>
          <p:nvGrpSpPr>
            <p:cNvPr id="76" name="group 76"/>
            <p:cNvGrpSpPr/>
            <p:nvPr/>
          </p:nvGrpSpPr>
          <p:grpSpPr>
            <a:xfrm rot="21600000">
              <a:off x="2286" y="0"/>
              <a:ext cx="1002029" cy="541147"/>
              <a:chOff x="0" y="0"/>
              <a:chExt cx="1002029" cy="541147"/>
            </a:xfrm>
          </p:grpSpPr>
          <p:sp>
            <p:nvSpPr>
              <p:cNvPr id="1902" name="path 1902"/>
              <p:cNvSpPr/>
              <p:nvPr/>
            </p:nvSpPr>
            <p:spPr>
              <a:xfrm>
                <a:off x="0" y="7620"/>
                <a:ext cx="915670" cy="533527"/>
              </a:xfrm>
              <a:custGeom>
                <a:avLst/>
                <a:gdLst/>
                <a:ahLst/>
                <a:cxnLst/>
                <a:rect l="0" t="0" r="0" b="0"/>
                <a:pathLst>
                  <a:path w="1442" h="840">
                    <a:moveTo>
                      <a:pt x="224" y="0"/>
                    </a:moveTo>
                    <a:moveTo>
                      <a:pt x="224" y="0"/>
                    </a:moveTo>
                    <a:lnTo>
                      <a:pt x="1441" y="0"/>
                    </a:lnTo>
                    <a:lnTo>
                      <a:pt x="1441" y="616"/>
                    </a:lnTo>
                    <a:cubicBezTo>
                      <a:pt x="1442" y="739"/>
                      <a:pt x="1341" y="840"/>
                      <a:pt x="1217" y="840"/>
                    </a:cubicBezTo>
                    <a:lnTo>
                      <a:pt x="1" y="840"/>
                    </a:lnTo>
                    <a:lnTo>
                      <a:pt x="1" y="223"/>
                    </a:lnTo>
                    <a:cubicBezTo>
                      <a:pt x="0" y="100"/>
                      <a:pt x="100" y="0"/>
                      <a:pt x="224" y="0"/>
                    </a:cubicBezTo>
                  </a:path>
                </a:pathLst>
              </a:custGeom>
              <a:solidFill>
                <a:srgbClr val="029FF1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4" name="path 1904"/>
              <p:cNvSpPr/>
              <p:nvPr/>
            </p:nvSpPr>
            <p:spPr>
              <a:xfrm>
                <a:off x="916686" y="0"/>
                <a:ext cx="85343" cy="140208"/>
              </a:xfrm>
              <a:custGeom>
                <a:avLst/>
                <a:gdLst/>
                <a:ahLst/>
                <a:cxnLst/>
                <a:rect l="0" t="0" r="0" b="0"/>
                <a:pathLst>
                  <a:path w="134" h="220">
                    <a:moveTo>
                      <a:pt x="0" y="220"/>
                    </a:moveTo>
                    <a:lnTo>
                      <a:pt x="0" y="0"/>
                    </a:lnTo>
                    <a:lnTo>
                      <a:pt x="134" y="220"/>
                    </a:lnTo>
                    <a:lnTo>
                      <a:pt x="0" y="220"/>
                    </a:lnTo>
                  </a:path>
                </a:pathLst>
              </a:custGeom>
              <a:solidFill>
                <a:srgbClr val="0177B5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06" name="textbox 1906"/>
            <p:cNvSpPr/>
            <p:nvPr/>
          </p:nvSpPr>
          <p:spPr>
            <a:xfrm>
              <a:off x="169297" y="188550"/>
              <a:ext cx="2767964" cy="3568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1000"/>
                </a:lnSpc>
              </a:pPr>
              <a:r>
                <a:rPr sz="11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解决痛点</a:t>
              </a:r>
              <a:endParaRPr sz="1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r" rtl="0" eaLnBrk="0">
                <a:lnSpc>
                  <a:spcPct val="91000"/>
                </a:lnSpc>
                <a:spcBef>
                  <a:spcPts val="95"/>
                </a:spcBef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数据解读靠手工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08" name="rect 1908"/>
            <p:cNvSpPr/>
            <p:nvPr/>
          </p:nvSpPr>
          <p:spPr>
            <a:xfrm>
              <a:off x="4912740" y="265175"/>
              <a:ext cx="1367663" cy="360109"/>
            </a:xfrm>
            <a:prstGeom prst="rect">
              <a:avLst/>
            </a:prstGeom>
            <a:solidFill>
              <a:srgbClr val="029FF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10" name="rect 1910"/>
            <p:cNvSpPr/>
            <p:nvPr/>
          </p:nvSpPr>
          <p:spPr>
            <a:xfrm>
              <a:off x="3291840" y="265175"/>
              <a:ext cx="1367535" cy="360109"/>
            </a:xfrm>
            <a:prstGeom prst="rect">
              <a:avLst/>
            </a:prstGeom>
            <a:solidFill>
              <a:srgbClr val="029FF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12" name="textbox 1912"/>
          <p:cNvSpPr/>
          <p:nvPr/>
        </p:nvSpPr>
        <p:spPr>
          <a:xfrm>
            <a:off x="4111472" y="1522844"/>
            <a:ext cx="93726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缺少分析思路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14" name="textbox 1914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916" name="picture 19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82430" y="2099863"/>
            <a:ext cx="1017914" cy="627137"/>
          </a:xfrm>
          <a:prstGeom prst="rect">
            <a:avLst/>
          </a:prstGeom>
        </p:spPr>
      </p:pic>
      <p:pic>
        <p:nvPicPr>
          <p:cNvPr id="1918" name="picture 19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728038" y="349065"/>
            <a:ext cx="1297551" cy="300089"/>
          </a:xfrm>
          <a:prstGeom prst="rect">
            <a:avLst/>
          </a:prstGeom>
        </p:spPr>
      </p:pic>
      <p:sp>
        <p:nvSpPr>
          <p:cNvPr id="1920" name="textbox 1920"/>
          <p:cNvSpPr/>
          <p:nvPr/>
        </p:nvSpPr>
        <p:spPr>
          <a:xfrm>
            <a:off x="5656097" y="1522844"/>
            <a:ext cx="108966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制作报告效率低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2" name="textbox 1922"/>
          <p:cNvSpPr/>
          <p:nvPr/>
        </p:nvSpPr>
        <p:spPr>
          <a:xfrm>
            <a:off x="748169" y="2298915"/>
            <a:ext cx="63373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产品效果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24" name="picture 19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98658" y="3091837"/>
            <a:ext cx="281624" cy="279384"/>
          </a:xfrm>
          <a:prstGeom prst="rect">
            <a:avLst/>
          </a:prstGeom>
        </p:spPr>
      </p:pic>
      <p:sp>
        <p:nvSpPr>
          <p:cNvPr id="1926" name="path 1926"/>
          <p:cNvSpPr/>
          <p:nvPr/>
        </p:nvSpPr>
        <p:spPr>
          <a:xfrm>
            <a:off x="1522476" y="2118359"/>
            <a:ext cx="83819" cy="140208"/>
          </a:xfrm>
          <a:custGeom>
            <a:avLst/>
            <a:gdLst/>
            <a:ahLst/>
            <a:cxnLst/>
            <a:rect l="0" t="0" r="0" b="0"/>
            <a:pathLst>
              <a:path w="131" h="220">
                <a:moveTo>
                  <a:pt x="0" y="220"/>
                </a:moveTo>
                <a:lnTo>
                  <a:pt x="0" y="0"/>
                </a:lnTo>
                <a:lnTo>
                  <a:pt x="131" y="220"/>
                </a:lnTo>
                <a:lnTo>
                  <a:pt x="0" y="220"/>
                </a:lnTo>
              </a:path>
            </a:pathLst>
          </a:custGeom>
          <a:solidFill>
            <a:srgbClr val="0337B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2" name="picture 19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944" name="picture 19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314944" y="6160007"/>
            <a:ext cx="3657726" cy="469392"/>
          </a:xfrm>
          <a:prstGeom prst="rect">
            <a:avLst/>
          </a:prstGeom>
        </p:spPr>
      </p:pic>
      <p:sp>
        <p:nvSpPr>
          <p:cNvPr id="1946" name="textbox 1946"/>
          <p:cNvSpPr/>
          <p:nvPr/>
        </p:nvSpPr>
        <p:spPr>
          <a:xfrm rot="18900000">
            <a:off x="5937984" y="3329452"/>
            <a:ext cx="679005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48" name="textbox 1948"/>
          <p:cNvSpPr/>
          <p:nvPr/>
        </p:nvSpPr>
        <p:spPr>
          <a:xfrm>
            <a:off x="3861198" y="2875477"/>
            <a:ext cx="4481829" cy="1242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8700" b="1" kern="0" spc="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感谢观看</a:t>
            </a:r>
            <a:endParaRPr sz="8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0" name="textbox 1950"/>
          <p:cNvSpPr/>
          <p:nvPr/>
        </p:nvSpPr>
        <p:spPr>
          <a:xfrm rot="18900000">
            <a:off x="763966" y="3047931"/>
            <a:ext cx="108426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sz="5400" kern="0" spc="-60" dirty="0">
              <a:solidFill>
                <a:srgbClr val="000000">
                  <a:alpha val="10196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52" name="textbox 1952"/>
          <p:cNvSpPr/>
          <p:nvPr/>
        </p:nvSpPr>
        <p:spPr>
          <a:xfrm rot="18900000">
            <a:off x="-649234" y="2060832"/>
            <a:ext cx="8785225" cy="89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5400" kern="0" spc="83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82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400" kern="0" spc="-90" dirty="0">
                <a:solidFill>
                  <a:srgbClr val="000000">
                    <a:alpha val="10196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</a:t>
            </a:r>
            <a:endParaRPr sz="5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QyN2NhNTE5NzU0NTUzN2YxYTlmYWRhNWNmNmQ3ZTk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9783</Words>
  <Application>WPS 演示</Application>
  <PresentationFormat/>
  <Paragraphs>1742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</vt:lpstr>
      <vt:lpstr>宋体</vt:lpstr>
      <vt:lpstr>Wingdings</vt:lpstr>
      <vt:lpstr>Arial</vt:lpstr>
      <vt:lpstr>微软雅黑</vt:lpstr>
      <vt:lpstr>Verdana</vt:lpstr>
      <vt:lpstr>Arial Unicode MS</vt:lpstr>
      <vt:lpstr>Calibri</vt:lpstr>
      <vt:lpstr>Segoe UI Emoji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风巽擎天＠</cp:lastModifiedBy>
  <cp:revision>1</cp:revision>
  <dcterms:created xsi:type="dcterms:W3CDTF">2024-05-27T05:39:56Z</dcterms:created>
  <dcterms:modified xsi:type="dcterms:W3CDTF">2024-05-27T05:39:56Z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2024-05-27T11:35:41Z</vt:filetime>
  </property>
  <property fmtid="{D5CDD505-2E9C-101B-9397-08002B2CF9AE}" pid="4" name="ICV">
    <vt:lpwstr>A03016B85ADB4C268F1823881325797B_12</vt:lpwstr>
  </property>
  <property fmtid="{D5CDD505-2E9C-101B-9397-08002B2CF9AE}" pid="5" name="KSOProductBuildVer">
    <vt:lpwstr>2052-12.1.0.16929</vt:lpwstr>
  </property>
</Properties>
</file>